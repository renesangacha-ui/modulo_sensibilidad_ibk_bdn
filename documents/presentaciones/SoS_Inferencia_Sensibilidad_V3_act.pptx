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ags/tag2.xml" ContentType="application/vnd.openxmlformats-officedocument.presentationml.tags+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ags/tag3.xml" ContentType="application/vnd.openxmlformats-officedocument.presentationml.tags+xml"/>
  <Override PartName="/ppt/theme/theme3.xml" ContentType="application/vnd.openxmlformats-officedocument.them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notesSlides/notesSlide3.xml" ContentType="application/vnd.openxmlformats-officedocument.presentationml.notesSlide+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charts/chart19.xml" ContentType="application/vnd.openxmlformats-officedocument.drawingml.chart+xml"/>
  <Override PartName="/ppt/charts/chart20.xml" ContentType="application/vnd.openxmlformats-officedocument.drawingml.chart+xml"/>
  <Override PartName="/ppt/charts/chart21.xml" ContentType="application/vnd.openxmlformats-officedocument.drawingml.chart+xml"/>
  <Override PartName="/ppt/charts/chart22.xml" ContentType="application/vnd.openxmlformats-officedocument.drawingml.chart+xml"/>
  <Override PartName="/ppt/charts/chart23.xml" ContentType="application/vnd.openxmlformats-officedocument.drawingml.chart+xml"/>
  <Override PartName="/ppt/charts/chart24.xml" ContentType="application/vnd.openxmlformats-officedocument.drawingml.chart+xml"/>
  <Override PartName="/ppt/charts/chart25.xml" ContentType="application/vnd.openxmlformats-officedocument.drawingml.chart+xml"/>
  <Override PartName="/ppt/charts/chart26.xml" ContentType="application/vnd.openxmlformats-officedocument.drawingml.chart+xml"/>
  <Override PartName="/ppt/charts/chart27.xml" ContentType="application/vnd.openxmlformats-officedocument.drawingml.chart+xml"/>
  <Override PartName="/ppt/charts/chart28.xml" ContentType="application/vnd.openxmlformats-officedocument.drawingml.chart+xml"/>
  <Override PartName="/ppt/charts/chart29.xml" ContentType="application/vnd.openxmlformats-officedocument.drawingml.chart+xml"/>
  <Override PartName="/ppt/charts/chart30.xml" ContentType="application/vnd.openxmlformats-officedocument.drawingml.chart+xml"/>
  <Override PartName="/ppt/charts/chart31.xml" ContentType="application/vnd.openxmlformats-officedocument.drawingml.chart+xml"/>
  <Override PartName="/ppt/charts/chart32.xml" ContentType="application/vnd.openxmlformats-officedocument.drawingml.chart+xml"/>
  <Override PartName="/ppt/charts/chart33.xml" ContentType="application/vnd.openxmlformats-officedocument.drawingml.chart+xml"/>
  <Override PartName="/ppt/charts/chart34.xml" ContentType="application/vnd.openxmlformats-officedocument.drawingml.chart+xml"/>
  <Override PartName="/ppt/charts/chart35.xml" ContentType="application/vnd.openxmlformats-officedocument.drawingml.chart+xml"/>
  <Override PartName="/ppt/charts/chart36.xml" ContentType="application/vnd.openxmlformats-officedocument.drawingml.chart+xml"/>
  <Override PartName="/ppt/charts/chart37.xml" ContentType="application/vnd.openxmlformats-officedocument.drawingml.chart+xml"/>
  <Override PartName="/ppt/charts/chart38.xml" ContentType="application/vnd.openxmlformats-officedocument.drawingml.chart+xml"/>
  <Override PartName="/ppt/charts/chart39.xml" ContentType="application/vnd.openxmlformats-officedocument.drawingml.chart+xml"/>
  <Override PartName="/ppt/charts/chart40.xml" ContentType="application/vnd.openxmlformats-officedocument.drawingml.chart+xml"/>
  <Override PartName="/ppt/charts/chart41.xml" ContentType="application/vnd.openxmlformats-officedocument.drawingml.chart+xml"/>
  <Override PartName="/ppt/charts/chart42.xml" ContentType="application/vnd.openxmlformats-officedocument.drawingml.chart+xml"/>
  <Override PartName="/ppt/charts/chart43.xml" ContentType="application/vnd.openxmlformats-officedocument.drawingml.chart+xml"/>
  <Override PartName="/ppt/charts/chart44.xml" ContentType="application/vnd.openxmlformats-officedocument.drawingml.chart+xml"/>
  <Override PartName="/ppt/charts/chart45.xml" ContentType="application/vnd.openxmlformats-officedocument.drawingml.chart+xml"/>
  <Override PartName="/ppt/charts/chart46.xml" ContentType="application/vnd.openxmlformats-officedocument.drawingml.chart+xml"/>
  <Override PartName="/ppt/charts/chart47.xml" ContentType="application/vnd.openxmlformats-officedocument.drawingml.chart+xml"/>
  <Override PartName="/ppt/charts/chart48.xml" ContentType="application/vnd.openxmlformats-officedocument.drawingml.chart+xml"/>
  <Override PartName="/ppt/charts/chart49.xml" ContentType="application/vnd.openxmlformats-officedocument.drawingml.chart+xml"/>
  <Override PartName="/ppt/charts/chart50.xml" ContentType="application/vnd.openxmlformats-officedocument.drawingml.chart+xml"/>
  <Override PartName="/ppt/charts/chart51.xml" ContentType="application/vnd.openxmlformats-officedocument.drawingml.chart+xml"/>
  <Override PartName="/ppt/charts/chart52.xml" ContentType="application/vnd.openxmlformats-officedocument.drawingml.chart+xml"/>
  <Override PartName="/ppt/charts/chart53.xml" ContentType="application/vnd.openxmlformats-officedocument.drawingml.chart+xml"/>
  <Override PartName="/ppt/charts/chart54.xml" ContentType="application/vnd.openxmlformats-officedocument.drawingml.char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1" r:id="rId2"/>
  </p:sldMasterIdLst>
  <p:notesMasterIdLst>
    <p:notesMasterId r:id="rId34"/>
  </p:notesMasterIdLst>
  <p:sldIdLst>
    <p:sldId id="280" r:id="rId3"/>
    <p:sldId id="276" r:id="rId4"/>
    <p:sldId id="277" r:id="rId5"/>
    <p:sldId id="259" r:id="rId6"/>
    <p:sldId id="260" r:id="rId7"/>
    <p:sldId id="261" r:id="rId8"/>
    <p:sldId id="262" r:id="rId9"/>
    <p:sldId id="281" r:id="rId10"/>
    <p:sldId id="263" r:id="rId11"/>
    <p:sldId id="264" r:id="rId12"/>
    <p:sldId id="265" r:id="rId13"/>
    <p:sldId id="266" r:id="rId14"/>
    <p:sldId id="267" r:id="rId15"/>
    <p:sldId id="268" r:id="rId16"/>
    <p:sldId id="269" r:id="rId17"/>
    <p:sldId id="270" r:id="rId18"/>
    <p:sldId id="271" r:id="rId19"/>
    <p:sldId id="278" r:id="rId20"/>
    <p:sldId id="272" r:id="rId21"/>
    <p:sldId id="273" r:id="rId22"/>
    <p:sldId id="274" r:id="rId23"/>
    <p:sldId id="282" r:id="rId24"/>
    <p:sldId id="283" r:id="rId25"/>
    <p:sldId id="284" r:id="rId26"/>
    <p:sldId id="285" r:id="rId27"/>
    <p:sldId id="286" r:id="rId28"/>
    <p:sldId id="287" r:id="rId29"/>
    <p:sldId id="288" r:id="rId30"/>
    <p:sldId id="279" r:id="rId31"/>
    <p:sldId id="289" r:id="rId32"/>
    <p:sldId id="290" r:id="rId33"/>
  </p:sldIdLst>
  <p:sldSz cx="12192000" cy="6858000"/>
  <p:notesSz cx="6858000" cy="9144000"/>
  <p:custDataLst>
    <p:tags r:id="rId35"/>
  </p:custDataLst>
  <p:defaultTextStyle>
    <a:defPPr>
      <a:defRPr lang="en-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0B4AD"/>
    <a:srgbClr val="13807B"/>
    <a:srgbClr val="D6E0DE"/>
    <a:srgbClr val="D1D1D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18D0032-2358-421E-90CE-AA4E06C8AEA4}" v="7" dt="2026-10-19T21:58:42.42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077"/>
    <p:restoredTop sz="94645"/>
  </p:normalViewPr>
  <p:slideViewPr>
    <p:cSldViewPr snapToGrid="0">
      <p:cViewPr>
        <p:scale>
          <a:sx n="85" d="100"/>
          <a:sy n="85" d="100"/>
        </p:scale>
        <p:origin x="221" y="1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ableStyles" Target="tableStyles.xml"/><Relationship Id="rId21" Type="http://schemas.openxmlformats.org/officeDocument/2006/relationships/slide" Target="slides/slide19.xml"/><Relationship Id="rId34" Type="http://schemas.openxmlformats.org/officeDocument/2006/relationships/notesMaster" Target="notesMasters/notesMaster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tags" Target="tags/tag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ido García Talledo" userId="b3c4d5f43ddbb595" providerId="LiveId" clId="{FE895066-0BE9-4FDA-A255-09B25DA27F97}"/>
    <pc:docChg chg="undo redo custSel addSld delSld modSld sldOrd modMainMaster">
      <pc:chgData name="Guido García Talledo" userId="b3c4d5f43ddbb595" providerId="LiveId" clId="{FE895066-0BE9-4FDA-A255-09B25DA27F97}" dt="2026-10-20T15:42:31.821" v="23109" actId="20577"/>
      <pc:docMkLst>
        <pc:docMk/>
      </pc:docMkLst>
      <pc:sldChg chg="mod modShow">
        <pc:chgData name="Guido García Talledo" userId="b3c4d5f43ddbb595" providerId="LiveId" clId="{FE895066-0BE9-4FDA-A255-09B25DA27F97}" dt="2026-10-08T22:46:48.992" v="781" actId="729"/>
        <pc:sldMkLst>
          <pc:docMk/>
          <pc:sldMk cId="0" sldId="259"/>
        </pc:sldMkLst>
      </pc:sldChg>
      <pc:sldChg chg="modSp mod">
        <pc:chgData name="Guido García Talledo" userId="b3c4d5f43ddbb595" providerId="LiveId" clId="{FE895066-0BE9-4FDA-A255-09B25DA27F97}" dt="2026-10-19T21:30:10.315" v="23086" actId="20577"/>
        <pc:sldMkLst>
          <pc:docMk/>
          <pc:sldMk cId="0" sldId="260"/>
        </pc:sldMkLst>
        <pc:spChg chg="mod">
          <ac:chgData name="Guido García Talledo" userId="b3c4d5f43ddbb595" providerId="LiveId" clId="{FE895066-0BE9-4FDA-A255-09B25DA27F97}" dt="2026-10-19T21:29:58.035" v="23085" actId="20577"/>
          <ac:spMkLst>
            <pc:docMk/>
            <pc:sldMk cId="0" sldId="260"/>
            <ac:spMk id="2" creationId="{00000000-0000-0000-0000-000000000000}"/>
          </ac:spMkLst>
        </pc:spChg>
        <pc:spChg chg="mod">
          <ac:chgData name="Guido García Talledo" userId="b3c4d5f43ddbb595" providerId="LiveId" clId="{FE895066-0BE9-4FDA-A255-09B25DA27F97}" dt="2026-10-19T21:30:10.315" v="23086" actId="20577"/>
          <ac:spMkLst>
            <pc:docMk/>
            <pc:sldMk cId="0" sldId="260"/>
            <ac:spMk id="21" creationId="{00000000-0000-0000-0000-000000000000}"/>
          </ac:spMkLst>
        </pc:spChg>
      </pc:sldChg>
      <pc:sldChg chg="modSp mod">
        <pc:chgData name="Guido García Talledo" userId="b3c4d5f43ddbb595" providerId="LiveId" clId="{FE895066-0BE9-4FDA-A255-09B25DA27F97}" dt="2026-10-19T21:31:12.108" v="23098" actId="20577"/>
        <pc:sldMkLst>
          <pc:docMk/>
          <pc:sldMk cId="0" sldId="263"/>
        </pc:sldMkLst>
        <pc:spChg chg="mod">
          <ac:chgData name="Guido García Talledo" userId="b3c4d5f43ddbb595" providerId="LiveId" clId="{FE895066-0BE9-4FDA-A255-09B25DA27F97}" dt="2026-10-19T21:31:07.372" v="23092" actId="20577"/>
          <ac:spMkLst>
            <pc:docMk/>
            <pc:sldMk cId="0" sldId="263"/>
            <ac:spMk id="11" creationId="{00000000-0000-0000-0000-000000000000}"/>
          </ac:spMkLst>
        </pc:spChg>
        <pc:spChg chg="mod">
          <ac:chgData name="Guido García Talledo" userId="b3c4d5f43ddbb595" providerId="LiveId" clId="{FE895066-0BE9-4FDA-A255-09B25DA27F97}" dt="2026-10-19T21:31:12.108" v="23098" actId="20577"/>
          <ac:spMkLst>
            <pc:docMk/>
            <pc:sldMk cId="0" sldId="263"/>
            <ac:spMk id="13" creationId="{00000000-0000-0000-0000-000000000000}"/>
          </ac:spMkLst>
        </pc:spChg>
      </pc:sldChg>
      <pc:sldChg chg="addSp delSp modSp mod ord modAnim">
        <pc:chgData name="Guido García Talledo" userId="b3c4d5f43ddbb595" providerId="LiveId" clId="{FE895066-0BE9-4FDA-A255-09B25DA27F97}" dt="2026-10-09T15:00:03.790" v="23043" actId="1076"/>
        <pc:sldMkLst>
          <pc:docMk/>
          <pc:sldMk cId="0" sldId="264"/>
        </pc:sldMkLst>
      </pc:sldChg>
      <pc:sldChg chg="delSp modSp mod">
        <pc:chgData name="Guido García Talledo" userId="b3c4d5f43ddbb595" providerId="LiveId" clId="{FE895066-0BE9-4FDA-A255-09B25DA27F97}" dt="2026-10-19T21:55:57.730" v="23102" actId="478"/>
        <pc:sldMkLst>
          <pc:docMk/>
          <pc:sldMk cId="0" sldId="274"/>
        </pc:sldMkLst>
        <pc:spChg chg="del">
          <ac:chgData name="Guido García Talledo" userId="b3c4d5f43ddbb595" providerId="LiveId" clId="{FE895066-0BE9-4FDA-A255-09B25DA27F97}" dt="2026-10-19T21:55:57.730" v="23102" actId="478"/>
          <ac:spMkLst>
            <pc:docMk/>
            <pc:sldMk cId="0" sldId="274"/>
            <ac:spMk id="19" creationId="{00000000-0000-0000-0000-000000000000}"/>
          </ac:spMkLst>
        </pc:spChg>
        <pc:graphicFrameChg chg="modGraphic">
          <ac:chgData name="Guido García Talledo" userId="b3c4d5f43ddbb595" providerId="LiveId" clId="{FE895066-0BE9-4FDA-A255-09B25DA27F97}" dt="2026-10-19T21:55:54.873" v="23101" actId="2166"/>
          <ac:graphicFrameMkLst>
            <pc:docMk/>
            <pc:sldMk cId="0" sldId="274"/>
            <ac:graphicFrameMk id="18" creationId="{00000000-0000-0000-0000-000000000000}"/>
          </ac:graphicFrameMkLst>
        </pc:graphicFrameChg>
      </pc:sldChg>
      <pc:sldChg chg="del">
        <pc:chgData name="Guido García Talledo" userId="b3c4d5f43ddbb595" providerId="LiveId" clId="{FE895066-0BE9-4FDA-A255-09B25DA27F97}" dt="2026-10-19T21:58:57.105" v="23104" actId="47"/>
        <pc:sldMkLst>
          <pc:docMk/>
          <pc:sldMk cId="0" sldId="275"/>
        </pc:sldMkLst>
      </pc:sldChg>
      <pc:sldChg chg="modSp mod">
        <pc:chgData name="Guido García Talledo" userId="b3c4d5f43ddbb595" providerId="LiveId" clId="{FE895066-0BE9-4FDA-A255-09B25DA27F97}" dt="2026-10-19T21:59:29.530" v="23107" actId="27918"/>
        <pc:sldMkLst>
          <pc:docMk/>
          <pc:sldMk cId="0" sldId="276"/>
        </pc:sldMkLst>
        <pc:graphicFrameChg chg="mod">
          <ac:chgData name="Guido García Talledo" userId="b3c4d5f43ddbb595" providerId="LiveId" clId="{FE895066-0BE9-4FDA-A255-09B25DA27F97}" dt="2026-10-19T21:29:24.267" v="23080"/>
          <ac:graphicFrameMkLst>
            <pc:docMk/>
            <pc:sldMk cId="0" sldId="276"/>
            <ac:graphicFrameMk id="10" creationId="{00000000-0000-0000-0000-000000000000}"/>
          </ac:graphicFrameMkLst>
        </pc:graphicFrameChg>
      </pc:sldChg>
      <pc:sldChg chg="delSp add mod modShow">
        <pc:chgData name="Guido García Talledo" userId="b3c4d5f43ddbb595" providerId="LiveId" clId="{FE895066-0BE9-4FDA-A255-09B25DA27F97}" dt="2026-10-19T22:00:47.962" v="23108" actId="478"/>
        <pc:sldMkLst>
          <pc:docMk/>
          <pc:sldMk cId="905263038" sldId="279"/>
        </pc:sldMkLst>
        <pc:spChg chg="del">
          <ac:chgData name="Guido García Talledo" userId="b3c4d5f43ddbb595" providerId="LiveId" clId="{FE895066-0BE9-4FDA-A255-09B25DA27F97}" dt="2026-10-19T22:00:47.962" v="23108" actId="478"/>
          <ac:spMkLst>
            <pc:docMk/>
            <pc:sldMk cId="905263038" sldId="279"/>
            <ac:spMk id="19" creationId="{423E6745-A6C6-755A-4F43-1CF78324E75A}"/>
          </ac:spMkLst>
        </pc:spChg>
      </pc:sldChg>
      <pc:sldChg chg="add">
        <pc:chgData name="Guido García Talledo" userId="b3c4d5f43ddbb595" providerId="LiveId" clId="{FE895066-0BE9-4FDA-A255-09B25DA27F97}" dt="2026-10-19T21:58:42.420" v="23103"/>
        <pc:sldMkLst>
          <pc:docMk/>
          <pc:sldMk cId="0" sldId="280"/>
        </pc:sldMkLst>
      </pc:sldChg>
      <pc:sldChg chg="modSp mod">
        <pc:chgData name="Guido García Talledo" userId="b3c4d5f43ddbb595" providerId="LiveId" clId="{FE895066-0BE9-4FDA-A255-09B25DA27F97}" dt="2026-10-20T15:42:31.821" v="23109" actId="20577"/>
        <pc:sldMkLst>
          <pc:docMk/>
          <pc:sldMk cId="0" sldId="281"/>
        </pc:sldMkLst>
        <pc:spChg chg="mod">
          <ac:chgData name="Guido García Talledo" userId="b3c4d5f43ddbb595" providerId="LiveId" clId="{FE895066-0BE9-4FDA-A255-09B25DA27F97}" dt="2026-10-20T15:42:31.821" v="23109" actId="20577"/>
          <ac:spMkLst>
            <pc:docMk/>
            <pc:sldMk cId="0" sldId="281"/>
            <ac:spMk id="3" creationId="{00000000-0000-0000-0000-000000000000}"/>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11.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Worksheet12.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Worksheet13.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Worksheet14.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Worksheet15.xlsx"/></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Worksheet16.xlsx"/></Relationships>
</file>

<file path=ppt/charts/_rels/chart18.xml.rels><?xml version="1.0" encoding="UTF-8" standalone="yes"?>
<Relationships xmlns="http://schemas.openxmlformats.org/package/2006/relationships"><Relationship Id="rId1" Type="http://schemas.openxmlformats.org/officeDocument/2006/relationships/package" Target="../embeddings/Microsoft_Excel_Worksheet17.xlsx"/></Relationships>
</file>

<file path=ppt/charts/_rels/chart19.xml.rels><?xml version="1.0" encoding="UTF-8" standalone="yes"?>
<Relationships xmlns="http://schemas.openxmlformats.org/package/2006/relationships"><Relationship Id="rId1" Type="http://schemas.openxmlformats.org/officeDocument/2006/relationships/package" Target="../embeddings/Microsoft_Excel_Worksheet18.xlsx"/></Relationships>
</file>

<file path=ppt/charts/_rels/chart20.xml.rels><?xml version="1.0" encoding="UTF-8" standalone="yes"?>
<Relationships xmlns="http://schemas.openxmlformats.org/package/2006/relationships"><Relationship Id="rId1" Type="http://schemas.openxmlformats.org/officeDocument/2006/relationships/package" Target="../embeddings/Microsoft_Excel_Worksheet19.xlsx"/></Relationships>
</file>

<file path=ppt/charts/_rels/chart21.xml.rels><?xml version="1.0" encoding="UTF-8" standalone="yes"?>
<Relationships xmlns="http://schemas.openxmlformats.org/package/2006/relationships"><Relationship Id="rId1" Type="http://schemas.openxmlformats.org/officeDocument/2006/relationships/package" Target="../embeddings/Microsoft_Excel_Worksheet20.xlsx"/></Relationships>
</file>

<file path=ppt/charts/_rels/chart22.xml.rels><?xml version="1.0" encoding="UTF-8" standalone="yes"?>
<Relationships xmlns="http://schemas.openxmlformats.org/package/2006/relationships"><Relationship Id="rId1" Type="http://schemas.openxmlformats.org/officeDocument/2006/relationships/package" Target="../embeddings/Microsoft_Excel_Worksheet21.xlsx"/></Relationships>
</file>

<file path=ppt/charts/_rels/chart23.xml.rels><?xml version="1.0" encoding="UTF-8" standalone="yes"?>
<Relationships xmlns="http://schemas.openxmlformats.org/package/2006/relationships"><Relationship Id="rId1" Type="http://schemas.openxmlformats.org/officeDocument/2006/relationships/package" Target="../embeddings/Microsoft_Excel_Worksheet22.xlsx"/></Relationships>
</file>

<file path=ppt/charts/_rels/chart24.xml.rels><?xml version="1.0" encoding="UTF-8" standalone="yes"?>
<Relationships xmlns="http://schemas.openxmlformats.org/package/2006/relationships"><Relationship Id="rId1" Type="http://schemas.openxmlformats.org/officeDocument/2006/relationships/package" Target="../embeddings/Microsoft_Excel_Worksheet23.xlsx"/></Relationships>
</file>

<file path=ppt/charts/_rels/chart25.xml.rels><?xml version="1.0" encoding="UTF-8" standalone="yes"?>
<Relationships xmlns="http://schemas.openxmlformats.org/package/2006/relationships"><Relationship Id="rId1" Type="http://schemas.openxmlformats.org/officeDocument/2006/relationships/package" Target="../embeddings/Microsoft_Excel_Worksheet24.xlsx"/></Relationships>
</file>

<file path=ppt/charts/_rels/chart26.xml.rels><?xml version="1.0" encoding="UTF-8" standalone="yes"?>
<Relationships xmlns="http://schemas.openxmlformats.org/package/2006/relationships"><Relationship Id="rId1" Type="http://schemas.openxmlformats.org/officeDocument/2006/relationships/package" Target="../embeddings/Microsoft_Excel_Worksheet25.xlsx"/></Relationships>
</file>

<file path=ppt/charts/_rels/chart27.xml.rels><?xml version="1.0" encoding="UTF-8" standalone="yes"?>
<Relationships xmlns="http://schemas.openxmlformats.org/package/2006/relationships"><Relationship Id="rId1" Type="http://schemas.openxmlformats.org/officeDocument/2006/relationships/package" Target="../embeddings/Microsoft_Excel_Worksheet26.xlsx"/></Relationships>
</file>

<file path=ppt/charts/_rels/chart28.xml.rels><?xml version="1.0" encoding="UTF-8" standalone="yes"?>
<Relationships xmlns="http://schemas.openxmlformats.org/package/2006/relationships"><Relationship Id="rId1" Type="http://schemas.openxmlformats.org/officeDocument/2006/relationships/package" Target="../embeddings/Microsoft_Excel_Worksheet27.xlsx"/></Relationships>
</file>

<file path=ppt/charts/_rels/chart29.xml.rels><?xml version="1.0" encoding="UTF-8" standalone="yes"?>
<Relationships xmlns="http://schemas.openxmlformats.org/package/2006/relationships"><Relationship Id="rId1" Type="http://schemas.openxmlformats.org/officeDocument/2006/relationships/package" Target="../embeddings/Microsoft_Excel_Worksheet28.xlsx"/></Relationships>
</file>

<file path=ppt/charts/_rels/chart30.xml.rels><?xml version="1.0" encoding="UTF-8" standalone="yes"?>
<Relationships xmlns="http://schemas.openxmlformats.org/package/2006/relationships"><Relationship Id="rId1" Type="http://schemas.openxmlformats.org/officeDocument/2006/relationships/package" Target="../embeddings/Microsoft_Excel_Worksheet29.xlsx"/></Relationships>
</file>

<file path=ppt/charts/_rels/chart31.xml.rels><?xml version="1.0" encoding="UTF-8" standalone="yes"?>
<Relationships xmlns="http://schemas.openxmlformats.org/package/2006/relationships"><Relationship Id="rId1" Type="http://schemas.openxmlformats.org/officeDocument/2006/relationships/package" Target="../embeddings/Microsoft_Excel_Worksheet30.xlsx"/></Relationships>
</file>

<file path=ppt/charts/_rels/chart32.xml.rels><?xml version="1.0" encoding="UTF-8" standalone="yes"?>
<Relationships xmlns="http://schemas.openxmlformats.org/package/2006/relationships"><Relationship Id="rId1" Type="http://schemas.openxmlformats.org/officeDocument/2006/relationships/package" Target="../embeddings/Microsoft_Excel_Worksheet31.xlsx"/></Relationships>
</file>

<file path=ppt/charts/_rels/chart33.xml.rels><?xml version="1.0" encoding="UTF-8" standalone="yes"?>
<Relationships xmlns="http://schemas.openxmlformats.org/package/2006/relationships"><Relationship Id="rId1" Type="http://schemas.openxmlformats.org/officeDocument/2006/relationships/package" Target="../embeddings/Microsoft_Excel_Worksheet32.xlsx"/></Relationships>
</file>

<file path=ppt/charts/_rels/chart34.xml.rels><?xml version="1.0" encoding="UTF-8" standalone="yes"?>
<Relationships xmlns="http://schemas.openxmlformats.org/package/2006/relationships"><Relationship Id="rId1" Type="http://schemas.openxmlformats.org/officeDocument/2006/relationships/package" Target="../embeddings/Microsoft_Excel_Worksheet33.xlsx"/></Relationships>
</file>

<file path=ppt/charts/_rels/chart35.xml.rels><?xml version="1.0" encoding="UTF-8" standalone="yes"?>
<Relationships xmlns="http://schemas.openxmlformats.org/package/2006/relationships"><Relationship Id="rId1" Type="http://schemas.openxmlformats.org/officeDocument/2006/relationships/package" Target="../embeddings/Microsoft_Excel_Worksheet34.xlsx"/></Relationships>
</file>

<file path=ppt/charts/_rels/chart36.xml.rels><?xml version="1.0" encoding="UTF-8" standalone="yes"?>
<Relationships xmlns="http://schemas.openxmlformats.org/package/2006/relationships"><Relationship Id="rId1" Type="http://schemas.openxmlformats.org/officeDocument/2006/relationships/package" Target="../embeddings/Microsoft_Excel_Worksheet35.xlsx"/></Relationships>
</file>

<file path=ppt/charts/_rels/chart37.xml.rels><?xml version="1.0" encoding="UTF-8" standalone="yes"?>
<Relationships xmlns="http://schemas.openxmlformats.org/package/2006/relationships"><Relationship Id="rId1" Type="http://schemas.openxmlformats.org/officeDocument/2006/relationships/package" Target="../embeddings/Microsoft_Excel_Worksheet36.xlsx"/></Relationships>
</file>

<file path=ppt/charts/_rels/chart38.xml.rels><?xml version="1.0" encoding="UTF-8" standalone="yes"?>
<Relationships xmlns="http://schemas.openxmlformats.org/package/2006/relationships"><Relationship Id="rId1" Type="http://schemas.openxmlformats.org/officeDocument/2006/relationships/package" Target="../embeddings/Microsoft_Excel_Worksheet37.xlsx"/></Relationships>
</file>

<file path=ppt/charts/_rels/chart39.xml.rels><?xml version="1.0" encoding="UTF-8" standalone="yes"?>
<Relationships xmlns="http://schemas.openxmlformats.org/package/2006/relationships"><Relationship Id="rId1" Type="http://schemas.openxmlformats.org/officeDocument/2006/relationships/package" Target="../embeddings/Microsoft_Excel_Worksheet38.xlsx"/></Relationships>
</file>

<file path=ppt/charts/_rels/chart40.xml.rels><?xml version="1.0" encoding="UTF-8" standalone="yes"?>
<Relationships xmlns="http://schemas.openxmlformats.org/package/2006/relationships"><Relationship Id="rId1" Type="http://schemas.openxmlformats.org/officeDocument/2006/relationships/package" Target="../embeddings/Microsoft_Excel_Worksheet39.xlsx"/></Relationships>
</file>

<file path=ppt/charts/_rels/chart41.xml.rels><?xml version="1.0" encoding="UTF-8" standalone="yes"?>
<Relationships xmlns="http://schemas.openxmlformats.org/package/2006/relationships"><Relationship Id="rId1" Type="http://schemas.openxmlformats.org/officeDocument/2006/relationships/package" Target="../embeddings/Microsoft_Excel_Worksheet40.xlsx"/></Relationships>
</file>

<file path=ppt/charts/_rels/chart42.xml.rels><?xml version="1.0" encoding="UTF-8" standalone="yes"?>
<Relationships xmlns="http://schemas.openxmlformats.org/package/2006/relationships"><Relationship Id="rId1" Type="http://schemas.openxmlformats.org/officeDocument/2006/relationships/package" Target="../embeddings/Microsoft_Excel_Worksheet41.xlsx"/></Relationships>
</file>

<file path=ppt/charts/_rels/chart43.xml.rels><?xml version="1.0" encoding="UTF-8" standalone="yes"?>
<Relationships xmlns="http://schemas.openxmlformats.org/package/2006/relationships"><Relationship Id="rId1" Type="http://schemas.openxmlformats.org/officeDocument/2006/relationships/package" Target="../embeddings/Microsoft_Excel_Worksheet42.xlsx"/></Relationships>
</file>

<file path=ppt/charts/_rels/chart44.xml.rels><?xml version="1.0" encoding="UTF-8" standalone="yes"?>
<Relationships xmlns="http://schemas.openxmlformats.org/package/2006/relationships"><Relationship Id="rId1" Type="http://schemas.openxmlformats.org/officeDocument/2006/relationships/package" Target="../embeddings/Microsoft_Excel_Worksheet43.xlsx"/></Relationships>
</file>

<file path=ppt/charts/_rels/chart45.xml.rels><?xml version="1.0" encoding="UTF-8" standalone="yes"?>
<Relationships xmlns="http://schemas.openxmlformats.org/package/2006/relationships"><Relationship Id="rId1" Type="http://schemas.openxmlformats.org/officeDocument/2006/relationships/package" Target="../embeddings/Microsoft_Excel_Worksheet44.xlsx"/></Relationships>
</file>

<file path=ppt/charts/_rels/chart46.xml.rels><?xml version="1.0" encoding="UTF-8" standalone="yes"?>
<Relationships xmlns="http://schemas.openxmlformats.org/package/2006/relationships"><Relationship Id="rId1" Type="http://schemas.openxmlformats.org/officeDocument/2006/relationships/package" Target="../embeddings/Microsoft_Excel_Worksheet45.xlsx"/></Relationships>
</file>

<file path=ppt/charts/_rels/chart47.xml.rels><?xml version="1.0" encoding="UTF-8" standalone="yes"?>
<Relationships xmlns="http://schemas.openxmlformats.org/package/2006/relationships"><Relationship Id="rId1" Type="http://schemas.openxmlformats.org/officeDocument/2006/relationships/package" Target="../embeddings/Microsoft_Excel_Worksheet46.xlsx"/></Relationships>
</file>

<file path=ppt/charts/_rels/chart48.xml.rels><?xml version="1.0" encoding="UTF-8" standalone="yes"?>
<Relationships xmlns="http://schemas.openxmlformats.org/package/2006/relationships"><Relationship Id="rId1" Type="http://schemas.openxmlformats.org/officeDocument/2006/relationships/package" Target="../embeddings/Microsoft_Excel_Worksheet47.xlsx"/></Relationships>
</file>

<file path=ppt/charts/_rels/chart49.xml.rels><?xml version="1.0" encoding="UTF-8" standalone="yes"?>
<Relationships xmlns="http://schemas.openxmlformats.org/package/2006/relationships"><Relationship Id="rId1" Type="http://schemas.openxmlformats.org/officeDocument/2006/relationships/package" Target="../embeddings/Microsoft_Excel_Worksheet48.xlsx"/></Relationships>
</file>

<file path=ppt/charts/_rels/chart50.xml.rels><?xml version="1.0" encoding="UTF-8" standalone="yes"?>
<Relationships xmlns="http://schemas.openxmlformats.org/package/2006/relationships"><Relationship Id="rId1" Type="http://schemas.openxmlformats.org/officeDocument/2006/relationships/package" Target="../embeddings/Microsoft_Excel_Worksheet49.xlsx"/></Relationships>
</file>

<file path=ppt/charts/_rels/chart51.xml.rels><?xml version="1.0" encoding="UTF-8" standalone="yes"?>
<Relationships xmlns="http://schemas.openxmlformats.org/package/2006/relationships"><Relationship Id="rId1" Type="http://schemas.openxmlformats.org/officeDocument/2006/relationships/package" Target="../embeddings/Microsoft_Excel_Worksheet50.xlsx"/></Relationships>
</file>

<file path=ppt/charts/_rels/chart52.xml.rels><?xml version="1.0" encoding="UTF-8" standalone="yes"?>
<Relationships xmlns="http://schemas.openxmlformats.org/package/2006/relationships"><Relationship Id="rId1" Type="http://schemas.openxmlformats.org/officeDocument/2006/relationships/package" Target="../embeddings/Microsoft_Excel_Worksheet51.xlsx"/></Relationships>
</file>

<file path=ppt/charts/_rels/chart53.xml.rels><?xml version="1.0" encoding="UTF-8" standalone="yes"?>
<Relationships xmlns="http://schemas.openxmlformats.org/package/2006/relationships"><Relationship Id="rId1" Type="http://schemas.openxmlformats.org/officeDocument/2006/relationships/package" Target="../embeddings/Microsoft_Excel_Worksheet52.xlsx"/></Relationships>
</file>

<file path=ppt/charts/_rels/chart54.xml.rels><?xml version="1.0" encoding="UTF-8" standalone="yes"?>
<Relationships xmlns="http://schemas.openxmlformats.org/package/2006/relationships"><Relationship Id="rId1" Type="http://schemas.openxmlformats.org/officeDocument/2006/relationships/package" Target="../embeddings/Microsoft_Excel_Worksheet5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0"/>
    <c:plotArea>
      <c:layout/>
      <c:barChart>
        <c:barDir val="col"/>
        <c:grouping val="stacked"/>
        <c:varyColors val="1"/>
        <c:ser>
          <c:idx val="0"/>
          <c:order val="0"/>
          <c:tx>
            <c:strRef>
              <c:f>Sheet1!$B$1</c:f>
              <c:strCache>
                <c:ptCount val="1"/>
                <c:pt idx="0">
                  <c:v>base</c:v>
                </c:pt>
              </c:strCache>
            </c:strRef>
          </c:tx>
          <c:spPr>
            <a:noFill/>
          </c:spPr>
          <c:invertIfNegative val="1"/>
          <c:cat>
            <c:strRef>
              <c:f>Sheet1!$A$2:$A$4</c:f>
              <c:strCache>
                <c:ptCount val="3"/>
                <c:pt idx="0">
                  <c:v>Desembolsos de la competencia en el SoS de Oferta Relevante</c:v>
                </c:pt>
                <c:pt idx="1">
                  <c:v>Sin tasa inferida</c:v>
                </c:pt>
                <c:pt idx="2">
                  <c:v>Con tasa inferida</c:v>
                </c:pt>
              </c:strCache>
            </c:strRef>
          </c:cat>
          <c:val>
            <c:numRef>
              <c:f>Sheet1!$B$2:$B$4</c:f>
              <c:numCache>
                <c:formatCode>General</c:formatCode>
                <c:ptCount val="3"/>
                <c:pt idx="0">
                  <c:v>0</c:v>
                </c:pt>
                <c:pt idx="1">
                  <c:v>2154</c:v>
                </c:pt>
                <c:pt idx="2">
                  <c:v>0</c:v>
                </c:pt>
              </c:numCache>
            </c:numRef>
          </c:val>
          <c:extLst>
            <c:ext xmlns:c16="http://schemas.microsoft.com/office/drawing/2014/chart" uri="{C3380CC4-5D6E-409C-BE32-E72D297353CC}">
              <c16:uniqueId val="{00000000-1B66-4490-811F-6B87EBF9D714}"/>
            </c:ext>
          </c:extLst>
        </c:ser>
        <c:ser>
          <c:idx val="1"/>
          <c:order val="1"/>
          <c:tx>
            <c:strRef>
              <c:f>Sheet1!$C$1</c:f>
              <c:strCache>
                <c:ptCount val="1"/>
                <c:pt idx="0">
                  <c:v>n</c:v>
                </c:pt>
              </c:strCache>
            </c:strRef>
          </c:tx>
          <c:invertIfNegative val="1"/>
          <c:dPt>
            <c:idx val="0"/>
            <c:invertIfNegative val="1"/>
            <c:bubble3D val="0"/>
            <c:spPr>
              <a:solidFill>
                <a:srgbClr val="4B5552"/>
              </a:solidFill>
            </c:spPr>
            <c:extLst>
              <c:ext xmlns:c16="http://schemas.microsoft.com/office/drawing/2014/chart" uri="{C3380CC4-5D6E-409C-BE32-E72D297353CC}">
                <c16:uniqueId val="{00000002-1B66-4490-811F-6B87EBF9D714}"/>
              </c:ext>
            </c:extLst>
          </c:dPt>
          <c:dPt>
            <c:idx val="1"/>
            <c:invertIfNegative val="1"/>
            <c:bubble3D val="0"/>
            <c:spPr>
              <a:solidFill>
                <a:srgbClr val="E5173F"/>
              </a:solidFill>
            </c:spPr>
            <c:extLst>
              <c:ext xmlns:c16="http://schemas.microsoft.com/office/drawing/2014/chart" uri="{C3380CC4-5D6E-409C-BE32-E72D297353CC}">
                <c16:uniqueId val="{00000004-1B66-4490-811F-6B87EBF9D714}"/>
              </c:ext>
            </c:extLst>
          </c:dPt>
          <c:dPt>
            <c:idx val="2"/>
            <c:invertIfNegative val="1"/>
            <c:bubble3D val="0"/>
            <c:spPr>
              <a:solidFill>
                <a:srgbClr val="13807B"/>
              </a:solidFill>
            </c:spPr>
            <c:extLst>
              <c:ext xmlns:c16="http://schemas.microsoft.com/office/drawing/2014/chart" uri="{C3380CC4-5D6E-409C-BE32-E72D297353CC}">
                <c16:uniqueId val="{00000006-1B66-4490-811F-6B87EBF9D714}"/>
              </c:ext>
            </c:extLst>
          </c:dPt>
          <c:dLbls>
            <c:dLbl>
              <c:idx val="0"/>
              <c:tx>
                <c:rich>
                  <a:bodyPr/>
                  <a:lstStyle/>
                  <a:p>
                    <a:r>
                      <a:rPr lang="en-US" sz="1000" b="1">
                        <a:solidFill>
                          <a:srgbClr val="FFFFFF"/>
                        </a:solidFill>
                      </a:rPr>
                      <a:t>3,969</a:t>
                    </a:r>
                  </a:p>
                </c:rich>
              </c:tx>
              <c:dLblPos val="in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1B66-4490-811F-6B87EBF9D714}"/>
                </c:ext>
              </c:extLst>
            </c:dLbl>
            <c:dLbl>
              <c:idx val="1"/>
              <c:tx>
                <c:rich>
                  <a:bodyPr/>
                  <a:lstStyle/>
                  <a:p>
                    <a:r>
                      <a:rPr lang="en-US" sz="1000" b="1">
                        <a:solidFill>
                          <a:srgbClr val="FFFFFF"/>
                        </a:solidFill>
                      </a:rPr>
                      <a:t>−1,815  (46%)</a:t>
                    </a:r>
                  </a:p>
                </c:rich>
              </c:tx>
              <c:dLblPos val="in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1B66-4490-811F-6B87EBF9D714}"/>
                </c:ext>
              </c:extLst>
            </c:dLbl>
            <c:dLbl>
              <c:idx val="2"/>
              <c:tx>
                <c:rich>
                  <a:bodyPr/>
                  <a:lstStyle/>
                  <a:p>
                    <a:r>
                      <a:rPr lang="en-US" sz="1000" b="1">
                        <a:solidFill>
                          <a:srgbClr val="FFFFFF"/>
                        </a:solidFill>
                      </a:rPr>
                      <a:t>2,154  (54%)</a:t>
                    </a:r>
                  </a:p>
                </c:rich>
              </c:tx>
              <c:dLblPos val="in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1B66-4490-811F-6B87EBF9D714}"/>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Sheet1!$A$2:$A$4</c:f>
              <c:strCache>
                <c:ptCount val="3"/>
                <c:pt idx="0">
                  <c:v>Desembolsos de la competencia en el SoS de Oferta Relevante</c:v>
                </c:pt>
                <c:pt idx="1">
                  <c:v>Sin tasa inferida</c:v>
                </c:pt>
                <c:pt idx="2">
                  <c:v>Con tasa inferida</c:v>
                </c:pt>
              </c:strCache>
            </c:strRef>
          </c:cat>
          <c:val>
            <c:numRef>
              <c:f>Sheet1!$C$2:$C$4</c:f>
              <c:numCache>
                <c:formatCode>General</c:formatCode>
                <c:ptCount val="3"/>
                <c:pt idx="0">
                  <c:v>3969</c:v>
                </c:pt>
                <c:pt idx="1">
                  <c:v>1815</c:v>
                </c:pt>
                <c:pt idx="2">
                  <c:v>2154</c:v>
                </c:pt>
              </c:numCache>
            </c:numRef>
          </c:val>
          <c:extLst>
            <c:ext xmlns:c16="http://schemas.microsoft.com/office/drawing/2014/chart" uri="{C3380CC4-5D6E-409C-BE32-E72D297353CC}">
              <c16:uniqueId val="{00000007-1B66-4490-811F-6B87EBF9D714}"/>
            </c:ext>
          </c:extLst>
        </c:ser>
        <c:dLbls>
          <c:showLegendKey val="0"/>
          <c:showVal val="0"/>
          <c:showCatName val="0"/>
          <c:showSerName val="0"/>
          <c:showPercent val="0"/>
          <c:showBubbleSize val="0"/>
        </c:dLbls>
        <c:gapWidth val="60"/>
        <c:overlap val="100"/>
        <c:axId val="-2068027336"/>
        <c:axId val="-2113994440"/>
      </c:barChart>
      <c:catAx>
        <c:axId val="-2068027336"/>
        <c:scaling>
          <c:orientation val="minMax"/>
        </c:scaling>
        <c:delete val="0"/>
        <c:axPos val="b"/>
        <c:numFmt formatCode="General" sourceLinked="0"/>
        <c:majorTickMark val="out"/>
        <c:minorTickMark val="none"/>
        <c:tickLblPos val="nextTo"/>
        <c:txPr>
          <a:bodyPr/>
          <a:lstStyle/>
          <a:p>
            <a:pPr>
              <a:defRPr sz="900"/>
            </a:pPr>
            <a:endParaRPr lang="es-PE"/>
          </a:p>
        </c:txPr>
        <c:crossAx val="-2113994440"/>
        <c:crosses val="autoZero"/>
        <c:auto val="1"/>
        <c:lblAlgn val="ctr"/>
        <c:lblOffset val="100"/>
        <c:noMultiLvlLbl val="0"/>
      </c:catAx>
      <c:valAx>
        <c:axId val="-2113994440"/>
        <c:scaling>
          <c:orientation val="minMax"/>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0"/>
    <c:plotArea>
      <c:layout/>
      <c:barChart>
        <c:barDir val="bar"/>
        <c:grouping val="stacked"/>
        <c:varyColors val="1"/>
        <c:ser>
          <c:idx val="0"/>
          <c:order val="0"/>
          <c:tx>
            <c:strRef>
              <c:f>Sheet1!$B$1</c:f>
              <c:strCache>
                <c:ptCount val="1"/>
                <c:pt idx="0">
                  <c:v>Con tasa inferida</c:v>
                </c:pt>
              </c:strCache>
            </c:strRef>
          </c:tx>
          <c:spPr>
            <a:solidFill>
              <a:srgbClr val="13807B"/>
            </a:solidFill>
          </c:spPr>
          <c:invertIfNegative val="1"/>
          <c:dLbls>
            <c:dLbl>
              <c:idx val="4"/>
              <c:tx>
                <c:rich>
                  <a:bodyPr/>
                  <a:lstStyle/>
                  <a:p>
                    <a:r>
                      <a:rPr lang="en-US" sz="900" b="1">
                        <a:solidFill>
                          <a:srgbClr val="FFFFFF"/>
                        </a:solidFill>
                      </a:rPr>
                      <a:t>369  (49%)</a:t>
                    </a:r>
                  </a:p>
                </c:rich>
              </c:tx>
              <c:dLblPos val="ct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13A4-4190-BE20-F1F8D98CB993}"/>
                </c:ext>
              </c:extLst>
            </c:dLbl>
            <c:dLbl>
              <c:idx val="5"/>
              <c:tx>
                <c:rich>
                  <a:bodyPr/>
                  <a:lstStyle/>
                  <a:p>
                    <a:r>
                      <a:rPr lang="en-US" sz="900" b="1">
                        <a:solidFill>
                          <a:srgbClr val="FFFFFF"/>
                        </a:solidFill>
                      </a:rPr>
                      <a:t>600  (63%)</a:t>
                    </a:r>
                  </a:p>
                </c:rich>
              </c:tx>
              <c:dLblPos val="ct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13A4-4190-BE20-F1F8D98CB993}"/>
                </c:ext>
              </c:extLst>
            </c:dLbl>
            <c:dLbl>
              <c:idx val="6"/>
              <c:tx>
                <c:rich>
                  <a:bodyPr/>
                  <a:lstStyle/>
                  <a:p>
                    <a:r>
                      <a:rPr lang="en-US" sz="900" b="1">
                        <a:solidFill>
                          <a:srgbClr val="FFFFFF"/>
                        </a:solidFill>
                      </a:rPr>
                      <a:t>474  (53%)</a:t>
                    </a:r>
                  </a:p>
                </c:rich>
              </c:tx>
              <c:dLblPos val="ct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13A4-4190-BE20-F1F8D98CB993}"/>
                </c:ext>
              </c:extLst>
            </c:dLbl>
            <c:dLbl>
              <c:idx val="7"/>
              <c:tx>
                <c:rich>
                  <a:bodyPr/>
                  <a:lstStyle/>
                  <a:p>
                    <a:r>
                      <a:rPr lang="en-US" sz="900" b="1">
                        <a:solidFill>
                          <a:srgbClr val="FFFFFF"/>
                        </a:solidFill>
                      </a:rPr>
                      <a:t>202  (46%)</a:t>
                    </a:r>
                  </a:p>
                </c:rich>
              </c:tx>
              <c:dLblPos val="ct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13A4-4190-BE20-F1F8D98CB993}"/>
                </c:ext>
              </c:extLst>
            </c:dLbl>
            <c:dLbl>
              <c:idx val="8"/>
              <c:tx>
                <c:rich>
                  <a:bodyPr/>
                  <a:lstStyle/>
                  <a:p>
                    <a:r>
                      <a:rPr lang="en-US" sz="900" b="1">
                        <a:solidFill>
                          <a:srgbClr val="FFFFFF"/>
                        </a:solidFill>
                      </a:rPr>
                      <a:t>210  (58%)</a:t>
                    </a:r>
                  </a:p>
                </c:rich>
              </c:tx>
              <c:dLblPos val="ct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13A4-4190-BE20-F1F8D98CB993}"/>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Sheet1!$A$2:$A$10</c:f>
              <c:strCache>
                <c:ptCount val="9"/>
                <c:pt idx="0">
                  <c:v>Izipay  (51)</c:v>
                </c:pt>
                <c:pt idx="1">
                  <c:v>Nuevo  (226)</c:v>
                </c:pt>
                <c:pt idx="2">
                  <c:v>Próximo  (108)</c:v>
                </c:pt>
                <c:pt idx="3">
                  <c:v>Reactivar  (183)</c:v>
                </c:pt>
                <c:pt idx="4">
                  <c:v>Gran Cuenta  (756)</c:v>
                </c:pt>
                <c:pt idx="5">
                  <c:v>Socio  (947)</c:v>
                </c:pt>
                <c:pt idx="6">
                  <c:v>Maduro  (900)</c:v>
                </c:pt>
                <c:pt idx="7">
                  <c:v>Cuenta Estr.  (436)</c:v>
                </c:pt>
                <c:pt idx="8">
                  <c:v>Ancla  (362)</c:v>
                </c:pt>
              </c:strCache>
            </c:strRef>
          </c:cat>
          <c:val>
            <c:numRef>
              <c:f>Sheet1!$B$2:$B$10</c:f>
              <c:numCache>
                <c:formatCode>General</c:formatCode>
                <c:ptCount val="9"/>
                <c:pt idx="0">
                  <c:v>26</c:v>
                </c:pt>
                <c:pt idx="1">
                  <c:v>128</c:v>
                </c:pt>
                <c:pt idx="2">
                  <c:v>51</c:v>
                </c:pt>
                <c:pt idx="3">
                  <c:v>94</c:v>
                </c:pt>
                <c:pt idx="4">
                  <c:v>369</c:v>
                </c:pt>
                <c:pt idx="5">
                  <c:v>600</c:v>
                </c:pt>
                <c:pt idx="6">
                  <c:v>474</c:v>
                </c:pt>
                <c:pt idx="7">
                  <c:v>202</c:v>
                </c:pt>
                <c:pt idx="8">
                  <c:v>210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5-13A4-4190-BE20-F1F8D98CB993}"/>
            </c:ext>
          </c:extLst>
        </c:ser>
        <c:ser>
          <c:idx val="1"/>
          <c:order val="1"/>
          <c:tx>
            <c:strRef>
              <c:f>Sheet1!$C$1</c:f>
              <c:strCache>
                <c:ptCount val="1"/>
                <c:pt idx="0">
                  <c:v>Sin tasa inferida</c:v>
                </c:pt>
              </c:strCache>
            </c:strRef>
          </c:tx>
          <c:spPr>
            <a:solidFill>
              <a:srgbClr val="E5173F"/>
            </a:solidFill>
          </c:spPr>
          <c:invertIfNegative val="1"/>
          <c:dLbls>
            <c:dLbl>
              <c:idx val="4"/>
              <c:tx>
                <c:rich>
                  <a:bodyPr/>
                  <a:lstStyle/>
                  <a:p>
                    <a:r>
                      <a:rPr lang="en-US" sz="900" b="1">
                        <a:solidFill>
                          <a:srgbClr val="FFFFFF"/>
                        </a:solidFill>
                      </a:rPr>
                      <a:t>387  (51%)</a:t>
                    </a:r>
                  </a:p>
                </c:rich>
              </c:tx>
              <c:dLblPos val="ct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13A4-4190-BE20-F1F8D98CB993}"/>
                </c:ext>
              </c:extLst>
            </c:dLbl>
            <c:dLbl>
              <c:idx val="5"/>
              <c:tx>
                <c:rich>
                  <a:bodyPr/>
                  <a:lstStyle/>
                  <a:p>
                    <a:r>
                      <a:rPr lang="en-US" sz="900" b="1">
                        <a:solidFill>
                          <a:srgbClr val="FFFFFF"/>
                        </a:solidFill>
                      </a:rPr>
                      <a:t>347  (37%)</a:t>
                    </a:r>
                  </a:p>
                </c:rich>
              </c:tx>
              <c:dLblPos val="ct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13A4-4190-BE20-F1F8D98CB993}"/>
                </c:ext>
              </c:extLst>
            </c:dLbl>
            <c:dLbl>
              <c:idx val="6"/>
              <c:tx>
                <c:rich>
                  <a:bodyPr/>
                  <a:lstStyle/>
                  <a:p>
                    <a:r>
                      <a:rPr lang="en-US" sz="900" b="1">
                        <a:solidFill>
                          <a:srgbClr val="FFFFFF"/>
                        </a:solidFill>
                      </a:rPr>
                      <a:t>426  (47%)</a:t>
                    </a:r>
                  </a:p>
                </c:rich>
              </c:tx>
              <c:dLblPos val="ct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8-13A4-4190-BE20-F1F8D98CB993}"/>
                </c:ext>
              </c:extLst>
            </c:dLbl>
            <c:dLbl>
              <c:idx val="7"/>
              <c:tx>
                <c:rich>
                  <a:bodyPr/>
                  <a:lstStyle/>
                  <a:p>
                    <a:r>
                      <a:rPr lang="en-US" sz="900" b="1">
                        <a:solidFill>
                          <a:srgbClr val="FFFFFF"/>
                        </a:solidFill>
                      </a:rPr>
                      <a:t>234  (54%)</a:t>
                    </a:r>
                  </a:p>
                </c:rich>
              </c:tx>
              <c:dLblPos val="ct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9-13A4-4190-BE20-F1F8D98CB993}"/>
                </c:ext>
              </c:extLst>
            </c:dLbl>
            <c:dLbl>
              <c:idx val="8"/>
              <c:tx>
                <c:rich>
                  <a:bodyPr/>
                  <a:lstStyle/>
                  <a:p>
                    <a:r>
                      <a:rPr lang="en-US" sz="900" b="1">
                        <a:solidFill>
                          <a:srgbClr val="FFFFFF"/>
                        </a:solidFill>
                      </a:rPr>
                      <a:t>152  (42%)</a:t>
                    </a:r>
                  </a:p>
                </c:rich>
              </c:tx>
              <c:dLblPos val="ct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A-13A4-4190-BE20-F1F8D98CB993}"/>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Sheet1!$A$2:$A$10</c:f>
              <c:strCache>
                <c:ptCount val="9"/>
                <c:pt idx="0">
                  <c:v>Izipay  (51)</c:v>
                </c:pt>
                <c:pt idx="1">
                  <c:v>Nuevo  (226)</c:v>
                </c:pt>
                <c:pt idx="2">
                  <c:v>Próximo  (108)</c:v>
                </c:pt>
                <c:pt idx="3">
                  <c:v>Reactivar  (183)</c:v>
                </c:pt>
                <c:pt idx="4">
                  <c:v>Gran Cuenta  (756)</c:v>
                </c:pt>
                <c:pt idx="5">
                  <c:v>Socio  (947)</c:v>
                </c:pt>
                <c:pt idx="6">
                  <c:v>Maduro  (900)</c:v>
                </c:pt>
                <c:pt idx="7">
                  <c:v>Cuenta Estr.  (436)</c:v>
                </c:pt>
                <c:pt idx="8">
                  <c:v>Ancla  (362)</c:v>
                </c:pt>
              </c:strCache>
            </c:strRef>
          </c:cat>
          <c:val>
            <c:numRef>
              <c:f>Sheet1!$C$2:$C$10</c:f>
              <c:numCache>
                <c:formatCode>General</c:formatCode>
                <c:ptCount val="9"/>
                <c:pt idx="0">
                  <c:v>25</c:v>
                </c:pt>
                <c:pt idx="1">
                  <c:v>98</c:v>
                </c:pt>
                <c:pt idx="2">
                  <c:v>57</c:v>
                </c:pt>
                <c:pt idx="3">
                  <c:v>89</c:v>
                </c:pt>
                <c:pt idx="4">
                  <c:v>387</c:v>
                </c:pt>
                <c:pt idx="5">
                  <c:v>347</c:v>
                </c:pt>
                <c:pt idx="6">
                  <c:v>426</c:v>
                </c:pt>
                <c:pt idx="7">
                  <c:v>234</c:v>
                </c:pt>
                <c:pt idx="8">
                  <c:v>152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B-13A4-4190-BE20-F1F8D98CB993}"/>
            </c:ext>
          </c:extLst>
        </c:ser>
        <c:ser>
          <c:idx val="2"/>
          <c:order val="2"/>
          <c:tx>
            <c:strRef>
              <c:f>Sheet1!$D$1</c:f>
              <c:strCache>
                <c:ptCount val="1"/>
                <c:pt idx="0">
                  <c:v>etiqueta</c:v>
                </c:pt>
              </c:strCache>
            </c:strRef>
          </c:tx>
          <c:spPr>
            <a:noFill/>
            <a:ln>
              <a:noFill/>
            </a:ln>
          </c:spPr>
          <c:invertIfNegative val="1"/>
          <c:dLbls>
            <c:dLbl>
              <c:idx val="0"/>
              <c:tx>
                <c:rich>
                  <a:bodyPr/>
                  <a:lstStyle/>
                  <a:p>
                    <a:r>
                      <a:rPr lang="en-US" sz="900" b="1">
                        <a:solidFill>
                          <a:srgbClr val="13807B"/>
                        </a:solidFill>
                      </a:rPr>
                      <a:t>26 (51%)</a:t>
                    </a:r>
                    <a:r>
                      <a:rPr lang="en-US" sz="900" b="1">
                        <a:solidFill>
                          <a:srgbClr val="6E7E7D"/>
                        </a:solidFill>
                      </a:rPr>
                      <a:t>  ·  </a:t>
                    </a:r>
                    <a:r>
                      <a:rPr lang="en-US" sz="900" b="1">
                        <a:solidFill>
                          <a:srgbClr val="E5173F"/>
                        </a:solidFill>
                      </a:rPr>
                      <a:t>25 (49%)</a:t>
                    </a:r>
                  </a:p>
                </c:rich>
              </c:tx>
              <c:dLblPos val="inBase"/>
              <c:showLegendKey val="0"/>
              <c:showVal val="1"/>
              <c:showCatName val="0"/>
              <c:showSerName val="0"/>
              <c:showPercent val="0"/>
              <c:showBubbleSize val="0"/>
              <c:extLst>
                <c:ext xmlns:c15="http://schemas.microsoft.com/office/drawing/2012/chart" uri="{CE6537A1-D6FC-4f65-9D91-7224C49458BB}">
                  <c15:layout>
                    <c:manualLayout>
                      <c:w val="0.35519493949394937"/>
                      <c:h val="6.3423800000000002E-2"/>
                    </c:manualLayout>
                  </c15:layout>
                  <c15:showDataLabelsRange val="0"/>
                </c:ext>
                <c:ext xmlns:c16="http://schemas.microsoft.com/office/drawing/2014/chart" uri="{C3380CC4-5D6E-409C-BE32-E72D297353CC}">
                  <c16:uniqueId val="{0000000C-13A4-4190-BE20-F1F8D98CB993}"/>
                </c:ext>
              </c:extLst>
            </c:dLbl>
            <c:dLbl>
              <c:idx val="1"/>
              <c:tx>
                <c:rich>
                  <a:bodyPr/>
                  <a:lstStyle/>
                  <a:p>
                    <a:r>
                      <a:rPr lang="en-US" sz="900" b="1">
                        <a:solidFill>
                          <a:srgbClr val="13807B"/>
                        </a:solidFill>
                      </a:rPr>
                      <a:t>128 (57%)</a:t>
                    </a:r>
                    <a:r>
                      <a:rPr lang="en-US" sz="900" b="1">
                        <a:solidFill>
                          <a:srgbClr val="6E7E7D"/>
                        </a:solidFill>
                      </a:rPr>
                      <a:t>  ·  </a:t>
                    </a:r>
                    <a:r>
                      <a:rPr lang="en-US" sz="900" b="1">
                        <a:solidFill>
                          <a:srgbClr val="E5173F"/>
                        </a:solidFill>
                      </a:rPr>
                      <a:t>98 (43%)</a:t>
                    </a:r>
                  </a:p>
                </c:rich>
              </c:tx>
              <c:dLblPos val="inBase"/>
              <c:showLegendKey val="0"/>
              <c:showVal val="1"/>
              <c:showCatName val="0"/>
              <c:showSerName val="0"/>
              <c:showPercent val="0"/>
              <c:showBubbleSize val="0"/>
              <c:extLst>
                <c:ext xmlns:c15="http://schemas.microsoft.com/office/drawing/2012/chart" uri="{CE6537A1-D6FC-4f65-9D91-7224C49458BB}">
                  <c15:layout>
                    <c:manualLayout>
                      <c:w val="0.28410847084708468"/>
                      <c:h val="6.3423800000000002E-2"/>
                    </c:manualLayout>
                  </c15:layout>
                  <c15:showDataLabelsRange val="0"/>
                </c:ext>
                <c:ext xmlns:c16="http://schemas.microsoft.com/office/drawing/2014/chart" uri="{C3380CC4-5D6E-409C-BE32-E72D297353CC}">
                  <c16:uniqueId val="{0000000D-13A4-4190-BE20-F1F8D98CB993}"/>
                </c:ext>
              </c:extLst>
            </c:dLbl>
            <c:dLbl>
              <c:idx val="2"/>
              <c:tx>
                <c:rich>
                  <a:bodyPr/>
                  <a:lstStyle/>
                  <a:p>
                    <a:r>
                      <a:rPr lang="en-US" sz="900" b="1">
                        <a:solidFill>
                          <a:srgbClr val="13807B"/>
                        </a:solidFill>
                      </a:rPr>
                      <a:t>51 (47%)</a:t>
                    </a:r>
                    <a:r>
                      <a:rPr lang="en-US" sz="900" b="1">
                        <a:solidFill>
                          <a:srgbClr val="6E7E7D"/>
                        </a:solidFill>
                      </a:rPr>
                      <a:t>  ·  </a:t>
                    </a:r>
                    <a:r>
                      <a:rPr lang="en-US" sz="900" b="1">
                        <a:solidFill>
                          <a:srgbClr val="E5173F"/>
                        </a:solidFill>
                      </a:rPr>
                      <a:t>57 (53%)</a:t>
                    </a:r>
                  </a:p>
                </c:rich>
              </c:tx>
              <c:dLblPos val="inBase"/>
              <c:showLegendKey val="0"/>
              <c:showVal val="1"/>
              <c:showCatName val="0"/>
              <c:showSerName val="0"/>
              <c:showPercent val="0"/>
              <c:showBubbleSize val="0"/>
              <c:extLst>
                <c:ext xmlns:c15="http://schemas.microsoft.com/office/drawing/2012/chart" uri="{CE6537A1-D6FC-4f65-9D91-7224C49458BB}">
                  <c15:layout>
                    <c:manualLayout>
                      <c:w val="0.30210363036303628"/>
                      <c:h val="6.3423800000000002E-2"/>
                    </c:manualLayout>
                  </c15:layout>
                  <c15:showDataLabelsRange val="0"/>
                </c:ext>
                <c:ext xmlns:c16="http://schemas.microsoft.com/office/drawing/2014/chart" uri="{C3380CC4-5D6E-409C-BE32-E72D297353CC}">
                  <c16:uniqueId val="{0000000E-13A4-4190-BE20-F1F8D98CB993}"/>
                </c:ext>
              </c:extLst>
            </c:dLbl>
            <c:dLbl>
              <c:idx val="3"/>
              <c:tx>
                <c:rich>
                  <a:bodyPr/>
                  <a:lstStyle/>
                  <a:p>
                    <a:r>
                      <a:rPr lang="en-US" sz="900" b="1">
                        <a:solidFill>
                          <a:srgbClr val="13807B"/>
                        </a:solidFill>
                      </a:rPr>
                      <a:t>94 (51%)</a:t>
                    </a:r>
                    <a:r>
                      <a:rPr lang="en-US" sz="900" b="1">
                        <a:solidFill>
                          <a:srgbClr val="6E7E7D"/>
                        </a:solidFill>
                      </a:rPr>
                      <a:t>  ·  </a:t>
                    </a:r>
                    <a:r>
                      <a:rPr lang="en-US" sz="900" b="1">
                        <a:solidFill>
                          <a:srgbClr val="E5173F"/>
                        </a:solidFill>
                      </a:rPr>
                      <a:t>89 (49%)</a:t>
                    </a:r>
                  </a:p>
                </c:rich>
              </c:tx>
              <c:dLblPos val="inBase"/>
              <c:showLegendKey val="0"/>
              <c:showVal val="1"/>
              <c:showCatName val="0"/>
              <c:showSerName val="0"/>
              <c:showPercent val="0"/>
              <c:showBubbleSize val="0"/>
              <c:extLst>
                <c:ext xmlns:c15="http://schemas.microsoft.com/office/drawing/2012/chart" uri="{CE6537A1-D6FC-4f65-9D91-7224C49458BB}">
                  <c15:layout>
                    <c:manualLayout>
                      <c:w val="0.30489790979097908"/>
                      <c:h val="6.3423800000000002E-2"/>
                    </c:manualLayout>
                  </c15:layout>
                  <c15:showDataLabelsRange val="0"/>
                </c:ext>
                <c:ext xmlns:c16="http://schemas.microsoft.com/office/drawing/2014/chart" uri="{C3380CC4-5D6E-409C-BE32-E72D297353CC}">
                  <c16:uniqueId val="{0000000F-13A4-4190-BE20-F1F8D98CB993}"/>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Sheet1!$A$2:$A$10</c:f>
              <c:strCache>
                <c:ptCount val="9"/>
                <c:pt idx="0">
                  <c:v>Izipay  (51)</c:v>
                </c:pt>
                <c:pt idx="1">
                  <c:v>Nuevo  (226)</c:v>
                </c:pt>
                <c:pt idx="2">
                  <c:v>Próximo  (108)</c:v>
                </c:pt>
                <c:pt idx="3">
                  <c:v>Reactivar  (183)</c:v>
                </c:pt>
                <c:pt idx="4">
                  <c:v>Gran Cuenta  (756)</c:v>
                </c:pt>
                <c:pt idx="5">
                  <c:v>Socio  (947)</c:v>
                </c:pt>
                <c:pt idx="6">
                  <c:v>Maduro  (900)</c:v>
                </c:pt>
                <c:pt idx="7">
                  <c:v>Cuenta Estr.  (436)</c:v>
                </c:pt>
                <c:pt idx="8">
                  <c:v>Ancla  (362)</c:v>
                </c:pt>
              </c:strCache>
            </c:strRef>
          </c:cat>
          <c:val>
            <c:numRef>
              <c:f>Sheet1!$D$2:$D$10</c:f>
              <c:numCache>
                <c:formatCode>General</c:formatCode>
                <c:ptCount val="9"/>
                <c:pt idx="0">
                  <c:v>426.15000000000003</c:v>
                </c:pt>
                <c:pt idx="1">
                  <c:v>426.15000000000003</c:v>
                </c:pt>
                <c:pt idx="2">
                  <c:v>426.15000000000003</c:v>
                </c:pt>
                <c:pt idx="3">
                  <c:v>426.15000000000003</c:v>
                </c:pt>
                <c:pt idx="4">
                  <c:v>0</c:v>
                </c:pt>
                <c:pt idx="5">
                  <c:v>0</c:v>
                </c:pt>
                <c:pt idx="6">
                  <c:v>0</c:v>
                </c:pt>
                <c:pt idx="7">
                  <c:v>0</c:v>
                </c:pt>
                <c:pt idx="8">
                  <c:v>0</c:v>
                </c:pt>
              </c:numCache>
            </c:numRef>
          </c:val>
          <c:extLst>
            <c:ext xmlns:c16="http://schemas.microsoft.com/office/drawing/2014/chart" uri="{C3380CC4-5D6E-409C-BE32-E72D297353CC}">
              <c16:uniqueId val="{00000010-13A4-4190-BE20-F1F8D98CB993}"/>
            </c:ext>
          </c:extLst>
        </c:ser>
        <c:dLbls>
          <c:showLegendKey val="0"/>
          <c:showVal val="0"/>
          <c:showCatName val="0"/>
          <c:showSerName val="0"/>
          <c:showPercent val="0"/>
          <c:showBubbleSize val="0"/>
        </c:dLbls>
        <c:gapWidth val="40"/>
        <c:overlap val="100"/>
        <c:axId val="-2068027336"/>
        <c:axId val="-2113994440"/>
      </c:barChart>
      <c:catAx>
        <c:axId val="-2068027336"/>
        <c:scaling>
          <c:orientation val="minMax"/>
        </c:scaling>
        <c:delete val="0"/>
        <c:axPos val="l"/>
        <c:numFmt formatCode="General" sourceLinked="0"/>
        <c:majorTickMark val="out"/>
        <c:minorTickMark val="none"/>
        <c:tickLblPos val="nextTo"/>
        <c:txPr>
          <a:bodyPr/>
          <a:lstStyle/>
          <a:p>
            <a:pPr>
              <a:defRPr sz="900"/>
            </a:pPr>
            <a:endParaRPr lang="es-PE"/>
          </a:p>
        </c:txPr>
        <c:crossAx val="-2113994440"/>
        <c:crosses val="autoZero"/>
        <c:auto val="1"/>
        <c:lblAlgn val="ctr"/>
        <c:lblOffset val="100"/>
        <c:noMultiLvlLbl val="0"/>
      </c:catAx>
      <c:valAx>
        <c:axId val="-2113994440"/>
        <c:scaling>
          <c:orientation val="minMax"/>
          <c:max val="965.94"/>
          <c:min val="0"/>
        </c:scaling>
        <c:delete val="1"/>
        <c:axPos val="b"/>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0"/>
    <c:plotArea>
      <c:layout/>
      <c:barChart>
        <c:barDir val="col"/>
        <c:grouping val="stacked"/>
        <c:varyColors val="1"/>
        <c:ser>
          <c:idx val="0"/>
          <c:order val="0"/>
          <c:tx>
            <c:strRef>
              <c:f>Sheet1!$B$1</c:f>
              <c:strCache>
                <c:ptCount val="1"/>
                <c:pt idx="0">
                  <c:v>base</c:v>
                </c:pt>
              </c:strCache>
            </c:strRef>
          </c:tx>
          <c:spPr>
            <a:noFill/>
          </c:spPr>
          <c:invertIfNegative val="1"/>
          <c:cat>
            <c:strRef>
              <c:f>Sheet1!$A$2:$A$4</c:f>
              <c:strCache>
                <c:ptCount val="3"/>
                <c:pt idx="0">
                  <c:v>Desembolsos de la competencia (share relevante)</c:v>
                </c:pt>
                <c:pt idx="1">
                  <c:v>Sin tasa inferida</c:v>
                </c:pt>
                <c:pt idx="2">
                  <c:v>Con tasa inferida</c:v>
                </c:pt>
              </c:strCache>
            </c:strRef>
          </c:cat>
          <c:val>
            <c:numRef>
              <c:f>Sheet1!$B$2:$B$4</c:f>
              <c:numCache>
                <c:formatCode>General</c:formatCode>
                <c:ptCount val="3"/>
                <c:pt idx="0">
                  <c:v>0</c:v>
                </c:pt>
                <c:pt idx="1">
                  <c:v>816</c:v>
                </c:pt>
                <c:pt idx="2">
                  <c:v>0</c:v>
                </c:pt>
              </c:numCache>
            </c:numRef>
          </c:val>
          <c:extLst>
            <c:ext xmlns:c16="http://schemas.microsoft.com/office/drawing/2014/chart" uri="{C3380CC4-5D6E-409C-BE32-E72D297353CC}">
              <c16:uniqueId val="{00000000-C18D-4949-B0A6-569B54D82084}"/>
            </c:ext>
          </c:extLst>
        </c:ser>
        <c:ser>
          <c:idx val="1"/>
          <c:order val="1"/>
          <c:tx>
            <c:strRef>
              <c:f>Sheet1!$C$1</c:f>
              <c:strCache>
                <c:ptCount val="1"/>
                <c:pt idx="0">
                  <c:v>n</c:v>
                </c:pt>
              </c:strCache>
            </c:strRef>
          </c:tx>
          <c:invertIfNegative val="1"/>
          <c:dPt>
            <c:idx val="0"/>
            <c:invertIfNegative val="1"/>
            <c:bubble3D val="0"/>
            <c:spPr>
              <a:solidFill>
                <a:srgbClr val="4B5552"/>
              </a:solidFill>
            </c:spPr>
            <c:extLst>
              <c:ext xmlns:c16="http://schemas.microsoft.com/office/drawing/2014/chart" uri="{C3380CC4-5D6E-409C-BE32-E72D297353CC}">
                <c16:uniqueId val="{00000002-C18D-4949-B0A6-569B54D82084}"/>
              </c:ext>
            </c:extLst>
          </c:dPt>
          <c:dPt>
            <c:idx val="1"/>
            <c:invertIfNegative val="1"/>
            <c:bubble3D val="0"/>
            <c:spPr>
              <a:solidFill>
                <a:srgbClr val="E5173F"/>
              </a:solidFill>
            </c:spPr>
            <c:extLst>
              <c:ext xmlns:c16="http://schemas.microsoft.com/office/drawing/2014/chart" uri="{C3380CC4-5D6E-409C-BE32-E72D297353CC}">
                <c16:uniqueId val="{00000004-C18D-4949-B0A6-569B54D82084}"/>
              </c:ext>
            </c:extLst>
          </c:dPt>
          <c:dPt>
            <c:idx val="2"/>
            <c:invertIfNegative val="1"/>
            <c:bubble3D val="0"/>
            <c:spPr>
              <a:solidFill>
                <a:srgbClr val="13807B"/>
              </a:solidFill>
            </c:spPr>
            <c:extLst>
              <c:ext xmlns:c16="http://schemas.microsoft.com/office/drawing/2014/chart" uri="{C3380CC4-5D6E-409C-BE32-E72D297353CC}">
                <c16:uniqueId val="{00000006-C18D-4949-B0A6-569B54D82084}"/>
              </c:ext>
            </c:extLst>
          </c:dPt>
          <c:dLbls>
            <c:dLbl>
              <c:idx val="0"/>
              <c:tx>
                <c:rich>
                  <a:bodyPr/>
                  <a:lstStyle/>
                  <a:p>
                    <a:r>
                      <a:rPr lang="en-US" sz="1000" b="1">
                        <a:solidFill>
                          <a:srgbClr val="FFFFFF"/>
                        </a:solidFill>
                      </a:rPr>
                      <a:t>1,860</a:t>
                    </a:r>
                  </a:p>
                </c:rich>
              </c:tx>
              <c:dLblPos val="in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C18D-4949-B0A6-569B54D82084}"/>
                </c:ext>
              </c:extLst>
            </c:dLbl>
            <c:dLbl>
              <c:idx val="1"/>
              <c:tx>
                <c:rich>
                  <a:bodyPr/>
                  <a:lstStyle/>
                  <a:p>
                    <a:r>
                      <a:rPr lang="en-US" sz="1000" b="1">
                        <a:solidFill>
                          <a:srgbClr val="FFFFFF"/>
                        </a:solidFill>
                      </a:rPr>
                      <a:t>−1,044  (56%)</a:t>
                    </a:r>
                  </a:p>
                </c:rich>
              </c:tx>
              <c:dLblPos val="in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C18D-4949-B0A6-569B54D82084}"/>
                </c:ext>
              </c:extLst>
            </c:dLbl>
            <c:dLbl>
              <c:idx val="2"/>
              <c:tx>
                <c:rich>
                  <a:bodyPr/>
                  <a:lstStyle/>
                  <a:p>
                    <a:r>
                      <a:rPr lang="en-US" sz="1000" b="1">
                        <a:solidFill>
                          <a:srgbClr val="FFFFFF"/>
                        </a:solidFill>
                      </a:rPr>
                      <a:t>816  (44%)</a:t>
                    </a:r>
                  </a:p>
                </c:rich>
              </c:tx>
              <c:dLblPos val="in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C18D-4949-B0A6-569B54D82084}"/>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Sheet1!$A$2:$A$4</c:f>
              <c:strCache>
                <c:ptCount val="3"/>
                <c:pt idx="0">
                  <c:v>Desembolsos de la competencia (share relevante)</c:v>
                </c:pt>
                <c:pt idx="1">
                  <c:v>Sin tasa inferida</c:v>
                </c:pt>
                <c:pt idx="2">
                  <c:v>Con tasa inferida</c:v>
                </c:pt>
              </c:strCache>
            </c:strRef>
          </c:cat>
          <c:val>
            <c:numRef>
              <c:f>Sheet1!$C$2:$C$4</c:f>
              <c:numCache>
                <c:formatCode>General</c:formatCode>
                <c:ptCount val="3"/>
                <c:pt idx="0">
                  <c:v>1860</c:v>
                </c:pt>
                <c:pt idx="1">
                  <c:v>1044</c:v>
                </c:pt>
                <c:pt idx="2">
                  <c:v>816</c:v>
                </c:pt>
              </c:numCache>
            </c:numRef>
          </c:val>
          <c:extLst>
            <c:ext xmlns:c16="http://schemas.microsoft.com/office/drawing/2014/chart" uri="{C3380CC4-5D6E-409C-BE32-E72D297353CC}">
              <c16:uniqueId val="{00000007-C18D-4949-B0A6-569B54D82084}"/>
            </c:ext>
          </c:extLst>
        </c:ser>
        <c:dLbls>
          <c:showLegendKey val="0"/>
          <c:showVal val="0"/>
          <c:showCatName val="0"/>
          <c:showSerName val="0"/>
          <c:showPercent val="0"/>
          <c:showBubbleSize val="0"/>
        </c:dLbls>
        <c:gapWidth val="60"/>
        <c:overlap val="100"/>
        <c:axId val="-2068027336"/>
        <c:axId val="-2113994440"/>
      </c:barChart>
      <c:catAx>
        <c:axId val="-2068027336"/>
        <c:scaling>
          <c:orientation val="minMax"/>
        </c:scaling>
        <c:delete val="0"/>
        <c:axPos val="b"/>
        <c:numFmt formatCode="General" sourceLinked="0"/>
        <c:majorTickMark val="out"/>
        <c:minorTickMark val="none"/>
        <c:tickLblPos val="nextTo"/>
        <c:txPr>
          <a:bodyPr/>
          <a:lstStyle/>
          <a:p>
            <a:pPr>
              <a:defRPr sz="900"/>
            </a:pPr>
            <a:endParaRPr lang="es-PE"/>
          </a:p>
        </c:txPr>
        <c:crossAx val="-2113994440"/>
        <c:crosses val="autoZero"/>
        <c:auto val="1"/>
        <c:lblAlgn val="ctr"/>
        <c:lblOffset val="100"/>
        <c:noMultiLvlLbl val="0"/>
      </c:catAx>
      <c:valAx>
        <c:axId val="-2113994440"/>
        <c:scaling>
          <c:orientation val="minMax"/>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0"/>
    <c:plotArea>
      <c:layout/>
      <c:barChart>
        <c:barDir val="bar"/>
        <c:grouping val="stacked"/>
        <c:varyColors val="1"/>
        <c:ser>
          <c:idx val="0"/>
          <c:order val="0"/>
          <c:tx>
            <c:strRef>
              <c:f>Sheet1!$B$1</c:f>
              <c:strCache>
                <c:ptCount val="1"/>
                <c:pt idx="0">
                  <c:v>Con tasa inferida</c:v>
                </c:pt>
              </c:strCache>
            </c:strRef>
          </c:tx>
          <c:spPr>
            <a:solidFill>
              <a:srgbClr val="13807B"/>
            </a:solidFill>
          </c:spPr>
          <c:invertIfNegative val="1"/>
          <c:dLbls>
            <c:dLbl>
              <c:idx val="4"/>
              <c:tx>
                <c:rich>
                  <a:bodyPr/>
                  <a:lstStyle/>
                  <a:p>
                    <a:r>
                      <a:rPr lang="en-US" sz="900" b="1">
                        <a:solidFill>
                          <a:srgbClr val="FFFFFF"/>
                        </a:solidFill>
                      </a:rPr>
                      <a:t>116  (38%)</a:t>
                    </a:r>
                  </a:p>
                </c:rich>
              </c:tx>
              <c:dLblPos val="ct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5592-43E4-8227-A21AE440D84A}"/>
                </c:ext>
              </c:extLst>
            </c:dLbl>
            <c:dLbl>
              <c:idx val="5"/>
              <c:tx>
                <c:rich>
                  <a:bodyPr/>
                  <a:lstStyle/>
                  <a:p>
                    <a:r>
                      <a:rPr lang="en-US" sz="900" b="1">
                        <a:solidFill>
                          <a:srgbClr val="FFFFFF"/>
                        </a:solidFill>
                      </a:rPr>
                      <a:t>222  (52%)</a:t>
                    </a:r>
                  </a:p>
                </c:rich>
              </c:tx>
              <c:dLblPos val="ct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5592-43E4-8227-A21AE440D84A}"/>
                </c:ext>
              </c:extLst>
            </c:dLbl>
            <c:dLbl>
              <c:idx val="6"/>
              <c:tx>
                <c:rich>
                  <a:bodyPr/>
                  <a:lstStyle/>
                  <a:p>
                    <a:r>
                      <a:rPr lang="en-US" sz="900" b="1">
                        <a:solidFill>
                          <a:srgbClr val="FFFFFF"/>
                        </a:solidFill>
                      </a:rPr>
                      <a:t>181  (42%)</a:t>
                    </a:r>
                  </a:p>
                </c:rich>
              </c:tx>
              <c:dLblPos val="ct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5592-43E4-8227-A21AE440D84A}"/>
                </c:ext>
              </c:extLst>
            </c:dLbl>
            <c:dLbl>
              <c:idx val="7"/>
              <c:tx>
                <c:rich>
                  <a:bodyPr/>
                  <a:lstStyle/>
                  <a:p>
                    <a:r>
                      <a:rPr lang="en-US" sz="900" b="1">
                        <a:solidFill>
                          <a:srgbClr val="FFFFFF"/>
                        </a:solidFill>
                      </a:rPr>
                      <a:t>101  (40%)</a:t>
                    </a:r>
                  </a:p>
                </c:rich>
              </c:tx>
              <c:dLblPos val="ct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5592-43E4-8227-A21AE440D84A}"/>
                </c:ext>
              </c:extLst>
            </c:dLbl>
            <c:dLbl>
              <c:idx val="8"/>
              <c:tx>
                <c:rich>
                  <a:bodyPr/>
                  <a:lstStyle/>
                  <a:p>
                    <a:r>
                      <a:rPr lang="en-US" sz="900" b="1">
                        <a:solidFill>
                          <a:srgbClr val="FFFFFF"/>
                        </a:solidFill>
                      </a:rPr>
                      <a:t>98  (48%)</a:t>
                    </a:r>
                  </a:p>
                </c:rich>
              </c:tx>
              <c:dLblPos val="ct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5592-43E4-8227-A21AE440D84A}"/>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Sheet1!$A$2:$A$10</c:f>
              <c:strCache>
                <c:ptCount val="9"/>
                <c:pt idx="0">
                  <c:v>Izipay  (24)</c:v>
                </c:pt>
                <c:pt idx="1">
                  <c:v>Nuevo  (90)</c:v>
                </c:pt>
                <c:pt idx="2">
                  <c:v>Próximo  (54)</c:v>
                </c:pt>
                <c:pt idx="3">
                  <c:v>Reactivar  (78)</c:v>
                </c:pt>
                <c:pt idx="4">
                  <c:v>Gran Cuenta  (306)</c:v>
                </c:pt>
                <c:pt idx="5">
                  <c:v>Socio  (423)</c:v>
                </c:pt>
                <c:pt idx="6">
                  <c:v>Maduro  (429)</c:v>
                </c:pt>
                <c:pt idx="7">
                  <c:v>Cuenta Estr.  (253)</c:v>
                </c:pt>
                <c:pt idx="8">
                  <c:v>Ancla  (203)</c:v>
                </c:pt>
              </c:strCache>
            </c:strRef>
          </c:cat>
          <c:val>
            <c:numRef>
              <c:f>Sheet1!$B$2:$B$10</c:f>
              <c:numCache>
                <c:formatCode>General</c:formatCode>
                <c:ptCount val="9"/>
                <c:pt idx="0">
                  <c:v>7</c:v>
                </c:pt>
                <c:pt idx="1">
                  <c:v>41</c:v>
                </c:pt>
                <c:pt idx="2">
                  <c:v>20</c:v>
                </c:pt>
                <c:pt idx="3">
                  <c:v>30</c:v>
                </c:pt>
                <c:pt idx="4">
                  <c:v>116</c:v>
                </c:pt>
                <c:pt idx="5">
                  <c:v>222</c:v>
                </c:pt>
                <c:pt idx="6">
                  <c:v>181</c:v>
                </c:pt>
                <c:pt idx="7">
                  <c:v>101</c:v>
                </c:pt>
                <c:pt idx="8">
                  <c:v>98</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5-5592-43E4-8227-A21AE440D84A}"/>
            </c:ext>
          </c:extLst>
        </c:ser>
        <c:ser>
          <c:idx val="1"/>
          <c:order val="1"/>
          <c:tx>
            <c:strRef>
              <c:f>Sheet1!$C$1</c:f>
              <c:strCache>
                <c:ptCount val="1"/>
                <c:pt idx="0">
                  <c:v>Sin tasa inferida</c:v>
                </c:pt>
              </c:strCache>
            </c:strRef>
          </c:tx>
          <c:spPr>
            <a:solidFill>
              <a:srgbClr val="E5173F"/>
            </a:solidFill>
          </c:spPr>
          <c:invertIfNegative val="1"/>
          <c:dLbls>
            <c:dLbl>
              <c:idx val="4"/>
              <c:tx>
                <c:rich>
                  <a:bodyPr/>
                  <a:lstStyle/>
                  <a:p>
                    <a:r>
                      <a:rPr lang="en-US" sz="900" b="1">
                        <a:solidFill>
                          <a:srgbClr val="FFFFFF"/>
                        </a:solidFill>
                      </a:rPr>
                      <a:t>190  (62%)</a:t>
                    </a:r>
                  </a:p>
                </c:rich>
              </c:tx>
              <c:dLblPos val="ct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5592-43E4-8227-A21AE440D84A}"/>
                </c:ext>
              </c:extLst>
            </c:dLbl>
            <c:dLbl>
              <c:idx val="5"/>
              <c:tx>
                <c:rich>
                  <a:bodyPr/>
                  <a:lstStyle/>
                  <a:p>
                    <a:r>
                      <a:rPr lang="en-US" sz="900" b="1">
                        <a:solidFill>
                          <a:srgbClr val="FFFFFF"/>
                        </a:solidFill>
                      </a:rPr>
                      <a:t>201  (48%)</a:t>
                    </a:r>
                  </a:p>
                </c:rich>
              </c:tx>
              <c:dLblPos val="ct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5592-43E4-8227-A21AE440D84A}"/>
                </c:ext>
              </c:extLst>
            </c:dLbl>
            <c:dLbl>
              <c:idx val="6"/>
              <c:tx>
                <c:rich>
                  <a:bodyPr/>
                  <a:lstStyle/>
                  <a:p>
                    <a:r>
                      <a:rPr lang="en-US" sz="900" b="1">
                        <a:solidFill>
                          <a:srgbClr val="FFFFFF"/>
                        </a:solidFill>
                      </a:rPr>
                      <a:t>248  (58%)</a:t>
                    </a:r>
                  </a:p>
                </c:rich>
              </c:tx>
              <c:dLblPos val="ct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8-5592-43E4-8227-A21AE440D84A}"/>
                </c:ext>
              </c:extLst>
            </c:dLbl>
            <c:dLbl>
              <c:idx val="7"/>
              <c:tx>
                <c:rich>
                  <a:bodyPr/>
                  <a:lstStyle/>
                  <a:p>
                    <a:r>
                      <a:rPr lang="en-US" sz="900" b="1">
                        <a:solidFill>
                          <a:srgbClr val="FFFFFF"/>
                        </a:solidFill>
                      </a:rPr>
                      <a:t>152  (60%)</a:t>
                    </a:r>
                  </a:p>
                </c:rich>
              </c:tx>
              <c:dLblPos val="ct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9-5592-43E4-8227-A21AE440D84A}"/>
                </c:ext>
              </c:extLst>
            </c:dLbl>
            <c:dLbl>
              <c:idx val="8"/>
              <c:tx>
                <c:rich>
                  <a:bodyPr/>
                  <a:lstStyle/>
                  <a:p>
                    <a:r>
                      <a:rPr lang="en-US" sz="900" b="1">
                        <a:solidFill>
                          <a:srgbClr val="FFFFFF"/>
                        </a:solidFill>
                      </a:rPr>
                      <a:t>105  (52%)</a:t>
                    </a:r>
                  </a:p>
                </c:rich>
              </c:tx>
              <c:dLblPos val="ct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A-5592-43E4-8227-A21AE440D84A}"/>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Sheet1!$A$2:$A$10</c:f>
              <c:strCache>
                <c:ptCount val="9"/>
                <c:pt idx="0">
                  <c:v>Izipay  (24)</c:v>
                </c:pt>
                <c:pt idx="1">
                  <c:v>Nuevo  (90)</c:v>
                </c:pt>
                <c:pt idx="2">
                  <c:v>Próximo  (54)</c:v>
                </c:pt>
                <c:pt idx="3">
                  <c:v>Reactivar  (78)</c:v>
                </c:pt>
                <c:pt idx="4">
                  <c:v>Gran Cuenta  (306)</c:v>
                </c:pt>
                <c:pt idx="5">
                  <c:v>Socio  (423)</c:v>
                </c:pt>
                <c:pt idx="6">
                  <c:v>Maduro  (429)</c:v>
                </c:pt>
                <c:pt idx="7">
                  <c:v>Cuenta Estr.  (253)</c:v>
                </c:pt>
                <c:pt idx="8">
                  <c:v>Ancla  (203)</c:v>
                </c:pt>
              </c:strCache>
            </c:strRef>
          </c:cat>
          <c:val>
            <c:numRef>
              <c:f>Sheet1!$C$2:$C$10</c:f>
              <c:numCache>
                <c:formatCode>General</c:formatCode>
                <c:ptCount val="9"/>
                <c:pt idx="0">
                  <c:v>17</c:v>
                </c:pt>
                <c:pt idx="1">
                  <c:v>49</c:v>
                </c:pt>
                <c:pt idx="2">
                  <c:v>34</c:v>
                </c:pt>
                <c:pt idx="3">
                  <c:v>48</c:v>
                </c:pt>
                <c:pt idx="4">
                  <c:v>190</c:v>
                </c:pt>
                <c:pt idx="5">
                  <c:v>201</c:v>
                </c:pt>
                <c:pt idx="6">
                  <c:v>248</c:v>
                </c:pt>
                <c:pt idx="7">
                  <c:v>152</c:v>
                </c:pt>
                <c:pt idx="8">
                  <c:v>105</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B-5592-43E4-8227-A21AE440D84A}"/>
            </c:ext>
          </c:extLst>
        </c:ser>
        <c:ser>
          <c:idx val="2"/>
          <c:order val="2"/>
          <c:tx>
            <c:strRef>
              <c:f>Sheet1!$D$1</c:f>
              <c:strCache>
                <c:ptCount val="1"/>
                <c:pt idx="0">
                  <c:v>etiqueta</c:v>
                </c:pt>
              </c:strCache>
            </c:strRef>
          </c:tx>
          <c:spPr>
            <a:noFill/>
            <a:ln>
              <a:noFill/>
            </a:ln>
          </c:spPr>
          <c:invertIfNegative val="1"/>
          <c:dLbls>
            <c:dLbl>
              <c:idx val="0"/>
              <c:tx>
                <c:rich>
                  <a:bodyPr/>
                  <a:lstStyle/>
                  <a:p>
                    <a:r>
                      <a:rPr lang="en-US" sz="900" b="1">
                        <a:solidFill>
                          <a:srgbClr val="13807B"/>
                        </a:solidFill>
                      </a:rPr>
                      <a:t>7 (29%)</a:t>
                    </a:r>
                    <a:r>
                      <a:rPr lang="en-US" sz="900" b="1">
                        <a:solidFill>
                          <a:srgbClr val="6E7E7D"/>
                        </a:solidFill>
                      </a:rPr>
                      <a:t>  ·  </a:t>
                    </a:r>
                    <a:r>
                      <a:rPr lang="en-US" sz="900" b="1">
                        <a:solidFill>
                          <a:srgbClr val="E5173F"/>
                        </a:solidFill>
                      </a:rPr>
                      <a:t>17 (71%)</a:t>
                    </a:r>
                  </a:p>
                </c:rich>
              </c:tx>
              <c:dLblPos val="inBase"/>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C-5592-43E4-8227-A21AE440D84A}"/>
                </c:ext>
              </c:extLst>
            </c:dLbl>
            <c:dLbl>
              <c:idx val="1"/>
              <c:tx>
                <c:rich>
                  <a:bodyPr/>
                  <a:lstStyle/>
                  <a:p>
                    <a:r>
                      <a:rPr lang="en-US" sz="900" b="1">
                        <a:solidFill>
                          <a:srgbClr val="13807B"/>
                        </a:solidFill>
                      </a:rPr>
                      <a:t>41 (46%)</a:t>
                    </a:r>
                    <a:r>
                      <a:rPr lang="en-US" sz="900" b="1">
                        <a:solidFill>
                          <a:srgbClr val="6E7E7D"/>
                        </a:solidFill>
                      </a:rPr>
                      <a:t>  ·  </a:t>
                    </a:r>
                    <a:r>
                      <a:rPr lang="en-US" sz="900" b="1">
                        <a:solidFill>
                          <a:srgbClr val="E5173F"/>
                        </a:solidFill>
                      </a:rPr>
                      <a:t>49 (54%)</a:t>
                    </a:r>
                  </a:p>
                </c:rich>
              </c:tx>
              <c:dLblPos val="inBase"/>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D-5592-43E4-8227-A21AE440D84A}"/>
                </c:ext>
              </c:extLst>
            </c:dLbl>
            <c:dLbl>
              <c:idx val="2"/>
              <c:tx>
                <c:rich>
                  <a:bodyPr/>
                  <a:lstStyle/>
                  <a:p>
                    <a:r>
                      <a:rPr lang="en-US" sz="900" b="1">
                        <a:solidFill>
                          <a:srgbClr val="13807B"/>
                        </a:solidFill>
                      </a:rPr>
                      <a:t>20 (37%)</a:t>
                    </a:r>
                    <a:r>
                      <a:rPr lang="en-US" sz="900" b="1">
                        <a:solidFill>
                          <a:srgbClr val="6E7E7D"/>
                        </a:solidFill>
                      </a:rPr>
                      <a:t>  ·  </a:t>
                    </a:r>
                    <a:r>
                      <a:rPr lang="en-US" sz="900" b="1">
                        <a:solidFill>
                          <a:srgbClr val="E5173F"/>
                        </a:solidFill>
                      </a:rPr>
                      <a:t>34 (63%)</a:t>
                    </a:r>
                  </a:p>
                </c:rich>
              </c:tx>
              <c:dLblPos val="inBase"/>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E-5592-43E4-8227-A21AE440D84A}"/>
                </c:ext>
              </c:extLst>
            </c:dLbl>
            <c:dLbl>
              <c:idx val="3"/>
              <c:tx>
                <c:rich>
                  <a:bodyPr/>
                  <a:lstStyle/>
                  <a:p>
                    <a:r>
                      <a:rPr lang="en-US" sz="900" b="1">
                        <a:solidFill>
                          <a:srgbClr val="13807B"/>
                        </a:solidFill>
                      </a:rPr>
                      <a:t>30 (38%)</a:t>
                    </a:r>
                    <a:r>
                      <a:rPr lang="en-US" sz="900" b="1">
                        <a:solidFill>
                          <a:srgbClr val="6E7E7D"/>
                        </a:solidFill>
                      </a:rPr>
                      <a:t>  ·  </a:t>
                    </a:r>
                    <a:r>
                      <a:rPr lang="en-US" sz="900" b="1">
                        <a:solidFill>
                          <a:srgbClr val="E5173F"/>
                        </a:solidFill>
                      </a:rPr>
                      <a:t>48 (62%)</a:t>
                    </a:r>
                  </a:p>
                </c:rich>
              </c:tx>
              <c:dLblPos val="inBase"/>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F-5592-43E4-8227-A21AE440D84A}"/>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Sheet1!$A$2:$A$10</c:f>
              <c:strCache>
                <c:ptCount val="9"/>
                <c:pt idx="0">
                  <c:v>Izipay  (24)</c:v>
                </c:pt>
                <c:pt idx="1">
                  <c:v>Nuevo  (90)</c:v>
                </c:pt>
                <c:pt idx="2">
                  <c:v>Próximo  (54)</c:v>
                </c:pt>
                <c:pt idx="3">
                  <c:v>Reactivar  (78)</c:v>
                </c:pt>
                <c:pt idx="4">
                  <c:v>Gran Cuenta  (306)</c:v>
                </c:pt>
                <c:pt idx="5">
                  <c:v>Socio  (423)</c:v>
                </c:pt>
                <c:pt idx="6">
                  <c:v>Maduro  (429)</c:v>
                </c:pt>
                <c:pt idx="7">
                  <c:v>Cuenta Estr.  (253)</c:v>
                </c:pt>
                <c:pt idx="8">
                  <c:v>Ancla  (203)</c:v>
                </c:pt>
              </c:strCache>
            </c:strRef>
          </c:cat>
          <c:val>
            <c:numRef>
              <c:f>Sheet1!$D$2:$D$10</c:f>
              <c:numCache>
                <c:formatCode>General</c:formatCode>
                <c:ptCount val="9"/>
                <c:pt idx="0">
                  <c:v>193.05</c:v>
                </c:pt>
                <c:pt idx="1">
                  <c:v>193.05</c:v>
                </c:pt>
                <c:pt idx="2">
                  <c:v>193.05</c:v>
                </c:pt>
                <c:pt idx="3">
                  <c:v>193.05</c:v>
                </c:pt>
                <c:pt idx="4">
                  <c:v>0</c:v>
                </c:pt>
                <c:pt idx="5">
                  <c:v>0</c:v>
                </c:pt>
                <c:pt idx="6">
                  <c:v>0</c:v>
                </c:pt>
                <c:pt idx="7">
                  <c:v>0</c:v>
                </c:pt>
                <c:pt idx="8">
                  <c:v>0</c:v>
                </c:pt>
              </c:numCache>
            </c:numRef>
          </c:val>
          <c:extLst>
            <c:ext xmlns:c16="http://schemas.microsoft.com/office/drawing/2014/chart" uri="{C3380CC4-5D6E-409C-BE32-E72D297353CC}">
              <c16:uniqueId val="{00000010-5592-43E4-8227-A21AE440D84A}"/>
            </c:ext>
          </c:extLst>
        </c:ser>
        <c:dLbls>
          <c:showLegendKey val="0"/>
          <c:showVal val="0"/>
          <c:showCatName val="0"/>
          <c:showSerName val="0"/>
          <c:showPercent val="0"/>
          <c:showBubbleSize val="0"/>
        </c:dLbls>
        <c:gapWidth val="40"/>
        <c:overlap val="100"/>
        <c:axId val="-2068027336"/>
        <c:axId val="-2113994440"/>
      </c:barChart>
      <c:catAx>
        <c:axId val="-2068027336"/>
        <c:scaling>
          <c:orientation val="minMax"/>
        </c:scaling>
        <c:delete val="0"/>
        <c:axPos val="l"/>
        <c:numFmt formatCode="General" sourceLinked="0"/>
        <c:majorTickMark val="out"/>
        <c:minorTickMark val="none"/>
        <c:tickLblPos val="nextTo"/>
        <c:txPr>
          <a:bodyPr/>
          <a:lstStyle/>
          <a:p>
            <a:pPr>
              <a:defRPr sz="900"/>
            </a:pPr>
            <a:endParaRPr lang="es-PE"/>
          </a:p>
        </c:txPr>
        <c:crossAx val="-2113994440"/>
        <c:crosses val="autoZero"/>
        <c:auto val="1"/>
        <c:lblAlgn val="ctr"/>
        <c:lblOffset val="100"/>
        <c:noMultiLvlLbl val="0"/>
      </c:catAx>
      <c:valAx>
        <c:axId val="-2113994440"/>
        <c:scaling>
          <c:orientation val="minMax"/>
          <c:max val="437.58"/>
          <c:min val="0"/>
        </c:scaling>
        <c:delete val="1"/>
        <c:axPos val="b"/>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0"/>
    <c:plotArea>
      <c:layout/>
      <c:lineChart>
        <c:grouping val="standard"/>
        <c:varyColors val="0"/>
        <c:ser>
          <c:idx val="0"/>
          <c:order val="0"/>
          <c:tx>
            <c:strRef>
              <c:f>Sheet1!$B$1</c:f>
              <c:strCache>
                <c:ptCount val="1"/>
                <c:pt idx="0">
                  <c:v>Tramo 1</c:v>
                </c:pt>
              </c:strCache>
            </c:strRef>
          </c:tx>
          <c:spPr>
            <a:ln w="19050">
              <a:solidFill>
                <a:srgbClr val="13807B"/>
              </a:solidFill>
            </a:ln>
          </c:spPr>
          <c:marker>
            <c:symbol val="diamond"/>
            <c:size val="4"/>
            <c:spPr>
              <a:solidFill>
                <a:srgbClr val="13807B"/>
              </a:solidFill>
              <a:ln>
                <a:solidFill>
                  <a:srgbClr val="13807B"/>
                </a:solidFill>
              </a:ln>
            </c:spPr>
          </c:marker>
          <c:cat>
            <c:strRef>
              <c:f>Sheet1!$A$2:$A$6</c:f>
              <c:strCache>
                <c:ptCount val="5"/>
                <c:pt idx="0">
                  <c:v>2T25</c:v>
                </c:pt>
                <c:pt idx="1">
                  <c:v>3T25</c:v>
                </c:pt>
                <c:pt idx="2">
                  <c:v>4T25</c:v>
                </c:pt>
                <c:pt idx="3">
                  <c:v>1T26</c:v>
                </c:pt>
                <c:pt idx="4">
                  <c:v>2T26*</c:v>
                </c:pt>
              </c:strCache>
            </c:strRef>
          </c:cat>
          <c:val>
            <c:numRef>
              <c:f>Sheet1!$B$2:$B$6</c:f>
              <c:numCache>
                <c:formatCode>General</c:formatCode>
                <c:ptCount val="5"/>
                <c:pt idx="0">
                  <c:v>80</c:v>
                </c:pt>
                <c:pt idx="1">
                  <c:v>83</c:v>
                </c:pt>
                <c:pt idx="2">
                  <c:v>82</c:v>
                </c:pt>
                <c:pt idx="3">
                  <c:v>81</c:v>
                </c:pt>
                <c:pt idx="4">
                  <c:v>79</c:v>
                </c:pt>
              </c:numCache>
            </c:numRef>
          </c:val>
          <c:smooth val="0"/>
          <c:extLst>
            <c:ext xmlns:c16="http://schemas.microsoft.com/office/drawing/2014/chart" uri="{C3380CC4-5D6E-409C-BE32-E72D297353CC}">
              <c16:uniqueId val="{00000000-5E73-4348-AE71-0D95676A7E53}"/>
            </c:ext>
          </c:extLst>
        </c:ser>
        <c:ser>
          <c:idx val="1"/>
          <c:order val="1"/>
          <c:tx>
            <c:strRef>
              <c:f>Sheet1!$C$1</c:f>
              <c:strCache>
                <c:ptCount val="1"/>
                <c:pt idx="0">
                  <c:v>Tramo 2</c:v>
                </c:pt>
              </c:strCache>
            </c:strRef>
          </c:tx>
          <c:spPr>
            <a:ln w="19050">
              <a:solidFill>
                <a:srgbClr val="E5173F"/>
              </a:solidFill>
            </a:ln>
          </c:spPr>
          <c:marker>
            <c:symbol val="square"/>
            <c:size val="4"/>
            <c:spPr>
              <a:solidFill>
                <a:srgbClr val="E5173F"/>
              </a:solidFill>
              <a:ln>
                <a:solidFill>
                  <a:srgbClr val="E5173F"/>
                </a:solidFill>
              </a:ln>
            </c:spPr>
          </c:marker>
          <c:cat>
            <c:strRef>
              <c:f>Sheet1!$A$2:$A$6</c:f>
              <c:strCache>
                <c:ptCount val="5"/>
                <c:pt idx="0">
                  <c:v>2T25</c:v>
                </c:pt>
                <c:pt idx="1">
                  <c:v>3T25</c:v>
                </c:pt>
                <c:pt idx="2">
                  <c:v>4T25</c:v>
                </c:pt>
                <c:pt idx="3">
                  <c:v>1T26</c:v>
                </c:pt>
                <c:pt idx="4">
                  <c:v>2T26*</c:v>
                </c:pt>
              </c:strCache>
            </c:strRef>
          </c:cat>
          <c:val>
            <c:numRef>
              <c:f>Sheet1!$C$2:$C$6</c:f>
              <c:numCache>
                <c:formatCode>General</c:formatCode>
                <c:ptCount val="5"/>
                <c:pt idx="0">
                  <c:v>72</c:v>
                </c:pt>
                <c:pt idx="1">
                  <c:v>62</c:v>
                </c:pt>
                <c:pt idx="2">
                  <c:v>55</c:v>
                </c:pt>
                <c:pt idx="3">
                  <c:v>48</c:v>
                </c:pt>
                <c:pt idx="4">
                  <c:v>40</c:v>
                </c:pt>
              </c:numCache>
            </c:numRef>
          </c:val>
          <c:smooth val="0"/>
          <c:extLst>
            <c:ext xmlns:c16="http://schemas.microsoft.com/office/drawing/2014/chart" uri="{C3380CC4-5D6E-409C-BE32-E72D297353CC}">
              <c16:uniqueId val="{00000001-5E73-4348-AE71-0D95676A7E53}"/>
            </c:ext>
          </c:extLst>
        </c:ser>
        <c:ser>
          <c:idx val="2"/>
          <c:order val="2"/>
          <c:tx>
            <c:strRef>
              <c:f>Sheet1!$D$1</c:f>
              <c:strCache>
                <c:ptCount val="1"/>
                <c:pt idx="0">
                  <c:v>Total</c:v>
                </c:pt>
              </c:strCache>
            </c:strRef>
          </c:tx>
          <c:spPr>
            <a:ln w="19050">
              <a:solidFill>
                <a:srgbClr val="555555"/>
              </a:solidFill>
              <a:prstDash val="dash"/>
            </a:ln>
          </c:spPr>
          <c:marker>
            <c:symbol val="triangle"/>
            <c:size val="4"/>
            <c:spPr>
              <a:solidFill>
                <a:srgbClr val="555555"/>
              </a:solidFill>
              <a:ln>
                <a:solidFill>
                  <a:srgbClr val="555555"/>
                </a:solidFill>
              </a:ln>
            </c:spPr>
          </c:marker>
          <c:cat>
            <c:strRef>
              <c:f>Sheet1!$A$2:$A$6</c:f>
              <c:strCache>
                <c:ptCount val="5"/>
                <c:pt idx="0">
                  <c:v>2T25</c:v>
                </c:pt>
                <c:pt idx="1">
                  <c:v>3T25</c:v>
                </c:pt>
                <c:pt idx="2">
                  <c:v>4T25</c:v>
                </c:pt>
                <c:pt idx="3">
                  <c:v>1T26</c:v>
                </c:pt>
                <c:pt idx="4">
                  <c:v>2T26*</c:v>
                </c:pt>
              </c:strCache>
            </c:strRef>
          </c:cat>
          <c:val>
            <c:numRef>
              <c:f>Sheet1!$D$2:$D$6</c:f>
              <c:numCache>
                <c:formatCode>General</c:formatCode>
                <c:ptCount val="5"/>
                <c:pt idx="0">
                  <c:v>76</c:v>
                </c:pt>
                <c:pt idx="1">
                  <c:v>72</c:v>
                </c:pt>
                <c:pt idx="2">
                  <c:v>69</c:v>
                </c:pt>
                <c:pt idx="3">
                  <c:v>64</c:v>
                </c:pt>
                <c:pt idx="4">
                  <c:v>58</c:v>
                </c:pt>
              </c:numCache>
            </c:numRef>
          </c:val>
          <c:smooth val="0"/>
          <c:extLst>
            <c:ext xmlns:c16="http://schemas.microsoft.com/office/drawing/2014/chart" uri="{C3380CC4-5D6E-409C-BE32-E72D297353CC}">
              <c16:uniqueId val="{00000002-5E73-4348-AE71-0D95676A7E53}"/>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nextTo"/>
        <c:spPr>
          <a:ln>
            <a:solidFill>
              <a:srgbClr val="B8C2C1"/>
            </a:solidFill>
          </a:ln>
        </c:spPr>
        <c:txPr>
          <a:bodyPr/>
          <a:lstStyle/>
          <a:p>
            <a:pPr>
              <a:defRPr sz="600">
                <a:solidFill>
                  <a:srgbClr val="6E7E7D"/>
                </a:solidFill>
              </a:defRPr>
            </a:pPr>
            <a:endParaRPr lang="es-PE"/>
          </a:p>
        </c:txPr>
        <c:crossAx val="2140495176"/>
        <c:crosses val="autoZero"/>
        <c:auto val="1"/>
        <c:lblAlgn val="ctr"/>
        <c:lblOffset val="100"/>
        <c:noMultiLvlLbl val="0"/>
      </c:catAx>
      <c:valAx>
        <c:axId val="2140495176"/>
        <c:scaling>
          <c:orientation val="minMax"/>
        </c:scaling>
        <c:delete val="1"/>
        <c:axPos val="l"/>
        <c:numFmt formatCode="General" sourceLinked="1"/>
        <c:majorTickMark val="out"/>
        <c:minorTickMark val="none"/>
        <c:tickLblPos val="nextTo"/>
        <c:crossAx val="2118791784"/>
        <c:crosses val="autoZero"/>
        <c:crossBetween val="between"/>
      </c:valAx>
    </c:plotArea>
    <c:legend>
      <c:legendPos val="t"/>
      <c:overlay val="0"/>
      <c:txPr>
        <a:bodyPr/>
        <a:lstStyle/>
        <a:p>
          <a:pPr>
            <a:defRPr sz="600"/>
          </a:pPr>
          <a:endParaRPr lang="es-PE"/>
        </a:p>
      </c:txPr>
    </c:legend>
    <c:plotVisOnly val="1"/>
    <c:dispBlanksAs val="gap"/>
    <c:showDLblsOverMax val="0"/>
  </c:chart>
  <c:txPr>
    <a:bodyPr/>
    <a:lstStyle/>
    <a:p>
      <a:pPr>
        <a:defRPr sz="6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0"/>
    <c:plotArea>
      <c:layout/>
      <c:lineChart>
        <c:grouping val="standard"/>
        <c:varyColors val="0"/>
        <c:ser>
          <c:idx val="0"/>
          <c:order val="0"/>
          <c:tx>
            <c:strRef>
              <c:f>Sheet1!$B$1</c:f>
              <c:strCache>
                <c:ptCount val="1"/>
                <c:pt idx="0">
                  <c:v>Ofertada a desembolsos</c:v>
                </c:pt>
              </c:strCache>
            </c:strRef>
          </c:tx>
          <c:spPr>
            <a:ln w="19050">
              <a:solidFill>
                <a:srgbClr val="8E9B9A"/>
              </a:solidFill>
              <a:prstDash val="dash"/>
            </a:ln>
          </c:spPr>
          <c:marker>
            <c:symbol val="diamond"/>
            <c:size val="4"/>
            <c:spPr>
              <a:solidFill>
                <a:srgbClr val="8E9B9A"/>
              </a:solidFill>
              <a:ln>
                <a:solidFill>
                  <a:srgbClr val="8E9B9A"/>
                </a:solidFill>
              </a:ln>
            </c:spPr>
          </c:marker>
          <c:cat>
            <c:strRef>
              <c:f>Sheet1!$A$2:$A$6</c:f>
              <c:strCache>
                <c:ptCount val="5"/>
                <c:pt idx="0">
                  <c:v>2T25</c:v>
                </c:pt>
                <c:pt idx="1">
                  <c:v>3T25</c:v>
                </c:pt>
                <c:pt idx="2">
                  <c:v>4T25</c:v>
                </c:pt>
                <c:pt idx="3">
                  <c:v>1T26</c:v>
                </c:pt>
                <c:pt idx="4">
                  <c:v>2T26*</c:v>
                </c:pt>
              </c:strCache>
            </c:strRef>
          </c:cat>
          <c:val>
            <c:numRef>
              <c:f>Sheet1!$B$2:$B$6</c:f>
              <c:numCache>
                <c:formatCode>General</c:formatCode>
                <c:ptCount val="5"/>
                <c:pt idx="0">
                  <c:v>21</c:v>
                </c:pt>
                <c:pt idx="1">
                  <c:v>20.6</c:v>
                </c:pt>
                <c:pt idx="2">
                  <c:v>20</c:v>
                </c:pt>
                <c:pt idx="3">
                  <c:v>20.8</c:v>
                </c:pt>
                <c:pt idx="4">
                  <c:v>20.3</c:v>
                </c:pt>
              </c:numCache>
            </c:numRef>
          </c:val>
          <c:smooth val="0"/>
          <c:extLst>
            <c:ext xmlns:c16="http://schemas.microsoft.com/office/drawing/2014/chart" uri="{C3380CC4-5D6E-409C-BE32-E72D297353CC}">
              <c16:uniqueId val="{00000000-DE40-40CC-8DFE-1EA6C005D524}"/>
            </c:ext>
          </c:extLst>
        </c:ser>
        <c:ser>
          <c:idx val="1"/>
          <c:order val="1"/>
          <c:tx>
            <c:strRef>
              <c:f>Sheet1!$C$1</c:f>
              <c:strCache>
                <c:ptCount val="1"/>
                <c:pt idx="0">
                  <c:v>Desembolsada</c:v>
                </c:pt>
              </c:strCache>
            </c:strRef>
          </c:tx>
          <c:spPr>
            <a:ln w="19050">
              <a:solidFill>
                <a:srgbClr val="2F6FDE"/>
              </a:solidFill>
            </a:ln>
          </c:spPr>
          <c:marker>
            <c:symbol val="square"/>
            <c:size val="4"/>
            <c:spPr>
              <a:solidFill>
                <a:srgbClr val="2F6FDE"/>
              </a:solidFill>
              <a:ln>
                <a:solidFill>
                  <a:srgbClr val="2F6FDE"/>
                </a:solidFill>
              </a:ln>
            </c:spPr>
          </c:marker>
          <c:cat>
            <c:strRef>
              <c:f>Sheet1!$A$2:$A$6</c:f>
              <c:strCache>
                <c:ptCount val="5"/>
                <c:pt idx="0">
                  <c:v>2T25</c:v>
                </c:pt>
                <c:pt idx="1">
                  <c:v>3T25</c:v>
                </c:pt>
                <c:pt idx="2">
                  <c:v>4T25</c:v>
                </c:pt>
                <c:pt idx="3">
                  <c:v>1T26</c:v>
                </c:pt>
                <c:pt idx="4">
                  <c:v>2T26*</c:v>
                </c:pt>
              </c:strCache>
            </c:strRef>
          </c:cat>
          <c:val>
            <c:numRef>
              <c:f>Sheet1!$C$2:$C$6</c:f>
              <c:numCache>
                <c:formatCode>General</c:formatCode>
                <c:ptCount val="5"/>
                <c:pt idx="0">
                  <c:v>18</c:v>
                </c:pt>
                <c:pt idx="1">
                  <c:v>18.2</c:v>
                </c:pt>
                <c:pt idx="2">
                  <c:v>17.8</c:v>
                </c:pt>
                <c:pt idx="3">
                  <c:v>17.600000000000001</c:v>
                </c:pt>
                <c:pt idx="4">
                  <c:v>18.3</c:v>
                </c:pt>
              </c:numCache>
            </c:numRef>
          </c:val>
          <c:smooth val="0"/>
          <c:extLst>
            <c:ext xmlns:c16="http://schemas.microsoft.com/office/drawing/2014/chart" uri="{C3380CC4-5D6E-409C-BE32-E72D297353CC}">
              <c16:uniqueId val="{00000001-DE40-40CC-8DFE-1EA6C005D524}"/>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nextTo"/>
        <c:spPr>
          <a:ln>
            <a:solidFill>
              <a:srgbClr val="B8C2C1"/>
            </a:solidFill>
          </a:ln>
        </c:spPr>
        <c:txPr>
          <a:bodyPr/>
          <a:lstStyle/>
          <a:p>
            <a:pPr>
              <a:defRPr sz="600">
                <a:solidFill>
                  <a:srgbClr val="6E7E7D"/>
                </a:solidFill>
              </a:defRPr>
            </a:pPr>
            <a:endParaRPr lang="es-PE"/>
          </a:p>
        </c:txPr>
        <c:crossAx val="2140495176"/>
        <c:crosses val="autoZero"/>
        <c:auto val="1"/>
        <c:lblAlgn val="ctr"/>
        <c:lblOffset val="100"/>
        <c:noMultiLvlLbl val="0"/>
      </c:catAx>
      <c:valAx>
        <c:axId val="2140495176"/>
        <c:scaling>
          <c:orientation val="minMax"/>
        </c:scaling>
        <c:delete val="1"/>
        <c:axPos val="l"/>
        <c:numFmt formatCode="General" sourceLinked="1"/>
        <c:majorTickMark val="out"/>
        <c:minorTickMark val="none"/>
        <c:tickLblPos val="nextTo"/>
        <c:crossAx val="2118791784"/>
        <c:crosses val="autoZero"/>
        <c:crossBetween val="between"/>
      </c:valAx>
    </c:plotArea>
    <c:legend>
      <c:legendPos val="t"/>
      <c:overlay val="0"/>
      <c:txPr>
        <a:bodyPr/>
        <a:lstStyle/>
        <a:p>
          <a:pPr>
            <a:defRPr sz="600"/>
          </a:pPr>
          <a:endParaRPr lang="es-PE"/>
        </a:p>
      </c:txPr>
    </c:legend>
    <c:plotVisOnly val="1"/>
    <c:dispBlanksAs val="gap"/>
    <c:showDLblsOverMax val="0"/>
  </c:chart>
  <c:txPr>
    <a:bodyPr/>
    <a:lstStyle/>
    <a:p>
      <a:pPr>
        <a:defRPr sz="6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0"/>
    <c:plotArea>
      <c:layout/>
      <c:lineChart>
        <c:grouping val="standard"/>
        <c:varyColors val="0"/>
        <c:ser>
          <c:idx val="0"/>
          <c:order val="0"/>
          <c:tx>
            <c:strRef>
              <c:f>Sheet1!$B$1</c:f>
              <c:strCache>
                <c:ptCount val="1"/>
                <c:pt idx="0">
                  <c:v>Ofertada a desembolsos</c:v>
                </c:pt>
              </c:strCache>
            </c:strRef>
          </c:tx>
          <c:spPr>
            <a:ln w="19050">
              <a:solidFill>
                <a:srgbClr val="8E9B9A"/>
              </a:solidFill>
              <a:prstDash val="dash"/>
            </a:ln>
          </c:spPr>
          <c:marker>
            <c:symbol val="diamond"/>
            <c:size val="4"/>
            <c:spPr>
              <a:solidFill>
                <a:srgbClr val="8E9B9A"/>
              </a:solidFill>
              <a:ln>
                <a:solidFill>
                  <a:srgbClr val="8E9B9A"/>
                </a:solidFill>
              </a:ln>
            </c:spPr>
          </c:marker>
          <c:cat>
            <c:strRef>
              <c:f>Sheet1!$A$2:$A$6</c:f>
              <c:strCache>
                <c:ptCount val="5"/>
                <c:pt idx="0">
                  <c:v>2T25</c:v>
                </c:pt>
                <c:pt idx="1">
                  <c:v>3T25</c:v>
                </c:pt>
                <c:pt idx="2">
                  <c:v>4T25</c:v>
                </c:pt>
                <c:pt idx="3">
                  <c:v>1T26</c:v>
                </c:pt>
                <c:pt idx="4">
                  <c:v>2T26*</c:v>
                </c:pt>
              </c:strCache>
            </c:strRef>
          </c:cat>
          <c:val>
            <c:numRef>
              <c:f>Sheet1!$B$2:$B$6</c:f>
              <c:numCache>
                <c:formatCode>General</c:formatCode>
                <c:ptCount val="5"/>
                <c:pt idx="0">
                  <c:v>21</c:v>
                </c:pt>
                <c:pt idx="1">
                  <c:v>20.6</c:v>
                </c:pt>
                <c:pt idx="2">
                  <c:v>20</c:v>
                </c:pt>
                <c:pt idx="3">
                  <c:v>20.8</c:v>
                </c:pt>
                <c:pt idx="4">
                  <c:v>20.3</c:v>
                </c:pt>
              </c:numCache>
            </c:numRef>
          </c:val>
          <c:smooth val="0"/>
          <c:extLst>
            <c:ext xmlns:c16="http://schemas.microsoft.com/office/drawing/2014/chart" uri="{C3380CC4-5D6E-409C-BE32-E72D297353CC}">
              <c16:uniqueId val="{00000000-C144-4016-B719-19076DDB88DB}"/>
            </c:ext>
          </c:extLst>
        </c:ser>
        <c:ser>
          <c:idx val="1"/>
          <c:order val="1"/>
          <c:tx>
            <c:strRef>
              <c:f>Sheet1!$C$1</c:f>
              <c:strCache>
                <c:ptCount val="1"/>
                <c:pt idx="0">
                  <c:v>Desembolsada</c:v>
                </c:pt>
              </c:strCache>
            </c:strRef>
          </c:tx>
          <c:spPr>
            <a:ln w="19050">
              <a:solidFill>
                <a:srgbClr val="2F6FDE"/>
              </a:solidFill>
            </a:ln>
          </c:spPr>
          <c:marker>
            <c:symbol val="square"/>
            <c:size val="4"/>
            <c:spPr>
              <a:solidFill>
                <a:srgbClr val="2F6FDE"/>
              </a:solidFill>
              <a:ln>
                <a:solidFill>
                  <a:srgbClr val="2F6FDE"/>
                </a:solidFill>
              </a:ln>
            </c:spPr>
          </c:marker>
          <c:cat>
            <c:strRef>
              <c:f>Sheet1!$A$2:$A$6</c:f>
              <c:strCache>
                <c:ptCount val="5"/>
                <c:pt idx="0">
                  <c:v>2T25</c:v>
                </c:pt>
                <c:pt idx="1">
                  <c:v>3T25</c:v>
                </c:pt>
                <c:pt idx="2">
                  <c:v>4T25</c:v>
                </c:pt>
                <c:pt idx="3">
                  <c:v>1T26</c:v>
                </c:pt>
                <c:pt idx="4">
                  <c:v>2T26*</c:v>
                </c:pt>
              </c:strCache>
            </c:strRef>
          </c:cat>
          <c:val>
            <c:numRef>
              <c:f>Sheet1!$C$2:$C$6</c:f>
              <c:numCache>
                <c:formatCode>General</c:formatCode>
                <c:ptCount val="5"/>
                <c:pt idx="0">
                  <c:v>18</c:v>
                </c:pt>
                <c:pt idx="1">
                  <c:v>18.2</c:v>
                </c:pt>
                <c:pt idx="2">
                  <c:v>17.8</c:v>
                </c:pt>
                <c:pt idx="3">
                  <c:v>17.600000000000001</c:v>
                </c:pt>
                <c:pt idx="4">
                  <c:v>18.3</c:v>
                </c:pt>
              </c:numCache>
            </c:numRef>
          </c:val>
          <c:smooth val="0"/>
          <c:extLst>
            <c:ext xmlns:c16="http://schemas.microsoft.com/office/drawing/2014/chart" uri="{C3380CC4-5D6E-409C-BE32-E72D297353CC}">
              <c16:uniqueId val="{00000001-C144-4016-B719-19076DDB88DB}"/>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nextTo"/>
        <c:spPr>
          <a:ln>
            <a:solidFill>
              <a:srgbClr val="B8C2C1"/>
            </a:solidFill>
          </a:ln>
        </c:spPr>
        <c:txPr>
          <a:bodyPr/>
          <a:lstStyle/>
          <a:p>
            <a:pPr>
              <a:defRPr sz="600">
                <a:solidFill>
                  <a:srgbClr val="6E7E7D"/>
                </a:solidFill>
              </a:defRPr>
            </a:pPr>
            <a:endParaRPr lang="es-PE"/>
          </a:p>
        </c:txPr>
        <c:crossAx val="2140495176"/>
        <c:crosses val="autoZero"/>
        <c:auto val="1"/>
        <c:lblAlgn val="ctr"/>
        <c:lblOffset val="100"/>
        <c:noMultiLvlLbl val="0"/>
      </c:catAx>
      <c:valAx>
        <c:axId val="2140495176"/>
        <c:scaling>
          <c:orientation val="minMax"/>
        </c:scaling>
        <c:delete val="1"/>
        <c:axPos val="l"/>
        <c:numFmt formatCode="General" sourceLinked="1"/>
        <c:majorTickMark val="out"/>
        <c:minorTickMark val="none"/>
        <c:tickLblPos val="nextTo"/>
        <c:crossAx val="2118791784"/>
        <c:crosses val="autoZero"/>
        <c:crossBetween val="between"/>
      </c:valAx>
    </c:plotArea>
    <c:legend>
      <c:legendPos val="t"/>
      <c:overlay val="0"/>
      <c:txPr>
        <a:bodyPr/>
        <a:lstStyle/>
        <a:p>
          <a:pPr>
            <a:defRPr sz="600"/>
          </a:pPr>
          <a:endParaRPr lang="es-PE"/>
        </a:p>
      </c:txPr>
    </c:legend>
    <c:plotVisOnly val="1"/>
    <c:dispBlanksAs val="gap"/>
    <c:showDLblsOverMax val="0"/>
  </c:chart>
  <c:txPr>
    <a:bodyPr/>
    <a:lstStyle/>
    <a:p>
      <a:pPr>
        <a:defRPr sz="6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0"/>
    <c:plotArea>
      <c:layout/>
      <c:barChart>
        <c:barDir val="col"/>
        <c:grouping val="clustered"/>
        <c:varyColors val="1"/>
        <c:ser>
          <c:idx val="0"/>
          <c:order val="0"/>
          <c:tx>
            <c:strRef>
              <c:f>Sheet1!$B$1</c:f>
              <c:strCache>
                <c:ptCount val="1"/>
                <c:pt idx="0">
                  <c:v>Ofertada a desembolsos</c:v>
                </c:pt>
              </c:strCache>
            </c:strRef>
          </c:tx>
          <c:spPr>
            <a:solidFill>
              <a:srgbClr val="8E9B9A"/>
            </a:solidFill>
          </c:spPr>
          <c:invertIfNegative val="1"/>
          <c:cat>
            <c:strRef>
              <c:f>Sheet1!$A$2:$A$3</c:f>
              <c:strCache>
                <c:ptCount val="2"/>
                <c:pt idx="0">
                  <c:v>Tramo 1</c:v>
                </c:pt>
                <c:pt idx="1">
                  <c:v>Tramo 2</c:v>
                </c:pt>
              </c:strCache>
            </c:strRef>
          </c:cat>
          <c:val>
            <c:numRef>
              <c:f>Sheet1!$B$2:$B$3</c:f>
              <c:numCache>
                <c:formatCode>General</c:formatCode>
                <c:ptCount val="2"/>
                <c:pt idx="0">
                  <c:v>20</c:v>
                </c:pt>
                <c:pt idx="1">
                  <c:v>21</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D5D3-448E-A035-7EFA62696869}"/>
            </c:ext>
          </c:extLst>
        </c:ser>
        <c:ser>
          <c:idx val="1"/>
          <c:order val="1"/>
          <c:tx>
            <c:strRef>
              <c:f>Sheet1!$C$1</c:f>
              <c:strCache>
                <c:ptCount val="1"/>
                <c:pt idx="0">
                  <c:v>Desembolsada</c:v>
                </c:pt>
              </c:strCache>
            </c:strRef>
          </c:tx>
          <c:spPr>
            <a:solidFill>
              <a:srgbClr val="2F6FDE"/>
            </a:solidFill>
          </c:spPr>
          <c:invertIfNegative val="1"/>
          <c:cat>
            <c:strRef>
              <c:f>Sheet1!$A$2:$A$3</c:f>
              <c:strCache>
                <c:ptCount val="2"/>
                <c:pt idx="0">
                  <c:v>Tramo 1</c:v>
                </c:pt>
                <c:pt idx="1">
                  <c:v>Tramo 2</c:v>
                </c:pt>
              </c:strCache>
            </c:strRef>
          </c:cat>
          <c:val>
            <c:numRef>
              <c:f>Sheet1!$C$2:$C$3</c:f>
              <c:numCache>
                <c:formatCode>General</c:formatCode>
                <c:ptCount val="2"/>
                <c:pt idx="0">
                  <c:v>17.5</c:v>
                </c:pt>
                <c:pt idx="1">
                  <c:v>17</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D5D3-448E-A035-7EFA62696869}"/>
            </c:ext>
          </c:extLst>
        </c:ser>
        <c:ser>
          <c:idx val="2"/>
          <c:order val="2"/>
          <c:tx>
            <c:strRef>
              <c:f>Sheet1!$D$1</c:f>
              <c:strCache>
                <c:ptCount val="1"/>
                <c:pt idx="0">
                  <c:v>Competencia</c:v>
                </c:pt>
              </c:strCache>
            </c:strRef>
          </c:tx>
          <c:spPr>
            <a:solidFill>
              <a:srgbClr val="F28C28"/>
            </a:solidFill>
          </c:spPr>
          <c:invertIfNegative val="1"/>
          <c:cat>
            <c:strRef>
              <c:f>Sheet1!$A$2:$A$3</c:f>
              <c:strCache>
                <c:ptCount val="2"/>
                <c:pt idx="0">
                  <c:v>Tramo 1</c:v>
                </c:pt>
                <c:pt idx="1">
                  <c:v>Tramo 2</c:v>
                </c:pt>
              </c:strCache>
            </c:strRef>
          </c:cat>
          <c:val>
            <c:numRef>
              <c:f>Sheet1!$D$2:$D$3</c:f>
              <c:numCache>
                <c:formatCode>General</c:formatCode>
                <c:ptCount val="2"/>
                <c:pt idx="0">
                  <c:v>16.5</c:v>
                </c:pt>
                <c:pt idx="1">
                  <c:v>15.5</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D5D3-448E-A035-7EFA62696869}"/>
            </c:ext>
          </c:extLst>
        </c:ser>
        <c:dLbls>
          <c:showLegendKey val="0"/>
          <c:showVal val="0"/>
          <c:showCatName val="0"/>
          <c:showSerName val="0"/>
          <c:showPercent val="0"/>
          <c:showBubbleSize val="0"/>
        </c:dLbls>
        <c:gapWidth val="6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B8C2C1"/>
            </a:solidFill>
          </a:ln>
        </c:spPr>
        <c:txPr>
          <a:bodyPr/>
          <a:lstStyle/>
          <a:p>
            <a:pPr>
              <a:defRPr sz="600">
                <a:solidFill>
                  <a:srgbClr val="6E7E7D"/>
                </a:solidFill>
              </a:defRPr>
            </a:pPr>
            <a:endParaRPr lang="es-PE"/>
          </a:p>
        </c:txPr>
        <c:crossAx val="-2113994440"/>
        <c:crosses val="autoZero"/>
        <c:auto val="1"/>
        <c:lblAlgn val="ctr"/>
        <c:lblOffset val="100"/>
        <c:noMultiLvlLbl val="0"/>
      </c:catAx>
      <c:valAx>
        <c:axId val="-2113994440"/>
        <c:scaling>
          <c:orientation val="minMax"/>
          <c:min val="13"/>
        </c:scaling>
        <c:delete val="1"/>
        <c:axPos val="l"/>
        <c:numFmt formatCode="General" sourceLinked="1"/>
        <c:majorTickMark val="out"/>
        <c:minorTickMark val="none"/>
        <c:tickLblPos val="nextTo"/>
        <c:crossAx val="-2068027336"/>
        <c:crosses val="autoZero"/>
        <c:crossBetween val="between"/>
      </c:valAx>
    </c:plotArea>
    <c:legend>
      <c:legendPos val="t"/>
      <c:overlay val="0"/>
      <c:txPr>
        <a:bodyPr/>
        <a:lstStyle/>
        <a:p>
          <a:pPr>
            <a:defRPr sz="600"/>
          </a:pPr>
          <a:endParaRPr lang="es-PE"/>
        </a:p>
      </c:txPr>
    </c:legend>
    <c:plotVisOnly val="1"/>
    <c:dispBlanksAs val="gap"/>
    <c:showDLblsOverMax val="1"/>
  </c:chart>
  <c:txPr>
    <a:bodyPr/>
    <a:lstStyle/>
    <a:p>
      <a:pPr>
        <a:defRPr sz="600"/>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0"/>
    <c:plotArea>
      <c:layout/>
      <c:barChart>
        <c:barDir val="col"/>
        <c:grouping val="clustered"/>
        <c:varyColors val="1"/>
        <c:ser>
          <c:idx val="0"/>
          <c:order val="0"/>
          <c:tx>
            <c:strRef>
              <c:f>Sheet1!$B$1</c:f>
              <c:strCache>
                <c:ptCount val="1"/>
                <c:pt idx="0">
                  <c:v>Ofertada a desembolsos</c:v>
                </c:pt>
              </c:strCache>
            </c:strRef>
          </c:tx>
          <c:spPr>
            <a:solidFill>
              <a:srgbClr val="8E9B9A"/>
            </a:solidFill>
          </c:spPr>
          <c:invertIfNegative val="1"/>
          <c:cat>
            <c:strRef>
              <c:f>Sheet1!$A$2:$A$3</c:f>
              <c:strCache>
                <c:ptCount val="2"/>
                <c:pt idx="0">
                  <c:v>Tramo 1</c:v>
                </c:pt>
                <c:pt idx="1">
                  <c:v>Tramo 2</c:v>
                </c:pt>
              </c:strCache>
            </c:strRef>
          </c:cat>
          <c:val>
            <c:numRef>
              <c:f>Sheet1!$B$2:$B$3</c:f>
              <c:numCache>
                <c:formatCode>General</c:formatCode>
                <c:ptCount val="2"/>
                <c:pt idx="0">
                  <c:v>20</c:v>
                </c:pt>
                <c:pt idx="1">
                  <c:v>21</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0D03-49CC-8882-276E69BA4750}"/>
            </c:ext>
          </c:extLst>
        </c:ser>
        <c:ser>
          <c:idx val="1"/>
          <c:order val="1"/>
          <c:tx>
            <c:strRef>
              <c:f>Sheet1!$C$1</c:f>
              <c:strCache>
                <c:ptCount val="1"/>
                <c:pt idx="0">
                  <c:v>Desembolsada</c:v>
                </c:pt>
              </c:strCache>
            </c:strRef>
          </c:tx>
          <c:spPr>
            <a:solidFill>
              <a:srgbClr val="2F6FDE"/>
            </a:solidFill>
          </c:spPr>
          <c:invertIfNegative val="1"/>
          <c:cat>
            <c:strRef>
              <c:f>Sheet1!$A$2:$A$3</c:f>
              <c:strCache>
                <c:ptCount val="2"/>
                <c:pt idx="0">
                  <c:v>Tramo 1</c:v>
                </c:pt>
                <c:pt idx="1">
                  <c:v>Tramo 2</c:v>
                </c:pt>
              </c:strCache>
            </c:strRef>
          </c:cat>
          <c:val>
            <c:numRef>
              <c:f>Sheet1!$C$2:$C$3</c:f>
              <c:numCache>
                <c:formatCode>General</c:formatCode>
                <c:ptCount val="2"/>
                <c:pt idx="0">
                  <c:v>17.5</c:v>
                </c:pt>
                <c:pt idx="1">
                  <c:v>17</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0D03-49CC-8882-276E69BA4750}"/>
            </c:ext>
          </c:extLst>
        </c:ser>
        <c:ser>
          <c:idx val="2"/>
          <c:order val="2"/>
          <c:tx>
            <c:strRef>
              <c:f>Sheet1!$D$1</c:f>
              <c:strCache>
                <c:ptCount val="1"/>
                <c:pt idx="0">
                  <c:v>Competencia</c:v>
                </c:pt>
              </c:strCache>
            </c:strRef>
          </c:tx>
          <c:spPr>
            <a:solidFill>
              <a:srgbClr val="F28C28"/>
            </a:solidFill>
          </c:spPr>
          <c:invertIfNegative val="1"/>
          <c:cat>
            <c:strRef>
              <c:f>Sheet1!$A$2:$A$3</c:f>
              <c:strCache>
                <c:ptCount val="2"/>
                <c:pt idx="0">
                  <c:v>Tramo 1</c:v>
                </c:pt>
                <c:pt idx="1">
                  <c:v>Tramo 2</c:v>
                </c:pt>
              </c:strCache>
            </c:strRef>
          </c:cat>
          <c:val>
            <c:numRef>
              <c:f>Sheet1!$D$2:$D$3</c:f>
              <c:numCache>
                <c:formatCode>General</c:formatCode>
                <c:ptCount val="2"/>
                <c:pt idx="0">
                  <c:v>16.5</c:v>
                </c:pt>
                <c:pt idx="1">
                  <c:v>15.5</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0D03-49CC-8882-276E69BA4750}"/>
            </c:ext>
          </c:extLst>
        </c:ser>
        <c:dLbls>
          <c:showLegendKey val="0"/>
          <c:showVal val="0"/>
          <c:showCatName val="0"/>
          <c:showSerName val="0"/>
          <c:showPercent val="0"/>
          <c:showBubbleSize val="0"/>
        </c:dLbls>
        <c:gapWidth val="6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B8C2C1"/>
            </a:solidFill>
          </a:ln>
        </c:spPr>
        <c:txPr>
          <a:bodyPr/>
          <a:lstStyle/>
          <a:p>
            <a:pPr>
              <a:defRPr sz="600">
                <a:solidFill>
                  <a:srgbClr val="6E7E7D"/>
                </a:solidFill>
              </a:defRPr>
            </a:pPr>
            <a:endParaRPr lang="es-PE"/>
          </a:p>
        </c:txPr>
        <c:crossAx val="-2113994440"/>
        <c:crosses val="autoZero"/>
        <c:auto val="1"/>
        <c:lblAlgn val="ctr"/>
        <c:lblOffset val="100"/>
        <c:noMultiLvlLbl val="0"/>
      </c:catAx>
      <c:valAx>
        <c:axId val="-2113994440"/>
        <c:scaling>
          <c:orientation val="minMax"/>
          <c:min val="13"/>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600"/>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lineChart>
        <c:grouping val="standard"/>
        <c:varyColors val="0"/>
        <c:ser>
          <c:idx val="0"/>
          <c:order val="0"/>
          <c:tx>
            <c:strRef>
              <c:f>Sheet1!$B$1</c:f>
              <c:strCache>
                <c:ptCount val="1"/>
                <c:pt idx="0">
                  <c:v>Hasta S/ 170K</c:v>
                </c:pt>
              </c:strCache>
            </c:strRef>
          </c:tx>
          <c:spPr>
            <a:ln w="25400">
              <a:solidFill>
                <a:srgbClr val="13807B"/>
              </a:solidFill>
            </a:ln>
          </c:spPr>
          <c:marker>
            <c:symbol val="circle"/>
            <c:size val="6"/>
            <c:spPr>
              <a:solidFill>
                <a:srgbClr val="13807B"/>
              </a:solidFill>
              <a:ln>
                <a:solidFill>
                  <a:srgbClr val="13807B"/>
                </a:solidFill>
              </a:ln>
            </c:spPr>
          </c:marker>
          <c:dLbls>
            <c:dLbl>
              <c:idx val="0"/>
              <c:tx>
                <c:rich>
                  <a:bodyPr/>
                  <a:lstStyle/>
                  <a:p>
                    <a:r>
                      <a:rPr lang="en-US" sz="850" b="1">
                        <a:solidFill>
                          <a:srgbClr val="13807B"/>
                        </a:solidFill>
                      </a:rPr>
                      <a:t>91</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D3DA-4825-B13E-341341D93B68}"/>
                </c:ext>
              </c:extLst>
            </c:dLbl>
            <c:dLbl>
              <c:idx val="1"/>
              <c:tx>
                <c:rich>
                  <a:bodyPr/>
                  <a:lstStyle/>
                  <a:p>
                    <a:r>
                      <a:rPr lang="en-US" sz="850" b="1">
                        <a:solidFill>
                          <a:srgbClr val="13807B"/>
                        </a:solidFill>
                      </a:rPr>
                      <a:t>92</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D3DA-4825-B13E-341341D93B68}"/>
                </c:ext>
              </c:extLst>
            </c:dLbl>
            <c:dLbl>
              <c:idx val="2"/>
              <c:tx>
                <c:rich>
                  <a:bodyPr/>
                  <a:lstStyle/>
                  <a:p>
                    <a:r>
                      <a:rPr lang="en-US" sz="850" b="1">
                        <a:solidFill>
                          <a:srgbClr val="13807B"/>
                        </a:solidFill>
                      </a:rPr>
                      <a:t>93</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D3DA-4825-B13E-341341D93B68}"/>
                </c:ext>
              </c:extLst>
            </c:dLbl>
            <c:dLbl>
              <c:idx val="3"/>
              <c:tx>
                <c:rich>
                  <a:bodyPr/>
                  <a:lstStyle/>
                  <a:p>
                    <a:r>
                      <a:rPr lang="en-US" sz="850" b="1">
                        <a:solidFill>
                          <a:srgbClr val="13807B"/>
                        </a:solidFill>
                      </a:rPr>
                      <a:t>90</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D3DA-4825-B13E-341341D93B68}"/>
                </c:ext>
              </c:extLst>
            </c:dLbl>
            <c:dLbl>
              <c:idx val="4"/>
              <c:tx>
                <c:rich>
                  <a:bodyPr/>
                  <a:lstStyle/>
                  <a:p>
                    <a:r>
                      <a:rPr lang="en-US" sz="850" b="1">
                        <a:solidFill>
                          <a:srgbClr val="13807B"/>
                        </a:solidFill>
                      </a:rPr>
                      <a:t>83</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D3DA-4825-B13E-341341D93B68}"/>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Sheet1!$A$2:$A$6</c:f>
              <c:strCache>
                <c:ptCount val="5"/>
                <c:pt idx="0">
                  <c:v>2T25</c:v>
                </c:pt>
                <c:pt idx="1">
                  <c:v>3T25</c:v>
                </c:pt>
                <c:pt idx="2">
                  <c:v>4T25</c:v>
                </c:pt>
                <c:pt idx="3">
                  <c:v>1T26</c:v>
                </c:pt>
                <c:pt idx="4">
                  <c:v>2T26*</c:v>
                </c:pt>
              </c:strCache>
            </c:strRef>
          </c:cat>
          <c:val>
            <c:numRef>
              <c:f>Sheet1!$B$2:$B$6</c:f>
              <c:numCache>
                <c:formatCode>General</c:formatCode>
                <c:ptCount val="5"/>
                <c:pt idx="0">
                  <c:v>90.80405311208213</c:v>
                </c:pt>
                <c:pt idx="1">
                  <c:v>91.754548532081301</c:v>
                </c:pt>
                <c:pt idx="2">
                  <c:v>92.654718415416241</c:v>
                </c:pt>
                <c:pt idx="3">
                  <c:v>90.488986221259324</c:v>
                </c:pt>
                <c:pt idx="4">
                  <c:v>82.570948723437766</c:v>
                </c:pt>
              </c:numCache>
            </c:numRef>
          </c:val>
          <c:smooth val="0"/>
          <c:extLst>
            <c:ext xmlns:c16="http://schemas.microsoft.com/office/drawing/2014/chart" uri="{C3380CC4-5D6E-409C-BE32-E72D297353CC}">
              <c16:uniqueId val="{00000005-D3DA-4825-B13E-341341D93B68}"/>
            </c:ext>
          </c:extLst>
        </c:ser>
        <c:ser>
          <c:idx val="1"/>
          <c:order val="1"/>
          <c:tx>
            <c:strRef>
              <c:f>Sheet1!$C$1</c:f>
              <c:strCache>
                <c:ptCount val="1"/>
                <c:pt idx="0">
                  <c:v>Más de S/ 350K</c:v>
                </c:pt>
              </c:strCache>
            </c:strRef>
          </c:tx>
          <c:spPr>
            <a:ln w="25400">
              <a:solidFill>
                <a:srgbClr val="E5173F"/>
              </a:solidFill>
            </a:ln>
          </c:spPr>
          <c:marker>
            <c:symbol val="circle"/>
            <c:size val="6"/>
            <c:spPr>
              <a:solidFill>
                <a:srgbClr val="E5173F"/>
              </a:solidFill>
              <a:ln>
                <a:solidFill>
                  <a:srgbClr val="E5173F"/>
                </a:solidFill>
              </a:ln>
            </c:spPr>
          </c:marker>
          <c:dLbls>
            <c:dLbl>
              <c:idx val="0"/>
              <c:tx>
                <c:rich>
                  <a:bodyPr/>
                  <a:lstStyle/>
                  <a:p>
                    <a:r>
                      <a:rPr lang="en-US" sz="850" b="1">
                        <a:solidFill>
                          <a:srgbClr val="E5173F"/>
                        </a:solidFill>
                      </a:rPr>
                      <a:t>82</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D3DA-4825-B13E-341341D93B68}"/>
                </c:ext>
              </c:extLst>
            </c:dLbl>
            <c:dLbl>
              <c:idx val="1"/>
              <c:tx>
                <c:rich>
                  <a:bodyPr/>
                  <a:lstStyle/>
                  <a:p>
                    <a:r>
                      <a:rPr lang="en-US" sz="850" b="1">
                        <a:solidFill>
                          <a:srgbClr val="E5173F"/>
                        </a:solidFill>
                      </a:rPr>
                      <a:t>67</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D3DA-4825-B13E-341341D93B68}"/>
                </c:ext>
              </c:extLst>
            </c:dLbl>
            <c:dLbl>
              <c:idx val="2"/>
              <c:tx>
                <c:rich>
                  <a:bodyPr/>
                  <a:lstStyle/>
                  <a:p>
                    <a:r>
                      <a:rPr lang="en-US" sz="850" b="1">
                        <a:solidFill>
                          <a:srgbClr val="E5173F"/>
                        </a:solidFill>
                      </a:rPr>
                      <a:t>60</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8-D3DA-4825-B13E-341341D93B68}"/>
                </c:ext>
              </c:extLst>
            </c:dLbl>
            <c:dLbl>
              <c:idx val="3"/>
              <c:tx>
                <c:rich>
                  <a:bodyPr/>
                  <a:lstStyle/>
                  <a:p>
                    <a:r>
                      <a:rPr lang="en-US" sz="850" b="1">
                        <a:solidFill>
                          <a:srgbClr val="E5173F"/>
                        </a:solidFill>
                      </a:rPr>
                      <a:t>50</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9-D3DA-4825-B13E-341341D93B68}"/>
                </c:ext>
              </c:extLst>
            </c:dLbl>
            <c:dLbl>
              <c:idx val="4"/>
              <c:tx>
                <c:rich>
                  <a:bodyPr/>
                  <a:lstStyle/>
                  <a:p>
                    <a:r>
                      <a:rPr lang="en-US" sz="850" b="1">
                        <a:solidFill>
                          <a:srgbClr val="E5173F"/>
                        </a:solidFill>
                      </a:rPr>
                      <a:t>41</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A-D3DA-4825-B13E-341341D93B68}"/>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Sheet1!$A$2:$A$6</c:f>
              <c:strCache>
                <c:ptCount val="5"/>
                <c:pt idx="0">
                  <c:v>2T25</c:v>
                </c:pt>
                <c:pt idx="1">
                  <c:v>3T25</c:v>
                </c:pt>
                <c:pt idx="2">
                  <c:v>4T25</c:v>
                </c:pt>
                <c:pt idx="3">
                  <c:v>1T26</c:v>
                </c:pt>
                <c:pt idx="4">
                  <c:v>2T26*</c:v>
                </c:pt>
              </c:strCache>
            </c:strRef>
          </c:cat>
          <c:val>
            <c:numRef>
              <c:f>Sheet1!$C$2:$C$6</c:f>
              <c:numCache>
                <c:formatCode>General</c:formatCode>
                <c:ptCount val="5"/>
                <c:pt idx="0">
                  <c:v>81.822200761813718</c:v>
                </c:pt>
                <c:pt idx="1">
                  <c:v>66.524915361075529</c:v>
                </c:pt>
                <c:pt idx="2">
                  <c:v>59.644541438912775</c:v>
                </c:pt>
                <c:pt idx="3">
                  <c:v>50.455532485871572</c:v>
                </c:pt>
                <c:pt idx="4">
                  <c:v>41.290161502254151</c:v>
                </c:pt>
              </c:numCache>
            </c:numRef>
          </c:val>
          <c:smooth val="0"/>
          <c:extLst>
            <c:ext xmlns:c16="http://schemas.microsoft.com/office/drawing/2014/chart" uri="{C3380CC4-5D6E-409C-BE32-E72D297353CC}">
              <c16:uniqueId val="{0000000B-D3DA-4825-B13E-341341D93B68}"/>
            </c:ext>
          </c:extLst>
        </c:ser>
        <c:ser>
          <c:idx val="2"/>
          <c:order val="2"/>
          <c:tx>
            <c:strRef>
              <c:f>Sheet1!$D$1</c:f>
              <c:strCache>
                <c:ptCount val="1"/>
                <c:pt idx="0">
                  <c:v>Total</c:v>
                </c:pt>
              </c:strCache>
            </c:strRef>
          </c:tx>
          <c:spPr>
            <a:ln w="25400">
              <a:solidFill>
                <a:srgbClr val="555555"/>
              </a:solidFill>
              <a:prstDash val="dash"/>
            </a:ln>
          </c:spPr>
          <c:marker>
            <c:symbol val="triangle"/>
            <c:size val="6"/>
            <c:spPr>
              <a:solidFill>
                <a:srgbClr val="555555"/>
              </a:solidFill>
              <a:ln>
                <a:solidFill>
                  <a:srgbClr val="555555"/>
                </a:solidFill>
              </a:ln>
            </c:spPr>
          </c:marker>
          <c:dLbls>
            <c:dLbl>
              <c:idx val="0"/>
              <c:tx>
                <c:rich>
                  <a:bodyPr/>
                  <a:lstStyle/>
                  <a:p>
                    <a:r>
                      <a:rPr lang="en-US" sz="850" b="1">
                        <a:solidFill>
                          <a:srgbClr val="555555"/>
                        </a:solidFill>
                      </a:rPr>
                      <a:t>84</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C-D3DA-4825-B13E-341341D93B68}"/>
                </c:ext>
              </c:extLst>
            </c:dLbl>
            <c:dLbl>
              <c:idx val="1"/>
              <c:tx>
                <c:rich>
                  <a:bodyPr/>
                  <a:lstStyle/>
                  <a:p>
                    <a:r>
                      <a:rPr lang="en-US" sz="850" b="1">
                        <a:solidFill>
                          <a:srgbClr val="555555"/>
                        </a:solidFill>
                      </a:rPr>
                      <a:t>75</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D-D3DA-4825-B13E-341341D93B68}"/>
                </c:ext>
              </c:extLst>
            </c:dLbl>
            <c:dLbl>
              <c:idx val="2"/>
              <c:tx>
                <c:rich>
                  <a:bodyPr/>
                  <a:lstStyle/>
                  <a:p>
                    <a:r>
                      <a:rPr lang="en-US" sz="850" b="1">
                        <a:solidFill>
                          <a:srgbClr val="555555"/>
                        </a:solidFill>
                      </a:rPr>
                      <a:t>75</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E-D3DA-4825-B13E-341341D93B68}"/>
                </c:ext>
              </c:extLst>
            </c:dLbl>
            <c:dLbl>
              <c:idx val="3"/>
              <c:tx>
                <c:rich>
                  <a:bodyPr/>
                  <a:lstStyle/>
                  <a:p>
                    <a:r>
                      <a:rPr lang="en-US" sz="850" b="1">
                        <a:solidFill>
                          <a:srgbClr val="555555"/>
                        </a:solidFill>
                      </a:rPr>
                      <a:t>66</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F-D3DA-4825-B13E-341341D93B68}"/>
                </c:ext>
              </c:extLst>
            </c:dLbl>
            <c:dLbl>
              <c:idx val="4"/>
              <c:tx>
                <c:rich>
                  <a:bodyPr/>
                  <a:lstStyle/>
                  <a:p>
                    <a:r>
                      <a:rPr lang="en-US" sz="850" b="1">
                        <a:solidFill>
                          <a:srgbClr val="555555"/>
                        </a:solidFill>
                      </a:rPr>
                      <a:t>54</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0-D3DA-4825-B13E-341341D93B68}"/>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Sheet1!$A$2:$A$6</c:f>
              <c:strCache>
                <c:ptCount val="5"/>
                <c:pt idx="0">
                  <c:v>2T25</c:v>
                </c:pt>
                <c:pt idx="1">
                  <c:v>3T25</c:v>
                </c:pt>
                <c:pt idx="2">
                  <c:v>4T25</c:v>
                </c:pt>
                <c:pt idx="3">
                  <c:v>1T26</c:v>
                </c:pt>
                <c:pt idx="4">
                  <c:v>2T26*</c:v>
                </c:pt>
              </c:strCache>
            </c:strRef>
          </c:cat>
          <c:val>
            <c:numRef>
              <c:f>Sheet1!$D$2:$D$6</c:f>
              <c:numCache>
                <c:formatCode>General</c:formatCode>
                <c:ptCount val="5"/>
                <c:pt idx="0">
                  <c:v>83.601795646038809</c:v>
                </c:pt>
                <c:pt idx="1">
                  <c:v>75.232729747149236</c:v>
                </c:pt>
                <c:pt idx="2">
                  <c:v>75.497706548022137</c:v>
                </c:pt>
                <c:pt idx="3">
                  <c:v>65.863715757869585</c:v>
                </c:pt>
                <c:pt idx="4">
                  <c:v>54.337147576970949</c:v>
                </c:pt>
              </c:numCache>
            </c:numRef>
          </c:val>
          <c:smooth val="0"/>
          <c:extLst>
            <c:ext xmlns:c16="http://schemas.microsoft.com/office/drawing/2014/chart" uri="{C3380CC4-5D6E-409C-BE32-E72D297353CC}">
              <c16:uniqueId val="{00000011-D3DA-4825-B13E-341341D93B68}"/>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low"/>
        <c:spPr>
          <a:ln>
            <a:solidFill>
              <a:srgbClr val="B8C2C1"/>
            </a:solidFill>
          </a:ln>
        </c:spPr>
        <c:txPr>
          <a:bodyPr/>
          <a:lstStyle/>
          <a:p>
            <a:pPr>
              <a:defRPr sz="800">
                <a:solidFill>
                  <a:srgbClr val="2F3B3A"/>
                </a:solidFill>
              </a:defRPr>
            </a:pPr>
            <a:endParaRPr lang="es-PE"/>
          </a:p>
        </c:txPr>
        <c:crossAx val="2140495176"/>
        <c:crosses val="autoZero"/>
        <c:auto val="1"/>
        <c:lblAlgn val="ctr"/>
        <c:lblOffset val="100"/>
        <c:noMultiLvlLbl val="0"/>
      </c:catAx>
      <c:valAx>
        <c:axId val="2140495176"/>
        <c:scaling>
          <c:orientation val="minMax"/>
          <c:max val="101"/>
          <c:min val="33"/>
        </c:scaling>
        <c:delete val="1"/>
        <c:axPos val="l"/>
        <c:numFmt formatCode="0" sourceLinked="0"/>
        <c:majorTickMark val="out"/>
        <c:minorTickMark val="none"/>
        <c:tickLblPos val="nextTo"/>
        <c:crossAx val="2118791784"/>
        <c:crosses val="autoZero"/>
        <c:crossBetween val="between"/>
      </c:valAx>
    </c:plotArea>
    <c:legend>
      <c:legendPos val="t"/>
      <c:overlay val="0"/>
      <c:txPr>
        <a:bodyPr/>
        <a:lstStyle/>
        <a:p>
          <a:pPr>
            <a:defRPr sz="800"/>
          </a:pPr>
          <a:endParaRPr lang="es-PE"/>
        </a:p>
      </c:txPr>
    </c:legend>
    <c:plotVisOnly val="1"/>
    <c:dispBlanksAs val="gap"/>
    <c:showDLblsOverMax val="0"/>
  </c:chart>
  <c:txPr>
    <a:bodyPr/>
    <a:lstStyle/>
    <a:p>
      <a:pPr>
        <a:defRPr sz="1800"/>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lineChart>
        <c:grouping val="standard"/>
        <c:varyColors val="0"/>
        <c:ser>
          <c:idx val="0"/>
          <c:order val="0"/>
          <c:tx>
            <c:strRef>
              <c:f>Sheet1!$B$1</c:f>
              <c:strCache>
                <c:ptCount val="1"/>
                <c:pt idx="0">
                  <c:v>Ofertada a desembolsos</c:v>
                </c:pt>
              </c:strCache>
            </c:strRef>
          </c:tx>
          <c:spPr>
            <a:ln w="25400">
              <a:solidFill>
                <a:srgbClr val="8E9B9A"/>
              </a:solidFill>
              <a:prstDash val="dash"/>
            </a:ln>
          </c:spPr>
          <c:marker>
            <c:symbol val="circle"/>
            <c:size val="6"/>
            <c:spPr>
              <a:solidFill>
                <a:srgbClr val="8E9B9A"/>
              </a:solidFill>
              <a:ln>
                <a:solidFill>
                  <a:srgbClr val="8E9B9A"/>
                </a:solidFill>
              </a:ln>
            </c:spPr>
          </c:marker>
          <c:dLbls>
            <c:dLbl>
              <c:idx val="0"/>
              <c:tx>
                <c:rich>
                  <a:bodyPr/>
                  <a:lstStyle/>
                  <a:p>
                    <a:r>
                      <a:rPr lang="en-US" sz="900" b="1">
                        <a:solidFill>
                          <a:srgbClr val="8E9B9A"/>
                        </a:solidFill>
                      </a:rPr>
                      <a:t>21,7</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CC3F-4A60-ADFC-36B14327B977}"/>
                </c:ext>
              </c:extLst>
            </c:dLbl>
            <c:dLbl>
              <c:idx val="1"/>
              <c:tx>
                <c:rich>
                  <a:bodyPr/>
                  <a:lstStyle/>
                  <a:p>
                    <a:r>
                      <a:rPr lang="en-US" sz="900" b="1">
                        <a:solidFill>
                          <a:srgbClr val="8E9B9A"/>
                        </a:solidFill>
                      </a:rPr>
                      <a:t>20,8</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CC3F-4A60-ADFC-36B14327B977}"/>
                </c:ext>
              </c:extLst>
            </c:dLbl>
            <c:dLbl>
              <c:idx val="2"/>
              <c:tx>
                <c:rich>
                  <a:bodyPr/>
                  <a:lstStyle/>
                  <a:p>
                    <a:r>
                      <a:rPr lang="en-US" sz="900" b="1">
                        <a:solidFill>
                          <a:srgbClr val="8E9B9A"/>
                        </a:solidFill>
                      </a:rPr>
                      <a:t>20,0</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CC3F-4A60-ADFC-36B14327B977}"/>
                </c:ext>
              </c:extLst>
            </c:dLbl>
            <c:dLbl>
              <c:idx val="3"/>
              <c:tx>
                <c:rich>
                  <a:bodyPr/>
                  <a:lstStyle/>
                  <a:p>
                    <a:r>
                      <a:rPr lang="en-US" sz="900" b="1">
                        <a:solidFill>
                          <a:srgbClr val="8E9B9A"/>
                        </a:solidFill>
                      </a:rPr>
                      <a:t>20,9</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CC3F-4A60-ADFC-36B14327B977}"/>
                </c:ext>
              </c:extLst>
            </c:dLbl>
            <c:dLbl>
              <c:idx val="4"/>
              <c:tx>
                <c:rich>
                  <a:bodyPr/>
                  <a:lstStyle/>
                  <a:p>
                    <a:r>
                      <a:rPr lang="en-US" sz="900" b="1">
                        <a:solidFill>
                          <a:srgbClr val="8E9B9A"/>
                        </a:solidFill>
                      </a:rPr>
                      <a:t>20,4</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CC3F-4A60-ADFC-36B14327B977}"/>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Sheet1!$A$2:$A$6</c:f>
              <c:strCache>
                <c:ptCount val="5"/>
                <c:pt idx="0">
                  <c:v>2T25</c:v>
                </c:pt>
                <c:pt idx="1">
                  <c:v>3T25</c:v>
                </c:pt>
                <c:pt idx="2">
                  <c:v>4T25</c:v>
                </c:pt>
                <c:pt idx="3">
                  <c:v>1T26</c:v>
                </c:pt>
                <c:pt idx="4">
                  <c:v>2T26*</c:v>
                </c:pt>
              </c:strCache>
            </c:strRef>
          </c:cat>
          <c:val>
            <c:numRef>
              <c:f>Sheet1!$B$2:$B$6</c:f>
              <c:numCache>
                <c:formatCode>General</c:formatCode>
                <c:ptCount val="5"/>
                <c:pt idx="0">
                  <c:v>21.7</c:v>
                </c:pt>
                <c:pt idx="1">
                  <c:v>20.8</c:v>
                </c:pt>
                <c:pt idx="2">
                  <c:v>20</c:v>
                </c:pt>
                <c:pt idx="3">
                  <c:v>20.9</c:v>
                </c:pt>
                <c:pt idx="4">
                  <c:v>20.399999999999999</c:v>
                </c:pt>
              </c:numCache>
            </c:numRef>
          </c:val>
          <c:smooth val="0"/>
          <c:extLst>
            <c:ext xmlns:c16="http://schemas.microsoft.com/office/drawing/2014/chart" uri="{C3380CC4-5D6E-409C-BE32-E72D297353CC}">
              <c16:uniqueId val="{00000005-CC3F-4A60-ADFC-36B14327B977}"/>
            </c:ext>
          </c:extLst>
        </c:ser>
        <c:ser>
          <c:idx val="1"/>
          <c:order val="1"/>
          <c:tx>
            <c:strRef>
              <c:f>Sheet1!$C$1</c:f>
              <c:strCache>
                <c:ptCount val="1"/>
                <c:pt idx="0">
                  <c:v>Desembolsada</c:v>
                </c:pt>
              </c:strCache>
            </c:strRef>
          </c:tx>
          <c:spPr>
            <a:ln w="25400">
              <a:solidFill>
                <a:srgbClr val="2F6FDE"/>
              </a:solidFill>
            </a:ln>
          </c:spPr>
          <c:marker>
            <c:symbol val="circle"/>
            <c:size val="6"/>
            <c:spPr>
              <a:solidFill>
                <a:srgbClr val="2F6FDE"/>
              </a:solidFill>
              <a:ln>
                <a:solidFill>
                  <a:srgbClr val="2F6FDE"/>
                </a:solidFill>
              </a:ln>
            </c:spPr>
          </c:marker>
          <c:dLbls>
            <c:dLbl>
              <c:idx val="0"/>
              <c:tx>
                <c:rich>
                  <a:bodyPr/>
                  <a:lstStyle/>
                  <a:p>
                    <a:r>
                      <a:rPr lang="en-US" sz="900" b="1">
                        <a:solidFill>
                          <a:srgbClr val="2F6FDE"/>
                        </a:solidFill>
                      </a:rPr>
                      <a:t>17,9</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CC3F-4A60-ADFC-36B14327B977}"/>
                </c:ext>
              </c:extLst>
            </c:dLbl>
            <c:dLbl>
              <c:idx val="1"/>
              <c:tx>
                <c:rich>
                  <a:bodyPr/>
                  <a:lstStyle/>
                  <a:p>
                    <a:r>
                      <a:rPr lang="en-US" sz="900" b="1">
                        <a:solidFill>
                          <a:srgbClr val="2F6FDE"/>
                        </a:solidFill>
                      </a:rPr>
                      <a:t>18,5</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CC3F-4A60-ADFC-36B14327B977}"/>
                </c:ext>
              </c:extLst>
            </c:dLbl>
            <c:dLbl>
              <c:idx val="2"/>
              <c:tx>
                <c:rich>
                  <a:bodyPr/>
                  <a:lstStyle/>
                  <a:p>
                    <a:r>
                      <a:rPr lang="en-US" sz="900" b="1">
                        <a:solidFill>
                          <a:srgbClr val="2F6FDE"/>
                        </a:solidFill>
                      </a:rPr>
                      <a:t>18,2</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8-CC3F-4A60-ADFC-36B14327B977}"/>
                </c:ext>
              </c:extLst>
            </c:dLbl>
            <c:dLbl>
              <c:idx val="3"/>
              <c:tx>
                <c:rich>
                  <a:bodyPr/>
                  <a:lstStyle/>
                  <a:p>
                    <a:r>
                      <a:rPr lang="en-US" sz="900" b="1">
                        <a:solidFill>
                          <a:srgbClr val="2F6FDE"/>
                        </a:solidFill>
                      </a:rPr>
                      <a:t>17,8</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9-CC3F-4A60-ADFC-36B14327B977}"/>
                </c:ext>
              </c:extLst>
            </c:dLbl>
            <c:dLbl>
              <c:idx val="4"/>
              <c:tx>
                <c:rich>
                  <a:bodyPr/>
                  <a:lstStyle/>
                  <a:p>
                    <a:r>
                      <a:rPr lang="en-US" sz="900" b="1">
                        <a:solidFill>
                          <a:srgbClr val="2F6FDE"/>
                        </a:solidFill>
                      </a:rPr>
                      <a:t>18,6</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A-CC3F-4A60-ADFC-36B14327B977}"/>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Sheet1!$A$2:$A$6</c:f>
              <c:strCache>
                <c:ptCount val="5"/>
                <c:pt idx="0">
                  <c:v>2T25</c:v>
                </c:pt>
                <c:pt idx="1">
                  <c:v>3T25</c:v>
                </c:pt>
                <c:pt idx="2">
                  <c:v>4T25</c:v>
                </c:pt>
                <c:pt idx="3">
                  <c:v>1T26</c:v>
                </c:pt>
                <c:pt idx="4">
                  <c:v>2T26*</c:v>
                </c:pt>
              </c:strCache>
            </c:strRef>
          </c:cat>
          <c:val>
            <c:numRef>
              <c:f>Sheet1!$C$2:$C$6</c:f>
              <c:numCache>
                <c:formatCode>General</c:formatCode>
                <c:ptCount val="5"/>
                <c:pt idx="0">
                  <c:v>17.882415341798431</c:v>
                </c:pt>
                <c:pt idx="1">
                  <c:v>18.543353190535459</c:v>
                </c:pt>
                <c:pt idx="2">
                  <c:v>18.239690519283759</c:v>
                </c:pt>
                <c:pt idx="3">
                  <c:v>17.756532111691051</c:v>
                </c:pt>
                <c:pt idx="4">
                  <c:v>18.616453746112331</c:v>
                </c:pt>
              </c:numCache>
            </c:numRef>
          </c:val>
          <c:smooth val="0"/>
          <c:extLst>
            <c:ext xmlns:c16="http://schemas.microsoft.com/office/drawing/2014/chart" uri="{C3380CC4-5D6E-409C-BE32-E72D297353CC}">
              <c16:uniqueId val="{0000000B-CC3F-4A60-ADFC-36B14327B977}"/>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low"/>
        <c:spPr>
          <a:ln>
            <a:solidFill>
              <a:srgbClr val="B8C2C1"/>
            </a:solidFill>
          </a:ln>
        </c:spPr>
        <c:txPr>
          <a:bodyPr/>
          <a:lstStyle/>
          <a:p>
            <a:pPr>
              <a:defRPr sz="750">
                <a:solidFill>
                  <a:srgbClr val="2F3B3A"/>
                </a:solidFill>
              </a:defRPr>
            </a:pPr>
            <a:endParaRPr lang="es-PE"/>
          </a:p>
        </c:txPr>
        <c:crossAx val="2140495176"/>
        <c:crosses val="autoZero"/>
        <c:auto val="1"/>
        <c:lblAlgn val="ctr"/>
        <c:lblOffset val="100"/>
        <c:noMultiLvlLbl val="0"/>
      </c:catAx>
      <c:valAx>
        <c:axId val="2140495176"/>
        <c:scaling>
          <c:orientation val="minMax"/>
          <c:max val="24"/>
          <c:min val="14"/>
        </c:scaling>
        <c:delete val="1"/>
        <c:axPos val="l"/>
        <c:numFmt formatCode="0.0" sourceLinked="0"/>
        <c:majorTickMark val="out"/>
        <c:minorTickMark val="none"/>
        <c:tickLblPos val="nextTo"/>
        <c:crossAx val="2118791784"/>
        <c:crosses val="autoZero"/>
        <c:crossBetween val="between"/>
      </c:valAx>
    </c:plotArea>
    <c:legend>
      <c:legendPos val="t"/>
      <c:overlay val="0"/>
      <c:txPr>
        <a:bodyPr/>
        <a:lstStyle/>
        <a:p>
          <a:pPr>
            <a:defRPr sz="750"/>
          </a:pPr>
          <a:endParaRPr lang="es-PE"/>
        </a:p>
      </c:txPr>
    </c:legend>
    <c:plotVisOnly val="1"/>
    <c:dispBlanksAs val="gap"/>
    <c:showDLblsOverMax val="0"/>
  </c:chart>
  <c:txPr>
    <a:bodyPr/>
    <a:lstStyle/>
    <a:p>
      <a:pPr>
        <a:defRPr sz="1800"/>
      </a:pPr>
      <a:endParaRPr lang="en-US"/>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lineChart>
        <c:grouping val="standard"/>
        <c:varyColors val="0"/>
        <c:ser>
          <c:idx val="0"/>
          <c:order val="0"/>
          <c:tx>
            <c:strRef>
              <c:f>Sheet1!$B$1</c:f>
              <c:strCache>
                <c:ptCount val="1"/>
                <c:pt idx="0">
                  <c:v>Ofertada a desembolsos</c:v>
                </c:pt>
              </c:strCache>
            </c:strRef>
          </c:tx>
          <c:spPr>
            <a:ln w="25400">
              <a:solidFill>
                <a:srgbClr val="8E9B9A"/>
              </a:solidFill>
              <a:prstDash val="dash"/>
            </a:ln>
          </c:spPr>
          <c:marker>
            <c:symbol val="circle"/>
            <c:size val="6"/>
            <c:spPr>
              <a:solidFill>
                <a:srgbClr val="8E9B9A"/>
              </a:solidFill>
              <a:ln>
                <a:solidFill>
                  <a:srgbClr val="8E9B9A"/>
                </a:solidFill>
              </a:ln>
            </c:spPr>
          </c:marker>
          <c:dLbls>
            <c:dLbl>
              <c:idx val="0"/>
              <c:tx>
                <c:rich>
                  <a:bodyPr/>
                  <a:lstStyle/>
                  <a:p>
                    <a:r>
                      <a:rPr lang="en-US" sz="900" b="1">
                        <a:solidFill>
                          <a:srgbClr val="8E9B9A"/>
                        </a:solidFill>
                      </a:rPr>
                      <a:t>20,1</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6295-44FE-AC1B-3C6D40E0ECE0}"/>
                </c:ext>
              </c:extLst>
            </c:dLbl>
            <c:dLbl>
              <c:idx val="1"/>
              <c:tx>
                <c:rich>
                  <a:bodyPr/>
                  <a:lstStyle/>
                  <a:p>
                    <a:r>
                      <a:rPr lang="en-US" sz="900" b="1">
                        <a:solidFill>
                          <a:srgbClr val="8E9B9A"/>
                        </a:solidFill>
                      </a:rPr>
                      <a:t>19,6</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6295-44FE-AC1B-3C6D40E0ECE0}"/>
                </c:ext>
              </c:extLst>
            </c:dLbl>
            <c:dLbl>
              <c:idx val="2"/>
              <c:tx>
                <c:rich>
                  <a:bodyPr/>
                  <a:lstStyle/>
                  <a:p>
                    <a:r>
                      <a:rPr lang="en-US" sz="900" b="1">
                        <a:solidFill>
                          <a:srgbClr val="8E9B9A"/>
                        </a:solidFill>
                      </a:rPr>
                      <a:t>18,8</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6295-44FE-AC1B-3C6D40E0ECE0}"/>
                </c:ext>
              </c:extLst>
            </c:dLbl>
            <c:dLbl>
              <c:idx val="3"/>
              <c:tx>
                <c:rich>
                  <a:bodyPr/>
                  <a:lstStyle/>
                  <a:p>
                    <a:r>
                      <a:rPr lang="en-US" sz="900" b="1">
                        <a:solidFill>
                          <a:srgbClr val="8E9B9A"/>
                        </a:solidFill>
                      </a:rPr>
                      <a:t>19,1</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6295-44FE-AC1B-3C6D40E0ECE0}"/>
                </c:ext>
              </c:extLst>
            </c:dLbl>
            <c:dLbl>
              <c:idx val="4"/>
              <c:tx>
                <c:rich>
                  <a:bodyPr/>
                  <a:lstStyle/>
                  <a:p>
                    <a:r>
                      <a:rPr lang="en-US" sz="900" b="1">
                        <a:solidFill>
                          <a:srgbClr val="8E9B9A"/>
                        </a:solidFill>
                      </a:rPr>
                      <a:t>19,8</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6295-44FE-AC1B-3C6D40E0ECE0}"/>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Sheet1!$A$2:$A$6</c:f>
              <c:strCache>
                <c:ptCount val="5"/>
                <c:pt idx="0">
                  <c:v>2T25</c:v>
                </c:pt>
                <c:pt idx="1">
                  <c:v>3T25</c:v>
                </c:pt>
                <c:pt idx="2">
                  <c:v>4T25</c:v>
                </c:pt>
                <c:pt idx="3">
                  <c:v>1T26</c:v>
                </c:pt>
                <c:pt idx="4">
                  <c:v>2T26*</c:v>
                </c:pt>
              </c:strCache>
            </c:strRef>
          </c:cat>
          <c:val>
            <c:numRef>
              <c:f>Sheet1!$B$2:$B$6</c:f>
              <c:numCache>
                <c:formatCode>General</c:formatCode>
                <c:ptCount val="5"/>
                <c:pt idx="0">
                  <c:v>20.100000000000001</c:v>
                </c:pt>
                <c:pt idx="1">
                  <c:v>19.600000000000001</c:v>
                </c:pt>
                <c:pt idx="2">
                  <c:v>18.8</c:v>
                </c:pt>
                <c:pt idx="3">
                  <c:v>19.100000000000001</c:v>
                </c:pt>
                <c:pt idx="4">
                  <c:v>19.8</c:v>
                </c:pt>
              </c:numCache>
            </c:numRef>
          </c:val>
          <c:smooth val="0"/>
          <c:extLst>
            <c:ext xmlns:c16="http://schemas.microsoft.com/office/drawing/2014/chart" uri="{C3380CC4-5D6E-409C-BE32-E72D297353CC}">
              <c16:uniqueId val="{00000005-6295-44FE-AC1B-3C6D40E0ECE0}"/>
            </c:ext>
          </c:extLst>
        </c:ser>
        <c:ser>
          <c:idx val="1"/>
          <c:order val="1"/>
          <c:tx>
            <c:strRef>
              <c:f>Sheet1!$C$1</c:f>
              <c:strCache>
                <c:ptCount val="1"/>
                <c:pt idx="0">
                  <c:v>Desembolsada</c:v>
                </c:pt>
              </c:strCache>
            </c:strRef>
          </c:tx>
          <c:spPr>
            <a:ln w="25400">
              <a:solidFill>
                <a:srgbClr val="2F6FDE"/>
              </a:solidFill>
            </a:ln>
          </c:spPr>
          <c:marker>
            <c:symbol val="circle"/>
            <c:size val="6"/>
            <c:spPr>
              <a:solidFill>
                <a:srgbClr val="2F6FDE"/>
              </a:solidFill>
              <a:ln>
                <a:solidFill>
                  <a:srgbClr val="2F6FDE"/>
                </a:solidFill>
              </a:ln>
            </c:spPr>
          </c:marker>
          <c:dLbls>
            <c:dLbl>
              <c:idx val="0"/>
              <c:tx>
                <c:rich>
                  <a:bodyPr/>
                  <a:lstStyle/>
                  <a:p>
                    <a:r>
                      <a:rPr lang="en-US" sz="900" b="1">
                        <a:solidFill>
                          <a:srgbClr val="2F6FDE"/>
                        </a:solidFill>
                      </a:rPr>
                      <a:t>17,0</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6295-44FE-AC1B-3C6D40E0ECE0}"/>
                </c:ext>
              </c:extLst>
            </c:dLbl>
            <c:dLbl>
              <c:idx val="1"/>
              <c:tx>
                <c:rich>
                  <a:bodyPr/>
                  <a:lstStyle/>
                  <a:p>
                    <a:r>
                      <a:rPr lang="en-US" sz="900" b="1">
                        <a:solidFill>
                          <a:srgbClr val="2F6FDE"/>
                        </a:solidFill>
                      </a:rPr>
                      <a:t>17,3</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6295-44FE-AC1B-3C6D40E0ECE0}"/>
                </c:ext>
              </c:extLst>
            </c:dLbl>
            <c:dLbl>
              <c:idx val="2"/>
              <c:tx>
                <c:rich>
                  <a:bodyPr/>
                  <a:lstStyle/>
                  <a:p>
                    <a:r>
                      <a:rPr lang="en-US" sz="900" b="1">
                        <a:solidFill>
                          <a:srgbClr val="2F6FDE"/>
                        </a:solidFill>
                      </a:rPr>
                      <a:t>17,8</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8-6295-44FE-AC1B-3C6D40E0ECE0}"/>
                </c:ext>
              </c:extLst>
            </c:dLbl>
            <c:dLbl>
              <c:idx val="3"/>
              <c:tx>
                <c:rich>
                  <a:bodyPr/>
                  <a:lstStyle/>
                  <a:p>
                    <a:r>
                      <a:rPr lang="en-US" sz="900" b="1">
                        <a:solidFill>
                          <a:srgbClr val="2F6FDE"/>
                        </a:solidFill>
                      </a:rPr>
                      <a:t>17,3</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9-6295-44FE-AC1B-3C6D40E0ECE0}"/>
                </c:ext>
              </c:extLst>
            </c:dLbl>
            <c:dLbl>
              <c:idx val="4"/>
              <c:tx>
                <c:rich>
                  <a:bodyPr/>
                  <a:lstStyle/>
                  <a:p>
                    <a:r>
                      <a:rPr lang="en-US" sz="900" b="1">
                        <a:solidFill>
                          <a:srgbClr val="2F6FDE"/>
                        </a:solidFill>
                      </a:rPr>
                      <a:t>17,2</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A-6295-44FE-AC1B-3C6D40E0ECE0}"/>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Sheet1!$A$2:$A$6</c:f>
              <c:strCache>
                <c:ptCount val="5"/>
                <c:pt idx="0">
                  <c:v>2T25</c:v>
                </c:pt>
                <c:pt idx="1">
                  <c:v>3T25</c:v>
                </c:pt>
                <c:pt idx="2">
                  <c:v>4T25</c:v>
                </c:pt>
                <c:pt idx="3">
                  <c:v>1T26</c:v>
                </c:pt>
                <c:pt idx="4">
                  <c:v>2T26*</c:v>
                </c:pt>
              </c:strCache>
            </c:strRef>
          </c:cat>
          <c:val>
            <c:numRef>
              <c:f>Sheet1!$C$2:$C$6</c:f>
              <c:numCache>
                <c:formatCode>General</c:formatCode>
                <c:ptCount val="5"/>
                <c:pt idx="0">
                  <c:v>16.991658323837065</c:v>
                </c:pt>
                <c:pt idx="1">
                  <c:v>17.335492544610119</c:v>
                </c:pt>
                <c:pt idx="2">
                  <c:v>17.768822846575816</c:v>
                </c:pt>
                <c:pt idx="3">
                  <c:v>17.28735793640659</c:v>
                </c:pt>
                <c:pt idx="4">
                  <c:v>17.189079592606564</c:v>
                </c:pt>
              </c:numCache>
            </c:numRef>
          </c:val>
          <c:smooth val="0"/>
          <c:extLst>
            <c:ext xmlns:c16="http://schemas.microsoft.com/office/drawing/2014/chart" uri="{C3380CC4-5D6E-409C-BE32-E72D297353CC}">
              <c16:uniqueId val="{0000000B-6295-44FE-AC1B-3C6D40E0ECE0}"/>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low"/>
        <c:spPr>
          <a:ln>
            <a:solidFill>
              <a:srgbClr val="B8C2C1"/>
            </a:solidFill>
          </a:ln>
        </c:spPr>
        <c:txPr>
          <a:bodyPr/>
          <a:lstStyle/>
          <a:p>
            <a:pPr>
              <a:defRPr sz="750">
                <a:solidFill>
                  <a:srgbClr val="2F3B3A"/>
                </a:solidFill>
              </a:defRPr>
            </a:pPr>
            <a:endParaRPr lang="es-PE"/>
          </a:p>
        </c:txPr>
        <c:crossAx val="2140495176"/>
        <c:crosses val="autoZero"/>
        <c:auto val="1"/>
        <c:lblAlgn val="ctr"/>
        <c:lblOffset val="100"/>
        <c:noMultiLvlLbl val="0"/>
      </c:catAx>
      <c:valAx>
        <c:axId val="2140495176"/>
        <c:scaling>
          <c:orientation val="minMax"/>
          <c:max val="23"/>
          <c:min val="13"/>
        </c:scaling>
        <c:delete val="1"/>
        <c:axPos val="l"/>
        <c:numFmt formatCode="0.0" sourceLinked="0"/>
        <c:majorTickMark val="out"/>
        <c:minorTickMark val="none"/>
        <c:tickLblPos val="nextTo"/>
        <c:crossAx val="2118791784"/>
        <c:crosses val="autoZero"/>
        <c:crossBetween val="between"/>
      </c:valAx>
    </c:plotArea>
    <c:legend>
      <c:legendPos val="t"/>
      <c:overlay val="0"/>
      <c:txPr>
        <a:bodyPr/>
        <a:lstStyle/>
        <a:p>
          <a:pPr>
            <a:defRPr sz="750"/>
          </a:pPr>
          <a:endParaRPr lang="es-PE"/>
        </a:p>
      </c:txPr>
    </c:legend>
    <c:plotVisOnly val="1"/>
    <c:dispBlanksAs val="gap"/>
    <c:showDLblsOverMax val="0"/>
  </c:chart>
  <c:txPr>
    <a:bodyPr/>
    <a:lstStyle/>
    <a:p>
      <a:pPr>
        <a:defRPr sz="1800"/>
      </a:pPr>
      <a:endParaRPr lang="en-US"/>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0"/>
    <c:plotArea>
      <c:layout>
        <c:manualLayout>
          <c:layoutTarget val="inner"/>
          <c:xMode val="edge"/>
          <c:yMode val="edge"/>
          <c:x val="0.02"/>
          <c:y val="0.17"/>
          <c:w val="0.96"/>
          <c:h val="0.7"/>
        </c:manualLayout>
      </c:layout>
      <c:barChart>
        <c:barDir val="col"/>
        <c:grouping val="clustered"/>
        <c:varyColors val="1"/>
        <c:ser>
          <c:idx val="0"/>
          <c:order val="0"/>
          <c:tx>
            <c:strRef>
              <c:f>Sheet1!$B$1</c:f>
              <c:strCache>
                <c:ptCount val="1"/>
                <c:pt idx="0">
                  <c:v>Ofertada a desembolsos</c:v>
                </c:pt>
              </c:strCache>
            </c:strRef>
          </c:tx>
          <c:spPr>
            <a:solidFill>
              <a:srgbClr val="8E9B9A"/>
            </a:solidFill>
          </c:spPr>
          <c:invertIfNegative val="1"/>
          <c:dLbls>
            <c:dLbl>
              <c:idx val="0"/>
              <c:tx>
                <c:rich>
                  <a:bodyPr/>
                  <a:lstStyle/>
                  <a:p>
                    <a:r>
                      <a:rPr lang="en-US" sz="850" b="1">
                        <a:solidFill>
                          <a:srgbClr val="6E7E7D"/>
                        </a:solidFill>
                      </a:rPr>
                      <a:t>19,0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5FC6-48D2-BB33-880DA0C5129B}"/>
                </c:ext>
              </c:extLst>
            </c:dLbl>
            <c:dLbl>
              <c:idx val="1"/>
              <c:tx>
                <c:rich>
                  <a:bodyPr/>
                  <a:lstStyle/>
                  <a:p>
                    <a:r>
                      <a:rPr lang="en-US" sz="850" b="1">
                        <a:solidFill>
                          <a:srgbClr val="6E7E7D"/>
                        </a:solidFill>
                      </a:rPr>
                      <a:t>19,0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5FC6-48D2-BB33-880DA0C5129B}"/>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Sheet1!$A$2:$A$3</c:f>
              <c:strCache>
                <c:ptCount val="2"/>
                <c:pt idx="0">
                  <c:v>≤ 170K</c:v>
                </c:pt>
                <c:pt idx="1">
                  <c:v>&gt; 350K</c:v>
                </c:pt>
              </c:strCache>
            </c:strRef>
          </c:cat>
          <c:val>
            <c:numRef>
              <c:f>Sheet1!$B$2:$B$3</c:f>
              <c:numCache>
                <c:formatCode>General</c:formatCode>
                <c:ptCount val="2"/>
                <c:pt idx="0">
                  <c:v>19</c:v>
                </c:pt>
                <c:pt idx="1">
                  <c:v>19</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5FC6-48D2-BB33-880DA0C5129B}"/>
            </c:ext>
          </c:extLst>
        </c:ser>
        <c:ser>
          <c:idx val="1"/>
          <c:order val="1"/>
          <c:tx>
            <c:strRef>
              <c:f>Sheet1!$C$1</c:f>
              <c:strCache>
                <c:ptCount val="1"/>
                <c:pt idx="0">
                  <c:v>Desembolsada</c:v>
                </c:pt>
              </c:strCache>
            </c:strRef>
          </c:tx>
          <c:spPr>
            <a:solidFill>
              <a:srgbClr val="2F6FDE"/>
            </a:solidFill>
          </c:spPr>
          <c:invertIfNegative val="1"/>
          <c:dLbls>
            <c:dLbl>
              <c:idx val="0"/>
              <c:tx>
                <c:rich>
                  <a:bodyPr/>
                  <a:lstStyle/>
                  <a:p>
                    <a:r>
                      <a:rPr lang="en-US" sz="850" b="1">
                        <a:solidFill>
                          <a:srgbClr val="2F6FDE"/>
                        </a:solidFill>
                      </a:rPr>
                      <a:t>18,0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5FC6-48D2-BB33-880DA0C5129B}"/>
                </c:ext>
              </c:extLst>
            </c:dLbl>
            <c:dLbl>
              <c:idx val="1"/>
              <c:tx>
                <c:rich>
                  <a:bodyPr/>
                  <a:lstStyle/>
                  <a:p>
                    <a:r>
                      <a:rPr lang="en-US" sz="850" b="1">
                        <a:solidFill>
                          <a:srgbClr val="2F6FDE"/>
                        </a:solidFill>
                      </a:rPr>
                      <a:t>17,5</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5FC6-48D2-BB33-880DA0C5129B}"/>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Sheet1!$A$2:$A$3</c:f>
              <c:strCache>
                <c:ptCount val="2"/>
                <c:pt idx="0">
                  <c:v>≤ 170K</c:v>
                </c:pt>
                <c:pt idx="1">
                  <c:v>&gt; 350K</c:v>
                </c:pt>
              </c:strCache>
            </c:strRef>
          </c:cat>
          <c:val>
            <c:numRef>
              <c:f>Sheet1!$C$2:$C$3</c:f>
              <c:numCache>
                <c:formatCode>General</c:formatCode>
                <c:ptCount val="2"/>
                <c:pt idx="0">
                  <c:v>18</c:v>
                </c:pt>
                <c:pt idx="1">
                  <c:v>17.5</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5-5FC6-48D2-BB33-880DA0C5129B}"/>
            </c:ext>
          </c:extLst>
        </c:ser>
        <c:ser>
          <c:idx val="2"/>
          <c:order val="2"/>
          <c:tx>
            <c:strRef>
              <c:f>Sheet1!$D$1</c:f>
              <c:strCache>
                <c:ptCount val="1"/>
                <c:pt idx="0">
                  <c:v>Competencia</c:v>
                </c:pt>
              </c:strCache>
            </c:strRef>
          </c:tx>
          <c:spPr>
            <a:solidFill>
              <a:srgbClr val="F28C28"/>
            </a:solidFill>
          </c:spPr>
          <c:invertIfNegative val="1"/>
          <c:dLbls>
            <c:dLbl>
              <c:idx val="1"/>
              <c:tx>
                <c:rich>
                  <a:bodyPr/>
                  <a:lstStyle/>
                  <a:p>
                    <a:r>
                      <a:rPr lang="en-US" sz="850" b="1">
                        <a:solidFill>
                          <a:srgbClr val="F28C28"/>
                        </a:solidFill>
                      </a:rPr>
                      <a:t>18,1</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5FC6-48D2-BB33-880DA0C5129B}"/>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Sheet1!$A$2:$A$3</c:f>
              <c:strCache>
                <c:ptCount val="2"/>
                <c:pt idx="0">
                  <c:v>≤ 170K</c:v>
                </c:pt>
                <c:pt idx="1">
                  <c:v>&gt; 350K</c:v>
                </c:pt>
              </c:strCache>
            </c:strRef>
          </c:cat>
          <c:val>
            <c:numRef>
              <c:f>Sheet1!$D$2:$D$3</c:f>
              <c:numCache>
                <c:formatCode>General</c:formatCode>
                <c:ptCount val="2"/>
                <c:pt idx="1">
                  <c:v>18.100000000000001</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7-5FC6-48D2-BB33-880DA0C5129B}"/>
            </c:ext>
          </c:extLst>
        </c:ser>
        <c:dLbls>
          <c:showLegendKey val="0"/>
          <c:showVal val="0"/>
          <c:showCatName val="0"/>
          <c:showSerName val="0"/>
          <c:showPercent val="0"/>
          <c:showBubbleSize val="0"/>
        </c:dLbls>
        <c:gapWidth val="60"/>
        <c:axId val="-2068027336"/>
        <c:axId val="-2113994440"/>
      </c:barChart>
      <c:catAx>
        <c:axId val="-2068027336"/>
        <c:scaling>
          <c:orientation val="minMax"/>
        </c:scaling>
        <c:delete val="0"/>
        <c:axPos val="b"/>
        <c:numFmt formatCode="General" sourceLinked="0"/>
        <c:majorTickMark val="out"/>
        <c:minorTickMark val="none"/>
        <c:tickLblPos val="none"/>
        <c:spPr>
          <a:ln>
            <a:solidFill>
              <a:srgbClr val="B8C2C1"/>
            </a:solidFill>
          </a:ln>
        </c:spPr>
        <c:txPr>
          <a:bodyPr/>
          <a:lstStyle/>
          <a:p>
            <a:pPr>
              <a:defRPr sz="100"/>
            </a:pPr>
            <a:endParaRPr lang="es-PE"/>
          </a:p>
        </c:txPr>
        <c:crossAx val="-2113994440"/>
        <c:crosses val="autoZero"/>
        <c:auto val="1"/>
        <c:lblAlgn val="ctr"/>
        <c:lblOffset val="100"/>
        <c:noMultiLvlLbl val="0"/>
      </c:catAx>
      <c:valAx>
        <c:axId val="-2113994440"/>
        <c:scaling>
          <c:orientation val="minMax"/>
          <c:max val="21.5"/>
          <c:min val="15.5"/>
        </c:scaling>
        <c:delete val="1"/>
        <c:axPos val="l"/>
        <c:numFmt formatCode="General" sourceLinked="1"/>
        <c:majorTickMark val="out"/>
        <c:minorTickMark val="none"/>
        <c:tickLblPos val="nextTo"/>
        <c:crossAx val="-2068027336"/>
        <c:crosses val="autoZero"/>
        <c:crossBetween val="between"/>
      </c:valAx>
    </c:plotArea>
    <c:legend>
      <c:legendPos val="t"/>
      <c:overlay val="0"/>
      <c:txPr>
        <a:bodyPr/>
        <a:lstStyle/>
        <a:p>
          <a:pPr>
            <a:defRPr sz="800"/>
          </a:pPr>
          <a:endParaRPr lang="es-PE"/>
        </a:p>
      </c:txPr>
    </c:legend>
    <c:plotVisOnly val="1"/>
    <c:dispBlanksAs val="gap"/>
    <c:showDLblsOverMax val="1"/>
  </c:chart>
  <c:txPr>
    <a:bodyPr/>
    <a:lstStyle/>
    <a:p>
      <a:pPr>
        <a:defRPr sz="1800"/>
      </a:pPr>
      <a:endParaRPr lang="en-US"/>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0"/>
    <c:plotArea>
      <c:layout>
        <c:manualLayout>
          <c:layoutTarget val="inner"/>
          <c:xMode val="edge"/>
          <c:yMode val="edge"/>
          <c:x val="0.02"/>
          <c:y val="0.06"/>
          <c:w val="0.96"/>
          <c:h val="0.8"/>
        </c:manualLayout>
      </c:layout>
      <c:barChart>
        <c:barDir val="col"/>
        <c:grouping val="clustered"/>
        <c:varyColors val="1"/>
        <c:ser>
          <c:idx val="0"/>
          <c:order val="0"/>
          <c:tx>
            <c:strRef>
              <c:f>Sheet1!$B$1</c:f>
              <c:strCache>
                <c:ptCount val="1"/>
                <c:pt idx="0">
                  <c:v>Ofertada a desembolsos</c:v>
                </c:pt>
              </c:strCache>
            </c:strRef>
          </c:tx>
          <c:spPr>
            <a:solidFill>
              <a:srgbClr val="8E9B9A"/>
            </a:solidFill>
          </c:spPr>
          <c:invertIfNegative val="1"/>
          <c:dLbls>
            <c:dLbl>
              <c:idx val="0"/>
              <c:tx>
                <c:rich>
                  <a:bodyPr/>
                  <a:lstStyle/>
                  <a:p>
                    <a:r>
                      <a:rPr lang="en-US" sz="850" b="1">
                        <a:solidFill>
                          <a:srgbClr val="6E7E7D"/>
                        </a:solidFill>
                      </a:rPr>
                      <a:t>19,0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032F-40ED-BA82-2CB829558C45}"/>
                </c:ext>
              </c:extLst>
            </c:dLbl>
            <c:dLbl>
              <c:idx val="1"/>
              <c:tx>
                <c:rich>
                  <a:bodyPr/>
                  <a:lstStyle/>
                  <a:p>
                    <a:r>
                      <a:rPr lang="en-US" sz="850" b="1">
                        <a:solidFill>
                          <a:srgbClr val="6E7E7D"/>
                        </a:solidFill>
                      </a:rPr>
                      <a:t>19,0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032F-40ED-BA82-2CB829558C45}"/>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Sheet1!$A$2:$A$3</c:f>
              <c:strCache>
                <c:ptCount val="2"/>
                <c:pt idx="0">
                  <c:v>≤ 170K</c:v>
                </c:pt>
                <c:pt idx="1">
                  <c:v>&gt; 350K</c:v>
                </c:pt>
              </c:strCache>
            </c:strRef>
          </c:cat>
          <c:val>
            <c:numRef>
              <c:f>Sheet1!$B$2:$B$3</c:f>
              <c:numCache>
                <c:formatCode>General</c:formatCode>
                <c:ptCount val="2"/>
                <c:pt idx="0">
                  <c:v>19</c:v>
                </c:pt>
                <c:pt idx="1">
                  <c:v>19</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032F-40ED-BA82-2CB829558C45}"/>
            </c:ext>
          </c:extLst>
        </c:ser>
        <c:ser>
          <c:idx val="1"/>
          <c:order val="1"/>
          <c:tx>
            <c:strRef>
              <c:f>Sheet1!$C$1</c:f>
              <c:strCache>
                <c:ptCount val="1"/>
                <c:pt idx="0">
                  <c:v>Desembolsada</c:v>
                </c:pt>
              </c:strCache>
            </c:strRef>
          </c:tx>
          <c:spPr>
            <a:solidFill>
              <a:srgbClr val="2F6FDE"/>
            </a:solidFill>
          </c:spPr>
          <c:invertIfNegative val="1"/>
          <c:dLbls>
            <c:dLbl>
              <c:idx val="0"/>
              <c:tx>
                <c:rich>
                  <a:bodyPr/>
                  <a:lstStyle/>
                  <a:p>
                    <a:r>
                      <a:rPr lang="en-US" sz="850" b="1">
                        <a:solidFill>
                          <a:srgbClr val="2F6FDE"/>
                        </a:solidFill>
                      </a:rPr>
                      <a:t>18,0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032F-40ED-BA82-2CB829558C45}"/>
                </c:ext>
              </c:extLst>
            </c:dLbl>
            <c:dLbl>
              <c:idx val="1"/>
              <c:tx>
                <c:rich>
                  <a:bodyPr/>
                  <a:lstStyle/>
                  <a:p>
                    <a:r>
                      <a:rPr lang="en-US" sz="850" b="1">
                        <a:solidFill>
                          <a:srgbClr val="2F6FDE"/>
                        </a:solidFill>
                      </a:rPr>
                      <a:t>17,0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032F-40ED-BA82-2CB829558C45}"/>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Sheet1!$A$2:$A$3</c:f>
              <c:strCache>
                <c:ptCount val="2"/>
                <c:pt idx="0">
                  <c:v>≤ 170K</c:v>
                </c:pt>
                <c:pt idx="1">
                  <c:v>&gt; 350K</c:v>
                </c:pt>
              </c:strCache>
            </c:strRef>
          </c:cat>
          <c:val>
            <c:numRef>
              <c:f>Sheet1!$C$2:$C$3</c:f>
              <c:numCache>
                <c:formatCode>General</c:formatCode>
                <c:ptCount val="2"/>
                <c:pt idx="0">
                  <c:v>18</c:v>
                </c:pt>
                <c:pt idx="1">
                  <c:v>17</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5-032F-40ED-BA82-2CB829558C45}"/>
            </c:ext>
          </c:extLst>
        </c:ser>
        <c:ser>
          <c:idx val="2"/>
          <c:order val="2"/>
          <c:tx>
            <c:strRef>
              <c:f>Sheet1!$D$1</c:f>
              <c:strCache>
                <c:ptCount val="1"/>
                <c:pt idx="0">
                  <c:v>Competencia</c:v>
                </c:pt>
              </c:strCache>
            </c:strRef>
          </c:tx>
          <c:spPr>
            <a:solidFill>
              <a:srgbClr val="F28C28"/>
            </a:solidFill>
          </c:spPr>
          <c:invertIfNegative val="1"/>
          <c:dLbls>
            <c:dLbl>
              <c:idx val="1"/>
              <c:tx>
                <c:rich>
                  <a:bodyPr/>
                  <a:lstStyle/>
                  <a:p>
                    <a:r>
                      <a:rPr lang="en-US" sz="850" b="1">
                        <a:solidFill>
                          <a:srgbClr val="F28C28"/>
                        </a:solidFill>
                      </a:rPr>
                      <a:t>16,0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032F-40ED-BA82-2CB829558C45}"/>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Sheet1!$A$2:$A$3</c:f>
              <c:strCache>
                <c:ptCount val="2"/>
                <c:pt idx="0">
                  <c:v>≤ 170K</c:v>
                </c:pt>
                <c:pt idx="1">
                  <c:v>&gt; 350K</c:v>
                </c:pt>
              </c:strCache>
            </c:strRef>
          </c:cat>
          <c:val>
            <c:numRef>
              <c:f>Sheet1!$D$2:$D$3</c:f>
              <c:numCache>
                <c:formatCode>General</c:formatCode>
                <c:ptCount val="2"/>
                <c:pt idx="1">
                  <c:v>16</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7-032F-40ED-BA82-2CB829558C45}"/>
            </c:ext>
          </c:extLst>
        </c:ser>
        <c:dLbls>
          <c:showLegendKey val="0"/>
          <c:showVal val="0"/>
          <c:showCatName val="0"/>
          <c:showSerName val="0"/>
          <c:showPercent val="0"/>
          <c:showBubbleSize val="0"/>
        </c:dLbls>
        <c:gapWidth val="60"/>
        <c:axId val="-2068027336"/>
        <c:axId val="-2113994440"/>
      </c:barChart>
      <c:catAx>
        <c:axId val="-2068027336"/>
        <c:scaling>
          <c:orientation val="minMax"/>
        </c:scaling>
        <c:delete val="0"/>
        <c:axPos val="b"/>
        <c:numFmt formatCode="General" sourceLinked="0"/>
        <c:majorTickMark val="out"/>
        <c:minorTickMark val="none"/>
        <c:tickLblPos val="none"/>
        <c:spPr>
          <a:ln>
            <a:solidFill>
              <a:srgbClr val="B8C2C1"/>
            </a:solidFill>
          </a:ln>
        </c:spPr>
        <c:txPr>
          <a:bodyPr/>
          <a:lstStyle/>
          <a:p>
            <a:pPr>
              <a:defRPr sz="100"/>
            </a:pPr>
            <a:endParaRPr lang="es-PE"/>
          </a:p>
        </c:txPr>
        <c:crossAx val="-2113994440"/>
        <c:crosses val="autoZero"/>
        <c:auto val="1"/>
        <c:lblAlgn val="ctr"/>
        <c:lblOffset val="100"/>
        <c:noMultiLvlLbl val="0"/>
      </c:catAx>
      <c:valAx>
        <c:axId val="-2113994440"/>
        <c:scaling>
          <c:orientation val="minMax"/>
          <c:max val="20.5"/>
          <c:min val="14"/>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lineChart>
        <c:grouping val="standard"/>
        <c:varyColors val="0"/>
        <c:ser>
          <c:idx val="0"/>
          <c:order val="0"/>
          <c:tx>
            <c:strRef>
              <c:f>Sheet1!$B$1</c:f>
              <c:strCache>
                <c:ptCount val="1"/>
                <c:pt idx="0">
                  <c:v>Hasta S/ 170K</c:v>
                </c:pt>
              </c:strCache>
            </c:strRef>
          </c:tx>
          <c:spPr>
            <a:ln w="25400">
              <a:solidFill>
                <a:srgbClr val="13807B"/>
              </a:solidFill>
            </a:ln>
          </c:spPr>
          <c:marker>
            <c:symbol val="circle"/>
            <c:size val="6"/>
            <c:spPr>
              <a:solidFill>
                <a:srgbClr val="13807B"/>
              </a:solidFill>
              <a:ln>
                <a:solidFill>
                  <a:srgbClr val="13807B"/>
                </a:solidFill>
              </a:ln>
            </c:spPr>
          </c:marker>
          <c:dLbls>
            <c:dLbl>
              <c:idx val="0"/>
              <c:tx>
                <c:rich>
                  <a:bodyPr/>
                  <a:lstStyle/>
                  <a:p>
                    <a:r>
                      <a:rPr lang="en-US" sz="850" b="1">
                        <a:solidFill>
                          <a:srgbClr val="13807B"/>
                        </a:solidFill>
                      </a:rPr>
                      <a:t>89</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4D2F-4919-9C93-E5A9E5F5D248}"/>
                </c:ext>
              </c:extLst>
            </c:dLbl>
            <c:dLbl>
              <c:idx val="1"/>
              <c:tx>
                <c:rich>
                  <a:bodyPr/>
                  <a:lstStyle/>
                  <a:p>
                    <a:r>
                      <a:rPr lang="en-US" sz="850" b="1">
                        <a:solidFill>
                          <a:srgbClr val="13807B"/>
                        </a:solidFill>
                      </a:rPr>
                      <a:t>91</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4D2F-4919-9C93-E5A9E5F5D248}"/>
                </c:ext>
              </c:extLst>
            </c:dLbl>
            <c:dLbl>
              <c:idx val="2"/>
              <c:tx>
                <c:rich>
                  <a:bodyPr/>
                  <a:lstStyle/>
                  <a:p>
                    <a:r>
                      <a:rPr lang="en-US" sz="850" b="1">
                        <a:solidFill>
                          <a:srgbClr val="13807B"/>
                        </a:solidFill>
                      </a:rPr>
                      <a:t>88</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4D2F-4919-9C93-E5A9E5F5D248}"/>
                </c:ext>
              </c:extLst>
            </c:dLbl>
            <c:dLbl>
              <c:idx val="3"/>
              <c:tx>
                <c:rich>
                  <a:bodyPr/>
                  <a:lstStyle/>
                  <a:p>
                    <a:r>
                      <a:rPr lang="en-US" sz="850" b="1">
                        <a:solidFill>
                          <a:srgbClr val="13807B"/>
                        </a:solidFill>
                      </a:rPr>
                      <a:t>92</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4D2F-4919-9C93-E5A9E5F5D248}"/>
                </c:ext>
              </c:extLst>
            </c:dLbl>
            <c:dLbl>
              <c:idx val="4"/>
              <c:tx>
                <c:rich>
                  <a:bodyPr/>
                  <a:lstStyle/>
                  <a:p>
                    <a:r>
                      <a:rPr lang="en-US" sz="850" b="1">
                        <a:solidFill>
                          <a:srgbClr val="13807B"/>
                        </a:solidFill>
                      </a:rPr>
                      <a:t>78</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4D2F-4919-9C93-E5A9E5F5D248}"/>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Sheet1!$A$2:$A$6</c:f>
              <c:strCache>
                <c:ptCount val="5"/>
                <c:pt idx="0">
                  <c:v>2T25</c:v>
                </c:pt>
                <c:pt idx="1">
                  <c:v>3T25</c:v>
                </c:pt>
                <c:pt idx="2">
                  <c:v>4T25</c:v>
                </c:pt>
                <c:pt idx="3">
                  <c:v>1T26</c:v>
                </c:pt>
                <c:pt idx="4">
                  <c:v>2T26*</c:v>
                </c:pt>
              </c:strCache>
            </c:strRef>
          </c:cat>
          <c:val>
            <c:numRef>
              <c:f>Sheet1!$B$2:$B$6</c:f>
              <c:numCache>
                <c:formatCode>General</c:formatCode>
                <c:ptCount val="5"/>
                <c:pt idx="0">
                  <c:v>88.754087971967849</c:v>
                </c:pt>
                <c:pt idx="1">
                  <c:v>91.442354399938097</c:v>
                </c:pt>
                <c:pt idx="2">
                  <c:v>87.504106485218131</c:v>
                </c:pt>
                <c:pt idx="3">
                  <c:v>91.751781103433714</c:v>
                </c:pt>
                <c:pt idx="4">
                  <c:v>78.115448557583591</c:v>
                </c:pt>
              </c:numCache>
            </c:numRef>
          </c:val>
          <c:smooth val="0"/>
          <c:extLst>
            <c:ext xmlns:c16="http://schemas.microsoft.com/office/drawing/2014/chart" uri="{C3380CC4-5D6E-409C-BE32-E72D297353CC}">
              <c16:uniqueId val="{00000005-4D2F-4919-9C93-E5A9E5F5D248}"/>
            </c:ext>
          </c:extLst>
        </c:ser>
        <c:ser>
          <c:idx val="1"/>
          <c:order val="1"/>
          <c:tx>
            <c:strRef>
              <c:f>Sheet1!$C$1</c:f>
              <c:strCache>
                <c:ptCount val="1"/>
                <c:pt idx="0">
                  <c:v>Más de S/ 350K</c:v>
                </c:pt>
              </c:strCache>
            </c:strRef>
          </c:tx>
          <c:spPr>
            <a:ln w="25400">
              <a:solidFill>
                <a:srgbClr val="E5173F"/>
              </a:solidFill>
            </a:ln>
          </c:spPr>
          <c:marker>
            <c:symbol val="circle"/>
            <c:size val="6"/>
            <c:spPr>
              <a:solidFill>
                <a:srgbClr val="E5173F"/>
              </a:solidFill>
              <a:ln>
                <a:solidFill>
                  <a:srgbClr val="E5173F"/>
                </a:solidFill>
              </a:ln>
            </c:spPr>
          </c:marker>
          <c:dLbls>
            <c:dLbl>
              <c:idx val="0"/>
              <c:tx>
                <c:rich>
                  <a:bodyPr/>
                  <a:lstStyle/>
                  <a:p>
                    <a:r>
                      <a:rPr lang="en-US" sz="850" b="1">
                        <a:solidFill>
                          <a:srgbClr val="E5173F"/>
                        </a:solidFill>
                      </a:rPr>
                      <a:t>79</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4D2F-4919-9C93-E5A9E5F5D248}"/>
                </c:ext>
              </c:extLst>
            </c:dLbl>
            <c:dLbl>
              <c:idx val="1"/>
              <c:tx>
                <c:rich>
                  <a:bodyPr/>
                  <a:lstStyle/>
                  <a:p>
                    <a:r>
                      <a:rPr lang="en-US" sz="850" b="1">
                        <a:solidFill>
                          <a:srgbClr val="E5173F"/>
                        </a:solidFill>
                      </a:rPr>
                      <a:t>67</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4D2F-4919-9C93-E5A9E5F5D248}"/>
                </c:ext>
              </c:extLst>
            </c:dLbl>
            <c:dLbl>
              <c:idx val="2"/>
              <c:tx>
                <c:rich>
                  <a:bodyPr/>
                  <a:lstStyle/>
                  <a:p>
                    <a:r>
                      <a:rPr lang="en-US" sz="850" b="1">
                        <a:solidFill>
                          <a:srgbClr val="E5173F"/>
                        </a:solidFill>
                      </a:rPr>
                      <a:t>60</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8-4D2F-4919-9C93-E5A9E5F5D248}"/>
                </c:ext>
              </c:extLst>
            </c:dLbl>
            <c:dLbl>
              <c:idx val="3"/>
              <c:tx>
                <c:rich>
                  <a:bodyPr/>
                  <a:lstStyle/>
                  <a:p>
                    <a:r>
                      <a:rPr lang="en-US" sz="850" b="1">
                        <a:solidFill>
                          <a:srgbClr val="E5173F"/>
                        </a:solidFill>
                      </a:rPr>
                      <a:t>57</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9-4D2F-4919-9C93-E5A9E5F5D248}"/>
                </c:ext>
              </c:extLst>
            </c:dLbl>
            <c:dLbl>
              <c:idx val="4"/>
              <c:tx>
                <c:rich>
                  <a:bodyPr/>
                  <a:lstStyle/>
                  <a:p>
                    <a:r>
                      <a:rPr lang="en-US" sz="850" b="1">
                        <a:solidFill>
                          <a:srgbClr val="E5173F"/>
                        </a:solidFill>
                      </a:rPr>
                      <a:t>41</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A-4D2F-4919-9C93-E5A9E5F5D248}"/>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Sheet1!$A$2:$A$6</c:f>
              <c:strCache>
                <c:ptCount val="5"/>
                <c:pt idx="0">
                  <c:v>2T25</c:v>
                </c:pt>
                <c:pt idx="1">
                  <c:v>3T25</c:v>
                </c:pt>
                <c:pt idx="2">
                  <c:v>4T25</c:v>
                </c:pt>
                <c:pt idx="3">
                  <c:v>1T26</c:v>
                </c:pt>
                <c:pt idx="4">
                  <c:v>2T26*</c:v>
                </c:pt>
              </c:strCache>
            </c:strRef>
          </c:cat>
          <c:val>
            <c:numRef>
              <c:f>Sheet1!$C$2:$C$6</c:f>
              <c:numCache>
                <c:formatCode>General</c:formatCode>
                <c:ptCount val="5"/>
                <c:pt idx="0">
                  <c:v>79.407202314881459</c:v>
                </c:pt>
                <c:pt idx="1">
                  <c:v>66.705752397988363</c:v>
                </c:pt>
                <c:pt idx="2">
                  <c:v>60.158380709042554</c:v>
                </c:pt>
                <c:pt idx="3">
                  <c:v>56.621712527390798</c:v>
                </c:pt>
                <c:pt idx="4">
                  <c:v>40.881476767302338</c:v>
                </c:pt>
              </c:numCache>
            </c:numRef>
          </c:val>
          <c:smooth val="0"/>
          <c:extLst>
            <c:ext xmlns:c16="http://schemas.microsoft.com/office/drawing/2014/chart" uri="{C3380CC4-5D6E-409C-BE32-E72D297353CC}">
              <c16:uniqueId val="{0000000B-4D2F-4919-9C93-E5A9E5F5D248}"/>
            </c:ext>
          </c:extLst>
        </c:ser>
        <c:ser>
          <c:idx val="2"/>
          <c:order val="2"/>
          <c:tx>
            <c:strRef>
              <c:f>Sheet1!$D$1</c:f>
              <c:strCache>
                <c:ptCount val="1"/>
                <c:pt idx="0">
                  <c:v>Total</c:v>
                </c:pt>
              </c:strCache>
            </c:strRef>
          </c:tx>
          <c:spPr>
            <a:ln w="25400">
              <a:solidFill>
                <a:srgbClr val="555555"/>
              </a:solidFill>
              <a:prstDash val="dash"/>
            </a:ln>
          </c:spPr>
          <c:marker>
            <c:symbol val="triangle"/>
            <c:size val="6"/>
            <c:spPr>
              <a:solidFill>
                <a:srgbClr val="555555"/>
              </a:solidFill>
              <a:ln>
                <a:solidFill>
                  <a:srgbClr val="555555"/>
                </a:solidFill>
              </a:ln>
            </c:spPr>
          </c:marker>
          <c:dLbls>
            <c:dLbl>
              <c:idx val="0"/>
              <c:tx>
                <c:rich>
                  <a:bodyPr/>
                  <a:lstStyle/>
                  <a:p>
                    <a:r>
                      <a:rPr lang="en-US" sz="850" b="1">
                        <a:solidFill>
                          <a:srgbClr val="555555"/>
                        </a:solidFill>
                      </a:rPr>
                      <a:t>81</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C-4D2F-4919-9C93-E5A9E5F5D248}"/>
                </c:ext>
              </c:extLst>
            </c:dLbl>
            <c:dLbl>
              <c:idx val="1"/>
              <c:tx>
                <c:rich>
                  <a:bodyPr/>
                  <a:lstStyle/>
                  <a:p>
                    <a:r>
                      <a:rPr lang="en-US" sz="850" b="1">
                        <a:solidFill>
                          <a:srgbClr val="555555"/>
                        </a:solidFill>
                      </a:rPr>
                      <a:t>76</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D-4D2F-4919-9C93-E5A9E5F5D248}"/>
                </c:ext>
              </c:extLst>
            </c:dLbl>
            <c:dLbl>
              <c:idx val="2"/>
              <c:tx>
                <c:rich>
                  <a:bodyPr/>
                  <a:lstStyle/>
                  <a:p>
                    <a:r>
                      <a:rPr lang="en-US" sz="850" b="1">
                        <a:solidFill>
                          <a:srgbClr val="555555"/>
                        </a:solidFill>
                      </a:rPr>
                      <a:t>67</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E-4D2F-4919-9C93-E5A9E5F5D248}"/>
                </c:ext>
              </c:extLst>
            </c:dLbl>
            <c:dLbl>
              <c:idx val="3"/>
              <c:tx>
                <c:rich>
                  <a:bodyPr/>
                  <a:lstStyle/>
                  <a:p>
                    <a:r>
                      <a:rPr lang="en-US" sz="850" b="1">
                        <a:solidFill>
                          <a:srgbClr val="555555"/>
                        </a:solidFill>
                      </a:rPr>
                      <a:t>68</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F-4D2F-4919-9C93-E5A9E5F5D248}"/>
                </c:ext>
              </c:extLst>
            </c:dLbl>
            <c:dLbl>
              <c:idx val="4"/>
              <c:tx>
                <c:rich>
                  <a:bodyPr/>
                  <a:lstStyle/>
                  <a:p>
                    <a:r>
                      <a:rPr lang="en-US" sz="850" b="1">
                        <a:solidFill>
                          <a:srgbClr val="555555"/>
                        </a:solidFill>
                      </a:rPr>
                      <a:t>51</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0-4D2F-4919-9C93-E5A9E5F5D248}"/>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Sheet1!$A$2:$A$6</c:f>
              <c:strCache>
                <c:ptCount val="5"/>
                <c:pt idx="0">
                  <c:v>2T25</c:v>
                </c:pt>
                <c:pt idx="1">
                  <c:v>3T25</c:v>
                </c:pt>
                <c:pt idx="2">
                  <c:v>4T25</c:v>
                </c:pt>
                <c:pt idx="3">
                  <c:v>1T26</c:v>
                </c:pt>
                <c:pt idx="4">
                  <c:v>2T26*</c:v>
                </c:pt>
              </c:strCache>
            </c:strRef>
          </c:cat>
          <c:val>
            <c:numRef>
              <c:f>Sheet1!$D$2:$D$6</c:f>
              <c:numCache>
                <c:formatCode>General</c:formatCode>
                <c:ptCount val="5"/>
                <c:pt idx="0">
                  <c:v>81.254816857897765</c:v>
                </c:pt>
                <c:pt idx="1">
                  <c:v>76.188777489262279</c:v>
                </c:pt>
                <c:pt idx="2">
                  <c:v>66.90047635901422</c:v>
                </c:pt>
                <c:pt idx="3">
                  <c:v>67.756542633559675</c:v>
                </c:pt>
                <c:pt idx="4">
                  <c:v>50.916878474256279</c:v>
                </c:pt>
              </c:numCache>
            </c:numRef>
          </c:val>
          <c:smooth val="0"/>
          <c:extLst>
            <c:ext xmlns:c16="http://schemas.microsoft.com/office/drawing/2014/chart" uri="{C3380CC4-5D6E-409C-BE32-E72D297353CC}">
              <c16:uniqueId val="{00000011-4D2F-4919-9C93-E5A9E5F5D248}"/>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low"/>
        <c:spPr>
          <a:ln>
            <a:solidFill>
              <a:srgbClr val="B8C2C1"/>
            </a:solidFill>
          </a:ln>
        </c:spPr>
        <c:txPr>
          <a:bodyPr/>
          <a:lstStyle/>
          <a:p>
            <a:pPr>
              <a:defRPr sz="800">
                <a:solidFill>
                  <a:srgbClr val="2F3B3A"/>
                </a:solidFill>
              </a:defRPr>
            </a:pPr>
            <a:endParaRPr lang="es-PE"/>
          </a:p>
        </c:txPr>
        <c:crossAx val="2140495176"/>
        <c:crosses val="autoZero"/>
        <c:auto val="1"/>
        <c:lblAlgn val="ctr"/>
        <c:lblOffset val="100"/>
        <c:noMultiLvlLbl val="0"/>
      </c:catAx>
      <c:valAx>
        <c:axId val="2140495176"/>
        <c:scaling>
          <c:orientation val="minMax"/>
          <c:max val="100"/>
          <c:min val="33"/>
        </c:scaling>
        <c:delete val="1"/>
        <c:axPos val="l"/>
        <c:numFmt formatCode="0" sourceLinked="0"/>
        <c:majorTickMark val="out"/>
        <c:minorTickMark val="none"/>
        <c:tickLblPos val="nextTo"/>
        <c:crossAx val="2118791784"/>
        <c:crosses val="autoZero"/>
        <c:crossBetween val="between"/>
      </c:valAx>
    </c:plotArea>
    <c:legend>
      <c:legendPos val="t"/>
      <c:overlay val="0"/>
      <c:txPr>
        <a:bodyPr/>
        <a:lstStyle/>
        <a:p>
          <a:pPr>
            <a:defRPr sz="800"/>
          </a:pPr>
          <a:endParaRPr lang="es-PE"/>
        </a:p>
      </c:txPr>
    </c:legend>
    <c:plotVisOnly val="1"/>
    <c:dispBlanksAs val="gap"/>
    <c:showDLblsOverMax val="0"/>
  </c:chart>
  <c:txPr>
    <a:bodyPr/>
    <a:lstStyle/>
    <a:p>
      <a:pPr>
        <a:defRPr sz="1800"/>
      </a:pPr>
      <a:endParaRPr lang="en-US"/>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lineChart>
        <c:grouping val="standard"/>
        <c:varyColors val="0"/>
        <c:ser>
          <c:idx val="0"/>
          <c:order val="0"/>
          <c:tx>
            <c:strRef>
              <c:f>Sheet1!$B$1</c:f>
              <c:strCache>
                <c:ptCount val="1"/>
                <c:pt idx="0">
                  <c:v>Ofertada a desembolsos</c:v>
                </c:pt>
              </c:strCache>
            </c:strRef>
          </c:tx>
          <c:spPr>
            <a:ln w="25400">
              <a:solidFill>
                <a:srgbClr val="8E9B9A"/>
              </a:solidFill>
              <a:prstDash val="dash"/>
            </a:ln>
          </c:spPr>
          <c:marker>
            <c:symbol val="circle"/>
            <c:size val="6"/>
            <c:spPr>
              <a:solidFill>
                <a:srgbClr val="8E9B9A"/>
              </a:solidFill>
              <a:ln>
                <a:solidFill>
                  <a:srgbClr val="8E9B9A"/>
                </a:solidFill>
              </a:ln>
            </c:spPr>
          </c:marker>
          <c:dLbls>
            <c:dLbl>
              <c:idx val="0"/>
              <c:tx>
                <c:rich>
                  <a:bodyPr/>
                  <a:lstStyle/>
                  <a:p>
                    <a:r>
                      <a:rPr lang="en-US" sz="900" b="1">
                        <a:solidFill>
                          <a:srgbClr val="8E9B9A"/>
                        </a:solidFill>
                      </a:rPr>
                      <a:t>21,2</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DDE5-4FC8-9744-F6399B077DE4}"/>
                </c:ext>
              </c:extLst>
            </c:dLbl>
            <c:dLbl>
              <c:idx val="1"/>
              <c:tx>
                <c:rich>
                  <a:bodyPr/>
                  <a:lstStyle/>
                  <a:p>
                    <a:r>
                      <a:rPr lang="en-US" sz="900" b="1">
                        <a:solidFill>
                          <a:srgbClr val="8E9B9A"/>
                        </a:solidFill>
                      </a:rPr>
                      <a:t>21,3</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DDE5-4FC8-9744-F6399B077DE4}"/>
                </c:ext>
              </c:extLst>
            </c:dLbl>
            <c:dLbl>
              <c:idx val="2"/>
              <c:tx>
                <c:rich>
                  <a:bodyPr/>
                  <a:lstStyle/>
                  <a:p>
                    <a:r>
                      <a:rPr lang="en-US" sz="900" b="1">
                        <a:solidFill>
                          <a:srgbClr val="8E9B9A"/>
                        </a:solidFill>
                      </a:rPr>
                      <a:t>20,3</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DDE5-4FC8-9744-F6399B077DE4}"/>
                </c:ext>
              </c:extLst>
            </c:dLbl>
            <c:dLbl>
              <c:idx val="3"/>
              <c:tx>
                <c:rich>
                  <a:bodyPr/>
                  <a:lstStyle/>
                  <a:p>
                    <a:r>
                      <a:rPr lang="en-US" sz="900" b="1">
                        <a:solidFill>
                          <a:srgbClr val="8E9B9A"/>
                        </a:solidFill>
                      </a:rPr>
                      <a:t>21,3</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DDE5-4FC8-9744-F6399B077DE4}"/>
                </c:ext>
              </c:extLst>
            </c:dLbl>
            <c:dLbl>
              <c:idx val="4"/>
              <c:tx>
                <c:rich>
                  <a:bodyPr/>
                  <a:lstStyle/>
                  <a:p>
                    <a:r>
                      <a:rPr lang="en-US" sz="900" b="1">
                        <a:solidFill>
                          <a:srgbClr val="8E9B9A"/>
                        </a:solidFill>
                      </a:rPr>
                      <a:t>21,9</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DDE5-4FC8-9744-F6399B077DE4}"/>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Sheet1!$A$2:$A$6</c:f>
              <c:strCache>
                <c:ptCount val="5"/>
                <c:pt idx="0">
                  <c:v>2T25</c:v>
                </c:pt>
                <c:pt idx="1">
                  <c:v>3T25</c:v>
                </c:pt>
                <c:pt idx="2">
                  <c:v>4T25</c:v>
                </c:pt>
                <c:pt idx="3">
                  <c:v>1T26</c:v>
                </c:pt>
                <c:pt idx="4">
                  <c:v>2T26*</c:v>
                </c:pt>
              </c:strCache>
            </c:strRef>
          </c:cat>
          <c:val>
            <c:numRef>
              <c:f>Sheet1!$B$2:$B$6</c:f>
              <c:numCache>
                <c:formatCode>General</c:formatCode>
                <c:ptCount val="5"/>
                <c:pt idx="0">
                  <c:v>21.2</c:v>
                </c:pt>
                <c:pt idx="1">
                  <c:v>21.3</c:v>
                </c:pt>
                <c:pt idx="2">
                  <c:v>20.3</c:v>
                </c:pt>
                <c:pt idx="3">
                  <c:v>21.3</c:v>
                </c:pt>
                <c:pt idx="4">
                  <c:v>21.9</c:v>
                </c:pt>
              </c:numCache>
            </c:numRef>
          </c:val>
          <c:smooth val="0"/>
          <c:extLst>
            <c:ext xmlns:c16="http://schemas.microsoft.com/office/drawing/2014/chart" uri="{C3380CC4-5D6E-409C-BE32-E72D297353CC}">
              <c16:uniqueId val="{00000005-DDE5-4FC8-9744-F6399B077DE4}"/>
            </c:ext>
          </c:extLst>
        </c:ser>
        <c:ser>
          <c:idx val="1"/>
          <c:order val="1"/>
          <c:tx>
            <c:strRef>
              <c:f>Sheet1!$C$1</c:f>
              <c:strCache>
                <c:ptCount val="1"/>
                <c:pt idx="0">
                  <c:v>Desembolsada</c:v>
                </c:pt>
              </c:strCache>
            </c:strRef>
          </c:tx>
          <c:spPr>
            <a:ln w="25400">
              <a:solidFill>
                <a:srgbClr val="2F6FDE"/>
              </a:solidFill>
            </a:ln>
          </c:spPr>
          <c:marker>
            <c:symbol val="circle"/>
            <c:size val="6"/>
            <c:spPr>
              <a:solidFill>
                <a:srgbClr val="2F6FDE"/>
              </a:solidFill>
              <a:ln>
                <a:solidFill>
                  <a:srgbClr val="2F6FDE"/>
                </a:solidFill>
              </a:ln>
            </c:spPr>
          </c:marker>
          <c:dLbls>
            <c:dLbl>
              <c:idx val="0"/>
              <c:tx>
                <c:rich>
                  <a:bodyPr/>
                  <a:lstStyle/>
                  <a:p>
                    <a:r>
                      <a:rPr lang="en-US" sz="900" b="1">
                        <a:solidFill>
                          <a:srgbClr val="2F6FDE"/>
                        </a:solidFill>
                      </a:rPr>
                      <a:t>18,1</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DDE5-4FC8-9744-F6399B077DE4}"/>
                </c:ext>
              </c:extLst>
            </c:dLbl>
            <c:dLbl>
              <c:idx val="1"/>
              <c:tx>
                <c:rich>
                  <a:bodyPr/>
                  <a:lstStyle/>
                  <a:p>
                    <a:r>
                      <a:rPr lang="en-US" sz="900" b="1">
                        <a:solidFill>
                          <a:srgbClr val="2F6FDE"/>
                        </a:solidFill>
                      </a:rPr>
                      <a:t>17,9</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DDE5-4FC8-9744-F6399B077DE4}"/>
                </c:ext>
              </c:extLst>
            </c:dLbl>
            <c:dLbl>
              <c:idx val="2"/>
              <c:tx>
                <c:rich>
                  <a:bodyPr/>
                  <a:lstStyle/>
                  <a:p>
                    <a:r>
                      <a:rPr lang="en-US" sz="900" b="1">
                        <a:solidFill>
                          <a:srgbClr val="2F6FDE"/>
                        </a:solidFill>
                      </a:rPr>
                      <a:t>17,7</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8-DDE5-4FC8-9744-F6399B077DE4}"/>
                </c:ext>
              </c:extLst>
            </c:dLbl>
            <c:dLbl>
              <c:idx val="3"/>
              <c:tx>
                <c:rich>
                  <a:bodyPr/>
                  <a:lstStyle/>
                  <a:p>
                    <a:r>
                      <a:rPr lang="en-US" sz="900" b="1">
                        <a:solidFill>
                          <a:srgbClr val="2F6FDE"/>
                        </a:solidFill>
                      </a:rPr>
                      <a:t>17,8</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9-DDE5-4FC8-9744-F6399B077DE4}"/>
                </c:ext>
              </c:extLst>
            </c:dLbl>
            <c:dLbl>
              <c:idx val="4"/>
              <c:tx>
                <c:rich>
                  <a:bodyPr/>
                  <a:lstStyle/>
                  <a:p>
                    <a:r>
                      <a:rPr lang="en-US" sz="900" b="1">
                        <a:solidFill>
                          <a:srgbClr val="2F6FDE"/>
                        </a:solidFill>
                      </a:rPr>
                      <a:t>19,5</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A-DDE5-4FC8-9744-F6399B077DE4}"/>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Sheet1!$A$2:$A$6</c:f>
              <c:strCache>
                <c:ptCount val="5"/>
                <c:pt idx="0">
                  <c:v>2T25</c:v>
                </c:pt>
                <c:pt idx="1">
                  <c:v>3T25</c:v>
                </c:pt>
                <c:pt idx="2">
                  <c:v>4T25</c:v>
                </c:pt>
                <c:pt idx="3">
                  <c:v>1T26</c:v>
                </c:pt>
                <c:pt idx="4">
                  <c:v>2T26*</c:v>
                </c:pt>
              </c:strCache>
            </c:strRef>
          </c:cat>
          <c:val>
            <c:numRef>
              <c:f>Sheet1!$C$2:$C$6</c:f>
              <c:numCache>
                <c:formatCode>General</c:formatCode>
                <c:ptCount val="5"/>
                <c:pt idx="0">
                  <c:v>18.137230385139762</c:v>
                </c:pt>
                <c:pt idx="1">
                  <c:v>17.910224951201332</c:v>
                </c:pt>
                <c:pt idx="2">
                  <c:v>17.721704215904197</c:v>
                </c:pt>
                <c:pt idx="3">
                  <c:v>17.847964268360585</c:v>
                </c:pt>
                <c:pt idx="4">
                  <c:v>19.454362110641771</c:v>
                </c:pt>
              </c:numCache>
            </c:numRef>
          </c:val>
          <c:smooth val="0"/>
          <c:extLst>
            <c:ext xmlns:c16="http://schemas.microsoft.com/office/drawing/2014/chart" uri="{C3380CC4-5D6E-409C-BE32-E72D297353CC}">
              <c16:uniqueId val="{0000000B-DDE5-4FC8-9744-F6399B077DE4}"/>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low"/>
        <c:spPr>
          <a:ln>
            <a:solidFill>
              <a:srgbClr val="B8C2C1"/>
            </a:solidFill>
          </a:ln>
        </c:spPr>
        <c:txPr>
          <a:bodyPr/>
          <a:lstStyle/>
          <a:p>
            <a:pPr>
              <a:defRPr sz="750">
                <a:solidFill>
                  <a:srgbClr val="2F3B3A"/>
                </a:solidFill>
              </a:defRPr>
            </a:pPr>
            <a:endParaRPr lang="es-PE"/>
          </a:p>
        </c:txPr>
        <c:crossAx val="2140495176"/>
        <c:crosses val="autoZero"/>
        <c:auto val="1"/>
        <c:lblAlgn val="ctr"/>
        <c:lblOffset val="100"/>
        <c:noMultiLvlLbl val="0"/>
      </c:catAx>
      <c:valAx>
        <c:axId val="2140495176"/>
        <c:scaling>
          <c:orientation val="minMax"/>
          <c:max val="24"/>
          <c:min val="14"/>
        </c:scaling>
        <c:delete val="1"/>
        <c:axPos val="l"/>
        <c:numFmt formatCode="0.0" sourceLinked="0"/>
        <c:majorTickMark val="out"/>
        <c:minorTickMark val="none"/>
        <c:tickLblPos val="nextTo"/>
        <c:crossAx val="2118791784"/>
        <c:crosses val="autoZero"/>
        <c:crossBetween val="between"/>
      </c:valAx>
    </c:plotArea>
    <c:legend>
      <c:legendPos val="t"/>
      <c:overlay val="0"/>
      <c:txPr>
        <a:bodyPr/>
        <a:lstStyle/>
        <a:p>
          <a:pPr>
            <a:defRPr sz="750"/>
          </a:pPr>
          <a:endParaRPr lang="es-PE"/>
        </a:p>
      </c:txPr>
    </c:legend>
    <c:plotVisOnly val="1"/>
    <c:dispBlanksAs val="gap"/>
    <c:showDLblsOverMax val="0"/>
  </c:chart>
  <c:txPr>
    <a:bodyPr/>
    <a:lstStyle/>
    <a:p>
      <a:pPr>
        <a:defRPr sz="1800"/>
      </a:pPr>
      <a:endParaRPr lang="en-US"/>
    </a:p>
  </c:tx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lineChart>
        <c:grouping val="standard"/>
        <c:varyColors val="0"/>
        <c:ser>
          <c:idx val="0"/>
          <c:order val="0"/>
          <c:tx>
            <c:strRef>
              <c:f>Sheet1!$B$1</c:f>
              <c:strCache>
                <c:ptCount val="1"/>
                <c:pt idx="0">
                  <c:v>Ofertada a desembolsos</c:v>
                </c:pt>
              </c:strCache>
            </c:strRef>
          </c:tx>
          <c:spPr>
            <a:ln w="25400">
              <a:solidFill>
                <a:srgbClr val="8E9B9A"/>
              </a:solidFill>
              <a:prstDash val="dash"/>
            </a:ln>
          </c:spPr>
          <c:marker>
            <c:symbol val="circle"/>
            <c:size val="6"/>
            <c:spPr>
              <a:solidFill>
                <a:srgbClr val="8E9B9A"/>
              </a:solidFill>
              <a:ln>
                <a:solidFill>
                  <a:srgbClr val="8E9B9A"/>
                </a:solidFill>
              </a:ln>
            </c:spPr>
          </c:marker>
          <c:dLbls>
            <c:dLbl>
              <c:idx val="0"/>
              <c:tx>
                <c:rich>
                  <a:bodyPr/>
                  <a:lstStyle/>
                  <a:p>
                    <a:r>
                      <a:rPr lang="en-US" sz="900" b="1">
                        <a:solidFill>
                          <a:srgbClr val="8E9B9A"/>
                        </a:solidFill>
                      </a:rPr>
                      <a:t>20,9</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3062-4A01-BF5F-702571C6FB2B}"/>
                </c:ext>
              </c:extLst>
            </c:dLbl>
            <c:dLbl>
              <c:idx val="1"/>
              <c:tx>
                <c:rich>
                  <a:bodyPr/>
                  <a:lstStyle/>
                  <a:p>
                    <a:r>
                      <a:rPr lang="en-US" sz="900" b="1">
                        <a:solidFill>
                          <a:srgbClr val="8E9B9A"/>
                        </a:solidFill>
                      </a:rPr>
                      <a:t>19,7</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3062-4A01-BF5F-702571C6FB2B}"/>
                </c:ext>
              </c:extLst>
            </c:dLbl>
            <c:dLbl>
              <c:idx val="2"/>
              <c:tx>
                <c:rich>
                  <a:bodyPr/>
                  <a:lstStyle/>
                  <a:p>
                    <a:r>
                      <a:rPr lang="en-US" sz="900" b="1">
                        <a:solidFill>
                          <a:srgbClr val="8E9B9A"/>
                        </a:solidFill>
                      </a:rPr>
                      <a:t>18,9</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3062-4A01-BF5F-702571C6FB2B}"/>
                </c:ext>
              </c:extLst>
            </c:dLbl>
            <c:dLbl>
              <c:idx val="3"/>
              <c:tx>
                <c:rich>
                  <a:bodyPr/>
                  <a:lstStyle/>
                  <a:p>
                    <a:r>
                      <a:rPr lang="en-US" sz="900" b="1">
                        <a:solidFill>
                          <a:srgbClr val="8E9B9A"/>
                        </a:solidFill>
                      </a:rPr>
                      <a:t>18,7</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3062-4A01-BF5F-702571C6FB2B}"/>
                </c:ext>
              </c:extLst>
            </c:dLbl>
            <c:dLbl>
              <c:idx val="4"/>
              <c:tx>
                <c:rich>
                  <a:bodyPr/>
                  <a:lstStyle/>
                  <a:p>
                    <a:r>
                      <a:rPr lang="en-US" sz="900" b="1">
                        <a:solidFill>
                          <a:srgbClr val="8E9B9A"/>
                        </a:solidFill>
                      </a:rPr>
                      <a:t>18,9</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3062-4A01-BF5F-702571C6FB2B}"/>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Sheet1!$A$2:$A$6</c:f>
              <c:strCache>
                <c:ptCount val="5"/>
                <c:pt idx="0">
                  <c:v>2T25</c:v>
                </c:pt>
                <c:pt idx="1">
                  <c:v>3T25</c:v>
                </c:pt>
                <c:pt idx="2">
                  <c:v>4T25</c:v>
                </c:pt>
                <c:pt idx="3">
                  <c:v>1T26</c:v>
                </c:pt>
                <c:pt idx="4">
                  <c:v>2T26*</c:v>
                </c:pt>
              </c:strCache>
            </c:strRef>
          </c:cat>
          <c:val>
            <c:numRef>
              <c:f>Sheet1!$B$2:$B$6</c:f>
              <c:numCache>
                <c:formatCode>General</c:formatCode>
                <c:ptCount val="5"/>
                <c:pt idx="0">
                  <c:v>20.9</c:v>
                </c:pt>
                <c:pt idx="1">
                  <c:v>19.7</c:v>
                </c:pt>
                <c:pt idx="2">
                  <c:v>18.899999999999999</c:v>
                </c:pt>
                <c:pt idx="3">
                  <c:v>18.7</c:v>
                </c:pt>
                <c:pt idx="4">
                  <c:v>18.899999999999999</c:v>
                </c:pt>
              </c:numCache>
            </c:numRef>
          </c:val>
          <c:smooth val="0"/>
          <c:extLst>
            <c:ext xmlns:c16="http://schemas.microsoft.com/office/drawing/2014/chart" uri="{C3380CC4-5D6E-409C-BE32-E72D297353CC}">
              <c16:uniqueId val="{00000005-3062-4A01-BF5F-702571C6FB2B}"/>
            </c:ext>
          </c:extLst>
        </c:ser>
        <c:ser>
          <c:idx val="1"/>
          <c:order val="1"/>
          <c:tx>
            <c:strRef>
              <c:f>Sheet1!$C$1</c:f>
              <c:strCache>
                <c:ptCount val="1"/>
                <c:pt idx="0">
                  <c:v>Desembolsada</c:v>
                </c:pt>
              </c:strCache>
            </c:strRef>
          </c:tx>
          <c:spPr>
            <a:ln w="25400">
              <a:solidFill>
                <a:srgbClr val="2F6FDE"/>
              </a:solidFill>
            </a:ln>
          </c:spPr>
          <c:marker>
            <c:symbol val="circle"/>
            <c:size val="6"/>
            <c:spPr>
              <a:solidFill>
                <a:srgbClr val="2F6FDE"/>
              </a:solidFill>
              <a:ln>
                <a:solidFill>
                  <a:srgbClr val="2F6FDE"/>
                </a:solidFill>
              </a:ln>
            </c:spPr>
          </c:marker>
          <c:dLbls>
            <c:dLbl>
              <c:idx val="0"/>
              <c:tx>
                <c:rich>
                  <a:bodyPr/>
                  <a:lstStyle/>
                  <a:p>
                    <a:r>
                      <a:rPr lang="en-US" sz="900" b="1">
                        <a:solidFill>
                          <a:srgbClr val="2F6FDE"/>
                        </a:solidFill>
                      </a:rPr>
                      <a:t>17,0</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3062-4A01-BF5F-702571C6FB2B}"/>
                </c:ext>
              </c:extLst>
            </c:dLbl>
            <c:dLbl>
              <c:idx val="1"/>
              <c:tx>
                <c:rich>
                  <a:bodyPr/>
                  <a:lstStyle/>
                  <a:p>
                    <a:r>
                      <a:rPr lang="en-US" sz="900" b="1">
                        <a:solidFill>
                          <a:srgbClr val="2F6FDE"/>
                        </a:solidFill>
                      </a:rPr>
                      <a:t>16,8</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3062-4A01-BF5F-702571C6FB2B}"/>
                </c:ext>
              </c:extLst>
            </c:dLbl>
            <c:dLbl>
              <c:idx val="2"/>
              <c:tx>
                <c:rich>
                  <a:bodyPr/>
                  <a:lstStyle/>
                  <a:p>
                    <a:r>
                      <a:rPr lang="en-US" sz="900" b="1">
                        <a:solidFill>
                          <a:srgbClr val="2F6FDE"/>
                        </a:solidFill>
                      </a:rPr>
                      <a:t>16,9</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8-3062-4A01-BF5F-702571C6FB2B}"/>
                </c:ext>
              </c:extLst>
            </c:dLbl>
            <c:dLbl>
              <c:idx val="3"/>
              <c:tx>
                <c:rich>
                  <a:bodyPr/>
                  <a:lstStyle/>
                  <a:p>
                    <a:r>
                      <a:rPr lang="en-US" sz="900" b="1">
                        <a:solidFill>
                          <a:srgbClr val="2F6FDE"/>
                        </a:solidFill>
                      </a:rPr>
                      <a:t>16,2</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9-3062-4A01-BF5F-702571C6FB2B}"/>
                </c:ext>
              </c:extLst>
            </c:dLbl>
            <c:dLbl>
              <c:idx val="4"/>
              <c:tx>
                <c:rich>
                  <a:bodyPr/>
                  <a:lstStyle/>
                  <a:p>
                    <a:r>
                      <a:rPr lang="en-US" sz="900" b="1">
                        <a:solidFill>
                          <a:srgbClr val="2F6FDE"/>
                        </a:solidFill>
                      </a:rPr>
                      <a:t>16,7</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A-3062-4A01-BF5F-702571C6FB2B}"/>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Sheet1!$A$2:$A$6</c:f>
              <c:strCache>
                <c:ptCount val="5"/>
                <c:pt idx="0">
                  <c:v>2T25</c:v>
                </c:pt>
                <c:pt idx="1">
                  <c:v>3T25</c:v>
                </c:pt>
                <c:pt idx="2">
                  <c:v>4T25</c:v>
                </c:pt>
                <c:pt idx="3">
                  <c:v>1T26</c:v>
                </c:pt>
                <c:pt idx="4">
                  <c:v>2T26*</c:v>
                </c:pt>
              </c:strCache>
            </c:strRef>
          </c:cat>
          <c:val>
            <c:numRef>
              <c:f>Sheet1!$C$2:$C$6</c:f>
              <c:numCache>
                <c:formatCode>General</c:formatCode>
                <c:ptCount val="5"/>
                <c:pt idx="0">
                  <c:v>17.012287266457104</c:v>
                </c:pt>
                <c:pt idx="1">
                  <c:v>16.83211769536836</c:v>
                </c:pt>
                <c:pt idx="2">
                  <c:v>16.906506281814305</c:v>
                </c:pt>
                <c:pt idx="3">
                  <c:v>16.205658347798789</c:v>
                </c:pt>
                <c:pt idx="4">
                  <c:v>16.714578074046052</c:v>
                </c:pt>
              </c:numCache>
            </c:numRef>
          </c:val>
          <c:smooth val="0"/>
          <c:extLst>
            <c:ext xmlns:c16="http://schemas.microsoft.com/office/drawing/2014/chart" uri="{C3380CC4-5D6E-409C-BE32-E72D297353CC}">
              <c16:uniqueId val="{0000000B-3062-4A01-BF5F-702571C6FB2B}"/>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low"/>
        <c:spPr>
          <a:ln>
            <a:solidFill>
              <a:srgbClr val="B8C2C1"/>
            </a:solidFill>
          </a:ln>
        </c:spPr>
        <c:txPr>
          <a:bodyPr/>
          <a:lstStyle/>
          <a:p>
            <a:pPr>
              <a:defRPr sz="750">
                <a:solidFill>
                  <a:srgbClr val="2F3B3A"/>
                </a:solidFill>
              </a:defRPr>
            </a:pPr>
            <a:endParaRPr lang="es-PE"/>
          </a:p>
        </c:txPr>
        <c:crossAx val="2140495176"/>
        <c:crosses val="autoZero"/>
        <c:auto val="1"/>
        <c:lblAlgn val="ctr"/>
        <c:lblOffset val="100"/>
        <c:noMultiLvlLbl val="0"/>
      </c:catAx>
      <c:valAx>
        <c:axId val="2140495176"/>
        <c:scaling>
          <c:orientation val="minMax"/>
          <c:max val="23"/>
          <c:min val="13"/>
        </c:scaling>
        <c:delete val="1"/>
        <c:axPos val="l"/>
        <c:numFmt formatCode="0.0" sourceLinked="0"/>
        <c:majorTickMark val="out"/>
        <c:minorTickMark val="none"/>
        <c:tickLblPos val="nextTo"/>
        <c:crossAx val="2118791784"/>
        <c:crosses val="autoZero"/>
        <c:crossBetween val="between"/>
      </c:valAx>
    </c:plotArea>
    <c:legend>
      <c:legendPos val="t"/>
      <c:overlay val="0"/>
      <c:txPr>
        <a:bodyPr/>
        <a:lstStyle/>
        <a:p>
          <a:pPr>
            <a:defRPr sz="750"/>
          </a:pPr>
          <a:endParaRPr lang="es-PE"/>
        </a:p>
      </c:txPr>
    </c:legend>
    <c:plotVisOnly val="1"/>
    <c:dispBlanksAs val="gap"/>
    <c:showDLblsOverMax val="0"/>
  </c:chart>
  <c:txPr>
    <a:bodyPr/>
    <a:lstStyle/>
    <a:p>
      <a:pPr>
        <a:defRPr sz="1800"/>
      </a:pPr>
      <a:endParaRPr lang="en-US"/>
    </a:p>
  </c:tx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0"/>
    <c:plotArea>
      <c:layout>
        <c:manualLayout>
          <c:layoutTarget val="inner"/>
          <c:xMode val="edge"/>
          <c:yMode val="edge"/>
          <c:x val="0.02"/>
          <c:y val="0.17"/>
          <c:w val="0.96"/>
          <c:h val="0.7"/>
        </c:manualLayout>
      </c:layout>
      <c:barChart>
        <c:barDir val="col"/>
        <c:grouping val="clustered"/>
        <c:varyColors val="1"/>
        <c:ser>
          <c:idx val="0"/>
          <c:order val="0"/>
          <c:tx>
            <c:strRef>
              <c:f>Sheet1!$B$1</c:f>
              <c:strCache>
                <c:ptCount val="1"/>
                <c:pt idx="0">
                  <c:v>Ofertada a desembolsos</c:v>
                </c:pt>
              </c:strCache>
            </c:strRef>
          </c:tx>
          <c:spPr>
            <a:solidFill>
              <a:srgbClr val="8E9B9A"/>
            </a:solidFill>
          </c:spPr>
          <c:invertIfNegative val="1"/>
          <c:dLbls>
            <c:dLbl>
              <c:idx val="0"/>
              <c:tx>
                <c:rich>
                  <a:bodyPr/>
                  <a:lstStyle/>
                  <a:p>
                    <a:r>
                      <a:rPr lang="en-US" sz="850" b="1">
                        <a:solidFill>
                          <a:srgbClr val="6E7E7D"/>
                        </a:solidFill>
                      </a:rPr>
                      <a:t>19,0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802F-4D46-BBD5-F30552E56955}"/>
                </c:ext>
              </c:extLst>
            </c:dLbl>
            <c:dLbl>
              <c:idx val="1"/>
              <c:tx>
                <c:rich>
                  <a:bodyPr/>
                  <a:lstStyle/>
                  <a:p>
                    <a:r>
                      <a:rPr lang="en-US" sz="850" b="1">
                        <a:solidFill>
                          <a:srgbClr val="6E7E7D"/>
                        </a:solidFill>
                      </a:rPr>
                      <a:t>19,0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802F-4D46-BBD5-F30552E56955}"/>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Sheet1!$A$2:$A$3</c:f>
              <c:strCache>
                <c:ptCount val="2"/>
                <c:pt idx="0">
                  <c:v>≤ 170K</c:v>
                </c:pt>
                <c:pt idx="1">
                  <c:v>&gt; 350K</c:v>
                </c:pt>
              </c:strCache>
            </c:strRef>
          </c:cat>
          <c:val>
            <c:numRef>
              <c:f>Sheet1!$B$2:$B$3</c:f>
              <c:numCache>
                <c:formatCode>General</c:formatCode>
                <c:ptCount val="2"/>
                <c:pt idx="0">
                  <c:v>19</c:v>
                </c:pt>
                <c:pt idx="1">
                  <c:v>19</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802F-4D46-BBD5-F30552E56955}"/>
            </c:ext>
          </c:extLst>
        </c:ser>
        <c:ser>
          <c:idx val="1"/>
          <c:order val="1"/>
          <c:tx>
            <c:strRef>
              <c:f>Sheet1!$C$1</c:f>
              <c:strCache>
                <c:ptCount val="1"/>
                <c:pt idx="0">
                  <c:v>Desembolsada</c:v>
                </c:pt>
              </c:strCache>
            </c:strRef>
          </c:tx>
          <c:spPr>
            <a:solidFill>
              <a:srgbClr val="2F6FDE"/>
            </a:solidFill>
          </c:spPr>
          <c:invertIfNegative val="1"/>
          <c:dLbls>
            <c:dLbl>
              <c:idx val="0"/>
              <c:tx>
                <c:rich>
                  <a:bodyPr/>
                  <a:lstStyle/>
                  <a:p>
                    <a:r>
                      <a:rPr lang="en-US" sz="850" b="1">
                        <a:solidFill>
                          <a:srgbClr val="2F6FDE"/>
                        </a:solidFill>
                      </a:rPr>
                      <a:t>18,0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802F-4D46-BBD5-F30552E56955}"/>
                </c:ext>
              </c:extLst>
            </c:dLbl>
            <c:dLbl>
              <c:idx val="1"/>
              <c:tx>
                <c:rich>
                  <a:bodyPr/>
                  <a:lstStyle/>
                  <a:p>
                    <a:r>
                      <a:rPr lang="en-US" sz="850" b="1">
                        <a:solidFill>
                          <a:srgbClr val="2F6FDE"/>
                        </a:solidFill>
                      </a:rPr>
                      <a:t>17,0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802F-4D46-BBD5-F30552E56955}"/>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Sheet1!$A$2:$A$3</c:f>
              <c:strCache>
                <c:ptCount val="2"/>
                <c:pt idx="0">
                  <c:v>≤ 170K</c:v>
                </c:pt>
                <c:pt idx="1">
                  <c:v>&gt; 350K</c:v>
                </c:pt>
              </c:strCache>
            </c:strRef>
          </c:cat>
          <c:val>
            <c:numRef>
              <c:f>Sheet1!$C$2:$C$3</c:f>
              <c:numCache>
                <c:formatCode>General</c:formatCode>
                <c:ptCount val="2"/>
                <c:pt idx="0">
                  <c:v>18</c:v>
                </c:pt>
                <c:pt idx="1">
                  <c:v>17</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5-802F-4D46-BBD5-F30552E56955}"/>
            </c:ext>
          </c:extLst>
        </c:ser>
        <c:ser>
          <c:idx val="2"/>
          <c:order val="2"/>
          <c:tx>
            <c:strRef>
              <c:f>Sheet1!$D$1</c:f>
              <c:strCache>
                <c:ptCount val="1"/>
                <c:pt idx="0">
                  <c:v>Competencia</c:v>
                </c:pt>
              </c:strCache>
            </c:strRef>
          </c:tx>
          <c:spPr>
            <a:solidFill>
              <a:srgbClr val="F28C28"/>
            </a:solidFill>
          </c:spPr>
          <c:invertIfNegative val="1"/>
          <c:dLbls>
            <c:dLbl>
              <c:idx val="1"/>
              <c:tx>
                <c:rich>
                  <a:bodyPr/>
                  <a:lstStyle/>
                  <a:p>
                    <a:r>
                      <a:rPr lang="en-US" sz="850" b="1">
                        <a:solidFill>
                          <a:srgbClr val="F28C28"/>
                        </a:solidFill>
                      </a:rPr>
                      <a:t>17,0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802F-4D46-BBD5-F30552E56955}"/>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Sheet1!$A$2:$A$3</c:f>
              <c:strCache>
                <c:ptCount val="2"/>
                <c:pt idx="0">
                  <c:v>≤ 170K</c:v>
                </c:pt>
                <c:pt idx="1">
                  <c:v>&gt; 350K</c:v>
                </c:pt>
              </c:strCache>
            </c:strRef>
          </c:cat>
          <c:val>
            <c:numRef>
              <c:f>Sheet1!$D$2:$D$3</c:f>
              <c:numCache>
                <c:formatCode>General</c:formatCode>
                <c:ptCount val="2"/>
                <c:pt idx="1">
                  <c:v>17</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7-802F-4D46-BBD5-F30552E56955}"/>
            </c:ext>
          </c:extLst>
        </c:ser>
        <c:dLbls>
          <c:showLegendKey val="0"/>
          <c:showVal val="0"/>
          <c:showCatName val="0"/>
          <c:showSerName val="0"/>
          <c:showPercent val="0"/>
          <c:showBubbleSize val="0"/>
        </c:dLbls>
        <c:gapWidth val="60"/>
        <c:axId val="-2068027336"/>
        <c:axId val="-2113994440"/>
      </c:barChart>
      <c:catAx>
        <c:axId val="-2068027336"/>
        <c:scaling>
          <c:orientation val="minMax"/>
        </c:scaling>
        <c:delete val="0"/>
        <c:axPos val="b"/>
        <c:numFmt formatCode="General" sourceLinked="0"/>
        <c:majorTickMark val="out"/>
        <c:minorTickMark val="none"/>
        <c:tickLblPos val="none"/>
        <c:spPr>
          <a:ln>
            <a:solidFill>
              <a:srgbClr val="B8C2C1"/>
            </a:solidFill>
          </a:ln>
        </c:spPr>
        <c:txPr>
          <a:bodyPr/>
          <a:lstStyle/>
          <a:p>
            <a:pPr>
              <a:defRPr sz="100"/>
            </a:pPr>
            <a:endParaRPr lang="es-PE"/>
          </a:p>
        </c:txPr>
        <c:crossAx val="-2113994440"/>
        <c:crosses val="autoZero"/>
        <c:auto val="1"/>
        <c:lblAlgn val="ctr"/>
        <c:lblOffset val="100"/>
        <c:noMultiLvlLbl val="0"/>
      </c:catAx>
      <c:valAx>
        <c:axId val="-2113994440"/>
        <c:scaling>
          <c:orientation val="minMax"/>
          <c:max val="21.5"/>
          <c:min val="15"/>
        </c:scaling>
        <c:delete val="1"/>
        <c:axPos val="l"/>
        <c:numFmt formatCode="General" sourceLinked="1"/>
        <c:majorTickMark val="out"/>
        <c:minorTickMark val="none"/>
        <c:tickLblPos val="nextTo"/>
        <c:crossAx val="-2068027336"/>
        <c:crosses val="autoZero"/>
        <c:crossBetween val="between"/>
      </c:valAx>
    </c:plotArea>
    <c:legend>
      <c:legendPos val="t"/>
      <c:overlay val="0"/>
      <c:txPr>
        <a:bodyPr/>
        <a:lstStyle/>
        <a:p>
          <a:pPr>
            <a:defRPr sz="800"/>
          </a:pPr>
          <a:endParaRPr lang="es-PE"/>
        </a:p>
      </c:txPr>
    </c:legend>
    <c:plotVisOnly val="1"/>
    <c:dispBlanksAs val="gap"/>
    <c:showDLblsOverMax val="1"/>
  </c:chart>
  <c:txPr>
    <a:bodyPr/>
    <a:lstStyle/>
    <a:p>
      <a:pPr>
        <a:defRPr sz="1800"/>
      </a:pPr>
      <a:endParaRPr lang="en-US"/>
    </a:p>
  </c:tx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0"/>
    <c:plotArea>
      <c:layout>
        <c:manualLayout>
          <c:layoutTarget val="inner"/>
          <c:xMode val="edge"/>
          <c:yMode val="edge"/>
          <c:x val="0.02"/>
          <c:y val="0.06"/>
          <c:w val="0.96"/>
          <c:h val="0.8"/>
        </c:manualLayout>
      </c:layout>
      <c:barChart>
        <c:barDir val="col"/>
        <c:grouping val="clustered"/>
        <c:varyColors val="1"/>
        <c:ser>
          <c:idx val="0"/>
          <c:order val="0"/>
          <c:tx>
            <c:strRef>
              <c:f>Sheet1!$B$1</c:f>
              <c:strCache>
                <c:ptCount val="1"/>
                <c:pt idx="0">
                  <c:v>Ofertada a desembolsos</c:v>
                </c:pt>
              </c:strCache>
            </c:strRef>
          </c:tx>
          <c:spPr>
            <a:solidFill>
              <a:srgbClr val="8E9B9A"/>
            </a:solidFill>
          </c:spPr>
          <c:invertIfNegative val="1"/>
          <c:dLbls>
            <c:dLbl>
              <c:idx val="0"/>
              <c:tx>
                <c:rich>
                  <a:bodyPr/>
                  <a:lstStyle/>
                  <a:p>
                    <a:r>
                      <a:rPr lang="en-US" sz="850" b="1">
                        <a:solidFill>
                          <a:srgbClr val="6E7E7D"/>
                        </a:solidFill>
                      </a:rPr>
                      <a:t>19,0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A0ED-4E80-81EF-3FF8B5F3DEF8}"/>
                </c:ext>
              </c:extLst>
            </c:dLbl>
            <c:dLbl>
              <c:idx val="1"/>
              <c:tx>
                <c:rich>
                  <a:bodyPr/>
                  <a:lstStyle/>
                  <a:p>
                    <a:r>
                      <a:rPr lang="en-US" sz="850" b="1">
                        <a:solidFill>
                          <a:srgbClr val="6E7E7D"/>
                        </a:solidFill>
                      </a:rPr>
                      <a:t>19,0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A0ED-4E80-81EF-3FF8B5F3DEF8}"/>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Sheet1!$A$2:$A$3</c:f>
              <c:strCache>
                <c:ptCount val="2"/>
                <c:pt idx="0">
                  <c:v>≤ 170K</c:v>
                </c:pt>
                <c:pt idx="1">
                  <c:v>&gt; 350K</c:v>
                </c:pt>
              </c:strCache>
            </c:strRef>
          </c:cat>
          <c:val>
            <c:numRef>
              <c:f>Sheet1!$B$2:$B$3</c:f>
              <c:numCache>
                <c:formatCode>General</c:formatCode>
                <c:ptCount val="2"/>
                <c:pt idx="0">
                  <c:v>19</c:v>
                </c:pt>
                <c:pt idx="1">
                  <c:v>19</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A0ED-4E80-81EF-3FF8B5F3DEF8}"/>
            </c:ext>
          </c:extLst>
        </c:ser>
        <c:ser>
          <c:idx val="1"/>
          <c:order val="1"/>
          <c:tx>
            <c:strRef>
              <c:f>Sheet1!$C$1</c:f>
              <c:strCache>
                <c:ptCount val="1"/>
                <c:pt idx="0">
                  <c:v>Desembolsada</c:v>
                </c:pt>
              </c:strCache>
            </c:strRef>
          </c:tx>
          <c:spPr>
            <a:solidFill>
              <a:srgbClr val="2F6FDE"/>
            </a:solidFill>
          </c:spPr>
          <c:invertIfNegative val="1"/>
          <c:dLbls>
            <c:dLbl>
              <c:idx val="0"/>
              <c:tx>
                <c:rich>
                  <a:bodyPr/>
                  <a:lstStyle/>
                  <a:p>
                    <a:r>
                      <a:rPr lang="en-US" sz="850" b="1">
                        <a:solidFill>
                          <a:srgbClr val="2F6FDE"/>
                        </a:solidFill>
                      </a:rPr>
                      <a:t>18,0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A0ED-4E80-81EF-3FF8B5F3DEF8}"/>
                </c:ext>
              </c:extLst>
            </c:dLbl>
            <c:dLbl>
              <c:idx val="1"/>
              <c:tx>
                <c:rich>
                  <a:bodyPr/>
                  <a:lstStyle/>
                  <a:p>
                    <a:r>
                      <a:rPr lang="en-US" sz="850" b="1">
                        <a:solidFill>
                          <a:srgbClr val="2F6FDE"/>
                        </a:solidFill>
                      </a:rPr>
                      <a:t>16,8</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A0ED-4E80-81EF-3FF8B5F3DEF8}"/>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Sheet1!$A$2:$A$3</c:f>
              <c:strCache>
                <c:ptCount val="2"/>
                <c:pt idx="0">
                  <c:v>≤ 170K</c:v>
                </c:pt>
                <c:pt idx="1">
                  <c:v>&gt; 350K</c:v>
                </c:pt>
              </c:strCache>
            </c:strRef>
          </c:cat>
          <c:val>
            <c:numRef>
              <c:f>Sheet1!$C$2:$C$3</c:f>
              <c:numCache>
                <c:formatCode>General</c:formatCode>
                <c:ptCount val="2"/>
                <c:pt idx="0">
                  <c:v>18</c:v>
                </c:pt>
                <c:pt idx="1">
                  <c:v>16.8</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5-A0ED-4E80-81EF-3FF8B5F3DEF8}"/>
            </c:ext>
          </c:extLst>
        </c:ser>
        <c:ser>
          <c:idx val="2"/>
          <c:order val="2"/>
          <c:tx>
            <c:strRef>
              <c:f>Sheet1!$D$1</c:f>
              <c:strCache>
                <c:ptCount val="1"/>
                <c:pt idx="0">
                  <c:v>Competencia</c:v>
                </c:pt>
              </c:strCache>
            </c:strRef>
          </c:tx>
          <c:spPr>
            <a:solidFill>
              <a:srgbClr val="F28C28"/>
            </a:solidFill>
          </c:spPr>
          <c:invertIfNegative val="1"/>
          <c:dLbls>
            <c:dLbl>
              <c:idx val="1"/>
              <c:tx>
                <c:rich>
                  <a:bodyPr/>
                  <a:lstStyle/>
                  <a:p>
                    <a:r>
                      <a:rPr lang="en-US" sz="850" b="1">
                        <a:solidFill>
                          <a:srgbClr val="F28C28"/>
                        </a:solidFill>
                      </a:rPr>
                      <a:t>15,0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A0ED-4E80-81EF-3FF8B5F3DEF8}"/>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Sheet1!$A$2:$A$3</c:f>
              <c:strCache>
                <c:ptCount val="2"/>
                <c:pt idx="0">
                  <c:v>≤ 170K</c:v>
                </c:pt>
                <c:pt idx="1">
                  <c:v>&gt; 350K</c:v>
                </c:pt>
              </c:strCache>
            </c:strRef>
          </c:cat>
          <c:val>
            <c:numRef>
              <c:f>Sheet1!$D$2:$D$3</c:f>
              <c:numCache>
                <c:formatCode>General</c:formatCode>
                <c:ptCount val="2"/>
                <c:pt idx="1">
                  <c:v>15</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7-A0ED-4E80-81EF-3FF8B5F3DEF8}"/>
            </c:ext>
          </c:extLst>
        </c:ser>
        <c:dLbls>
          <c:showLegendKey val="0"/>
          <c:showVal val="0"/>
          <c:showCatName val="0"/>
          <c:showSerName val="0"/>
          <c:showPercent val="0"/>
          <c:showBubbleSize val="0"/>
        </c:dLbls>
        <c:gapWidth val="60"/>
        <c:axId val="-2068027336"/>
        <c:axId val="-2113994440"/>
      </c:barChart>
      <c:catAx>
        <c:axId val="-2068027336"/>
        <c:scaling>
          <c:orientation val="minMax"/>
        </c:scaling>
        <c:delete val="0"/>
        <c:axPos val="b"/>
        <c:numFmt formatCode="General" sourceLinked="0"/>
        <c:majorTickMark val="out"/>
        <c:minorTickMark val="none"/>
        <c:tickLblPos val="none"/>
        <c:spPr>
          <a:ln>
            <a:solidFill>
              <a:srgbClr val="B8C2C1"/>
            </a:solidFill>
          </a:ln>
        </c:spPr>
        <c:txPr>
          <a:bodyPr/>
          <a:lstStyle/>
          <a:p>
            <a:pPr>
              <a:defRPr sz="100"/>
            </a:pPr>
            <a:endParaRPr lang="es-PE"/>
          </a:p>
        </c:txPr>
        <c:crossAx val="-2113994440"/>
        <c:crosses val="autoZero"/>
        <c:auto val="1"/>
        <c:lblAlgn val="ctr"/>
        <c:lblOffset val="100"/>
        <c:noMultiLvlLbl val="0"/>
      </c:catAx>
      <c:valAx>
        <c:axId val="-2113994440"/>
        <c:scaling>
          <c:orientation val="minMax"/>
          <c:max val="20.5"/>
          <c:min val="13"/>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lineChart>
        <c:grouping val="standard"/>
        <c:varyColors val="0"/>
        <c:ser>
          <c:idx val="0"/>
          <c:order val="0"/>
          <c:tx>
            <c:strRef>
              <c:f>Sheet1!$B$1</c:f>
              <c:strCache>
                <c:ptCount val="1"/>
                <c:pt idx="0">
                  <c:v>S/ 250–350K</c:v>
                </c:pt>
              </c:strCache>
            </c:strRef>
          </c:tx>
          <c:spPr>
            <a:ln w="25400">
              <a:solidFill>
                <a:srgbClr val="13807B"/>
              </a:solidFill>
            </a:ln>
          </c:spPr>
          <c:marker>
            <c:symbol val="circle"/>
            <c:size val="6"/>
            <c:spPr>
              <a:solidFill>
                <a:srgbClr val="13807B"/>
              </a:solidFill>
              <a:ln>
                <a:solidFill>
                  <a:srgbClr val="13807B"/>
                </a:solidFill>
              </a:ln>
            </c:spPr>
          </c:marker>
          <c:dLbls>
            <c:dLbl>
              <c:idx val="0"/>
              <c:tx>
                <c:rich>
                  <a:bodyPr/>
                  <a:lstStyle/>
                  <a:p>
                    <a:r>
                      <a:rPr lang="en-US" sz="850" b="1">
                        <a:solidFill>
                          <a:srgbClr val="13807B"/>
                        </a:solidFill>
                      </a:rPr>
                      <a:t>62</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22A4-41F6-9F49-580EF4202C0E}"/>
                </c:ext>
              </c:extLst>
            </c:dLbl>
            <c:dLbl>
              <c:idx val="1"/>
              <c:tx>
                <c:rich>
                  <a:bodyPr/>
                  <a:lstStyle/>
                  <a:p>
                    <a:r>
                      <a:rPr lang="en-US" sz="850" b="1">
                        <a:solidFill>
                          <a:srgbClr val="13807B"/>
                        </a:solidFill>
                      </a:rPr>
                      <a:t>45</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22A4-41F6-9F49-580EF4202C0E}"/>
                </c:ext>
              </c:extLst>
            </c:dLbl>
            <c:dLbl>
              <c:idx val="2"/>
              <c:tx>
                <c:rich>
                  <a:bodyPr/>
                  <a:lstStyle/>
                  <a:p>
                    <a:r>
                      <a:rPr lang="en-US" sz="850" b="1">
                        <a:solidFill>
                          <a:srgbClr val="13807B"/>
                        </a:solidFill>
                      </a:rPr>
                      <a:t>22</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22A4-41F6-9F49-580EF4202C0E}"/>
                </c:ext>
              </c:extLst>
            </c:dLbl>
            <c:dLbl>
              <c:idx val="3"/>
              <c:tx>
                <c:rich>
                  <a:bodyPr/>
                  <a:lstStyle/>
                  <a:p>
                    <a:r>
                      <a:rPr lang="en-US" sz="850" b="1">
                        <a:solidFill>
                          <a:srgbClr val="13807B"/>
                        </a:solidFill>
                      </a:rPr>
                      <a:t>21</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22A4-41F6-9F49-580EF4202C0E}"/>
                </c:ext>
              </c:extLst>
            </c:dLbl>
            <c:dLbl>
              <c:idx val="4"/>
              <c:tx>
                <c:rich>
                  <a:bodyPr/>
                  <a:lstStyle/>
                  <a:p>
                    <a:r>
                      <a:rPr lang="en-US" sz="850" b="1">
                        <a:solidFill>
                          <a:srgbClr val="13807B"/>
                        </a:solidFill>
                      </a:rPr>
                      <a:t>25</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22A4-41F6-9F49-580EF4202C0E}"/>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Sheet1!$A$2:$A$6</c:f>
              <c:strCache>
                <c:ptCount val="5"/>
                <c:pt idx="0">
                  <c:v>2T25</c:v>
                </c:pt>
                <c:pt idx="1">
                  <c:v>3T25</c:v>
                </c:pt>
                <c:pt idx="2">
                  <c:v>4T25</c:v>
                </c:pt>
                <c:pt idx="3">
                  <c:v>1T26</c:v>
                </c:pt>
                <c:pt idx="4">
                  <c:v>2T26*</c:v>
                </c:pt>
              </c:strCache>
            </c:strRef>
          </c:cat>
          <c:val>
            <c:numRef>
              <c:f>Sheet1!$B$2:$B$6</c:f>
              <c:numCache>
                <c:formatCode>General</c:formatCode>
                <c:ptCount val="5"/>
                <c:pt idx="0">
                  <c:v>61.686857760757086</c:v>
                </c:pt>
                <c:pt idx="1">
                  <c:v>44.993880003956278</c:v>
                </c:pt>
                <c:pt idx="2">
                  <c:v>21.69591339176273</c:v>
                </c:pt>
                <c:pt idx="3">
                  <c:v>21.289084542529697</c:v>
                </c:pt>
                <c:pt idx="4">
                  <c:v>25.179176895958285</c:v>
                </c:pt>
              </c:numCache>
            </c:numRef>
          </c:val>
          <c:smooth val="0"/>
          <c:extLst>
            <c:ext xmlns:c16="http://schemas.microsoft.com/office/drawing/2014/chart" uri="{C3380CC4-5D6E-409C-BE32-E72D297353CC}">
              <c16:uniqueId val="{00000005-22A4-41F6-9F49-580EF4202C0E}"/>
            </c:ext>
          </c:extLst>
        </c:ser>
        <c:ser>
          <c:idx val="1"/>
          <c:order val="1"/>
          <c:tx>
            <c:strRef>
              <c:f>Sheet1!$C$1</c:f>
              <c:strCache>
                <c:ptCount val="1"/>
                <c:pt idx="0">
                  <c:v>Más de S/ 350K</c:v>
                </c:pt>
              </c:strCache>
            </c:strRef>
          </c:tx>
          <c:spPr>
            <a:ln w="25400">
              <a:solidFill>
                <a:srgbClr val="E5173F"/>
              </a:solidFill>
            </a:ln>
          </c:spPr>
          <c:marker>
            <c:symbol val="circle"/>
            <c:size val="6"/>
            <c:spPr>
              <a:solidFill>
                <a:srgbClr val="E5173F"/>
              </a:solidFill>
              <a:ln>
                <a:solidFill>
                  <a:srgbClr val="E5173F"/>
                </a:solidFill>
              </a:ln>
            </c:spPr>
          </c:marker>
          <c:dLbls>
            <c:dLbl>
              <c:idx val="0"/>
              <c:tx>
                <c:rich>
                  <a:bodyPr/>
                  <a:lstStyle/>
                  <a:p>
                    <a:r>
                      <a:rPr lang="en-US" sz="850" b="1">
                        <a:solidFill>
                          <a:srgbClr val="E5173F"/>
                        </a:solidFill>
                      </a:rPr>
                      <a:t>73</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22A4-41F6-9F49-580EF4202C0E}"/>
                </c:ext>
              </c:extLst>
            </c:dLbl>
            <c:dLbl>
              <c:idx val="1"/>
              <c:tx>
                <c:rich>
                  <a:bodyPr/>
                  <a:lstStyle/>
                  <a:p>
                    <a:r>
                      <a:rPr lang="en-US" sz="850" b="1">
                        <a:solidFill>
                          <a:srgbClr val="E5173F"/>
                        </a:solidFill>
                      </a:rPr>
                      <a:t>56</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22A4-41F6-9F49-580EF4202C0E}"/>
                </c:ext>
              </c:extLst>
            </c:dLbl>
            <c:dLbl>
              <c:idx val="2"/>
              <c:tx>
                <c:rich>
                  <a:bodyPr/>
                  <a:lstStyle/>
                  <a:p>
                    <a:r>
                      <a:rPr lang="en-US" sz="850" b="1">
                        <a:solidFill>
                          <a:srgbClr val="E5173F"/>
                        </a:solidFill>
                      </a:rPr>
                      <a:t>51</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8-22A4-41F6-9F49-580EF4202C0E}"/>
                </c:ext>
              </c:extLst>
            </c:dLbl>
            <c:dLbl>
              <c:idx val="3"/>
              <c:tx>
                <c:rich>
                  <a:bodyPr/>
                  <a:lstStyle/>
                  <a:p>
                    <a:r>
                      <a:rPr lang="en-US" sz="850" b="1">
                        <a:solidFill>
                          <a:srgbClr val="E5173F"/>
                        </a:solidFill>
                      </a:rPr>
                      <a:t>46</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9-22A4-41F6-9F49-580EF4202C0E}"/>
                </c:ext>
              </c:extLst>
            </c:dLbl>
            <c:dLbl>
              <c:idx val="4"/>
              <c:tx>
                <c:rich>
                  <a:bodyPr/>
                  <a:lstStyle/>
                  <a:p>
                    <a:r>
                      <a:rPr lang="en-US" sz="850" b="1">
                        <a:solidFill>
                          <a:srgbClr val="E5173F"/>
                        </a:solidFill>
                      </a:rPr>
                      <a:t>42</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A-22A4-41F6-9F49-580EF4202C0E}"/>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Sheet1!$A$2:$A$6</c:f>
              <c:strCache>
                <c:ptCount val="5"/>
                <c:pt idx="0">
                  <c:v>2T25</c:v>
                </c:pt>
                <c:pt idx="1">
                  <c:v>3T25</c:v>
                </c:pt>
                <c:pt idx="2">
                  <c:v>4T25</c:v>
                </c:pt>
                <c:pt idx="3">
                  <c:v>1T26</c:v>
                </c:pt>
                <c:pt idx="4">
                  <c:v>2T26*</c:v>
                </c:pt>
              </c:strCache>
            </c:strRef>
          </c:cat>
          <c:val>
            <c:numRef>
              <c:f>Sheet1!$C$2:$C$6</c:f>
              <c:numCache>
                <c:formatCode>General</c:formatCode>
                <c:ptCount val="5"/>
                <c:pt idx="0">
                  <c:v>73.410260318407524</c:v>
                </c:pt>
                <c:pt idx="1">
                  <c:v>56.101258286805646</c:v>
                </c:pt>
                <c:pt idx="2">
                  <c:v>51.300050051458776</c:v>
                </c:pt>
                <c:pt idx="3">
                  <c:v>45.525192430050744</c:v>
                </c:pt>
                <c:pt idx="4">
                  <c:v>41.887152786968826</c:v>
                </c:pt>
              </c:numCache>
            </c:numRef>
          </c:val>
          <c:smooth val="0"/>
          <c:extLst>
            <c:ext xmlns:c16="http://schemas.microsoft.com/office/drawing/2014/chart" uri="{C3380CC4-5D6E-409C-BE32-E72D297353CC}">
              <c16:uniqueId val="{0000000B-22A4-41F6-9F49-580EF4202C0E}"/>
            </c:ext>
          </c:extLst>
        </c:ser>
        <c:ser>
          <c:idx val="2"/>
          <c:order val="2"/>
          <c:tx>
            <c:strRef>
              <c:f>Sheet1!$D$1</c:f>
              <c:strCache>
                <c:ptCount val="1"/>
                <c:pt idx="0">
                  <c:v>Total</c:v>
                </c:pt>
              </c:strCache>
            </c:strRef>
          </c:tx>
          <c:spPr>
            <a:ln w="25400">
              <a:solidFill>
                <a:srgbClr val="555555"/>
              </a:solidFill>
              <a:prstDash val="dash"/>
            </a:ln>
          </c:spPr>
          <c:marker>
            <c:symbol val="triangle"/>
            <c:size val="6"/>
            <c:spPr>
              <a:solidFill>
                <a:srgbClr val="555555"/>
              </a:solidFill>
              <a:ln>
                <a:solidFill>
                  <a:srgbClr val="555555"/>
                </a:solidFill>
              </a:ln>
            </c:spPr>
          </c:marker>
          <c:dLbls>
            <c:dLbl>
              <c:idx val="0"/>
              <c:tx>
                <c:rich>
                  <a:bodyPr/>
                  <a:lstStyle/>
                  <a:p>
                    <a:r>
                      <a:rPr lang="en-US" sz="850" b="1">
                        <a:solidFill>
                          <a:srgbClr val="555555"/>
                        </a:solidFill>
                      </a:rPr>
                      <a:t>68</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C-22A4-41F6-9F49-580EF4202C0E}"/>
                </c:ext>
              </c:extLst>
            </c:dLbl>
            <c:dLbl>
              <c:idx val="1"/>
              <c:tx>
                <c:rich>
                  <a:bodyPr/>
                  <a:lstStyle/>
                  <a:p>
                    <a:r>
                      <a:rPr lang="en-US" sz="850" b="1">
                        <a:solidFill>
                          <a:srgbClr val="555555"/>
                        </a:solidFill>
                      </a:rPr>
                      <a:t>60</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D-22A4-41F6-9F49-580EF4202C0E}"/>
                </c:ext>
              </c:extLst>
            </c:dLbl>
            <c:dLbl>
              <c:idx val="2"/>
              <c:tx>
                <c:rich>
                  <a:bodyPr/>
                  <a:lstStyle/>
                  <a:p>
                    <a:r>
                      <a:rPr lang="en-US" sz="850" b="1">
                        <a:solidFill>
                          <a:srgbClr val="555555"/>
                        </a:solidFill>
                      </a:rPr>
                      <a:t>45</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E-22A4-41F6-9F49-580EF4202C0E}"/>
                </c:ext>
              </c:extLst>
            </c:dLbl>
            <c:dLbl>
              <c:idx val="3"/>
              <c:tx>
                <c:rich>
                  <a:bodyPr/>
                  <a:lstStyle/>
                  <a:p>
                    <a:r>
                      <a:rPr lang="en-US" sz="850" b="1">
                        <a:solidFill>
                          <a:srgbClr val="555555"/>
                        </a:solidFill>
                      </a:rPr>
                      <a:t>40</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F-22A4-41F6-9F49-580EF4202C0E}"/>
                </c:ext>
              </c:extLst>
            </c:dLbl>
            <c:dLbl>
              <c:idx val="4"/>
              <c:tx>
                <c:rich>
                  <a:bodyPr/>
                  <a:lstStyle/>
                  <a:p>
                    <a:r>
                      <a:rPr lang="en-US" sz="850" b="1">
                        <a:solidFill>
                          <a:srgbClr val="555555"/>
                        </a:solidFill>
                      </a:rPr>
                      <a:t>36</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0-22A4-41F6-9F49-580EF4202C0E}"/>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Sheet1!$A$2:$A$6</c:f>
              <c:strCache>
                <c:ptCount val="5"/>
                <c:pt idx="0">
                  <c:v>2T25</c:v>
                </c:pt>
                <c:pt idx="1">
                  <c:v>3T25</c:v>
                </c:pt>
                <c:pt idx="2">
                  <c:v>4T25</c:v>
                </c:pt>
                <c:pt idx="3">
                  <c:v>1T26</c:v>
                </c:pt>
                <c:pt idx="4">
                  <c:v>2T26*</c:v>
                </c:pt>
              </c:strCache>
            </c:strRef>
          </c:cat>
          <c:val>
            <c:numRef>
              <c:f>Sheet1!$D$2:$D$6</c:f>
              <c:numCache>
                <c:formatCode>General</c:formatCode>
                <c:ptCount val="5"/>
                <c:pt idx="0">
                  <c:v>68.200270482638771</c:v>
                </c:pt>
                <c:pt idx="1">
                  <c:v>59.677304526714586</c:v>
                </c:pt>
                <c:pt idx="2">
                  <c:v>45.444046653019271</c:v>
                </c:pt>
                <c:pt idx="3">
                  <c:v>39.61592189069313</c:v>
                </c:pt>
                <c:pt idx="4">
                  <c:v>36.169221825945954</c:v>
                </c:pt>
              </c:numCache>
            </c:numRef>
          </c:val>
          <c:smooth val="0"/>
          <c:extLst>
            <c:ext xmlns:c16="http://schemas.microsoft.com/office/drawing/2014/chart" uri="{C3380CC4-5D6E-409C-BE32-E72D297353CC}">
              <c16:uniqueId val="{00000011-22A4-41F6-9F49-580EF4202C0E}"/>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low"/>
        <c:spPr>
          <a:ln>
            <a:solidFill>
              <a:srgbClr val="B8C2C1"/>
            </a:solidFill>
          </a:ln>
        </c:spPr>
        <c:txPr>
          <a:bodyPr/>
          <a:lstStyle/>
          <a:p>
            <a:pPr>
              <a:defRPr sz="800">
                <a:solidFill>
                  <a:srgbClr val="2F3B3A"/>
                </a:solidFill>
              </a:defRPr>
            </a:pPr>
            <a:endParaRPr lang="es-PE"/>
          </a:p>
        </c:txPr>
        <c:crossAx val="2140495176"/>
        <c:crosses val="autoZero"/>
        <c:auto val="1"/>
        <c:lblAlgn val="ctr"/>
        <c:lblOffset val="100"/>
        <c:noMultiLvlLbl val="0"/>
      </c:catAx>
      <c:valAx>
        <c:axId val="2140495176"/>
        <c:scaling>
          <c:orientation val="minMax"/>
          <c:max val="82"/>
          <c:min val="13"/>
        </c:scaling>
        <c:delete val="1"/>
        <c:axPos val="l"/>
        <c:numFmt formatCode="0" sourceLinked="0"/>
        <c:majorTickMark val="out"/>
        <c:minorTickMark val="none"/>
        <c:tickLblPos val="nextTo"/>
        <c:crossAx val="2118791784"/>
        <c:crosses val="autoZero"/>
        <c:crossBetween val="between"/>
      </c:valAx>
    </c:plotArea>
    <c:legend>
      <c:legendPos val="t"/>
      <c:overlay val="0"/>
      <c:txPr>
        <a:bodyPr/>
        <a:lstStyle/>
        <a:p>
          <a:pPr>
            <a:defRPr sz="800"/>
          </a:pPr>
          <a:endParaRPr lang="es-PE"/>
        </a:p>
      </c:txPr>
    </c:legend>
    <c:plotVisOnly val="1"/>
    <c:dispBlanksAs val="gap"/>
    <c:showDLblsOverMax val="0"/>
  </c:chart>
  <c:txPr>
    <a:bodyPr/>
    <a:lstStyle/>
    <a:p>
      <a:pPr>
        <a:defRPr sz="1800"/>
      </a:pPr>
      <a:endParaRPr lang="en-US"/>
    </a:p>
  </c:txPr>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lineChart>
        <c:grouping val="standard"/>
        <c:varyColors val="0"/>
        <c:ser>
          <c:idx val="0"/>
          <c:order val="0"/>
          <c:tx>
            <c:strRef>
              <c:f>Sheet1!$B$1</c:f>
              <c:strCache>
                <c:ptCount val="1"/>
                <c:pt idx="0">
                  <c:v>Ofertada a desembolsos</c:v>
                </c:pt>
              </c:strCache>
            </c:strRef>
          </c:tx>
          <c:spPr>
            <a:ln w="25400">
              <a:solidFill>
                <a:srgbClr val="8E9B9A"/>
              </a:solidFill>
              <a:prstDash val="dash"/>
            </a:ln>
          </c:spPr>
          <c:marker>
            <c:symbol val="circle"/>
            <c:size val="6"/>
            <c:spPr>
              <a:solidFill>
                <a:srgbClr val="8E9B9A"/>
              </a:solidFill>
              <a:ln>
                <a:solidFill>
                  <a:srgbClr val="8E9B9A"/>
                </a:solidFill>
              </a:ln>
            </c:spPr>
          </c:marker>
          <c:dLbls>
            <c:dLbl>
              <c:idx val="0"/>
              <c:tx>
                <c:rich>
                  <a:bodyPr/>
                  <a:lstStyle/>
                  <a:p>
                    <a:r>
                      <a:rPr lang="en-US" sz="900" b="1">
                        <a:solidFill>
                          <a:srgbClr val="8E9B9A"/>
                        </a:solidFill>
                      </a:rPr>
                      <a:t>20,7</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62DB-483D-AC3D-3D60290CF74B}"/>
                </c:ext>
              </c:extLst>
            </c:dLbl>
            <c:dLbl>
              <c:idx val="1"/>
              <c:tx>
                <c:rich>
                  <a:bodyPr/>
                  <a:lstStyle/>
                  <a:p>
                    <a:r>
                      <a:rPr lang="en-US" sz="900" b="1">
                        <a:solidFill>
                          <a:srgbClr val="8E9B9A"/>
                        </a:solidFill>
                      </a:rPr>
                      <a:t>19,8</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62DB-483D-AC3D-3D60290CF74B}"/>
                </c:ext>
              </c:extLst>
            </c:dLbl>
            <c:dLbl>
              <c:idx val="2"/>
              <c:tx>
                <c:rich>
                  <a:bodyPr/>
                  <a:lstStyle/>
                  <a:p>
                    <a:r>
                      <a:rPr lang="en-US" sz="900" b="1">
                        <a:solidFill>
                          <a:srgbClr val="8E9B9A"/>
                        </a:solidFill>
                      </a:rPr>
                      <a:t>19,1</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62DB-483D-AC3D-3D60290CF74B}"/>
                </c:ext>
              </c:extLst>
            </c:dLbl>
            <c:dLbl>
              <c:idx val="3"/>
              <c:tx>
                <c:rich>
                  <a:bodyPr/>
                  <a:lstStyle/>
                  <a:p>
                    <a:r>
                      <a:rPr lang="en-US" sz="900" b="1">
                        <a:solidFill>
                          <a:srgbClr val="8E9B9A"/>
                        </a:solidFill>
                      </a:rPr>
                      <a:t>19,5</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62DB-483D-AC3D-3D60290CF74B}"/>
                </c:ext>
              </c:extLst>
            </c:dLbl>
            <c:dLbl>
              <c:idx val="4"/>
              <c:tx>
                <c:rich>
                  <a:bodyPr/>
                  <a:lstStyle/>
                  <a:p>
                    <a:r>
                      <a:rPr lang="en-US" sz="900" b="1">
                        <a:solidFill>
                          <a:srgbClr val="8E9B9A"/>
                        </a:solidFill>
                      </a:rPr>
                      <a:t>20,6</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62DB-483D-AC3D-3D60290CF74B}"/>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Sheet1!$A$2:$A$6</c:f>
              <c:strCache>
                <c:ptCount val="5"/>
                <c:pt idx="0">
                  <c:v>2T25</c:v>
                </c:pt>
                <c:pt idx="1">
                  <c:v>3T25</c:v>
                </c:pt>
                <c:pt idx="2">
                  <c:v>4T25</c:v>
                </c:pt>
                <c:pt idx="3">
                  <c:v>1T26</c:v>
                </c:pt>
                <c:pt idx="4">
                  <c:v>2T26*</c:v>
                </c:pt>
              </c:strCache>
            </c:strRef>
          </c:cat>
          <c:val>
            <c:numRef>
              <c:f>Sheet1!$B$2:$B$6</c:f>
              <c:numCache>
                <c:formatCode>General</c:formatCode>
                <c:ptCount val="5"/>
                <c:pt idx="0">
                  <c:v>20.7</c:v>
                </c:pt>
                <c:pt idx="1">
                  <c:v>19.8</c:v>
                </c:pt>
                <c:pt idx="2">
                  <c:v>19.100000000000001</c:v>
                </c:pt>
                <c:pt idx="3">
                  <c:v>19.5</c:v>
                </c:pt>
                <c:pt idx="4">
                  <c:v>20.6</c:v>
                </c:pt>
              </c:numCache>
            </c:numRef>
          </c:val>
          <c:smooth val="0"/>
          <c:extLst>
            <c:ext xmlns:c16="http://schemas.microsoft.com/office/drawing/2014/chart" uri="{C3380CC4-5D6E-409C-BE32-E72D297353CC}">
              <c16:uniqueId val="{00000005-62DB-483D-AC3D-3D60290CF74B}"/>
            </c:ext>
          </c:extLst>
        </c:ser>
        <c:ser>
          <c:idx val="1"/>
          <c:order val="1"/>
          <c:tx>
            <c:strRef>
              <c:f>Sheet1!$C$1</c:f>
              <c:strCache>
                <c:ptCount val="1"/>
                <c:pt idx="0">
                  <c:v>Desembolsada</c:v>
                </c:pt>
              </c:strCache>
            </c:strRef>
          </c:tx>
          <c:spPr>
            <a:ln w="25400">
              <a:solidFill>
                <a:srgbClr val="2F6FDE"/>
              </a:solidFill>
            </a:ln>
          </c:spPr>
          <c:marker>
            <c:symbol val="circle"/>
            <c:size val="6"/>
            <c:spPr>
              <a:solidFill>
                <a:srgbClr val="2F6FDE"/>
              </a:solidFill>
              <a:ln>
                <a:solidFill>
                  <a:srgbClr val="2F6FDE"/>
                </a:solidFill>
              </a:ln>
            </c:spPr>
          </c:marker>
          <c:dLbls>
            <c:dLbl>
              <c:idx val="0"/>
              <c:tx>
                <c:rich>
                  <a:bodyPr/>
                  <a:lstStyle/>
                  <a:p>
                    <a:r>
                      <a:rPr lang="en-US" sz="900" b="1">
                        <a:solidFill>
                          <a:srgbClr val="2F6FDE"/>
                        </a:solidFill>
                      </a:rPr>
                      <a:t>17,4</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62DB-483D-AC3D-3D60290CF74B}"/>
                </c:ext>
              </c:extLst>
            </c:dLbl>
            <c:dLbl>
              <c:idx val="1"/>
              <c:tx>
                <c:rich>
                  <a:bodyPr/>
                  <a:lstStyle/>
                  <a:p>
                    <a:r>
                      <a:rPr lang="en-US" sz="900" b="1">
                        <a:solidFill>
                          <a:srgbClr val="2F6FDE"/>
                        </a:solidFill>
                      </a:rPr>
                      <a:t>16,6</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62DB-483D-AC3D-3D60290CF74B}"/>
                </c:ext>
              </c:extLst>
            </c:dLbl>
            <c:dLbl>
              <c:idx val="2"/>
              <c:tx>
                <c:rich>
                  <a:bodyPr/>
                  <a:lstStyle/>
                  <a:p>
                    <a:r>
                      <a:rPr lang="en-US" sz="900" b="1">
                        <a:solidFill>
                          <a:srgbClr val="2F6FDE"/>
                        </a:solidFill>
                      </a:rPr>
                      <a:t>17,0</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8-62DB-483D-AC3D-3D60290CF74B}"/>
                </c:ext>
              </c:extLst>
            </c:dLbl>
            <c:dLbl>
              <c:idx val="3"/>
              <c:tx>
                <c:rich>
                  <a:bodyPr/>
                  <a:lstStyle/>
                  <a:p>
                    <a:r>
                      <a:rPr lang="en-US" sz="900" b="1">
                        <a:solidFill>
                          <a:srgbClr val="2F6FDE"/>
                        </a:solidFill>
                      </a:rPr>
                      <a:t>16,3</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9-62DB-483D-AC3D-3D60290CF74B}"/>
                </c:ext>
              </c:extLst>
            </c:dLbl>
            <c:dLbl>
              <c:idx val="4"/>
              <c:tx>
                <c:rich>
                  <a:bodyPr/>
                  <a:lstStyle/>
                  <a:p>
                    <a:r>
                      <a:rPr lang="en-US" sz="900" b="1">
                        <a:solidFill>
                          <a:srgbClr val="2F6FDE"/>
                        </a:solidFill>
                      </a:rPr>
                      <a:t>16,9</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A-62DB-483D-AC3D-3D60290CF74B}"/>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Sheet1!$A$2:$A$6</c:f>
              <c:strCache>
                <c:ptCount val="5"/>
                <c:pt idx="0">
                  <c:v>2T25</c:v>
                </c:pt>
                <c:pt idx="1">
                  <c:v>3T25</c:v>
                </c:pt>
                <c:pt idx="2">
                  <c:v>4T25</c:v>
                </c:pt>
                <c:pt idx="3">
                  <c:v>1T26</c:v>
                </c:pt>
                <c:pt idx="4">
                  <c:v>2T26*</c:v>
                </c:pt>
              </c:strCache>
            </c:strRef>
          </c:cat>
          <c:val>
            <c:numRef>
              <c:f>Sheet1!$C$2:$C$6</c:f>
              <c:numCache>
                <c:formatCode>General</c:formatCode>
                <c:ptCount val="5"/>
                <c:pt idx="0">
                  <c:v>17.435924400626252</c:v>
                </c:pt>
                <c:pt idx="1">
                  <c:v>16.605057313668038</c:v>
                </c:pt>
                <c:pt idx="2">
                  <c:v>16.965286761535143</c:v>
                </c:pt>
                <c:pt idx="3">
                  <c:v>16.3359749059682</c:v>
                </c:pt>
                <c:pt idx="4">
                  <c:v>16.91789106469006</c:v>
                </c:pt>
              </c:numCache>
            </c:numRef>
          </c:val>
          <c:smooth val="0"/>
          <c:extLst>
            <c:ext xmlns:c16="http://schemas.microsoft.com/office/drawing/2014/chart" uri="{C3380CC4-5D6E-409C-BE32-E72D297353CC}">
              <c16:uniqueId val="{0000000B-62DB-483D-AC3D-3D60290CF74B}"/>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low"/>
        <c:spPr>
          <a:ln>
            <a:solidFill>
              <a:srgbClr val="B8C2C1"/>
            </a:solidFill>
          </a:ln>
        </c:spPr>
        <c:txPr>
          <a:bodyPr/>
          <a:lstStyle/>
          <a:p>
            <a:pPr>
              <a:defRPr sz="750">
                <a:solidFill>
                  <a:srgbClr val="2F3B3A"/>
                </a:solidFill>
              </a:defRPr>
            </a:pPr>
            <a:endParaRPr lang="es-PE"/>
          </a:p>
        </c:txPr>
        <c:crossAx val="2140495176"/>
        <c:crosses val="autoZero"/>
        <c:auto val="1"/>
        <c:lblAlgn val="ctr"/>
        <c:lblOffset val="100"/>
        <c:noMultiLvlLbl val="0"/>
      </c:catAx>
      <c:valAx>
        <c:axId val="2140495176"/>
        <c:scaling>
          <c:orientation val="minMax"/>
          <c:max val="23"/>
          <c:min val="13"/>
        </c:scaling>
        <c:delete val="1"/>
        <c:axPos val="l"/>
        <c:numFmt formatCode="0.0" sourceLinked="0"/>
        <c:majorTickMark val="out"/>
        <c:minorTickMark val="none"/>
        <c:tickLblPos val="nextTo"/>
        <c:crossAx val="2118791784"/>
        <c:crosses val="autoZero"/>
        <c:crossBetween val="between"/>
      </c:valAx>
    </c:plotArea>
    <c:legend>
      <c:legendPos val="t"/>
      <c:overlay val="0"/>
      <c:txPr>
        <a:bodyPr/>
        <a:lstStyle/>
        <a:p>
          <a:pPr>
            <a:defRPr sz="750"/>
          </a:pPr>
          <a:endParaRPr lang="es-PE"/>
        </a:p>
      </c:txPr>
    </c:legend>
    <c:plotVisOnly val="1"/>
    <c:dispBlanksAs val="gap"/>
    <c:showDLblsOverMax val="0"/>
  </c:chart>
  <c:txPr>
    <a:bodyPr/>
    <a:lstStyle/>
    <a:p>
      <a:pPr>
        <a:defRPr sz="1800"/>
      </a:pPr>
      <a:endParaRPr lang="en-US"/>
    </a:p>
  </c:txPr>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lineChart>
        <c:grouping val="standard"/>
        <c:varyColors val="0"/>
        <c:ser>
          <c:idx val="0"/>
          <c:order val="0"/>
          <c:tx>
            <c:strRef>
              <c:f>Sheet1!$B$1</c:f>
              <c:strCache>
                <c:ptCount val="1"/>
                <c:pt idx="0">
                  <c:v>Ofertada a desembolsos</c:v>
                </c:pt>
              </c:strCache>
            </c:strRef>
          </c:tx>
          <c:spPr>
            <a:ln w="25400">
              <a:solidFill>
                <a:srgbClr val="8E9B9A"/>
              </a:solidFill>
              <a:prstDash val="dash"/>
            </a:ln>
          </c:spPr>
          <c:marker>
            <c:symbol val="circle"/>
            <c:size val="6"/>
            <c:spPr>
              <a:solidFill>
                <a:srgbClr val="8E9B9A"/>
              </a:solidFill>
              <a:ln>
                <a:solidFill>
                  <a:srgbClr val="8E9B9A"/>
                </a:solidFill>
              </a:ln>
            </c:spPr>
          </c:marker>
          <c:dLbls>
            <c:dLbl>
              <c:idx val="0"/>
              <c:tx>
                <c:rich>
                  <a:bodyPr/>
                  <a:lstStyle/>
                  <a:p>
                    <a:r>
                      <a:rPr lang="en-US" sz="900" b="1">
                        <a:solidFill>
                          <a:srgbClr val="8E9B9A"/>
                        </a:solidFill>
                      </a:rPr>
                      <a:t>21,2</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2E4C-4DB4-B47E-5B22FD3734EA}"/>
                </c:ext>
              </c:extLst>
            </c:dLbl>
            <c:dLbl>
              <c:idx val="1"/>
              <c:tx>
                <c:rich>
                  <a:bodyPr/>
                  <a:lstStyle/>
                  <a:p>
                    <a:r>
                      <a:rPr lang="en-US" sz="900" b="1">
                        <a:solidFill>
                          <a:srgbClr val="8E9B9A"/>
                        </a:solidFill>
                      </a:rPr>
                      <a:t>20,8</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2E4C-4DB4-B47E-5B22FD3734EA}"/>
                </c:ext>
              </c:extLst>
            </c:dLbl>
            <c:dLbl>
              <c:idx val="2"/>
              <c:tx>
                <c:rich>
                  <a:bodyPr/>
                  <a:lstStyle/>
                  <a:p>
                    <a:r>
                      <a:rPr lang="en-US" sz="900" b="1">
                        <a:solidFill>
                          <a:srgbClr val="8E9B9A"/>
                        </a:solidFill>
                      </a:rPr>
                      <a:t>19,5</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2E4C-4DB4-B47E-5B22FD3734EA}"/>
                </c:ext>
              </c:extLst>
            </c:dLbl>
            <c:dLbl>
              <c:idx val="3"/>
              <c:tx>
                <c:rich>
                  <a:bodyPr/>
                  <a:lstStyle/>
                  <a:p>
                    <a:r>
                      <a:rPr lang="en-US" sz="900" b="1">
                        <a:solidFill>
                          <a:srgbClr val="8E9B9A"/>
                        </a:solidFill>
                      </a:rPr>
                      <a:t>21,7</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2E4C-4DB4-B47E-5B22FD3734EA}"/>
                </c:ext>
              </c:extLst>
            </c:dLbl>
            <c:dLbl>
              <c:idx val="4"/>
              <c:tx>
                <c:rich>
                  <a:bodyPr/>
                  <a:lstStyle/>
                  <a:p>
                    <a:r>
                      <a:rPr lang="en-US" sz="900" b="1">
                        <a:solidFill>
                          <a:srgbClr val="8E9B9A"/>
                        </a:solidFill>
                      </a:rPr>
                      <a:t>20,2</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2E4C-4DB4-B47E-5B22FD3734EA}"/>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Sheet1!$A$2:$A$6</c:f>
              <c:strCache>
                <c:ptCount val="5"/>
                <c:pt idx="0">
                  <c:v>2T25</c:v>
                </c:pt>
                <c:pt idx="1">
                  <c:v>3T25</c:v>
                </c:pt>
                <c:pt idx="2">
                  <c:v>4T25</c:v>
                </c:pt>
                <c:pt idx="3">
                  <c:v>1T26</c:v>
                </c:pt>
                <c:pt idx="4">
                  <c:v>2T26*</c:v>
                </c:pt>
              </c:strCache>
            </c:strRef>
          </c:cat>
          <c:val>
            <c:numRef>
              <c:f>Sheet1!$B$2:$B$6</c:f>
              <c:numCache>
                <c:formatCode>General</c:formatCode>
                <c:ptCount val="5"/>
                <c:pt idx="0">
                  <c:v>21.2</c:v>
                </c:pt>
                <c:pt idx="1">
                  <c:v>20.8</c:v>
                </c:pt>
                <c:pt idx="2">
                  <c:v>19.5</c:v>
                </c:pt>
                <c:pt idx="3">
                  <c:v>21.7</c:v>
                </c:pt>
                <c:pt idx="4">
                  <c:v>20.2</c:v>
                </c:pt>
              </c:numCache>
            </c:numRef>
          </c:val>
          <c:smooth val="0"/>
          <c:extLst>
            <c:ext xmlns:c16="http://schemas.microsoft.com/office/drawing/2014/chart" uri="{C3380CC4-5D6E-409C-BE32-E72D297353CC}">
              <c16:uniqueId val="{00000005-2E4C-4DB4-B47E-5B22FD3734EA}"/>
            </c:ext>
          </c:extLst>
        </c:ser>
        <c:ser>
          <c:idx val="1"/>
          <c:order val="1"/>
          <c:tx>
            <c:strRef>
              <c:f>Sheet1!$C$1</c:f>
              <c:strCache>
                <c:ptCount val="1"/>
                <c:pt idx="0">
                  <c:v>Desembolsada</c:v>
                </c:pt>
              </c:strCache>
            </c:strRef>
          </c:tx>
          <c:spPr>
            <a:ln w="25400">
              <a:solidFill>
                <a:srgbClr val="2F6FDE"/>
              </a:solidFill>
            </a:ln>
          </c:spPr>
          <c:marker>
            <c:symbol val="circle"/>
            <c:size val="6"/>
            <c:spPr>
              <a:solidFill>
                <a:srgbClr val="2F6FDE"/>
              </a:solidFill>
              <a:ln>
                <a:solidFill>
                  <a:srgbClr val="2F6FDE"/>
                </a:solidFill>
              </a:ln>
            </c:spPr>
          </c:marker>
          <c:dLbls>
            <c:dLbl>
              <c:idx val="0"/>
              <c:tx>
                <c:rich>
                  <a:bodyPr/>
                  <a:lstStyle/>
                  <a:p>
                    <a:r>
                      <a:rPr lang="en-US" sz="900" b="1">
                        <a:solidFill>
                          <a:srgbClr val="2F6FDE"/>
                        </a:solidFill>
                      </a:rPr>
                      <a:t>17,9</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2E4C-4DB4-B47E-5B22FD3734EA}"/>
                </c:ext>
              </c:extLst>
            </c:dLbl>
            <c:dLbl>
              <c:idx val="1"/>
              <c:tx>
                <c:rich>
                  <a:bodyPr/>
                  <a:lstStyle/>
                  <a:p>
                    <a:r>
                      <a:rPr lang="en-US" sz="900" b="1">
                        <a:solidFill>
                          <a:srgbClr val="2F6FDE"/>
                        </a:solidFill>
                      </a:rPr>
                      <a:t>17,8</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2E4C-4DB4-B47E-5B22FD3734EA}"/>
                </c:ext>
              </c:extLst>
            </c:dLbl>
            <c:dLbl>
              <c:idx val="2"/>
              <c:tx>
                <c:rich>
                  <a:bodyPr/>
                  <a:lstStyle/>
                  <a:p>
                    <a:r>
                      <a:rPr lang="en-US" sz="900" b="1">
                        <a:solidFill>
                          <a:srgbClr val="2F6FDE"/>
                        </a:solidFill>
                      </a:rPr>
                      <a:t>17,4</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8-2E4C-4DB4-B47E-5B22FD3734EA}"/>
                </c:ext>
              </c:extLst>
            </c:dLbl>
            <c:dLbl>
              <c:idx val="3"/>
              <c:tx>
                <c:rich>
                  <a:bodyPr/>
                  <a:lstStyle/>
                  <a:p>
                    <a:r>
                      <a:rPr lang="en-US" sz="900" b="1">
                        <a:solidFill>
                          <a:srgbClr val="2F6FDE"/>
                        </a:solidFill>
                      </a:rPr>
                      <a:t>16,8</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9-2E4C-4DB4-B47E-5B22FD3734EA}"/>
                </c:ext>
              </c:extLst>
            </c:dLbl>
            <c:dLbl>
              <c:idx val="4"/>
              <c:tx>
                <c:rich>
                  <a:bodyPr/>
                  <a:lstStyle/>
                  <a:p>
                    <a:r>
                      <a:rPr lang="en-US" sz="900" b="1">
                        <a:solidFill>
                          <a:srgbClr val="2F6FDE"/>
                        </a:solidFill>
                      </a:rPr>
                      <a:t>16,6</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A-2E4C-4DB4-B47E-5B22FD3734EA}"/>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Sheet1!$A$2:$A$6</c:f>
              <c:strCache>
                <c:ptCount val="5"/>
                <c:pt idx="0">
                  <c:v>2T25</c:v>
                </c:pt>
                <c:pt idx="1">
                  <c:v>3T25</c:v>
                </c:pt>
                <c:pt idx="2">
                  <c:v>4T25</c:v>
                </c:pt>
                <c:pt idx="3">
                  <c:v>1T26</c:v>
                </c:pt>
                <c:pt idx="4">
                  <c:v>2T26*</c:v>
                </c:pt>
              </c:strCache>
            </c:strRef>
          </c:cat>
          <c:val>
            <c:numRef>
              <c:f>Sheet1!$C$2:$C$6</c:f>
              <c:numCache>
                <c:formatCode>General</c:formatCode>
                <c:ptCount val="5"/>
                <c:pt idx="0">
                  <c:v>17.925455256465526</c:v>
                </c:pt>
                <c:pt idx="1">
                  <c:v>17.806558529112834</c:v>
                </c:pt>
                <c:pt idx="2">
                  <c:v>17.423079524206894</c:v>
                </c:pt>
                <c:pt idx="3">
                  <c:v>16.847916205797269</c:v>
                </c:pt>
                <c:pt idx="4">
                  <c:v>16.587739032620924</c:v>
                </c:pt>
              </c:numCache>
            </c:numRef>
          </c:val>
          <c:smooth val="0"/>
          <c:extLst>
            <c:ext xmlns:c16="http://schemas.microsoft.com/office/drawing/2014/chart" uri="{C3380CC4-5D6E-409C-BE32-E72D297353CC}">
              <c16:uniqueId val="{0000000B-2E4C-4DB4-B47E-5B22FD3734EA}"/>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low"/>
        <c:spPr>
          <a:ln>
            <a:solidFill>
              <a:srgbClr val="B8C2C1"/>
            </a:solidFill>
          </a:ln>
        </c:spPr>
        <c:txPr>
          <a:bodyPr/>
          <a:lstStyle/>
          <a:p>
            <a:pPr>
              <a:defRPr sz="750">
                <a:solidFill>
                  <a:srgbClr val="2F3B3A"/>
                </a:solidFill>
              </a:defRPr>
            </a:pPr>
            <a:endParaRPr lang="es-PE"/>
          </a:p>
        </c:txPr>
        <c:crossAx val="2140495176"/>
        <c:crosses val="autoZero"/>
        <c:auto val="1"/>
        <c:lblAlgn val="ctr"/>
        <c:lblOffset val="100"/>
        <c:noMultiLvlLbl val="0"/>
      </c:catAx>
      <c:valAx>
        <c:axId val="2140495176"/>
        <c:scaling>
          <c:orientation val="minMax"/>
          <c:max val="24"/>
          <c:min val="13"/>
        </c:scaling>
        <c:delete val="1"/>
        <c:axPos val="l"/>
        <c:numFmt formatCode="0.0" sourceLinked="0"/>
        <c:majorTickMark val="out"/>
        <c:minorTickMark val="none"/>
        <c:tickLblPos val="nextTo"/>
        <c:crossAx val="2118791784"/>
        <c:crosses val="autoZero"/>
        <c:crossBetween val="between"/>
      </c:valAx>
    </c:plotArea>
    <c:legend>
      <c:legendPos val="t"/>
      <c:overlay val="0"/>
      <c:txPr>
        <a:bodyPr/>
        <a:lstStyle/>
        <a:p>
          <a:pPr>
            <a:defRPr sz="750"/>
          </a:pPr>
          <a:endParaRPr lang="es-PE"/>
        </a:p>
      </c:txPr>
    </c:legend>
    <c:plotVisOnly val="1"/>
    <c:dispBlanksAs val="gap"/>
    <c:showDLblsOverMax val="0"/>
  </c:chart>
  <c:txPr>
    <a:bodyPr/>
    <a:lstStyle/>
    <a:p>
      <a:pPr>
        <a:defRPr sz="1800"/>
      </a:pPr>
      <a:endParaRPr lang="en-US"/>
    </a:p>
  </c:txPr>
  <c:externalData r:id="rId1">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0"/>
    <c:plotArea>
      <c:layout>
        <c:manualLayout>
          <c:layoutTarget val="inner"/>
          <c:xMode val="edge"/>
          <c:yMode val="edge"/>
          <c:x val="0.02"/>
          <c:y val="0.17"/>
          <c:w val="0.96"/>
          <c:h val="0.7"/>
        </c:manualLayout>
      </c:layout>
      <c:barChart>
        <c:barDir val="col"/>
        <c:grouping val="clustered"/>
        <c:varyColors val="1"/>
        <c:ser>
          <c:idx val="0"/>
          <c:order val="0"/>
          <c:tx>
            <c:strRef>
              <c:f>Sheet1!$B$1</c:f>
              <c:strCache>
                <c:ptCount val="1"/>
                <c:pt idx="0">
                  <c:v>Ofertada a desembolsos</c:v>
                </c:pt>
              </c:strCache>
            </c:strRef>
          </c:tx>
          <c:spPr>
            <a:solidFill>
              <a:srgbClr val="8E9B9A"/>
            </a:solidFill>
          </c:spPr>
          <c:invertIfNegative val="1"/>
          <c:dLbls>
            <c:dLbl>
              <c:idx val="0"/>
              <c:tx>
                <c:rich>
                  <a:bodyPr/>
                  <a:lstStyle/>
                  <a:p>
                    <a:r>
                      <a:rPr lang="en-US" sz="850" b="1">
                        <a:solidFill>
                          <a:srgbClr val="6E7E7D"/>
                        </a:solidFill>
                      </a:rPr>
                      <a:t>20,1</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80F9-4B6A-B671-F736FEC5EB65}"/>
                </c:ext>
              </c:extLst>
            </c:dLbl>
            <c:dLbl>
              <c:idx val="1"/>
              <c:tx>
                <c:rich>
                  <a:bodyPr/>
                  <a:lstStyle/>
                  <a:p>
                    <a:r>
                      <a:rPr lang="en-US" sz="850" b="1">
                        <a:solidFill>
                          <a:srgbClr val="6E7E7D"/>
                        </a:solidFill>
                      </a:rPr>
                      <a:t>19,0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80F9-4B6A-B671-F736FEC5EB65}"/>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Sheet1!$A$2:$A$3</c:f>
              <c:strCache>
                <c:ptCount val="2"/>
                <c:pt idx="0">
                  <c:v>250–350K</c:v>
                </c:pt>
                <c:pt idx="1">
                  <c:v>&gt; 350K</c:v>
                </c:pt>
              </c:strCache>
            </c:strRef>
          </c:cat>
          <c:val>
            <c:numRef>
              <c:f>Sheet1!$B$2:$B$3</c:f>
              <c:numCache>
                <c:formatCode>General</c:formatCode>
                <c:ptCount val="2"/>
                <c:pt idx="0">
                  <c:v>20.100000000000001</c:v>
                </c:pt>
                <c:pt idx="1">
                  <c:v>19</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80F9-4B6A-B671-F736FEC5EB65}"/>
            </c:ext>
          </c:extLst>
        </c:ser>
        <c:ser>
          <c:idx val="1"/>
          <c:order val="1"/>
          <c:tx>
            <c:strRef>
              <c:f>Sheet1!$C$1</c:f>
              <c:strCache>
                <c:ptCount val="1"/>
                <c:pt idx="0">
                  <c:v>Desembolsada</c:v>
                </c:pt>
              </c:strCache>
            </c:strRef>
          </c:tx>
          <c:spPr>
            <a:solidFill>
              <a:srgbClr val="2F6FDE"/>
            </a:solidFill>
          </c:spPr>
          <c:invertIfNegative val="1"/>
          <c:dLbls>
            <c:dLbl>
              <c:idx val="0"/>
              <c:tx>
                <c:rich>
                  <a:bodyPr/>
                  <a:lstStyle/>
                  <a:p>
                    <a:r>
                      <a:rPr lang="en-US" sz="850" b="1">
                        <a:solidFill>
                          <a:srgbClr val="2F6FDE"/>
                        </a:solidFill>
                      </a:rPr>
                      <a:t>17,0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80F9-4B6A-B671-F736FEC5EB65}"/>
                </c:ext>
              </c:extLst>
            </c:dLbl>
            <c:dLbl>
              <c:idx val="1"/>
              <c:tx>
                <c:rich>
                  <a:bodyPr/>
                  <a:lstStyle/>
                  <a:p>
                    <a:r>
                      <a:rPr lang="en-US" sz="850" b="1">
                        <a:solidFill>
                          <a:srgbClr val="2F6FDE"/>
                        </a:solidFill>
                      </a:rPr>
                      <a:t>16,5</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80F9-4B6A-B671-F736FEC5EB65}"/>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Sheet1!$A$2:$A$3</c:f>
              <c:strCache>
                <c:ptCount val="2"/>
                <c:pt idx="0">
                  <c:v>250–350K</c:v>
                </c:pt>
                <c:pt idx="1">
                  <c:v>&gt; 350K</c:v>
                </c:pt>
              </c:strCache>
            </c:strRef>
          </c:cat>
          <c:val>
            <c:numRef>
              <c:f>Sheet1!$C$2:$C$3</c:f>
              <c:numCache>
                <c:formatCode>General</c:formatCode>
                <c:ptCount val="2"/>
                <c:pt idx="0">
                  <c:v>17</c:v>
                </c:pt>
                <c:pt idx="1">
                  <c:v>16.5</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5-80F9-4B6A-B671-F736FEC5EB65}"/>
            </c:ext>
          </c:extLst>
        </c:ser>
        <c:ser>
          <c:idx val="2"/>
          <c:order val="2"/>
          <c:tx>
            <c:strRef>
              <c:f>Sheet1!$D$1</c:f>
              <c:strCache>
                <c:ptCount val="1"/>
                <c:pt idx="0">
                  <c:v>Competencia</c:v>
                </c:pt>
              </c:strCache>
            </c:strRef>
          </c:tx>
          <c:spPr>
            <a:solidFill>
              <a:srgbClr val="F28C28"/>
            </a:solidFill>
          </c:spPr>
          <c:invertIfNegative val="1"/>
          <c:dLbls>
            <c:dLbl>
              <c:idx val="0"/>
              <c:tx>
                <c:rich>
                  <a:bodyPr/>
                  <a:lstStyle/>
                  <a:p>
                    <a:r>
                      <a:rPr lang="en-US" sz="850" b="1">
                        <a:solidFill>
                          <a:srgbClr val="F28C28"/>
                        </a:solidFill>
                      </a:rPr>
                      <a:t>17,4</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80F9-4B6A-B671-F736FEC5EB65}"/>
                </c:ext>
              </c:extLst>
            </c:dLbl>
            <c:dLbl>
              <c:idx val="1"/>
              <c:tx>
                <c:rich>
                  <a:bodyPr/>
                  <a:lstStyle/>
                  <a:p>
                    <a:r>
                      <a:rPr lang="en-US" sz="850" b="1">
                        <a:solidFill>
                          <a:srgbClr val="F28C28"/>
                        </a:solidFill>
                      </a:rPr>
                      <a:t>15,0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80F9-4B6A-B671-F736FEC5EB65}"/>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Sheet1!$A$2:$A$3</c:f>
              <c:strCache>
                <c:ptCount val="2"/>
                <c:pt idx="0">
                  <c:v>250–350K</c:v>
                </c:pt>
                <c:pt idx="1">
                  <c:v>&gt; 350K</c:v>
                </c:pt>
              </c:strCache>
            </c:strRef>
          </c:cat>
          <c:val>
            <c:numRef>
              <c:f>Sheet1!$D$2:$D$3</c:f>
              <c:numCache>
                <c:formatCode>General</c:formatCode>
                <c:ptCount val="2"/>
                <c:pt idx="0">
                  <c:v>17.399999999999999</c:v>
                </c:pt>
                <c:pt idx="1">
                  <c:v>15</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8-80F9-4B6A-B671-F736FEC5EB65}"/>
            </c:ext>
          </c:extLst>
        </c:ser>
        <c:dLbls>
          <c:showLegendKey val="0"/>
          <c:showVal val="0"/>
          <c:showCatName val="0"/>
          <c:showSerName val="0"/>
          <c:showPercent val="0"/>
          <c:showBubbleSize val="0"/>
        </c:dLbls>
        <c:gapWidth val="60"/>
        <c:axId val="-2068027336"/>
        <c:axId val="-2113994440"/>
      </c:barChart>
      <c:catAx>
        <c:axId val="-2068027336"/>
        <c:scaling>
          <c:orientation val="minMax"/>
        </c:scaling>
        <c:delete val="0"/>
        <c:axPos val="b"/>
        <c:numFmt formatCode="General" sourceLinked="0"/>
        <c:majorTickMark val="out"/>
        <c:minorTickMark val="none"/>
        <c:tickLblPos val="none"/>
        <c:spPr>
          <a:ln>
            <a:solidFill>
              <a:srgbClr val="B8C2C1"/>
            </a:solidFill>
          </a:ln>
        </c:spPr>
        <c:txPr>
          <a:bodyPr/>
          <a:lstStyle/>
          <a:p>
            <a:pPr>
              <a:defRPr sz="100"/>
            </a:pPr>
            <a:endParaRPr lang="es-PE"/>
          </a:p>
        </c:txPr>
        <c:crossAx val="-2113994440"/>
        <c:crosses val="autoZero"/>
        <c:auto val="1"/>
        <c:lblAlgn val="ctr"/>
        <c:lblOffset val="100"/>
        <c:noMultiLvlLbl val="0"/>
      </c:catAx>
      <c:valAx>
        <c:axId val="-2113994440"/>
        <c:scaling>
          <c:orientation val="minMax"/>
          <c:max val="22.6"/>
          <c:min val="13"/>
        </c:scaling>
        <c:delete val="1"/>
        <c:axPos val="l"/>
        <c:numFmt formatCode="General" sourceLinked="1"/>
        <c:majorTickMark val="out"/>
        <c:minorTickMark val="none"/>
        <c:tickLblPos val="nextTo"/>
        <c:crossAx val="-2068027336"/>
        <c:crosses val="autoZero"/>
        <c:crossBetween val="between"/>
      </c:valAx>
    </c:plotArea>
    <c:legend>
      <c:legendPos val="t"/>
      <c:overlay val="0"/>
      <c:txPr>
        <a:bodyPr/>
        <a:lstStyle/>
        <a:p>
          <a:pPr>
            <a:defRPr sz="800"/>
          </a:pPr>
          <a:endParaRPr lang="es-PE"/>
        </a:p>
      </c:txPr>
    </c:legend>
    <c:plotVisOnly val="1"/>
    <c:dispBlanksAs val="gap"/>
    <c:showDLblsOverMax val="1"/>
  </c:chart>
  <c:txPr>
    <a:bodyPr/>
    <a:lstStyle/>
    <a:p>
      <a:pPr>
        <a:defRPr sz="1800"/>
      </a:pPr>
      <a:endParaRPr lang="en-US"/>
    </a:p>
  </c:txPr>
  <c:externalData r:id="rId1">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0"/>
    <c:plotArea>
      <c:layout>
        <c:manualLayout>
          <c:layoutTarget val="inner"/>
          <c:xMode val="edge"/>
          <c:yMode val="edge"/>
          <c:x val="0.02"/>
          <c:y val="0.06"/>
          <c:w val="0.96"/>
          <c:h val="0.8"/>
        </c:manualLayout>
      </c:layout>
      <c:barChart>
        <c:barDir val="col"/>
        <c:grouping val="clustered"/>
        <c:varyColors val="1"/>
        <c:ser>
          <c:idx val="0"/>
          <c:order val="0"/>
          <c:tx>
            <c:strRef>
              <c:f>Sheet1!$B$1</c:f>
              <c:strCache>
                <c:ptCount val="1"/>
                <c:pt idx="0">
                  <c:v>Ofertada a desembolsos</c:v>
                </c:pt>
              </c:strCache>
            </c:strRef>
          </c:tx>
          <c:spPr>
            <a:solidFill>
              <a:srgbClr val="8E9B9A"/>
            </a:solidFill>
          </c:spPr>
          <c:invertIfNegative val="1"/>
          <c:dLbls>
            <c:dLbl>
              <c:idx val="0"/>
              <c:tx>
                <c:rich>
                  <a:bodyPr/>
                  <a:lstStyle/>
                  <a:p>
                    <a:r>
                      <a:rPr lang="en-US" sz="850" b="1">
                        <a:solidFill>
                          <a:srgbClr val="6E7E7D"/>
                        </a:solidFill>
                      </a:rPr>
                      <a:t>21,0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12A5-4882-BAB6-7BB22131E9DB}"/>
                </c:ext>
              </c:extLst>
            </c:dLbl>
            <c:dLbl>
              <c:idx val="1"/>
              <c:tx>
                <c:rich>
                  <a:bodyPr/>
                  <a:lstStyle/>
                  <a:p>
                    <a:r>
                      <a:rPr lang="en-US" sz="850" b="1">
                        <a:solidFill>
                          <a:srgbClr val="6E7E7D"/>
                        </a:solidFill>
                      </a:rPr>
                      <a:t>19,0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12A5-4882-BAB6-7BB22131E9DB}"/>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Sheet1!$A$2:$A$3</c:f>
              <c:strCache>
                <c:ptCount val="2"/>
                <c:pt idx="0">
                  <c:v>250–350K</c:v>
                </c:pt>
                <c:pt idx="1">
                  <c:v>&gt; 350K</c:v>
                </c:pt>
              </c:strCache>
            </c:strRef>
          </c:cat>
          <c:val>
            <c:numRef>
              <c:f>Sheet1!$B$2:$B$3</c:f>
              <c:numCache>
                <c:formatCode>General</c:formatCode>
                <c:ptCount val="2"/>
                <c:pt idx="0">
                  <c:v>21</c:v>
                </c:pt>
                <c:pt idx="1">
                  <c:v>19</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12A5-4882-BAB6-7BB22131E9DB}"/>
            </c:ext>
          </c:extLst>
        </c:ser>
        <c:ser>
          <c:idx val="1"/>
          <c:order val="1"/>
          <c:tx>
            <c:strRef>
              <c:f>Sheet1!$C$1</c:f>
              <c:strCache>
                <c:ptCount val="1"/>
                <c:pt idx="0">
                  <c:v>Desembolsada</c:v>
                </c:pt>
              </c:strCache>
            </c:strRef>
          </c:tx>
          <c:spPr>
            <a:solidFill>
              <a:srgbClr val="2F6FDE"/>
            </a:solidFill>
          </c:spPr>
          <c:invertIfNegative val="1"/>
          <c:dLbls>
            <c:dLbl>
              <c:idx val="0"/>
              <c:tx>
                <c:rich>
                  <a:bodyPr/>
                  <a:lstStyle/>
                  <a:p>
                    <a:r>
                      <a:rPr lang="en-US" sz="850" b="1">
                        <a:solidFill>
                          <a:srgbClr val="2F6FDE"/>
                        </a:solidFill>
                      </a:rPr>
                      <a:t>17,0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12A5-4882-BAB6-7BB22131E9DB}"/>
                </c:ext>
              </c:extLst>
            </c:dLbl>
            <c:dLbl>
              <c:idx val="1"/>
              <c:tx>
                <c:rich>
                  <a:bodyPr/>
                  <a:lstStyle/>
                  <a:p>
                    <a:r>
                      <a:rPr lang="en-US" sz="850" b="1">
                        <a:solidFill>
                          <a:srgbClr val="2F6FDE"/>
                        </a:solidFill>
                      </a:rPr>
                      <a:t>16,0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12A5-4882-BAB6-7BB22131E9DB}"/>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Sheet1!$A$2:$A$3</c:f>
              <c:strCache>
                <c:ptCount val="2"/>
                <c:pt idx="0">
                  <c:v>250–350K</c:v>
                </c:pt>
                <c:pt idx="1">
                  <c:v>&gt; 350K</c:v>
                </c:pt>
              </c:strCache>
            </c:strRef>
          </c:cat>
          <c:val>
            <c:numRef>
              <c:f>Sheet1!$C$2:$C$3</c:f>
              <c:numCache>
                <c:formatCode>General</c:formatCode>
                <c:ptCount val="2"/>
                <c:pt idx="0">
                  <c:v>17</c:v>
                </c:pt>
                <c:pt idx="1">
                  <c:v>16</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5-12A5-4882-BAB6-7BB22131E9DB}"/>
            </c:ext>
          </c:extLst>
        </c:ser>
        <c:ser>
          <c:idx val="2"/>
          <c:order val="2"/>
          <c:tx>
            <c:strRef>
              <c:f>Sheet1!$D$1</c:f>
              <c:strCache>
                <c:ptCount val="1"/>
                <c:pt idx="0">
                  <c:v>Competencia</c:v>
                </c:pt>
              </c:strCache>
            </c:strRef>
          </c:tx>
          <c:spPr>
            <a:solidFill>
              <a:srgbClr val="F28C28"/>
            </a:solidFill>
          </c:spPr>
          <c:invertIfNegative val="1"/>
          <c:dLbls>
            <c:dLbl>
              <c:idx val="0"/>
              <c:tx>
                <c:rich>
                  <a:bodyPr/>
                  <a:lstStyle/>
                  <a:p>
                    <a:r>
                      <a:rPr lang="en-US" sz="850" b="1">
                        <a:solidFill>
                          <a:srgbClr val="F28C28"/>
                        </a:solidFill>
                      </a:rPr>
                      <a:t>15,8</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12A5-4882-BAB6-7BB22131E9DB}"/>
                </c:ext>
              </c:extLst>
            </c:dLbl>
            <c:dLbl>
              <c:idx val="1"/>
              <c:tx>
                <c:rich>
                  <a:bodyPr/>
                  <a:lstStyle/>
                  <a:p>
                    <a:r>
                      <a:rPr lang="en-US" sz="850" b="1">
                        <a:solidFill>
                          <a:srgbClr val="F28C28"/>
                        </a:solidFill>
                      </a:rPr>
                      <a:t>15,7</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12A5-4882-BAB6-7BB22131E9DB}"/>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Sheet1!$A$2:$A$3</c:f>
              <c:strCache>
                <c:ptCount val="2"/>
                <c:pt idx="0">
                  <c:v>250–350K</c:v>
                </c:pt>
                <c:pt idx="1">
                  <c:v>&gt; 350K</c:v>
                </c:pt>
              </c:strCache>
            </c:strRef>
          </c:cat>
          <c:val>
            <c:numRef>
              <c:f>Sheet1!$D$2:$D$3</c:f>
              <c:numCache>
                <c:formatCode>General</c:formatCode>
                <c:ptCount val="2"/>
                <c:pt idx="0">
                  <c:v>15.8</c:v>
                </c:pt>
                <c:pt idx="1">
                  <c:v>15.7</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8-12A5-4882-BAB6-7BB22131E9DB}"/>
            </c:ext>
          </c:extLst>
        </c:ser>
        <c:dLbls>
          <c:showLegendKey val="0"/>
          <c:showVal val="0"/>
          <c:showCatName val="0"/>
          <c:showSerName val="0"/>
          <c:showPercent val="0"/>
          <c:showBubbleSize val="0"/>
        </c:dLbls>
        <c:gapWidth val="60"/>
        <c:axId val="-2068027336"/>
        <c:axId val="-2113994440"/>
      </c:barChart>
      <c:catAx>
        <c:axId val="-2068027336"/>
        <c:scaling>
          <c:orientation val="minMax"/>
        </c:scaling>
        <c:delete val="0"/>
        <c:axPos val="b"/>
        <c:numFmt formatCode="General" sourceLinked="0"/>
        <c:majorTickMark val="out"/>
        <c:minorTickMark val="none"/>
        <c:tickLblPos val="none"/>
        <c:spPr>
          <a:ln>
            <a:solidFill>
              <a:srgbClr val="B8C2C1"/>
            </a:solidFill>
          </a:ln>
        </c:spPr>
        <c:txPr>
          <a:bodyPr/>
          <a:lstStyle/>
          <a:p>
            <a:pPr>
              <a:defRPr sz="100"/>
            </a:pPr>
            <a:endParaRPr lang="es-PE"/>
          </a:p>
        </c:txPr>
        <c:crossAx val="-2113994440"/>
        <c:crosses val="autoZero"/>
        <c:auto val="1"/>
        <c:lblAlgn val="ctr"/>
        <c:lblOffset val="100"/>
        <c:noMultiLvlLbl val="0"/>
      </c:catAx>
      <c:valAx>
        <c:axId val="-2113994440"/>
        <c:scaling>
          <c:orientation val="minMax"/>
          <c:max val="22.5"/>
          <c:min val="13.7"/>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lineChart>
        <c:grouping val="standard"/>
        <c:varyColors val="0"/>
        <c:ser>
          <c:idx val="0"/>
          <c:order val="0"/>
          <c:tx>
            <c:strRef>
              <c:f>Sheet1!$B$1</c:f>
              <c:strCache>
                <c:ptCount val="1"/>
                <c:pt idx="0">
                  <c:v>Pasivos &lt; S/ 1K</c:v>
                </c:pt>
              </c:strCache>
            </c:strRef>
          </c:tx>
          <c:spPr>
            <a:ln w="25400">
              <a:solidFill>
                <a:srgbClr val="13807B"/>
              </a:solidFill>
            </a:ln>
          </c:spPr>
          <c:marker>
            <c:symbol val="circle"/>
            <c:size val="6"/>
            <c:spPr>
              <a:solidFill>
                <a:srgbClr val="13807B"/>
              </a:solidFill>
              <a:ln>
                <a:solidFill>
                  <a:srgbClr val="13807B"/>
                </a:solidFill>
              </a:ln>
            </c:spPr>
          </c:marker>
          <c:dLbls>
            <c:dLbl>
              <c:idx val="0"/>
              <c:tx>
                <c:rich>
                  <a:bodyPr/>
                  <a:lstStyle/>
                  <a:p>
                    <a:r>
                      <a:rPr lang="en-US" sz="850" b="1">
                        <a:solidFill>
                          <a:srgbClr val="13807B"/>
                        </a:solidFill>
                      </a:rPr>
                      <a:t>51</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489D-4272-A05D-0828A1FD5EF0}"/>
                </c:ext>
              </c:extLst>
            </c:dLbl>
            <c:dLbl>
              <c:idx val="1"/>
              <c:tx>
                <c:rich>
                  <a:bodyPr/>
                  <a:lstStyle/>
                  <a:p>
                    <a:r>
                      <a:rPr lang="en-US" sz="850" b="1">
                        <a:solidFill>
                          <a:srgbClr val="13807B"/>
                        </a:solidFill>
                      </a:rPr>
                      <a:t>29</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489D-4272-A05D-0828A1FD5EF0}"/>
                </c:ext>
              </c:extLst>
            </c:dLbl>
            <c:dLbl>
              <c:idx val="2"/>
              <c:tx>
                <c:rich>
                  <a:bodyPr/>
                  <a:lstStyle/>
                  <a:p>
                    <a:r>
                      <a:rPr lang="en-US" sz="850" b="1">
                        <a:solidFill>
                          <a:srgbClr val="13807B"/>
                        </a:solidFill>
                      </a:rPr>
                      <a:t>34</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489D-4272-A05D-0828A1FD5EF0}"/>
                </c:ext>
              </c:extLst>
            </c:dLbl>
            <c:dLbl>
              <c:idx val="3"/>
              <c:tx>
                <c:rich>
                  <a:bodyPr/>
                  <a:lstStyle/>
                  <a:p>
                    <a:r>
                      <a:rPr lang="en-US" sz="850" b="1">
                        <a:solidFill>
                          <a:srgbClr val="13807B"/>
                        </a:solidFill>
                      </a:rPr>
                      <a:t>22</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489D-4272-A05D-0828A1FD5EF0}"/>
                </c:ext>
              </c:extLst>
            </c:dLbl>
            <c:dLbl>
              <c:idx val="4"/>
              <c:tx>
                <c:rich>
                  <a:bodyPr/>
                  <a:lstStyle/>
                  <a:p>
                    <a:r>
                      <a:rPr lang="en-US" sz="850" b="1">
                        <a:solidFill>
                          <a:srgbClr val="13807B"/>
                        </a:solidFill>
                      </a:rPr>
                      <a:t>9</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489D-4272-A05D-0828A1FD5EF0}"/>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Sheet1!$A$2:$A$6</c:f>
              <c:strCache>
                <c:ptCount val="5"/>
                <c:pt idx="0">
                  <c:v>2T25</c:v>
                </c:pt>
                <c:pt idx="1">
                  <c:v>3T25</c:v>
                </c:pt>
                <c:pt idx="2">
                  <c:v>4T25</c:v>
                </c:pt>
                <c:pt idx="3">
                  <c:v>1T26</c:v>
                </c:pt>
                <c:pt idx="4">
                  <c:v>2T26*</c:v>
                </c:pt>
              </c:strCache>
            </c:strRef>
          </c:cat>
          <c:val>
            <c:numRef>
              <c:f>Sheet1!$B$2:$B$6</c:f>
              <c:numCache>
                <c:formatCode>General</c:formatCode>
                <c:ptCount val="5"/>
                <c:pt idx="0">
                  <c:v>50.981249823172824</c:v>
                </c:pt>
                <c:pt idx="1">
                  <c:v>29.333063577931945</c:v>
                </c:pt>
                <c:pt idx="2">
                  <c:v>33.721382346608664</c:v>
                </c:pt>
                <c:pt idx="3">
                  <c:v>21.857098031300868</c:v>
                </c:pt>
                <c:pt idx="4">
                  <c:v>9.4237235410960558</c:v>
                </c:pt>
              </c:numCache>
            </c:numRef>
          </c:val>
          <c:smooth val="0"/>
          <c:extLst>
            <c:ext xmlns:c16="http://schemas.microsoft.com/office/drawing/2014/chart" uri="{C3380CC4-5D6E-409C-BE32-E72D297353CC}">
              <c16:uniqueId val="{00000005-489D-4272-A05D-0828A1FD5EF0}"/>
            </c:ext>
          </c:extLst>
        </c:ser>
        <c:ser>
          <c:idx val="1"/>
          <c:order val="1"/>
          <c:tx>
            <c:strRef>
              <c:f>Sheet1!$C$1</c:f>
              <c:strCache>
                <c:ptCount val="1"/>
                <c:pt idx="0">
                  <c:v>Pasivos ≥ S/ 5K</c:v>
                </c:pt>
              </c:strCache>
            </c:strRef>
          </c:tx>
          <c:spPr>
            <a:ln w="25400">
              <a:solidFill>
                <a:srgbClr val="E5173F"/>
              </a:solidFill>
            </a:ln>
          </c:spPr>
          <c:marker>
            <c:symbol val="circle"/>
            <c:size val="6"/>
            <c:spPr>
              <a:solidFill>
                <a:srgbClr val="E5173F"/>
              </a:solidFill>
              <a:ln>
                <a:solidFill>
                  <a:srgbClr val="E5173F"/>
                </a:solidFill>
              </a:ln>
            </c:spPr>
          </c:marker>
          <c:dLbls>
            <c:dLbl>
              <c:idx val="0"/>
              <c:tx>
                <c:rich>
                  <a:bodyPr/>
                  <a:lstStyle/>
                  <a:p>
                    <a:r>
                      <a:rPr lang="en-US" sz="850" b="1">
                        <a:solidFill>
                          <a:srgbClr val="E5173F"/>
                        </a:solidFill>
                      </a:rPr>
                      <a:t>70</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489D-4272-A05D-0828A1FD5EF0}"/>
                </c:ext>
              </c:extLst>
            </c:dLbl>
            <c:dLbl>
              <c:idx val="1"/>
              <c:tx>
                <c:rich>
                  <a:bodyPr/>
                  <a:lstStyle/>
                  <a:p>
                    <a:r>
                      <a:rPr lang="en-US" sz="850" b="1">
                        <a:solidFill>
                          <a:srgbClr val="E5173F"/>
                        </a:solidFill>
                      </a:rPr>
                      <a:t>46</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489D-4272-A05D-0828A1FD5EF0}"/>
                </c:ext>
              </c:extLst>
            </c:dLbl>
            <c:dLbl>
              <c:idx val="2"/>
              <c:tx>
                <c:rich>
                  <a:bodyPr/>
                  <a:lstStyle/>
                  <a:p>
                    <a:r>
                      <a:rPr lang="en-US" sz="850" b="1">
                        <a:solidFill>
                          <a:srgbClr val="E5173F"/>
                        </a:solidFill>
                      </a:rPr>
                      <a:t>35</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8-489D-4272-A05D-0828A1FD5EF0}"/>
                </c:ext>
              </c:extLst>
            </c:dLbl>
            <c:dLbl>
              <c:idx val="3"/>
              <c:tx>
                <c:rich>
                  <a:bodyPr/>
                  <a:lstStyle/>
                  <a:p>
                    <a:r>
                      <a:rPr lang="en-US" sz="850" b="1">
                        <a:solidFill>
                          <a:srgbClr val="E5173F"/>
                        </a:solidFill>
                      </a:rPr>
                      <a:t>40</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9-489D-4272-A05D-0828A1FD5EF0}"/>
                </c:ext>
              </c:extLst>
            </c:dLbl>
            <c:dLbl>
              <c:idx val="4"/>
              <c:tx>
                <c:rich>
                  <a:bodyPr/>
                  <a:lstStyle/>
                  <a:p>
                    <a:r>
                      <a:rPr lang="en-US" sz="850" b="1">
                        <a:solidFill>
                          <a:srgbClr val="E5173F"/>
                        </a:solidFill>
                      </a:rPr>
                      <a:t>40</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A-489D-4272-A05D-0828A1FD5EF0}"/>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Sheet1!$A$2:$A$6</c:f>
              <c:strCache>
                <c:ptCount val="5"/>
                <c:pt idx="0">
                  <c:v>2T25</c:v>
                </c:pt>
                <c:pt idx="1">
                  <c:v>3T25</c:v>
                </c:pt>
                <c:pt idx="2">
                  <c:v>4T25</c:v>
                </c:pt>
                <c:pt idx="3">
                  <c:v>1T26</c:v>
                </c:pt>
                <c:pt idx="4">
                  <c:v>2T26*</c:v>
                </c:pt>
              </c:strCache>
            </c:strRef>
          </c:cat>
          <c:val>
            <c:numRef>
              <c:f>Sheet1!$C$2:$C$6</c:f>
              <c:numCache>
                <c:formatCode>General</c:formatCode>
                <c:ptCount val="5"/>
                <c:pt idx="0">
                  <c:v>69.694409917352033</c:v>
                </c:pt>
                <c:pt idx="1">
                  <c:v>46.112751330358947</c:v>
                </c:pt>
                <c:pt idx="2">
                  <c:v>35.481141506804441</c:v>
                </c:pt>
                <c:pt idx="3">
                  <c:v>39.695120258391462</c:v>
                </c:pt>
                <c:pt idx="4">
                  <c:v>40.005719110216845</c:v>
                </c:pt>
              </c:numCache>
            </c:numRef>
          </c:val>
          <c:smooth val="0"/>
          <c:extLst>
            <c:ext xmlns:c16="http://schemas.microsoft.com/office/drawing/2014/chart" uri="{C3380CC4-5D6E-409C-BE32-E72D297353CC}">
              <c16:uniqueId val="{0000000B-489D-4272-A05D-0828A1FD5EF0}"/>
            </c:ext>
          </c:extLst>
        </c:ser>
        <c:ser>
          <c:idx val="2"/>
          <c:order val="2"/>
          <c:tx>
            <c:strRef>
              <c:f>Sheet1!$D$1</c:f>
              <c:strCache>
                <c:ptCount val="1"/>
                <c:pt idx="0">
                  <c:v>Total</c:v>
                </c:pt>
              </c:strCache>
            </c:strRef>
          </c:tx>
          <c:spPr>
            <a:ln w="25400">
              <a:solidFill>
                <a:srgbClr val="555555"/>
              </a:solidFill>
              <a:prstDash val="dash"/>
            </a:ln>
          </c:spPr>
          <c:marker>
            <c:symbol val="triangle"/>
            <c:size val="6"/>
            <c:spPr>
              <a:solidFill>
                <a:srgbClr val="555555"/>
              </a:solidFill>
              <a:ln>
                <a:solidFill>
                  <a:srgbClr val="555555"/>
                </a:solidFill>
              </a:ln>
            </c:spPr>
          </c:marker>
          <c:dLbls>
            <c:dLbl>
              <c:idx val="0"/>
              <c:tx>
                <c:rich>
                  <a:bodyPr/>
                  <a:lstStyle/>
                  <a:p>
                    <a:r>
                      <a:rPr lang="en-US" sz="850" b="1">
                        <a:solidFill>
                          <a:srgbClr val="555555"/>
                        </a:solidFill>
                      </a:rPr>
                      <a:t>62</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C-489D-4272-A05D-0828A1FD5EF0}"/>
                </c:ext>
              </c:extLst>
            </c:dLbl>
            <c:dLbl>
              <c:idx val="1"/>
              <c:tx>
                <c:rich>
                  <a:bodyPr/>
                  <a:lstStyle/>
                  <a:p>
                    <a:r>
                      <a:rPr lang="en-US" sz="850" b="1">
                        <a:solidFill>
                          <a:srgbClr val="555555"/>
                        </a:solidFill>
                      </a:rPr>
                      <a:t>41</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D-489D-4272-A05D-0828A1FD5EF0}"/>
                </c:ext>
              </c:extLst>
            </c:dLbl>
            <c:dLbl>
              <c:idx val="2"/>
              <c:tx>
                <c:rich>
                  <a:bodyPr/>
                  <a:lstStyle/>
                  <a:p>
                    <a:r>
                      <a:rPr lang="en-US" sz="850" b="1">
                        <a:solidFill>
                          <a:srgbClr val="555555"/>
                        </a:solidFill>
                      </a:rPr>
                      <a:t>38</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E-489D-4272-A05D-0828A1FD5EF0}"/>
                </c:ext>
              </c:extLst>
            </c:dLbl>
            <c:dLbl>
              <c:idx val="3"/>
              <c:tx>
                <c:rich>
                  <a:bodyPr/>
                  <a:lstStyle/>
                  <a:p>
                    <a:r>
                      <a:rPr lang="en-US" sz="850" b="1">
                        <a:solidFill>
                          <a:srgbClr val="555555"/>
                        </a:solidFill>
                      </a:rPr>
                      <a:t>28</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F-489D-4272-A05D-0828A1FD5EF0}"/>
                </c:ext>
              </c:extLst>
            </c:dLbl>
            <c:dLbl>
              <c:idx val="4"/>
              <c:tx>
                <c:rich>
                  <a:bodyPr/>
                  <a:lstStyle/>
                  <a:p>
                    <a:r>
                      <a:rPr lang="en-US" sz="850" b="1">
                        <a:solidFill>
                          <a:srgbClr val="555555"/>
                        </a:solidFill>
                      </a:rPr>
                      <a:t>28</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0-489D-4272-A05D-0828A1FD5EF0}"/>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Sheet1!$A$2:$A$6</c:f>
              <c:strCache>
                <c:ptCount val="5"/>
                <c:pt idx="0">
                  <c:v>2T25</c:v>
                </c:pt>
                <c:pt idx="1">
                  <c:v>3T25</c:v>
                </c:pt>
                <c:pt idx="2">
                  <c:v>4T25</c:v>
                </c:pt>
                <c:pt idx="3">
                  <c:v>1T26</c:v>
                </c:pt>
                <c:pt idx="4">
                  <c:v>2T26*</c:v>
                </c:pt>
              </c:strCache>
            </c:strRef>
          </c:cat>
          <c:val>
            <c:numRef>
              <c:f>Sheet1!$D$2:$D$6</c:f>
              <c:numCache>
                <c:formatCode>General</c:formatCode>
                <c:ptCount val="5"/>
                <c:pt idx="0">
                  <c:v>62.24352680664844</c:v>
                </c:pt>
                <c:pt idx="1">
                  <c:v>41.085219811336138</c:v>
                </c:pt>
                <c:pt idx="2">
                  <c:v>37.748984974685833</c:v>
                </c:pt>
                <c:pt idx="3">
                  <c:v>28.425816305672573</c:v>
                </c:pt>
                <c:pt idx="4">
                  <c:v>28.461621180028175</c:v>
                </c:pt>
              </c:numCache>
            </c:numRef>
          </c:val>
          <c:smooth val="0"/>
          <c:extLst>
            <c:ext xmlns:c16="http://schemas.microsoft.com/office/drawing/2014/chart" uri="{C3380CC4-5D6E-409C-BE32-E72D297353CC}">
              <c16:uniqueId val="{00000011-489D-4272-A05D-0828A1FD5EF0}"/>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low"/>
        <c:spPr>
          <a:ln>
            <a:solidFill>
              <a:srgbClr val="B8C2C1"/>
            </a:solidFill>
          </a:ln>
        </c:spPr>
        <c:txPr>
          <a:bodyPr/>
          <a:lstStyle/>
          <a:p>
            <a:pPr>
              <a:defRPr sz="800">
                <a:solidFill>
                  <a:srgbClr val="2F3B3A"/>
                </a:solidFill>
              </a:defRPr>
            </a:pPr>
            <a:endParaRPr lang="es-PE"/>
          </a:p>
        </c:txPr>
        <c:crossAx val="2140495176"/>
        <c:crosses val="autoZero"/>
        <c:auto val="1"/>
        <c:lblAlgn val="ctr"/>
        <c:lblOffset val="100"/>
        <c:noMultiLvlLbl val="0"/>
      </c:catAx>
      <c:valAx>
        <c:axId val="2140495176"/>
        <c:scaling>
          <c:orientation val="minMax"/>
          <c:max val="79"/>
          <c:min val="0"/>
        </c:scaling>
        <c:delete val="1"/>
        <c:axPos val="l"/>
        <c:numFmt formatCode="0" sourceLinked="0"/>
        <c:majorTickMark val="out"/>
        <c:minorTickMark val="none"/>
        <c:tickLblPos val="nextTo"/>
        <c:crossAx val="2118791784"/>
        <c:crosses val="autoZero"/>
        <c:crossBetween val="between"/>
      </c:valAx>
    </c:plotArea>
    <c:legend>
      <c:legendPos val="t"/>
      <c:overlay val="0"/>
      <c:txPr>
        <a:bodyPr/>
        <a:lstStyle/>
        <a:p>
          <a:pPr>
            <a:defRPr sz="800"/>
          </a:pPr>
          <a:endParaRPr lang="es-PE"/>
        </a:p>
      </c:txPr>
    </c:legend>
    <c:plotVisOnly val="1"/>
    <c:dispBlanksAs val="gap"/>
    <c:showDLblsOverMax val="0"/>
  </c:chart>
  <c:txPr>
    <a:bodyPr/>
    <a:lstStyle/>
    <a:p>
      <a:pPr>
        <a:defRPr sz="1800"/>
      </a:pPr>
      <a:endParaRPr lang="en-US"/>
    </a:p>
  </c:txPr>
  <c:externalData r:id="rId1">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lineChart>
        <c:grouping val="standard"/>
        <c:varyColors val="0"/>
        <c:ser>
          <c:idx val="0"/>
          <c:order val="0"/>
          <c:tx>
            <c:strRef>
              <c:f>Sheet1!$B$1</c:f>
              <c:strCache>
                <c:ptCount val="1"/>
                <c:pt idx="0">
                  <c:v>Ofertada a desembolsos</c:v>
                </c:pt>
              </c:strCache>
            </c:strRef>
          </c:tx>
          <c:spPr>
            <a:ln w="25400">
              <a:solidFill>
                <a:srgbClr val="8E9B9A"/>
              </a:solidFill>
              <a:prstDash val="dash"/>
            </a:ln>
          </c:spPr>
          <c:marker>
            <c:symbol val="circle"/>
            <c:size val="6"/>
            <c:spPr>
              <a:solidFill>
                <a:srgbClr val="8E9B9A"/>
              </a:solidFill>
              <a:ln>
                <a:solidFill>
                  <a:srgbClr val="8E9B9A"/>
                </a:solidFill>
              </a:ln>
            </c:spPr>
          </c:marker>
          <c:dLbls>
            <c:dLbl>
              <c:idx val="0"/>
              <c:tx>
                <c:rich>
                  <a:bodyPr/>
                  <a:lstStyle/>
                  <a:p>
                    <a:r>
                      <a:rPr lang="en-US" sz="900" b="1">
                        <a:solidFill>
                          <a:srgbClr val="8E9B9A"/>
                        </a:solidFill>
                      </a:rPr>
                      <a:t>21,7</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0157-4163-8595-BCDE5ECC77A0}"/>
                </c:ext>
              </c:extLst>
            </c:dLbl>
            <c:dLbl>
              <c:idx val="1"/>
              <c:tx>
                <c:rich>
                  <a:bodyPr/>
                  <a:lstStyle/>
                  <a:p>
                    <a:r>
                      <a:rPr lang="en-US" sz="900" b="1">
                        <a:solidFill>
                          <a:srgbClr val="8E9B9A"/>
                        </a:solidFill>
                      </a:rPr>
                      <a:t>20,7</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0157-4163-8595-BCDE5ECC77A0}"/>
                </c:ext>
              </c:extLst>
            </c:dLbl>
            <c:dLbl>
              <c:idx val="2"/>
              <c:tx>
                <c:rich>
                  <a:bodyPr/>
                  <a:lstStyle/>
                  <a:p>
                    <a:r>
                      <a:rPr lang="en-US" sz="900" b="1">
                        <a:solidFill>
                          <a:srgbClr val="8E9B9A"/>
                        </a:solidFill>
                      </a:rPr>
                      <a:t>19,9</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0157-4163-8595-BCDE5ECC77A0}"/>
                </c:ext>
              </c:extLst>
            </c:dLbl>
            <c:dLbl>
              <c:idx val="3"/>
              <c:tx>
                <c:rich>
                  <a:bodyPr/>
                  <a:lstStyle/>
                  <a:p>
                    <a:r>
                      <a:rPr lang="en-US" sz="900" b="1">
                        <a:solidFill>
                          <a:srgbClr val="8E9B9A"/>
                        </a:solidFill>
                      </a:rPr>
                      <a:t>19,8</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0157-4163-8595-BCDE5ECC77A0}"/>
                </c:ext>
              </c:extLst>
            </c:dLbl>
            <c:dLbl>
              <c:idx val="4"/>
              <c:tx>
                <c:rich>
                  <a:bodyPr/>
                  <a:lstStyle/>
                  <a:p>
                    <a:r>
                      <a:rPr lang="en-US" sz="900" b="1">
                        <a:solidFill>
                          <a:srgbClr val="8E9B9A"/>
                        </a:solidFill>
                      </a:rPr>
                      <a:t>20,6</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0157-4163-8595-BCDE5ECC77A0}"/>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Sheet1!$A$2:$A$6</c:f>
              <c:strCache>
                <c:ptCount val="5"/>
                <c:pt idx="0">
                  <c:v>2T25</c:v>
                </c:pt>
                <c:pt idx="1">
                  <c:v>3T25</c:v>
                </c:pt>
                <c:pt idx="2">
                  <c:v>4T25</c:v>
                </c:pt>
                <c:pt idx="3">
                  <c:v>1T26</c:v>
                </c:pt>
                <c:pt idx="4">
                  <c:v>2T26*</c:v>
                </c:pt>
              </c:strCache>
            </c:strRef>
          </c:cat>
          <c:val>
            <c:numRef>
              <c:f>Sheet1!$B$2:$B$6</c:f>
              <c:numCache>
                <c:formatCode>General</c:formatCode>
                <c:ptCount val="5"/>
                <c:pt idx="0">
                  <c:v>21.7</c:v>
                </c:pt>
                <c:pt idx="1">
                  <c:v>20.7</c:v>
                </c:pt>
                <c:pt idx="2">
                  <c:v>19.899999999999999</c:v>
                </c:pt>
                <c:pt idx="3">
                  <c:v>19.8</c:v>
                </c:pt>
                <c:pt idx="4">
                  <c:v>20.6</c:v>
                </c:pt>
              </c:numCache>
            </c:numRef>
          </c:val>
          <c:smooth val="0"/>
          <c:extLst>
            <c:ext xmlns:c16="http://schemas.microsoft.com/office/drawing/2014/chart" uri="{C3380CC4-5D6E-409C-BE32-E72D297353CC}">
              <c16:uniqueId val="{00000005-0157-4163-8595-BCDE5ECC77A0}"/>
            </c:ext>
          </c:extLst>
        </c:ser>
        <c:ser>
          <c:idx val="1"/>
          <c:order val="1"/>
          <c:tx>
            <c:strRef>
              <c:f>Sheet1!$C$1</c:f>
              <c:strCache>
                <c:ptCount val="1"/>
                <c:pt idx="0">
                  <c:v>Desembolsada</c:v>
                </c:pt>
              </c:strCache>
            </c:strRef>
          </c:tx>
          <c:spPr>
            <a:ln w="25400">
              <a:solidFill>
                <a:srgbClr val="2F6FDE"/>
              </a:solidFill>
            </a:ln>
          </c:spPr>
          <c:marker>
            <c:symbol val="circle"/>
            <c:size val="6"/>
            <c:spPr>
              <a:solidFill>
                <a:srgbClr val="2F6FDE"/>
              </a:solidFill>
              <a:ln>
                <a:solidFill>
                  <a:srgbClr val="2F6FDE"/>
                </a:solidFill>
              </a:ln>
            </c:spPr>
          </c:marker>
          <c:dLbls>
            <c:dLbl>
              <c:idx val="0"/>
              <c:tx>
                <c:rich>
                  <a:bodyPr/>
                  <a:lstStyle/>
                  <a:p>
                    <a:r>
                      <a:rPr lang="en-US" sz="900" b="1">
                        <a:solidFill>
                          <a:srgbClr val="2F6FDE"/>
                        </a:solidFill>
                      </a:rPr>
                      <a:t>18,3</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0157-4163-8595-BCDE5ECC77A0}"/>
                </c:ext>
              </c:extLst>
            </c:dLbl>
            <c:dLbl>
              <c:idx val="1"/>
              <c:tx>
                <c:rich>
                  <a:bodyPr/>
                  <a:lstStyle/>
                  <a:p>
                    <a:r>
                      <a:rPr lang="en-US" sz="900" b="1">
                        <a:solidFill>
                          <a:srgbClr val="2F6FDE"/>
                        </a:solidFill>
                      </a:rPr>
                      <a:t>18,6</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0157-4163-8595-BCDE5ECC77A0}"/>
                </c:ext>
              </c:extLst>
            </c:dLbl>
            <c:dLbl>
              <c:idx val="2"/>
              <c:tx>
                <c:rich>
                  <a:bodyPr/>
                  <a:lstStyle/>
                  <a:p>
                    <a:r>
                      <a:rPr lang="en-US" sz="900" b="1">
                        <a:solidFill>
                          <a:srgbClr val="2F6FDE"/>
                        </a:solidFill>
                      </a:rPr>
                      <a:t>17,8</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8-0157-4163-8595-BCDE5ECC77A0}"/>
                </c:ext>
              </c:extLst>
            </c:dLbl>
            <c:dLbl>
              <c:idx val="3"/>
              <c:tx>
                <c:rich>
                  <a:bodyPr/>
                  <a:lstStyle/>
                  <a:p>
                    <a:r>
                      <a:rPr lang="en-US" sz="900" b="1">
                        <a:solidFill>
                          <a:srgbClr val="2F6FDE"/>
                        </a:solidFill>
                      </a:rPr>
                      <a:t>17,2</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9-0157-4163-8595-BCDE5ECC77A0}"/>
                </c:ext>
              </c:extLst>
            </c:dLbl>
            <c:dLbl>
              <c:idx val="4"/>
              <c:tx>
                <c:rich>
                  <a:bodyPr/>
                  <a:lstStyle/>
                  <a:p>
                    <a:r>
                      <a:rPr lang="en-US" sz="900" b="1">
                        <a:solidFill>
                          <a:srgbClr val="2F6FDE"/>
                        </a:solidFill>
                      </a:rPr>
                      <a:t>18,8</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A-0157-4163-8595-BCDE5ECC77A0}"/>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Sheet1!$A$2:$A$6</c:f>
              <c:strCache>
                <c:ptCount val="5"/>
                <c:pt idx="0">
                  <c:v>2T25</c:v>
                </c:pt>
                <c:pt idx="1">
                  <c:v>3T25</c:v>
                </c:pt>
                <c:pt idx="2">
                  <c:v>4T25</c:v>
                </c:pt>
                <c:pt idx="3">
                  <c:v>1T26</c:v>
                </c:pt>
                <c:pt idx="4">
                  <c:v>2T26*</c:v>
                </c:pt>
              </c:strCache>
            </c:strRef>
          </c:cat>
          <c:val>
            <c:numRef>
              <c:f>Sheet1!$C$2:$C$6</c:f>
              <c:numCache>
                <c:formatCode>General</c:formatCode>
                <c:ptCount val="5"/>
                <c:pt idx="0">
                  <c:v>18.346454910512076</c:v>
                </c:pt>
                <c:pt idx="1">
                  <c:v>18.616720315732962</c:v>
                </c:pt>
                <c:pt idx="2">
                  <c:v>17.797445091110173</c:v>
                </c:pt>
                <c:pt idx="3">
                  <c:v>17.180621446048221</c:v>
                </c:pt>
                <c:pt idx="4">
                  <c:v>18.795895985755898</c:v>
                </c:pt>
              </c:numCache>
            </c:numRef>
          </c:val>
          <c:smooth val="0"/>
          <c:extLst>
            <c:ext xmlns:c16="http://schemas.microsoft.com/office/drawing/2014/chart" uri="{C3380CC4-5D6E-409C-BE32-E72D297353CC}">
              <c16:uniqueId val="{0000000B-0157-4163-8595-BCDE5ECC77A0}"/>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low"/>
        <c:spPr>
          <a:ln>
            <a:solidFill>
              <a:srgbClr val="B8C2C1"/>
            </a:solidFill>
          </a:ln>
        </c:spPr>
        <c:txPr>
          <a:bodyPr/>
          <a:lstStyle/>
          <a:p>
            <a:pPr>
              <a:defRPr sz="750">
                <a:solidFill>
                  <a:srgbClr val="2F3B3A"/>
                </a:solidFill>
              </a:defRPr>
            </a:pPr>
            <a:endParaRPr lang="es-PE"/>
          </a:p>
        </c:txPr>
        <c:crossAx val="2140495176"/>
        <c:crosses val="autoZero"/>
        <c:auto val="1"/>
        <c:lblAlgn val="ctr"/>
        <c:lblOffset val="100"/>
        <c:noMultiLvlLbl val="0"/>
      </c:catAx>
      <c:valAx>
        <c:axId val="2140495176"/>
        <c:scaling>
          <c:orientation val="minMax"/>
          <c:max val="24"/>
          <c:min val="14"/>
        </c:scaling>
        <c:delete val="1"/>
        <c:axPos val="l"/>
        <c:numFmt formatCode="0.0" sourceLinked="0"/>
        <c:majorTickMark val="out"/>
        <c:minorTickMark val="none"/>
        <c:tickLblPos val="nextTo"/>
        <c:crossAx val="2118791784"/>
        <c:crosses val="autoZero"/>
        <c:crossBetween val="between"/>
      </c:valAx>
    </c:plotArea>
    <c:legend>
      <c:legendPos val="t"/>
      <c:overlay val="0"/>
      <c:txPr>
        <a:bodyPr/>
        <a:lstStyle/>
        <a:p>
          <a:pPr>
            <a:defRPr sz="750"/>
          </a:pPr>
          <a:endParaRPr lang="es-PE"/>
        </a:p>
      </c:txPr>
    </c:legend>
    <c:plotVisOnly val="1"/>
    <c:dispBlanksAs val="gap"/>
    <c:showDLblsOverMax val="0"/>
  </c:chart>
  <c:txPr>
    <a:bodyPr/>
    <a:lstStyle/>
    <a:p>
      <a:pPr>
        <a:defRPr sz="1800"/>
      </a:pPr>
      <a:endParaRPr lang="en-US"/>
    </a:p>
  </c:txPr>
  <c:externalData r:id="rId1">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lineChart>
        <c:grouping val="standard"/>
        <c:varyColors val="0"/>
        <c:ser>
          <c:idx val="0"/>
          <c:order val="0"/>
          <c:tx>
            <c:strRef>
              <c:f>Sheet1!$B$1</c:f>
              <c:strCache>
                <c:ptCount val="1"/>
                <c:pt idx="0">
                  <c:v>Ofertada a desembolsos</c:v>
                </c:pt>
              </c:strCache>
            </c:strRef>
          </c:tx>
          <c:spPr>
            <a:ln w="25400">
              <a:solidFill>
                <a:srgbClr val="8E9B9A"/>
              </a:solidFill>
              <a:prstDash val="dash"/>
            </a:ln>
          </c:spPr>
          <c:marker>
            <c:symbol val="circle"/>
            <c:size val="6"/>
            <c:spPr>
              <a:solidFill>
                <a:srgbClr val="8E9B9A"/>
              </a:solidFill>
              <a:ln>
                <a:solidFill>
                  <a:srgbClr val="8E9B9A"/>
                </a:solidFill>
              </a:ln>
            </c:spPr>
          </c:marker>
          <c:dLbls>
            <c:dLbl>
              <c:idx val="0"/>
              <c:tx>
                <c:rich>
                  <a:bodyPr/>
                  <a:lstStyle/>
                  <a:p>
                    <a:r>
                      <a:rPr lang="en-US" sz="900" b="1">
                        <a:solidFill>
                          <a:srgbClr val="8E9B9A"/>
                        </a:solidFill>
                      </a:rPr>
                      <a:t>20,4</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0CB7-440A-8D55-23D75377A391}"/>
                </c:ext>
              </c:extLst>
            </c:dLbl>
            <c:dLbl>
              <c:idx val="1"/>
              <c:tx>
                <c:rich>
                  <a:bodyPr/>
                  <a:lstStyle/>
                  <a:p>
                    <a:r>
                      <a:rPr lang="en-US" sz="900" b="1">
                        <a:solidFill>
                          <a:srgbClr val="8E9B9A"/>
                        </a:solidFill>
                      </a:rPr>
                      <a:t>20,8</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0CB7-440A-8D55-23D75377A391}"/>
                </c:ext>
              </c:extLst>
            </c:dLbl>
            <c:dLbl>
              <c:idx val="2"/>
              <c:tx>
                <c:rich>
                  <a:bodyPr/>
                  <a:lstStyle/>
                  <a:p>
                    <a:r>
                      <a:rPr lang="en-US" sz="900" b="1">
                        <a:solidFill>
                          <a:srgbClr val="8E9B9A"/>
                        </a:solidFill>
                      </a:rPr>
                      <a:t>20,4</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0CB7-440A-8D55-23D75377A391}"/>
                </c:ext>
              </c:extLst>
            </c:dLbl>
            <c:dLbl>
              <c:idx val="3"/>
              <c:tx>
                <c:rich>
                  <a:bodyPr/>
                  <a:lstStyle/>
                  <a:p>
                    <a:r>
                      <a:rPr lang="en-US" sz="900" b="1">
                        <a:solidFill>
                          <a:srgbClr val="8E9B9A"/>
                        </a:solidFill>
                      </a:rPr>
                      <a:t>20,8</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0CB7-440A-8D55-23D75377A391}"/>
                </c:ext>
              </c:extLst>
            </c:dLbl>
            <c:dLbl>
              <c:idx val="4"/>
              <c:tx>
                <c:rich>
                  <a:bodyPr/>
                  <a:lstStyle/>
                  <a:p>
                    <a:r>
                      <a:rPr lang="en-US" sz="900" b="1">
                        <a:solidFill>
                          <a:srgbClr val="8E9B9A"/>
                        </a:solidFill>
                      </a:rPr>
                      <a:t>20,2</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0CB7-440A-8D55-23D75377A391}"/>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Sheet1!$A$2:$A$6</c:f>
              <c:strCache>
                <c:ptCount val="5"/>
                <c:pt idx="0">
                  <c:v>2T25</c:v>
                </c:pt>
                <c:pt idx="1">
                  <c:v>3T25</c:v>
                </c:pt>
                <c:pt idx="2">
                  <c:v>4T25</c:v>
                </c:pt>
                <c:pt idx="3">
                  <c:v>1T26</c:v>
                </c:pt>
                <c:pt idx="4">
                  <c:v>2T26*</c:v>
                </c:pt>
              </c:strCache>
            </c:strRef>
          </c:cat>
          <c:val>
            <c:numRef>
              <c:f>Sheet1!$B$2:$B$6</c:f>
              <c:numCache>
                <c:formatCode>General</c:formatCode>
                <c:ptCount val="5"/>
                <c:pt idx="0">
                  <c:v>20.399999999999999</c:v>
                </c:pt>
                <c:pt idx="1">
                  <c:v>20.8</c:v>
                </c:pt>
                <c:pt idx="2">
                  <c:v>20.399999999999999</c:v>
                </c:pt>
                <c:pt idx="3">
                  <c:v>20.8</c:v>
                </c:pt>
                <c:pt idx="4">
                  <c:v>20.2</c:v>
                </c:pt>
              </c:numCache>
            </c:numRef>
          </c:val>
          <c:smooth val="0"/>
          <c:extLst>
            <c:ext xmlns:c16="http://schemas.microsoft.com/office/drawing/2014/chart" uri="{C3380CC4-5D6E-409C-BE32-E72D297353CC}">
              <c16:uniqueId val="{00000005-0CB7-440A-8D55-23D75377A391}"/>
            </c:ext>
          </c:extLst>
        </c:ser>
        <c:ser>
          <c:idx val="1"/>
          <c:order val="1"/>
          <c:tx>
            <c:strRef>
              <c:f>Sheet1!$C$1</c:f>
              <c:strCache>
                <c:ptCount val="1"/>
                <c:pt idx="0">
                  <c:v>Desembolsada</c:v>
                </c:pt>
              </c:strCache>
            </c:strRef>
          </c:tx>
          <c:spPr>
            <a:ln w="25400">
              <a:solidFill>
                <a:srgbClr val="2F6FDE"/>
              </a:solidFill>
            </a:ln>
          </c:spPr>
          <c:marker>
            <c:symbol val="circle"/>
            <c:size val="6"/>
            <c:spPr>
              <a:solidFill>
                <a:srgbClr val="2F6FDE"/>
              </a:solidFill>
              <a:ln>
                <a:solidFill>
                  <a:srgbClr val="2F6FDE"/>
                </a:solidFill>
              </a:ln>
            </c:spPr>
          </c:marker>
          <c:dLbls>
            <c:dLbl>
              <c:idx val="0"/>
              <c:tx>
                <c:rich>
                  <a:bodyPr/>
                  <a:lstStyle/>
                  <a:p>
                    <a:r>
                      <a:rPr lang="en-US" sz="900" b="1">
                        <a:solidFill>
                          <a:srgbClr val="2F6FDE"/>
                        </a:solidFill>
                      </a:rPr>
                      <a:t>18,3</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0CB7-440A-8D55-23D75377A391}"/>
                </c:ext>
              </c:extLst>
            </c:dLbl>
            <c:dLbl>
              <c:idx val="1"/>
              <c:tx>
                <c:rich>
                  <a:bodyPr/>
                  <a:lstStyle/>
                  <a:p>
                    <a:r>
                      <a:rPr lang="en-US" sz="900" b="1">
                        <a:solidFill>
                          <a:srgbClr val="2F6FDE"/>
                        </a:solidFill>
                      </a:rPr>
                      <a:t>18,4</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0CB7-440A-8D55-23D75377A391}"/>
                </c:ext>
              </c:extLst>
            </c:dLbl>
            <c:dLbl>
              <c:idx val="2"/>
              <c:tx>
                <c:rich>
                  <a:bodyPr/>
                  <a:lstStyle/>
                  <a:p>
                    <a:r>
                      <a:rPr lang="en-US" sz="900" b="1">
                        <a:solidFill>
                          <a:srgbClr val="2F6FDE"/>
                        </a:solidFill>
                      </a:rPr>
                      <a:t>18,8</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8-0CB7-440A-8D55-23D75377A391}"/>
                </c:ext>
              </c:extLst>
            </c:dLbl>
            <c:dLbl>
              <c:idx val="3"/>
              <c:tx>
                <c:rich>
                  <a:bodyPr/>
                  <a:lstStyle/>
                  <a:p>
                    <a:r>
                      <a:rPr lang="en-US" sz="900" b="1">
                        <a:solidFill>
                          <a:srgbClr val="2F6FDE"/>
                        </a:solidFill>
                      </a:rPr>
                      <a:t>17,7</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9-0CB7-440A-8D55-23D75377A391}"/>
                </c:ext>
              </c:extLst>
            </c:dLbl>
            <c:dLbl>
              <c:idx val="4"/>
              <c:tx>
                <c:rich>
                  <a:bodyPr/>
                  <a:lstStyle/>
                  <a:p>
                    <a:r>
                      <a:rPr lang="en-US" sz="900" b="1">
                        <a:solidFill>
                          <a:srgbClr val="2F6FDE"/>
                        </a:solidFill>
                      </a:rPr>
                      <a:t>17,7</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A-0CB7-440A-8D55-23D75377A391}"/>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Sheet1!$A$2:$A$6</c:f>
              <c:strCache>
                <c:ptCount val="5"/>
                <c:pt idx="0">
                  <c:v>2T25</c:v>
                </c:pt>
                <c:pt idx="1">
                  <c:v>3T25</c:v>
                </c:pt>
                <c:pt idx="2">
                  <c:v>4T25</c:v>
                </c:pt>
                <c:pt idx="3">
                  <c:v>1T26</c:v>
                </c:pt>
                <c:pt idx="4">
                  <c:v>2T26*</c:v>
                </c:pt>
              </c:strCache>
            </c:strRef>
          </c:cat>
          <c:val>
            <c:numRef>
              <c:f>Sheet1!$C$2:$C$6</c:f>
              <c:numCache>
                <c:formatCode>General</c:formatCode>
                <c:ptCount val="5"/>
                <c:pt idx="0">
                  <c:v>18.316709021384561</c:v>
                </c:pt>
                <c:pt idx="1">
                  <c:v>18.404114595524931</c:v>
                </c:pt>
                <c:pt idx="2">
                  <c:v>18.829160891590263</c:v>
                </c:pt>
                <c:pt idx="3">
                  <c:v>17.729812868495259</c:v>
                </c:pt>
                <c:pt idx="4">
                  <c:v>17.735029940119759</c:v>
                </c:pt>
              </c:numCache>
            </c:numRef>
          </c:val>
          <c:smooth val="0"/>
          <c:extLst>
            <c:ext xmlns:c16="http://schemas.microsoft.com/office/drawing/2014/chart" uri="{C3380CC4-5D6E-409C-BE32-E72D297353CC}">
              <c16:uniqueId val="{0000000B-0CB7-440A-8D55-23D75377A391}"/>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low"/>
        <c:spPr>
          <a:ln>
            <a:solidFill>
              <a:srgbClr val="B8C2C1"/>
            </a:solidFill>
          </a:ln>
        </c:spPr>
        <c:txPr>
          <a:bodyPr/>
          <a:lstStyle/>
          <a:p>
            <a:pPr>
              <a:defRPr sz="750">
                <a:solidFill>
                  <a:srgbClr val="2F3B3A"/>
                </a:solidFill>
              </a:defRPr>
            </a:pPr>
            <a:endParaRPr lang="es-PE"/>
          </a:p>
        </c:txPr>
        <c:crossAx val="2140495176"/>
        <c:crosses val="autoZero"/>
        <c:auto val="1"/>
        <c:lblAlgn val="ctr"/>
        <c:lblOffset val="100"/>
        <c:noMultiLvlLbl val="0"/>
      </c:catAx>
      <c:valAx>
        <c:axId val="2140495176"/>
        <c:scaling>
          <c:orientation val="minMax"/>
          <c:max val="23"/>
          <c:min val="14"/>
        </c:scaling>
        <c:delete val="1"/>
        <c:axPos val="l"/>
        <c:numFmt formatCode="0.0" sourceLinked="0"/>
        <c:majorTickMark val="out"/>
        <c:minorTickMark val="none"/>
        <c:tickLblPos val="nextTo"/>
        <c:crossAx val="2118791784"/>
        <c:crosses val="autoZero"/>
        <c:crossBetween val="between"/>
      </c:valAx>
    </c:plotArea>
    <c:legend>
      <c:legendPos val="t"/>
      <c:overlay val="0"/>
      <c:txPr>
        <a:bodyPr/>
        <a:lstStyle/>
        <a:p>
          <a:pPr>
            <a:defRPr sz="750"/>
          </a:pPr>
          <a:endParaRPr lang="es-PE"/>
        </a:p>
      </c:txPr>
    </c:legend>
    <c:plotVisOnly val="1"/>
    <c:dispBlanksAs val="gap"/>
    <c:showDLblsOverMax val="0"/>
  </c:chart>
  <c:txPr>
    <a:bodyPr/>
    <a:lstStyle/>
    <a:p>
      <a:pPr>
        <a:defRPr sz="1800"/>
      </a:pPr>
      <a:endParaRPr lang="en-US"/>
    </a:p>
  </c:txPr>
  <c:externalData r:id="rId1">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0"/>
    <c:plotArea>
      <c:layout>
        <c:manualLayout>
          <c:layoutTarget val="inner"/>
          <c:xMode val="edge"/>
          <c:yMode val="edge"/>
          <c:x val="0.02"/>
          <c:y val="0.17"/>
          <c:w val="0.96"/>
          <c:h val="0.7"/>
        </c:manualLayout>
      </c:layout>
      <c:barChart>
        <c:barDir val="col"/>
        <c:grouping val="clustered"/>
        <c:varyColors val="1"/>
        <c:ser>
          <c:idx val="0"/>
          <c:order val="0"/>
          <c:tx>
            <c:strRef>
              <c:f>Sheet1!$B$1</c:f>
              <c:strCache>
                <c:ptCount val="1"/>
                <c:pt idx="0">
                  <c:v>Ofertada a desembolsos</c:v>
                </c:pt>
              </c:strCache>
            </c:strRef>
          </c:tx>
          <c:spPr>
            <a:solidFill>
              <a:srgbClr val="8E9B9A"/>
            </a:solidFill>
          </c:spPr>
          <c:invertIfNegative val="1"/>
          <c:dLbls>
            <c:dLbl>
              <c:idx val="0"/>
              <c:tx>
                <c:rich>
                  <a:bodyPr/>
                  <a:lstStyle/>
                  <a:p>
                    <a:r>
                      <a:rPr lang="en-US" sz="850" b="1">
                        <a:solidFill>
                          <a:srgbClr val="6E7E7D"/>
                        </a:solidFill>
                      </a:rPr>
                      <a:t>19,3</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6DC8-4B3D-8DD3-FEFB80E1A5CB}"/>
                </c:ext>
              </c:extLst>
            </c:dLbl>
            <c:dLbl>
              <c:idx val="1"/>
              <c:tx>
                <c:rich>
                  <a:bodyPr/>
                  <a:lstStyle/>
                  <a:p>
                    <a:r>
                      <a:rPr lang="en-US" sz="850" b="1">
                        <a:solidFill>
                          <a:srgbClr val="6E7E7D"/>
                        </a:solidFill>
                      </a:rPr>
                      <a:t>19,0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6DC8-4B3D-8DD3-FEFB80E1A5CB}"/>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Sheet1!$A$2:$A$3</c:f>
              <c:strCache>
                <c:ptCount val="2"/>
                <c:pt idx="0">
                  <c:v>Pasivos &lt; 1K</c:v>
                </c:pt>
                <c:pt idx="1">
                  <c:v>Pasivos ≥ 5K</c:v>
                </c:pt>
              </c:strCache>
            </c:strRef>
          </c:cat>
          <c:val>
            <c:numRef>
              <c:f>Sheet1!$B$2:$B$3</c:f>
              <c:numCache>
                <c:formatCode>General</c:formatCode>
                <c:ptCount val="2"/>
                <c:pt idx="0">
                  <c:v>19.3</c:v>
                </c:pt>
                <c:pt idx="1">
                  <c:v>19</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6DC8-4B3D-8DD3-FEFB80E1A5CB}"/>
            </c:ext>
          </c:extLst>
        </c:ser>
        <c:ser>
          <c:idx val="1"/>
          <c:order val="1"/>
          <c:tx>
            <c:strRef>
              <c:f>Sheet1!$C$1</c:f>
              <c:strCache>
                <c:ptCount val="1"/>
                <c:pt idx="0">
                  <c:v>Desembolsada</c:v>
                </c:pt>
              </c:strCache>
            </c:strRef>
          </c:tx>
          <c:spPr>
            <a:solidFill>
              <a:srgbClr val="2F6FDE"/>
            </a:solidFill>
          </c:spPr>
          <c:invertIfNegative val="1"/>
          <c:dLbls>
            <c:dLbl>
              <c:idx val="0"/>
              <c:tx>
                <c:rich>
                  <a:bodyPr/>
                  <a:lstStyle/>
                  <a:p>
                    <a:r>
                      <a:rPr lang="en-US" sz="850" b="1">
                        <a:solidFill>
                          <a:srgbClr val="2F6FDE"/>
                        </a:solidFill>
                      </a:rPr>
                      <a:t>19,0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6DC8-4B3D-8DD3-FEFB80E1A5CB}"/>
                </c:ext>
              </c:extLst>
            </c:dLbl>
            <c:dLbl>
              <c:idx val="1"/>
              <c:tx>
                <c:rich>
                  <a:bodyPr/>
                  <a:lstStyle/>
                  <a:p>
                    <a:r>
                      <a:rPr lang="en-US" sz="850" b="1">
                        <a:solidFill>
                          <a:srgbClr val="2F6FDE"/>
                        </a:solidFill>
                      </a:rPr>
                      <a:t>18,0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6DC8-4B3D-8DD3-FEFB80E1A5CB}"/>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Sheet1!$A$2:$A$3</c:f>
              <c:strCache>
                <c:ptCount val="2"/>
                <c:pt idx="0">
                  <c:v>Pasivos &lt; 1K</c:v>
                </c:pt>
                <c:pt idx="1">
                  <c:v>Pasivos ≥ 5K</c:v>
                </c:pt>
              </c:strCache>
            </c:strRef>
          </c:cat>
          <c:val>
            <c:numRef>
              <c:f>Sheet1!$C$2:$C$3</c:f>
              <c:numCache>
                <c:formatCode>General</c:formatCode>
                <c:ptCount val="2"/>
                <c:pt idx="0">
                  <c:v>19</c:v>
                </c:pt>
                <c:pt idx="1">
                  <c:v>18</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5-6DC8-4B3D-8DD3-FEFB80E1A5CB}"/>
            </c:ext>
          </c:extLst>
        </c:ser>
        <c:ser>
          <c:idx val="2"/>
          <c:order val="2"/>
          <c:tx>
            <c:strRef>
              <c:f>Sheet1!$D$1</c:f>
              <c:strCache>
                <c:ptCount val="1"/>
                <c:pt idx="0">
                  <c:v>Competencia</c:v>
                </c:pt>
              </c:strCache>
            </c:strRef>
          </c:tx>
          <c:spPr>
            <a:solidFill>
              <a:srgbClr val="F28C28"/>
            </a:solidFill>
          </c:spPr>
          <c:invertIfNegative val="1"/>
          <c:dLbls>
            <c:dLbl>
              <c:idx val="0"/>
              <c:tx>
                <c:rich>
                  <a:bodyPr/>
                  <a:lstStyle/>
                  <a:p>
                    <a:r>
                      <a:rPr lang="en-US" sz="850" b="1">
                        <a:solidFill>
                          <a:srgbClr val="F28C28"/>
                        </a:solidFill>
                      </a:rPr>
                      <a:t>17,1</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6DC8-4B3D-8DD3-FEFB80E1A5CB}"/>
                </c:ext>
              </c:extLst>
            </c:dLbl>
            <c:dLbl>
              <c:idx val="1"/>
              <c:tx>
                <c:rich>
                  <a:bodyPr/>
                  <a:lstStyle/>
                  <a:p>
                    <a:r>
                      <a:rPr lang="en-US" sz="850" b="1">
                        <a:solidFill>
                          <a:srgbClr val="F28C28"/>
                        </a:solidFill>
                      </a:rPr>
                      <a:t>17,7</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6DC8-4B3D-8DD3-FEFB80E1A5CB}"/>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Sheet1!$A$2:$A$3</c:f>
              <c:strCache>
                <c:ptCount val="2"/>
                <c:pt idx="0">
                  <c:v>Pasivos &lt; 1K</c:v>
                </c:pt>
                <c:pt idx="1">
                  <c:v>Pasivos ≥ 5K</c:v>
                </c:pt>
              </c:strCache>
            </c:strRef>
          </c:cat>
          <c:val>
            <c:numRef>
              <c:f>Sheet1!$D$2:$D$3</c:f>
              <c:numCache>
                <c:formatCode>General</c:formatCode>
                <c:ptCount val="2"/>
                <c:pt idx="0">
                  <c:v>17.100000000000001</c:v>
                </c:pt>
                <c:pt idx="1">
                  <c:v>17.7</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8-6DC8-4B3D-8DD3-FEFB80E1A5CB}"/>
            </c:ext>
          </c:extLst>
        </c:ser>
        <c:dLbls>
          <c:showLegendKey val="0"/>
          <c:showVal val="0"/>
          <c:showCatName val="0"/>
          <c:showSerName val="0"/>
          <c:showPercent val="0"/>
          <c:showBubbleSize val="0"/>
        </c:dLbls>
        <c:gapWidth val="60"/>
        <c:axId val="-2068027336"/>
        <c:axId val="-2113994440"/>
      </c:barChart>
      <c:catAx>
        <c:axId val="-2068027336"/>
        <c:scaling>
          <c:orientation val="minMax"/>
        </c:scaling>
        <c:delete val="0"/>
        <c:axPos val="b"/>
        <c:numFmt formatCode="General" sourceLinked="0"/>
        <c:majorTickMark val="out"/>
        <c:minorTickMark val="none"/>
        <c:tickLblPos val="none"/>
        <c:spPr>
          <a:ln>
            <a:solidFill>
              <a:srgbClr val="B8C2C1"/>
            </a:solidFill>
          </a:ln>
        </c:spPr>
        <c:txPr>
          <a:bodyPr/>
          <a:lstStyle/>
          <a:p>
            <a:pPr>
              <a:defRPr sz="100"/>
            </a:pPr>
            <a:endParaRPr lang="es-PE"/>
          </a:p>
        </c:txPr>
        <c:crossAx val="-2113994440"/>
        <c:crosses val="autoZero"/>
        <c:auto val="1"/>
        <c:lblAlgn val="ctr"/>
        <c:lblOffset val="100"/>
        <c:noMultiLvlLbl val="0"/>
      </c:catAx>
      <c:valAx>
        <c:axId val="-2113994440"/>
        <c:scaling>
          <c:orientation val="minMax"/>
          <c:max val="21.8"/>
          <c:min val="15.100000000000001"/>
        </c:scaling>
        <c:delete val="1"/>
        <c:axPos val="l"/>
        <c:numFmt formatCode="General" sourceLinked="1"/>
        <c:majorTickMark val="out"/>
        <c:minorTickMark val="none"/>
        <c:tickLblPos val="nextTo"/>
        <c:crossAx val="-2068027336"/>
        <c:crosses val="autoZero"/>
        <c:crossBetween val="between"/>
      </c:valAx>
    </c:plotArea>
    <c:legend>
      <c:legendPos val="t"/>
      <c:overlay val="0"/>
      <c:txPr>
        <a:bodyPr/>
        <a:lstStyle/>
        <a:p>
          <a:pPr>
            <a:defRPr sz="800"/>
          </a:pPr>
          <a:endParaRPr lang="es-PE"/>
        </a:p>
      </c:txPr>
    </c:legend>
    <c:plotVisOnly val="1"/>
    <c:dispBlanksAs val="gap"/>
    <c:showDLblsOverMax val="1"/>
  </c:chart>
  <c:txPr>
    <a:bodyPr/>
    <a:lstStyle/>
    <a:p>
      <a:pPr>
        <a:defRPr sz="1800"/>
      </a:pPr>
      <a:endParaRPr lang="en-US"/>
    </a:p>
  </c:txPr>
  <c:externalData r:id="rId1">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0"/>
    <c:plotArea>
      <c:layout>
        <c:manualLayout>
          <c:layoutTarget val="inner"/>
          <c:xMode val="edge"/>
          <c:yMode val="edge"/>
          <c:x val="0.02"/>
          <c:y val="0.06"/>
          <c:w val="0.96"/>
          <c:h val="0.8"/>
        </c:manualLayout>
      </c:layout>
      <c:barChart>
        <c:barDir val="col"/>
        <c:grouping val="clustered"/>
        <c:varyColors val="1"/>
        <c:ser>
          <c:idx val="0"/>
          <c:order val="0"/>
          <c:tx>
            <c:strRef>
              <c:f>Sheet1!$B$1</c:f>
              <c:strCache>
                <c:ptCount val="1"/>
                <c:pt idx="0">
                  <c:v>Ofertada a desembolsos</c:v>
                </c:pt>
              </c:strCache>
            </c:strRef>
          </c:tx>
          <c:spPr>
            <a:solidFill>
              <a:srgbClr val="8E9B9A"/>
            </a:solidFill>
          </c:spPr>
          <c:invertIfNegative val="1"/>
          <c:dLbls>
            <c:dLbl>
              <c:idx val="0"/>
              <c:tx>
                <c:rich>
                  <a:bodyPr/>
                  <a:lstStyle/>
                  <a:p>
                    <a:r>
                      <a:rPr lang="en-US" sz="850" b="1">
                        <a:solidFill>
                          <a:srgbClr val="6E7E7D"/>
                        </a:solidFill>
                      </a:rPr>
                      <a:t>19,7</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CEFB-43A9-A7D3-53E4713AA28F}"/>
                </c:ext>
              </c:extLst>
            </c:dLbl>
            <c:dLbl>
              <c:idx val="1"/>
              <c:tx>
                <c:rich>
                  <a:bodyPr/>
                  <a:lstStyle/>
                  <a:p>
                    <a:r>
                      <a:rPr lang="en-US" sz="850" b="1">
                        <a:solidFill>
                          <a:srgbClr val="6E7E7D"/>
                        </a:solidFill>
                      </a:rPr>
                      <a:t>19,0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CEFB-43A9-A7D3-53E4713AA28F}"/>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Sheet1!$A$2:$A$3</c:f>
              <c:strCache>
                <c:ptCount val="2"/>
                <c:pt idx="0">
                  <c:v>Pasivos &lt; 1K</c:v>
                </c:pt>
                <c:pt idx="1">
                  <c:v>Pasivos ≥ 5K</c:v>
                </c:pt>
              </c:strCache>
            </c:strRef>
          </c:cat>
          <c:val>
            <c:numRef>
              <c:f>Sheet1!$B$2:$B$3</c:f>
              <c:numCache>
                <c:formatCode>General</c:formatCode>
                <c:ptCount val="2"/>
                <c:pt idx="0">
                  <c:v>19.7</c:v>
                </c:pt>
                <c:pt idx="1">
                  <c:v>19</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CEFB-43A9-A7D3-53E4713AA28F}"/>
            </c:ext>
          </c:extLst>
        </c:ser>
        <c:ser>
          <c:idx val="1"/>
          <c:order val="1"/>
          <c:tx>
            <c:strRef>
              <c:f>Sheet1!$C$1</c:f>
              <c:strCache>
                <c:ptCount val="1"/>
                <c:pt idx="0">
                  <c:v>Desembolsada</c:v>
                </c:pt>
              </c:strCache>
            </c:strRef>
          </c:tx>
          <c:spPr>
            <a:solidFill>
              <a:srgbClr val="2F6FDE"/>
            </a:solidFill>
          </c:spPr>
          <c:invertIfNegative val="1"/>
          <c:dLbls>
            <c:dLbl>
              <c:idx val="0"/>
              <c:tx>
                <c:rich>
                  <a:bodyPr/>
                  <a:lstStyle/>
                  <a:p>
                    <a:r>
                      <a:rPr lang="en-US" sz="850" b="1">
                        <a:solidFill>
                          <a:srgbClr val="2F6FDE"/>
                        </a:solidFill>
                      </a:rPr>
                      <a:t>18,0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CEFB-43A9-A7D3-53E4713AA28F}"/>
                </c:ext>
              </c:extLst>
            </c:dLbl>
            <c:dLbl>
              <c:idx val="1"/>
              <c:tx>
                <c:rich>
                  <a:bodyPr/>
                  <a:lstStyle/>
                  <a:p>
                    <a:r>
                      <a:rPr lang="en-US" sz="850" b="1">
                        <a:solidFill>
                          <a:srgbClr val="2F6FDE"/>
                        </a:solidFill>
                      </a:rPr>
                      <a:t>18,0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CEFB-43A9-A7D3-53E4713AA28F}"/>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Sheet1!$A$2:$A$3</c:f>
              <c:strCache>
                <c:ptCount val="2"/>
                <c:pt idx="0">
                  <c:v>Pasivos &lt; 1K</c:v>
                </c:pt>
                <c:pt idx="1">
                  <c:v>Pasivos ≥ 5K</c:v>
                </c:pt>
              </c:strCache>
            </c:strRef>
          </c:cat>
          <c:val>
            <c:numRef>
              <c:f>Sheet1!$C$2:$C$3</c:f>
              <c:numCache>
                <c:formatCode>General</c:formatCode>
                <c:ptCount val="2"/>
                <c:pt idx="0">
                  <c:v>18</c:v>
                </c:pt>
                <c:pt idx="1">
                  <c:v>18</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5-CEFB-43A9-A7D3-53E4713AA28F}"/>
            </c:ext>
          </c:extLst>
        </c:ser>
        <c:ser>
          <c:idx val="2"/>
          <c:order val="2"/>
          <c:tx>
            <c:strRef>
              <c:f>Sheet1!$D$1</c:f>
              <c:strCache>
                <c:ptCount val="1"/>
                <c:pt idx="0">
                  <c:v>Competencia</c:v>
                </c:pt>
              </c:strCache>
            </c:strRef>
          </c:tx>
          <c:spPr>
            <a:solidFill>
              <a:srgbClr val="F28C28"/>
            </a:solidFill>
          </c:spPr>
          <c:invertIfNegative val="1"/>
          <c:dLbls>
            <c:dLbl>
              <c:idx val="0"/>
              <c:tx>
                <c:rich>
                  <a:bodyPr/>
                  <a:lstStyle/>
                  <a:p>
                    <a:r>
                      <a:rPr lang="en-US" sz="850" b="1">
                        <a:solidFill>
                          <a:srgbClr val="F28C28"/>
                        </a:solidFill>
                      </a:rPr>
                      <a:t>18,0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CEFB-43A9-A7D3-53E4713AA28F}"/>
                </c:ext>
              </c:extLst>
            </c:dLbl>
            <c:dLbl>
              <c:idx val="1"/>
              <c:tx>
                <c:rich>
                  <a:bodyPr/>
                  <a:lstStyle/>
                  <a:p>
                    <a:r>
                      <a:rPr lang="en-US" sz="850" b="1">
                        <a:solidFill>
                          <a:srgbClr val="F28C28"/>
                        </a:solidFill>
                      </a:rPr>
                      <a:t>18,0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CEFB-43A9-A7D3-53E4713AA28F}"/>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Sheet1!$A$2:$A$3</c:f>
              <c:strCache>
                <c:ptCount val="2"/>
                <c:pt idx="0">
                  <c:v>Pasivos &lt; 1K</c:v>
                </c:pt>
                <c:pt idx="1">
                  <c:v>Pasivos ≥ 5K</c:v>
                </c:pt>
              </c:strCache>
            </c:strRef>
          </c:cat>
          <c:val>
            <c:numRef>
              <c:f>Sheet1!$D$2:$D$3</c:f>
              <c:numCache>
                <c:formatCode>General</c:formatCode>
                <c:ptCount val="2"/>
                <c:pt idx="0">
                  <c:v>18</c:v>
                </c:pt>
                <c:pt idx="1">
                  <c:v>18</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8-CEFB-43A9-A7D3-53E4713AA28F}"/>
            </c:ext>
          </c:extLst>
        </c:ser>
        <c:dLbls>
          <c:showLegendKey val="0"/>
          <c:showVal val="0"/>
          <c:showCatName val="0"/>
          <c:showSerName val="0"/>
          <c:showPercent val="0"/>
          <c:showBubbleSize val="0"/>
        </c:dLbls>
        <c:gapWidth val="60"/>
        <c:axId val="-2068027336"/>
        <c:axId val="-2113994440"/>
      </c:barChart>
      <c:catAx>
        <c:axId val="-2068027336"/>
        <c:scaling>
          <c:orientation val="minMax"/>
        </c:scaling>
        <c:delete val="0"/>
        <c:axPos val="b"/>
        <c:numFmt formatCode="General" sourceLinked="0"/>
        <c:majorTickMark val="out"/>
        <c:minorTickMark val="none"/>
        <c:tickLblPos val="none"/>
        <c:spPr>
          <a:ln>
            <a:solidFill>
              <a:srgbClr val="B8C2C1"/>
            </a:solidFill>
          </a:ln>
        </c:spPr>
        <c:txPr>
          <a:bodyPr/>
          <a:lstStyle/>
          <a:p>
            <a:pPr>
              <a:defRPr sz="100"/>
            </a:pPr>
            <a:endParaRPr lang="es-PE"/>
          </a:p>
        </c:txPr>
        <c:crossAx val="-2113994440"/>
        <c:crosses val="autoZero"/>
        <c:auto val="1"/>
        <c:lblAlgn val="ctr"/>
        <c:lblOffset val="100"/>
        <c:noMultiLvlLbl val="0"/>
      </c:catAx>
      <c:valAx>
        <c:axId val="-2113994440"/>
        <c:scaling>
          <c:orientation val="minMax"/>
          <c:max val="21.2"/>
          <c:min val="16"/>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lineChart>
        <c:grouping val="standard"/>
        <c:varyColors val="0"/>
        <c:ser>
          <c:idx val="0"/>
          <c:order val="0"/>
          <c:tx>
            <c:strRef>
              <c:f>Sheet1!$B$1</c:f>
              <c:strCache>
                <c:ptCount val="1"/>
                <c:pt idx="0">
                  <c:v>SSFF ≤ S/ 1,5MM</c:v>
                </c:pt>
              </c:strCache>
            </c:strRef>
          </c:tx>
          <c:spPr>
            <a:ln w="25400">
              <a:solidFill>
                <a:srgbClr val="13807B"/>
              </a:solidFill>
            </a:ln>
          </c:spPr>
          <c:marker>
            <c:symbol val="circle"/>
            <c:size val="6"/>
            <c:spPr>
              <a:solidFill>
                <a:srgbClr val="13807B"/>
              </a:solidFill>
              <a:ln>
                <a:solidFill>
                  <a:srgbClr val="13807B"/>
                </a:solidFill>
              </a:ln>
            </c:spPr>
          </c:marker>
          <c:dLbls>
            <c:dLbl>
              <c:idx val="0"/>
              <c:tx>
                <c:rich>
                  <a:bodyPr/>
                  <a:lstStyle/>
                  <a:p>
                    <a:r>
                      <a:rPr lang="en-US" sz="850" b="1">
                        <a:solidFill>
                          <a:srgbClr val="13807B"/>
                        </a:solidFill>
                      </a:rPr>
                      <a:t>80</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829B-4A55-81F1-E0E864A07062}"/>
                </c:ext>
              </c:extLst>
            </c:dLbl>
            <c:dLbl>
              <c:idx val="1"/>
              <c:tx>
                <c:rich>
                  <a:bodyPr/>
                  <a:lstStyle/>
                  <a:p>
                    <a:r>
                      <a:rPr lang="en-US" sz="850" b="1">
                        <a:solidFill>
                          <a:srgbClr val="13807B"/>
                        </a:solidFill>
                      </a:rPr>
                      <a:t>59</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829B-4A55-81F1-E0E864A07062}"/>
                </c:ext>
              </c:extLst>
            </c:dLbl>
            <c:dLbl>
              <c:idx val="2"/>
              <c:tx>
                <c:rich>
                  <a:bodyPr/>
                  <a:lstStyle/>
                  <a:p>
                    <a:r>
                      <a:rPr lang="en-US" sz="850" b="1">
                        <a:solidFill>
                          <a:srgbClr val="13807B"/>
                        </a:solidFill>
                      </a:rPr>
                      <a:t>66</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829B-4A55-81F1-E0E864A07062}"/>
                </c:ext>
              </c:extLst>
            </c:dLbl>
            <c:dLbl>
              <c:idx val="3"/>
              <c:tx>
                <c:rich>
                  <a:bodyPr/>
                  <a:lstStyle/>
                  <a:p>
                    <a:r>
                      <a:rPr lang="en-US" sz="850" b="1">
                        <a:solidFill>
                          <a:srgbClr val="13807B"/>
                        </a:solidFill>
                      </a:rPr>
                      <a:t>59</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829B-4A55-81F1-E0E864A07062}"/>
                </c:ext>
              </c:extLst>
            </c:dLbl>
            <c:dLbl>
              <c:idx val="4"/>
              <c:tx>
                <c:rich>
                  <a:bodyPr/>
                  <a:lstStyle/>
                  <a:p>
                    <a:r>
                      <a:rPr lang="en-US" sz="850" b="1">
                        <a:solidFill>
                          <a:srgbClr val="13807B"/>
                        </a:solidFill>
                      </a:rPr>
                      <a:t>71</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829B-4A55-81F1-E0E864A07062}"/>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Sheet1!$A$2:$A$6</c:f>
              <c:strCache>
                <c:ptCount val="5"/>
                <c:pt idx="0">
                  <c:v>2T25</c:v>
                </c:pt>
                <c:pt idx="1">
                  <c:v>3T25</c:v>
                </c:pt>
                <c:pt idx="2">
                  <c:v>4T25</c:v>
                </c:pt>
                <c:pt idx="3">
                  <c:v>1T26</c:v>
                </c:pt>
                <c:pt idx="4">
                  <c:v>2T26*</c:v>
                </c:pt>
              </c:strCache>
            </c:strRef>
          </c:cat>
          <c:val>
            <c:numRef>
              <c:f>Sheet1!$B$2:$B$6</c:f>
              <c:numCache>
                <c:formatCode>General</c:formatCode>
                <c:ptCount val="5"/>
                <c:pt idx="0">
                  <c:v>79.580047612898056</c:v>
                </c:pt>
                <c:pt idx="1">
                  <c:v>58.803436839196969</c:v>
                </c:pt>
                <c:pt idx="2">
                  <c:v>66.494048359529657</c:v>
                </c:pt>
                <c:pt idx="3">
                  <c:v>59.041216604772693</c:v>
                </c:pt>
                <c:pt idx="4">
                  <c:v>70.518660983695966</c:v>
                </c:pt>
              </c:numCache>
            </c:numRef>
          </c:val>
          <c:smooth val="0"/>
          <c:extLst>
            <c:ext xmlns:c16="http://schemas.microsoft.com/office/drawing/2014/chart" uri="{C3380CC4-5D6E-409C-BE32-E72D297353CC}">
              <c16:uniqueId val="{00000005-829B-4A55-81F1-E0E864A07062}"/>
            </c:ext>
          </c:extLst>
        </c:ser>
        <c:ser>
          <c:idx val="1"/>
          <c:order val="1"/>
          <c:tx>
            <c:strRef>
              <c:f>Sheet1!$C$1</c:f>
              <c:strCache>
                <c:ptCount val="1"/>
                <c:pt idx="0">
                  <c:v>SSFF S/ 1,5–3,8MM</c:v>
                </c:pt>
              </c:strCache>
            </c:strRef>
          </c:tx>
          <c:spPr>
            <a:ln w="25400">
              <a:solidFill>
                <a:srgbClr val="E5173F"/>
              </a:solidFill>
            </a:ln>
          </c:spPr>
          <c:marker>
            <c:symbol val="circle"/>
            <c:size val="6"/>
            <c:spPr>
              <a:solidFill>
                <a:srgbClr val="E5173F"/>
              </a:solidFill>
              <a:ln>
                <a:solidFill>
                  <a:srgbClr val="E5173F"/>
                </a:solidFill>
              </a:ln>
            </c:spPr>
          </c:marker>
          <c:dLbls>
            <c:dLbl>
              <c:idx val="0"/>
              <c:tx>
                <c:rich>
                  <a:bodyPr/>
                  <a:lstStyle/>
                  <a:p>
                    <a:r>
                      <a:rPr lang="en-US" sz="850" b="1">
                        <a:solidFill>
                          <a:srgbClr val="E5173F"/>
                        </a:solidFill>
                      </a:rPr>
                      <a:t>71</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829B-4A55-81F1-E0E864A07062}"/>
                </c:ext>
              </c:extLst>
            </c:dLbl>
            <c:dLbl>
              <c:idx val="1"/>
              <c:tx>
                <c:rich>
                  <a:bodyPr/>
                  <a:lstStyle/>
                  <a:p>
                    <a:r>
                      <a:rPr lang="en-US" sz="850" b="1">
                        <a:solidFill>
                          <a:srgbClr val="E5173F"/>
                        </a:solidFill>
                      </a:rPr>
                      <a:t>58</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829B-4A55-81F1-E0E864A07062}"/>
                </c:ext>
              </c:extLst>
            </c:dLbl>
            <c:dLbl>
              <c:idx val="2"/>
              <c:tx>
                <c:rich>
                  <a:bodyPr/>
                  <a:lstStyle/>
                  <a:p>
                    <a:r>
                      <a:rPr lang="en-US" sz="850" b="1">
                        <a:solidFill>
                          <a:srgbClr val="E5173F"/>
                        </a:solidFill>
                      </a:rPr>
                      <a:t>50</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8-829B-4A55-81F1-E0E864A07062}"/>
                </c:ext>
              </c:extLst>
            </c:dLbl>
            <c:dLbl>
              <c:idx val="3"/>
              <c:tx>
                <c:rich>
                  <a:bodyPr/>
                  <a:lstStyle/>
                  <a:p>
                    <a:r>
                      <a:rPr lang="en-US" sz="850" b="1">
                        <a:solidFill>
                          <a:srgbClr val="E5173F"/>
                        </a:solidFill>
                      </a:rPr>
                      <a:t>46</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9-829B-4A55-81F1-E0E864A07062}"/>
                </c:ext>
              </c:extLst>
            </c:dLbl>
            <c:dLbl>
              <c:idx val="4"/>
              <c:tx>
                <c:rich>
                  <a:bodyPr/>
                  <a:lstStyle/>
                  <a:p>
                    <a:r>
                      <a:rPr lang="en-US" sz="850" b="1">
                        <a:solidFill>
                          <a:srgbClr val="E5173F"/>
                        </a:solidFill>
                      </a:rPr>
                      <a:t>33</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A-829B-4A55-81F1-E0E864A07062}"/>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Sheet1!$A$2:$A$6</c:f>
              <c:strCache>
                <c:ptCount val="5"/>
                <c:pt idx="0">
                  <c:v>2T25</c:v>
                </c:pt>
                <c:pt idx="1">
                  <c:v>3T25</c:v>
                </c:pt>
                <c:pt idx="2">
                  <c:v>4T25</c:v>
                </c:pt>
                <c:pt idx="3">
                  <c:v>1T26</c:v>
                </c:pt>
                <c:pt idx="4">
                  <c:v>2T26*</c:v>
                </c:pt>
              </c:strCache>
            </c:strRef>
          </c:cat>
          <c:val>
            <c:numRef>
              <c:f>Sheet1!$C$2:$C$6</c:f>
              <c:numCache>
                <c:formatCode>General</c:formatCode>
                <c:ptCount val="5"/>
                <c:pt idx="0">
                  <c:v>70.530565520285705</c:v>
                </c:pt>
                <c:pt idx="1">
                  <c:v>58.028944356666784</c:v>
                </c:pt>
                <c:pt idx="2">
                  <c:v>49.967652559343975</c:v>
                </c:pt>
                <c:pt idx="3">
                  <c:v>46.438725227189529</c:v>
                </c:pt>
                <c:pt idx="4">
                  <c:v>32.551084572455743</c:v>
                </c:pt>
              </c:numCache>
            </c:numRef>
          </c:val>
          <c:smooth val="0"/>
          <c:extLst>
            <c:ext xmlns:c16="http://schemas.microsoft.com/office/drawing/2014/chart" uri="{C3380CC4-5D6E-409C-BE32-E72D297353CC}">
              <c16:uniqueId val="{0000000B-829B-4A55-81F1-E0E864A07062}"/>
            </c:ext>
          </c:extLst>
        </c:ser>
        <c:ser>
          <c:idx val="2"/>
          <c:order val="2"/>
          <c:tx>
            <c:strRef>
              <c:f>Sheet1!$D$1</c:f>
              <c:strCache>
                <c:ptCount val="1"/>
                <c:pt idx="0">
                  <c:v>Total</c:v>
                </c:pt>
              </c:strCache>
            </c:strRef>
          </c:tx>
          <c:spPr>
            <a:ln w="25400">
              <a:solidFill>
                <a:srgbClr val="555555"/>
              </a:solidFill>
              <a:prstDash val="dash"/>
            </a:ln>
          </c:spPr>
          <c:marker>
            <c:symbol val="triangle"/>
            <c:size val="6"/>
            <c:spPr>
              <a:solidFill>
                <a:srgbClr val="555555"/>
              </a:solidFill>
              <a:ln>
                <a:solidFill>
                  <a:srgbClr val="555555"/>
                </a:solidFill>
              </a:ln>
            </c:spPr>
          </c:marker>
          <c:dLbls>
            <c:dLbl>
              <c:idx val="0"/>
              <c:tx>
                <c:rich>
                  <a:bodyPr/>
                  <a:lstStyle/>
                  <a:p>
                    <a:r>
                      <a:rPr lang="en-US" sz="850" b="1">
                        <a:solidFill>
                          <a:srgbClr val="555555"/>
                        </a:solidFill>
                      </a:rPr>
                      <a:t>70</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C-829B-4A55-81F1-E0E864A07062}"/>
                </c:ext>
              </c:extLst>
            </c:dLbl>
            <c:dLbl>
              <c:idx val="1"/>
              <c:tx>
                <c:rich>
                  <a:bodyPr/>
                  <a:lstStyle/>
                  <a:p>
                    <a:r>
                      <a:rPr lang="en-US" sz="850" b="1">
                        <a:solidFill>
                          <a:srgbClr val="555555"/>
                        </a:solidFill>
                      </a:rPr>
                      <a:t>66</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D-829B-4A55-81F1-E0E864A07062}"/>
                </c:ext>
              </c:extLst>
            </c:dLbl>
            <c:dLbl>
              <c:idx val="2"/>
              <c:tx>
                <c:rich>
                  <a:bodyPr/>
                  <a:lstStyle/>
                  <a:p>
                    <a:r>
                      <a:rPr lang="en-US" sz="850" b="1">
                        <a:solidFill>
                          <a:srgbClr val="555555"/>
                        </a:solidFill>
                      </a:rPr>
                      <a:t>61</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E-829B-4A55-81F1-E0E864A07062}"/>
                </c:ext>
              </c:extLst>
            </c:dLbl>
            <c:dLbl>
              <c:idx val="3"/>
              <c:tx>
                <c:rich>
                  <a:bodyPr/>
                  <a:lstStyle/>
                  <a:p>
                    <a:r>
                      <a:rPr lang="en-US" sz="850" b="1">
                        <a:solidFill>
                          <a:srgbClr val="555555"/>
                        </a:solidFill>
                      </a:rPr>
                      <a:t>53</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F-829B-4A55-81F1-E0E864A07062}"/>
                </c:ext>
              </c:extLst>
            </c:dLbl>
            <c:dLbl>
              <c:idx val="4"/>
              <c:tx>
                <c:rich>
                  <a:bodyPr/>
                  <a:lstStyle/>
                  <a:p>
                    <a:r>
                      <a:rPr lang="en-US" sz="850" b="1">
                        <a:solidFill>
                          <a:srgbClr val="555555"/>
                        </a:solidFill>
                      </a:rPr>
                      <a:t>40</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0-829B-4A55-81F1-E0E864A07062}"/>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Sheet1!$A$2:$A$6</c:f>
              <c:strCache>
                <c:ptCount val="5"/>
                <c:pt idx="0">
                  <c:v>2T25</c:v>
                </c:pt>
                <c:pt idx="1">
                  <c:v>3T25</c:v>
                </c:pt>
                <c:pt idx="2">
                  <c:v>4T25</c:v>
                </c:pt>
                <c:pt idx="3">
                  <c:v>1T26</c:v>
                </c:pt>
                <c:pt idx="4">
                  <c:v>2T26*</c:v>
                </c:pt>
              </c:strCache>
            </c:strRef>
          </c:cat>
          <c:val>
            <c:numRef>
              <c:f>Sheet1!$D$2:$D$6</c:f>
              <c:numCache>
                <c:formatCode>General</c:formatCode>
                <c:ptCount val="5"/>
                <c:pt idx="0">
                  <c:v>70.287025524083617</c:v>
                </c:pt>
                <c:pt idx="1">
                  <c:v>65.540897145671011</c:v>
                </c:pt>
                <c:pt idx="2">
                  <c:v>60.655170454112955</c:v>
                </c:pt>
                <c:pt idx="3">
                  <c:v>53.464588785658023</c:v>
                </c:pt>
                <c:pt idx="4">
                  <c:v>40.460034222492013</c:v>
                </c:pt>
              </c:numCache>
            </c:numRef>
          </c:val>
          <c:smooth val="0"/>
          <c:extLst>
            <c:ext xmlns:c16="http://schemas.microsoft.com/office/drawing/2014/chart" uri="{C3380CC4-5D6E-409C-BE32-E72D297353CC}">
              <c16:uniqueId val="{00000011-829B-4A55-81F1-E0E864A07062}"/>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low"/>
        <c:spPr>
          <a:ln>
            <a:solidFill>
              <a:srgbClr val="B8C2C1"/>
            </a:solidFill>
          </a:ln>
        </c:spPr>
        <c:txPr>
          <a:bodyPr/>
          <a:lstStyle/>
          <a:p>
            <a:pPr>
              <a:defRPr sz="800">
                <a:solidFill>
                  <a:srgbClr val="2F3B3A"/>
                </a:solidFill>
              </a:defRPr>
            </a:pPr>
            <a:endParaRPr lang="es-PE"/>
          </a:p>
        </c:txPr>
        <c:crossAx val="2140495176"/>
        <c:crosses val="autoZero"/>
        <c:auto val="1"/>
        <c:lblAlgn val="ctr"/>
        <c:lblOffset val="100"/>
        <c:noMultiLvlLbl val="0"/>
      </c:catAx>
      <c:valAx>
        <c:axId val="2140495176"/>
        <c:scaling>
          <c:orientation val="minMax"/>
          <c:max val="87"/>
          <c:min val="25"/>
        </c:scaling>
        <c:delete val="1"/>
        <c:axPos val="l"/>
        <c:numFmt formatCode="0" sourceLinked="0"/>
        <c:majorTickMark val="out"/>
        <c:minorTickMark val="none"/>
        <c:tickLblPos val="nextTo"/>
        <c:crossAx val="2118791784"/>
        <c:crosses val="autoZero"/>
        <c:crossBetween val="between"/>
      </c:valAx>
    </c:plotArea>
    <c:legend>
      <c:legendPos val="t"/>
      <c:overlay val="0"/>
      <c:txPr>
        <a:bodyPr/>
        <a:lstStyle/>
        <a:p>
          <a:pPr>
            <a:defRPr sz="800"/>
          </a:pPr>
          <a:endParaRPr lang="es-PE"/>
        </a:p>
      </c:txPr>
    </c:legend>
    <c:plotVisOnly val="1"/>
    <c:dispBlanksAs val="gap"/>
    <c:showDLblsOverMax val="0"/>
  </c:chart>
  <c:txPr>
    <a:bodyPr/>
    <a:lstStyle/>
    <a:p>
      <a:pPr>
        <a:defRPr sz="1800"/>
      </a:pPr>
      <a:endParaRPr lang="en-US"/>
    </a:p>
  </c:txPr>
  <c:externalData r:id="rId1">
    <c:autoUpdate val="0"/>
  </c:externalData>
</c:chartSpace>
</file>

<file path=ppt/charts/chart3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lineChart>
        <c:grouping val="standard"/>
        <c:varyColors val="0"/>
        <c:ser>
          <c:idx val="0"/>
          <c:order val="0"/>
          <c:tx>
            <c:strRef>
              <c:f>Sheet1!$B$1</c:f>
              <c:strCache>
                <c:ptCount val="1"/>
                <c:pt idx="0">
                  <c:v>Ofertada a desembolsos</c:v>
                </c:pt>
              </c:strCache>
            </c:strRef>
          </c:tx>
          <c:spPr>
            <a:ln w="25400">
              <a:solidFill>
                <a:srgbClr val="8E9B9A"/>
              </a:solidFill>
              <a:prstDash val="dash"/>
            </a:ln>
          </c:spPr>
          <c:marker>
            <c:symbol val="circle"/>
            <c:size val="6"/>
            <c:spPr>
              <a:solidFill>
                <a:srgbClr val="8E9B9A"/>
              </a:solidFill>
              <a:ln>
                <a:solidFill>
                  <a:srgbClr val="8E9B9A"/>
                </a:solidFill>
              </a:ln>
            </c:spPr>
          </c:marker>
          <c:dLbls>
            <c:dLbl>
              <c:idx val="0"/>
              <c:tx>
                <c:rich>
                  <a:bodyPr/>
                  <a:lstStyle/>
                  <a:p>
                    <a:r>
                      <a:rPr lang="en-US" sz="900" b="1">
                        <a:solidFill>
                          <a:srgbClr val="8E9B9A"/>
                        </a:solidFill>
                      </a:rPr>
                      <a:t>21,8</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1E8F-4DF1-95C7-C3E6FC3472D7}"/>
                </c:ext>
              </c:extLst>
            </c:dLbl>
            <c:dLbl>
              <c:idx val="1"/>
              <c:tx>
                <c:rich>
                  <a:bodyPr/>
                  <a:lstStyle/>
                  <a:p>
                    <a:r>
                      <a:rPr lang="en-US" sz="900" b="1">
                        <a:solidFill>
                          <a:srgbClr val="8E9B9A"/>
                        </a:solidFill>
                      </a:rPr>
                      <a:t>22,1</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1E8F-4DF1-95C7-C3E6FC3472D7}"/>
                </c:ext>
              </c:extLst>
            </c:dLbl>
            <c:dLbl>
              <c:idx val="2"/>
              <c:tx>
                <c:rich>
                  <a:bodyPr/>
                  <a:lstStyle/>
                  <a:p>
                    <a:r>
                      <a:rPr lang="en-US" sz="900" b="1">
                        <a:solidFill>
                          <a:srgbClr val="8E9B9A"/>
                        </a:solidFill>
                      </a:rPr>
                      <a:t>19,7</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1E8F-4DF1-95C7-C3E6FC3472D7}"/>
                </c:ext>
              </c:extLst>
            </c:dLbl>
            <c:dLbl>
              <c:idx val="3"/>
              <c:tx>
                <c:rich>
                  <a:bodyPr/>
                  <a:lstStyle/>
                  <a:p>
                    <a:r>
                      <a:rPr lang="en-US" sz="900" b="1">
                        <a:solidFill>
                          <a:srgbClr val="8E9B9A"/>
                        </a:solidFill>
                      </a:rPr>
                      <a:t>19,8</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1E8F-4DF1-95C7-C3E6FC3472D7}"/>
                </c:ext>
              </c:extLst>
            </c:dLbl>
            <c:dLbl>
              <c:idx val="4"/>
              <c:tx>
                <c:rich>
                  <a:bodyPr/>
                  <a:lstStyle/>
                  <a:p>
                    <a:r>
                      <a:rPr lang="en-US" sz="900" b="1">
                        <a:solidFill>
                          <a:srgbClr val="8E9B9A"/>
                        </a:solidFill>
                      </a:rPr>
                      <a:t>21,4</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1E8F-4DF1-95C7-C3E6FC3472D7}"/>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Sheet1!$A$2:$A$6</c:f>
              <c:strCache>
                <c:ptCount val="5"/>
                <c:pt idx="0">
                  <c:v>2T25</c:v>
                </c:pt>
                <c:pt idx="1">
                  <c:v>3T25</c:v>
                </c:pt>
                <c:pt idx="2">
                  <c:v>4T25</c:v>
                </c:pt>
                <c:pt idx="3">
                  <c:v>1T26</c:v>
                </c:pt>
                <c:pt idx="4">
                  <c:v>2T26*</c:v>
                </c:pt>
              </c:strCache>
            </c:strRef>
          </c:cat>
          <c:val>
            <c:numRef>
              <c:f>Sheet1!$B$2:$B$6</c:f>
              <c:numCache>
                <c:formatCode>General</c:formatCode>
                <c:ptCount val="5"/>
                <c:pt idx="0">
                  <c:v>21.8</c:v>
                </c:pt>
                <c:pt idx="1">
                  <c:v>22.1</c:v>
                </c:pt>
                <c:pt idx="2">
                  <c:v>19.7</c:v>
                </c:pt>
                <c:pt idx="3">
                  <c:v>19.8</c:v>
                </c:pt>
                <c:pt idx="4">
                  <c:v>21.4</c:v>
                </c:pt>
              </c:numCache>
            </c:numRef>
          </c:val>
          <c:smooth val="0"/>
          <c:extLst>
            <c:ext xmlns:c16="http://schemas.microsoft.com/office/drawing/2014/chart" uri="{C3380CC4-5D6E-409C-BE32-E72D297353CC}">
              <c16:uniqueId val="{00000005-1E8F-4DF1-95C7-C3E6FC3472D7}"/>
            </c:ext>
          </c:extLst>
        </c:ser>
        <c:ser>
          <c:idx val="1"/>
          <c:order val="1"/>
          <c:tx>
            <c:strRef>
              <c:f>Sheet1!$C$1</c:f>
              <c:strCache>
                <c:ptCount val="1"/>
                <c:pt idx="0">
                  <c:v>Desembolsada</c:v>
                </c:pt>
              </c:strCache>
            </c:strRef>
          </c:tx>
          <c:spPr>
            <a:ln w="25400">
              <a:solidFill>
                <a:srgbClr val="2F6FDE"/>
              </a:solidFill>
            </a:ln>
          </c:spPr>
          <c:marker>
            <c:symbol val="circle"/>
            <c:size val="6"/>
            <c:spPr>
              <a:solidFill>
                <a:srgbClr val="2F6FDE"/>
              </a:solidFill>
              <a:ln>
                <a:solidFill>
                  <a:srgbClr val="2F6FDE"/>
                </a:solidFill>
              </a:ln>
            </c:spPr>
          </c:marker>
          <c:dLbls>
            <c:dLbl>
              <c:idx val="0"/>
              <c:tx>
                <c:rich>
                  <a:bodyPr/>
                  <a:lstStyle/>
                  <a:p>
                    <a:r>
                      <a:rPr lang="en-US" sz="900" b="1">
                        <a:solidFill>
                          <a:srgbClr val="2F6FDE"/>
                        </a:solidFill>
                      </a:rPr>
                      <a:t>17,9</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1E8F-4DF1-95C7-C3E6FC3472D7}"/>
                </c:ext>
              </c:extLst>
            </c:dLbl>
            <c:dLbl>
              <c:idx val="1"/>
              <c:tx>
                <c:rich>
                  <a:bodyPr/>
                  <a:lstStyle/>
                  <a:p>
                    <a:r>
                      <a:rPr lang="en-US" sz="900" b="1">
                        <a:solidFill>
                          <a:srgbClr val="2F6FDE"/>
                        </a:solidFill>
                      </a:rPr>
                      <a:t>17,7</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1E8F-4DF1-95C7-C3E6FC3472D7}"/>
                </c:ext>
              </c:extLst>
            </c:dLbl>
            <c:dLbl>
              <c:idx val="2"/>
              <c:tx>
                <c:rich>
                  <a:bodyPr/>
                  <a:lstStyle/>
                  <a:p>
                    <a:r>
                      <a:rPr lang="en-US" sz="900" b="1">
                        <a:solidFill>
                          <a:srgbClr val="2F6FDE"/>
                        </a:solidFill>
                      </a:rPr>
                      <a:t>17,5</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8-1E8F-4DF1-95C7-C3E6FC3472D7}"/>
                </c:ext>
              </c:extLst>
            </c:dLbl>
            <c:dLbl>
              <c:idx val="3"/>
              <c:tx>
                <c:rich>
                  <a:bodyPr/>
                  <a:lstStyle/>
                  <a:p>
                    <a:r>
                      <a:rPr lang="en-US" sz="900" b="1">
                        <a:solidFill>
                          <a:srgbClr val="2F6FDE"/>
                        </a:solidFill>
                      </a:rPr>
                      <a:t>17,0</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9-1E8F-4DF1-95C7-C3E6FC3472D7}"/>
                </c:ext>
              </c:extLst>
            </c:dLbl>
            <c:dLbl>
              <c:idx val="4"/>
              <c:tx>
                <c:rich>
                  <a:bodyPr/>
                  <a:lstStyle/>
                  <a:p>
                    <a:r>
                      <a:rPr lang="en-US" sz="900" b="1">
                        <a:solidFill>
                          <a:srgbClr val="2F6FDE"/>
                        </a:solidFill>
                      </a:rPr>
                      <a:t>17,2</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A-1E8F-4DF1-95C7-C3E6FC3472D7}"/>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Sheet1!$A$2:$A$6</c:f>
              <c:strCache>
                <c:ptCount val="5"/>
                <c:pt idx="0">
                  <c:v>2T25</c:v>
                </c:pt>
                <c:pt idx="1">
                  <c:v>3T25</c:v>
                </c:pt>
                <c:pt idx="2">
                  <c:v>4T25</c:v>
                </c:pt>
                <c:pt idx="3">
                  <c:v>1T26</c:v>
                </c:pt>
                <c:pt idx="4">
                  <c:v>2T26*</c:v>
                </c:pt>
              </c:strCache>
            </c:strRef>
          </c:cat>
          <c:val>
            <c:numRef>
              <c:f>Sheet1!$C$2:$C$6</c:f>
              <c:numCache>
                <c:formatCode>General</c:formatCode>
                <c:ptCount val="5"/>
                <c:pt idx="0">
                  <c:v>17.888324849907111</c:v>
                </c:pt>
                <c:pt idx="1">
                  <c:v>17.662427199090466</c:v>
                </c:pt>
                <c:pt idx="2">
                  <c:v>17.456425599936416</c:v>
                </c:pt>
                <c:pt idx="3">
                  <c:v>16.955896551724141</c:v>
                </c:pt>
                <c:pt idx="4">
                  <c:v>17.201998429567514</c:v>
                </c:pt>
              </c:numCache>
            </c:numRef>
          </c:val>
          <c:smooth val="0"/>
          <c:extLst>
            <c:ext xmlns:c16="http://schemas.microsoft.com/office/drawing/2014/chart" uri="{C3380CC4-5D6E-409C-BE32-E72D297353CC}">
              <c16:uniqueId val="{0000000B-1E8F-4DF1-95C7-C3E6FC3472D7}"/>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low"/>
        <c:spPr>
          <a:ln>
            <a:solidFill>
              <a:srgbClr val="B8C2C1"/>
            </a:solidFill>
          </a:ln>
        </c:spPr>
        <c:txPr>
          <a:bodyPr/>
          <a:lstStyle/>
          <a:p>
            <a:pPr>
              <a:defRPr sz="750">
                <a:solidFill>
                  <a:srgbClr val="2F3B3A"/>
                </a:solidFill>
              </a:defRPr>
            </a:pPr>
            <a:endParaRPr lang="es-PE"/>
          </a:p>
        </c:txPr>
        <c:crossAx val="2140495176"/>
        <c:crosses val="autoZero"/>
        <c:auto val="1"/>
        <c:lblAlgn val="ctr"/>
        <c:lblOffset val="100"/>
        <c:noMultiLvlLbl val="0"/>
      </c:catAx>
      <c:valAx>
        <c:axId val="2140495176"/>
        <c:scaling>
          <c:orientation val="minMax"/>
          <c:max val="25"/>
          <c:min val="13"/>
        </c:scaling>
        <c:delete val="1"/>
        <c:axPos val="l"/>
        <c:numFmt formatCode="0.0" sourceLinked="0"/>
        <c:majorTickMark val="out"/>
        <c:minorTickMark val="none"/>
        <c:tickLblPos val="nextTo"/>
        <c:crossAx val="2118791784"/>
        <c:crosses val="autoZero"/>
        <c:crossBetween val="between"/>
      </c:valAx>
    </c:plotArea>
    <c:legend>
      <c:legendPos val="t"/>
      <c:overlay val="0"/>
      <c:txPr>
        <a:bodyPr/>
        <a:lstStyle/>
        <a:p>
          <a:pPr>
            <a:defRPr sz="750"/>
          </a:pPr>
          <a:endParaRPr lang="es-PE"/>
        </a:p>
      </c:txPr>
    </c:legend>
    <c:plotVisOnly val="1"/>
    <c:dispBlanksAs val="gap"/>
    <c:showDLblsOverMax val="0"/>
  </c:chart>
  <c:txPr>
    <a:bodyPr/>
    <a:lstStyle/>
    <a:p>
      <a:pPr>
        <a:defRPr sz="1800"/>
      </a:pPr>
      <a:endParaRPr lang="en-US"/>
    </a:p>
  </c:txPr>
  <c:externalData r:id="rId1">
    <c:autoUpdate val="0"/>
  </c:externalData>
</c:chartSpace>
</file>

<file path=ppt/charts/chart3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lineChart>
        <c:grouping val="standard"/>
        <c:varyColors val="0"/>
        <c:ser>
          <c:idx val="0"/>
          <c:order val="0"/>
          <c:tx>
            <c:strRef>
              <c:f>Sheet1!$B$1</c:f>
              <c:strCache>
                <c:ptCount val="1"/>
                <c:pt idx="0">
                  <c:v>Ofertada a desembolsos</c:v>
                </c:pt>
              </c:strCache>
            </c:strRef>
          </c:tx>
          <c:spPr>
            <a:ln w="25400">
              <a:solidFill>
                <a:srgbClr val="8E9B9A"/>
              </a:solidFill>
              <a:prstDash val="dash"/>
            </a:ln>
          </c:spPr>
          <c:marker>
            <c:symbol val="circle"/>
            <c:size val="6"/>
            <c:spPr>
              <a:solidFill>
                <a:srgbClr val="8E9B9A"/>
              </a:solidFill>
              <a:ln>
                <a:solidFill>
                  <a:srgbClr val="8E9B9A"/>
                </a:solidFill>
              </a:ln>
            </c:spPr>
          </c:marker>
          <c:dLbls>
            <c:dLbl>
              <c:idx val="0"/>
              <c:tx>
                <c:rich>
                  <a:bodyPr/>
                  <a:lstStyle/>
                  <a:p>
                    <a:r>
                      <a:rPr lang="en-US" sz="900" b="1">
                        <a:solidFill>
                          <a:srgbClr val="8E9B9A"/>
                        </a:solidFill>
                      </a:rPr>
                      <a:t>20,8</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ACF8-4CF0-9CE0-44C7D8F54CC1}"/>
                </c:ext>
              </c:extLst>
            </c:dLbl>
            <c:dLbl>
              <c:idx val="1"/>
              <c:tx>
                <c:rich>
                  <a:bodyPr/>
                  <a:lstStyle/>
                  <a:p>
                    <a:r>
                      <a:rPr lang="en-US" sz="900" b="1">
                        <a:solidFill>
                          <a:srgbClr val="8E9B9A"/>
                        </a:solidFill>
                      </a:rPr>
                      <a:t>20,4</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ACF8-4CF0-9CE0-44C7D8F54CC1}"/>
                </c:ext>
              </c:extLst>
            </c:dLbl>
            <c:dLbl>
              <c:idx val="2"/>
              <c:tx>
                <c:rich>
                  <a:bodyPr/>
                  <a:lstStyle/>
                  <a:p>
                    <a:r>
                      <a:rPr lang="en-US" sz="900" b="1">
                        <a:solidFill>
                          <a:srgbClr val="8E9B9A"/>
                        </a:solidFill>
                      </a:rPr>
                      <a:t>19,2</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ACF8-4CF0-9CE0-44C7D8F54CC1}"/>
                </c:ext>
              </c:extLst>
            </c:dLbl>
            <c:dLbl>
              <c:idx val="3"/>
              <c:tx>
                <c:rich>
                  <a:bodyPr/>
                  <a:lstStyle/>
                  <a:p>
                    <a:r>
                      <a:rPr lang="en-US" sz="900" b="1">
                        <a:solidFill>
                          <a:srgbClr val="8E9B9A"/>
                        </a:solidFill>
                      </a:rPr>
                      <a:t>19,6</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ACF8-4CF0-9CE0-44C7D8F54CC1}"/>
                </c:ext>
              </c:extLst>
            </c:dLbl>
            <c:dLbl>
              <c:idx val="4"/>
              <c:tx>
                <c:rich>
                  <a:bodyPr/>
                  <a:lstStyle/>
                  <a:p>
                    <a:r>
                      <a:rPr lang="en-US" sz="900" b="1">
                        <a:solidFill>
                          <a:srgbClr val="8E9B9A"/>
                        </a:solidFill>
                      </a:rPr>
                      <a:t>19,8</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ACF8-4CF0-9CE0-44C7D8F54CC1}"/>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Sheet1!$A$2:$A$6</c:f>
              <c:strCache>
                <c:ptCount val="5"/>
                <c:pt idx="0">
                  <c:v>2T25</c:v>
                </c:pt>
                <c:pt idx="1">
                  <c:v>3T25</c:v>
                </c:pt>
                <c:pt idx="2">
                  <c:v>4T25</c:v>
                </c:pt>
                <c:pt idx="3">
                  <c:v>1T26</c:v>
                </c:pt>
                <c:pt idx="4">
                  <c:v>2T26*</c:v>
                </c:pt>
              </c:strCache>
            </c:strRef>
          </c:cat>
          <c:val>
            <c:numRef>
              <c:f>Sheet1!$B$2:$B$6</c:f>
              <c:numCache>
                <c:formatCode>General</c:formatCode>
                <c:ptCount val="5"/>
                <c:pt idx="0">
                  <c:v>20.8</c:v>
                </c:pt>
                <c:pt idx="1">
                  <c:v>20.399999999999999</c:v>
                </c:pt>
                <c:pt idx="2">
                  <c:v>19.2</c:v>
                </c:pt>
                <c:pt idx="3">
                  <c:v>19.600000000000001</c:v>
                </c:pt>
                <c:pt idx="4">
                  <c:v>19.8</c:v>
                </c:pt>
              </c:numCache>
            </c:numRef>
          </c:val>
          <c:smooth val="0"/>
          <c:extLst>
            <c:ext xmlns:c16="http://schemas.microsoft.com/office/drawing/2014/chart" uri="{C3380CC4-5D6E-409C-BE32-E72D297353CC}">
              <c16:uniqueId val="{00000005-ACF8-4CF0-9CE0-44C7D8F54CC1}"/>
            </c:ext>
          </c:extLst>
        </c:ser>
        <c:ser>
          <c:idx val="1"/>
          <c:order val="1"/>
          <c:tx>
            <c:strRef>
              <c:f>Sheet1!$C$1</c:f>
              <c:strCache>
                <c:ptCount val="1"/>
                <c:pt idx="0">
                  <c:v>Desembolsada</c:v>
                </c:pt>
              </c:strCache>
            </c:strRef>
          </c:tx>
          <c:spPr>
            <a:ln w="25400">
              <a:solidFill>
                <a:srgbClr val="2F6FDE"/>
              </a:solidFill>
            </a:ln>
          </c:spPr>
          <c:marker>
            <c:symbol val="circle"/>
            <c:size val="6"/>
            <c:spPr>
              <a:solidFill>
                <a:srgbClr val="2F6FDE"/>
              </a:solidFill>
              <a:ln>
                <a:solidFill>
                  <a:srgbClr val="2F6FDE"/>
                </a:solidFill>
              </a:ln>
            </c:spPr>
          </c:marker>
          <c:dLbls>
            <c:dLbl>
              <c:idx val="0"/>
              <c:tx>
                <c:rich>
                  <a:bodyPr/>
                  <a:lstStyle/>
                  <a:p>
                    <a:r>
                      <a:rPr lang="en-US" sz="900" b="1">
                        <a:solidFill>
                          <a:srgbClr val="2F6FDE"/>
                        </a:solidFill>
                      </a:rPr>
                      <a:t>17,4</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ACF8-4CF0-9CE0-44C7D8F54CC1}"/>
                </c:ext>
              </c:extLst>
            </c:dLbl>
            <c:dLbl>
              <c:idx val="1"/>
              <c:tx>
                <c:rich>
                  <a:bodyPr/>
                  <a:lstStyle/>
                  <a:p>
                    <a:r>
                      <a:rPr lang="en-US" sz="900" b="1">
                        <a:solidFill>
                          <a:srgbClr val="2F6FDE"/>
                        </a:solidFill>
                      </a:rPr>
                      <a:t>17,3</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ACF8-4CF0-9CE0-44C7D8F54CC1}"/>
                </c:ext>
              </c:extLst>
            </c:dLbl>
            <c:dLbl>
              <c:idx val="2"/>
              <c:tx>
                <c:rich>
                  <a:bodyPr/>
                  <a:lstStyle/>
                  <a:p>
                    <a:r>
                      <a:rPr lang="en-US" sz="900" b="1">
                        <a:solidFill>
                          <a:srgbClr val="2F6FDE"/>
                        </a:solidFill>
                      </a:rPr>
                      <a:t>16,7</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8-ACF8-4CF0-9CE0-44C7D8F54CC1}"/>
                </c:ext>
              </c:extLst>
            </c:dLbl>
            <c:dLbl>
              <c:idx val="3"/>
              <c:tx>
                <c:rich>
                  <a:bodyPr/>
                  <a:lstStyle/>
                  <a:p>
                    <a:r>
                      <a:rPr lang="en-US" sz="900" b="1">
                        <a:solidFill>
                          <a:srgbClr val="2F6FDE"/>
                        </a:solidFill>
                      </a:rPr>
                      <a:t>16,7</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9-ACF8-4CF0-9CE0-44C7D8F54CC1}"/>
                </c:ext>
              </c:extLst>
            </c:dLbl>
            <c:dLbl>
              <c:idx val="4"/>
              <c:tx>
                <c:rich>
                  <a:bodyPr/>
                  <a:lstStyle/>
                  <a:p>
                    <a:r>
                      <a:rPr lang="en-US" sz="900" b="1">
                        <a:solidFill>
                          <a:srgbClr val="2F6FDE"/>
                        </a:solidFill>
                      </a:rPr>
                      <a:t>17,2</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A-ACF8-4CF0-9CE0-44C7D8F54CC1}"/>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Sheet1!$A$2:$A$6</c:f>
              <c:strCache>
                <c:ptCount val="5"/>
                <c:pt idx="0">
                  <c:v>2T25</c:v>
                </c:pt>
                <c:pt idx="1">
                  <c:v>3T25</c:v>
                </c:pt>
                <c:pt idx="2">
                  <c:v>4T25</c:v>
                </c:pt>
                <c:pt idx="3">
                  <c:v>1T26</c:v>
                </c:pt>
                <c:pt idx="4">
                  <c:v>2T26*</c:v>
                </c:pt>
              </c:strCache>
            </c:strRef>
          </c:cat>
          <c:val>
            <c:numRef>
              <c:f>Sheet1!$C$2:$C$6</c:f>
              <c:numCache>
                <c:formatCode>General</c:formatCode>
                <c:ptCount val="5"/>
                <c:pt idx="0">
                  <c:v>17.379980584378998</c:v>
                </c:pt>
                <c:pt idx="1">
                  <c:v>17.290237445859372</c:v>
                </c:pt>
                <c:pt idx="2">
                  <c:v>16.744083685347544</c:v>
                </c:pt>
                <c:pt idx="3">
                  <c:v>16.659874957569123</c:v>
                </c:pt>
                <c:pt idx="4">
                  <c:v>17.16152680901876</c:v>
                </c:pt>
              </c:numCache>
            </c:numRef>
          </c:val>
          <c:smooth val="0"/>
          <c:extLst>
            <c:ext xmlns:c16="http://schemas.microsoft.com/office/drawing/2014/chart" uri="{C3380CC4-5D6E-409C-BE32-E72D297353CC}">
              <c16:uniqueId val="{0000000B-ACF8-4CF0-9CE0-44C7D8F54CC1}"/>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low"/>
        <c:spPr>
          <a:ln>
            <a:solidFill>
              <a:srgbClr val="B8C2C1"/>
            </a:solidFill>
          </a:ln>
        </c:spPr>
        <c:txPr>
          <a:bodyPr/>
          <a:lstStyle/>
          <a:p>
            <a:pPr>
              <a:defRPr sz="750">
                <a:solidFill>
                  <a:srgbClr val="2F3B3A"/>
                </a:solidFill>
              </a:defRPr>
            </a:pPr>
            <a:endParaRPr lang="es-PE"/>
          </a:p>
        </c:txPr>
        <c:crossAx val="2140495176"/>
        <c:crosses val="autoZero"/>
        <c:auto val="1"/>
        <c:lblAlgn val="ctr"/>
        <c:lblOffset val="100"/>
        <c:noMultiLvlLbl val="0"/>
      </c:catAx>
      <c:valAx>
        <c:axId val="2140495176"/>
        <c:scaling>
          <c:orientation val="minMax"/>
          <c:max val="23"/>
          <c:min val="13"/>
        </c:scaling>
        <c:delete val="1"/>
        <c:axPos val="l"/>
        <c:numFmt formatCode="0.0" sourceLinked="0"/>
        <c:majorTickMark val="out"/>
        <c:minorTickMark val="none"/>
        <c:tickLblPos val="nextTo"/>
        <c:crossAx val="2118791784"/>
        <c:crosses val="autoZero"/>
        <c:crossBetween val="between"/>
      </c:valAx>
    </c:plotArea>
    <c:legend>
      <c:legendPos val="t"/>
      <c:overlay val="0"/>
      <c:txPr>
        <a:bodyPr/>
        <a:lstStyle/>
        <a:p>
          <a:pPr>
            <a:defRPr sz="750"/>
          </a:pPr>
          <a:endParaRPr lang="es-PE"/>
        </a:p>
      </c:txPr>
    </c:legend>
    <c:plotVisOnly val="1"/>
    <c:dispBlanksAs val="gap"/>
    <c:showDLblsOverMax val="0"/>
  </c:chart>
  <c:txPr>
    <a:bodyPr/>
    <a:lstStyle/>
    <a:p>
      <a:pPr>
        <a:defRPr sz="1800"/>
      </a:pPr>
      <a:endParaRPr lang="en-US"/>
    </a:p>
  </c:txPr>
  <c:externalData r:id="rId1">
    <c:autoUpdate val="0"/>
  </c:externalData>
</c:chartSpace>
</file>

<file path=ppt/charts/chart3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0"/>
    <c:plotArea>
      <c:layout>
        <c:manualLayout>
          <c:layoutTarget val="inner"/>
          <c:xMode val="edge"/>
          <c:yMode val="edge"/>
          <c:x val="0.02"/>
          <c:y val="0.17"/>
          <c:w val="0.96"/>
          <c:h val="0.7"/>
        </c:manualLayout>
      </c:layout>
      <c:barChart>
        <c:barDir val="col"/>
        <c:grouping val="clustered"/>
        <c:varyColors val="1"/>
        <c:ser>
          <c:idx val="0"/>
          <c:order val="0"/>
          <c:tx>
            <c:strRef>
              <c:f>Sheet1!$B$1</c:f>
              <c:strCache>
                <c:ptCount val="1"/>
                <c:pt idx="0">
                  <c:v>Ofertada a desembolsos</c:v>
                </c:pt>
              </c:strCache>
            </c:strRef>
          </c:tx>
          <c:spPr>
            <a:solidFill>
              <a:srgbClr val="8E9B9A"/>
            </a:solidFill>
          </c:spPr>
          <c:invertIfNegative val="1"/>
          <c:dLbls>
            <c:dLbl>
              <c:idx val="0"/>
              <c:tx>
                <c:rich>
                  <a:bodyPr/>
                  <a:lstStyle/>
                  <a:p>
                    <a:r>
                      <a:rPr lang="en-US" sz="850" b="1">
                        <a:solidFill>
                          <a:srgbClr val="6E7E7D"/>
                        </a:solidFill>
                      </a:rPr>
                      <a:t>20,2</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4F58-4FBE-8809-93DE6391D396}"/>
                </c:ext>
              </c:extLst>
            </c:dLbl>
            <c:dLbl>
              <c:idx val="1"/>
              <c:tx>
                <c:rich>
                  <a:bodyPr/>
                  <a:lstStyle/>
                  <a:p>
                    <a:r>
                      <a:rPr lang="en-US" sz="850" b="1">
                        <a:solidFill>
                          <a:srgbClr val="6E7E7D"/>
                        </a:solidFill>
                      </a:rPr>
                      <a:t>19,0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4F58-4FBE-8809-93DE6391D396}"/>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Sheet1!$A$2:$A$3</c:f>
              <c:strCache>
                <c:ptCount val="2"/>
                <c:pt idx="0">
                  <c:v>SSFF ≤ 1,5MM</c:v>
                </c:pt>
                <c:pt idx="1">
                  <c:v>SSFF 1,5–3,8MM</c:v>
                </c:pt>
              </c:strCache>
            </c:strRef>
          </c:cat>
          <c:val>
            <c:numRef>
              <c:f>Sheet1!$B$2:$B$3</c:f>
              <c:numCache>
                <c:formatCode>General</c:formatCode>
                <c:ptCount val="2"/>
                <c:pt idx="0">
                  <c:v>20.2</c:v>
                </c:pt>
                <c:pt idx="1">
                  <c:v>19</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4F58-4FBE-8809-93DE6391D396}"/>
            </c:ext>
          </c:extLst>
        </c:ser>
        <c:ser>
          <c:idx val="1"/>
          <c:order val="1"/>
          <c:tx>
            <c:strRef>
              <c:f>Sheet1!$C$1</c:f>
              <c:strCache>
                <c:ptCount val="1"/>
                <c:pt idx="0">
                  <c:v>Desembolsada</c:v>
                </c:pt>
              </c:strCache>
            </c:strRef>
          </c:tx>
          <c:spPr>
            <a:solidFill>
              <a:srgbClr val="2F6FDE"/>
            </a:solidFill>
          </c:spPr>
          <c:invertIfNegative val="1"/>
          <c:dLbls>
            <c:dLbl>
              <c:idx val="0"/>
              <c:tx>
                <c:rich>
                  <a:bodyPr/>
                  <a:lstStyle/>
                  <a:p>
                    <a:r>
                      <a:rPr lang="en-US" sz="850" b="1">
                        <a:solidFill>
                          <a:srgbClr val="2F6FDE"/>
                        </a:solidFill>
                      </a:rPr>
                      <a:t>17,0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4F58-4FBE-8809-93DE6391D396}"/>
                </c:ext>
              </c:extLst>
            </c:dLbl>
            <c:dLbl>
              <c:idx val="1"/>
              <c:tx>
                <c:rich>
                  <a:bodyPr/>
                  <a:lstStyle/>
                  <a:p>
                    <a:r>
                      <a:rPr lang="en-US" sz="850" b="1">
                        <a:solidFill>
                          <a:srgbClr val="2F6FDE"/>
                        </a:solidFill>
                      </a:rPr>
                      <a:t>17,0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4F58-4FBE-8809-93DE6391D396}"/>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Sheet1!$A$2:$A$3</c:f>
              <c:strCache>
                <c:ptCount val="2"/>
                <c:pt idx="0">
                  <c:v>SSFF ≤ 1,5MM</c:v>
                </c:pt>
                <c:pt idx="1">
                  <c:v>SSFF 1,5–3,8MM</c:v>
                </c:pt>
              </c:strCache>
            </c:strRef>
          </c:cat>
          <c:val>
            <c:numRef>
              <c:f>Sheet1!$C$2:$C$3</c:f>
              <c:numCache>
                <c:formatCode>General</c:formatCode>
                <c:ptCount val="2"/>
                <c:pt idx="0">
                  <c:v>17</c:v>
                </c:pt>
                <c:pt idx="1">
                  <c:v>17</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5-4F58-4FBE-8809-93DE6391D396}"/>
            </c:ext>
          </c:extLst>
        </c:ser>
        <c:ser>
          <c:idx val="2"/>
          <c:order val="2"/>
          <c:tx>
            <c:strRef>
              <c:f>Sheet1!$D$1</c:f>
              <c:strCache>
                <c:ptCount val="1"/>
                <c:pt idx="0">
                  <c:v>Competencia</c:v>
                </c:pt>
              </c:strCache>
            </c:strRef>
          </c:tx>
          <c:spPr>
            <a:solidFill>
              <a:srgbClr val="F28C28"/>
            </a:solidFill>
          </c:spPr>
          <c:invertIfNegative val="1"/>
          <c:dLbls>
            <c:dLbl>
              <c:idx val="0"/>
              <c:tx>
                <c:rich>
                  <a:bodyPr/>
                  <a:lstStyle/>
                  <a:p>
                    <a:r>
                      <a:rPr lang="en-US" sz="850" b="1">
                        <a:solidFill>
                          <a:srgbClr val="F28C28"/>
                        </a:solidFill>
                      </a:rPr>
                      <a:t>15,0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4F58-4FBE-8809-93DE6391D396}"/>
                </c:ext>
              </c:extLst>
            </c:dLbl>
            <c:dLbl>
              <c:idx val="1"/>
              <c:tx>
                <c:rich>
                  <a:bodyPr/>
                  <a:lstStyle/>
                  <a:p>
                    <a:r>
                      <a:rPr lang="en-US" sz="850" b="1">
                        <a:solidFill>
                          <a:srgbClr val="F28C28"/>
                        </a:solidFill>
                      </a:rPr>
                      <a:t>17,6</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4F58-4FBE-8809-93DE6391D396}"/>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Sheet1!$A$2:$A$3</c:f>
              <c:strCache>
                <c:ptCount val="2"/>
                <c:pt idx="0">
                  <c:v>SSFF ≤ 1,5MM</c:v>
                </c:pt>
                <c:pt idx="1">
                  <c:v>SSFF 1,5–3,8MM</c:v>
                </c:pt>
              </c:strCache>
            </c:strRef>
          </c:cat>
          <c:val>
            <c:numRef>
              <c:f>Sheet1!$D$2:$D$3</c:f>
              <c:numCache>
                <c:formatCode>General</c:formatCode>
                <c:ptCount val="2"/>
                <c:pt idx="0">
                  <c:v>15</c:v>
                </c:pt>
                <c:pt idx="1">
                  <c:v>17.600000000000001</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8-4F58-4FBE-8809-93DE6391D396}"/>
            </c:ext>
          </c:extLst>
        </c:ser>
        <c:dLbls>
          <c:showLegendKey val="0"/>
          <c:showVal val="0"/>
          <c:showCatName val="0"/>
          <c:showSerName val="0"/>
          <c:showPercent val="0"/>
          <c:showBubbleSize val="0"/>
        </c:dLbls>
        <c:gapWidth val="60"/>
        <c:axId val="-2068027336"/>
        <c:axId val="-2113994440"/>
      </c:barChart>
      <c:catAx>
        <c:axId val="-2068027336"/>
        <c:scaling>
          <c:orientation val="minMax"/>
        </c:scaling>
        <c:delete val="0"/>
        <c:axPos val="b"/>
        <c:numFmt formatCode="General" sourceLinked="0"/>
        <c:majorTickMark val="out"/>
        <c:minorTickMark val="none"/>
        <c:tickLblPos val="none"/>
        <c:spPr>
          <a:ln>
            <a:solidFill>
              <a:srgbClr val="B8C2C1"/>
            </a:solidFill>
          </a:ln>
        </c:spPr>
        <c:txPr>
          <a:bodyPr/>
          <a:lstStyle/>
          <a:p>
            <a:pPr>
              <a:defRPr sz="100"/>
            </a:pPr>
            <a:endParaRPr lang="es-PE"/>
          </a:p>
        </c:txPr>
        <c:crossAx val="-2113994440"/>
        <c:crosses val="autoZero"/>
        <c:auto val="1"/>
        <c:lblAlgn val="ctr"/>
        <c:lblOffset val="100"/>
        <c:noMultiLvlLbl val="0"/>
      </c:catAx>
      <c:valAx>
        <c:axId val="-2113994440"/>
        <c:scaling>
          <c:orientation val="minMax"/>
          <c:max val="22.7"/>
          <c:min val="13"/>
        </c:scaling>
        <c:delete val="1"/>
        <c:axPos val="l"/>
        <c:numFmt formatCode="General" sourceLinked="1"/>
        <c:majorTickMark val="out"/>
        <c:minorTickMark val="none"/>
        <c:tickLblPos val="nextTo"/>
        <c:crossAx val="-2068027336"/>
        <c:crosses val="autoZero"/>
        <c:crossBetween val="between"/>
      </c:valAx>
    </c:plotArea>
    <c:legend>
      <c:legendPos val="t"/>
      <c:overlay val="0"/>
      <c:txPr>
        <a:bodyPr/>
        <a:lstStyle/>
        <a:p>
          <a:pPr>
            <a:defRPr sz="800"/>
          </a:pPr>
          <a:endParaRPr lang="es-PE"/>
        </a:p>
      </c:txPr>
    </c:legend>
    <c:plotVisOnly val="1"/>
    <c:dispBlanksAs val="gap"/>
    <c:showDLblsOverMax val="1"/>
  </c:chart>
  <c:txPr>
    <a:bodyPr/>
    <a:lstStyle/>
    <a:p>
      <a:pPr>
        <a:defRPr sz="1800"/>
      </a:pPr>
      <a:endParaRPr lang="en-US"/>
    </a:p>
  </c:txPr>
  <c:externalData r:id="rId1">
    <c:autoUpdate val="0"/>
  </c:externalData>
</c:chartSpace>
</file>

<file path=ppt/charts/chart3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0"/>
    <c:plotArea>
      <c:layout>
        <c:manualLayout>
          <c:layoutTarget val="inner"/>
          <c:xMode val="edge"/>
          <c:yMode val="edge"/>
          <c:x val="0.02"/>
          <c:y val="0.06"/>
          <c:w val="0.96"/>
          <c:h val="0.8"/>
        </c:manualLayout>
      </c:layout>
      <c:barChart>
        <c:barDir val="col"/>
        <c:grouping val="clustered"/>
        <c:varyColors val="1"/>
        <c:ser>
          <c:idx val="0"/>
          <c:order val="0"/>
          <c:tx>
            <c:strRef>
              <c:f>Sheet1!$B$1</c:f>
              <c:strCache>
                <c:ptCount val="1"/>
                <c:pt idx="0">
                  <c:v>Ofertada a desembolsos</c:v>
                </c:pt>
              </c:strCache>
            </c:strRef>
          </c:tx>
          <c:spPr>
            <a:solidFill>
              <a:srgbClr val="8E9B9A"/>
            </a:solidFill>
          </c:spPr>
          <c:invertIfNegative val="1"/>
          <c:dLbls>
            <c:dLbl>
              <c:idx val="0"/>
              <c:tx>
                <c:rich>
                  <a:bodyPr/>
                  <a:lstStyle/>
                  <a:p>
                    <a:r>
                      <a:rPr lang="en-US" sz="850" b="1">
                        <a:solidFill>
                          <a:srgbClr val="6E7E7D"/>
                        </a:solidFill>
                      </a:rPr>
                      <a:t>19,0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6759-4485-B11D-47167E4084CF}"/>
                </c:ext>
              </c:extLst>
            </c:dLbl>
            <c:dLbl>
              <c:idx val="1"/>
              <c:tx>
                <c:rich>
                  <a:bodyPr/>
                  <a:lstStyle/>
                  <a:p>
                    <a:r>
                      <a:rPr lang="en-US" sz="850" b="1">
                        <a:solidFill>
                          <a:srgbClr val="6E7E7D"/>
                        </a:solidFill>
                      </a:rPr>
                      <a:t>19,0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6759-4485-B11D-47167E4084CF}"/>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Sheet1!$A$2:$A$3</c:f>
              <c:strCache>
                <c:ptCount val="2"/>
                <c:pt idx="0">
                  <c:v>SSFF ≤ 1,5MM</c:v>
                </c:pt>
                <c:pt idx="1">
                  <c:v>SSFF 1,5–3,8MM</c:v>
                </c:pt>
              </c:strCache>
            </c:strRef>
          </c:cat>
          <c:val>
            <c:numRef>
              <c:f>Sheet1!$B$2:$B$3</c:f>
              <c:numCache>
                <c:formatCode>General</c:formatCode>
                <c:ptCount val="2"/>
                <c:pt idx="0">
                  <c:v>19</c:v>
                </c:pt>
                <c:pt idx="1">
                  <c:v>19</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6759-4485-B11D-47167E4084CF}"/>
            </c:ext>
          </c:extLst>
        </c:ser>
        <c:ser>
          <c:idx val="1"/>
          <c:order val="1"/>
          <c:tx>
            <c:strRef>
              <c:f>Sheet1!$C$1</c:f>
              <c:strCache>
                <c:ptCount val="1"/>
                <c:pt idx="0">
                  <c:v>Desembolsada</c:v>
                </c:pt>
              </c:strCache>
            </c:strRef>
          </c:tx>
          <c:spPr>
            <a:solidFill>
              <a:srgbClr val="2F6FDE"/>
            </a:solidFill>
          </c:spPr>
          <c:invertIfNegative val="1"/>
          <c:dLbls>
            <c:dLbl>
              <c:idx val="0"/>
              <c:tx>
                <c:rich>
                  <a:bodyPr/>
                  <a:lstStyle/>
                  <a:p>
                    <a:r>
                      <a:rPr lang="en-US" sz="850" b="1">
                        <a:solidFill>
                          <a:srgbClr val="2F6FDE"/>
                        </a:solidFill>
                      </a:rPr>
                      <a:t>17,0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6759-4485-B11D-47167E4084CF}"/>
                </c:ext>
              </c:extLst>
            </c:dLbl>
            <c:dLbl>
              <c:idx val="1"/>
              <c:tx>
                <c:rich>
                  <a:bodyPr/>
                  <a:lstStyle/>
                  <a:p>
                    <a:r>
                      <a:rPr lang="en-US" sz="850" b="1">
                        <a:solidFill>
                          <a:srgbClr val="2F6FDE"/>
                        </a:solidFill>
                      </a:rPr>
                      <a:t>17,0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6759-4485-B11D-47167E4084CF}"/>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Sheet1!$A$2:$A$3</c:f>
              <c:strCache>
                <c:ptCount val="2"/>
                <c:pt idx="0">
                  <c:v>SSFF ≤ 1,5MM</c:v>
                </c:pt>
                <c:pt idx="1">
                  <c:v>SSFF 1,5–3,8MM</c:v>
                </c:pt>
              </c:strCache>
            </c:strRef>
          </c:cat>
          <c:val>
            <c:numRef>
              <c:f>Sheet1!$C$2:$C$3</c:f>
              <c:numCache>
                <c:formatCode>General</c:formatCode>
                <c:ptCount val="2"/>
                <c:pt idx="0">
                  <c:v>17</c:v>
                </c:pt>
                <c:pt idx="1">
                  <c:v>17</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5-6759-4485-B11D-47167E4084CF}"/>
            </c:ext>
          </c:extLst>
        </c:ser>
        <c:ser>
          <c:idx val="2"/>
          <c:order val="2"/>
          <c:tx>
            <c:strRef>
              <c:f>Sheet1!$D$1</c:f>
              <c:strCache>
                <c:ptCount val="1"/>
                <c:pt idx="0">
                  <c:v>Competencia</c:v>
                </c:pt>
              </c:strCache>
            </c:strRef>
          </c:tx>
          <c:spPr>
            <a:solidFill>
              <a:srgbClr val="F28C28"/>
            </a:solidFill>
          </c:spPr>
          <c:invertIfNegative val="1"/>
          <c:dLbls>
            <c:dLbl>
              <c:idx val="0"/>
              <c:tx>
                <c:rich>
                  <a:bodyPr/>
                  <a:lstStyle/>
                  <a:p>
                    <a:r>
                      <a:rPr lang="en-US" sz="850" b="1">
                        <a:solidFill>
                          <a:srgbClr val="F28C28"/>
                        </a:solidFill>
                      </a:rPr>
                      <a:t>18,7</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6759-4485-B11D-47167E4084CF}"/>
                </c:ext>
              </c:extLst>
            </c:dLbl>
            <c:dLbl>
              <c:idx val="1"/>
              <c:tx>
                <c:rich>
                  <a:bodyPr/>
                  <a:lstStyle/>
                  <a:p>
                    <a:r>
                      <a:rPr lang="en-US" sz="850" b="1">
                        <a:solidFill>
                          <a:srgbClr val="F28C28"/>
                        </a:solidFill>
                      </a:rPr>
                      <a:t>18,5</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6759-4485-B11D-47167E4084CF}"/>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Sheet1!$A$2:$A$3</c:f>
              <c:strCache>
                <c:ptCount val="2"/>
                <c:pt idx="0">
                  <c:v>SSFF ≤ 1,5MM</c:v>
                </c:pt>
                <c:pt idx="1">
                  <c:v>SSFF 1,5–3,8MM</c:v>
                </c:pt>
              </c:strCache>
            </c:strRef>
          </c:cat>
          <c:val>
            <c:numRef>
              <c:f>Sheet1!$D$2:$D$3</c:f>
              <c:numCache>
                <c:formatCode>General</c:formatCode>
                <c:ptCount val="2"/>
                <c:pt idx="0">
                  <c:v>18.7</c:v>
                </c:pt>
                <c:pt idx="1">
                  <c:v>18.5</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8-6759-4485-B11D-47167E4084CF}"/>
            </c:ext>
          </c:extLst>
        </c:ser>
        <c:dLbls>
          <c:showLegendKey val="0"/>
          <c:showVal val="0"/>
          <c:showCatName val="0"/>
          <c:showSerName val="0"/>
          <c:showPercent val="0"/>
          <c:showBubbleSize val="0"/>
        </c:dLbls>
        <c:gapWidth val="60"/>
        <c:axId val="-2068027336"/>
        <c:axId val="-2113994440"/>
      </c:barChart>
      <c:catAx>
        <c:axId val="-2068027336"/>
        <c:scaling>
          <c:orientation val="minMax"/>
        </c:scaling>
        <c:delete val="0"/>
        <c:axPos val="b"/>
        <c:numFmt formatCode="General" sourceLinked="0"/>
        <c:majorTickMark val="out"/>
        <c:minorTickMark val="none"/>
        <c:tickLblPos val="none"/>
        <c:spPr>
          <a:ln>
            <a:solidFill>
              <a:srgbClr val="B8C2C1"/>
            </a:solidFill>
          </a:ln>
        </c:spPr>
        <c:txPr>
          <a:bodyPr/>
          <a:lstStyle/>
          <a:p>
            <a:pPr>
              <a:defRPr sz="100"/>
            </a:pPr>
            <a:endParaRPr lang="es-PE"/>
          </a:p>
        </c:txPr>
        <c:crossAx val="-2113994440"/>
        <c:crosses val="autoZero"/>
        <c:auto val="1"/>
        <c:lblAlgn val="ctr"/>
        <c:lblOffset val="100"/>
        <c:noMultiLvlLbl val="0"/>
      </c:catAx>
      <c:valAx>
        <c:axId val="-2113994440"/>
        <c:scaling>
          <c:orientation val="minMax"/>
          <c:max val="20.5"/>
          <c:min val="15"/>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3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lineChart>
        <c:grouping val="standard"/>
        <c:varyColors val="0"/>
        <c:ser>
          <c:idx val="0"/>
          <c:order val="0"/>
          <c:tx>
            <c:strRef>
              <c:f>Sheet1!$B$1</c:f>
              <c:strCache>
                <c:ptCount val="1"/>
                <c:pt idx="0">
                  <c:v>Pasivos &lt; S/ 1K</c:v>
                </c:pt>
              </c:strCache>
            </c:strRef>
          </c:tx>
          <c:spPr>
            <a:ln w="25400">
              <a:solidFill>
                <a:srgbClr val="13807B"/>
              </a:solidFill>
            </a:ln>
          </c:spPr>
          <c:marker>
            <c:symbol val="circle"/>
            <c:size val="6"/>
            <c:spPr>
              <a:solidFill>
                <a:srgbClr val="13807B"/>
              </a:solidFill>
              <a:ln>
                <a:solidFill>
                  <a:srgbClr val="13807B"/>
                </a:solidFill>
              </a:ln>
            </c:spPr>
          </c:marker>
          <c:dLbls>
            <c:dLbl>
              <c:idx val="0"/>
              <c:tx>
                <c:rich>
                  <a:bodyPr/>
                  <a:lstStyle/>
                  <a:p>
                    <a:r>
                      <a:rPr lang="en-US" sz="850" b="1">
                        <a:solidFill>
                          <a:srgbClr val="13807B"/>
                        </a:solidFill>
                      </a:rPr>
                      <a:t>70</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D99F-4E04-97E8-94A3B17B1C68}"/>
                </c:ext>
              </c:extLst>
            </c:dLbl>
            <c:dLbl>
              <c:idx val="1"/>
              <c:tx>
                <c:rich>
                  <a:bodyPr/>
                  <a:lstStyle/>
                  <a:p>
                    <a:r>
                      <a:rPr lang="en-US" sz="850" b="1">
                        <a:solidFill>
                          <a:srgbClr val="13807B"/>
                        </a:solidFill>
                      </a:rPr>
                      <a:t>74</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D99F-4E04-97E8-94A3B17B1C68}"/>
                </c:ext>
              </c:extLst>
            </c:dLbl>
            <c:dLbl>
              <c:idx val="2"/>
              <c:tx>
                <c:rich>
                  <a:bodyPr/>
                  <a:lstStyle/>
                  <a:p>
                    <a:r>
                      <a:rPr lang="en-US" sz="850" b="1">
                        <a:solidFill>
                          <a:srgbClr val="13807B"/>
                        </a:solidFill>
                      </a:rPr>
                      <a:t>56</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D99F-4E04-97E8-94A3B17B1C68}"/>
                </c:ext>
              </c:extLst>
            </c:dLbl>
            <c:dLbl>
              <c:idx val="3"/>
              <c:tx>
                <c:rich>
                  <a:bodyPr/>
                  <a:lstStyle/>
                  <a:p>
                    <a:r>
                      <a:rPr lang="en-US" sz="850" b="1">
                        <a:solidFill>
                          <a:srgbClr val="13807B"/>
                        </a:solidFill>
                      </a:rPr>
                      <a:t>63</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D99F-4E04-97E8-94A3B17B1C68}"/>
                </c:ext>
              </c:extLst>
            </c:dLbl>
            <c:dLbl>
              <c:idx val="4"/>
              <c:tx>
                <c:rich>
                  <a:bodyPr/>
                  <a:lstStyle/>
                  <a:p>
                    <a:r>
                      <a:rPr lang="en-US" sz="850" b="1">
                        <a:solidFill>
                          <a:srgbClr val="13807B"/>
                        </a:solidFill>
                      </a:rPr>
                      <a:t>31</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D99F-4E04-97E8-94A3B17B1C68}"/>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Sheet1!$A$2:$A$6</c:f>
              <c:strCache>
                <c:ptCount val="5"/>
                <c:pt idx="0">
                  <c:v>2T25</c:v>
                </c:pt>
                <c:pt idx="1">
                  <c:v>3T25</c:v>
                </c:pt>
                <c:pt idx="2">
                  <c:v>4T25</c:v>
                </c:pt>
                <c:pt idx="3">
                  <c:v>1T26</c:v>
                </c:pt>
                <c:pt idx="4">
                  <c:v>2T26*</c:v>
                </c:pt>
              </c:strCache>
            </c:strRef>
          </c:cat>
          <c:val>
            <c:numRef>
              <c:f>Sheet1!$B$2:$B$6</c:f>
              <c:numCache>
                <c:formatCode>General</c:formatCode>
                <c:ptCount val="5"/>
                <c:pt idx="0">
                  <c:v>69.914333894912559</c:v>
                </c:pt>
                <c:pt idx="1">
                  <c:v>73.761845118589676</c:v>
                </c:pt>
                <c:pt idx="2">
                  <c:v>55.77696398727376</c:v>
                </c:pt>
                <c:pt idx="3">
                  <c:v>62.664961325577615</c:v>
                </c:pt>
                <c:pt idx="4">
                  <c:v>30.652328161217664</c:v>
                </c:pt>
              </c:numCache>
            </c:numRef>
          </c:val>
          <c:smooth val="0"/>
          <c:extLst>
            <c:ext xmlns:c16="http://schemas.microsoft.com/office/drawing/2014/chart" uri="{C3380CC4-5D6E-409C-BE32-E72D297353CC}">
              <c16:uniqueId val="{00000005-D99F-4E04-97E8-94A3B17B1C68}"/>
            </c:ext>
          </c:extLst>
        </c:ser>
        <c:ser>
          <c:idx val="1"/>
          <c:order val="1"/>
          <c:tx>
            <c:strRef>
              <c:f>Sheet1!$C$1</c:f>
              <c:strCache>
                <c:ptCount val="1"/>
                <c:pt idx="0">
                  <c:v>Pasivos ≥ S/ 5K</c:v>
                </c:pt>
              </c:strCache>
            </c:strRef>
          </c:tx>
          <c:spPr>
            <a:ln w="25400">
              <a:solidFill>
                <a:srgbClr val="E5173F"/>
              </a:solidFill>
            </a:ln>
          </c:spPr>
          <c:marker>
            <c:symbol val="circle"/>
            <c:size val="6"/>
            <c:spPr>
              <a:solidFill>
                <a:srgbClr val="E5173F"/>
              </a:solidFill>
              <a:ln>
                <a:solidFill>
                  <a:srgbClr val="E5173F"/>
                </a:solidFill>
              </a:ln>
            </c:spPr>
          </c:marker>
          <c:dLbls>
            <c:dLbl>
              <c:idx val="0"/>
              <c:tx>
                <c:rich>
                  <a:bodyPr/>
                  <a:lstStyle/>
                  <a:p>
                    <a:r>
                      <a:rPr lang="en-US" sz="850" b="1">
                        <a:solidFill>
                          <a:srgbClr val="E5173F"/>
                        </a:solidFill>
                      </a:rPr>
                      <a:t>87</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D99F-4E04-97E8-94A3B17B1C68}"/>
                </c:ext>
              </c:extLst>
            </c:dLbl>
            <c:dLbl>
              <c:idx val="1"/>
              <c:tx>
                <c:rich>
                  <a:bodyPr/>
                  <a:lstStyle/>
                  <a:p>
                    <a:r>
                      <a:rPr lang="en-US" sz="850" b="1">
                        <a:solidFill>
                          <a:srgbClr val="E5173F"/>
                        </a:solidFill>
                      </a:rPr>
                      <a:t>90</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D99F-4E04-97E8-94A3B17B1C68}"/>
                </c:ext>
              </c:extLst>
            </c:dLbl>
            <c:dLbl>
              <c:idx val="2"/>
              <c:tx>
                <c:rich>
                  <a:bodyPr/>
                  <a:lstStyle/>
                  <a:p>
                    <a:r>
                      <a:rPr lang="en-US" sz="850" b="1">
                        <a:solidFill>
                          <a:srgbClr val="E5173F"/>
                        </a:solidFill>
                      </a:rPr>
                      <a:t>85</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8-D99F-4E04-97E8-94A3B17B1C68}"/>
                </c:ext>
              </c:extLst>
            </c:dLbl>
            <c:dLbl>
              <c:idx val="3"/>
              <c:tx>
                <c:rich>
                  <a:bodyPr/>
                  <a:lstStyle/>
                  <a:p>
                    <a:r>
                      <a:rPr lang="en-US" sz="850" b="1">
                        <a:solidFill>
                          <a:srgbClr val="E5173F"/>
                        </a:solidFill>
                      </a:rPr>
                      <a:t>86</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9-D99F-4E04-97E8-94A3B17B1C68}"/>
                </c:ext>
              </c:extLst>
            </c:dLbl>
            <c:dLbl>
              <c:idx val="4"/>
              <c:tx>
                <c:rich>
                  <a:bodyPr/>
                  <a:lstStyle/>
                  <a:p>
                    <a:r>
                      <a:rPr lang="en-US" sz="850" b="1">
                        <a:solidFill>
                          <a:srgbClr val="E5173F"/>
                        </a:solidFill>
                      </a:rPr>
                      <a:t>87</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A-D99F-4E04-97E8-94A3B17B1C68}"/>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Sheet1!$A$2:$A$6</c:f>
              <c:strCache>
                <c:ptCount val="5"/>
                <c:pt idx="0">
                  <c:v>2T25</c:v>
                </c:pt>
                <c:pt idx="1">
                  <c:v>3T25</c:v>
                </c:pt>
                <c:pt idx="2">
                  <c:v>4T25</c:v>
                </c:pt>
                <c:pt idx="3">
                  <c:v>1T26</c:v>
                </c:pt>
                <c:pt idx="4">
                  <c:v>2T26*</c:v>
                </c:pt>
              </c:strCache>
            </c:strRef>
          </c:cat>
          <c:val>
            <c:numRef>
              <c:f>Sheet1!$C$2:$C$6</c:f>
              <c:numCache>
                <c:formatCode>General</c:formatCode>
                <c:ptCount val="5"/>
                <c:pt idx="0">
                  <c:v>87.478912647754143</c:v>
                </c:pt>
                <c:pt idx="1">
                  <c:v>90.307093200857253</c:v>
                </c:pt>
                <c:pt idx="2">
                  <c:v>85.159744328288426</c:v>
                </c:pt>
                <c:pt idx="3">
                  <c:v>85.996195198504509</c:v>
                </c:pt>
                <c:pt idx="4">
                  <c:v>86.82871668551293</c:v>
                </c:pt>
              </c:numCache>
            </c:numRef>
          </c:val>
          <c:smooth val="0"/>
          <c:extLst>
            <c:ext xmlns:c16="http://schemas.microsoft.com/office/drawing/2014/chart" uri="{C3380CC4-5D6E-409C-BE32-E72D297353CC}">
              <c16:uniqueId val="{0000000B-D99F-4E04-97E8-94A3B17B1C68}"/>
            </c:ext>
          </c:extLst>
        </c:ser>
        <c:ser>
          <c:idx val="2"/>
          <c:order val="2"/>
          <c:tx>
            <c:strRef>
              <c:f>Sheet1!$D$1</c:f>
              <c:strCache>
                <c:ptCount val="1"/>
                <c:pt idx="0">
                  <c:v>Total</c:v>
                </c:pt>
              </c:strCache>
            </c:strRef>
          </c:tx>
          <c:spPr>
            <a:ln w="25400">
              <a:solidFill>
                <a:srgbClr val="555555"/>
              </a:solidFill>
              <a:prstDash val="dash"/>
            </a:ln>
          </c:spPr>
          <c:marker>
            <c:symbol val="triangle"/>
            <c:size val="6"/>
            <c:spPr>
              <a:solidFill>
                <a:srgbClr val="555555"/>
              </a:solidFill>
              <a:ln>
                <a:solidFill>
                  <a:srgbClr val="555555"/>
                </a:solidFill>
              </a:ln>
            </c:spPr>
          </c:marker>
          <c:dLbls>
            <c:dLbl>
              <c:idx val="0"/>
              <c:tx>
                <c:rich>
                  <a:bodyPr/>
                  <a:lstStyle/>
                  <a:p>
                    <a:r>
                      <a:rPr lang="en-US" sz="850" b="1">
                        <a:solidFill>
                          <a:srgbClr val="555555"/>
                        </a:solidFill>
                      </a:rPr>
                      <a:t>85</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C-D99F-4E04-97E8-94A3B17B1C68}"/>
                </c:ext>
              </c:extLst>
            </c:dLbl>
            <c:dLbl>
              <c:idx val="1"/>
              <c:tx>
                <c:rich>
                  <a:bodyPr/>
                  <a:lstStyle/>
                  <a:p>
                    <a:r>
                      <a:rPr lang="en-US" sz="850" b="1">
                        <a:solidFill>
                          <a:srgbClr val="555555"/>
                        </a:solidFill>
                      </a:rPr>
                      <a:t>88</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D-D99F-4E04-97E8-94A3B17B1C68}"/>
                </c:ext>
              </c:extLst>
            </c:dLbl>
            <c:dLbl>
              <c:idx val="2"/>
              <c:tx>
                <c:rich>
                  <a:bodyPr/>
                  <a:lstStyle/>
                  <a:p>
                    <a:r>
                      <a:rPr lang="en-US" sz="850" b="1">
                        <a:solidFill>
                          <a:srgbClr val="555555"/>
                        </a:solidFill>
                      </a:rPr>
                      <a:t>75</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E-D99F-4E04-97E8-94A3B17B1C68}"/>
                </c:ext>
              </c:extLst>
            </c:dLbl>
            <c:dLbl>
              <c:idx val="3"/>
              <c:tx>
                <c:rich>
                  <a:bodyPr/>
                  <a:lstStyle/>
                  <a:p>
                    <a:r>
                      <a:rPr lang="en-US" sz="850" b="1">
                        <a:solidFill>
                          <a:srgbClr val="555555"/>
                        </a:solidFill>
                      </a:rPr>
                      <a:t>77</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F-D99F-4E04-97E8-94A3B17B1C68}"/>
                </c:ext>
              </c:extLst>
            </c:dLbl>
            <c:dLbl>
              <c:idx val="4"/>
              <c:tx>
                <c:rich>
                  <a:bodyPr/>
                  <a:lstStyle/>
                  <a:p>
                    <a:r>
                      <a:rPr lang="en-US" sz="850" b="1">
                        <a:solidFill>
                          <a:srgbClr val="555555"/>
                        </a:solidFill>
                      </a:rPr>
                      <a:t>63</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0-D99F-4E04-97E8-94A3B17B1C68}"/>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Sheet1!$A$2:$A$6</c:f>
              <c:strCache>
                <c:ptCount val="5"/>
                <c:pt idx="0">
                  <c:v>2T25</c:v>
                </c:pt>
                <c:pt idx="1">
                  <c:v>3T25</c:v>
                </c:pt>
                <c:pt idx="2">
                  <c:v>4T25</c:v>
                </c:pt>
                <c:pt idx="3">
                  <c:v>1T26</c:v>
                </c:pt>
                <c:pt idx="4">
                  <c:v>2T26*</c:v>
                </c:pt>
              </c:strCache>
            </c:strRef>
          </c:cat>
          <c:val>
            <c:numRef>
              <c:f>Sheet1!$D$2:$D$6</c:f>
              <c:numCache>
                <c:formatCode>General</c:formatCode>
                <c:ptCount val="5"/>
                <c:pt idx="0">
                  <c:v>85.475967915987823</c:v>
                </c:pt>
                <c:pt idx="1">
                  <c:v>87.595034406267544</c:v>
                </c:pt>
                <c:pt idx="2">
                  <c:v>74.759632110510239</c:v>
                </c:pt>
                <c:pt idx="3">
                  <c:v>76.506395981181683</c:v>
                </c:pt>
                <c:pt idx="4">
                  <c:v>62.86948533368858</c:v>
                </c:pt>
              </c:numCache>
            </c:numRef>
          </c:val>
          <c:smooth val="0"/>
          <c:extLst>
            <c:ext xmlns:c16="http://schemas.microsoft.com/office/drawing/2014/chart" uri="{C3380CC4-5D6E-409C-BE32-E72D297353CC}">
              <c16:uniqueId val="{00000011-D99F-4E04-97E8-94A3B17B1C68}"/>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low"/>
        <c:spPr>
          <a:ln>
            <a:solidFill>
              <a:srgbClr val="B8C2C1"/>
            </a:solidFill>
          </a:ln>
        </c:spPr>
        <c:txPr>
          <a:bodyPr/>
          <a:lstStyle/>
          <a:p>
            <a:pPr>
              <a:defRPr sz="800">
                <a:solidFill>
                  <a:srgbClr val="2F3B3A"/>
                </a:solidFill>
              </a:defRPr>
            </a:pPr>
            <a:endParaRPr lang="es-PE"/>
          </a:p>
        </c:txPr>
        <c:crossAx val="2140495176"/>
        <c:crosses val="autoZero"/>
        <c:auto val="1"/>
        <c:lblAlgn val="ctr"/>
        <c:lblOffset val="100"/>
        <c:noMultiLvlLbl val="0"/>
      </c:catAx>
      <c:valAx>
        <c:axId val="2140495176"/>
        <c:scaling>
          <c:orientation val="minMax"/>
          <c:max val="100"/>
          <c:min val="21"/>
        </c:scaling>
        <c:delete val="1"/>
        <c:axPos val="l"/>
        <c:numFmt formatCode="0" sourceLinked="0"/>
        <c:majorTickMark val="out"/>
        <c:minorTickMark val="none"/>
        <c:tickLblPos val="nextTo"/>
        <c:crossAx val="2118791784"/>
        <c:crosses val="autoZero"/>
        <c:crossBetween val="between"/>
      </c:valAx>
    </c:plotArea>
    <c:legend>
      <c:legendPos val="t"/>
      <c:overlay val="0"/>
      <c:txPr>
        <a:bodyPr/>
        <a:lstStyle/>
        <a:p>
          <a:pPr>
            <a:defRPr sz="800"/>
          </a:pPr>
          <a:endParaRPr lang="es-PE"/>
        </a:p>
      </c:txPr>
    </c:legend>
    <c:plotVisOnly val="1"/>
    <c:dispBlanksAs val="gap"/>
    <c:showDLblsOverMax val="0"/>
  </c:chart>
  <c:txPr>
    <a:bodyPr/>
    <a:lstStyle/>
    <a:p>
      <a:pPr>
        <a:defRPr sz="1800"/>
      </a:pPr>
      <a:endParaRPr lang="en-US"/>
    </a:p>
  </c:txPr>
  <c:externalData r:id="rId1">
    <c:autoUpdate val="0"/>
  </c:externalData>
</c:chartSpace>
</file>

<file path=ppt/charts/chart3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lineChart>
        <c:grouping val="standard"/>
        <c:varyColors val="0"/>
        <c:ser>
          <c:idx val="0"/>
          <c:order val="0"/>
          <c:tx>
            <c:strRef>
              <c:f>Sheet1!$B$1</c:f>
              <c:strCache>
                <c:ptCount val="1"/>
                <c:pt idx="0">
                  <c:v>Ofertada a desembolsos</c:v>
                </c:pt>
              </c:strCache>
            </c:strRef>
          </c:tx>
          <c:spPr>
            <a:ln w="25400">
              <a:solidFill>
                <a:srgbClr val="8E9B9A"/>
              </a:solidFill>
              <a:prstDash val="dash"/>
            </a:ln>
          </c:spPr>
          <c:marker>
            <c:symbol val="circle"/>
            <c:size val="6"/>
            <c:spPr>
              <a:solidFill>
                <a:srgbClr val="8E9B9A"/>
              </a:solidFill>
              <a:ln>
                <a:solidFill>
                  <a:srgbClr val="8E9B9A"/>
                </a:solidFill>
              </a:ln>
            </c:spPr>
          </c:marker>
          <c:dLbls>
            <c:dLbl>
              <c:idx val="0"/>
              <c:tx>
                <c:rich>
                  <a:bodyPr/>
                  <a:lstStyle/>
                  <a:p>
                    <a:r>
                      <a:rPr lang="en-US" sz="900" b="1">
                        <a:solidFill>
                          <a:srgbClr val="8E9B9A"/>
                        </a:solidFill>
                      </a:rPr>
                      <a:t>21,8</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F13C-4D4F-A430-FCA85F8B1BAF}"/>
                </c:ext>
              </c:extLst>
            </c:dLbl>
            <c:dLbl>
              <c:idx val="1"/>
              <c:tx>
                <c:rich>
                  <a:bodyPr/>
                  <a:lstStyle/>
                  <a:p>
                    <a:r>
                      <a:rPr lang="en-US" sz="900" b="1">
                        <a:solidFill>
                          <a:srgbClr val="8E9B9A"/>
                        </a:solidFill>
                      </a:rPr>
                      <a:t>22,0</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F13C-4D4F-A430-FCA85F8B1BAF}"/>
                </c:ext>
              </c:extLst>
            </c:dLbl>
            <c:dLbl>
              <c:idx val="2"/>
              <c:tx>
                <c:rich>
                  <a:bodyPr/>
                  <a:lstStyle/>
                  <a:p>
                    <a:r>
                      <a:rPr lang="en-US" sz="900" b="1">
                        <a:solidFill>
                          <a:srgbClr val="8E9B9A"/>
                        </a:solidFill>
                      </a:rPr>
                      <a:t>22,1</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F13C-4D4F-A430-FCA85F8B1BAF}"/>
                </c:ext>
              </c:extLst>
            </c:dLbl>
            <c:dLbl>
              <c:idx val="3"/>
              <c:tx>
                <c:rich>
                  <a:bodyPr/>
                  <a:lstStyle/>
                  <a:p>
                    <a:r>
                      <a:rPr lang="en-US" sz="900" b="1">
                        <a:solidFill>
                          <a:srgbClr val="8E9B9A"/>
                        </a:solidFill>
                      </a:rPr>
                      <a:t>22,8</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F13C-4D4F-A430-FCA85F8B1BAF}"/>
                </c:ext>
              </c:extLst>
            </c:dLbl>
            <c:dLbl>
              <c:idx val="4"/>
              <c:tx>
                <c:rich>
                  <a:bodyPr/>
                  <a:lstStyle/>
                  <a:p>
                    <a:r>
                      <a:rPr lang="en-US" sz="900" b="1">
                        <a:solidFill>
                          <a:srgbClr val="8E9B9A"/>
                        </a:solidFill>
                      </a:rPr>
                      <a:t>23,3</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F13C-4D4F-A430-FCA85F8B1BAF}"/>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Sheet1!$A$2:$A$6</c:f>
              <c:strCache>
                <c:ptCount val="5"/>
                <c:pt idx="0">
                  <c:v>2T25</c:v>
                </c:pt>
                <c:pt idx="1">
                  <c:v>3T25</c:v>
                </c:pt>
                <c:pt idx="2">
                  <c:v>4T25</c:v>
                </c:pt>
                <c:pt idx="3">
                  <c:v>1T26</c:v>
                </c:pt>
                <c:pt idx="4">
                  <c:v>2T26*</c:v>
                </c:pt>
              </c:strCache>
            </c:strRef>
          </c:cat>
          <c:val>
            <c:numRef>
              <c:f>Sheet1!$B$2:$B$6</c:f>
              <c:numCache>
                <c:formatCode>General</c:formatCode>
                <c:ptCount val="5"/>
                <c:pt idx="0">
                  <c:v>21.8</c:v>
                </c:pt>
                <c:pt idx="1">
                  <c:v>22</c:v>
                </c:pt>
                <c:pt idx="2">
                  <c:v>22.1</c:v>
                </c:pt>
                <c:pt idx="3">
                  <c:v>22.8</c:v>
                </c:pt>
                <c:pt idx="4">
                  <c:v>23.3</c:v>
                </c:pt>
              </c:numCache>
            </c:numRef>
          </c:val>
          <c:smooth val="0"/>
          <c:extLst>
            <c:ext xmlns:c16="http://schemas.microsoft.com/office/drawing/2014/chart" uri="{C3380CC4-5D6E-409C-BE32-E72D297353CC}">
              <c16:uniqueId val="{00000005-F13C-4D4F-A430-FCA85F8B1BAF}"/>
            </c:ext>
          </c:extLst>
        </c:ser>
        <c:ser>
          <c:idx val="1"/>
          <c:order val="1"/>
          <c:tx>
            <c:strRef>
              <c:f>Sheet1!$C$1</c:f>
              <c:strCache>
                <c:ptCount val="1"/>
                <c:pt idx="0">
                  <c:v>Desembolsada</c:v>
                </c:pt>
              </c:strCache>
            </c:strRef>
          </c:tx>
          <c:spPr>
            <a:ln w="25400">
              <a:solidFill>
                <a:srgbClr val="2F6FDE"/>
              </a:solidFill>
            </a:ln>
          </c:spPr>
          <c:marker>
            <c:symbol val="circle"/>
            <c:size val="6"/>
            <c:spPr>
              <a:solidFill>
                <a:srgbClr val="2F6FDE"/>
              </a:solidFill>
              <a:ln>
                <a:solidFill>
                  <a:srgbClr val="2F6FDE"/>
                </a:solidFill>
              </a:ln>
            </c:spPr>
          </c:marker>
          <c:dLbls>
            <c:dLbl>
              <c:idx val="0"/>
              <c:tx>
                <c:rich>
                  <a:bodyPr/>
                  <a:lstStyle/>
                  <a:p>
                    <a:r>
                      <a:rPr lang="en-US" sz="900" b="1">
                        <a:solidFill>
                          <a:srgbClr val="2F6FDE"/>
                        </a:solidFill>
                      </a:rPr>
                      <a:t>18,8</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F13C-4D4F-A430-FCA85F8B1BAF}"/>
                </c:ext>
              </c:extLst>
            </c:dLbl>
            <c:dLbl>
              <c:idx val="1"/>
              <c:tx>
                <c:rich>
                  <a:bodyPr/>
                  <a:lstStyle/>
                  <a:p>
                    <a:r>
                      <a:rPr lang="en-US" sz="900" b="1">
                        <a:solidFill>
                          <a:srgbClr val="2F6FDE"/>
                        </a:solidFill>
                      </a:rPr>
                      <a:t>18,8</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F13C-4D4F-A430-FCA85F8B1BAF}"/>
                </c:ext>
              </c:extLst>
            </c:dLbl>
            <c:dLbl>
              <c:idx val="2"/>
              <c:tx>
                <c:rich>
                  <a:bodyPr/>
                  <a:lstStyle/>
                  <a:p>
                    <a:r>
                      <a:rPr lang="en-US" sz="900" b="1">
                        <a:solidFill>
                          <a:srgbClr val="2F6FDE"/>
                        </a:solidFill>
                      </a:rPr>
                      <a:t>17,7</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8-F13C-4D4F-A430-FCA85F8B1BAF}"/>
                </c:ext>
              </c:extLst>
            </c:dLbl>
            <c:dLbl>
              <c:idx val="3"/>
              <c:tx>
                <c:rich>
                  <a:bodyPr/>
                  <a:lstStyle/>
                  <a:p>
                    <a:r>
                      <a:rPr lang="en-US" sz="900" b="1">
                        <a:solidFill>
                          <a:srgbClr val="2F6FDE"/>
                        </a:solidFill>
                      </a:rPr>
                      <a:t>18,8</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9-F13C-4D4F-A430-FCA85F8B1BAF}"/>
                </c:ext>
              </c:extLst>
            </c:dLbl>
            <c:dLbl>
              <c:idx val="4"/>
              <c:tx>
                <c:rich>
                  <a:bodyPr/>
                  <a:lstStyle/>
                  <a:p>
                    <a:r>
                      <a:rPr lang="en-US" sz="900" b="1">
                        <a:solidFill>
                          <a:srgbClr val="2F6FDE"/>
                        </a:solidFill>
                      </a:rPr>
                      <a:t>19,7</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A-F13C-4D4F-A430-FCA85F8B1BAF}"/>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Sheet1!$A$2:$A$6</c:f>
              <c:strCache>
                <c:ptCount val="5"/>
                <c:pt idx="0">
                  <c:v>2T25</c:v>
                </c:pt>
                <c:pt idx="1">
                  <c:v>3T25</c:v>
                </c:pt>
                <c:pt idx="2">
                  <c:v>4T25</c:v>
                </c:pt>
                <c:pt idx="3">
                  <c:v>1T26</c:v>
                </c:pt>
                <c:pt idx="4">
                  <c:v>2T26*</c:v>
                </c:pt>
              </c:strCache>
            </c:strRef>
          </c:cat>
          <c:val>
            <c:numRef>
              <c:f>Sheet1!$C$2:$C$6</c:f>
              <c:numCache>
                <c:formatCode>General</c:formatCode>
                <c:ptCount val="5"/>
                <c:pt idx="0">
                  <c:v>18.83514266152703</c:v>
                </c:pt>
                <c:pt idx="1">
                  <c:v>18.767318447894908</c:v>
                </c:pt>
                <c:pt idx="2">
                  <c:v>17.743028268411937</c:v>
                </c:pt>
                <c:pt idx="3">
                  <c:v>18.822357793950438</c:v>
                </c:pt>
                <c:pt idx="4">
                  <c:v>19.721041613084466</c:v>
                </c:pt>
              </c:numCache>
            </c:numRef>
          </c:val>
          <c:smooth val="0"/>
          <c:extLst>
            <c:ext xmlns:c16="http://schemas.microsoft.com/office/drawing/2014/chart" uri="{C3380CC4-5D6E-409C-BE32-E72D297353CC}">
              <c16:uniqueId val="{0000000B-F13C-4D4F-A430-FCA85F8B1BAF}"/>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low"/>
        <c:spPr>
          <a:ln>
            <a:solidFill>
              <a:srgbClr val="B8C2C1"/>
            </a:solidFill>
          </a:ln>
        </c:spPr>
        <c:txPr>
          <a:bodyPr/>
          <a:lstStyle/>
          <a:p>
            <a:pPr>
              <a:defRPr sz="750">
                <a:solidFill>
                  <a:srgbClr val="2F3B3A"/>
                </a:solidFill>
              </a:defRPr>
            </a:pPr>
            <a:endParaRPr lang="es-PE"/>
          </a:p>
        </c:txPr>
        <c:crossAx val="2140495176"/>
        <c:crosses val="autoZero"/>
        <c:auto val="1"/>
        <c:lblAlgn val="ctr"/>
        <c:lblOffset val="100"/>
        <c:noMultiLvlLbl val="0"/>
      </c:catAx>
      <c:valAx>
        <c:axId val="2140495176"/>
        <c:scaling>
          <c:orientation val="minMax"/>
          <c:max val="26"/>
          <c:min val="14"/>
        </c:scaling>
        <c:delete val="1"/>
        <c:axPos val="l"/>
        <c:numFmt formatCode="0.0" sourceLinked="0"/>
        <c:majorTickMark val="out"/>
        <c:minorTickMark val="none"/>
        <c:tickLblPos val="nextTo"/>
        <c:crossAx val="2118791784"/>
        <c:crosses val="autoZero"/>
        <c:crossBetween val="between"/>
      </c:valAx>
    </c:plotArea>
    <c:legend>
      <c:legendPos val="t"/>
      <c:overlay val="0"/>
      <c:txPr>
        <a:bodyPr/>
        <a:lstStyle/>
        <a:p>
          <a:pPr>
            <a:defRPr sz="750"/>
          </a:pPr>
          <a:endParaRPr lang="es-PE"/>
        </a:p>
      </c:txPr>
    </c:legend>
    <c:plotVisOnly val="1"/>
    <c:dispBlanksAs val="gap"/>
    <c:showDLblsOverMax val="0"/>
  </c:chart>
  <c:txPr>
    <a:bodyPr/>
    <a:lstStyle/>
    <a:p>
      <a:pPr>
        <a:defRPr sz="1800"/>
      </a:pPr>
      <a:endParaRPr lang="en-US"/>
    </a:p>
  </c:txPr>
  <c:externalData r:id="rId1">
    <c:autoUpdate val="0"/>
  </c:externalData>
</c:chartSpace>
</file>

<file path=ppt/charts/chart3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lineChart>
        <c:grouping val="standard"/>
        <c:varyColors val="0"/>
        <c:ser>
          <c:idx val="0"/>
          <c:order val="0"/>
          <c:tx>
            <c:strRef>
              <c:f>Sheet1!$B$1</c:f>
              <c:strCache>
                <c:ptCount val="1"/>
                <c:pt idx="0">
                  <c:v>Ofertada a desembolsos</c:v>
                </c:pt>
              </c:strCache>
            </c:strRef>
          </c:tx>
          <c:spPr>
            <a:ln w="25400">
              <a:solidFill>
                <a:srgbClr val="8E9B9A"/>
              </a:solidFill>
              <a:prstDash val="dash"/>
            </a:ln>
          </c:spPr>
          <c:marker>
            <c:symbol val="circle"/>
            <c:size val="6"/>
            <c:spPr>
              <a:solidFill>
                <a:srgbClr val="8E9B9A"/>
              </a:solidFill>
              <a:ln>
                <a:solidFill>
                  <a:srgbClr val="8E9B9A"/>
                </a:solidFill>
              </a:ln>
            </c:spPr>
          </c:marker>
          <c:dLbls>
            <c:dLbl>
              <c:idx val="0"/>
              <c:tx>
                <c:rich>
                  <a:bodyPr/>
                  <a:lstStyle/>
                  <a:p>
                    <a:r>
                      <a:rPr lang="en-US" sz="900" b="1">
                        <a:solidFill>
                          <a:srgbClr val="8E9B9A"/>
                        </a:solidFill>
                      </a:rPr>
                      <a:t>22,1</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522A-4338-803B-304149FD83A2}"/>
                </c:ext>
              </c:extLst>
            </c:dLbl>
            <c:dLbl>
              <c:idx val="1"/>
              <c:tx>
                <c:rich>
                  <a:bodyPr/>
                  <a:lstStyle/>
                  <a:p>
                    <a:r>
                      <a:rPr lang="en-US" sz="900" b="1">
                        <a:solidFill>
                          <a:srgbClr val="8E9B9A"/>
                        </a:solidFill>
                      </a:rPr>
                      <a:t>24,4</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522A-4338-803B-304149FD83A2}"/>
                </c:ext>
              </c:extLst>
            </c:dLbl>
            <c:dLbl>
              <c:idx val="2"/>
              <c:tx>
                <c:rich>
                  <a:bodyPr/>
                  <a:lstStyle/>
                  <a:p>
                    <a:r>
                      <a:rPr lang="en-US" sz="900" b="1">
                        <a:solidFill>
                          <a:srgbClr val="8E9B9A"/>
                        </a:solidFill>
                      </a:rPr>
                      <a:t>24,3</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522A-4338-803B-304149FD83A2}"/>
                </c:ext>
              </c:extLst>
            </c:dLbl>
            <c:dLbl>
              <c:idx val="3"/>
              <c:tx>
                <c:rich>
                  <a:bodyPr/>
                  <a:lstStyle/>
                  <a:p>
                    <a:r>
                      <a:rPr lang="en-US" sz="900" b="1">
                        <a:solidFill>
                          <a:srgbClr val="8E9B9A"/>
                        </a:solidFill>
                      </a:rPr>
                      <a:t>24,8</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522A-4338-803B-304149FD83A2}"/>
                </c:ext>
              </c:extLst>
            </c:dLbl>
            <c:dLbl>
              <c:idx val="4"/>
              <c:tx>
                <c:rich>
                  <a:bodyPr/>
                  <a:lstStyle/>
                  <a:p>
                    <a:r>
                      <a:rPr lang="en-US" sz="900" b="1">
                        <a:solidFill>
                          <a:srgbClr val="8E9B9A"/>
                        </a:solidFill>
                      </a:rPr>
                      <a:t>25,2</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522A-4338-803B-304149FD83A2}"/>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Sheet1!$A$2:$A$6</c:f>
              <c:strCache>
                <c:ptCount val="5"/>
                <c:pt idx="0">
                  <c:v>2T25</c:v>
                </c:pt>
                <c:pt idx="1">
                  <c:v>3T25</c:v>
                </c:pt>
                <c:pt idx="2">
                  <c:v>4T25</c:v>
                </c:pt>
                <c:pt idx="3">
                  <c:v>1T26</c:v>
                </c:pt>
                <c:pt idx="4">
                  <c:v>2T26*</c:v>
                </c:pt>
              </c:strCache>
            </c:strRef>
          </c:cat>
          <c:val>
            <c:numRef>
              <c:f>Sheet1!$B$2:$B$6</c:f>
              <c:numCache>
                <c:formatCode>General</c:formatCode>
                <c:ptCount val="5"/>
                <c:pt idx="0">
                  <c:v>22.1</c:v>
                </c:pt>
                <c:pt idx="1">
                  <c:v>24.4</c:v>
                </c:pt>
                <c:pt idx="2">
                  <c:v>24.3</c:v>
                </c:pt>
                <c:pt idx="3">
                  <c:v>24.8</c:v>
                </c:pt>
                <c:pt idx="4">
                  <c:v>25.2</c:v>
                </c:pt>
              </c:numCache>
            </c:numRef>
          </c:val>
          <c:smooth val="0"/>
          <c:extLst>
            <c:ext xmlns:c16="http://schemas.microsoft.com/office/drawing/2014/chart" uri="{C3380CC4-5D6E-409C-BE32-E72D297353CC}">
              <c16:uniqueId val="{00000005-522A-4338-803B-304149FD83A2}"/>
            </c:ext>
          </c:extLst>
        </c:ser>
        <c:ser>
          <c:idx val="1"/>
          <c:order val="1"/>
          <c:tx>
            <c:strRef>
              <c:f>Sheet1!$C$1</c:f>
              <c:strCache>
                <c:ptCount val="1"/>
                <c:pt idx="0">
                  <c:v>Desembolsada</c:v>
                </c:pt>
              </c:strCache>
            </c:strRef>
          </c:tx>
          <c:spPr>
            <a:ln w="25400">
              <a:solidFill>
                <a:srgbClr val="2F6FDE"/>
              </a:solidFill>
            </a:ln>
          </c:spPr>
          <c:marker>
            <c:symbol val="circle"/>
            <c:size val="6"/>
            <c:spPr>
              <a:solidFill>
                <a:srgbClr val="2F6FDE"/>
              </a:solidFill>
              <a:ln>
                <a:solidFill>
                  <a:srgbClr val="2F6FDE"/>
                </a:solidFill>
              </a:ln>
            </c:spPr>
          </c:marker>
          <c:dLbls>
            <c:dLbl>
              <c:idx val="0"/>
              <c:tx>
                <c:rich>
                  <a:bodyPr/>
                  <a:lstStyle/>
                  <a:p>
                    <a:r>
                      <a:rPr lang="en-US" sz="900" b="1">
                        <a:solidFill>
                          <a:srgbClr val="2F6FDE"/>
                        </a:solidFill>
                      </a:rPr>
                      <a:t>19,8</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522A-4338-803B-304149FD83A2}"/>
                </c:ext>
              </c:extLst>
            </c:dLbl>
            <c:dLbl>
              <c:idx val="1"/>
              <c:tx>
                <c:rich>
                  <a:bodyPr/>
                  <a:lstStyle/>
                  <a:p>
                    <a:r>
                      <a:rPr lang="en-US" sz="900" b="1">
                        <a:solidFill>
                          <a:srgbClr val="2F6FDE"/>
                        </a:solidFill>
                      </a:rPr>
                      <a:t>19,6</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522A-4338-803B-304149FD83A2}"/>
                </c:ext>
              </c:extLst>
            </c:dLbl>
            <c:dLbl>
              <c:idx val="2"/>
              <c:tx>
                <c:rich>
                  <a:bodyPr/>
                  <a:lstStyle/>
                  <a:p>
                    <a:r>
                      <a:rPr lang="en-US" sz="900" b="1">
                        <a:solidFill>
                          <a:srgbClr val="2F6FDE"/>
                        </a:solidFill>
                      </a:rPr>
                      <a:t>19,3</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8-522A-4338-803B-304149FD83A2}"/>
                </c:ext>
              </c:extLst>
            </c:dLbl>
            <c:dLbl>
              <c:idx val="3"/>
              <c:tx>
                <c:rich>
                  <a:bodyPr/>
                  <a:lstStyle/>
                  <a:p>
                    <a:r>
                      <a:rPr lang="en-US" sz="900" b="1">
                        <a:solidFill>
                          <a:srgbClr val="2F6FDE"/>
                        </a:solidFill>
                      </a:rPr>
                      <a:t>20,0</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9-522A-4338-803B-304149FD83A2}"/>
                </c:ext>
              </c:extLst>
            </c:dLbl>
            <c:dLbl>
              <c:idx val="4"/>
              <c:tx>
                <c:rich>
                  <a:bodyPr/>
                  <a:lstStyle/>
                  <a:p>
                    <a:r>
                      <a:rPr lang="en-US" sz="900" b="1">
                        <a:solidFill>
                          <a:srgbClr val="2F6FDE"/>
                        </a:solidFill>
                      </a:rPr>
                      <a:t>19,1</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A-522A-4338-803B-304149FD83A2}"/>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Sheet1!$A$2:$A$6</c:f>
              <c:strCache>
                <c:ptCount val="5"/>
                <c:pt idx="0">
                  <c:v>2T25</c:v>
                </c:pt>
                <c:pt idx="1">
                  <c:v>3T25</c:v>
                </c:pt>
                <c:pt idx="2">
                  <c:v>4T25</c:v>
                </c:pt>
                <c:pt idx="3">
                  <c:v>1T26</c:v>
                </c:pt>
                <c:pt idx="4">
                  <c:v>2T26*</c:v>
                </c:pt>
              </c:strCache>
            </c:strRef>
          </c:cat>
          <c:val>
            <c:numRef>
              <c:f>Sheet1!$C$2:$C$6</c:f>
              <c:numCache>
                <c:formatCode>General</c:formatCode>
                <c:ptCount val="5"/>
                <c:pt idx="0">
                  <c:v>19.776749434337596</c:v>
                </c:pt>
                <c:pt idx="1">
                  <c:v>19.572783430984217</c:v>
                </c:pt>
                <c:pt idx="2">
                  <c:v>19.265696657401957</c:v>
                </c:pt>
                <c:pt idx="3">
                  <c:v>19.998007968127489</c:v>
                </c:pt>
                <c:pt idx="4">
                  <c:v>19.080983061209285</c:v>
                </c:pt>
              </c:numCache>
            </c:numRef>
          </c:val>
          <c:smooth val="0"/>
          <c:extLst>
            <c:ext xmlns:c16="http://schemas.microsoft.com/office/drawing/2014/chart" uri="{C3380CC4-5D6E-409C-BE32-E72D297353CC}">
              <c16:uniqueId val="{0000000B-522A-4338-803B-304149FD83A2}"/>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low"/>
        <c:spPr>
          <a:ln>
            <a:solidFill>
              <a:srgbClr val="B8C2C1"/>
            </a:solidFill>
          </a:ln>
        </c:spPr>
        <c:txPr>
          <a:bodyPr/>
          <a:lstStyle/>
          <a:p>
            <a:pPr>
              <a:defRPr sz="750">
                <a:solidFill>
                  <a:srgbClr val="2F3B3A"/>
                </a:solidFill>
              </a:defRPr>
            </a:pPr>
            <a:endParaRPr lang="es-PE"/>
          </a:p>
        </c:txPr>
        <c:crossAx val="2140495176"/>
        <c:crosses val="autoZero"/>
        <c:auto val="1"/>
        <c:lblAlgn val="ctr"/>
        <c:lblOffset val="100"/>
        <c:noMultiLvlLbl val="0"/>
      </c:catAx>
      <c:valAx>
        <c:axId val="2140495176"/>
        <c:scaling>
          <c:orientation val="minMax"/>
          <c:max val="28"/>
          <c:min val="16"/>
        </c:scaling>
        <c:delete val="1"/>
        <c:axPos val="l"/>
        <c:numFmt formatCode="0.0" sourceLinked="0"/>
        <c:majorTickMark val="out"/>
        <c:minorTickMark val="none"/>
        <c:tickLblPos val="nextTo"/>
        <c:crossAx val="2118791784"/>
        <c:crosses val="autoZero"/>
        <c:crossBetween val="between"/>
      </c:valAx>
    </c:plotArea>
    <c:legend>
      <c:legendPos val="t"/>
      <c:overlay val="0"/>
      <c:txPr>
        <a:bodyPr/>
        <a:lstStyle/>
        <a:p>
          <a:pPr>
            <a:defRPr sz="750"/>
          </a:pPr>
          <a:endParaRPr lang="es-PE"/>
        </a:p>
      </c:txPr>
    </c:legend>
    <c:plotVisOnly val="1"/>
    <c:dispBlanksAs val="gap"/>
    <c:showDLblsOverMax val="0"/>
  </c:chart>
  <c:txPr>
    <a:bodyPr/>
    <a:lstStyle/>
    <a:p>
      <a:pPr>
        <a:defRPr sz="1800"/>
      </a:pPr>
      <a:endParaRPr lang="en-US"/>
    </a:p>
  </c:txPr>
  <c:externalData r:id="rId1">
    <c:autoUpdate val="0"/>
  </c:externalData>
</c:chartSpace>
</file>

<file path=ppt/charts/chart3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0"/>
    <c:plotArea>
      <c:layout>
        <c:manualLayout>
          <c:layoutTarget val="inner"/>
          <c:xMode val="edge"/>
          <c:yMode val="edge"/>
          <c:x val="0.02"/>
          <c:y val="0.17"/>
          <c:w val="0.96"/>
          <c:h val="0.7"/>
        </c:manualLayout>
      </c:layout>
      <c:barChart>
        <c:barDir val="col"/>
        <c:grouping val="clustered"/>
        <c:varyColors val="1"/>
        <c:ser>
          <c:idx val="0"/>
          <c:order val="0"/>
          <c:tx>
            <c:strRef>
              <c:f>Sheet1!$B$1</c:f>
              <c:strCache>
                <c:ptCount val="1"/>
                <c:pt idx="0">
                  <c:v>Ofertada a desembolsos</c:v>
                </c:pt>
              </c:strCache>
            </c:strRef>
          </c:tx>
          <c:spPr>
            <a:solidFill>
              <a:srgbClr val="8E9B9A"/>
            </a:solidFill>
          </c:spPr>
          <c:invertIfNegative val="1"/>
          <c:dLbls>
            <c:dLbl>
              <c:idx val="0"/>
              <c:tx>
                <c:rich>
                  <a:bodyPr/>
                  <a:lstStyle/>
                  <a:p>
                    <a:r>
                      <a:rPr lang="en-US" sz="850" b="1">
                        <a:solidFill>
                          <a:srgbClr val="6E7E7D"/>
                        </a:solidFill>
                      </a:rPr>
                      <a:t>24,2</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908E-413C-9D85-815936F564C7}"/>
                </c:ext>
              </c:extLst>
            </c:dLbl>
            <c:dLbl>
              <c:idx val="1"/>
              <c:tx>
                <c:rich>
                  <a:bodyPr/>
                  <a:lstStyle/>
                  <a:p>
                    <a:r>
                      <a:rPr lang="en-US" sz="850" b="1">
                        <a:solidFill>
                          <a:srgbClr val="6E7E7D"/>
                        </a:solidFill>
                      </a:rPr>
                      <a:t>21,0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908E-413C-9D85-815936F564C7}"/>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Sheet1!$A$2:$A$3</c:f>
              <c:strCache>
                <c:ptCount val="2"/>
                <c:pt idx="0">
                  <c:v>Pasivos &lt; 1K</c:v>
                </c:pt>
                <c:pt idx="1">
                  <c:v>Pasivos ≥ 5K</c:v>
                </c:pt>
              </c:strCache>
            </c:strRef>
          </c:cat>
          <c:val>
            <c:numRef>
              <c:f>Sheet1!$B$2:$B$3</c:f>
              <c:numCache>
                <c:formatCode>General</c:formatCode>
                <c:ptCount val="2"/>
                <c:pt idx="0">
                  <c:v>24.2</c:v>
                </c:pt>
                <c:pt idx="1">
                  <c:v>21</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908E-413C-9D85-815936F564C7}"/>
            </c:ext>
          </c:extLst>
        </c:ser>
        <c:ser>
          <c:idx val="1"/>
          <c:order val="1"/>
          <c:tx>
            <c:strRef>
              <c:f>Sheet1!$C$1</c:f>
              <c:strCache>
                <c:ptCount val="1"/>
                <c:pt idx="0">
                  <c:v>Desembolsada</c:v>
                </c:pt>
              </c:strCache>
            </c:strRef>
          </c:tx>
          <c:spPr>
            <a:solidFill>
              <a:srgbClr val="2F6FDE"/>
            </a:solidFill>
          </c:spPr>
          <c:invertIfNegative val="1"/>
          <c:dLbls>
            <c:dLbl>
              <c:idx val="0"/>
              <c:tx>
                <c:rich>
                  <a:bodyPr/>
                  <a:lstStyle/>
                  <a:p>
                    <a:r>
                      <a:rPr lang="en-US" sz="850" b="1">
                        <a:solidFill>
                          <a:srgbClr val="2F6FDE"/>
                        </a:solidFill>
                      </a:rPr>
                      <a:t>19,0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908E-413C-9D85-815936F564C7}"/>
                </c:ext>
              </c:extLst>
            </c:dLbl>
            <c:dLbl>
              <c:idx val="1"/>
              <c:tx>
                <c:rich>
                  <a:bodyPr/>
                  <a:lstStyle/>
                  <a:p>
                    <a:r>
                      <a:rPr lang="en-US" sz="850" b="1">
                        <a:solidFill>
                          <a:srgbClr val="2F6FDE"/>
                        </a:solidFill>
                      </a:rPr>
                      <a:t>18,0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908E-413C-9D85-815936F564C7}"/>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Sheet1!$A$2:$A$3</c:f>
              <c:strCache>
                <c:ptCount val="2"/>
                <c:pt idx="0">
                  <c:v>Pasivos &lt; 1K</c:v>
                </c:pt>
                <c:pt idx="1">
                  <c:v>Pasivos ≥ 5K</c:v>
                </c:pt>
              </c:strCache>
            </c:strRef>
          </c:cat>
          <c:val>
            <c:numRef>
              <c:f>Sheet1!$C$2:$C$3</c:f>
              <c:numCache>
                <c:formatCode>General</c:formatCode>
                <c:ptCount val="2"/>
                <c:pt idx="0">
                  <c:v>19</c:v>
                </c:pt>
                <c:pt idx="1">
                  <c:v>18</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5-908E-413C-9D85-815936F564C7}"/>
            </c:ext>
          </c:extLst>
        </c:ser>
        <c:ser>
          <c:idx val="2"/>
          <c:order val="2"/>
          <c:tx>
            <c:strRef>
              <c:f>Sheet1!$D$1</c:f>
              <c:strCache>
                <c:ptCount val="1"/>
                <c:pt idx="0">
                  <c:v>Competencia</c:v>
                </c:pt>
              </c:strCache>
            </c:strRef>
          </c:tx>
          <c:spPr>
            <a:solidFill>
              <a:srgbClr val="F28C28"/>
            </a:solidFill>
          </c:spPr>
          <c:invertIfNegative val="1"/>
          <c:dLbls>
            <c:dLbl>
              <c:idx val="0"/>
              <c:tx>
                <c:rich>
                  <a:bodyPr/>
                  <a:lstStyle/>
                  <a:p>
                    <a:r>
                      <a:rPr lang="en-US" sz="850" b="1">
                        <a:solidFill>
                          <a:srgbClr val="F28C28"/>
                        </a:solidFill>
                      </a:rPr>
                      <a:t>16,3</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908E-413C-9D85-815936F564C7}"/>
                </c:ext>
              </c:extLst>
            </c:dLbl>
            <c:dLbl>
              <c:idx val="1"/>
              <c:tx>
                <c:rich>
                  <a:bodyPr/>
                  <a:lstStyle/>
                  <a:p>
                    <a:r>
                      <a:rPr sz="850" b="1">
                        <a:solidFill>
                          <a:srgbClr val="F28C28"/>
                        </a:solidFill>
                      </a:rPr>
                      <a:t> </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908E-413C-9D85-815936F564C7}"/>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Sheet1!$A$2:$A$3</c:f>
              <c:strCache>
                <c:ptCount val="2"/>
                <c:pt idx="0">
                  <c:v>Pasivos &lt; 1K</c:v>
                </c:pt>
                <c:pt idx="1">
                  <c:v>Pasivos ≥ 5K</c:v>
                </c:pt>
              </c:strCache>
            </c:strRef>
          </c:cat>
          <c:val>
            <c:numRef>
              <c:f>Sheet1!$D$2:$D$3</c:f>
              <c:numCache>
                <c:formatCode>General</c:formatCode>
                <c:ptCount val="2"/>
                <c:pt idx="0">
                  <c:v>16.3</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8-908E-413C-9D85-815936F564C7}"/>
            </c:ext>
          </c:extLst>
        </c:ser>
        <c:dLbls>
          <c:showLegendKey val="0"/>
          <c:showVal val="0"/>
          <c:showCatName val="0"/>
          <c:showSerName val="0"/>
          <c:showPercent val="0"/>
          <c:showBubbleSize val="0"/>
        </c:dLbls>
        <c:gapWidth val="60"/>
        <c:axId val="-2068027336"/>
        <c:axId val="-2113994440"/>
      </c:barChart>
      <c:catAx>
        <c:axId val="-2068027336"/>
        <c:scaling>
          <c:orientation val="minMax"/>
        </c:scaling>
        <c:delete val="0"/>
        <c:axPos val="b"/>
        <c:numFmt formatCode="General" sourceLinked="0"/>
        <c:majorTickMark val="out"/>
        <c:minorTickMark val="none"/>
        <c:tickLblPos val="none"/>
        <c:spPr>
          <a:ln>
            <a:solidFill>
              <a:srgbClr val="B8C2C1"/>
            </a:solidFill>
          </a:ln>
        </c:spPr>
        <c:txPr>
          <a:bodyPr/>
          <a:lstStyle/>
          <a:p>
            <a:pPr>
              <a:defRPr sz="100"/>
            </a:pPr>
            <a:endParaRPr lang="es-PE"/>
          </a:p>
        </c:txPr>
        <c:crossAx val="-2113994440"/>
        <c:crosses val="autoZero"/>
        <c:auto val="1"/>
        <c:lblAlgn val="ctr"/>
        <c:lblOffset val="100"/>
        <c:noMultiLvlLbl val="0"/>
      </c:catAx>
      <c:valAx>
        <c:axId val="-2113994440"/>
        <c:scaling>
          <c:orientation val="minMax"/>
          <c:max val="26.7"/>
          <c:min val="14.3"/>
        </c:scaling>
        <c:delete val="1"/>
        <c:axPos val="l"/>
        <c:numFmt formatCode="General" sourceLinked="1"/>
        <c:majorTickMark val="out"/>
        <c:minorTickMark val="none"/>
        <c:tickLblPos val="nextTo"/>
        <c:crossAx val="-2068027336"/>
        <c:crosses val="autoZero"/>
        <c:crossBetween val="between"/>
      </c:valAx>
    </c:plotArea>
    <c:legend>
      <c:legendPos val="t"/>
      <c:overlay val="0"/>
      <c:txPr>
        <a:bodyPr/>
        <a:lstStyle/>
        <a:p>
          <a:pPr>
            <a:defRPr sz="800"/>
          </a:pPr>
          <a:endParaRPr lang="es-PE"/>
        </a:p>
      </c:txPr>
    </c:legend>
    <c:plotVisOnly val="1"/>
    <c:dispBlanksAs val="gap"/>
    <c:showDLblsOverMax val="1"/>
  </c:chart>
  <c:txPr>
    <a:bodyPr/>
    <a:lstStyle/>
    <a:p>
      <a:pPr>
        <a:defRPr sz="1800"/>
      </a:pPr>
      <a:endParaRPr lang="en-US"/>
    </a:p>
  </c:txPr>
  <c:externalData r:id="rId1">
    <c:autoUpdate val="0"/>
  </c:externalData>
</c:chartSpace>
</file>

<file path=ppt/charts/chart3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0"/>
    <c:plotArea>
      <c:layout>
        <c:manualLayout>
          <c:layoutTarget val="inner"/>
          <c:xMode val="edge"/>
          <c:yMode val="edge"/>
          <c:x val="0.02"/>
          <c:y val="0.06"/>
          <c:w val="0.96"/>
          <c:h val="0.8"/>
        </c:manualLayout>
      </c:layout>
      <c:barChart>
        <c:barDir val="col"/>
        <c:grouping val="clustered"/>
        <c:varyColors val="1"/>
        <c:ser>
          <c:idx val="0"/>
          <c:order val="0"/>
          <c:tx>
            <c:strRef>
              <c:f>Sheet1!$B$1</c:f>
              <c:strCache>
                <c:ptCount val="1"/>
                <c:pt idx="0">
                  <c:v>Ofertada a desembolsos</c:v>
                </c:pt>
              </c:strCache>
            </c:strRef>
          </c:tx>
          <c:spPr>
            <a:solidFill>
              <a:srgbClr val="8E9B9A"/>
            </a:solidFill>
          </c:spPr>
          <c:invertIfNegative val="1"/>
          <c:dLbls>
            <c:dLbl>
              <c:idx val="0"/>
              <c:tx>
                <c:rich>
                  <a:bodyPr/>
                  <a:lstStyle/>
                  <a:p>
                    <a:r>
                      <a:rPr lang="en-US" sz="850" b="1">
                        <a:solidFill>
                          <a:srgbClr val="6E7E7D"/>
                        </a:solidFill>
                      </a:rPr>
                      <a:t>24,2</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26ED-4B09-940B-0231BB736ABB}"/>
                </c:ext>
              </c:extLst>
            </c:dLbl>
            <c:dLbl>
              <c:idx val="1"/>
              <c:tx>
                <c:rich>
                  <a:bodyPr/>
                  <a:lstStyle/>
                  <a:p>
                    <a:r>
                      <a:rPr lang="en-US" sz="850" b="1">
                        <a:solidFill>
                          <a:srgbClr val="6E7E7D"/>
                        </a:solidFill>
                      </a:rPr>
                      <a:t>21,5</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26ED-4B09-940B-0231BB736ABB}"/>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Sheet1!$A$2:$A$3</c:f>
              <c:strCache>
                <c:ptCount val="2"/>
                <c:pt idx="0">
                  <c:v>Pasivos &lt; 1K</c:v>
                </c:pt>
                <c:pt idx="1">
                  <c:v>Pasivos ≥ 5K</c:v>
                </c:pt>
              </c:strCache>
            </c:strRef>
          </c:cat>
          <c:val>
            <c:numRef>
              <c:f>Sheet1!$B$2:$B$3</c:f>
              <c:numCache>
                <c:formatCode>General</c:formatCode>
                <c:ptCount val="2"/>
                <c:pt idx="0">
                  <c:v>24.2</c:v>
                </c:pt>
                <c:pt idx="1">
                  <c:v>21.5</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26ED-4B09-940B-0231BB736ABB}"/>
            </c:ext>
          </c:extLst>
        </c:ser>
        <c:ser>
          <c:idx val="1"/>
          <c:order val="1"/>
          <c:tx>
            <c:strRef>
              <c:f>Sheet1!$C$1</c:f>
              <c:strCache>
                <c:ptCount val="1"/>
                <c:pt idx="0">
                  <c:v>Desembolsada</c:v>
                </c:pt>
              </c:strCache>
            </c:strRef>
          </c:tx>
          <c:spPr>
            <a:solidFill>
              <a:srgbClr val="2F6FDE"/>
            </a:solidFill>
          </c:spPr>
          <c:invertIfNegative val="1"/>
          <c:dLbls>
            <c:dLbl>
              <c:idx val="0"/>
              <c:tx>
                <c:rich>
                  <a:bodyPr/>
                  <a:lstStyle/>
                  <a:p>
                    <a:r>
                      <a:rPr lang="en-US" sz="850" b="1">
                        <a:solidFill>
                          <a:srgbClr val="2F6FDE"/>
                        </a:solidFill>
                      </a:rPr>
                      <a:t>18,7</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26ED-4B09-940B-0231BB736ABB}"/>
                </c:ext>
              </c:extLst>
            </c:dLbl>
            <c:dLbl>
              <c:idx val="1"/>
              <c:tx>
                <c:rich>
                  <a:bodyPr/>
                  <a:lstStyle/>
                  <a:p>
                    <a:r>
                      <a:rPr lang="en-US" sz="850" b="1">
                        <a:solidFill>
                          <a:srgbClr val="2F6FDE"/>
                        </a:solidFill>
                      </a:rPr>
                      <a:t>18,5</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26ED-4B09-940B-0231BB736ABB}"/>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Sheet1!$A$2:$A$3</c:f>
              <c:strCache>
                <c:ptCount val="2"/>
                <c:pt idx="0">
                  <c:v>Pasivos &lt; 1K</c:v>
                </c:pt>
                <c:pt idx="1">
                  <c:v>Pasivos ≥ 5K</c:v>
                </c:pt>
              </c:strCache>
            </c:strRef>
          </c:cat>
          <c:val>
            <c:numRef>
              <c:f>Sheet1!$C$2:$C$3</c:f>
              <c:numCache>
                <c:formatCode>General</c:formatCode>
                <c:ptCount val="2"/>
                <c:pt idx="0">
                  <c:v>18.7</c:v>
                </c:pt>
                <c:pt idx="1">
                  <c:v>18.5</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5-26ED-4B09-940B-0231BB736ABB}"/>
            </c:ext>
          </c:extLst>
        </c:ser>
        <c:ser>
          <c:idx val="2"/>
          <c:order val="2"/>
          <c:tx>
            <c:strRef>
              <c:f>Sheet1!$D$1</c:f>
              <c:strCache>
                <c:ptCount val="1"/>
                <c:pt idx="0">
                  <c:v>Competencia</c:v>
                </c:pt>
              </c:strCache>
            </c:strRef>
          </c:tx>
          <c:spPr>
            <a:solidFill>
              <a:srgbClr val="F28C28"/>
            </a:solidFill>
          </c:spPr>
          <c:invertIfNegative val="1"/>
          <c:dLbls>
            <c:dLbl>
              <c:idx val="0"/>
              <c:tx>
                <c:rich>
                  <a:bodyPr/>
                  <a:lstStyle/>
                  <a:p>
                    <a:r>
                      <a:rPr lang="en-US" sz="850" b="1">
                        <a:solidFill>
                          <a:srgbClr val="F28C28"/>
                        </a:solidFill>
                      </a:rPr>
                      <a:t>17,5</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26ED-4B09-940B-0231BB736ABB}"/>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Sheet1!$A$2:$A$3</c:f>
              <c:strCache>
                <c:ptCount val="2"/>
                <c:pt idx="0">
                  <c:v>Pasivos &lt; 1K</c:v>
                </c:pt>
                <c:pt idx="1">
                  <c:v>Pasivos ≥ 5K</c:v>
                </c:pt>
              </c:strCache>
            </c:strRef>
          </c:cat>
          <c:val>
            <c:numRef>
              <c:f>Sheet1!$D$2:$D$3</c:f>
              <c:numCache>
                <c:formatCode>General</c:formatCode>
                <c:ptCount val="2"/>
                <c:pt idx="0">
                  <c:v>17.5</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7-26ED-4B09-940B-0231BB736ABB}"/>
            </c:ext>
          </c:extLst>
        </c:ser>
        <c:dLbls>
          <c:showLegendKey val="0"/>
          <c:showVal val="0"/>
          <c:showCatName val="0"/>
          <c:showSerName val="0"/>
          <c:showPercent val="0"/>
          <c:showBubbleSize val="0"/>
        </c:dLbls>
        <c:gapWidth val="60"/>
        <c:axId val="-2068027336"/>
        <c:axId val="-2113994440"/>
      </c:barChart>
      <c:catAx>
        <c:axId val="-2068027336"/>
        <c:scaling>
          <c:orientation val="minMax"/>
        </c:scaling>
        <c:delete val="0"/>
        <c:axPos val="b"/>
        <c:numFmt formatCode="General" sourceLinked="0"/>
        <c:majorTickMark val="out"/>
        <c:minorTickMark val="none"/>
        <c:tickLblPos val="none"/>
        <c:spPr>
          <a:ln>
            <a:solidFill>
              <a:srgbClr val="B8C2C1"/>
            </a:solidFill>
          </a:ln>
        </c:spPr>
        <c:txPr>
          <a:bodyPr/>
          <a:lstStyle/>
          <a:p>
            <a:pPr>
              <a:defRPr sz="100"/>
            </a:pPr>
            <a:endParaRPr lang="es-PE"/>
          </a:p>
        </c:txPr>
        <c:crossAx val="-2113994440"/>
        <c:crosses val="autoZero"/>
        <c:auto val="1"/>
        <c:lblAlgn val="ctr"/>
        <c:lblOffset val="100"/>
        <c:noMultiLvlLbl val="0"/>
      </c:catAx>
      <c:valAx>
        <c:axId val="-2113994440"/>
        <c:scaling>
          <c:orientation val="minMax"/>
          <c:max val="25.7"/>
          <c:min val="15.5"/>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4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lineChart>
        <c:grouping val="standard"/>
        <c:varyColors val="0"/>
        <c:ser>
          <c:idx val="0"/>
          <c:order val="0"/>
          <c:tx>
            <c:strRef>
              <c:f>Sheet1!$B$1</c:f>
              <c:strCache>
                <c:ptCount val="1"/>
                <c:pt idx="0">
                  <c:v>Hasta S/ 170K</c:v>
                </c:pt>
              </c:strCache>
            </c:strRef>
          </c:tx>
          <c:spPr>
            <a:ln w="25400">
              <a:solidFill>
                <a:srgbClr val="13807B"/>
              </a:solidFill>
            </a:ln>
          </c:spPr>
          <c:marker>
            <c:symbol val="circle"/>
            <c:size val="6"/>
            <c:spPr>
              <a:solidFill>
                <a:srgbClr val="13807B"/>
              </a:solidFill>
              <a:ln>
                <a:solidFill>
                  <a:srgbClr val="13807B"/>
                </a:solidFill>
              </a:ln>
            </c:spPr>
          </c:marker>
          <c:dLbls>
            <c:dLbl>
              <c:idx val="0"/>
              <c:tx>
                <c:rich>
                  <a:bodyPr/>
                  <a:lstStyle/>
                  <a:p>
                    <a:r>
                      <a:rPr lang="en-US" sz="850" b="1">
                        <a:solidFill>
                          <a:srgbClr val="13807B"/>
                        </a:solidFill>
                      </a:rPr>
                      <a:t>73</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D66F-4DBA-B364-6484A3669197}"/>
                </c:ext>
              </c:extLst>
            </c:dLbl>
            <c:dLbl>
              <c:idx val="1"/>
              <c:tx>
                <c:rich>
                  <a:bodyPr/>
                  <a:lstStyle/>
                  <a:p>
                    <a:r>
                      <a:rPr lang="en-US" sz="850" b="1">
                        <a:solidFill>
                          <a:srgbClr val="13807B"/>
                        </a:solidFill>
                      </a:rPr>
                      <a:t>87</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D66F-4DBA-B364-6484A3669197}"/>
                </c:ext>
              </c:extLst>
            </c:dLbl>
            <c:dLbl>
              <c:idx val="2"/>
              <c:tx>
                <c:rich>
                  <a:bodyPr/>
                  <a:lstStyle/>
                  <a:p>
                    <a:r>
                      <a:rPr lang="en-US" sz="850" b="1">
                        <a:solidFill>
                          <a:srgbClr val="13807B"/>
                        </a:solidFill>
                      </a:rPr>
                      <a:t>66</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D66F-4DBA-B364-6484A3669197}"/>
                </c:ext>
              </c:extLst>
            </c:dLbl>
            <c:dLbl>
              <c:idx val="3"/>
              <c:tx>
                <c:rich>
                  <a:bodyPr/>
                  <a:lstStyle/>
                  <a:p>
                    <a:r>
                      <a:rPr lang="en-US" sz="850" b="1">
                        <a:solidFill>
                          <a:srgbClr val="13807B"/>
                        </a:solidFill>
                      </a:rPr>
                      <a:t>66</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D66F-4DBA-B364-6484A3669197}"/>
                </c:ext>
              </c:extLst>
            </c:dLbl>
            <c:dLbl>
              <c:idx val="4"/>
              <c:tx>
                <c:rich>
                  <a:bodyPr/>
                  <a:lstStyle/>
                  <a:p>
                    <a:r>
                      <a:rPr lang="en-US" sz="850" b="1">
                        <a:solidFill>
                          <a:srgbClr val="13807B"/>
                        </a:solidFill>
                      </a:rPr>
                      <a:t>94</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D66F-4DBA-B364-6484A3669197}"/>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Sheet1!$A$2:$A$6</c:f>
              <c:strCache>
                <c:ptCount val="5"/>
                <c:pt idx="0">
                  <c:v>2T25</c:v>
                </c:pt>
                <c:pt idx="1">
                  <c:v>3T25</c:v>
                </c:pt>
                <c:pt idx="2">
                  <c:v>4T25</c:v>
                </c:pt>
                <c:pt idx="3">
                  <c:v>1T26</c:v>
                </c:pt>
                <c:pt idx="4">
                  <c:v>2T26*</c:v>
                </c:pt>
              </c:strCache>
            </c:strRef>
          </c:cat>
          <c:val>
            <c:numRef>
              <c:f>Sheet1!$B$2:$B$6</c:f>
              <c:numCache>
                <c:formatCode>General</c:formatCode>
                <c:ptCount val="5"/>
                <c:pt idx="0">
                  <c:v>72.838811976982001</c:v>
                </c:pt>
                <c:pt idx="1">
                  <c:v>86.882787607015146</c:v>
                </c:pt>
                <c:pt idx="2">
                  <c:v>65.997536924463645</c:v>
                </c:pt>
                <c:pt idx="3">
                  <c:v>66.300941921829818</c:v>
                </c:pt>
                <c:pt idx="4">
                  <c:v>94.492564629020762</c:v>
                </c:pt>
              </c:numCache>
            </c:numRef>
          </c:val>
          <c:smooth val="0"/>
          <c:extLst>
            <c:ext xmlns:c16="http://schemas.microsoft.com/office/drawing/2014/chart" uri="{C3380CC4-5D6E-409C-BE32-E72D297353CC}">
              <c16:uniqueId val="{00000005-D66F-4DBA-B364-6484A3669197}"/>
            </c:ext>
          </c:extLst>
        </c:ser>
        <c:ser>
          <c:idx val="1"/>
          <c:order val="1"/>
          <c:tx>
            <c:strRef>
              <c:f>Sheet1!$C$1</c:f>
              <c:strCache>
                <c:ptCount val="1"/>
                <c:pt idx="0">
                  <c:v>Más de S/ 250K</c:v>
                </c:pt>
              </c:strCache>
            </c:strRef>
          </c:tx>
          <c:spPr>
            <a:ln w="25400">
              <a:solidFill>
                <a:srgbClr val="E5173F"/>
              </a:solidFill>
            </a:ln>
          </c:spPr>
          <c:marker>
            <c:symbol val="circle"/>
            <c:size val="6"/>
            <c:spPr>
              <a:solidFill>
                <a:srgbClr val="E5173F"/>
              </a:solidFill>
              <a:ln>
                <a:solidFill>
                  <a:srgbClr val="E5173F"/>
                </a:solidFill>
              </a:ln>
            </c:spPr>
          </c:marker>
          <c:dLbls>
            <c:dLbl>
              <c:idx val="0"/>
              <c:tx>
                <c:rich>
                  <a:bodyPr/>
                  <a:lstStyle/>
                  <a:p>
                    <a:r>
                      <a:rPr lang="en-US" sz="850" b="1">
                        <a:solidFill>
                          <a:srgbClr val="E5173F"/>
                        </a:solidFill>
                      </a:rPr>
                      <a:t>53</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D66F-4DBA-B364-6484A3669197}"/>
                </c:ext>
              </c:extLst>
            </c:dLbl>
            <c:dLbl>
              <c:idx val="1"/>
              <c:tx>
                <c:rich>
                  <a:bodyPr/>
                  <a:lstStyle/>
                  <a:p>
                    <a:r>
                      <a:rPr lang="en-US" sz="850" b="1">
                        <a:solidFill>
                          <a:srgbClr val="E5173F"/>
                        </a:solidFill>
                      </a:rPr>
                      <a:t>48</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D66F-4DBA-B364-6484A3669197}"/>
                </c:ext>
              </c:extLst>
            </c:dLbl>
            <c:dLbl>
              <c:idx val="2"/>
              <c:tx>
                <c:rich>
                  <a:bodyPr/>
                  <a:lstStyle/>
                  <a:p>
                    <a:r>
                      <a:rPr lang="en-US" sz="850" b="1">
                        <a:solidFill>
                          <a:srgbClr val="E5173F"/>
                        </a:solidFill>
                      </a:rPr>
                      <a:t>26</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8-D66F-4DBA-B364-6484A3669197}"/>
                </c:ext>
              </c:extLst>
            </c:dLbl>
            <c:dLbl>
              <c:idx val="3"/>
              <c:tx>
                <c:rich>
                  <a:bodyPr/>
                  <a:lstStyle/>
                  <a:p>
                    <a:r>
                      <a:rPr lang="en-US" sz="850" b="1">
                        <a:solidFill>
                          <a:srgbClr val="E5173F"/>
                        </a:solidFill>
                      </a:rPr>
                      <a:t>48</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9-D66F-4DBA-B364-6484A3669197}"/>
                </c:ext>
              </c:extLst>
            </c:dLbl>
            <c:dLbl>
              <c:idx val="4"/>
              <c:tx>
                <c:rich>
                  <a:bodyPr/>
                  <a:lstStyle/>
                  <a:p>
                    <a:r>
                      <a:rPr lang="en-US" sz="850" b="1">
                        <a:solidFill>
                          <a:srgbClr val="E5173F"/>
                        </a:solidFill>
                      </a:rPr>
                      <a:t>34</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A-D66F-4DBA-B364-6484A3669197}"/>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Sheet1!$A$2:$A$6</c:f>
              <c:strCache>
                <c:ptCount val="5"/>
                <c:pt idx="0">
                  <c:v>2T25</c:v>
                </c:pt>
                <c:pt idx="1">
                  <c:v>3T25</c:v>
                </c:pt>
                <c:pt idx="2">
                  <c:v>4T25</c:v>
                </c:pt>
                <c:pt idx="3">
                  <c:v>1T26</c:v>
                </c:pt>
                <c:pt idx="4">
                  <c:v>2T26*</c:v>
                </c:pt>
              </c:strCache>
            </c:strRef>
          </c:cat>
          <c:val>
            <c:numRef>
              <c:f>Sheet1!$C$2:$C$6</c:f>
              <c:numCache>
                <c:formatCode>General</c:formatCode>
                <c:ptCount val="5"/>
                <c:pt idx="0">
                  <c:v>53.090465581227157</c:v>
                </c:pt>
                <c:pt idx="1">
                  <c:v>48.435959572104288</c:v>
                </c:pt>
                <c:pt idx="2">
                  <c:v>25.699307438292625</c:v>
                </c:pt>
                <c:pt idx="3">
                  <c:v>47.691914485999099</c:v>
                </c:pt>
                <c:pt idx="4">
                  <c:v>33.639717211020844</c:v>
                </c:pt>
              </c:numCache>
            </c:numRef>
          </c:val>
          <c:smooth val="0"/>
          <c:extLst>
            <c:ext xmlns:c16="http://schemas.microsoft.com/office/drawing/2014/chart" uri="{C3380CC4-5D6E-409C-BE32-E72D297353CC}">
              <c16:uniqueId val="{0000000B-D66F-4DBA-B364-6484A3669197}"/>
            </c:ext>
          </c:extLst>
        </c:ser>
        <c:ser>
          <c:idx val="2"/>
          <c:order val="2"/>
          <c:tx>
            <c:strRef>
              <c:f>Sheet1!$D$1</c:f>
              <c:strCache>
                <c:ptCount val="1"/>
                <c:pt idx="0">
                  <c:v>Total</c:v>
                </c:pt>
              </c:strCache>
            </c:strRef>
          </c:tx>
          <c:spPr>
            <a:ln w="25400">
              <a:solidFill>
                <a:srgbClr val="555555"/>
              </a:solidFill>
              <a:prstDash val="dash"/>
            </a:ln>
          </c:spPr>
          <c:marker>
            <c:symbol val="triangle"/>
            <c:size val="6"/>
            <c:spPr>
              <a:solidFill>
                <a:srgbClr val="555555"/>
              </a:solidFill>
              <a:ln>
                <a:solidFill>
                  <a:srgbClr val="555555"/>
                </a:solidFill>
              </a:ln>
            </c:spPr>
          </c:marker>
          <c:dLbls>
            <c:dLbl>
              <c:idx val="0"/>
              <c:tx>
                <c:rich>
                  <a:bodyPr/>
                  <a:lstStyle/>
                  <a:p>
                    <a:r>
                      <a:rPr lang="en-US" sz="850" b="1">
                        <a:solidFill>
                          <a:srgbClr val="555555"/>
                        </a:solidFill>
                      </a:rPr>
                      <a:t>65</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C-D66F-4DBA-B364-6484A3669197}"/>
                </c:ext>
              </c:extLst>
            </c:dLbl>
            <c:dLbl>
              <c:idx val="1"/>
              <c:tx>
                <c:rich>
                  <a:bodyPr/>
                  <a:lstStyle/>
                  <a:p>
                    <a:r>
                      <a:rPr lang="en-US" sz="850" b="1">
                        <a:solidFill>
                          <a:srgbClr val="555555"/>
                        </a:solidFill>
                      </a:rPr>
                      <a:t>67</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D-D66F-4DBA-B364-6484A3669197}"/>
                </c:ext>
              </c:extLst>
            </c:dLbl>
            <c:dLbl>
              <c:idx val="2"/>
              <c:tx>
                <c:rich>
                  <a:bodyPr/>
                  <a:lstStyle/>
                  <a:p>
                    <a:r>
                      <a:rPr lang="en-US" sz="850" b="1">
                        <a:solidFill>
                          <a:srgbClr val="555555"/>
                        </a:solidFill>
                      </a:rPr>
                      <a:t>48</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E-D66F-4DBA-B364-6484A3669197}"/>
                </c:ext>
              </c:extLst>
            </c:dLbl>
            <c:dLbl>
              <c:idx val="3"/>
              <c:tx>
                <c:rich>
                  <a:bodyPr/>
                  <a:lstStyle/>
                  <a:p>
                    <a:r>
                      <a:rPr lang="en-US" sz="850" b="1">
                        <a:solidFill>
                          <a:srgbClr val="555555"/>
                        </a:solidFill>
                      </a:rPr>
                      <a:t>60</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F-D66F-4DBA-B364-6484A3669197}"/>
                </c:ext>
              </c:extLst>
            </c:dLbl>
            <c:dLbl>
              <c:idx val="4"/>
              <c:tx>
                <c:rich>
                  <a:bodyPr/>
                  <a:lstStyle/>
                  <a:p>
                    <a:r>
                      <a:rPr lang="en-US" sz="850" b="1">
                        <a:solidFill>
                          <a:srgbClr val="555555"/>
                        </a:solidFill>
                      </a:rPr>
                      <a:t>88</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0-D66F-4DBA-B364-6484A3669197}"/>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Sheet1!$A$2:$A$6</c:f>
              <c:strCache>
                <c:ptCount val="5"/>
                <c:pt idx="0">
                  <c:v>2T25</c:v>
                </c:pt>
                <c:pt idx="1">
                  <c:v>3T25</c:v>
                </c:pt>
                <c:pt idx="2">
                  <c:v>4T25</c:v>
                </c:pt>
                <c:pt idx="3">
                  <c:v>1T26</c:v>
                </c:pt>
                <c:pt idx="4">
                  <c:v>2T26*</c:v>
                </c:pt>
              </c:strCache>
            </c:strRef>
          </c:cat>
          <c:val>
            <c:numRef>
              <c:f>Sheet1!$D$2:$D$6</c:f>
              <c:numCache>
                <c:formatCode>General</c:formatCode>
                <c:ptCount val="5"/>
                <c:pt idx="0">
                  <c:v>64.649981250209763</c:v>
                </c:pt>
                <c:pt idx="1">
                  <c:v>66.514350789245313</c:v>
                </c:pt>
                <c:pt idx="2">
                  <c:v>47.726420620573535</c:v>
                </c:pt>
                <c:pt idx="3">
                  <c:v>59.723555173949357</c:v>
                </c:pt>
                <c:pt idx="4">
                  <c:v>87.661903288873333</c:v>
                </c:pt>
              </c:numCache>
            </c:numRef>
          </c:val>
          <c:smooth val="0"/>
          <c:extLst>
            <c:ext xmlns:c16="http://schemas.microsoft.com/office/drawing/2014/chart" uri="{C3380CC4-5D6E-409C-BE32-E72D297353CC}">
              <c16:uniqueId val="{00000011-D66F-4DBA-B364-6484A3669197}"/>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low"/>
        <c:spPr>
          <a:ln>
            <a:solidFill>
              <a:srgbClr val="B8C2C1"/>
            </a:solidFill>
          </a:ln>
        </c:spPr>
        <c:txPr>
          <a:bodyPr/>
          <a:lstStyle/>
          <a:p>
            <a:pPr>
              <a:defRPr sz="800">
                <a:solidFill>
                  <a:srgbClr val="2F3B3A"/>
                </a:solidFill>
              </a:defRPr>
            </a:pPr>
            <a:endParaRPr lang="es-PE"/>
          </a:p>
        </c:txPr>
        <c:crossAx val="2140495176"/>
        <c:crosses val="autoZero"/>
        <c:auto val="1"/>
        <c:lblAlgn val="ctr"/>
        <c:lblOffset val="100"/>
        <c:noMultiLvlLbl val="0"/>
      </c:catAx>
      <c:valAx>
        <c:axId val="2140495176"/>
        <c:scaling>
          <c:orientation val="minMax"/>
          <c:max val="105"/>
          <c:min val="15"/>
        </c:scaling>
        <c:delete val="1"/>
        <c:axPos val="l"/>
        <c:numFmt formatCode="0" sourceLinked="0"/>
        <c:majorTickMark val="out"/>
        <c:minorTickMark val="none"/>
        <c:tickLblPos val="nextTo"/>
        <c:crossAx val="2118791784"/>
        <c:crosses val="autoZero"/>
        <c:crossBetween val="between"/>
      </c:valAx>
    </c:plotArea>
    <c:legend>
      <c:legendPos val="t"/>
      <c:overlay val="0"/>
      <c:txPr>
        <a:bodyPr/>
        <a:lstStyle/>
        <a:p>
          <a:pPr>
            <a:defRPr sz="800"/>
          </a:pPr>
          <a:endParaRPr lang="es-PE"/>
        </a:p>
      </c:txPr>
    </c:legend>
    <c:plotVisOnly val="1"/>
    <c:dispBlanksAs val="gap"/>
    <c:showDLblsOverMax val="0"/>
  </c:chart>
  <c:txPr>
    <a:bodyPr/>
    <a:lstStyle/>
    <a:p>
      <a:pPr>
        <a:defRPr sz="1800"/>
      </a:pPr>
      <a:endParaRPr lang="en-US"/>
    </a:p>
  </c:txPr>
  <c:externalData r:id="rId1">
    <c:autoUpdate val="0"/>
  </c:externalData>
</c:chartSpace>
</file>

<file path=ppt/charts/chart4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lineChart>
        <c:grouping val="standard"/>
        <c:varyColors val="0"/>
        <c:ser>
          <c:idx val="0"/>
          <c:order val="0"/>
          <c:tx>
            <c:strRef>
              <c:f>Sheet1!$B$1</c:f>
              <c:strCache>
                <c:ptCount val="1"/>
                <c:pt idx="0">
                  <c:v>Ofertada a desembolsos</c:v>
                </c:pt>
              </c:strCache>
            </c:strRef>
          </c:tx>
          <c:spPr>
            <a:ln w="25400">
              <a:solidFill>
                <a:srgbClr val="8E9B9A"/>
              </a:solidFill>
              <a:prstDash val="dash"/>
            </a:ln>
          </c:spPr>
          <c:marker>
            <c:symbol val="circle"/>
            <c:size val="6"/>
            <c:spPr>
              <a:solidFill>
                <a:srgbClr val="8E9B9A"/>
              </a:solidFill>
              <a:ln>
                <a:solidFill>
                  <a:srgbClr val="8E9B9A"/>
                </a:solidFill>
              </a:ln>
            </c:spPr>
          </c:marker>
          <c:dLbls>
            <c:dLbl>
              <c:idx val="0"/>
              <c:tx>
                <c:rich>
                  <a:bodyPr/>
                  <a:lstStyle/>
                  <a:p>
                    <a:r>
                      <a:rPr lang="en-US" sz="900" b="1">
                        <a:solidFill>
                          <a:srgbClr val="8E9B9A"/>
                        </a:solidFill>
                      </a:rPr>
                      <a:t>24,8</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7EF4-4510-9D19-BC8F89AC048B}"/>
                </c:ext>
              </c:extLst>
            </c:dLbl>
            <c:dLbl>
              <c:idx val="1"/>
              <c:tx>
                <c:rich>
                  <a:bodyPr/>
                  <a:lstStyle/>
                  <a:p>
                    <a:r>
                      <a:rPr lang="en-US" sz="900" b="1">
                        <a:solidFill>
                          <a:srgbClr val="8E9B9A"/>
                        </a:solidFill>
                      </a:rPr>
                      <a:t>26,5</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7EF4-4510-9D19-BC8F89AC048B}"/>
                </c:ext>
              </c:extLst>
            </c:dLbl>
            <c:dLbl>
              <c:idx val="2"/>
              <c:tx>
                <c:rich>
                  <a:bodyPr/>
                  <a:lstStyle/>
                  <a:p>
                    <a:r>
                      <a:rPr lang="en-US" sz="900" b="1">
                        <a:solidFill>
                          <a:srgbClr val="8E9B9A"/>
                        </a:solidFill>
                      </a:rPr>
                      <a:t>26,8</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7EF4-4510-9D19-BC8F89AC048B}"/>
                </c:ext>
              </c:extLst>
            </c:dLbl>
            <c:dLbl>
              <c:idx val="3"/>
              <c:tx>
                <c:rich>
                  <a:bodyPr/>
                  <a:lstStyle/>
                  <a:p>
                    <a:r>
                      <a:rPr lang="en-US" sz="900" b="1">
                        <a:solidFill>
                          <a:srgbClr val="8E9B9A"/>
                        </a:solidFill>
                      </a:rPr>
                      <a:t>26,6</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7EF4-4510-9D19-BC8F89AC048B}"/>
                </c:ext>
              </c:extLst>
            </c:dLbl>
            <c:dLbl>
              <c:idx val="4"/>
              <c:tx>
                <c:rich>
                  <a:bodyPr/>
                  <a:lstStyle/>
                  <a:p>
                    <a:r>
                      <a:rPr lang="en-US" sz="900" b="1">
                        <a:solidFill>
                          <a:srgbClr val="8E9B9A"/>
                        </a:solidFill>
                      </a:rPr>
                      <a:t>22,0</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7EF4-4510-9D19-BC8F89AC048B}"/>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Sheet1!$A$2:$A$6</c:f>
              <c:strCache>
                <c:ptCount val="5"/>
                <c:pt idx="0">
                  <c:v>2T25</c:v>
                </c:pt>
                <c:pt idx="1">
                  <c:v>3T25</c:v>
                </c:pt>
                <c:pt idx="2">
                  <c:v>4T25</c:v>
                </c:pt>
                <c:pt idx="3">
                  <c:v>1T26</c:v>
                </c:pt>
                <c:pt idx="4">
                  <c:v>2T26*</c:v>
                </c:pt>
              </c:strCache>
            </c:strRef>
          </c:cat>
          <c:val>
            <c:numRef>
              <c:f>Sheet1!$B$2:$B$6</c:f>
              <c:numCache>
                <c:formatCode>General</c:formatCode>
                <c:ptCount val="5"/>
                <c:pt idx="0">
                  <c:v>24.8</c:v>
                </c:pt>
                <c:pt idx="1">
                  <c:v>26.5</c:v>
                </c:pt>
                <c:pt idx="2">
                  <c:v>26.8</c:v>
                </c:pt>
                <c:pt idx="3">
                  <c:v>26.6</c:v>
                </c:pt>
                <c:pt idx="4">
                  <c:v>22</c:v>
                </c:pt>
              </c:numCache>
            </c:numRef>
          </c:val>
          <c:smooth val="0"/>
          <c:extLst>
            <c:ext xmlns:c16="http://schemas.microsoft.com/office/drawing/2014/chart" uri="{C3380CC4-5D6E-409C-BE32-E72D297353CC}">
              <c16:uniqueId val="{00000005-7EF4-4510-9D19-BC8F89AC048B}"/>
            </c:ext>
          </c:extLst>
        </c:ser>
        <c:ser>
          <c:idx val="1"/>
          <c:order val="1"/>
          <c:tx>
            <c:strRef>
              <c:f>Sheet1!$C$1</c:f>
              <c:strCache>
                <c:ptCount val="1"/>
                <c:pt idx="0">
                  <c:v>Desembolsada</c:v>
                </c:pt>
              </c:strCache>
            </c:strRef>
          </c:tx>
          <c:spPr>
            <a:ln w="25400">
              <a:solidFill>
                <a:srgbClr val="2F6FDE"/>
              </a:solidFill>
            </a:ln>
          </c:spPr>
          <c:marker>
            <c:symbol val="circle"/>
            <c:size val="6"/>
            <c:spPr>
              <a:solidFill>
                <a:srgbClr val="2F6FDE"/>
              </a:solidFill>
              <a:ln>
                <a:solidFill>
                  <a:srgbClr val="2F6FDE"/>
                </a:solidFill>
              </a:ln>
            </c:spPr>
          </c:marker>
          <c:dLbls>
            <c:dLbl>
              <c:idx val="0"/>
              <c:tx>
                <c:rich>
                  <a:bodyPr/>
                  <a:lstStyle/>
                  <a:p>
                    <a:r>
                      <a:rPr lang="en-US" sz="900" b="1">
                        <a:solidFill>
                          <a:srgbClr val="2F6FDE"/>
                        </a:solidFill>
                      </a:rPr>
                      <a:t>21,1</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7EF4-4510-9D19-BC8F89AC048B}"/>
                </c:ext>
              </c:extLst>
            </c:dLbl>
            <c:dLbl>
              <c:idx val="1"/>
              <c:tx>
                <c:rich>
                  <a:bodyPr/>
                  <a:lstStyle/>
                  <a:p>
                    <a:r>
                      <a:rPr lang="en-US" sz="900" b="1">
                        <a:solidFill>
                          <a:srgbClr val="2F6FDE"/>
                        </a:solidFill>
                      </a:rPr>
                      <a:t>21,9</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7EF4-4510-9D19-BC8F89AC048B}"/>
                </c:ext>
              </c:extLst>
            </c:dLbl>
            <c:dLbl>
              <c:idx val="2"/>
              <c:tx>
                <c:rich>
                  <a:bodyPr/>
                  <a:lstStyle/>
                  <a:p>
                    <a:r>
                      <a:rPr lang="en-US" sz="900" b="1">
                        <a:solidFill>
                          <a:srgbClr val="2F6FDE"/>
                        </a:solidFill>
                      </a:rPr>
                      <a:t>20,5</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8-7EF4-4510-9D19-BC8F89AC048B}"/>
                </c:ext>
              </c:extLst>
            </c:dLbl>
            <c:dLbl>
              <c:idx val="3"/>
              <c:tx>
                <c:rich>
                  <a:bodyPr/>
                  <a:lstStyle/>
                  <a:p>
                    <a:r>
                      <a:rPr lang="en-US" sz="900" b="1">
                        <a:solidFill>
                          <a:srgbClr val="2F6FDE"/>
                        </a:solidFill>
                      </a:rPr>
                      <a:t>19,6</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9-7EF4-4510-9D19-BC8F89AC048B}"/>
                </c:ext>
              </c:extLst>
            </c:dLbl>
            <c:dLbl>
              <c:idx val="4"/>
              <c:tx>
                <c:rich>
                  <a:bodyPr/>
                  <a:lstStyle/>
                  <a:p>
                    <a:r>
                      <a:rPr lang="en-US" sz="900" b="1">
                        <a:solidFill>
                          <a:srgbClr val="2F6FDE"/>
                        </a:solidFill>
                      </a:rPr>
                      <a:t>20,4</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A-7EF4-4510-9D19-BC8F89AC048B}"/>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Sheet1!$A$2:$A$6</c:f>
              <c:strCache>
                <c:ptCount val="5"/>
                <c:pt idx="0">
                  <c:v>2T25</c:v>
                </c:pt>
                <c:pt idx="1">
                  <c:v>3T25</c:v>
                </c:pt>
                <c:pt idx="2">
                  <c:v>4T25</c:v>
                </c:pt>
                <c:pt idx="3">
                  <c:v>1T26</c:v>
                </c:pt>
                <c:pt idx="4">
                  <c:v>2T26*</c:v>
                </c:pt>
              </c:strCache>
            </c:strRef>
          </c:cat>
          <c:val>
            <c:numRef>
              <c:f>Sheet1!$C$2:$C$6</c:f>
              <c:numCache>
                <c:formatCode>General</c:formatCode>
                <c:ptCount val="5"/>
                <c:pt idx="0">
                  <c:v>21.08882521489971</c:v>
                </c:pt>
                <c:pt idx="1">
                  <c:v>21.941418398021248</c:v>
                </c:pt>
                <c:pt idx="2">
                  <c:v>20.486309888811675</c:v>
                </c:pt>
                <c:pt idx="3">
                  <c:v>19.623177842565596</c:v>
                </c:pt>
                <c:pt idx="4">
                  <c:v>20.353043288654522</c:v>
                </c:pt>
              </c:numCache>
            </c:numRef>
          </c:val>
          <c:smooth val="0"/>
          <c:extLst>
            <c:ext xmlns:c16="http://schemas.microsoft.com/office/drawing/2014/chart" uri="{C3380CC4-5D6E-409C-BE32-E72D297353CC}">
              <c16:uniqueId val="{0000000B-7EF4-4510-9D19-BC8F89AC048B}"/>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low"/>
        <c:spPr>
          <a:ln>
            <a:solidFill>
              <a:srgbClr val="B8C2C1"/>
            </a:solidFill>
          </a:ln>
        </c:spPr>
        <c:txPr>
          <a:bodyPr/>
          <a:lstStyle/>
          <a:p>
            <a:pPr>
              <a:defRPr sz="750">
                <a:solidFill>
                  <a:srgbClr val="2F3B3A"/>
                </a:solidFill>
              </a:defRPr>
            </a:pPr>
            <a:endParaRPr lang="es-PE"/>
          </a:p>
        </c:txPr>
        <c:crossAx val="2140495176"/>
        <c:crosses val="autoZero"/>
        <c:auto val="1"/>
        <c:lblAlgn val="ctr"/>
        <c:lblOffset val="100"/>
        <c:noMultiLvlLbl val="0"/>
      </c:catAx>
      <c:valAx>
        <c:axId val="2140495176"/>
        <c:scaling>
          <c:orientation val="minMax"/>
          <c:max val="29"/>
          <c:min val="16"/>
        </c:scaling>
        <c:delete val="1"/>
        <c:axPos val="l"/>
        <c:numFmt formatCode="0.0" sourceLinked="0"/>
        <c:majorTickMark val="out"/>
        <c:minorTickMark val="none"/>
        <c:tickLblPos val="nextTo"/>
        <c:crossAx val="2118791784"/>
        <c:crosses val="autoZero"/>
        <c:crossBetween val="between"/>
      </c:valAx>
    </c:plotArea>
    <c:legend>
      <c:legendPos val="t"/>
      <c:overlay val="0"/>
      <c:txPr>
        <a:bodyPr/>
        <a:lstStyle/>
        <a:p>
          <a:pPr>
            <a:defRPr sz="750"/>
          </a:pPr>
          <a:endParaRPr lang="es-PE"/>
        </a:p>
      </c:txPr>
    </c:legend>
    <c:plotVisOnly val="1"/>
    <c:dispBlanksAs val="gap"/>
    <c:showDLblsOverMax val="0"/>
  </c:chart>
  <c:txPr>
    <a:bodyPr/>
    <a:lstStyle/>
    <a:p>
      <a:pPr>
        <a:defRPr sz="1800"/>
      </a:pPr>
      <a:endParaRPr lang="en-US"/>
    </a:p>
  </c:txPr>
  <c:externalData r:id="rId1">
    <c:autoUpdate val="0"/>
  </c:externalData>
</c:chartSpace>
</file>

<file path=ppt/charts/chart4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lineChart>
        <c:grouping val="standard"/>
        <c:varyColors val="0"/>
        <c:ser>
          <c:idx val="0"/>
          <c:order val="0"/>
          <c:tx>
            <c:strRef>
              <c:f>Sheet1!$B$1</c:f>
              <c:strCache>
                <c:ptCount val="1"/>
                <c:pt idx="0">
                  <c:v>Ofertada a desembolsos</c:v>
                </c:pt>
              </c:strCache>
            </c:strRef>
          </c:tx>
          <c:spPr>
            <a:ln w="25400">
              <a:solidFill>
                <a:srgbClr val="8E9B9A"/>
              </a:solidFill>
              <a:prstDash val="dash"/>
            </a:ln>
          </c:spPr>
          <c:marker>
            <c:symbol val="circle"/>
            <c:size val="6"/>
            <c:spPr>
              <a:solidFill>
                <a:srgbClr val="8E9B9A"/>
              </a:solidFill>
              <a:ln>
                <a:solidFill>
                  <a:srgbClr val="8E9B9A"/>
                </a:solidFill>
              </a:ln>
            </c:spPr>
          </c:marker>
          <c:dLbls>
            <c:dLbl>
              <c:idx val="0"/>
              <c:tx>
                <c:rich>
                  <a:bodyPr/>
                  <a:lstStyle/>
                  <a:p>
                    <a:r>
                      <a:rPr lang="en-US" sz="900" b="1">
                        <a:solidFill>
                          <a:srgbClr val="8E9B9A"/>
                        </a:solidFill>
                      </a:rPr>
                      <a:t>19,3</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09F0-4814-A110-FDB9ED39D419}"/>
                </c:ext>
              </c:extLst>
            </c:dLbl>
            <c:dLbl>
              <c:idx val="1"/>
              <c:tx>
                <c:rich>
                  <a:bodyPr/>
                  <a:lstStyle/>
                  <a:p>
                    <a:r>
                      <a:rPr lang="en-US" sz="900" b="1">
                        <a:solidFill>
                          <a:srgbClr val="8E9B9A"/>
                        </a:solidFill>
                      </a:rPr>
                      <a:t>22,0</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09F0-4814-A110-FDB9ED39D419}"/>
                </c:ext>
              </c:extLst>
            </c:dLbl>
            <c:dLbl>
              <c:idx val="2"/>
              <c:tx>
                <c:rich>
                  <a:bodyPr/>
                  <a:lstStyle/>
                  <a:p>
                    <a:r>
                      <a:rPr lang="en-US" sz="900" b="1">
                        <a:solidFill>
                          <a:srgbClr val="8E9B9A"/>
                        </a:solidFill>
                      </a:rPr>
                      <a:t>19,5</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09F0-4814-A110-FDB9ED39D419}"/>
                </c:ext>
              </c:extLst>
            </c:dLbl>
            <c:dLbl>
              <c:idx val="3"/>
              <c:tx>
                <c:rich>
                  <a:bodyPr/>
                  <a:lstStyle/>
                  <a:p>
                    <a:r>
                      <a:rPr lang="en-US" sz="900" b="1">
                        <a:solidFill>
                          <a:srgbClr val="8E9B9A"/>
                        </a:solidFill>
                      </a:rPr>
                      <a:t>19,8</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09F0-4814-A110-FDB9ED39D419}"/>
                </c:ext>
              </c:extLst>
            </c:dLbl>
            <c:dLbl>
              <c:idx val="4"/>
              <c:tx>
                <c:rich>
                  <a:bodyPr/>
                  <a:lstStyle/>
                  <a:p>
                    <a:r>
                      <a:rPr lang="en-US" sz="900" b="1">
                        <a:solidFill>
                          <a:srgbClr val="8E9B9A"/>
                        </a:solidFill>
                      </a:rPr>
                      <a:t>20,8</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09F0-4814-A110-FDB9ED39D419}"/>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Sheet1!$A$2:$A$6</c:f>
              <c:strCache>
                <c:ptCount val="5"/>
                <c:pt idx="0">
                  <c:v>2T25</c:v>
                </c:pt>
                <c:pt idx="1">
                  <c:v>3T25</c:v>
                </c:pt>
                <c:pt idx="2">
                  <c:v>4T25</c:v>
                </c:pt>
                <c:pt idx="3">
                  <c:v>1T26</c:v>
                </c:pt>
                <c:pt idx="4">
                  <c:v>2T26*</c:v>
                </c:pt>
              </c:strCache>
            </c:strRef>
          </c:cat>
          <c:val>
            <c:numRef>
              <c:f>Sheet1!$B$2:$B$6</c:f>
              <c:numCache>
                <c:formatCode>General</c:formatCode>
                <c:ptCount val="5"/>
                <c:pt idx="0">
                  <c:v>19.3</c:v>
                </c:pt>
                <c:pt idx="1">
                  <c:v>22</c:v>
                </c:pt>
                <c:pt idx="2">
                  <c:v>19.5</c:v>
                </c:pt>
                <c:pt idx="3">
                  <c:v>19.8</c:v>
                </c:pt>
                <c:pt idx="4">
                  <c:v>20.8</c:v>
                </c:pt>
              </c:numCache>
            </c:numRef>
          </c:val>
          <c:smooth val="0"/>
          <c:extLst>
            <c:ext xmlns:c16="http://schemas.microsoft.com/office/drawing/2014/chart" uri="{C3380CC4-5D6E-409C-BE32-E72D297353CC}">
              <c16:uniqueId val="{00000005-09F0-4814-A110-FDB9ED39D419}"/>
            </c:ext>
          </c:extLst>
        </c:ser>
        <c:ser>
          <c:idx val="1"/>
          <c:order val="1"/>
          <c:tx>
            <c:strRef>
              <c:f>Sheet1!$C$1</c:f>
              <c:strCache>
                <c:ptCount val="1"/>
                <c:pt idx="0">
                  <c:v>Desembolsada</c:v>
                </c:pt>
              </c:strCache>
            </c:strRef>
          </c:tx>
          <c:spPr>
            <a:ln w="25400">
              <a:solidFill>
                <a:srgbClr val="2F6FDE"/>
              </a:solidFill>
            </a:ln>
          </c:spPr>
          <c:marker>
            <c:symbol val="circle"/>
            <c:size val="6"/>
            <c:spPr>
              <a:solidFill>
                <a:srgbClr val="2F6FDE"/>
              </a:solidFill>
              <a:ln>
                <a:solidFill>
                  <a:srgbClr val="2F6FDE"/>
                </a:solidFill>
              </a:ln>
            </c:spPr>
          </c:marker>
          <c:dLbls>
            <c:dLbl>
              <c:idx val="0"/>
              <c:tx>
                <c:rich>
                  <a:bodyPr/>
                  <a:lstStyle/>
                  <a:p>
                    <a:r>
                      <a:rPr lang="en-US" sz="900" b="1">
                        <a:solidFill>
                          <a:srgbClr val="2F6FDE"/>
                        </a:solidFill>
                      </a:rPr>
                      <a:t>18,2</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09F0-4814-A110-FDB9ED39D419}"/>
                </c:ext>
              </c:extLst>
            </c:dLbl>
            <c:dLbl>
              <c:idx val="1"/>
              <c:tx>
                <c:rich>
                  <a:bodyPr/>
                  <a:lstStyle/>
                  <a:p>
                    <a:r>
                      <a:rPr lang="en-US" sz="900" b="1">
                        <a:solidFill>
                          <a:srgbClr val="2F6FDE"/>
                        </a:solidFill>
                      </a:rPr>
                      <a:t>18,0</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09F0-4814-A110-FDB9ED39D419}"/>
                </c:ext>
              </c:extLst>
            </c:dLbl>
            <c:dLbl>
              <c:idx val="2"/>
              <c:tx>
                <c:rich>
                  <a:bodyPr/>
                  <a:lstStyle/>
                  <a:p>
                    <a:r>
                      <a:rPr lang="en-US" sz="900" b="1">
                        <a:solidFill>
                          <a:srgbClr val="2F6FDE"/>
                        </a:solidFill>
                      </a:rPr>
                      <a:t>17,4</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8-09F0-4814-A110-FDB9ED39D419}"/>
                </c:ext>
              </c:extLst>
            </c:dLbl>
            <c:dLbl>
              <c:idx val="3"/>
              <c:tx>
                <c:rich>
                  <a:bodyPr/>
                  <a:lstStyle/>
                  <a:p>
                    <a:r>
                      <a:rPr lang="en-US" sz="900" b="1">
                        <a:solidFill>
                          <a:srgbClr val="2F6FDE"/>
                        </a:solidFill>
                      </a:rPr>
                      <a:t>17,1</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9-09F0-4814-A110-FDB9ED39D419}"/>
                </c:ext>
              </c:extLst>
            </c:dLbl>
            <c:dLbl>
              <c:idx val="4"/>
              <c:tx>
                <c:rich>
                  <a:bodyPr/>
                  <a:lstStyle/>
                  <a:p>
                    <a:r>
                      <a:rPr lang="en-US" sz="900" b="1">
                        <a:solidFill>
                          <a:srgbClr val="2F6FDE"/>
                        </a:solidFill>
                      </a:rPr>
                      <a:t>18,4</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A-09F0-4814-A110-FDB9ED39D419}"/>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Sheet1!$A$2:$A$6</c:f>
              <c:strCache>
                <c:ptCount val="5"/>
                <c:pt idx="0">
                  <c:v>2T25</c:v>
                </c:pt>
                <c:pt idx="1">
                  <c:v>3T25</c:v>
                </c:pt>
                <c:pt idx="2">
                  <c:v>4T25</c:v>
                </c:pt>
                <c:pt idx="3">
                  <c:v>1T26</c:v>
                </c:pt>
                <c:pt idx="4">
                  <c:v>2T26*</c:v>
                </c:pt>
              </c:strCache>
            </c:strRef>
          </c:cat>
          <c:val>
            <c:numRef>
              <c:f>Sheet1!$C$2:$C$6</c:f>
              <c:numCache>
                <c:formatCode>General</c:formatCode>
                <c:ptCount val="5"/>
                <c:pt idx="0">
                  <c:v>18.173076923076923</c:v>
                </c:pt>
                <c:pt idx="1">
                  <c:v>17.982142857142858</c:v>
                </c:pt>
                <c:pt idx="2">
                  <c:v>17.405882352941177</c:v>
                </c:pt>
                <c:pt idx="3">
                  <c:v>17.114530478869312</c:v>
                </c:pt>
                <c:pt idx="4">
                  <c:v>18.353846153846153</c:v>
                </c:pt>
              </c:numCache>
            </c:numRef>
          </c:val>
          <c:smooth val="0"/>
          <c:extLst>
            <c:ext xmlns:c16="http://schemas.microsoft.com/office/drawing/2014/chart" uri="{C3380CC4-5D6E-409C-BE32-E72D297353CC}">
              <c16:uniqueId val="{0000000B-09F0-4814-A110-FDB9ED39D419}"/>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low"/>
        <c:spPr>
          <a:ln>
            <a:solidFill>
              <a:srgbClr val="B8C2C1"/>
            </a:solidFill>
          </a:ln>
        </c:spPr>
        <c:txPr>
          <a:bodyPr/>
          <a:lstStyle/>
          <a:p>
            <a:pPr>
              <a:defRPr sz="750">
                <a:solidFill>
                  <a:srgbClr val="2F3B3A"/>
                </a:solidFill>
              </a:defRPr>
            </a:pPr>
            <a:endParaRPr lang="es-PE"/>
          </a:p>
        </c:txPr>
        <c:crossAx val="2140495176"/>
        <c:crosses val="autoZero"/>
        <c:auto val="1"/>
        <c:lblAlgn val="ctr"/>
        <c:lblOffset val="100"/>
        <c:noMultiLvlLbl val="0"/>
      </c:catAx>
      <c:valAx>
        <c:axId val="2140495176"/>
        <c:scaling>
          <c:orientation val="minMax"/>
          <c:max val="25"/>
          <c:min val="14"/>
        </c:scaling>
        <c:delete val="1"/>
        <c:axPos val="l"/>
        <c:numFmt formatCode="0.0" sourceLinked="0"/>
        <c:majorTickMark val="out"/>
        <c:minorTickMark val="none"/>
        <c:tickLblPos val="nextTo"/>
        <c:crossAx val="2118791784"/>
        <c:crosses val="autoZero"/>
        <c:crossBetween val="between"/>
      </c:valAx>
    </c:plotArea>
    <c:legend>
      <c:legendPos val="t"/>
      <c:overlay val="0"/>
      <c:txPr>
        <a:bodyPr/>
        <a:lstStyle/>
        <a:p>
          <a:pPr>
            <a:defRPr sz="750"/>
          </a:pPr>
          <a:endParaRPr lang="es-PE"/>
        </a:p>
      </c:txPr>
    </c:legend>
    <c:plotVisOnly val="1"/>
    <c:dispBlanksAs val="gap"/>
    <c:showDLblsOverMax val="0"/>
  </c:chart>
  <c:txPr>
    <a:bodyPr/>
    <a:lstStyle/>
    <a:p>
      <a:pPr>
        <a:defRPr sz="1800"/>
      </a:pPr>
      <a:endParaRPr lang="en-US"/>
    </a:p>
  </c:txPr>
  <c:externalData r:id="rId1">
    <c:autoUpdate val="0"/>
  </c:externalData>
</c:chartSpace>
</file>

<file path=ppt/charts/chart4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0"/>
    <c:plotArea>
      <c:layout>
        <c:manualLayout>
          <c:layoutTarget val="inner"/>
          <c:xMode val="edge"/>
          <c:yMode val="edge"/>
          <c:x val="0.02"/>
          <c:y val="0.17"/>
          <c:w val="0.96"/>
          <c:h val="0.7"/>
        </c:manualLayout>
      </c:layout>
      <c:barChart>
        <c:barDir val="col"/>
        <c:grouping val="clustered"/>
        <c:varyColors val="1"/>
        <c:ser>
          <c:idx val="0"/>
          <c:order val="0"/>
          <c:tx>
            <c:strRef>
              <c:f>Sheet1!$B$1</c:f>
              <c:strCache>
                <c:ptCount val="1"/>
                <c:pt idx="0">
                  <c:v>Ofertada a desembolsos</c:v>
                </c:pt>
              </c:strCache>
            </c:strRef>
          </c:tx>
          <c:spPr>
            <a:solidFill>
              <a:srgbClr val="8E9B9A"/>
            </a:solidFill>
          </c:spPr>
          <c:invertIfNegative val="1"/>
          <c:dLbls>
            <c:dLbl>
              <c:idx val="0"/>
              <c:tx>
                <c:rich>
                  <a:bodyPr/>
                  <a:lstStyle/>
                  <a:p>
                    <a:r>
                      <a:rPr lang="en-US" sz="850" b="1">
                        <a:solidFill>
                          <a:srgbClr val="6E7E7D"/>
                        </a:solidFill>
                      </a:rPr>
                      <a:t>27,4</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8838-420F-A3E6-97D3A8204E04}"/>
                </c:ext>
              </c:extLst>
            </c:dLbl>
            <c:dLbl>
              <c:idx val="1"/>
              <c:tx>
                <c:rich>
                  <a:bodyPr/>
                  <a:lstStyle/>
                  <a:p>
                    <a:r>
                      <a:rPr lang="en-US" sz="850" b="1">
                        <a:solidFill>
                          <a:srgbClr val="6E7E7D"/>
                        </a:solidFill>
                      </a:rPr>
                      <a:t>20,7</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8838-420F-A3E6-97D3A8204E04}"/>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Sheet1!$A$2:$A$3</c:f>
              <c:strCache>
                <c:ptCount val="2"/>
                <c:pt idx="0">
                  <c:v>≤ 170K</c:v>
                </c:pt>
                <c:pt idx="1">
                  <c:v>&gt; 250K</c:v>
                </c:pt>
              </c:strCache>
            </c:strRef>
          </c:cat>
          <c:val>
            <c:numRef>
              <c:f>Sheet1!$B$2:$B$3</c:f>
              <c:numCache>
                <c:formatCode>General</c:formatCode>
                <c:ptCount val="2"/>
                <c:pt idx="0">
                  <c:v>27.4</c:v>
                </c:pt>
                <c:pt idx="1">
                  <c:v>20.7</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8838-420F-A3E6-97D3A8204E04}"/>
            </c:ext>
          </c:extLst>
        </c:ser>
        <c:ser>
          <c:idx val="1"/>
          <c:order val="1"/>
          <c:tx>
            <c:strRef>
              <c:f>Sheet1!$C$1</c:f>
              <c:strCache>
                <c:ptCount val="1"/>
                <c:pt idx="0">
                  <c:v>Desembolsada</c:v>
                </c:pt>
              </c:strCache>
            </c:strRef>
          </c:tx>
          <c:spPr>
            <a:solidFill>
              <a:srgbClr val="2F6FDE"/>
            </a:solidFill>
          </c:spPr>
          <c:invertIfNegative val="1"/>
          <c:dLbls>
            <c:dLbl>
              <c:idx val="0"/>
              <c:tx>
                <c:rich>
                  <a:bodyPr/>
                  <a:lstStyle/>
                  <a:p>
                    <a:r>
                      <a:rPr lang="en-US" sz="850" b="1">
                        <a:solidFill>
                          <a:srgbClr val="2F6FDE"/>
                        </a:solidFill>
                      </a:rPr>
                      <a:t>20,0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8838-420F-A3E6-97D3A8204E04}"/>
                </c:ext>
              </c:extLst>
            </c:dLbl>
            <c:dLbl>
              <c:idx val="1"/>
              <c:tx>
                <c:rich>
                  <a:bodyPr/>
                  <a:lstStyle/>
                  <a:p>
                    <a:r>
                      <a:rPr lang="en-US" sz="850" b="1">
                        <a:solidFill>
                          <a:srgbClr val="2F6FDE"/>
                        </a:solidFill>
                      </a:rPr>
                      <a:t>17,5</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8838-420F-A3E6-97D3A8204E04}"/>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Sheet1!$A$2:$A$3</c:f>
              <c:strCache>
                <c:ptCount val="2"/>
                <c:pt idx="0">
                  <c:v>≤ 170K</c:v>
                </c:pt>
                <c:pt idx="1">
                  <c:v>&gt; 250K</c:v>
                </c:pt>
              </c:strCache>
            </c:strRef>
          </c:cat>
          <c:val>
            <c:numRef>
              <c:f>Sheet1!$C$2:$C$3</c:f>
              <c:numCache>
                <c:formatCode>General</c:formatCode>
                <c:ptCount val="2"/>
                <c:pt idx="0">
                  <c:v>20</c:v>
                </c:pt>
                <c:pt idx="1">
                  <c:v>17.5</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5-8838-420F-A3E6-97D3A8204E04}"/>
            </c:ext>
          </c:extLst>
        </c:ser>
        <c:ser>
          <c:idx val="2"/>
          <c:order val="2"/>
          <c:tx>
            <c:strRef>
              <c:f>Sheet1!$D$1</c:f>
              <c:strCache>
                <c:ptCount val="1"/>
                <c:pt idx="0">
                  <c:v>Competencia</c:v>
                </c:pt>
              </c:strCache>
            </c:strRef>
          </c:tx>
          <c:spPr>
            <a:solidFill>
              <a:srgbClr val="F28C28"/>
            </a:solidFill>
          </c:spPr>
          <c:invertIfNegative val="1"/>
          <c:cat>
            <c:strRef>
              <c:f>Sheet1!$A$2:$A$3</c:f>
              <c:strCache>
                <c:ptCount val="2"/>
                <c:pt idx="0">
                  <c:v>≤ 170K</c:v>
                </c:pt>
                <c:pt idx="1">
                  <c:v>&gt; 250K</c:v>
                </c:pt>
              </c:strCache>
            </c:strRef>
          </c:cat>
          <c:val>
            <c:numRef>
              <c:f>Sheet1!$D$2:$D$3</c:f>
              <c:numCache>
                <c:formatCode>General</c:formatCode>
                <c:ptCount val="2"/>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6-8838-420F-A3E6-97D3A8204E04}"/>
            </c:ext>
          </c:extLst>
        </c:ser>
        <c:dLbls>
          <c:showLegendKey val="0"/>
          <c:showVal val="0"/>
          <c:showCatName val="0"/>
          <c:showSerName val="0"/>
          <c:showPercent val="0"/>
          <c:showBubbleSize val="0"/>
        </c:dLbls>
        <c:gapWidth val="60"/>
        <c:axId val="-2068027336"/>
        <c:axId val="-2113994440"/>
      </c:barChart>
      <c:catAx>
        <c:axId val="-2068027336"/>
        <c:scaling>
          <c:orientation val="minMax"/>
        </c:scaling>
        <c:delete val="0"/>
        <c:axPos val="b"/>
        <c:numFmt formatCode="General" sourceLinked="0"/>
        <c:majorTickMark val="out"/>
        <c:minorTickMark val="none"/>
        <c:tickLblPos val="none"/>
        <c:spPr>
          <a:ln>
            <a:solidFill>
              <a:srgbClr val="B8C2C1"/>
            </a:solidFill>
          </a:ln>
        </c:spPr>
        <c:txPr>
          <a:bodyPr/>
          <a:lstStyle/>
          <a:p>
            <a:pPr>
              <a:defRPr sz="100"/>
            </a:pPr>
            <a:endParaRPr lang="es-PE"/>
          </a:p>
        </c:txPr>
        <c:crossAx val="-2113994440"/>
        <c:crosses val="autoZero"/>
        <c:auto val="1"/>
        <c:lblAlgn val="ctr"/>
        <c:lblOffset val="100"/>
        <c:noMultiLvlLbl val="0"/>
      </c:catAx>
      <c:valAx>
        <c:axId val="-2113994440"/>
        <c:scaling>
          <c:orientation val="minMax"/>
          <c:max val="29.9"/>
          <c:min val="15.5"/>
        </c:scaling>
        <c:delete val="1"/>
        <c:axPos val="l"/>
        <c:numFmt formatCode="General" sourceLinked="1"/>
        <c:majorTickMark val="out"/>
        <c:minorTickMark val="none"/>
        <c:tickLblPos val="nextTo"/>
        <c:crossAx val="-2068027336"/>
        <c:crosses val="autoZero"/>
        <c:crossBetween val="between"/>
      </c:valAx>
    </c:plotArea>
    <c:legend>
      <c:legendPos val="t"/>
      <c:overlay val="0"/>
      <c:txPr>
        <a:bodyPr/>
        <a:lstStyle/>
        <a:p>
          <a:pPr>
            <a:defRPr sz="800"/>
          </a:pPr>
          <a:endParaRPr lang="es-PE"/>
        </a:p>
      </c:txPr>
    </c:legend>
    <c:plotVisOnly val="1"/>
    <c:dispBlanksAs val="gap"/>
    <c:showDLblsOverMax val="1"/>
  </c:chart>
  <c:txPr>
    <a:bodyPr/>
    <a:lstStyle/>
    <a:p>
      <a:pPr>
        <a:defRPr sz="1800"/>
      </a:pPr>
      <a:endParaRPr lang="en-US"/>
    </a:p>
  </c:txPr>
  <c:externalData r:id="rId1">
    <c:autoUpdate val="0"/>
  </c:externalData>
</c:chartSpace>
</file>

<file path=ppt/charts/chart4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0"/>
    <c:plotArea>
      <c:layout>
        <c:manualLayout>
          <c:layoutTarget val="inner"/>
          <c:xMode val="edge"/>
          <c:yMode val="edge"/>
          <c:x val="0.02"/>
          <c:y val="0.06"/>
          <c:w val="0.96"/>
          <c:h val="0.8"/>
        </c:manualLayout>
      </c:layout>
      <c:barChart>
        <c:barDir val="col"/>
        <c:grouping val="clustered"/>
        <c:varyColors val="1"/>
        <c:ser>
          <c:idx val="0"/>
          <c:order val="0"/>
          <c:tx>
            <c:strRef>
              <c:f>Sheet1!$B$1</c:f>
              <c:strCache>
                <c:ptCount val="1"/>
                <c:pt idx="0">
                  <c:v>Ofertada a desembolsos</c:v>
                </c:pt>
              </c:strCache>
            </c:strRef>
          </c:tx>
          <c:spPr>
            <a:solidFill>
              <a:srgbClr val="8E9B9A"/>
            </a:solidFill>
          </c:spPr>
          <c:invertIfNegative val="1"/>
          <c:dLbls>
            <c:dLbl>
              <c:idx val="0"/>
              <c:tx>
                <c:rich>
                  <a:bodyPr/>
                  <a:lstStyle/>
                  <a:p>
                    <a:r>
                      <a:rPr lang="en-US" sz="850" b="1">
                        <a:solidFill>
                          <a:srgbClr val="6E7E7D"/>
                        </a:solidFill>
                      </a:rPr>
                      <a:t>22,1</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E612-4CBB-9C21-107EE282954D}"/>
                </c:ext>
              </c:extLst>
            </c:dLbl>
            <c:dLbl>
              <c:idx val="1"/>
              <c:tx>
                <c:rich>
                  <a:bodyPr/>
                  <a:lstStyle/>
                  <a:p>
                    <a:r>
                      <a:rPr lang="en-US" sz="850" b="1">
                        <a:solidFill>
                          <a:srgbClr val="6E7E7D"/>
                        </a:solidFill>
                      </a:rPr>
                      <a:t>20,4</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E612-4CBB-9C21-107EE282954D}"/>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Sheet1!$A$2:$A$3</c:f>
              <c:strCache>
                <c:ptCount val="2"/>
                <c:pt idx="0">
                  <c:v>≤ 170K</c:v>
                </c:pt>
                <c:pt idx="1">
                  <c:v>&gt; 250K</c:v>
                </c:pt>
              </c:strCache>
            </c:strRef>
          </c:cat>
          <c:val>
            <c:numRef>
              <c:f>Sheet1!$B$2:$B$3</c:f>
              <c:numCache>
                <c:formatCode>General</c:formatCode>
                <c:ptCount val="2"/>
                <c:pt idx="0">
                  <c:v>22.1</c:v>
                </c:pt>
                <c:pt idx="1">
                  <c:v>20.399999999999999</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E612-4CBB-9C21-107EE282954D}"/>
            </c:ext>
          </c:extLst>
        </c:ser>
        <c:ser>
          <c:idx val="1"/>
          <c:order val="1"/>
          <c:tx>
            <c:strRef>
              <c:f>Sheet1!$C$1</c:f>
              <c:strCache>
                <c:ptCount val="1"/>
                <c:pt idx="0">
                  <c:v>Desembolsada</c:v>
                </c:pt>
              </c:strCache>
            </c:strRef>
          </c:tx>
          <c:spPr>
            <a:solidFill>
              <a:srgbClr val="2F6FDE"/>
            </a:solidFill>
          </c:spPr>
          <c:invertIfNegative val="1"/>
          <c:dLbls>
            <c:dLbl>
              <c:idx val="0"/>
              <c:tx>
                <c:rich>
                  <a:bodyPr/>
                  <a:lstStyle/>
                  <a:p>
                    <a:r>
                      <a:rPr lang="en-US" sz="850" b="1">
                        <a:solidFill>
                          <a:srgbClr val="2F6FDE"/>
                        </a:solidFill>
                      </a:rPr>
                      <a:t>19,0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E612-4CBB-9C21-107EE282954D}"/>
                </c:ext>
              </c:extLst>
            </c:dLbl>
            <c:dLbl>
              <c:idx val="1"/>
              <c:tx>
                <c:rich>
                  <a:bodyPr/>
                  <a:lstStyle/>
                  <a:p>
                    <a:r>
                      <a:rPr lang="en-US" sz="850" b="1">
                        <a:solidFill>
                          <a:srgbClr val="2F6FDE"/>
                        </a:solidFill>
                      </a:rPr>
                      <a:t>17,0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E612-4CBB-9C21-107EE282954D}"/>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Sheet1!$A$2:$A$3</c:f>
              <c:strCache>
                <c:ptCount val="2"/>
                <c:pt idx="0">
                  <c:v>≤ 170K</c:v>
                </c:pt>
                <c:pt idx="1">
                  <c:v>&gt; 250K</c:v>
                </c:pt>
              </c:strCache>
            </c:strRef>
          </c:cat>
          <c:val>
            <c:numRef>
              <c:f>Sheet1!$C$2:$C$3</c:f>
              <c:numCache>
                <c:formatCode>General</c:formatCode>
                <c:ptCount val="2"/>
                <c:pt idx="0">
                  <c:v>19</c:v>
                </c:pt>
                <c:pt idx="1">
                  <c:v>17</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5-E612-4CBB-9C21-107EE282954D}"/>
            </c:ext>
          </c:extLst>
        </c:ser>
        <c:ser>
          <c:idx val="2"/>
          <c:order val="2"/>
          <c:tx>
            <c:strRef>
              <c:f>Sheet1!$D$1</c:f>
              <c:strCache>
                <c:ptCount val="1"/>
                <c:pt idx="0">
                  <c:v>Competencia</c:v>
                </c:pt>
              </c:strCache>
            </c:strRef>
          </c:tx>
          <c:spPr>
            <a:solidFill>
              <a:srgbClr val="F28C28"/>
            </a:solidFill>
          </c:spPr>
          <c:invertIfNegative val="1"/>
          <c:cat>
            <c:strRef>
              <c:f>Sheet1!$A$2:$A$3</c:f>
              <c:strCache>
                <c:ptCount val="2"/>
                <c:pt idx="0">
                  <c:v>≤ 170K</c:v>
                </c:pt>
                <c:pt idx="1">
                  <c:v>&gt; 250K</c:v>
                </c:pt>
              </c:strCache>
            </c:strRef>
          </c:cat>
          <c:val>
            <c:numRef>
              <c:f>Sheet1!$D$2:$D$3</c:f>
              <c:numCache>
                <c:formatCode>General</c:formatCode>
                <c:ptCount val="2"/>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6-E612-4CBB-9C21-107EE282954D}"/>
            </c:ext>
          </c:extLst>
        </c:ser>
        <c:dLbls>
          <c:showLegendKey val="0"/>
          <c:showVal val="0"/>
          <c:showCatName val="0"/>
          <c:showSerName val="0"/>
          <c:showPercent val="0"/>
          <c:showBubbleSize val="0"/>
        </c:dLbls>
        <c:gapWidth val="60"/>
        <c:axId val="-2068027336"/>
        <c:axId val="-2113994440"/>
      </c:barChart>
      <c:catAx>
        <c:axId val="-2068027336"/>
        <c:scaling>
          <c:orientation val="minMax"/>
        </c:scaling>
        <c:delete val="0"/>
        <c:axPos val="b"/>
        <c:numFmt formatCode="General" sourceLinked="0"/>
        <c:majorTickMark val="out"/>
        <c:minorTickMark val="none"/>
        <c:tickLblPos val="none"/>
        <c:spPr>
          <a:ln>
            <a:solidFill>
              <a:srgbClr val="B8C2C1"/>
            </a:solidFill>
          </a:ln>
        </c:spPr>
        <c:txPr>
          <a:bodyPr/>
          <a:lstStyle/>
          <a:p>
            <a:pPr>
              <a:defRPr sz="100"/>
            </a:pPr>
            <a:endParaRPr lang="es-PE"/>
          </a:p>
        </c:txPr>
        <c:crossAx val="-2113994440"/>
        <c:crosses val="autoZero"/>
        <c:auto val="1"/>
        <c:lblAlgn val="ctr"/>
        <c:lblOffset val="100"/>
        <c:noMultiLvlLbl val="0"/>
      </c:catAx>
      <c:valAx>
        <c:axId val="-2113994440"/>
        <c:scaling>
          <c:orientation val="minMax"/>
          <c:max val="23.6"/>
          <c:min val="15"/>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4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lineChart>
        <c:grouping val="standard"/>
        <c:varyColors val="0"/>
        <c:ser>
          <c:idx val="0"/>
          <c:order val="0"/>
          <c:tx>
            <c:strRef>
              <c:f>Sheet1!$B$1</c:f>
              <c:strCache>
                <c:ptCount val="1"/>
                <c:pt idx="0">
                  <c:v>Hasta S/ 170K</c:v>
                </c:pt>
              </c:strCache>
            </c:strRef>
          </c:tx>
          <c:spPr>
            <a:ln w="25400">
              <a:solidFill>
                <a:srgbClr val="13807B"/>
              </a:solidFill>
            </a:ln>
          </c:spPr>
          <c:marker>
            <c:symbol val="circle"/>
            <c:size val="6"/>
            <c:spPr>
              <a:solidFill>
                <a:srgbClr val="13807B"/>
              </a:solidFill>
              <a:ln>
                <a:solidFill>
                  <a:srgbClr val="13807B"/>
                </a:solidFill>
              </a:ln>
            </c:spPr>
          </c:marker>
          <c:dLbls>
            <c:dLbl>
              <c:idx val="0"/>
              <c:tx>
                <c:rich>
                  <a:bodyPr/>
                  <a:lstStyle/>
                  <a:p>
                    <a:r>
                      <a:rPr lang="en-US" sz="850" b="1">
                        <a:solidFill>
                          <a:srgbClr val="13807B"/>
                        </a:solidFill>
                      </a:rPr>
                      <a:t>70</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72C8-42EF-A33E-21064D4A8E3B}"/>
                </c:ext>
              </c:extLst>
            </c:dLbl>
            <c:dLbl>
              <c:idx val="1"/>
              <c:tx>
                <c:rich>
                  <a:bodyPr/>
                  <a:lstStyle/>
                  <a:p>
                    <a:r>
                      <a:rPr lang="en-US" sz="850" b="1">
                        <a:solidFill>
                          <a:srgbClr val="13807B"/>
                        </a:solidFill>
                      </a:rPr>
                      <a:t>56</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72C8-42EF-A33E-21064D4A8E3B}"/>
                </c:ext>
              </c:extLst>
            </c:dLbl>
            <c:dLbl>
              <c:idx val="2"/>
              <c:tx>
                <c:rich>
                  <a:bodyPr/>
                  <a:lstStyle/>
                  <a:p>
                    <a:r>
                      <a:rPr lang="en-US" sz="850" b="1">
                        <a:solidFill>
                          <a:srgbClr val="13807B"/>
                        </a:solidFill>
                      </a:rPr>
                      <a:t>24</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72C8-42EF-A33E-21064D4A8E3B}"/>
                </c:ext>
              </c:extLst>
            </c:dLbl>
            <c:dLbl>
              <c:idx val="3"/>
              <c:tx>
                <c:rich>
                  <a:bodyPr/>
                  <a:lstStyle/>
                  <a:p>
                    <a:r>
                      <a:rPr lang="en-US" sz="850" b="1">
                        <a:solidFill>
                          <a:srgbClr val="13807B"/>
                        </a:solidFill>
                      </a:rPr>
                      <a:t>51</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72C8-42EF-A33E-21064D4A8E3B}"/>
                </c:ext>
              </c:extLst>
            </c:dLbl>
            <c:dLbl>
              <c:idx val="4"/>
              <c:tx>
                <c:rich>
                  <a:bodyPr/>
                  <a:lstStyle/>
                  <a:p>
                    <a:r>
                      <a:rPr lang="en-US" sz="850" b="1">
                        <a:solidFill>
                          <a:srgbClr val="13807B"/>
                        </a:solidFill>
                      </a:rPr>
                      <a:t>84</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72C8-42EF-A33E-21064D4A8E3B}"/>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Sheet1!$A$2:$A$6</c:f>
              <c:strCache>
                <c:ptCount val="5"/>
                <c:pt idx="0">
                  <c:v>2T25</c:v>
                </c:pt>
                <c:pt idx="1">
                  <c:v>3T25</c:v>
                </c:pt>
                <c:pt idx="2">
                  <c:v>4T25</c:v>
                </c:pt>
                <c:pt idx="3">
                  <c:v>1T26</c:v>
                </c:pt>
                <c:pt idx="4">
                  <c:v>2T26*</c:v>
                </c:pt>
              </c:strCache>
            </c:strRef>
          </c:cat>
          <c:val>
            <c:numRef>
              <c:f>Sheet1!$B$2:$B$6</c:f>
              <c:numCache>
                <c:formatCode>General</c:formatCode>
                <c:ptCount val="5"/>
                <c:pt idx="0">
                  <c:v>69.740124698130472</c:v>
                </c:pt>
                <c:pt idx="1">
                  <c:v>55.567632753894735</c:v>
                </c:pt>
                <c:pt idx="2">
                  <c:v>24.342375245779291</c:v>
                </c:pt>
                <c:pt idx="3">
                  <c:v>50.989492126456085</c:v>
                </c:pt>
                <c:pt idx="4">
                  <c:v>84.135894692059651</c:v>
                </c:pt>
              </c:numCache>
            </c:numRef>
          </c:val>
          <c:smooth val="0"/>
          <c:extLst>
            <c:ext xmlns:c16="http://schemas.microsoft.com/office/drawing/2014/chart" uri="{C3380CC4-5D6E-409C-BE32-E72D297353CC}">
              <c16:uniqueId val="{00000005-72C8-42EF-A33E-21064D4A8E3B}"/>
            </c:ext>
          </c:extLst>
        </c:ser>
        <c:ser>
          <c:idx val="1"/>
          <c:order val="1"/>
          <c:tx>
            <c:strRef>
              <c:f>Sheet1!$C$1</c:f>
              <c:strCache>
                <c:ptCount val="1"/>
                <c:pt idx="0">
                  <c:v>Más de S/ 250K</c:v>
                </c:pt>
              </c:strCache>
            </c:strRef>
          </c:tx>
          <c:spPr>
            <a:ln w="25400">
              <a:solidFill>
                <a:srgbClr val="E5173F"/>
              </a:solidFill>
            </a:ln>
          </c:spPr>
          <c:marker>
            <c:symbol val="circle"/>
            <c:size val="6"/>
            <c:spPr>
              <a:solidFill>
                <a:srgbClr val="E5173F"/>
              </a:solidFill>
              <a:ln>
                <a:solidFill>
                  <a:srgbClr val="E5173F"/>
                </a:solidFill>
              </a:ln>
            </c:spPr>
          </c:marker>
          <c:dLbls>
            <c:dLbl>
              <c:idx val="0"/>
              <c:tx>
                <c:rich>
                  <a:bodyPr/>
                  <a:lstStyle/>
                  <a:p>
                    <a:r>
                      <a:rPr lang="en-US" sz="850" b="1">
                        <a:solidFill>
                          <a:srgbClr val="E5173F"/>
                        </a:solidFill>
                      </a:rPr>
                      <a:t>28</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72C8-42EF-A33E-21064D4A8E3B}"/>
                </c:ext>
              </c:extLst>
            </c:dLbl>
            <c:dLbl>
              <c:idx val="1"/>
              <c:tx>
                <c:rich>
                  <a:bodyPr/>
                  <a:lstStyle/>
                  <a:p>
                    <a:r>
                      <a:rPr lang="en-US" sz="850" b="1">
                        <a:solidFill>
                          <a:srgbClr val="E5173F"/>
                        </a:solidFill>
                      </a:rPr>
                      <a:t>18</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72C8-42EF-A33E-21064D4A8E3B}"/>
                </c:ext>
              </c:extLst>
            </c:dLbl>
            <c:dLbl>
              <c:idx val="2"/>
              <c:tx>
                <c:rich>
                  <a:bodyPr/>
                  <a:lstStyle/>
                  <a:p>
                    <a:r>
                      <a:rPr lang="en-US" sz="850" b="1">
                        <a:solidFill>
                          <a:srgbClr val="E5173F"/>
                        </a:solidFill>
                      </a:rPr>
                      <a:t>22</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8-72C8-42EF-A33E-21064D4A8E3B}"/>
                </c:ext>
              </c:extLst>
            </c:dLbl>
            <c:dLbl>
              <c:idx val="3"/>
              <c:tx>
                <c:rich>
                  <a:bodyPr/>
                  <a:lstStyle/>
                  <a:p>
                    <a:r>
                      <a:rPr lang="en-US" sz="850" b="1">
                        <a:solidFill>
                          <a:srgbClr val="E5173F"/>
                        </a:solidFill>
                      </a:rPr>
                      <a:t>34</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9-72C8-42EF-A33E-21064D4A8E3B}"/>
                </c:ext>
              </c:extLst>
            </c:dLbl>
            <c:dLbl>
              <c:idx val="4"/>
              <c:tx>
                <c:rich>
                  <a:bodyPr/>
                  <a:lstStyle/>
                  <a:p>
                    <a:r>
                      <a:rPr lang="en-US" sz="850" b="1">
                        <a:solidFill>
                          <a:srgbClr val="E5173F"/>
                        </a:solidFill>
                      </a:rPr>
                      <a:t>32</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A-72C8-42EF-A33E-21064D4A8E3B}"/>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Sheet1!$A$2:$A$6</c:f>
              <c:strCache>
                <c:ptCount val="5"/>
                <c:pt idx="0">
                  <c:v>2T25</c:v>
                </c:pt>
                <c:pt idx="1">
                  <c:v>3T25</c:v>
                </c:pt>
                <c:pt idx="2">
                  <c:v>4T25</c:v>
                </c:pt>
                <c:pt idx="3">
                  <c:v>1T26</c:v>
                </c:pt>
                <c:pt idx="4">
                  <c:v>2T26*</c:v>
                </c:pt>
              </c:strCache>
            </c:strRef>
          </c:cat>
          <c:val>
            <c:numRef>
              <c:f>Sheet1!$C$2:$C$6</c:f>
              <c:numCache>
                <c:formatCode>General</c:formatCode>
                <c:ptCount val="5"/>
                <c:pt idx="0">
                  <c:v>27.68977922460628</c:v>
                </c:pt>
                <c:pt idx="1">
                  <c:v>17.630611452744706</c:v>
                </c:pt>
                <c:pt idx="2">
                  <c:v>22.429260315445212</c:v>
                </c:pt>
                <c:pt idx="3">
                  <c:v>34.143241055595432</c:v>
                </c:pt>
                <c:pt idx="4">
                  <c:v>31.508793101377499</c:v>
                </c:pt>
              </c:numCache>
            </c:numRef>
          </c:val>
          <c:smooth val="0"/>
          <c:extLst>
            <c:ext xmlns:c16="http://schemas.microsoft.com/office/drawing/2014/chart" uri="{C3380CC4-5D6E-409C-BE32-E72D297353CC}">
              <c16:uniqueId val="{0000000B-72C8-42EF-A33E-21064D4A8E3B}"/>
            </c:ext>
          </c:extLst>
        </c:ser>
        <c:ser>
          <c:idx val="2"/>
          <c:order val="2"/>
          <c:tx>
            <c:strRef>
              <c:f>Sheet1!$D$1</c:f>
              <c:strCache>
                <c:ptCount val="1"/>
                <c:pt idx="0">
                  <c:v>Total</c:v>
                </c:pt>
              </c:strCache>
            </c:strRef>
          </c:tx>
          <c:spPr>
            <a:ln w="25400">
              <a:solidFill>
                <a:srgbClr val="555555"/>
              </a:solidFill>
              <a:prstDash val="dash"/>
            </a:ln>
          </c:spPr>
          <c:marker>
            <c:symbol val="triangle"/>
            <c:size val="6"/>
            <c:spPr>
              <a:solidFill>
                <a:srgbClr val="555555"/>
              </a:solidFill>
              <a:ln>
                <a:solidFill>
                  <a:srgbClr val="555555"/>
                </a:solidFill>
              </a:ln>
            </c:spPr>
          </c:marker>
          <c:dLbls>
            <c:dLbl>
              <c:idx val="0"/>
              <c:tx>
                <c:rich>
                  <a:bodyPr/>
                  <a:lstStyle/>
                  <a:p>
                    <a:r>
                      <a:rPr lang="en-US" sz="850" b="1">
                        <a:solidFill>
                          <a:srgbClr val="555555"/>
                        </a:solidFill>
                      </a:rPr>
                      <a:t>55</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C-72C8-42EF-A33E-21064D4A8E3B}"/>
                </c:ext>
              </c:extLst>
            </c:dLbl>
            <c:dLbl>
              <c:idx val="1"/>
              <c:tx>
                <c:rich>
                  <a:bodyPr/>
                  <a:lstStyle/>
                  <a:p>
                    <a:r>
                      <a:rPr lang="en-US" sz="850" b="1">
                        <a:solidFill>
                          <a:srgbClr val="555555"/>
                        </a:solidFill>
                      </a:rPr>
                      <a:t>35</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D-72C8-42EF-A33E-21064D4A8E3B}"/>
                </c:ext>
              </c:extLst>
            </c:dLbl>
            <c:dLbl>
              <c:idx val="2"/>
              <c:tx>
                <c:rich>
                  <a:bodyPr/>
                  <a:lstStyle/>
                  <a:p>
                    <a:r>
                      <a:rPr lang="en-US" sz="850" b="1">
                        <a:solidFill>
                          <a:srgbClr val="555555"/>
                        </a:solidFill>
                      </a:rPr>
                      <a:t>32</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E-72C8-42EF-A33E-21064D4A8E3B}"/>
                </c:ext>
              </c:extLst>
            </c:dLbl>
            <c:dLbl>
              <c:idx val="3"/>
              <c:tx>
                <c:rich>
                  <a:bodyPr/>
                  <a:lstStyle/>
                  <a:p>
                    <a:r>
                      <a:rPr lang="en-US" sz="850" b="1">
                        <a:solidFill>
                          <a:srgbClr val="555555"/>
                        </a:solidFill>
                      </a:rPr>
                      <a:t>41</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F-72C8-42EF-A33E-21064D4A8E3B}"/>
                </c:ext>
              </c:extLst>
            </c:dLbl>
            <c:dLbl>
              <c:idx val="4"/>
              <c:tx>
                <c:rich>
                  <a:bodyPr/>
                  <a:lstStyle/>
                  <a:p>
                    <a:r>
                      <a:rPr lang="en-US" sz="850" b="1">
                        <a:solidFill>
                          <a:srgbClr val="555555"/>
                        </a:solidFill>
                      </a:rPr>
                      <a:t>60</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0-72C8-42EF-A33E-21064D4A8E3B}"/>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Sheet1!$A$2:$A$6</c:f>
              <c:strCache>
                <c:ptCount val="5"/>
                <c:pt idx="0">
                  <c:v>2T25</c:v>
                </c:pt>
                <c:pt idx="1">
                  <c:v>3T25</c:v>
                </c:pt>
                <c:pt idx="2">
                  <c:v>4T25</c:v>
                </c:pt>
                <c:pt idx="3">
                  <c:v>1T26</c:v>
                </c:pt>
                <c:pt idx="4">
                  <c:v>2T26*</c:v>
                </c:pt>
              </c:strCache>
            </c:strRef>
          </c:cat>
          <c:val>
            <c:numRef>
              <c:f>Sheet1!$D$2:$D$6</c:f>
              <c:numCache>
                <c:formatCode>General</c:formatCode>
                <c:ptCount val="5"/>
                <c:pt idx="0">
                  <c:v>54.720414334926843</c:v>
                </c:pt>
                <c:pt idx="1">
                  <c:v>34.877319165428119</c:v>
                </c:pt>
                <c:pt idx="2">
                  <c:v>31.815693353048253</c:v>
                </c:pt>
                <c:pt idx="3">
                  <c:v>41.066449850564254</c:v>
                </c:pt>
                <c:pt idx="4">
                  <c:v>59.950202725044818</c:v>
                </c:pt>
              </c:numCache>
            </c:numRef>
          </c:val>
          <c:smooth val="0"/>
          <c:extLst>
            <c:ext xmlns:c16="http://schemas.microsoft.com/office/drawing/2014/chart" uri="{C3380CC4-5D6E-409C-BE32-E72D297353CC}">
              <c16:uniqueId val="{00000011-72C8-42EF-A33E-21064D4A8E3B}"/>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low"/>
        <c:spPr>
          <a:ln>
            <a:solidFill>
              <a:srgbClr val="B8C2C1"/>
            </a:solidFill>
          </a:ln>
        </c:spPr>
        <c:txPr>
          <a:bodyPr/>
          <a:lstStyle/>
          <a:p>
            <a:pPr>
              <a:defRPr sz="800">
                <a:solidFill>
                  <a:srgbClr val="2F3B3A"/>
                </a:solidFill>
              </a:defRPr>
            </a:pPr>
            <a:endParaRPr lang="es-PE"/>
          </a:p>
        </c:txPr>
        <c:crossAx val="2140495176"/>
        <c:crosses val="autoZero"/>
        <c:auto val="1"/>
        <c:lblAlgn val="ctr"/>
        <c:lblOffset val="100"/>
        <c:noMultiLvlLbl val="0"/>
      </c:catAx>
      <c:valAx>
        <c:axId val="2140495176"/>
        <c:scaling>
          <c:orientation val="minMax"/>
          <c:max val="95"/>
          <c:min val="7"/>
        </c:scaling>
        <c:delete val="1"/>
        <c:axPos val="l"/>
        <c:numFmt formatCode="0" sourceLinked="0"/>
        <c:majorTickMark val="out"/>
        <c:minorTickMark val="none"/>
        <c:tickLblPos val="nextTo"/>
        <c:crossAx val="2118791784"/>
        <c:crosses val="autoZero"/>
        <c:crossBetween val="between"/>
      </c:valAx>
    </c:plotArea>
    <c:legend>
      <c:legendPos val="t"/>
      <c:overlay val="0"/>
      <c:txPr>
        <a:bodyPr/>
        <a:lstStyle/>
        <a:p>
          <a:pPr>
            <a:defRPr sz="800"/>
          </a:pPr>
          <a:endParaRPr lang="es-PE"/>
        </a:p>
      </c:txPr>
    </c:legend>
    <c:plotVisOnly val="1"/>
    <c:dispBlanksAs val="gap"/>
    <c:showDLblsOverMax val="0"/>
  </c:chart>
  <c:txPr>
    <a:bodyPr/>
    <a:lstStyle/>
    <a:p>
      <a:pPr>
        <a:defRPr sz="1800"/>
      </a:pPr>
      <a:endParaRPr lang="en-US"/>
    </a:p>
  </c:txPr>
  <c:externalData r:id="rId1">
    <c:autoUpdate val="0"/>
  </c:externalData>
</c:chartSpace>
</file>

<file path=ppt/charts/chart4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lineChart>
        <c:grouping val="standard"/>
        <c:varyColors val="0"/>
        <c:ser>
          <c:idx val="0"/>
          <c:order val="0"/>
          <c:tx>
            <c:strRef>
              <c:f>Sheet1!$B$1</c:f>
              <c:strCache>
                <c:ptCount val="1"/>
                <c:pt idx="0">
                  <c:v>Ofertada a desembolsos</c:v>
                </c:pt>
              </c:strCache>
            </c:strRef>
          </c:tx>
          <c:spPr>
            <a:ln w="25400">
              <a:solidFill>
                <a:srgbClr val="8E9B9A"/>
              </a:solidFill>
              <a:prstDash val="dash"/>
            </a:ln>
          </c:spPr>
          <c:marker>
            <c:symbol val="circle"/>
            <c:size val="6"/>
            <c:spPr>
              <a:solidFill>
                <a:srgbClr val="8E9B9A"/>
              </a:solidFill>
              <a:ln>
                <a:solidFill>
                  <a:srgbClr val="8E9B9A"/>
                </a:solidFill>
              </a:ln>
            </c:spPr>
          </c:marker>
          <c:dLbls>
            <c:dLbl>
              <c:idx val="0"/>
              <c:tx>
                <c:rich>
                  <a:bodyPr/>
                  <a:lstStyle/>
                  <a:p>
                    <a:r>
                      <a:rPr lang="en-US" sz="900" b="1">
                        <a:solidFill>
                          <a:srgbClr val="8E9B9A"/>
                        </a:solidFill>
                      </a:rPr>
                      <a:t>25,2</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5BAE-4A0B-B676-1CF21705F038}"/>
                </c:ext>
              </c:extLst>
            </c:dLbl>
            <c:dLbl>
              <c:idx val="1"/>
              <c:tx>
                <c:rich>
                  <a:bodyPr/>
                  <a:lstStyle/>
                  <a:p>
                    <a:r>
                      <a:rPr lang="en-US" sz="900" b="1">
                        <a:solidFill>
                          <a:srgbClr val="8E9B9A"/>
                        </a:solidFill>
                      </a:rPr>
                      <a:t>25,0</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5BAE-4A0B-B676-1CF21705F038}"/>
                </c:ext>
              </c:extLst>
            </c:dLbl>
            <c:dLbl>
              <c:idx val="2"/>
              <c:tx>
                <c:rich>
                  <a:bodyPr/>
                  <a:lstStyle/>
                  <a:p>
                    <a:r>
                      <a:rPr lang="en-US" sz="900" b="1">
                        <a:solidFill>
                          <a:srgbClr val="8E9B9A"/>
                        </a:solidFill>
                      </a:rPr>
                      <a:t>27,6</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5BAE-4A0B-B676-1CF21705F038}"/>
                </c:ext>
              </c:extLst>
            </c:dLbl>
            <c:dLbl>
              <c:idx val="3"/>
              <c:tx>
                <c:rich>
                  <a:bodyPr/>
                  <a:lstStyle/>
                  <a:p>
                    <a:r>
                      <a:rPr lang="en-US" sz="900" b="1">
                        <a:solidFill>
                          <a:srgbClr val="8E9B9A"/>
                        </a:solidFill>
                      </a:rPr>
                      <a:t>27,0</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5BAE-4A0B-B676-1CF21705F038}"/>
                </c:ext>
              </c:extLst>
            </c:dLbl>
            <c:dLbl>
              <c:idx val="4"/>
              <c:tx>
                <c:rich>
                  <a:bodyPr/>
                  <a:lstStyle/>
                  <a:p>
                    <a:r>
                      <a:rPr lang="en-US" sz="900" b="1">
                        <a:solidFill>
                          <a:srgbClr val="8E9B9A"/>
                        </a:solidFill>
                      </a:rPr>
                      <a:t>21,9</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5BAE-4A0B-B676-1CF21705F038}"/>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Sheet1!$A$2:$A$6</c:f>
              <c:strCache>
                <c:ptCount val="5"/>
                <c:pt idx="0">
                  <c:v>2T25</c:v>
                </c:pt>
                <c:pt idx="1">
                  <c:v>3T25</c:v>
                </c:pt>
                <c:pt idx="2">
                  <c:v>4T25</c:v>
                </c:pt>
                <c:pt idx="3">
                  <c:v>1T26</c:v>
                </c:pt>
                <c:pt idx="4">
                  <c:v>2T26*</c:v>
                </c:pt>
              </c:strCache>
            </c:strRef>
          </c:cat>
          <c:val>
            <c:numRef>
              <c:f>Sheet1!$B$2:$B$6</c:f>
              <c:numCache>
                <c:formatCode>General</c:formatCode>
                <c:ptCount val="5"/>
                <c:pt idx="0">
                  <c:v>25.2</c:v>
                </c:pt>
                <c:pt idx="1">
                  <c:v>25</c:v>
                </c:pt>
                <c:pt idx="2">
                  <c:v>27.6</c:v>
                </c:pt>
                <c:pt idx="3">
                  <c:v>27</c:v>
                </c:pt>
                <c:pt idx="4">
                  <c:v>21.9</c:v>
                </c:pt>
              </c:numCache>
            </c:numRef>
          </c:val>
          <c:smooth val="0"/>
          <c:extLst>
            <c:ext xmlns:c16="http://schemas.microsoft.com/office/drawing/2014/chart" uri="{C3380CC4-5D6E-409C-BE32-E72D297353CC}">
              <c16:uniqueId val="{00000005-5BAE-4A0B-B676-1CF21705F038}"/>
            </c:ext>
          </c:extLst>
        </c:ser>
        <c:ser>
          <c:idx val="1"/>
          <c:order val="1"/>
          <c:tx>
            <c:strRef>
              <c:f>Sheet1!$C$1</c:f>
              <c:strCache>
                <c:ptCount val="1"/>
                <c:pt idx="0">
                  <c:v>Desembolsada</c:v>
                </c:pt>
              </c:strCache>
            </c:strRef>
          </c:tx>
          <c:spPr>
            <a:ln w="25400">
              <a:solidFill>
                <a:srgbClr val="2F6FDE"/>
              </a:solidFill>
            </a:ln>
          </c:spPr>
          <c:marker>
            <c:symbol val="circle"/>
            <c:size val="6"/>
            <c:spPr>
              <a:solidFill>
                <a:srgbClr val="2F6FDE"/>
              </a:solidFill>
              <a:ln>
                <a:solidFill>
                  <a:srgbClr val="2F6FDE"/>
                </a:solidFill>
              </a:ln>
            </c:spPr>
          </c:marker>
          <c:dLbls>
            <c:dLbl>
              <c:idx val="0"/>
              <c:tx>
                <c:rich>
                  <a:bodyPr/>
                  <a:lstStyle/>
                  <a:p>
                    <a:r>
                      <a:rPr lang="en-US" sz="900" b="1">
                        <a:solidFill>
                          <a:srgbClr val="2F6FDE"/>
                        </a:solidFill>
                      </a:rPr>
                      <a:t>22,4</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5BAE-4A0B-B676-1CF21705F038}"/>
                </c:ext>
              </c:extLst>
            </c:dLbl>
            <c:dLbl>
              <c:idx val="1"/>
              <c:tx>
                <c:rich>
                  <a:bodyPr/>
                  <a:lstStyle/>
                  <a:p>
                    <a:r>
                      <a:rPr lang="en-US" sz="900" b="1">
                        <a:solidFill>
                          <a:srgbClr val="2F6FDE"/>
                        </a:solidFill>
                      </a:rPr>
                      <a:t>22,7</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5BAE-4A0B-B676-1CF21705F038}"/>
                </c:ext>
              </c:extLst>
            </c:dLbl>
            <c:dLbl>
              <c:idx val="2"/>
              <c:tx>
                <c:rich>
                  <a:bodyPr/>
                  <a:lstStyle/>
                  <a:p>
                    <a:r>
                      <a:rPr lang="en-US" sz="900" b="1">
                        <a:solidFill>
                          <a:srgbClr val="2F6FDE"/>
                        </a:solidFill>
                      </a:rPr>
                      <a:t>23,9</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8-5BAE-4A0B-B676-1CF21705F038}"/>
                </c:ext>
              </c:extLst>
            </c:dLbl>
            <c:dLbl>
              <c:idx val="3"/>
              <c:tx>
                <c:rich>
                  <a:bodyPr/>
                  <a:lstStyle/>
                  <a:p>
                    <a:r>
                      <a:rPr lang="en-US" sz="900" b="1">
                        <a:solidFill>
                          <a:srgbClr val="2F6FDE"/>
                        </a:solidFill>
                      </a:rPr>
                      <a:t>21,8</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9-5BAE-4A0B-B676-1CF21705F038}"/>
                </c:ext>
              </c:extLst>
            </c:dLbl>
            <c:dLbl>
              <c:idx val="4"/>
              <c:tx>
                <c:rich>
                  <a:bodyPr/>
                  <a:lstStyle/>
                  <a:p>
                    <a:r>
                      <a:rPr lang="en-US" sz="900" b="1">
                        <a:solidFill>
                          <a:srgbClr val="2F6FDE"/>
                        </a:solidFill>
                      </a:rPr>
                      <a:t>19,5</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A-5BAE-4A0B-B676-1CF21705F038}"/>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Sheet1!$A$2:$A$6</c:f>
              <c:strCache>
                <c:ptCount val="5"/>
                <c:pt idx="0">
                  <c:v>2T25</c:v>
                </c:pt>
                <c:pt idx="1">
                  <c:v>3T25</c:v>
                </c:pt>
                <c:pt idx="2">
                  <c:v>4T25</c:v>
                </c:pt>
                <c:pt idx="3">
                  <c:v>1T26</c:v>
                </c:pt>
                <c:pt idx="4">
                  <c:v>2T26*</c:v>
                </c:pt>
              </c:strCache>
            </c:strRef>
          </c:cat>
          <c:val>
            <c:numRef>
              <c:f>Sheet1!$C$2:$C$6</c:f>
              <c:numCache>
                <c:formatCode>General</c:formatCode>
                <c:ptCount val="5"/>
                <c:pt idx="0">
                  <c:v>22.426209918543361</c:v>
                </c:pt>
                <c:pt idx="1">
                  <c:v>22.687725044987147</c:v>
                </c:pt>
                <c:pt idx="2">
                  <c:v>23.943037531645572</c:v>
                </c:pt>
                <c:pt idx="3">
                  <c:v>21.823279999999997</c:v>
                </c:pt>
                <c:pt idx="4">
                  <c:v>19.536078262777551</c:v>
                </c:pt>
              </c:numCache>
            </c:numRef>
          </c:val>
          <c:smooth val="0"/>
          <c:extLst>
            <c:ext xmlns:c16="http://schemas.microsoft.com/office/drawing/2014/chart" uri="{C3380CC4-5D6E-409C-BE32-E72D297353CC}">
              <c16:uniqueId val="{0000000B-5BAE-4A0B-B676-1CF21705F038}"/>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low"/>
        <c:spPr>
          <a:ln>
            <a:solidFill>
              <a:srgbClr val="B8C2C1"/>
            </a:solidFill>
          </a:ln>
        </c:spPr>
        <c:txPr>
          <a:bodyPr/>
          <a:lstStyle/>
          <a:p>
            <a:pPr>
              <a:defRPr sz="750">
                <a:solidFill>
                  <a:srgbClr val="2F3B3A"/>
                </a:solidFill>
              </a:defRPr>
            </a:pPr>
            <a:endParaRPr lang="es-PE"/>
          </a:p>
        </c:txPr>
        <c:crossAx val="2140495176"/>
        <c:crosses val="autoZero"/>
        <c:auto val="1"/>
        <c:lblAlgn val="ctr"/>
        <c:lblOffset val="100"/>
        <c:noMultiLvlLbl val="0"/>
      </c:catAx>
      <c:valAx>
        <c:axId val="2140495176"/>
        <c:scaling>
          <c:orientation val="minMax"/>
          <c:max val="30"/>
          <c:min val="16"/>
        </c:scaling>
        <c:delete val="1"/>
        <c:axPos val="l"/>
        <c:numFmt formatCode="0.0" sourceLinked="0"/>
        <c:majorTickMark val="out"/>
        <c:minorTickMark val="none"/>
        <c:tickLblPos val="nextTo"/>
        <c:crossAx val="2118791784"/>
        <c:crosses val="autoZero"/>
        <c:crossBetween val="between"/>
      </c:valAx>
    </c:plotArea>
    <c:legend>
      <c:legendPos val="t"/>
      <c:overlay val="0"/>
      <c:txPr>
        <a:bodyPr/>
        <a:lstStyle/>
        <a:p>
          <a:pPr>
            <a:defRPr sz="750"/>
          </a:pPr>
          <a:endParaRPr lang="es-PE"/>
        </a:p>
      </c:txPr>
    </c:legend>
    <c:plotVisOnly val="1"/>
    <c:dispBlanksAs val="gap"/>
    <c:showDLblsOverMax val="0"/>
  </c:chart>
  <c:txPr>
    <a:bodyPr/>
    <a:lstStyle/>
    <a:p>
      <a:pPr>
        <a:defRPr sz="1800"/>
      </a:pPr>
      <a:endParaRPr lang="en-US"/>
    </a:p>
  </c:txPr>
  <c:externalData r:id="rId1">
    <c:autoUpdate val="0"/>
  </c:externalData>
</c:chartSpace>
</file>

<file path=ppt/charts/chart4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lineChart>
        <c:grouping val="standard"/>
        <c:varyColors val="0"/>
        <c:ser>
          <c:idx val="0"/>
          <c:order val="0"/>
          <c:tx>
            <c:strRef>
              <c:f>Sheet1!$B$1</c:f>
              <c:strCache>
                <c:ptCount val="1"/>
                <c:pt idx="0">
                  <c:v>Ofertada a desembolsos</c:v>
                </c:pt>
              </c:strCache>
            </c:strRef>
          </c:tx>
          <c:spPr>
            <a:ln w="25400">
              <a:solidFill>
                <a:srgbClr val="8E9B9A"/>
              </a:solidFill>
              <a:prstDash val="dash"/>
            </a:ln>
          </c:spPr>
          <c:marker>
            <c:symbol val="circle"/>
            <c:size val="6"/>
            <c:spPr>
              <a:solidFill>
                <a:srgbClr val="8E9B9A"/>
              </a:solidFill>
              <a:ln>
                <a:solidFill>
                  <a:srgbClr val="8E9B9A"/>
                </a:solidFill>
              </a:ln>
            </c:spPr>
          </c:marker>
          <c:dLbls>
            <c:dLbl>
              <c:idx val="0"/>
              <c:tx>
                <c:rich>
                  <a:bodyPr/>
                  <a:lstStyle/>
                  <a:p>
                    <a:r>
                      <a:rPr lang="en-US" sz="900" b="1">
                        <a:solidFill>
                          <a:srgbClr val="8E9B9A"/>
                        </a:solidFill>
                      </a:rPr>
                      <a:t>20,3</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B826-457D-A92B-E05E42745C31}"/>
                </c:ext>
              </c:extLst>
            </c:dLbl>
            <c:dLbl>
              <c:idx val="1"/>
              <c:tx>
                <c:rich>
                  <a:bodyPr/>
                  <a:lstStyle/>
                  <a:p>
                    <a:r>
                      <a:rPr lang="en-US" sz="900" b="1">
                        <a:solidFill>
                          <a:srgbClr val="8E9B9A"/>
                        </a:solidFill>
                      </a:rPr>
                      <a:t>21,0</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B826-457D-A92B-E05E42745C31}"/>
                </c:ext>
              </c:extLst>
            </c:dLbl>
            <c:dLbl>
              <c:idx val="2"/>
              <c:tx>
                <c:rich>
                  <a:bodyPr/>
                  <a:lstStyle/>
                  <a:p>
                    <a:r>
                      <a:rPr lang="en-US" sz="900" b="1">
                        <a:solidFill>
                          <a:srgbClr val="8E9B9A"/>
                        </a:solidFill>
                      </a:rPr>
                      <a:t>20,4</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B826-457D-A92B-E05E42745C31}"/>
                </c:ext>
              </c:extLst>
            </c:dLbl>
            <c:dLbl>
              <c:idx val="3"/>
              <c:tx>
                <c:rich>
                  <a:bodyPr/>
                  <a:lstStyle/>
                  <a:p>
                    <a:r>
                      <a:rPr lang="en-US" sz="900" b="1">
                        <a:solidFill>
                          <a:srgbClr val="8E9B9A"/>
                        </a:solidFill>
                      </a:rPr>
                      <a:t>20,7</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B826-457D-A92B-E05E42745C31}"/>
                </c:ext>
              </c:extLst>
            </c:dLbl>
            <c:dLbl>
              <c:idx val="4"/>
              <c:tx>
                <c:rich>
                  <a:bodyPr/>
                  <a:lstStyle/>
                  <a:p>
                    <a:r>
                      <a:rPr lang="en-US" sz="900" b="1">
                        <a:solidFill>
                          <a:srgbClr val="8E9B9A"/>
                        </a:solidFill>
                      </a:rPr>
                      <a:t>19,5</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B826-457D-A92B-E05E42745C31}"/>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Sheet1!$A$2:$A$6</c:f>
              <c:strCache>
                <c:ptCount val="5"/>
                <c:pt idx="0">
                  <c:v>2T25</c:v>
                </c:pt>
                <c:pt idx="1">
                  <c:v>3T25</c:v>
                </c:pt>
                <c:pt idx="2">
                  <c:v>4T25</c:v>
                </c:pt>
                <c:pt idx="3">
                  <c:v>1T26</c:v>
                </c:pt>
                <c:pt idx="4">
                  <c:v>2T26*</c:v>
                </c:pt>
              </c:strCache>
            </c:strRef>
          </c:cat>
          <c:val>
            <c:numRef>
              <c:f>Sheet1!$B$2:$B$6</c:f>
              <c:numCache>
                <c:formatCode>General</c:formatCode>
                <c:ptCount val="5"/>
                <c:pt idx="0">
                  <c:v>20.3</c:v>
                </c:pt>
                <c:pt idx="1">
                  <c:v>21</c:v>
                </c:pt>
                <c:pt idx="2">
                  <c:v>20.399999999999999</c:v>
                </c:pt>
                <c:pt idx="3">
                  <c:v>20.7</c:v>
                </c:pt>
                <c:pt idx="4">
                  <c:v>19.5</c:v>
                </c:pt>
              </c:numCache>
            </c:numRef>
          </c:val>
          <c:smooth val="0"/>
          <c:extLst>
            <c:ext xmlns:c16="http://schemas.microsoft.com/office/drawing/2014/chart" uri="{C3380CC4-5D6E-409C-BE32-E72D297353CC}">
              <c16:uniqueId val="{00000005-B826-457D-A92B-E05E42745C31}"/>
            </c:ext>
          </c:extLst>
        </c:ser>
        <c:ser>
          <c:idx val="1"/>
          <c:order val="1"/>
          <c:tx>
            <c:strRef>
              <c:f>Sheet1!$C$1</c:f>
              <c:strCache>
                <c:ptCount val="1"/>
                <c:pt idx="0">
                  <c:v>Desembolsada</c:v>
                </c:pt>
              </c:strCache>
            </c:strRef>
          </c:tx>
          <c:spPr>
            <a:ln w="25400">
              <a:solidFill>
                <a:srgbClr val="2F6FDE"/>
              </a:solidFill>
            </a:ln>
          </c:spPr>
          <c:marker>
            <c:symbol val="circle"/>
            <c:size val="6"/>
            <c:spPr>
              <a:solidFill>
                <a:srgbClr val="2F6FDE"/>
              </a:solidFill>
              <a:ln>
                <a:solidFill>
                  <a:srgbClr val="2F6FDE"/>
                </a:solidFill>
              </a:ln>
            </c:spPr>
          </c:marker>
          <c:dLbls>
            <c:dLbl>
              <c:idx val="0"/>
              <c:tx>
                <c:rich>
                  <a:bodyPr/>
                  <a:lstStyle/>
                  <a:p>
                    <a:r>
                      <a:rPr lang="en-US" sz="900" b="1">
                        <a:solidFill>
                          <a:srgbClr val="2F6FDE"/>
                        </a:solidFill>
                      </a:rPr>
                      <a:t>16,7</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B826-457D-A92B-E05E42745C31}"/>
                </c:ext>
              </c:extLst>
            </c:dLbl>
            <c:dLbl>
              <c:idx val="1"/>
              <c:tx>
                <c:rich>
                  <a:bodyPr/>
                  <a:lstStyle/>
                  <a:p>
                    <a:r>
                      <a:rPr lang="en-US" sz="900" b="1">
                        <a:solidFill>
                          <a:srgbClr val="2F6FDE"/>
                        </a:solidFill>
                      </a:rPr>
                      <a:t>16,5</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B826-457D-A92B-E05E42745C31}"/>
                </c:ext>
              </c:extLst>
            </c:dLbl>
            <c:dLbl>
              <c:idx val="2"/>
              <c:tx>
                <c:rich>
                  <a:bodyPr/>
                  <a:lstStyle/>
                  <a:p>
                    <a:r>
                      <a:rPr lang="en-US" sz="900" b="1">
                        <a:solidFill>
                          <a:srgbClr val="2F6FDE"/>
                        </a:solidFill>
                      </a:rPr>
                      <a:t>17,4</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8-B826-457D-A92B-E05E42745C31}"/>
                </c:ext>
              </c:extLst>
            </c:dLbl>
            <c:dLbl>
              <c:idx val="3"/>
              <c:tx>
                <c:rich>
                  <a:bodyPr/>
                  <a:lstStyle/>
                  <a:p>
                    <a:r>
                      <a:rPr lang="en-US" sz="900" b="1">
                        <a:solidFill>
                          <a:srgbClr val="2F6FDE"/>
                        </a:solidFill>
                      </a:rPr>
                      <a:t>17,2</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9-B826-457D-A92B-E05E42745C31}"/>
                </c:ext>
              </c:extLst>
            </c:dLbl>
            <c:dLbl>
              <c:idx val="4"/>
              <c:tx>
                <c:rich>
                  <a:bodyPr/>
                  <a:lstStyle/>
                  <a:p>
                    <a:r>
                      <a:rPr lang="en-US" sz="900" b="1">
                        <a:solidFill>
                          <a:srgbClr val="2F6FDE"/>
                        </a:solidFill>
                      </a:rPr>
                      <a:t>16,7</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A-B826-457D-A92B-E05E42745C31}"/>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Sheet1!$A$2:$A$6</c:f>
              <c:strCache>
                <c:ptCount val="5"/>
                <c:pt idx="0">
                  <c:v>2T25</c:v>
                </c:pt>
                <c:pt idx="1">
                  <c:v>3T25</c:v>
                </c:pt>
                <c:pt idx="2">
                  <c:v>4T25</c:v>
                </c:pt>
                <c:pt idx="3">
                  <c:v>1T26</c:v>
                </c:pt>
                <c:pt idx="4">
                  <c:v>2T26*</c:v>
                </c:pt>
              </c:strCache>
            </c:strRef>
          </c:cat>
          <c:val>
            <c:numRef>
              <c:f>Sheet1!$C$2:$C$6</c:f>
              <c:numCache>
                <c:formatCode>General</c:formatCode>
                <c:ptCount val="5"/>
                <c:pt idx="0">
                  <c:v>16.650000214285715</c:v>
                </c:pt>
                <c:pt idx="1">
                  <c:v>16.52994412292421</c:v>
                </c:pt>
                <c:pt idx="2">
                  <c:v>17.42982456140351</c:v>
                </c:pt>
                <c:pt idx="3">
                  <c:v>17.205268492948875</c:v>
                </c:pt>
                <c:pt idx="4">
                  <c:v>16.671900826446283</c:v>
                </c:pt>
              </c:numCache>
            </c:numRef>
          </c:val>
          <c:smooth val="0"/>
          <c:extLst>
            <c:ext xmlns:c16="http://schemas.microsoft.com/office/drawing/2014/chart" uri="{C3380CC4-5D6E-409C-BE32-E72D297353CC}">
              <c16:uniqueId val="{0000000B-B826-457D-A92B-E05E42745C31}"/>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low"/>
        <c:spPr>
          <a:ln>
            <a:solidFill>
              <a:srgbClr val="B8C2C1"/>
            </a:solidFill>
          </a:ln>
        </c:spPr>
        <c:txPr>
          <a:bodyPr/>
          <a:lstStyle/>
          <a:p>
            <a:pPr>
              <a:defRPr sz="750">
                <a:solidFill>
                  <a:srgbClr val="2F3B3A"/>
                </a:solidFill>
              </a:defRPr>
            </a:pPr>
            <a:endParaRPr lang="es-PE"/>
          </a:p>
        </c:txPr>
        <c:crossAx val="2140495176"/>
        <c:crosses val="autoZero"/>
        <c:auto val="1"/>
        <c:lblAlgn val="ctr"/>
        <c:lblOffset val="100"/>
        <c:noMultiLvlLbl val="0"/>
      </c:catAx>
      <c:valAx>
        <c:axId val="2140495176"/>
        <c:scaling>
          <c:orientation val="minMax"/>
          <c:max val="24"/>
          <c:min val="13"/>
        </c:scaling>
        <c:delete val="1"/>
        <c:axPos val="l"/>
        <c:numFmt formatCode="0.0" sourceLinked="0"/>
        <c:majorTickMark val="out"/>
        <c:minorTickMark val="none"/>
        <c:tickLblPos val="nextTo"/>
        <c:crossAx val="2118791784"/>
        <c:crosses val="autoZero"/>
        <c:crossBetween val="between"/>
      </c:valAx>
    </c:plotArea>
    <c:legend>
      <c:legendPos val="t"/>
      <c:overlay val="0"/>
      <c:txPr>
        <a:bodyPr/>
        <a:lstStyle/>
        <a:p>
          <a:pPr>
            <a:defRPr sz="750"/>
          </a:pPr>
          <a:endParaRPr lang="es-PE"/>
        </a:p>
      </c:txPr>
    </c:legend>
    <c:plotVisOnly val="1"/>
    <c:dispBlanksAs val="gap"/>
    <c:showDLblsOverMax val="0"/>
  </c:chart>
  <c:txPr>
    <a:bodyPr/>
    <a:lstStyle/>
    <a:p>
      <a:pPr>
        <a:defRPr sz="1800"/>
      </a:pPr>
      <a:endParaRPr lang="en-US"/>
    </a:p>
  </c:txPr>
  <c:externalData r:id="rId1">
    <c:autoUpdate val="0"/>
  </c:externalData>
</c:chartSpace>
</file>

<file path=ppt/charts/chart4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0"/>
    <c:plotArea>
      <c:layout>
        <c:manualLayout>
          <c:layoutTarget val="inner"/>
          <c:xMode val="edge"/>
          <c:yMode val="edge"/>
          <c:x val="0.02"/>
          <c:y val="0.17"/>
          <c:w val="0.96"/>
          <c:h val="0.7"/>
        </c:manualLayout>
      </c:layout>
      <c:barChart>
        <c:barDir val="col"/>
        <c:grouping val="clustered"/>
        <c:varyColors val="1"/>
        <c:ser>
          <c:idx val="0"/>
          <c:order val="0"/>
          <c:tx>
            <c:strRef>
              <c:f>Sheet1!$B$1</c:f>
              <c:strCache>
                <c:ptCount val="1"/>
                <c:pt idx="0">
                  <c:v>Ofertada a desembolsos</c:v>
                </c:pt>
              </c:strCache>
            </c:strRef>
          </c:tx>
          <c:spPr>
            <a:solidFill>
              <a:srgbClr val="8E9B9A"/>
            </a:solidFill>
          </c:spPr>
          <c:invertIfNegative val="1"/>
          <c:dLbls>
            <c:dLbl>
              <c:idx val="0"/>
              <c:tx>
                <c:rich>
                  <a:bodyPr/>
                  <a:lstStyle/>
                  <a:p>
                    <a:r>
                      <a:rPr lang="en-US" sz="850" b="1">
                        <a:solidFill>
                          <a:srgbClr val="6E7E7D"/>
                        </a:solidFill>
                      </a:rPr>
                      <a:t>26,0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E7C5-441E-B263-35E973CC4FE6}"/>
                </c:ext>
              </c:extLst>
            </c:dLbl>
            <c:dLbl>
              <c:idx val="1"/>
              <c:tx>
                <c:rich>
                  <a:bodyPr/>
                  <a:lstStyle/>
                  <a:p>
                    <a:r>
                      <a:rPr lang="en-US" sz="850" b="1">
                        <a:solidFill>
                          <a:srgbClr val="6E7E7D"/>
                        </a:solidFill>
                      </a:rPr>
                      <a:t>19,1</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E7C5-441E-B263-35E973CC4FE6}"/>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Sheet1!$A$2:$A$3</c:f>
              <c:strCache>
                <c:ptCount val="2"/>
                <c:pt idx="0">
                  <c:v>≤ 170K</c:v>
                </c:pt>
                <c:pt idx="1">
                  <c:v>&gt; 250K</c:v>
                </c:pt>
              </c:strCache>
            </c:strRef>
          </c:cat>
          <c:val>
            <c:numRef>
              <c:f>Sheet1!$B$2:$B$3</c:f>
              <c:numCache>
                <c:formatCode>General</c:formatCode>
                <c:ptCount val="2"/>
                <c:pt idx="0">
                  <c:v>26</c:v>
                </c:pt>
                <c:pt idx="1">
                  <c:v>19.100000000000001</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E7C5-441E-B263-35E973CC4FE6}"/>
            </c:ext>
          </c:extLst>
        </c:ser>
        <c:ser>
          <c:idx val="1"/>
          <c:order val="1"/>
          <c:tx>
            <c:strRef>
              <c:f>Sheet1!$C$1</c:f>
              <c:strCache>
                <c:ptCount val="1"/>
                <c:pt idx="0">
                  <c:v>Desembolsada</c:v>
                </c:pt>
              </c:strCache>
            </c:strRef>
          </c:tx>
          <c:spPr>
            <a:solidFill>
              <a:srgbClr val="2F6FDE"/>
            </a:solidFill>
          </c:spPr>
          <c:invertIfNegative val="1"/>
          <c:dLbls>
            <c:dLbl>
              <c:idx val="0"/>
              <c:tx>
                <c:rich>
                  <a:bodyPr/>
                  <a:lstStyle/>
                  <a:p>
                    <a:r>
                      <a:rPr lang="en-US" sz="850" b="1">
                        <a:solidFill>
                          <a:srgbClr val="2F6FDE"/>
                        </a:solidFill>
                      </a:rPr>
                      <a:t>23,0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E7C5-441E-B263-35E973CC4FE6}"/>
                </c:ext>
              </c:extLst>
            </c:dLbl>
            <c:dLbl>
              <c:idx val="1"/>
              <c:tx>
                <c:rich>
                  <a:bodyPr/>
                  <a:lstStyle/>
                  <a:p>
                    <a:r>
                      <a:rPr lang="en-US" sz="850" b="1">
                        <a:solidFill>
                          <a:srgbClr val="2F6FDE"/>
                        </a:solidFill>
                      </a:rPr>
                      <a:t>16,0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E7C5-441E-B263-35E973CC4FE6}"/>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Sheet1!$A$2:$A$3</c:f>
              <c:strCache>
                <c:ptCount val="2"/>
                <c:pt idx="0">
                  <c:v>≤ 170K</c:v>
                </c:pt>
                <c:pt idx="1">
                  <c:v>&gt; 250K</c:v>
                </c:pt>
              </c:strCache>
            </c:strRef>
          </c:cat>
          <c:val>
            <c:numRef>
              <c:f>Sheet1!$C$2:$C$3</c:f>
              <c:numCache>
                <c:formatCode>General</c:formatCode>
                <c:ptCount val="2"/>
                <c:pt idx="0">
                  <c:v>23</c:v>
                </c:pt>
                <c:pt idx="1">
                  <c:v>16</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5-E7C5-441E-B263-35E973CC4FE6}"/>
            </c:ext>
          </c:extLst>
        </c:ser>
        <c:ser>
          <c:idx val="2"/>
          <c:order val="2"/>
          <c:tx>
            <c:strRef>
              <c:f>Sheet1!$D$1</c:f>
              <c:strCache>
                <c:ptCount val="1"/>
                <c:pt idx="0">
                  <c:v>Competencia</c:v>
                </c:pt>
              </c:strCache>
            </c:strRef>
          </c:tx>
          <c:spPr>
            <a:solidFill>
              <a:srgbClr val="F28C28"/>
            </a:solidFill>
          </c:spPr>
          <c:invertIfNegative val="1"/>
          <c:dLbls>
            <c:dLbl>
              <c:idx val="1"/>
              <c:tx>
                <c:rich>
                  <a:bodyPr/>
                  <a:lstStyle/>
                  <a:p>
                    <a:r>
                      <a:rPr lang="en-US" sz="850" b="1">
                        <a:solidFill>
                          <a:srgbClr val="F28C28"/>
                        </a:solidFill>
                      </a:rPr>
                      <a:t>16,7</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E7C5-441E-B263-35E973CC4FE6}"/>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Sheet1!$A$2:$A$3</c:f>
              <c:strCache>
                <c:ptCount val="2"/>
                <c:pt idx="0">
                  <c:v>≤ 170K</c:v>
                </c:pt>
                <c:pt idx="1">
                  <c:v>&gt; 250K</c:v>
                </c:pt>
              </c:strCache>
            </c:strRef>
          </c:cat>
          <c:val>
            <c:numRef>
              <c:f>Sheet1!$D$2:$D$3</c:f>
              <c:numCache>
                <c:formatCode>General</c:formatCode>
                <c:ptCount val="2"/>
                <c:pt idx="1">
                  <c:v>16.7</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7-E7C5-441E-B263-35E973CC4FE6}"/>
            </c:ext>
          </c:extLst>
        </c:ser>
        <c:dLbls>
          <c:showLegendKey val="0"/>
          <c:showVal val="0"/>
          <c:showCatName val="0"/>
          <c:showSerName val="0"/>
          <c:showPercent val="0"/>
          <c:showBubbleSize val="0"/>
        </c:dLbls>
        <c:gapWidth val="60"/>
        <c:axId val="-2068027336"/>
        <c:axId val="-2113994440"/>
      </c:barChart>
      <c:catAx>
        <c:axId val="-2068027336"/>
        <c:scaling>
          <c:orientation val="minMax"/>
        </c:scaling>
        <c:delete val="0"/>
        <c:axPos val="b"/>
        <c:numFmt formatCode="General" sourceLinked="0"/>
        <c:majorTickMark val="out"/>
        <c:minorTickMark val="none"/>
        <c:tickLblPos val="none"/>
        <c:spPr>
          <a:ln>
            <a:solidFill>
              <a:srgbClr val="B8C2C1"/>
            </a:solidFill>
          </a:ln>
        </c:spPr>
        <c:txPr>
          <a:bodyPr/>
          <a:lstStyle/>
          <a:p>
            <a:pPr>
              <a:defRPr sz="100"/>
            </a:pPr>
            <a:endParaRPr lang="es-PE"/>
          </a:p>
        </c:txPr>
        <c:crossAx val="-2113994440"/>
        <c:crosses val="autoZero"/>
        <c:auto val="1"/>
        <c:lblAlgn val="ctr"/>
        <c:lblOffset val="100"/>
        <c:noMultiLvlLbl val="0"/>
      </c:catAx>
      <c:valAx>
        <c:axId val="-2113994440"/>
        <c:scaling>
          <c:orientation val="minMax"/>
          <c:max val="28.5"/>
          <c:min val="14"/>
        </c:scaling>
        <c:delete val="1"/>
        <c:axPos val="l"/>
        <c:numFmt formatCode="General" sourceLinked="1"/>
        <c:majorTickMark val="out"/>
        <c:minorTickMark val="none"/>
        <c:tickLblPos val="nextTo"/>
        <c:crossAx val="-2068027336"/>
        <c:crosses val="autoZero"/>
        <c:crossBetween val="between"/>
      </c:valAx>
    </c:plotArea>
    <c:legend>
      <c:legendPos val="t"/>
      <c:overlay val="0"/>
      <c:txPr>
        <a:bodyPr/>
        <a:lstStyle/>
        <a:p>
          <a:pPr>
            <a:defRPr sz="800"/>
          </a:pPr>
          <a:endParaRPr lang="es-PE"/>
        </a:p>
      </c:txPr>
    </c:legend>
    <c:plotVisOnly val="1"/>
    <c:dispBlanksAs val="gap"/>
    <c:showDLblsOverMax val="1"/>
  </c:chart>
  <c:txPr>
    <a:bodyPr/>
    <a:lstStyle/>
    <a:p>
      <a:pPr>
        <a:defRPr sz="1800"/>
      </a:pPr>
      <a:endParaRPr lang="en-US"/>
    </a:p>
  </c:txPr>
  <c:externalData r:id="rId1">
    <c:autoUpdate val="0"/>
  </c:externalData>
</c:chartSpace>
</file>

<file path=ppt/charts/chart4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0"/>
    <c:plotArea>
      <c:layout>
        <c:manualLayout>
          <c:layoutTarget val="inner"/>
          <c:xMode val="edge"/>
          <c:yMode val="edge"/>
          <c:x val="0.02"/>
          <c:y val="0.06"/>
          <c:w val="0.96"/>
          <c:h val="0.8"/>
        </c:manualLayout>
      </c:layout>
      <c:barChart>
        <c:barDir val="col"/>
        <c:grouping val="clustered"/>
        <c:varyColors val="1"/>
        <c:ser>
          <c:idx val="0"/>
          <c:order val="0"/>
          <c:tx>
            <c:strRef>
              <c:f>Sheet1!$B$1</c:f>
              <c:strCache>
                <c:ptCount val="1"/>
                <c:pt idx="0">
                  <c:v>Ofertada a desembolsos</c:v>
                </c:pt>
              </c:strCache>
            </c:strRef>
          </c:tx>
          <c:spPr>
            <a:solidFill>
              <a:srgbClr val="8E9B9A"/>
            </a:solidFill>
          </c:spPr>
          <c:invertIfNegative val="1"/>
          <c:dLbls>
            <c:dLbl>
              <c:idx val="0"/>
              <c:tx>
                <c:rich>
                  <a:bodyPr/>
                  <a:lstStyle/>
                  <a:p>
                    <a:r>
                      <a:rPr lang="en-US" sz="850" b="1">
                        <a:solidFill>
                          <a:srgbClr val="6E7E7D"/>
                        </a:solidFill>
                      </a:rPr>
                      <a:t>22,1</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C015-47CB-BE0A-B3F00ACF87B0}"/>
                </c:ext>
              </c:extLst>
            </c:dLbl>
            <c:dLbl>
              <c:idx val="1"/>
              <c:tx>
                <c:rich>
                  <a:bodyPr/>
                  <a:lstStyle/>
                  <a:p>
                    <a:r>
                      <a:rPr lang="en-US" sz="850" b="1">
                        <a:solidFill>
                          <a:srgbClr val="6E7E7D"/>
                        </a:solidFill>
                      </a:rPr>
                      <a:t>19,7</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C015-47CB-BE0A-B3F00ACF87B0}"/>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Sheet1!$A$2:$A$3</c:f>
              <c:strCache>
                <c:ptCount val="2"/>
                <c:pt idx="0">
                  <c:v>≤ 170K</c:v>
                </c:pt>
                <c:pt idx="1">
                  <c:v>&gt; 250K</c:v>
                </c:pt>
              </c:strCache>
            </c:strRef>
          </c:cat>
          <c:val>
            <c:numRef>
              <c:f>Sheet1!$B$2:$B$3</c:f>
              <c:numCache>
                <c:formatCode>General</c:formatCode>
                <c:ptCount val="2"/>
                <c:pt idx="0">
                  <c:v>22.1</c:v>
                </c:pt>
                <c:pt idx="1">
                  <c:v>19.7</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C015-47CB-BE0A-B3F00ACF87B0}"/>
            </c:ext>
          </c:extLst>
        </c:ser>
        <c:ser>
          <c:idx val="1"/>
          <c:order val="1"/>
          <c:tx>
            <c:strRef>
              <c:f>Sheet1!$C$1</c:f>
              <c:strCache>
                <c:ptCount val="1"/>
                <c:pt idx="0">
                  <c:v>Desembolsada</c:v>
                </c:pt>
              </c:strCache>
            </c:strRef>
          </c:tx>
          <c:spPr>
            <a:solidFill>
              <a:srgbClr val="2F6FDE"/>
            </a:solidFill>
          </c:spPr>
          <c:invertIfNegative val="1"/>
          <c:dLbls>
            <c:dLbl>
              <c:idx val="0"/>
              <c:tx>
                <c:rich>
                  <a:bodyPr/>
                  <a:lstStyle/>
                  <a:p>
                    <a:r>
                      <a:rPr lang="en-US" sz="850" b="1">
                        <a:solidFill>
                          <a:srgbClr val="2F6FDE"/>
                        </a:solidFill>
                      </a:rPr>
                      <a:t>19,0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C015-47CB-BE0A-B3F00ACF87B0}"/>
                </c:ext>
              </c:extLst>
            </c:dLbl>
            <c:dLbl>
              <c:idx val="1"/>
              <c:tx>
                <c:rich>
                  <a:bodyPr/>
                  <a:lstStyle/>
                  <a:p>
                    <a:r>
                      <a:rPr lang="en-US" sz="850" b="1">
                        <a:solidFill>
                          <a:srgbClr val="2F6FDE"/>
                        </a:solidFill>
                      </a:rPr>
                      <a:t>17,0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C015-47CB-BE0A-B3F00ACF87B0}"/>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Sheet1!$A$2:$A$3</c:f>
              <c:strCache>
                <c:ptCount val="2"/>
                <c:pt idx="0">
                  <c:v>≤ 170K</c:v>
                </c:pt>
                <c:pt idx="1">
                  <c:v>&gt; 250K</c:v>
                </c:pt>
              </c:strCache>
            </c:strRef>
          </c:cat>
          <c:val>
            <c:numRef>
              <c:f>Sheet1!$C$2:$C$3</c:f>
              <c:numCache>
                <c:formatCode>General</c:formatCode>
                <c:ptCount val="2"/>
                <c:pt idx="0">
                  <c:v>19</c:v>
                </c:pt>
                <c:pt idx="1">
                  <c:v>17</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5-C015-47CB-BE0A-B3F00ACF87B0}"/>
            </c:ext>
          </c:extLst>
        </c:ser>
        <c:ser>
          <c:idx val="2"/>
          <c:order val="2"/>
          <c:tx>
            <c:strRef>
              <c:f>Sheet1!$D$1</c:f>
              <c:strCache>
                <c:ptCount val="1"/>
                <c:pt idx="0">
                  <c:v>Competencia</c:v>
                </c:pt>
              </c:strCache>
            </c:strRef>
          </c:tx>
          <c:spPr>
            <a:solidFill>
              <a:srgbClr val="F28C28"/>
            </a:solidFill>
          </c:spPr>
          <c:invertIfNegative val="1"/>
          <c:dLbls>
            <c:dLbl>
              <c:idx val="1"/>
              <c:tx>
                <c:rich>
                  <a:bodyPr/>
                  <a:lstStyle/>
                  <a:p>
                    <a:r>
                      <a:rPr lang="en-US" sz="850" b="1">
                        <a:solidFill>
                          <a:srgbClr val="F28C28"/>
                        </a:solidFill>
                      </a:rPr>
                      <a:t>17,1</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C015-47CB-BE0A-B3F00ACF87B0}"/>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Sheet1!$A$2:$A$3</c:f>
              <c:strCache>
                <c:ptCount val="2"/>
                <c:pt idx="0">
                  <c:v>≤ 170K</c:v>
                </c:pt>
                <c:pt idx="1">
                  <c:v>&gt; 250K</c:v>
                </c:pt>
              </c:strCache>
            </c:strRef>
          </c:cat>
          <c:val>
            <c:numRef>
              <c:f>Sheet1!$D$2:$D$3</c:f>
              <c:numCache>
                <c:formatCode>General</c:formatCode>
                <c:ptCount val="2"/>
                <c:pt idx="1">
                  <c:v>17.100000000000001</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7-C015-47CB-BE0A-B3F00ACF87B0}"/>
            </c:ext>
          </c:extLst>
        </c:ser>
        <c:dLbls>
          <c:showLegendKey val="0"/>
          <c:showVal val="0"/>
          <c:showCatName val="0"/>
          <c:showSerName val="0"/>
          <c:showPercent val="0"/>
          <c:showBubbleSize val="0"/>
        </c:dLbls>
        <c:gapWidth val="60"/>
        <c:axId val="-2068027336"/>
        <c:axId val="-2113994440"/>
      </c:barChart>
      <c:catAx>
        <c:axId val="-2068027336"/>
        <c:scaling>
          <c:orientation val="minMax"/>
        </c:scaling>
        <c:delete val="0"/>
        <c:axPos val="b"/>
        <c:numFmt formatCode="General" sourceLinked="0"/>
        <c:majorTickMark val="out"/>
        <c:minorTickMark val="none"/>
        <c:tickLblPos val="none"/>
        <c:spPr>
          <a:ln>
            <a:solidFill>
              <a:srgbClr val="B8C2C1"/>
            </a:solidFill>
          </a:ln>
        </c:spPr>
        <c:txPr>
          <a:bodyPr/>
          <a:lstStyle/>
          <a:p>
            <a:pPr>
              <a:defRPr sz="100"/>
            </a:pPr>
            <a:endParaRPr lang="es-PE"/>
          </a:p>
        </c:txPr>
        <c:crossAx val="-2113994440"/>
        <c:crosses val="autoZero"/>
        <c:auto val="1"/>
        <c:lblAlgn val="ctr"/>
        <c:lblOffset val="100"/>
        <c:noMultiLvlLbl val="0"/>
      </c:catAx>
      <c:valAx>
        <c:axId val="-2113994440"/>
        <c:scaling>
          <c:orientation val="minMax"/>
          <c:max val="23.6"/>
          <c:min val="15"/>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5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lineChart>
        <c:grouping val="standard"/>
        <c:varyColors val="0"/>
        <c:ser>
          <c:idx val="0"/>
          <c:order val="0"/>
          <c:tx>
            <c:strRef>
              <c:f>Sheet1!$B$1</c:f>
              <c:strCache>
                <c:ptCount val="1"/>
                <c:pt idx="0">
                  <c:v>Pasivos &lt; S/ 1K</c:v>
                </c:pt>
              </c:strCache>
            </c:strRef>
          </c:tx>
          <c:spPr>
            <a:ln w="25400">
              <a:solidFill>
                <a:srgbClr val="13807B"/>
              </a:solidFill>
            </a:ln>
          </c:spPr>
          <c:marker>
            <c:symbol val="circle"/>
            <c:size val="6"/>
            <c:spPr>
              <a:solidFill>
                <a:srgbClr val="13807B"/>
              </a:solidFill>
              <a:ln>
                <a:solidFill>
                  <a:srgbClr val="13807B"/>
                </a:solidFill>
              </a:ln>
            </c:spPr>
          </c:marker>
          <c:dLbls>
            <c:dLbl>
              <c:idx val="0"/>
              <c:tx>
                <c:rich>
                  <a:bodyPr/>
                  <a:lstStyle/>
                  <a:p>
                    <a:r>
                      <a:rPr lang="en-US" sz="850" b="1">
                        <a:solidFill>
                          <a:srgbClr val="13807B"/>
                        </a:solidFill>
                      </a:rPr>
                      <a:t>43</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305F-4A56-BA3F-D274B8D48FC4}"/>
                </c:ext>
              </c:extLst>
            </c:dLbl>
            <c:dLbl>
              <c:idx val="1"/>
              <c:tx>
                <c:rich>
                  <a:bodyPr/>
                  <a:lstStyle/>
                  <a:p>
                    <a:r>
                      <a:rPr lang="en-US" sz="850" b="1">
                        <a:solidFill>
                          <a:srgbClr val="13807B"/>
                        </a:solidFill>
                      </a:rPr>
                      <a:t>43</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305F-4A56-BA3F-D274B8D48FC4}"/>
                </c:ext>
              </c:extLst>
            </c:dLbl>
            <c:dLbl>
              <c:idx val="2"/>
              <c:tx>
                <c:rich>
                  <a:bodyPr/>
                  <a:lstStyle/>
                  <a:p>
                    <a:r>
                      <a:rPr lang="en-US" sz="850" b="1">
                        <a:solidFill>
                          <a:srgbClr val="13807B"/>
                        </a:solidFill>
                      </a:rPr>
                      <a:t>51</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305F-4A56-BA3F-D274B8D48FC4}"/>
                </c:ext>
              </c:extLst>
            </c:dLbl>
            <c:dLbl>
              <c:idx val="3"/>
              <c:tx>
                <c:rich>
                  <a:bodyPr/>
                  <a:lstStyle/>
                  <a:p>
                    <a:r>
                      <a:rPr lang="en-US" sz="850" b="1">
                        <a:solidFill>
                          <a:srgbClr val="13807B"/>
                        </a:solidFill>
                      </a:rPr>
                      <a:t>20</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305F-4A56-BA3F-D274B8D48FC4}"/>
                </c:ext>
              </c:extLst>
            </c:dLbl>
            <c:dLbl>
              <c:idx val="4"/>
              <c:tx>
                <c:rich>
                  <a:bodyPr/>
                  <a:lstStyle/>
                  <a:p>
                    <a:r>
                      <a:rPr lang="en-US" sz="850" b="1">
                        <a:solidFill>
                          <a:srgbClr val="13807B"/>
                        </a:solidFill>
                      </a:rPr>
                      <a:t>63</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305F-4A56-BA3F-D274B8D48FC4}"/>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Sheet1!$A$2:$A$6</c:f>
              <c:strCache>
                <c:ptCount val="5"/>
                <c:pt idx="0">
                  <c:v>2T25</c:v>
                </c:pt>
                <c:pt idx="1">
                  <c:v>3T25</c:v>
                </c:pt>
                <c:pt idx="2">
                  <c:v>4T25</c:v>
                </c:pt>
                <c:pt idx="3">
                  <c:v>1T26</c:v>
                </c:pt>
                <c:pt idx="4">
                  <c:v>2T26*</c:v>
                </c:pt>
              </c:strCache>
            </c:strRef>
          </c:cat>
          <c:val>
            <c:numRef>
              <c:f>Sheet1!$B$2:$B$6</c:f>
              <c:numCache>
                <c:formatCode>General</c:formatCode>
                <c:ptCount val="5"/>
                <c:pt idx="0">
                  <c:v>42.823790909306318</c:v>
                </c:pt>
                <c:pt idx="1">
                  <c:v>42.679880574388839</c:v>
                </c:pt>
                <c:pt idx="2">
                  <c:v>51.191725449884316</c:v>
                </c:pt>
                <c:pt idx="3">
                  <c:v>20.386825488762351</c:v>
                </c:pt>
                <c:pt idx="4">
                  <c:v>63.449225945516311</c:v>
                </c:pt>
              </c:numCache>
            </c:numRef>
          </c:val>
          <c:smooth val="0"/>
          <c:extLst>
            <c:ext xmlns:c16="http://schemas.microsoft.com/office/drawing/2014/chart" uri="{C3380CC4-5D6E-409C-BE32-E72D297353CC}">
              <c16:uniqueId val="{00000005-305F-4A56-BA3F-D274B8D48FC4}"/>
            </c:ext>
          </c:extLst>
        </c:ser>
        <c:ser>
          <c:idx val="1"/>
          <c:order val="1"/>
          <c:tx>
            <c:strRef>
              <c:f>Sheet1!$C$1</c:f>
              <c:strCache>
                <c:ptCount val="1"/>
                <c:pt idx="0">
                  <c:v>Pasivos S/ 1–20K</c:v>
                </c:pt>
              </c:strCache>
            </c:strRef>
          </c:tx>
          <c:spPr>
            <a:ln w="25400">
              <a:solidFill>
                <a:srgbClr val="E5173F"/>
              </a:solidFill>
            </a:ln>
          </c:spPr>
          <c:marker>
            <c:symbol val="circle"/>
            <c:size val="6"/>
            <c:spPr>
              <a:solidFill>
                <a:srgbClr val="E5173F"/>
              </a:solidFill>
              <a:ln>
                <a:solidFill>
                  <a:srgbClr val="E5173F"/>
                </a:solidFill>
              </a:ln>
            </c:spPr>
          </c:marker>
          <c:dLbls>
            <c:dLbl>
              <c:idx val="0"/>
              <c:tx>
                <c:rich>
                  <a:bodyPr/>
                  <a:lstStyle/>
                  <a:p>
                    <a:r>
                      <a:rPr lang="en-US" sz="850" b="1">
                        <a:solidFill>
                          <a:srgbClr val="E5173F"/>
                        </a:solidFill>
                      </a:rPr>
                      <a:t>51</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305F-4A56-BA3F-D274B8D48FC4}"/>
                </c:ext>
              </c:extLst>
            </c:dLbl>
            <c:dLbl>
              <c:idx val="1"/>
              <c:tx>
                <c:rich>
                  <a:bodyPr/>
                  <a:lstStyle/>
                  <a:p>
                    <a:r>
                      <a:rPr lang="en-US" sz="850" b="1">
                        <a:solidFill>
                          <a:srgbClr val="E5173F"/>
                        </a:solidFill>
                      </a:rPr>
                      <a:t>63</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305F-4A56-BA3F-D274B8D48FC4}"/>
                </c:ext>
              </c:extLst>
            </c:dLbl>
            <c:dLbl>
              <c:idx val="2"/>
              <c:tx>
                <c:rich>
                  <a:bodyPr/>
                  <a:lstStyle/>
                  <a:p>
                    <a:r>
                      <a:rPr lang="en-US" sz="850" b="1">
                        <a:solidFill>
                          <a:srgbClr val="E5173F"/>
                        </a:solidFill>
                      </a:rPr>
                      <a:t>61</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8-305F-4A56-BA3F-D274B8D48FC4}"/>
                </c:ext>
              </c:extLst>
            </c:dLbl>
            <c:dLbl>
              <c:idx val="3"/>
              <c:tx>
                <c:rich>
                  <a:bodyPr/>
                  <a:lstStyle/>
                  <a:p>
                    <a:r>
                      <a:rPr lang="en-US" sz="850" b="1">
                        <a:solidFill>
                          <a:srgbClr val="E5173F"/>
                        </a:solidFill>
                      </a:rPr>
                      <a:t>66</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9-305F-4A56-BA3F-D274B8D48FC4}"/>
                </c:ext>
              </c:extLst>
            </c:dLbl>
            <c:dLbl>
              <c:idx val="4"/>
              <c:tx>
                <c:rich>
                  <a:bodyPr/>
                  <a:lstStyle/>
                  <a:p>
                    <a:r>
                      <a:rPr lang="en-US" sz="850" b="1">
                        <a:solidFill>
                          <a:srgbClr val="E5173F"/>
                        </a:solidFill>
                      </a:rPr>
                      <a:t>86</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A-305F-4A56-BA3F-D274B8D48FC4}"/>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Sheet1!$A$2:$A$6</c:f>
              <c:strCache>
                <c:ptCount val="5"/>
                <c:pt idx="0">
                  <c:v>2T25</c:v>
                </c:pt>
                <c:pt idx="1">
                  <c:v>3T25</c:v>
                </c:pt>
                <c:pt idx="2">
                  <c:v>4T25</c:v>
                </c:pt>
                <c:pt idx="3">
                  <c:v>1T26</c:v>
                </c:pt>
                <c:pt idx="4">
                  <c:v>2T26*</c:v>
                </c:pt>
              </c:strCache>
            </c:strRef>
          </c:cat>
          <c:val>
            <c:numRef>
              <c:f>Sheet1!$C$2:$C$6</c:f>
              <c:numCache>
                <c:formatCode>General</c:formatCode>
                <c:ptCount val="5"/>
                <c:pt idx="0">
                  <c:v>51.07432736029017</c:v>
                </c:pt>
                <c:pt idx="1">
                  <c:v>63.309291332941129</c:v>
                </c:pt>
                <c:pt idx="2">
                  <c:v>61.470458974567244</c:v>
                </c:pt>
                <c:pt idx="3">
                  <c:v>65.884292623239133</c:v>
                </c:pt>
                <c:pt idx="4">
                  <c:v>85.593310443218996</c:v>
                </c:pt>
              </c:numCache>
            </c:numRef>
          </c:val>
          <c:smooth val="0"/>
          <c:extLst>
            <c:ext xmlns:c16="http://schemas.microsoft.com/office/drawing/2014/chart" uri="{C3380CC4-5D6E-409C-BE32-E72D297353CC}">
              <c16:uniqueId val="{0000000B-305F-4A56-BA3F-D274B8D48FC4}"/>
            </c:ext>
          </c:extLst>
        </c:ser>
        <c:ser>
          <c:idx val="2"/>
          <c:order val="2"/>
          <c:tx>
            <c:strRef>
              <c:f>Sheet1!$D$1</c:f>
              <c:strCache>
                <c:ptCount val="1"/>
                <c:pt idx="0">
                  <c:v>Total</c:v>
                </c:pt>
              </c:strCache>
            </c:strRef>
          </c:tx>
          <c:spPr>
            <a:ln w="25400">
              <a:solidFill>
                <a:srgbClr val="555555"/>
              </a:solidFill>
              <a:prstDash val="dash"/>
            </a:ln>
          </c:spPr>
          <c:marker>
            <c:symbol val="triangle"/>
            <c:size val="6"/>
            <c:spPr>
              <a:solidFill>
                <a:srgbClr val="555555"/>
              </a:solidFill>
              <a:ln>
                <a:solidFill>
                  <a:srgbClr val="555555"/>
                </a:solidFill>
              </a:ln>
            </c:spPr>
          </c:marker>
          <c:dLbls>
            <c:dLbl>
              <c:idx val="0"/>
              <c:tx>
                <c:rich>
                  <a:bodyPr/>
                  <a:lstStyle/>
                  <a:p>
                    <a:r>
                      <a:rPr lang="en-US" sz="850" b="1">
                        <a:solidFill>
                          <a:srgbClr val="555555"/>
                        </a:solidFill>
                      </a:rPr>
                      <a:t>48</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C-305F-4A56-BA3F-D274B8D48FC4}"/>
                </c:ext>
              </c:extLst>
            </c:dLbl>
            <c:dLbl>
              <c:idx val="1"/>
              <c:tx>
                <c:rich>
                  <a:bodyPr/>
                  <a:lstStyle/>
                  <a:p>
                    <a:r>
                      <a:rPr lang="en-US" sz="850" b="1">
                        <a:solidFill>
                          <a:srgbClr val="555555"/>
                        </a:solidFill>
                      </a:rPr>
                      <a:t>57</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D-305F-4A56-BA3F-D274B8D48FC4}"/>
                </c:ext>
              </c:extLst>
            </c:dLbl>
            <c:dLbl>
              <c:idx val="2"/>
              <c:tx>
                <c:rich>
                  <a:bodyPr/>
                  <a:lstStyle/>
                  <a:p>
                    <a:r>
                      <a:rPr lang="en-US" sz="850" b="1">
                        <a:solidFill>
                          <a:srgbClr val="555555"/>
                        </a:solidFill>
                      </a:rPr>
                      <a:t>48</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E-305F-4A56-BA3F-D274B8D48FC4}"/>
                </c:ext>
              </c:extLst>
            </c:dLbl>
            <c:dLbl>
              <c:idx val="3"/>
              <c:tx>
                <c:rich>
                  <a:bodyPr/>
                  <a:lstStyle/>
                  <a:p>
                    <a:r>
                      <a:rPr lang="en-US" sz="850" b="1">
                        <a:solidFill>
                          <a:srgbClr val="555555"/>
                        </a:solidFill>
                      </a:rPr>
                      <a:t>51</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F-305F-4A56-BA3F-D274B8D48FC4}"/>
                </c:ext>
              </c:extLst>
            </c:dLbl>
            <c:dLbl>
              <c:idx val="4"/>
              <c:tx>
                <c:rich>
                  <a:bodyPr/>
                  <a:lstStyle/>
                  <a:p>
                    <a:r>
                      <a:rPr lang="en-US" sz="850" b="1">
                        <a:solidFill>
                          <a:srgbClr val="555555"/>
                        </a:solidFill>
                      </a:rPr>
                      <a:t>81</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0-305F-4A56-BA3F-D274B8D48FC4}"/>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Sheet1!$A$2:$A$6</c:f>
              <c:strCache>
                <c:ptCount val="5"/>
                <c:pt idx="0">
                  <c:v>2T25</c:v>
                </c:pt>
                <c:pt idx="1">
                  <c:v>3T25</c:v>
                </c:pt>
                <c:pt idx="2">
                  <c:v>4T25</c:v>
                </c:pt>
                <c:pt idx="3">
                  <c:v>1T26</c:v>
                </c:pt>
                <c:pt idx="4">
                  <c:v>2T26*</c:v>
                </c:pt>
              </c:strCache>
            </c:strRef>
          </c:cat>
          <c:val>
            <c:numRef>
              <c:f>Sheet1!$D$2:$D$6</c:f>
              <c:numCache>
                <c:formatCode>General</c:formatCode>
                <c:ptCount val="5"/>
                <c:pt idx="0">
                  <c:v>48.075713595543611</c:v>
                </c:pt>
                <c:pt idx="1">
                  <c:v>56.745033754054496</c:v>
                </c:pt>
                <c:pt idx="2">
                  <c:v>48.297884916306586</c:v>
                </c:pt>
                <c:pt idx="3">
                  <c:v>51.077744437916337</c:v>
                </c:pt>
                <c:pt idx="4">
                  <c:v>80.576930068316258</c:v>
                </c:pt>
              </c:numCache>
            </c:numRef>
          </c:val>
          <c:smooth val="0"/>
          <c:extLst>
            <c:ext xmlns:c16="http://schemas.microsoft.com/office/drawing/2014/chart" uri="{C3380CC4-5D6E-409C-BE32-E72D297353CC}">
              <c16:uniqueId val="{00000011-305F-4A56-BA3F-D274B8D48FC4}"/>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low"/>
        <c:spPr>
          <a:ln>
            <a:solidFill>
              <a:srgbClr val="B8C2C1"/>
            </a:solidFill>
          </a:ln>
        </c:spPr>
        <c:txPr>
          <a:bodyPr/>
          <a:lstStyle/>
          <a:p>
            <a:pPr>
              <a:defRPr sz="800">
                <a:solidFill>
                  <a:srgbClr val="2F3B3A"/>
                </a:solidFill>
              </a:defRPr>
            </a:pPr>
            <a:endParaRPr lang="es-PE"/>
          </a:p>
        </c:txPr>
        <c:crossAx val="2140495176"/>
        <c:crosses val="autoZero"/>
        <c:auto val="1"/>
        <c:lblAlgn val="ctr"/>
        <c:lblOffset val="100"/>
        <c:noMultiLvlLbl val="0"/>
      </c:catAx>
      <c:valAx>
        <c:axId val="2140495176"/>
        <c:scaling>
          <c:orientation val="minMax"/>
          <c:max val="96"/>
          <c:min val="10"/>
        </c:scaling>
        <c:delete val="1"/>
        <c:axPos val="l"/>
        <c:numFmt formatCode="0" sourceLinked="0"/>
        <c:majorTickMark val="out"/>
        <c:minorTickMark val="none"/>
        <c:tickLblPos val="nextTo"/>
        <c:crossAx val="2118791784"/>
        <c:crosses val="autoZero"/>
        <c:crossBetween val="between"/>
      </c:valAx>
    </c:plotArea>
    <c:legend>
      <c:legendPos val="t"/>
      <c:overlay val="0"/>
      <c:txPr>
        <a:bodyPr/>
        <a:lstStyle/>
        <a:p>
          <a:pPr>
            <a:defRPr sz="800"/>
          </a:pPr>
          <a:endParaRPr lang="es-PE"/>
        </a:p>
      </c:txPr>
    </c:legend>
    <c:plotVisOnly val="1"/>
    <c:dispBlanksAs val="gap"/>
    <c:showDLblsOverMax val="0"/>
  </c:chart>
  <c:txPr>
    <a:bodyPr/>
    <a:lstStyle/>
    <a:p>
      <a:pPr>
        <a:defRPr sz="1800"/>
      </a:pPr>
      <a:endParaRPr lang="en-US"/>
    </a:p>
  </c:txPr>
  <c:externalData r:id="rId1">
    <c:autoUpdate val="0"/>
  </c:externalData>
</c:chartSpace>
</file>

<file path=ppt/charts/chart5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lineChart>
        <c:grouping val="standard"/>
        <c:varyColors val="0"/>
        <c:ser>
          <c:idx val="0"/>
          <c:order val="0"/>
          <c:tx>
            <c:strRef>
              <c:f>Sheet1!$B$1</c:f>
              <c:strCache>
                <c:ptCount val="1"/>
                <c:pt idx="0">
                  <c:v>Ofertada a desembolsos</c:v>
                </c:pt>
              </c:strCache>
            </c:strRef>
          </c:tx>
          <c:spPr>
            <a:ln w="25400">
              <a:solidFill>
                <a:srgbClr val="8E9B9A"/>
              </a:solidFill>
              <a:prstDash val="dash"/>
            </a:ln>
          </c:spPr>
          <c:marker>
            <c:symbol val="circle"/>
            <c:size val="6"/>
            <c:spPr>
              <a:solidFill>
                <a:srgbClr val="8E9B9A"/>
              </a:solidFill>
              <a:ln>
                <a:solidFill>
                  <a:srgbClr val="8E9B9A"/>
                </a:solidFill>
              </a:ln>
            </c:spPr>
          </c:marker>
          <c:dLbls>
            <c:dLbl>
              <c:idx val="0"/>
              <c:tx>
                <c:rich>
                  <a:bodyPr/>
                  <a:lstStyle/>
                  <a:p>
                    <a:r>
                      <a:rPr lang="en-US" sz="900" b="1">
                        <a:solidFill>
                          <a:srgbClr val="8E9B9A"/>
                        </a:solidFill>
                      </a:rPr>
                      <a:t>23,8</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90BC-4FE4-9048-7060AFAB3FB0}"/>
                </c:ext>
              </c:extLst>
            </c:dLbl>
            <c:dLbl>
              <c:idx val="1"/>
              <c:tx>
                <c:rich>
                  <a:bodyPr/>
                  <a:lstStyle/>
                  <a:p>
                    <a:r>
                      <a:rPr lang="en-US" sz="900" b="1">
                        <a:solidFill>
                          <a:srgbClr val="8E9B9A"/>
                        </a:solidFill>
                      </a:rPr>
                      <a:t>26,5</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90BC-4FE4-9048-7060AFAB3FB0}"/>
                </c:ext>
              </c:extLst>
            </c:dLbl>
            <c:dLbl>
              <c:idx val="2"/>
              <c:tx>
                <c:rich>
                  <a:bodyPr/>
                  <a:lstStyle/>
                  <a:p>
                    <a:r>
                      <a:rPr lang="en-US" sz="900" b="1">
                        <a:solidFill>
                          <a:srgbClr val="8E9B9A"/>
                        </a:solidFill>
                      </a:rPr>
                      <a:t>23,5</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90BC-4FE4-9048-7060AFAB3FB0}"/>
                </c:ext>
              </c:extLst>
            </c:dLbl>
            <c:dLbl>
              <c:idx val="3"/>
              <c:tx>
                <c:rich>
                  <a:bodyPr/>
                  <a:lstStyle/>
                  <a:p>
                    <a:r>
                      <a:rPr lang="en-US" sz="900" b="1">
                        <a:solidFill>
                          <a:srgbClr val="8E9B9A"/>
                        </a:solidFill>
                      </a:rPr>
                      <a:t>21,8</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90BC-4FE4-9048-7060AFAB3FB0}"/>
                </c:ext>
              </c:extLst>
            </c:dLbl>
            <c:dLbl>
              <c:idx val="4"/>
              <c:tx>
                <c:rich>
                  <a:bodyPr/>
                  <a:lstStyle/>
                  <a:p>
                    <a:r>
                      <a:rPr lang="en-US" sz="900" b="1">
                        <a:solidFill>
                          <a:srgbClr val="8E9B9A"/>
                        </a:solidFill>
                      </a:rPr>
                      <a:t>21,1</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90BC-4FE4-9048-7060AFAB3FB0}"/>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Sheet1!$A$2:$A$6</c:f>
              <c:strCache>
                <c:ptCount val="5"/>
                <c:pt idx="0">
                  <c:v>2T25</c:v>
                </c:pt>
                <c:pt idx="1">
                  <c:v>3T25</c:v>
                </c:pt>
                <c:pt idx="2">
                  <c:v>4T25</c:v>
                </c:pt>
                <c:pt idx="3">
                  <c:v>1T26</c:v>
                </c:pt>
                <c:pt idx="4">
                  <c:v>2T26*</c:v>
                </c:pt>
              </c:strCache>
            </c:strRef>
          </c:cat>
          <c:val>
            <c:numRef>
              <c:f>Sheet1!$B$2:$B$6</c:f>
              <c:numCache>
                <c:formatCode>General</c:formatCode>
                <c:ptCount val="5"/>
                <c:pt idx="0">
                  <c:v>23.8</c:v>
                </c:pt>
                <c:pt idx="1">
                  <c:v>26.5</c:v>
                </c:pt>
                <c:pt idx="2">
                  <c:v>23.5</c:v>
                </c:pt>
                <c:pt idx="3">
                  <c:v>21.8</c:v>
                </c:pt>
                <c:pt idx="4">
                  <c:v>21.1</c:v>
                </c:pt>
              </c:numCache>
            </c:numRef>
          </c:val>
          <c:smooth val="0"/>
          <c:extLst>
            <c:ext xmlns:c16="http://schemas.microsoft.com/office/drawing/2014/chart" uri="{C3380CC4-5D6E-409C-BE32-E72D297353CC}">
              <c16:uniqueId val="{00000005-90BC-4FE4-9048-7060AFAB3FB0}"/>
            </c:ext>
          </c:extLst>
        </c:ser>
        <c:ser>
          <c:idx val="1"/>
          <c:order val="1"/>
          <c:tx>
            <c:strRef>
              <c:f>Sheet1!$C$1</c:f>
              <c:strCache>
                <c:ptCount val="1"/>
                <c:pt idx="0">
                  <c:v>Desembolsada</c:v>
                </c:pt>
              </c:strCache>
            </c:strRef>
          </c:tx>
          <c:spPr>
            <a:ln w="25400">
              <a:solidFill>
                <a:srgbClr val="2F6FDE"/>
              </a:solidFill>
            </a:ln>
          </c:spPr>
          <c:marker>
            <c:symbol val="circle"/>
            <c:size val="6"/>
            <c:spPr>
              <a:solidFill>
                <a:srgbClr val="2F6FDE"/>
              </a:solidFill>
              <a:ln>
                <a:solidFill>
                  <a:srgbClr val="2F6FDE"/>
                </a:solidFill>
              </a:ln>
            </c:spPr>
          </c:marker>
          <c:dLbls>
            <c:dLbl>
              <c:idx val="0"/>
              <c:tx>
                <c:rich>
                  <a:bodyPr/>
                  <a:lstStyle/>
                  <a:p>
                    <a:r>
                      <a:rPr lang="en-US" sz="900" b="1">
                        <a:solidFill>
                          <a:srgbClr val="2F6FDE"/>
                        </a:solidFill>
                      </a:rPr>
                      <a:t>21,4</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90BC-4FE4-9048-7060AFAB3FB0}"/>
                </c:ext>
              </c:extLst>
            </c:dLbl>
            <c:dLbl>
              <c:idx val="1"/>
              <c:tx>
                <c:rich>
                  <a:bodyPr/>
                  <a:lstStyle/>
                  <a:p>
                    <a:r>
                      <a:rPr lang="en-US" sz="900" b="1">
                        <a:solidFill>
                          <a:srgbClr val="2F6FDE"/>
                        </a:solidFill>
                      </a:rPr>
                      <a:t>23,5</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90BC-4FE4-9048-7060AFAB3FB0}"/>
                </c:ext>
              </c:extLst>
            </c:dLbl>
            <c:dLbl>
              <c:idx val="2"/>
              <c:tx>
                <c:rich>
                  <a:bodyPr/>
                  <a:lstStyle/>
                  <a:p>
                    <a:r>
                      <a:rPr lang="en-US" sz="900" b="1">
                        <a:solidFill>
                          <a:srgbClr val="2F6FDE"/>
                        </a:solidFill>
                      </a:rPr>
                      <a:t>21,5</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8-90BC-4FE4-9048-7060AFAB3FB0}"/>
                </c:ext>
              </c:extLst>
            </c:dLbl>
            <c:dLbl>
              <c:idx val="3"/>
              <c:tx>
                <c:rich>
                  <a:bodyPr/>
                  <a:lstStyle/>
                  <a:p>
                    <a:r>
                      <a:rPr lang="en-US" sz="900" b="1">
                        <a:solidFill>
                          <a:srgbClr val="2F6FDE"/>
                        </a:solidFill>
                      </a:rPr>
                      <a:t>19,5</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9-90BC-4FE4-9048-7060AFAB3FB0}"/>
                </c:ext>
              </c:extLst>
            </c:dLbl>
            <c:dLbl>
              <c:idx val="4"/>
              <c:tx>
                <c:rich>
                  <a:bodyPr/>
                  <a:lstStyle/>
                  <a:p>
                    <a:r>
                      <a:rPr lang="en-US" sz="900" b="1">
                        <a:solidFill>
                          <a:srgbClr val="2F6FDE"/>
                        </a:solidFill>
                      </a:rPr>
                      <a:t>20,9</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A-90BC-4FE4-9048-7060AFAB3FB0}"/>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Sheet1!$A$2:$A$6</c:f>
              <c:strCache>
                <c:ptCount val="5"/>
                <c:pt idx="0">
                  <c:v>2T25</c:v>
                </c:pt>
                <c:pt idx="1">
                  <c:v>3T25</c:v>
                </c:pt>
                <c:pt idx="2">
                  <c:v>4T25</c:v>
                </c:pt>
                <c:pt idx="3">
                  <c:v>1T26</c:v>
                </c:pt>
                <c:pt idx="4">
                  <c:v>2T26*</c:v>
                </c:pt>
              </c:strCache>
            </c:strRef>
          </c:cat>
          <c:val>
            <c:numRef>
              <c:f>Sheet1!$C$2:$C$6</c:f>
              <c:numCache>
                <c:formatCode>General</c:formatCode>
                <c:ptCount val="5"/>
                <c:pt idx="0">
                  <c:v>21.356382978723406</c:v>
                </c:pt>
                <c:pt idx="1">
                  <c:v>23.496907216494847</c:v>
                </c:pt>
                <c:pt idx="2">
                  <c:v>21.522222111111109</c:v>
                </c:pt>
                <c:pt idx="3">
                  <c:v>19.546776565202059</c:v>
                </c:pt>
                <c:pt idx="4">
                  <c:v>20.858399683571591</c:v>
                </c:pt>
              </c:numCache>
            </c:numRef>
          </c:val>
          <c:smooth val="0"/>
          <c:extLst>
            <c:ext xmlns:c16="http://schemas.microsoft.com/office/drawing/2014/chart" uri="{C3380CC4-5D6E-409C-BE32-E72D297353CC}">
              <c16:uniqueId val="{0000000B-90BC-4FE4-9048-7060AFAB3FB0}"/>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low"/>
        <c:spPr>
          <a:ln>
            <a:solidFill>
              <a:srgbClr val="B8C2C1"/>
            </a:solidFill>
          </a:ln>
        </c:spPr>
        <c:txPr>
          <a:bodyPr/>
          <a:lstStyle/>
          <a:p>
            <a:pPr>
              <a:defRPr sz="750">
                <a:solidFill>
                  <a:srgbClr val="2F3B3A"/>
                </a:solidFill>
              </a:defRPr>
            </a:pPr>
            <a:endParaRPr lang="es-PE"/>
          </a:p>
        </c:txPr>
        <c:crossAx val="2140495176"/>
        <c:crosses val="autoZero"/>
        <c:auto val="1"/>
        <c:lblAlgn val="ctr"/>
        <c:lblOffset val="100"/>
        <c:noMultiLvlLbl val="0"/>
      </c:catAx>
      <c:valAx>
        <c:axId val="2140495176"/>
        <c:scaling>
          <c:orientation val="minMax"/>
          <c:max val="29"/>
          <c:min val="16"/>
        </c:scaling>
        <c:delete val="1"/>
        <c:axPos val="l"/>
        <c:numFmt formatCode="0.0" sourceLinked="0"/>
        <c:majorTickMark val="out"/>
        <c:minorTickMark val="none"/>
        <c:tickLblPos val="nextTo"/>
        <c:crossAx val="2118791784"/>
        <c:crosses val="autoZero"/>
        <c:crossBetween val="between"/>
      </c:valAx>
    </c:plotArea>
    <c:legend>
      <c:legendPos val="t"/>
      <c:overlay val="0"/>
      <c:txPr>
        <a:bodyPr/>
        <a:lstStyle/>
        <a:p>
          <a:pPr>
            <a:defRPr sz="750"/>
          </a:pPr>
          <a:endParaRPr lang="es-PE"/>
        </a:p>
      </c:txPr>
    </c:legend>
    <c:plotVisOnly val="1"/>
    <c:dispBlanksAs val="gap"/>
    <c:showDLblsOverMax val="0"/>
  </c:chart>
  <c:txPr>
    <a:bodyPr/>
    <a:lstStyle/>
    <a:p>
      <a:pPr>
        <a:defRPr sz="1800"/>
      </a:pPr>
      <a:endParaRPr lang="en-US"/>
    </a:p>
  </c:txPr>
  <c:externalData r:id="rId1">
    <c:autoUpdate val="0"/>
  </c:externalData>
</c:chartSpace>
</file>

<file path=ppt/charts/chart5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lineChart>
        <c:grouping val="standard"/>
        <c:varyColors val="0"/>
        <c:ser>
          <c:idx val="0"/>
          <c:order val="0"/>
          <c:tx>
            <c:strRef>
              <c:f>Sheet1!$B$1</c:f>
              <c:strCache>
                <c:ptCount val="1"/>
                <c:pt idx="0">
                  <c:v>Ofertada a desembolsos</c:v>
                </c:pt>
              </c:strCache>
            </c:strRef>
          </c:tx>
          <c:spPr>
            <a:ln w="25400">
              <a:solidFill>
                <a:srgbClr val="8E9B9A"/>
              </a:solidFill>
              <a:prstDash val="dash"/>
            </a:ln>
          </c:spPr>
          <c:marker>
            <c:symbol val="circle"/>
            <c:size val="6"/>
            <c:spPr>
              <a:solidFill>
                <a:srgbClr val="8E9B9A"/>
              </a:solidFill>
              <a:ln>
                <a:solidFill>
                  <a:srgbClr val="8E9B9A"/>
                </a:solidFill>
              </a:ln>
            </c:spPr>
          </c:marker>
          <c:dLbls>
            <c:dLbl>
              <c:idx val="0"/>
              <c:tx>
                <c:rich>
                  <a:bodyPr/>
                  <a:lstStyle/>
                  <a:p>
                    <a:r>
                      <a:rPr lang="en-US" sz="900" b="1">
                        <a:solidFill>
                          <a:srgbClr val="8E9B9A"/>
                        </a:solidFill>
                      </a:rPr>
                      <a:t>22,5</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3F31-4880-AC73-BE363AFC1047}"/>
                </c:ext>
              </c:extLst>
            </c:dLbl>
            <c:dLbl>
              <c:idx val="1"/>
              <c:tx>
                <c:rich>
                  <a:bodyPr/>
                  <a:lstStyle/>
                  <a:p>
                    <a:r>
                      <a:rPr lang="en-US" sz="900" b="1">
                        <a:solidFill>
                          <a:srgbClr val="8E9B9A"/>
                        </a:solidFill>
                      </a:rPr>
                      <a:t>25,5</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3F31-4880-AC73-BE363AFC1047}"/>
                </c:ext>
              </c:extLst>
            </c:dLbl>
            <c:dLbl>
              <c:idx val="2"/>
              <c:tx>
                <c:rich>
                  <a:bodyPr/>
                  <a:lstStyle/>
                  <a:p>
                    <a:r>
                      <a:rPr lang="en-US" sz="900" b="1">
                        <a:solidFill>
                          <a:srgbClr val="8E9B9A"/>
                        </a:solidFill>
                      </a:rPr>
                      <a:t>19,5</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3F31-4880-AC73-BE363AFC1047}"/>
                </c:ext>
              </c:extLst>
            </c:dLbl>
            <c:dLbl>
              <c:idx val="3"/>
              <c:tx>
                <c:rich>
                  <a:bodyPr/>
                  <a:lstStyle/>
                  <a:p>
                    <a:r>
                      <a:rPr lang="en-US" sz="900" b="1">
                        <a:solidFill>
                          <a:srgbClr val="8E9B9A"/>
                        </a:solidFill>
                      </a:rPr>
                      <a:t>24,4</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3F31-4880-AC73-BE363AFC1047}"/>
                </c:ext>
              </c:extLst>
            </c:dLbl>
            <c:dLbl>
              <c:idx val="4"/>
              <c:tx>
                <c:rich>
                  <a:bodyPr/>
                  <a:lstStyle/>
                  <a:p>
                    <a:r>
                      <a:rPr lang="en-US" sz="900" b="1">
                        <a:solidFill>
                          <a:srgbClr val="8E9B9A"/>
                        </a:solidFill>
                      </a:rPr>
                      <a:t>22,8</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3F31-4880-AC73-BE363AFC1047}"/>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Sheet1!$A$2:$A$6</c:f>
              <c:strCache>
                <c:ptCount val="5"/>
                <c:pt idx="0">
                  <c:v>2T25</c:v>
                </c:pt>
                <c:pt idx="1">
                  <c:v>3T25</c:v>
                </c:pt>
                <c:pt idx="2">
                  <c:v>4T25</c:v>
                </c:pt>
                <c:pt idx="3">
                  <c:v>1T26</c:v>
                </c:pt>
                <c:pt idx="4">
                  <c:v>2T26*</c:v>
                </c:pt>
              </c:strCache>
            </c:strRef>
          </c:cat>
          <c:val>
            <c:numRef>
              <c:f>Sheet1!$B$2:$B$6</c:f>
              <c:numCache>
                <c:formatCode>General</c:formatCode>
                <c:ptCount val="5"/>
                <c:pt idx="0">
                  <c:v>22.5</c:v>
                </c:pt>
                <c:pt idx="1">
                  <c:v>25.5</c:v>
                </c:pt>
                <c:pt idx="2">
                  <c:v>19.5</c:v>
                </c:pt>
                <c:pt idx="3">
                  <c:v>24.4</c:v>
                </c:pt>
                <c:pt idx="4">
                  <c:v>22.8</c:v>
                </c:pt>
              </c:numCache>
            </c:numRef>
          </c:val>
          <c:smooth val="0"/>
          <c:extLst>
            <c:ext xmlns:c16="http://schemas.microsoft.com/office/drawing/2014/chart" uri="{C3380CC4-5D6E-409C-BE32-E72D297353CC}">
              <c16:uniqueId val="{00000005-3F31-4880-AC73-BE363AFC1047}"/>
            </c:ext>
          </c:extLst>
        </c:ser>
        <c:ser>
          <c:idx val="1"/>
          <c:order val="1"/>
          <c:tx>
            <c:strRef>
              <c:f>Sheet1!$C$1</c:f>
              <c:strCache>
                <c:ptCount val="1"/>
                <c:pt idx="0">
                  <c:v>Desembolsada</c:v>
                </c:pt>
              </c:strCache>
            </c:strRef>
          </c:tx>
          <c:spPr>
            <a:ln w="25400">
              <a:solidFill>
                <a:srgbClr val="2F6FDE"/>
              </a:solidFill>
            </a:ln>
          </c:spPr>
          <c:marker>
            <c:symbol val="circle"/>
            <c:size val="6"/>
            <c:spPr>
              <a:solidFill>
                <a:srgbClr val="2F6FDE"/>
              </a:solidFill>
              <a:ln>
                <a:solidFill>
                  <a:srgbClr val="2F6FDE"/>
                </a:solidFill>
              </a:ln>
            </c:spPr>
          </c:marker>
          <c:dLbls>
            <c:dLbl>
              <c:idx val="0"/>
              <c:tx>
                <c:rich>
                  <a:bodyPr/>
                  <a:lstStyle/>
                  <a:p>
                    <a:r>
                      <a:rPr lang="en-US" sz="900" b="1">
                        <a:solidFill>
                          <a:srgbClr val="2F6FDE"/>
                        </a:solidFill>
                      </a:rPr>
                      <a:t>21,1</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3F31-4880-AC73-BE363AFC1047}"/>
                </c:ext>
              </c:extLst>
            </c:dLbl>
            <c:dLbl>
              <c:idx val="1"/>
              <c:tx>
                <c:rich>
                  <a:bodyPr/>
                  <a:lstStyle/>
                  <a:p>
                    <a:r>
                      <a:rPr lang="en-US" sz="900" b="1">
                        <a:solidFill>
                          <a:srgbClr val="2F6FDE"/>
                        </a:solidFill>
                      </a:rPr>
                      <a:t>22,5</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3F31-4880-AC73-BE363AFC1047}"/>
                </c:ext>
              </c:extLst>
            </c:dLbl>
            <c:dLbl>
              <c:idx val="2"/>
              <c:tx>
                <c:rich>
                  <a:bodyPr/>
                  <a:lstStyle/>
                  <a:p>
                    <a:r>
                      <a:rPr lang="en-US" sz="900" b="1">
                        <a:solidFill>
                          <a:srgbClr val="2F6FDE"/>
                        </a:solidFill>
                      </a:rPr>
                      <a:t>16,6</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8-3F31-4880-AC73-BE363AFC1047}"/>
                </c:ext>
              </c:extLst>
            </c:dLbl>
            <c:dLbl>
              <c:idx val="3"/>
              <c:tx>
                <c:rich>
                  <a:bodyPr/>
                  <a:lstStyle/>
                  <a:p>
                    <a:r>
                      <a:rPr lang="en-US" sz="900" b="1">
                        <a:solidFill>
                          <a:srgbClr val="2F6FDE"/>
                        </a:solidFill>
                      </a:rPr>
                      <a:t>18,3</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9-3F31-4880-AC73-BE363AFC1047}"/>
                </c:ext>
              </c:extLst>
            </c:dLbl>
            <c:dLbl>
              <c:idx val="4"/>
              <c:tx>
                <c:rich>
                  <a:bodyPr/>
                  <a:lstStyle/>
                  <a:p>
                    <a:r>
                      <a:rPr lang="en-US" sz="900" b="1">
                        <a:solidFill>
                          <a:srgbClr val="2F6FDE"/>
                        </a:solidFill>
                      </a:rPr>
                      <a:t>19,1</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A-3F31-4880-AC73-BE363AFC1047}"/>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Sheet1!$A$2:$A$6</c:f>
              <c:strCache>
                <c:ptCount val="5"/>
                <c:pt idx="0">
                  <c:v>2T25</c:v>
                </c:pt>
                <c:pt idx="1">
                  <c:v>3T25</c:v>
                </c:pt>
                <c:pt idx="2">
                  <c:v>4T25</c:v>
                </c:pt>
                <c:pt idx="3">
                  <c:v>1T26</c:v>
                </c:pt>
                <c:pt idx="4">
                  <c:v>2T26*</c:v>
                </c:pt>
              </c:strCache>
            </c:strRef>
          </c:cat>
          <c:val>
            <c:numRef>
              <c:f>Sheet1!$C$2:$C$6</c:f>
              <c:numCache>
                <c:formatCode>General</c:formatCode>
                <c:ptCount val="5"/>
                <c:pt idx="0">
                  <c:v>21.133333518518516</c:v>
                </c:pt>
                <c:pt idx="1">
                  <c:v>22.453924747723025</c:v>
                </c:pt>
                <c:pt idx="2">
                  <c:v>16.581395348837209</c:v>
                </c:pt>
                <c:pt idx="3">
                  <c:v>18.333333333333332</c:v>
                </c:pt>
                <c:pt idx="4">
                  <c:v>19.142970577562092</c:v>
                </c:pt>
              </c:numCache>
            </c:numRef>
          </c:val>
          <c:smooth val="0"/>
          <c:extLst>
            <c:ext xmlns:c16="http://schemas.microsoft.com/office/drawing/2014/chart" uri="{C3380CC4-5D6E-409C-BE32-E72D297353CC}">
              <c16:uniqueId val="{0000000B-3F31-4880-AC73-BE363AFC1047}"/>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low"/>
        <c:spPr>
          <a:ln>
            <a:solidFill>
              <a:srgbClr val="B8C2C1"/>
            </a:solidFill>
          </a:ln>
        </c:spPr>
        <c:txPr>
          <a:bodyPr/>
          <a:lstStyle/>
          <a:p>
            <a:pPr>
              <a:defRPr sz="750">
                <a:solidFill>
                  <a:srgbClr val="2F3B3A"/>
                </a:solidFill>
              </a:defRPr>
            </a:pPr>
            <a:endParaRPr lang="es-PE"/>
          </a:p>
        </c:txPr>
        <c:crossAx val="2140495176"/>
        <c:crosses val="autoZero"/>
        <c:auto val="1"/>
        <c:lblAlgn val="ctr"/>
        <c:lblOffset val="100"/>
        <c:noMultiLvlLbl val="0"/>
      </c:catAx>
      <c:valAx>
        <c:axId val="2140495176"/>
        <c:scaling>
          <c:orientation val="minMax"/>
          <c:max val="28"/>
          <c:min val="13"/>
        </c:scaling>
        <c:delete val="1"/>
        <c:axPos val="l"/>
        <c:numFmt formatCode="0.0" sourceLinked="0"/>
        <c:majorTickMark val="out"/>
        <c:minorTickMark val="none"/>
        <c:tickLblPos val="nextTo"/>
        <c:crossAx val="2118791784"/>
        <c:crosses val="autoZero"/>
        <c:crossBetween val="between"/>
      </c:valAx>
    </c:plotArea>
    <c:legend>
      <c:legendPos val="t"/>
      <c:overlay val="0"/>
      <c:txPr>
        <a:bodyPr/>
        <a:lstStyle/>
        <a:p>
          <a:pPr>
            <a:defRPr sz="750"/>
          </a:pPr>
          <a:endParaRPr lang="es-PE"/>
        </a:p>
      </c:txPr>
    </c:legend>
    <c:plotVisOnly val="1"/>
    <c:dispBlanksAs val="gap"/>
    <c:showDLblsOverMax val="0"/>
  </c:chart>
  <c:txPr>
    <a:bodyPr/>
    <a:lstStyle/>
    <a:p>
      <a:pPr>
        <a:defRPr sz="1800"/>
      </a:pPr>
      <a:endParaRPr lang="en-US"/>
    </a:p>
  </c:txPr>
  <c:externalData r:id="rId1">
    <c:autoUpdate val="0"/>
  </c:externalData>
</c:chartSpace>
</file>

<file path=ppt/charts/chart5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0"/>
    <c:plotArea>
      <c:layout>
        <c:manualLayout>
          <c:layoutTarget val="inner"/>
          <c:xMode val="edge"/>
          <c:yMode val="edge"/>
          <c:x val="0.02"/>
          <c:y val="0.17"/>
          <c:w val="0.96"/>
          <c:h val="0.7"/>
        </c:manualLayout>
      </c:layout>
      <c:barChart>
        <c:barDir val="col"/>
        <c:grouping val="clustered"/>
        <c:varyColors val="1"/>
        <c:ser>
          <c:idx val="0"/>
          <c:order val="0"/>
          <c:tx>
            <c:strRef>
              <c:f>Sheet1!$B$1</c:f>
              <c:strCache>
                <c:ptCount val="1"/>
                <c:pt idx="0">
                  <c:v>Ofertada a desembolsos</c:v>
                </c:pt>
              </c:strCache>
            </c:strRef>
          </c:tx>
          <c:spPr>
            <a:solidFill>
              <a:srgbClr val="8E9B9A"/>
            </a:solidFill>
          </c:spPr>
          <c:invertIfNegative val="1"/>
          <c:dLbls>
            <c:dLbl>
              <c:idx val="0"/>
              <c:tx>
                <c:rich>
                  <a:bodyPr/>
                  <a:lstStyle/>
                  <a:p>
                    <a:r>
                      <a:rPr lang="en-US" sz="850" b="1">
                        <a:solidFill>
                          <a:srgbClr val="6E7E7D"/>
                        </a:solidFill>
                      </a:rPr>
                      <a:t>21,8</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60C2-42E0-A29D-A9DAC1E3D8F6}"/>
                </c:ext>
              </c:extLst>
            </c:dLbl>
            <c:dLbl>
              <c:idx val="1"/>
              <c:tx>
                <c:rich>
                  <a:bodyPr/>
                  <a:lstStyle/>
                  <a:p>
                    <a:r>
                      <a:rPr lang="en-US" sz="850" b="1">
                        <a:solidFill>
                          <a:srgbClr val="6E7E7D"/>
                        </a:solidFill>
                      </a:rPr>
                      <a:t>25,9</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60C2-42E0-A29D-A9DAC1E3D8F6}"/>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Sheet1!$A$2:$A$3</c:f>
              <c:strCache>
                <c:ptCount val="2"/>
                <c:pt idx="0">
                  <c:v>Pasivos &lt; 1K</c:v>
                </c:pt>
                <c:pt idx="1">
                  <c:v>Pasivos 1–20K</c:v>
                </c:pt>
              </c:strCache>
            </c:strRef>
          </c:cat>
          <c:val>
            <c:numRef>
              <c:f>Sheet1!$B$2:$B$3</c:f>
              <c:numCache>
                <c:formatCode>General</c:formatCode>
                <c:ptCount val="2"/>
                <c:pt idx="0">
                  <c:v>21.8</c:v>
                </c:pt>
                <c:pt idx="1">
                  <c:v>25.9</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60C2-42E0-A29D-A9DAC1E3D8F6}"/>
            </c:ext>
          </c:extLst>
        </c:ser>
        <c:ser>
          <c:idx val="1"/>
          <c:order val="1"/>
          <c:tx>
            <c:strRef>
              <c:f>Sheet1!$C$1</c:f>
              <c:strCache>
                <c:ptCount val="1"/>
                <c:pt idx="0">
                  <c:v>Desembolsada</c:v>
                </c:pt>
              </c:strCache>
            </c:strRef>
          </c:tx>
          <c:spPr>
            <a:solidFill>
              <a:srgbClr val="2F6FDE"/>
            </a:solidFill>
          </c:spPr>
          <c:invertIfNegative val="1"/>
          <c:dLbls>
            <c:dLbl>
              <c:idx val="0"/>
              <c:tx>
                <c:rich>
                  <a:bodyPr/>
                  <a:lstStyle/>
                  <a:p>
                    <a:r>
                      <a:rPr lang="en-US" sz="850" b="1">
                        <a:solidFill>
                          <a:srgbClr val="2F6FDE"/>
                        </a:solidFill>
                      </a:rPr>
                      <a:t>19,0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60C2-42E0-A29D-A9DAC1E3D8F6}"/>
                </c:ext>
              </c:extLst>
            </c:dLbl>
            <c:dLbl>
              <c:idx val="1"/>
              <c:tx>
                <c:rich>
                  <a:bodyPr/>
                  <a:lstStyle/>
                  <a:p>
                    <a:r>
                      <a:rPr lang="en-US" sz="850" b="1">
                        <a:solidFill>
                          <a:srgbClr val="2F6FDE"/>
                        </a:solidFill>
                      </a:rPr>
                      <a:t>22,0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60C2-42E0-A29D-A9DAC1E3D8F6}"/>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Sheet1!$A$2:$A$3</c:f>
              <c:strCache>
                <c:ptCount val="2"/>
                <c:pt idx="0">
                  <c:v>Pasivos &lt; 1K</c:v>
                </c:pt>
                <c:pt idx="1">
                  <c:v>Pasivos 1–20K</c:v>
                </c:pt>
              </c:strCache>
            </c:strRef>
          </c:cat>
          <c:val>
            <c:numRef>
              <c:f>Sheet1!$C$2:$C$3</c:f>
              <c:numCache>
                <c:formatCode>General</c:formatCode>
                <c:ptCount val="2"/>
                <c:pt idx="0">
                  <c:v>19</c:v>
                </c:pt>
                <c:pt idx="1">
                  <c:v>22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5-60C2-42E0-A29D-A9DAC1E3D8F6}"/>
            </c:ext>
          </c:extLst>
        </c:ser>
        <c:ser>
          <c:idx val="2"/>
          <c:order val="2"/>
          <c:tx>
            <c:strRef>
              <c:f>Sheet1!$D$1</c:f>
              <c:strCache>
                <c:ptCount val="1"/>
                <c:pt idx="0">
                  <c:v>Competencia</c:v>
                </c:pt>
              </c:strCache>
            </c:strRef>
          </c:tx>
          <c:spPr>
            <a:solidFill>
              <a:srgbClr val="F28C28"/>
            </a:solidFill>
          </c:spPr>
          <c:invertIfNegative val="1"/>
          <c:cat>
            <c:strRef>
              <c:f>Sheet1!$A$2:$A$3</c:f>
              <c:strCache>
                <c:ptCount val="2"/>
                <c:pt idx="0">
                  <c:v>Pasivos &lt; 1K</c:v>
                </c:pt>
                <c:pt idx="1">
                  <c:v>Pasivos 1–20K</c:v>
                </c:pt>
              </c:strCache>
            </c:strRef>
          </c:cat>
          <c:val>
            <c:numRef>
              <c:f>Sheet1!$D$2:$D$3</c:f>
              <c:numCache>
                <c:formatCode>General</c:formatCode>
                <c:ptCount val="2"/>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6-60C2-42E0-A29D-A9DAC1E3D8F6}"/>
            </c:ext>
          </c:extLst>
        </c:ser>
        <c:dLbls>
          <c:showLegendKey val="0"/>
          <c:showVal val="0"/>
          <c:showCatName val="0"/>
          <c:showSerName val="0"/>
          <c:showPercent val="0"/>
          <c:showBubbleSize val="0"/>
        </c:dLbls>
        <c:gapWidth val="60"/>
        <c:axId val="-2068027336"/>
        <c:axId val="-2113994440"/>
      </c:barChart>
      <c:catAx>
        <c:axId val="-2068027336"/>
        <c:scaling>
          <c:orientation val="minMax"/>
        </c:scaling>
        <c:delete val="0"/>
        <c:axPos val="b"/>
        <c:numFmt formatCode="General" sourceLinked="0"/>
        <c:majorTickMark val="out"/>
        <c:minorTickMark val="none"/>
        <c:tickLblPos val="none"/>
        <c:spPr>
          <a:ln>
            <a:solidFill>
              <a:srgbClr val="B8C2C1"/>
            </a:solidFill>
          </a:ln>
        </c:spPr>
        <c:txPr>
          <a:bodyPr/>
          <a:lstStyle/>
          <a:p>
            <a:pPr>
              <a:defRPr sz="100"/>
            </a:pPr>
            <a:endParaRPr lang="es-PE"/>
          </a:p>
        </c:txPr>
        <c:crossAx val="-2113994440"/>
        <c:crosses val="autoZero"/>
        <c:auto val="1"/>
        <c:lblAlgn val="ctr"/>
        <c:lblOffset val="100"/>
        <c:noMultiLvlLbl val="0"/>
      </c:catAx>
      <c:valAx>
        <c:axId val="-2113994440"/>
        <c:scaling>
          <c:orientation val="minMax"/>
          <c:max val="28.4"/>
          <c:min val="17"/>
        </c:scaling>
        <c:delete val="1"/>
        <c:axPos val="l"/>
        <c:numFmt formatCode="General" sourceLinked="1"/>
        <c:majorTickMark val="out"/>
        <c:minorTickMark val="none"/>
        <c:tickLblPos val="nextTo"/>
        <c:crossAx val="-2068027336"/>
        <c:crosses val="autoZero"/>
        <c:crossBetween val="between"/>
      </c:valAx>
    </c:plotArea>
    <c:legend>
      <c:legendPos val="t"/>
      <c:overlay val="0"/>
      <c:txPr>
        <a:bodyPr/>
        <a:lstStyle/>
        <a:p>
          <a:pPr>
            <a:defRPr sz="800"/>
          </a:pPr>
          <a:endParaRPr lang="es-PE"/>
        </a:p>
      </c:txPr>
    </c:legend>
    <c:plotVisOnly val="1"/>
    <c:dispBlanksAs val="gap"/>
    <c:showDLblsOverMax val="1"/>
  </c:chart>
  <c:txPr>
    <a:bodyPr/>
    <a:lstStyle/>
    <a:p>
      <a:pPr>
        <a:defRPr sz="1800"/>
      </a:pPr>
      <a:endParaRPr lang="en-US"/>
    </a:p>
  </c:txPr>
  <c:externalData r:id="rId1">
    <c:autoUpdate val="0"/>
  </c:externalData>
</c:chartSpace>
</file>

<file path=ppt/charts/chart5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0"/>
    <c:plotArea>
      <c:layout>
        <c:manualLayout>
          <c:layoutTarget val="inner"/>
          <c:xMode val="edge"/>
          <c:yMode val="edge"/>
          <c:x val="0.02"/>
          <c:y val="0.06"/>
          <c:w val="0.96"/>
          <c:h val="0.8"/>
        </c:manualLayout>
      </c:layout>
      <c:barChart>
        <c:barDir val="col"/>
        <c:grouping val="clustered"/>
        <c:varyColors val="1"/>
        <c:ser>
          <c:idx val="0"/>
          <c:order val="0"/>
          <c:tx>
            <c:strRef>
              <c:f>Sheet1!$B$1</c:f>
              <c:strCache>
                <c:ptCount val="1"/>
                <c:pt idx="0">
                  <c:v>Ofertada a desembolsos</c:v>
                </c:pt>
              </c:strCache>
            </c:strRef>
          </c:tx>
          <c:spPr>
            <a:solidFill>
              <a:srgbClr val="8E9B9A"/>
            </a:solidFill>
          </c:spPr>
          <c:invertIfNegative val="1"/>
          <c:dLbls>
            <c:dLbl>
              <c:idx val="0"/>
              <c:tx>
                <c:rich>
                  <a:bodyPr/>
                  <a:lstStyle/>
                  <a:p>
                    <a:r>
                      <a:rPr lang="en-US" sz="850" b="1">
                        <a:solidFill>
                          <a:srgbClr val="6E7E7D"/>
                        </a:solidFill>
                      </a:rPr>
                      <a:t>22,9</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9B5A-42DB-87F7-749F076AC835}"/>
                </c:ext>
              </c:extLst>
            </c:dLbl>
            <c:dLbl>
              <c:idx val="1"/>
              <c:tx>
                <c:rich>
                  <a:bodyPr/>
                  <a:lstStyle/>
                  <a:p>
                    <a:r>
                      <a:rPr lang="en-US" sz="850" b="1">
                        <a:solidFill>
                          <a:srgbClr val="6E7E7D"/>
                        </a:solidFill>
                      </a:rPr>
                      <a:t>21,6</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9B5A-42DB-87F7-749F076AC835}"/>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Sheet1!$A$2:$A$3</c:f>
              <c:strCache>
                <c:ptCount val="2"/>
                <c:pt idx="0">
                  <c:v>Pasivos &lt; 1K</c:v>
                </c:pt>
                <c:pt idx="1">
                  <c:v>Pasivos 1–20K</c:v>
                </c:pt>
              </c:strCache>
            </c:strRef>
          </c:cat>
          <c:val>
            <c:numRef>
              <c:f>Sheet1!$B$2:$B$3</c:f>
              <c:numCache>
                <c:formatCode>General</c:formatCode>
                <c:ptCount val="2"/>
                <c:pt idx="0">
                  <c:v>22.9</c:v>
                </c:pt>
                <c:pt idx="1">
                  <c:v>21.6</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9B5A-42DB-87F7-749F076AC835}"/>
            </c:ext>
          </c:extLst>
        </c:ser>
        <c:ser>
          <c:idx val="1"/>
          <c:order val="1"/>
          <c:tx>
            <c:strRef>
              <c:f>Sheet1!$C$1</c:f>
              <c:strCache>
                <c:ptCount val="1"/>
                <c:pt idx="0">
                  <c:v>Desembolsada</c:v>
                </c:pt>
              </c:strCache>
            </c:strRef>
          </c:tx>
          <c:spPr>
            <a:solidFill>
              <a:srgbClr val="2F6FDE"/>
            </a:solidFill>
          </c:spPr>
          <c:invertIfNegative val="1"/>
          <c:dLbls>
            <c:dLbl>
              <c:idx val="0"/>
              <c:tx>
                <c:rich>
                  <a:bodyPr/>
                  <a:lstStyle/>
                  <a:p>
                    <a:r>
                      <a:rPr lang="en-US" sz="850" b="1">
                        <a:solidFill>
                          <a:srgbClr val="2F6FDE"/>
                        </a:solidFill>
                      </a:rPr>
                      <a:t>19,0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9B5A-42DB-87F7-749F076AC835}"/>
                </c:ext>
              </c:extLst>
            </c:dLbl>
            <c:dLbl>
              <c:idx val="1"/>
              <c:tx>
                <c:rich>
                  <a:bodyPr/>
                  <a:lstStyle/>
                  <a:p>
                    <a:r>
                      <a:rPr lang="en-US" sz="850" b="1">
                        <a:solidFill>
                          <a:srgbClr val="2F6FDE"/>
                        </a:solidFill>
                      </a:rPr>
                      <a:t>20,0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9B5A-42DB-87F7-749F076AC835}"/>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Sheet1!$A$2:$A$3</c:f>
              <c:strCache>
                <c:ptCount val="2"/>
                <c:pt idx="0">
                  <c:v>Pasivos &lt; 1K</c:v>
                </c:pt>
                <c:pt idx="1">
                  <c:v>Pasivos 1–20K</c:v>
                </c:pt>
              </c:strCache>
            </c:strRef>
          </c:cat>
          <c:val>
            <c:numRef>
              <c:f>Sheet1!$C$2:$C$3</c:f>
              <c:numCache>
                <c:formatCode>General</c:formatCode>
                <c:ptCount val="2"/>
                <c:pt idx="0">
                  <c:v>19</c:v>
                </c:pt>
                <c:pt idx="1">
                  <c:v>20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5-9B5A-42DB-87F7-749F076AC835}"/>
            </c:ext>
          </c:extLst>
        </c:ser>
        <c:ser>
          <c:idx val="2"/>
          <c:order val="2"/>
          <c:tx>
            <c:strRef>
              <c:f>Sheet1!$D$1</c:f>
              <c:strCache>
                <c:ptCount val="1"/>
                <c:pt idx="0">
                  <c:v>Competencia</c:v>
                </c:pt>
              </c:strCache>
            </c:strRef>
          </c:tx>
          <c:spPr>
            <a:solidFill>
              <a:srgbClr val="F28C28"/>
            </a:solidFill>
          </c:spPr>
          <c:invertIfNegative val="1"/>
          <c:cat>
            <c:strRef>
              <c:f>Sheet1!$A$2:$A$3</c:f>
              <c:strCache>
                <c:ptCount val="2"/>
                <c:pt idx="0">
                  <c:v>Pasivos &lt; 1K</c:v>
                </c:pt>
                <c:pt idx="1">
                  <c:v>Pasivos 1–20K</c:v>
                </c:pt>
              </c:strCache>
            </c:strRef>
          </c:cat>
          <c:val>
            <c:numRef>
              <c:f>Sheet1!$D$2:$D$3</c:f>
              <c:numCache>
                <c:formatCode>General</c:formatCode>
                <c:ptCount val="2"/>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6-9B5A-42DB-87F7-749F076AC835}"/>
            </c:ext>
          </c:extLst>
        </c:ser>
        <c:dLbls>
          <c:showLegendKey val="0"/>
          <c:showVal val="0"/>
          <c:showCatName val="0"/>
          <c:showSerName val="0"/>
          <c:showPercent val="0"/>
          <c:showBubbleSize val="0"/>
        </c:dLbls>
        <c:gapWidth val="60"/>
        <c:axId val="-2068027336"/>
        <c:axId val="-2113994440"/>
      </c:barChart>
      <c:catAx>
        <c:axId val="-2068027336"/>
        <c:scaling>
          <c:orientation val="minMax"/>
        </c:scaling>
        <c:delete val="0"/>
        <c:axPos val="b"/>
        <c:numFmt formatCode="General" sourceLinked="0"/>
        <c:majorTickMark val="out"/>
        <c:minorTickMark val="none"/>
        <c:tickLblPos val="none"/>
        <c:spPr>
          <a:ln>
            <a:solidFill>
              <a:srgbClr val="B8C2C1"/>
            </a:solidFill>
          </a:ln>
        </c:spPr>
        <c:txPr>
          <a:bodyPr/>
          <a:lstStyle/>
          <a:p>
            <a:pPr>
              <a:defRPr sz="100"/>
            </a:pPr>
            <a:endParaRPr lang="es-PE"/>
          </a:p>
        </c:txPr>
        <c:crossAx val="-2113994440"/>
        <c:crosses val="autoZero"/>
        <c:auto val="1"/>
        <c:lblAlgn val="ctr"/>
        <c:lblOffset val="100"/>
        <c:noMultiLvlLbl val="0"/>
      </c:catAx>
      <c:valAx>
        <c:axId val="-2113994440"/>
        <c:scaling>
          <c:orientation val="minMax"/>
          <c:max val="24.4"/>
          <c:min val="17"/>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E83A715-1D7D-9942-AA85-B04E4D96B198}" type="datetimeFigureOut">
              <a:rPr lang="en-PE" smtClean="0"/>
              <a:t>10/20/2026</a:t>
            </a:fld>
            <a:endParaRPr lang="en-P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3559650-794F-AD4F-8009-3CDD75412BF7}" type="slidenum">
              <a:rPr lang="en-PE" smtClean="0"/>
              <a:t>‹Nº›</a:t>
            </a:fld>
            <a:endParaRPr lang="en-PE"/>
          </a:p>
        </p:txBody>
      </p:sp>
    </p:spTree>
    <p:extLst>
      <p:ext uri="{BB962C8B-B14F-4D97-AF65-F5344CB8AC3E}">
        <p14:creationId xmlns:p14="http://schemas.microsoft.com/office/powerpoint/2010/main" val="14886860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Lógica de materialidad (abr 25–may 26)</a:t>
            </a:r>
          </a:p>
          <a:p>
            <a:r>
              <a:t>La materialidad responde a una pregunta: ¿la tasa de la competencia de este tramo es lo bastante estable para sacar una conclusión de precio? Se mide con dos condiciones.</a:t>
            </a:r>
          </a:p>
          <a:p>
            <a:r>
              <a:t>1. Al menos 50 fracasos en el periodo. Asegura que el tramo pierda un volumen relevante frente a la competencia y que la tasa no describa a un puñado de clientes.</a:t>
            </a:r>
          </a:p>
          <a:p>
            <a:r>
              <a:t>2. Al menos 30 fracasos con tasa inferida. Base: con bootstrap (2.000 remuestras de la mediana ponderada) la precisión es de unos ±7 pp con 5 tasas, ±4 pp con 15, ±2,6 pp con 30 y ±2 pp con 50. Desde 30 tasas el error baja de ±3 pp y la lectura es estable.</a:t>
            </a:r>
          </a:p>
          <a:p>
            <a:r>
              <a:t>Exclusiones: los tramos hasta S/ 170K quedan sin lectura de competencia porque tienen pocos fracasos y su tasa inferida queda por debajo de nuestro desembolso, lo que no tiene sentido en tickets chicos. Gran Cuenta SSFF S/ 1,5–3,8MM y Reactivar pasivos ≥ S/ 5K se excluyen porque su tasa inferida no tiene sentido frente al share: en Gran Cuenta la competencia sale más cara que nuestro desembolso mientras perdemos la mitad del share, y en Reactivar sale en 11%, muy por debajo del mercado.</a:t>
            </a:r>
          </a:p>
          <a:p>
            <a:r>
              <a:t>Por qué el periodo completo: da más casos y coincide con la cascada de cobertura. La tasa que se grafica en cada segmento es la de ene–may 2026, para que sea comparable con nuestra oferta y desembolso actuales.</a:t>
            </a:r>
          </a:p>
          <a:p>
            <a:r>
              <a:t>Las 18 aperturas no tienen todas las tasas inferidas: el resto está en tramos intermedios de cada segmento (ver tabla oculta previa).</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Lógica de materialidad (2026)</a:t>
            </a:r>
          </a:p>
          <a:p>
            <a:r>
              <a:t>Misma pregunta que en la lámina anterior, pero solo con ene–may 2026, el mismo periodo de las barras de TEA.</a:t>
            </a:r>
          </a:p>
          <a:p>
            <a:r>
              <a:t>1. Concluyente: al menos 50 fracasos y 30 tasas inferidas en 2026. Base: con bootstrap, 30 tasas dan una precisión de unos ±2,6 pp en la mediana ponderada de la competencia.</a:t>
            </a:r>
          </a:p>
          <a:p>
            <a:r>
              <a:t>2. Indicativa: al menos 30 fracasos y 10 tasas en 2026. Con 10 tasas la precisión es de unos ±5 pp, así que solo se lee el sentido de la diferencia (si la competencia cobra más o menos que nuestro desembolso) y los pilotos se plantean de forma gradual. El piso de 30 fracasos evita incluir tramos con muy poco volumen perdido.</a:t>
            </a:r>
          </a:p>
          <a:p>
            <a:r>
              <a:t>Exclusiones: tramos hasta S/ 170K sin lectura de competencia (pocos fracasos y tasa inferida que no tiene sentido en tickets chicos). Gran Cuenta SSFF S/ 1,5–3,8MM y Reactivar pasivos ≥ S/ 5K se excluyen porque su tasa inferida no tiene sentido frente al share: en Gran Cuenta la competencia sale más cara que nuestro desembolso mientras perdemos la mitad del share, y en Reactivar sale en 11%, muy por debajo del mercado.</a:t>
            </a:r>
          </a:p>
          <a:p>
            <a:r>
              <a:t>Precisión de los tramos concluyentes en 2026 (bootstrap): Socio &lt; 1K ±0,8 pp, Estratégica &gt; 350K ±1,5 pp, Maduro &gt; 350K ±1,6 pp, Socio ≥ 5K ±1,6 pp, Maduro 250–350K ±2,7 pp, Ancla &gt; 350K ±3,3 pp. Indicativas: Gran Cuenta ≤ 1,5MM ±4,9 pp, Reactivar &lt; 1K ±4,2 pp, Nuevo &gt; 250K ±5,2 pp. Solo los dos primeros permiten citar diferencias en pbs con confianza.</a:t>
            </a:r>
          </a:p>
          <a:p>
            <a:r>
              <a:t>Las 18 aperturas no tienen todas las tasas inferidas de 2026: el resto está en tramos intermedios (ver tabla oculta previa).</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5"/>
          </p:nvPr>
        </p:nvSpPr>
        <p:spPr/>
        <p:txBody>
          <a:bodyPr/>
          <a:lstStyle/>
          <a:p>
            <a:fld id="{B3559650-794F-AD4F-8009-3CDD75412BF7}" type="slidenum">
              <a:rPr lang="en-PE" smtClean="0"/>
              <a:t>10</a:t>
            </a:fld>
            <a:endParaRPr lang="en-PE"/>
          </a:p>
        </p:txBody>
      </p:sp>
    </p:spTree>
    <p:extLst>
      <p:ext uri="{BB962C8B-B14F-4D97-AF65-F5344CB8AC3E}">
        <p14:creationId xmlns:p14="http://schemas.microsoft.com/office/powerpoint/2010/main" val="7147996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BF2C8-CFE5-58D0-A780-88250CF0ED1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E"/>
          </a:p>
        </p:txBody>
      </p:sp>
      <p:sp>
        <p:nvSpPr>
          <p:cNvPr id="3" name="Subtitle 2">
            <a:extLst>
              <a:ext uri="{FF2B5EF4-FFF2-40B4-BE49-F238E27FC236}">
                <a16:creationId xmlns:a16="http://schemas.microsoft.com/office/drawing/2014/main" id="{AAB6A164-F2F6-B72C-2884-5DC9DA92427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E"/>
          </a:p>
        </p:txBody>
      </p:sp>
      <p:sp>
        <p:nvSpPr>
          <p:cNvPr id="4" name="Date Placeholder 3">
            <a:extLst>
              <a:ext uri="{FF2B5EF4-FFF2-40B4-BE49-F238E27FC236}">
                <a16:creationId xmlns:a16="http://schemas.microsoft.com/office/drawing/2014/main" id="{F4A20341-D18C-4DBB-9F19-4289B967A1B7}"/>
              </a:ext>
            </a:extLst>
          </p:cNvPr>
          <p:cNvSpPr>
            <a:spLocks noGrp="1"/>
          </p:cNvSpPr>
          <p:nvPr>
            <p:ph type="dt" sz="half" idx="10"/>
          </p:nvPr>
        </p:nvSpPr>
        <p:spPr/>
        <p:txBody>
          <a:bodyPr/>
          <a:lstStyle/>
          <a:p>
            <a:fld id="{C48E63A0-0DAA-CF43-BB78-F2FE78E7FE81}" type="datetimeFigureOut">
              <a:rPr lang="en-PE" smtClean="0"/>
              <a:t>10/20/2026</a:t>
            </a:fld>
            <a:endParaRPr lang="en-PE"/>
          </a:p>
        </p:txBody>
      </p:sp>
      <p:sp>
        <p:nvSpPr>
          <p:cNvPr id="5" name="Footer Placeholder 4">
            <a:extLst>
              <a:ext uri="{FF2B5EF4-FFF2-40B4-BE49-F238E27FC236}">
                <a16:creationId xmlns:a16="http://schemas.microsoft.com/office/drawing/2014/main" id="{93AE3421-768E-5FDB-6590-FF249B6452B0}"/>
              </a:ext>
            </a:extLst>
          </p:cNvPr>
          <p:cNvSpPr>
            <a:spLocks noGrp="1"/>
          </p:cNvSpPr>
          <p:nvPr>
            <p:ph type="ftr" sz="quarter" idx="11"/>
          </p:nvPr>
        </p:nvSpPr>
        <p:spPr/>
        <p:txBody>
          <a:bodyPr/>
          <a:lstStyle/>
          <a:p>
            <a:endParaRPr lang="en-PE"/>
          </a:p>
        </p:txBody>
      </p:sp>
      <p:sp>
        <p:nvSpPr>
          <p:cNvPr id="6" name="Slide Number Placeholder 5">
            <a:extLst>
              <a:ext uri="{FF2B5EF4-FFF2-40B4-BE49-F238E27FC236}">
                <a16:creationId xmlns:a16="http://schemas.microsoft.com/office/drawing/2014/main" id="{93366516-E32A-437C-0045-75955121C6AE}"/>
              </a:ext>
            </a:extLst>
          </p:cNvPr>
          <p:cNvSpPr>
            <a:spLocks noGrp="1"/>
          </p:cNvSpPr>
          <p:nvPr>
            <p:ph type="sldNum" sz="quarter" idx="12"/>
          </p:nvPr>
        </p:nvSpPr>
        <p:spPr/>
        <p:txBody>
          <a:bodyPr/>
          <a:lstStyle/>
          <a:p>
            <a:fld id="{6453830A-9269-0646-AACE-02E2A76B5280}" type="slidenum">
              <a:rPr lang="en-PE" smtClean="0"/>
              <a:t>‹Nº›</a:t>
            </a:fld>
            <a:endParaRPr lang="en-PE"/>
          </a:p>
        </p:txBody>
      </p:sp>
    </p:spTree>
    <p:extLst>
      <p:ext uri="{BB962C8B-B14F-4D97-AF65-F5344CB8AC3E}">
        <p14:creationId xmlns:p14="http://schemas.microsoft.com/office/powerpoint/2010/main" val="4398769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10086C-6B9B-FB65-4C03-953C27C5724F}"/>
              </a:ext>
            </a:extLst>
          </p:cNvPr>
          <p:cNvSpPr>
            <a:spLocks noGrp="1"/>
          </p:cNvSpPr>
          <p:nvPr>
            <p:ph type="title"/>
          </p:nvPr>
        </p:nvSpPr>
        <p:spPr/>
        <p:txBody>
          <a:bodyPr/>
          <a:lstStyle/>
          <a:p>
            <a:r>
              <a:rPr lang="en-US"/>
              <a:t>Click to edit Master title style</a:t>
            </a:r>
            <a:endParaRPr lang="en-PE"/>
          </a:p>
        </p:txBody>
      </p:sp>
      <p:sp>
        <p:nvSpPr>
          <p:cNvPr id="3" name="Content Placeholder 2">
            <a:extLst>
              <a:ext uri="{FF2B5EF4-FFF2-40B4-BE49-F238E27FC236}">
                <a16:creationId xmlns:a16="http://schemas.microsoft.com/office/drawing/2014/main" id="{D35E655F-6C12-1EF6-6DA7-DD5F91D31F5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E"/>
          </a:p>
        </p:txBody>
      </p:sp>
      <p:sp>
        <p:nvSpPr>
          <p:cNvPr id="4" name="Date Placeholder 3">
            <a:extLst>
              <a:ext uri="{FF2B5EF4-FFF2-40B4-BE49-F238E27FC236}">
                <a16:creationId xmlns:a16="http://schemas.microsoft.com/office/drawing/2014/main" id="{5CB07710-339A-AEAF-640B-52FD23B3DCDA}"/>
              </a:ext>
            </a:extLst>
          </p:cNvPr>
          <p:cNvSpPr>
            <a:spLocks noGrp="1"/>
          </p:cNvSpPr>
          <p:nvPr>
            <p:ph type="dt" sz="half" idx="10"/>
          </p:nvPr>
        </p:nvSpPr>
        <p:spPr/>
        <p:txBody>
          <a:bodyPr/>
          <a:lstStyle/>
          <a:p>
            <a:fld id="{C48E63A0-0DAA-CF43-BB78-F2FE78E7FE81}" type="datetimeFigureOut">
              <a:rPr lang="en-PE" smtClean="0"/>
              <a:t>10/20/2026</a:t>
            </a:fld>
            <a:endParaRPr lang="en-PE"/>
          </a:p>
        </p:txBody>
      </p:sp>
      <p:sp>
        <p:nvSpPr>
          <p:cNvPr id="5" name="Footer Placeholder 4">
            <a:extLst>
              <a:ext uri="{FF2B5EF4-FFF2-40B4-BE49-F238E27FC236}">
                <a16:creationId xmlns:a16="http://schemas.microsoft.com/office/drawing/2014/main" id="{A6865EBE-2189-0153-F7F5-F22112394927}"/>
              </a:ext>
            </a:extLst>
          </p:cNvPr>
          <p:cNvSpPr>
            <a:spLocks noGrp="1"/>
          </p:cNvSpPr>
          <p:nvPr>
            <p:ph type="ftr" sz="quarter" idx="11"/>
          </p:nvPr>
        </p:nvSpPr>
        <p:spPr/>
        <p:txBody>
          <a:bodyPr/>
          <a:lstStyle/>
          <a:p>
            <a:endParaRPr lang="en-PE"/>
          </a:p>
        </p:txBody>
      </p:sp>
      <p:sp>
        <p:nvSpPr>
          <p:cNvPr id="6" name="Slide Number Placeholder 5">
            <a:extLst>
              <a:ext uri="{FF2B5EF4-FFF2-40B4-BE49-F238E27FC236}">
                <a16:creationId xmlns:a16="http://schemas.microsoft.com/office/drawing/2014/main" id="{6B0994CE-8EC6-FBDA-C878-E0A06ECFE0C7}"/>
              </a:ext>
            </a:extLst>
          </p:cNvPr>
          <p:cNvSpPr>
            <a:spLocks noGrp="1"/>
          </p:cNvSpPr>
          <p:nvPr>
            <p:ph type="sldNum" sz="quarter" idx="12"/>
          </p:nvPr>
        </p:nvSpPr>
        <p:spPr/>
        <p:txBody>
          <a:bodyPr/>
          <a:lstStyle/>
          <a:p>
            <a:fld id="{6453830A-9269-0646-AACE-02E2A76B5280}" type="slidenum">
              <a:rPr lang="en-PE" smtClean="0"/>
              <a:t>‹Nº›</a:t>
            </a:fld>
            <a:endParaRPr lang="en-PE"/>
          </a:p>
        </p:txBody>
      </p:sp>
    </p:spTree>
    <p:extLst>
      <p:ext uri="{BB962C8B-B14F-4D97-AF65-F5344CB8AC3E}">
        <p14:creationId xmlns:p14="http://schemas.microsoft.com/office/powerpoint/2010/main" val="22222454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22A796-39D3-D5CA-E5A8-A2EF2E275B7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E"/>
          </a:p>
        </p:txBody>
      </p:sp>
      <p:sp>
        <p:nvSpPr>
          <p:cNvPr id="3" name="Text Placeholder 2">
            <a:extLst>
              <a:ext uri="{FF2B5EF4-FFF2-40B4-BE49-F238E27FC236}">
                <a16:creationId xmlns:a16="http://schemas.microsoft.com/office/drawing/2014/main" id="{C6A486E3-C4C0-9D35-994B-BFDE90D946C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45D6FE9-263F-1665-C7D6-6A42D3A54C46}"/>
              </a:ext>
            </a:extLst>
          </p:cNvPr>
          <p:cNvSpPr>
            <a:spLocks noGrp="1"/>
          </p:cNvSpPr>
          <p:nvPr>
            <p:ph type="dt" sz="half" idx="10"/>
          </p:nvPr>
        </p:nvSpPr>
        <p:spPr/>
        <p:txBody>
          <a:bodyPr/>
          <a:lstStyle/>
          <a:p>
            <a:fld id="{C48E63A0-0DAA-CF43-BB78-F2FE78E7FE81}" type="datetimeFigureOut">
              <a:rPr lang="en-PE" smtClean="0"/>
              <a:t>10/20/2026</a:t>
            </a:fld>
            <a:endParaRPr lang="en-PE"/>
          </a:p>
        </p:txBody>
      </p:sp>
      <p:sp>
        <p:nvSpPr>
          <p:cNvPr id="5" name="Footer Placeholder 4">
            <a:extLst>
              <a:ext uri="{FF2B5EF4-FFF2-40B4-BE49-F238E27FC236}">
                <a16:creationId xmlns:a16="http://schemas.microsoft.com/office/drawing/2014/main" id="{2922C62C-B811-1D66-5F13-352ABBAE03CD}"/>
              </a:ext>
            </a:extLst>
          </p:cNvPr>
          <p:cNvSpPr>
            <a:spLocks noGrp="1"/>
          </p:cNvSpPr>
          <p:nvPr>
            <p:ph type="ftr" sz="quarter" idx="11"/>
          </p:nvPr>
        </p:nvSpPr>
        <p:spPr/>
        <p:txBody>
          <a:bodyPr/>
          <a:lstStyle/>
          <a:p>
            <a:endParaRPr lang="en-PE"/>
          </a:p>
        </p:txBody>
      </p:sp>
      <p:sp>
        <p:nvSpPr>
          <p:cNvPr id="6" name="Slide Number Placeholder 5">
            <a:extLst>
              <a:ext uri="{FF2B5EF4-FFF2-40B4-BE49-F238E27FC236}">
                <a16:creationId xmlns:a16="http://schemas.microsoft.com/office/drawing/2014/main" id="{6A293FEB-C613-6896-2223-6860B97868E3}"/>
              </a:ext>
            </a:extLst>
          </p:cNvPr>
          <p:cNvSpPr>
            <a:spLocks noGrp="1"/>
          </p:cNvSpPr>
          <p:nvPr>
            <p:ph type="sldNum" sz="quarter" idx="12"/>
          </p:nvPr>
        </p:nvSpPr>
        <p:spPr/>
        <p:txBody>
          <a:bodyPr/>
          <a:lstStyle/>
          <a:p>
            <a:fld id="{6453830A-9269-0646-AACE-02E2A76B5280}" type="slidenum">
              <a:rPr lang="en-PE" smtClean="0"/>
              <a:t>‹Nº›</a:t>
            </a:fld>
            <a:endParaRPr lang="en-PE"/>
          </a:p>
        </p:txBody>
      </p:sp>
    </p:spTree>
    <p:extLst>
      <p:ext uri="{BB962C8B-B14F-4D97-AF65-F5344CB8AC3E}">
        <p14:creationId xmlns:p14="http://schemas.microsoft.com/office/powerpoint/2010/main" val="31792950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898D8A-1EFC-5BFF-A7C9-3BD3B81EFFF2}"/>
              </a:ext>
            </a:extLst>
          </p:cNvPr>
          <p:cNvSpPr>
            <a:spLocks noGrp="1"/>
          </p:cNvSpPr>
          <p:nvPr>
            <p:ph type="title"/>
          </p:nvPr>
        </p:nvSpPr>
        <p:spPr/>
        <p:txBody>
          <a:bodyPr/>
          <a:lstStyle/>
          <a:p>
            <a:r>
              <a:rPr lang="en-US"/>
              <a:t>Click to edit Master title style</a:t>
            </a:r>
            <a:endParaRPr lang="en-PE"/>
          </a:p>
        </p:txBody>
      </p:sp>
      <p:sp>
        <p:nvSpPr>
          <p:cNvPr id="3" name="Content Placeholder 2">
            <a:extLst>
              <a:ext uri="{FF2B5EF4-FFF2-40B4-BE49-F238E27FC236}">
                <a16:creationId xmlns:a16="http://schemas.microsoft.com/office/drawing/2014/main" id="{21D6FF6C-7C15-220F-D603-6D03F1FAEC5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E"/>
          </a:p>
        </p:txBody>
      </p:sp>
      <p:sp>
        <p:nvSpPr>
          <p:cNvPr id="4" name="Content Placeholder 3">
            <a:extLst>
              <a:ext uri="{FF2B5EF4-FFF2-40B4-BE49-F238E27FC236}">
                <a16:creationId xmlns:a16="http://schemas.microsoft.com/office/drawing/2014/main" id="{E2075430-8A61-EC8E-09E3-C1AE57C405D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E"/>
          </a:p>
        </p:txBody>
      </p:sp>
      <p:sp>
        <p:nvSpPr>
          <p:cNvPr id="5" name="Date Placeholder 4">
            <a:extLst>
              <a:ext uri="{FF2B5EF4-FFF2-40B4-BE49-F238E27FC236}">
                <a16:creationId xmlns:a16="http://schemas.microsoft.com/office/drawing/2014/main" id="{40D09971-F36B-86C5-AB32-B3DB42715C7E}"/>
              </a:ext>
            </a:extLst>
          </p:cNvPr>
          <p:cNvSpPr>
            <a:spLocks noGrp="1"/>
          </p:cNvSpPr>
          <p:nvPr>
            <p:ph type="dt" sz="half" idx="10"/>
          </p:nvPr>
        </p:nvSpPr>
        <p:spPr/>
        <p:txBody>
          <a:bodyPr/>
          <a:lstStyle/>
          <a:p>
            <a:fld id="{C48E63A0-0DAA-CF43-BB78-F2FE78E7FE81}" type="datetimeFigureOut">
              <a:rPr lang="en-PE" smtClean="0"/>
              <a:t>10/20/2026</a:t>
            </a:fld>
            <a:endParaRPr lang="en-PE"/>
          </a:p>
        </p:txBody>
      </p:sp>
      <p:sp>
        <p:nvSpPr>
          <p:cNvPr id="6" name="Footer Placeholder 5">
            <a:extLst>
              <a:ext uri="{FF2B5EF4-FFF2-40B4-BE49-F238E27FC236}">
                <a16:creationId xmlns:a16="http://schemas.microsoft.com/office/drawing/2014/main" id="{08514364-AADB-3A72-984D-ABBB558266C0}"/>
              </a:ext>
            </a:extLst>
          </p:cNvPr>
          <p:cNvSpPr>
            <a:spLocks noGrp="1"/>
          </p:cNvSpPr>
          <p:nvPr>
            <p:ph type="ftr" sz="quarter" idx="11"/>
          </p:nvPr>
        </p:nvSpPr>
        <p:spPr/>
        <p:txBody>
          <a:bodyPr/>
          <a:lstStyle/>
          <a:p>
            <a:endParaRPr lang="en-PE"/>
          </a:p>
        </p:txBody>
      </p:sp>
      <p:sp>
        <p:nvSpPr>
          <p:cNvPr id="7" name="Slide Number Placeholder 6">
            <a:extLst>
              <a:ext uri="{FF2B5EF4-FFF2-40B4-BE49-F238E27FC236}">
                <a16:creationId xmlns:a16="http://schemas.microsoft.com/office/drawing/2014/main" id="{12D54D8C-B2AE-C38A-A8F9-ADE40B7CADB3}"/>
              </a:ext>
            </a:extLst>
          </p:cNvPr>
          <p:cNvSpPr>
            <a:spLocks noGrp="1"/>
          </p:cNvSpPr>
          <p:nvPr>
            <p:ph type="sldNum" sz="quarter" idx="12"/>
          </p:nvPr>
        </p:nvSpPr>
        <p:spPr/>
        <p:txBody>
          <a:bodyPr/>
          <a:lstStyle/>
          <a:p>
            <a:fld id="{6453830A-9269-0646-AACE-02E2A76B5280}" type="slidenum">
              <a:rPr lang="en-PE" smtClean="0"/>
              <a:t>‹Nº›</a:t>
            </a:fld>
            <a:endParaRPr lang="en-PE"/>
          </a:p>
        </p:txBody>
      </p:sp>
    </p:spTree>
    <p:extLst>
      <p:ext uri="{BB962C8B-B14F-4D97-AF65-F5344CB8AC3E}">
        <p14:creationId xmlns:p14="http://schemas.microsoft.com/office/powerpoint/2010/main" val="14462824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95960D-94DF-1946-A491-F59D65AE87FB}"/>
              </a:ext>
            </a:extLst>
          </p:cNvPr>
          <p:cNvSpPr>
            <a:spLocks noGrp="1"/>
          </p:cNvSpPr>
          <p:nvPr>
            <p:ph type="title"/>
          </p:nvPr>
        </p:nvSpPr>
        <p:spPr>
          <a:xfrm>
            <a:off x="839788" y="365125"/>
            <a:ext cx="10515600" cy="1325563"/>
          </a:xfrm>
        </p:spPr>
        <p:txBody>
          <a:bodyPr/>
          <a:lstStyle/>
          <a:p>
            <a:r>
              <a:rPr lang="en-US"/>
              <a:t>Click to edit Master title style</a:t>
            </a:r>
            <a:endParaRPr lang="en-PE"/>
          </a:p>
        </p:txBody>
      </p:sp>
      <p:sp>
        <p:nvSpPr>
          <p:cNvPr id="3" name="Text Placeholder 2">
            <a:extLst>
              <a:ext uri="{FF2B5EF4-FFF2-40B4-BE49-F238E27FC236}">
                <a16:creationId xmlns:a16="http://schemas.microsoft.com/office/drawing/2014/main" id="{B534B3D5-BA34-81F4-5E41-A1D2816DCB0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373785D-2244-6537-7DB0-EE6C6B29FE2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E"/>
          </a:p>
        </p:txBody>
      </p:sp>
      <p:sp>
        <p:nvSpPr>
          <p:cNvPr id="5" name="Text Placeholder 4">
            <a:extLst>
              <a:ext uri="{FF2B5EF4-FFF2-40B4-BE49-F238E27FC236}">
                <a16:creationId xmlns:a16="http://schemas.microsoft.com/office/drawing/2014/main" id="{6C6C9B95-113D-318D-22C0-3EE93D3D7EA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6A81570-1FCE-470A-DE8A-B75AFB48FB8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E"/>
          </a:p>
        </p:txBody>
      </p:sp>
      <p:sp>
        <p:nvSpPr>
          <p:cNvPr id="7" name="Date Placeholder 6">
            <a:extLst>
              <a:ext uri="{FF2B5EF4-FFF2-40B4-BE49-F238E27FC236}">
                <a16:creationId xmlns:a16="http://schemas.microsoft.com/office/drawing/2014/main" id="{CFA8F0F3-AC4B-17A8-AAEF-11D432961BBF}"/>
              </a:ext>
            </a:extLst>
          </p:cNvPr>
          <p:cNvSpPr>
            <a:spLocks noGrp="1"/>
          </p:cNvSpPr>
          <p:nvPr>
            <p:ph type="dt" sz="half" idx="10"/>
          </p:nvPr>
        </p:nvSpPr>
        <p:spPr/>
        <p:txBody>
          <a:bodyPr/>
          <a:lstStyle/>
          <a:p>
            <a:fld id="{C48E63A0-0DAA-CF43-BB78-F2FE78E7FE81}" type="datetimeFigureOut">
              <a:rPr lang="en-PE" smtClean="0"/>
              <a:t>10/20/2026</a:t>
            </a:fld>
            <a:endParaRPr lang="en-PE"/>
          </a:p>
        </p:txBody>
      </p:sp>
      <p:sp>
        <p:nvSpPr>
          <p:cNvPr id="8" name="Footer Placeholder 7">
            <a:extLst>
              <a:ext uri="{FF2B5EF4-FFF2-40B4-BE49-F238E27FC236}">
                <a16:creationId xmlns:a16="http://schemas.microsoft.com/office/drawing/2014/main" id="{797FC79F-A483-A0BB-D59B-44ED973FD676}"/>
              </a:ext>
            </a:extLst>
          </p:cNvPr>
          <p:cNvSpPr>
            <a:spLocks noGrp="1"/>
          </p:cNvSpPr>
          <p:nvPr>
            <p:ph type="ftr" sz="quarter" idx="11"/>
          </p:nvPr>
        </p:nvSpPr>
        <p:spPr/>
        <p:txBody>
          <a:bodyPr/>
          <a:lstStyle/>
          <a:p>
            <a:endParaRPr lang="en-PE"/>
          </a:p>
        </p:txBody>
      </p:sp>
      <p:sp>
        <p:nvSpPr>
          <p:cNvPr id="9" name="Slide Number Placeholder 8">
            <a:extLst>
              <a:ext uri="{FF2B5EF4-FFF2-40B4-BE49-F238E27FC236}">
                <a16:creationId xmlns:a16="http://schemas.microsoft.com/office/drawing/2014/main" id="{68E48E27-4685-7445-AC22-AAEF46C1BE8B}"/>
              </a:ext>
            </a:extLst>
          </p:cNvPr>
          <p:cNvSpPr>
            <a:spLocks noGrp="1"/>
          </p:cNvSpPr>
          <p:nvPr>
            <p:ph type="sldNum" sz="quarter" idx="12"/>
          </p:nvPr>
        </p:nvSpPr>
        <p:spPr/>
        <p:txBody>
          <a:bodyPr/>
          <a:lstStyle/>
          <a:p>
            <a:fld id="{6453830A-9269-0646-AACE-02E2A76B5280}" type="slidenum">
              <a:rPr lang="en-PE" smtClean="0"/>
              <a:t>‹Nº›</a:t>
            </a:fld>
            <a:endParaRPr lang="en-PE"/>
          </a:p>
        </p:txBody>
      </p:sp>
    </p:spTree>
    <p:extLst>
      <p:ext uri="{BB962C8B-B14F-4D97-AF65-F5344CB8AC3E}">
        <p14:creationId xmlns:p14="http://schemas.microsoft.com/office/powerpoint/2010/main" val="5123408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F87FE8-30CB-9FAA-0A22-A4667D6A9C4C}"/>
              </a:ext>
            </a:extLst>
          </p:cNvPr>
          <p:cNvSpPr>
            <a:spLocks noGrp="1"/>
          </p:cNvSpPr>
          <p:nvPr>
            <p:ph type="title"/>
          </p:nvPr>
        </p:nvSpPr>
        <p:spPr/>
        <p:txBody>
          <a:bodyPr/>
          <a:lstStyle/>
          <a:p>
            <a:r>
              <a:rPr lang="en-US"/>
              <a:t>Click to edit Master title style</a:t>
            </a:r>
            <a:endParaRPr lang="en-PE"/>
          </a:p>
        </p:txBody>
      </p:sp>
      <p:sp>
        <p:nvSpPr>
          <p:cNvPr id="3" name="Date Placeholder 2">
            <a:extLst>
              <a:ext uri="{FF2B5EF4-FFF2-40B4-BE49-F238E27FC236}">
                <a16:creationId xmlns:a16="http://schemas.microsoft.com/office/drawing/2014/main" id="{74A6C9E6-1D6E-B448-EFA9-701BDDDC9607}"/>
              </a:ext>
            </a:extLst>
          </p:cNvPr>
          <p:cNvSpPr>
            <a:spLocks noGrp="1"/>
          </p:cNvSpPr>
          <p:nvPr>
            <p:ph type="dt" sz="half" idx="10"/>
          </p:nvPr>
        </p:nvSpPr>
        <p:spPr/>
        <p:txBody>
          <a:bodyPr/>
          <a:lstStyle/>
          <a:p>
            <a:fld id="{C48E63A0-0DAA-CF43-BB78-F2FE78E7FE81}" type="datetimeFigureOut">
              <a:rPr lang="en-PE" smtClean="0"/>
              <a:t>10/20/2026</a:t>
            </a:fld>
            <a:endParaRPr lang="en-PE"/>
          </a:p>
        </p:txBody>
      </p:sp>
      <p:sp>
        <p:nvSpPr>
          <p:cNvPr id="4" name="Footer Placeholder 3">
            <a:extLst>
              <a:ext uri="{FF2B5EF4-FFF2-40B4-BE49-F238E27FC236}">
                <a16:creationId xmlns:a16="http://schemas.microsoft.com/office/drawing/2014/main" id="{5E4FFCE9-16A3-C353-EA50-8E848F037863}"/>
              </a:ext>
            </a:extLst>
          </p:cNvPr>
          <p:cNvSpPr>
            <a:spLocks noGrp="1"/>
          </p:cNvSpPr>
          <p:nvPr>
            <p:ph type="ftr" sz="quarter" idx="11"/>
          </p:nvPr>
        </p:nvSpPr>
        <p:spPr/>
        <p:txBody>
          <a:bodyPr/>
          <a:lstStyle/>
          <a:p>
            <a:endParaRPr lang="en-PE"/>
          </a:p>
        </p:txBody>
      </p:sp>
      <p:sp>
        <p:nvSpPr>
          <p:cNvPr id="5" name="Slide Number Placeholder 4">
            <a:extLst>
              <a:ext uri="{FF2B5EF4-FFF2-40B4-BE49-F238E27FC236}">
                <a16:creationId xmlns:a16="http://schemas.microsoft.com/office/drawing/2014/main" id="{B164F824-C5C0-3D9E-B769-C639CA068686}"/>
              </a:ext>
            </a:extLst>
          </p:cNvPr>
          <p:cNvSpPr>
            <a:spLocks noGrp="1"/>
          </p:cNvSpPr>
          <p:nvPr>
            <p:ph type="sldNum" sz="quarter" idx="12"/>
          </p:nvPr>
        </p:nvSpPr>
        <p:spPr/>
        <p:txBody>
          <a:bodyPr/>
          <a:lstStyle/>
          <a:p>
            <a:fld id="{6453830A-9269-0646-AACE-02E2A76B5280}" type="slidenum">
              <a:rPr lang="en-PE" smtClean="0"/>
              <a:t>‹Nº›</a:t>
            </a:fld>
            <a:endParaRPr lang="en-PE"/>
          </a:p>
        </p:txBody>
      </p:sp>
    </p:spTree>
    <p:extLst>
      <p:ext uri="{BB962C8B-B14F-4D97-AF65-F5344CB8AC3E}">
        <p14:creationId xmlns:p14="http://schemas.microsoft.com/office/powerpoint/2010/main" val="24738407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8B994AD-0A9F-9C7C-C6EA-E32C63448C86}"/>
              </a:ext>
            </a:extLst>
          </p:cNvPr>
          <p:cNvSpPr>
            <a:spLocks noGrp="1"/>
          </p:cNvSpPr>
          <p:nvPr>
            <p:ph type="dt" sz="half" idx="10"/>
          </p:nvPr>
        </p:nvSpPr>
        <p:spPr/>
        <p:txBody>
          <a:bodyPr/>
          <a:lstStyle/>
          <a:p>
            <a:fld id="{C48E63A0-0DAA-CF43-BB78-F2FE78E7FE81}" type="datetimeFigureOut">
              <a:rPr lang="en-PE" smtClean="0"/>
              <a:t>10/20/2026</a:t>
            </a:fld>
            <a:endParaRPr lang="en-PE"/>
          </a:p>
        </p:txBody>
      </p:sp>
      <p:sp>
        <p:nvSpPr>
          <p:cNvPr id="3" name="Footer Placeholder 2">
            <a:extLst>
              <a:ext uri="{FF2B5EF4-FFF2-40B4-BE49-F238E27FC236}">
                <a16:creationId xmlns:a16="http://schemas.microsoft.com/office/drawing/2014/main" id="{35354B2B-6316-E9FD-7E67-75465EB559AC}"/>
              </a:ext>
            </a:extLst>
          </p:cNvPr>
          <p:cNvSpPr>
            <a:spLocks noGrp="1"/>
          </p:cNvSpPr>
          <p:nvPr>
            <p:ph type="ftr" sz="quarter" idx="11"/>
          </p:nvPr>
        </p:nvSpPr>
        <p:spPr/>
        <p:txBody>
          <a:bodyPr/>
          <a:lstStyle/>
          <a:p>
            <a:endParaRPr lang="en-PE"/>
          </a:p>
        </p:txBody>
      </p:sp>
      <p:sp>
        <p:nvSpPr>
          <p:cNvPr id="4" name="Slide Number Placeholder 3">
            <a:extLst>
              <a:ext uri="{FF2B5EF4-FFF2-40B4-BE49-F238E27FC236}">
                <a16:creationId xmlns:a16="http://schemas.microsoft.com/office/drawing/2014/main" id="{0F7B92EF-6493-CF65-3A69-89FEEE084452}"/>
              </a:ext>
            </a:extLst>
          </p:cNvPr>
          <p:cNvSpPr>
            <a:spLocks noGrp="1"/>
          </p:cNvSpPr>
          <p:nvPr>
            <p:ph type="sldNum" sz="quarter" idx="12"/>
          </p:nvPr>
        </p:nvSpPr>
        <p:spPr/>
        <p:txBody>
          <a:bodyPr/>
          <a:lstStyle/>
          <a:p>
            <a:fld id="{6453830A-9269-0646-AACE-02E2A76B5280}" type="slidenum">
              <a:rPr lang="en-PE" smtClean="0"/>
              <a:t>‹Nº›</a:t>
            </a:fld>
            <a:endParaRPr lang="en-PE"/>
          </a:p>
        </p:txBody>
      </p:sp>
    </p:spTree>
    <p:extLst>
      <p:ext uri="{BB962C8B-B14F-4D97-AF65-F5344CB8AC3E}">
        <p14:creationId xmlns:p14="http://schemas.microsoft.com/office/powerpoint/2010/main" val="9428863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6D8169-FC86-3A1E-E7CF-6397967FE5C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E"/>
          </a:p>
        </p:txBody>
      </p:sp>
      <p:sp>
        <p:nvSpPr>
          <p:cNvPr id="3" name="Content Placeholder 2">
            <a:extLst>
              <a:ext uri="{FF2B5EF4-FFF2-40B4-BE49-F238E27FC236}">
                <a16:creationId xmlns:a16="http://schemas.microsoft.com/office/drawing/2014/main" id="{D2D9CF93-7427-8963-04E2-476AA0C5F0A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E"/>
          </a:p>
        </p:txBody>
      </p:sp>
      <p:sp>
        <p:nvSpPr>
          <p:cNvPr id="4" name="Text Placeholder 3">
            <a:extLst>
              <a:ext uri="{FF2B5EF4-FFF2-40B4-BE49-F238E27FC236}">
                <a16:creationId xmlns:a16="http://schemas.microsoft.com/office/drawing/2014/main" id="{6F128329-9ED7-A146-CBD9-19ADCD9E15F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9F67FB0-92EC-7BC3-3BAF-2E0F9F8F9E67}"/>
              </a:ext>
            </a:extLst>
          </p:cNvPr>
          <p:cNvSpPr>
            <a:spLocks noGrp="1"/>
          </p:cNvSpPr>
          <p:nvPr>
            <p:ph type="dt" sz="half" idx="10"/>
          </p:nvPr>
        </p:nvSpPr>
        <p:spPr/>
        <p:txBody>
          <a:bodyPr/>
          <a:lstStyle/>
          <a:p>
            <a:fld id="{C48E63A0-0DAA-CF43-BB78-F2FE78E7FE81}" type="datetimeFigureOut">
              <a:rPr lang="en-PE" smtClean="0"/>
              <a:t>10/20/2026</a:t>
            </a:fld>
            <a:endParaRPr lang="en-PE"/>
          </a:p>
        </p:txBody>
      </p:sp>
      <p:sp>
        <p:nvSpPr>
          <p:cNvPr id="6" name="Footer Placeholder 5">
            <a:extLst>
              <a:ext uri="{FF2B5EF4-FFF2-40B4-BE49-F238E27FC236}">
                <a16:creationId xmlns:a16="http://schemas.microsoft.com/office/drawing/2014/main" id="{6C338E43-2403-5CFC-2BF6-A978FAAD859A}"/>
              </a:ext>
            </a:extLst>
          </p:cNvPr>
          <p:cNvSpPr>
            <a:spLocks noGrp="1"/>
          </p:cNvSpPr>
          <p:nvPr>
            <p:ph type="ftr" sz="quarter" idx="11"/>
          </p:nvPr>
        </p:nvSpPr>
        <p:spPr/>
        <p:txBody>
          <a:bodyPr/>
          <a:lstStyle/>
          <a:p>
            <a:endParaRPr lang="en-PE"/>
          </a:p>
        </p:txBody>
      </p:sp>
      <p:sp>
        <p:nvSpPr>
          <p:cNvPr id="7" name="Slide Number Placeholder 6">
            <a:extLst>
              <a:ext uri="{FF2B5EF4-FFF2-40B4-BE49-F238E27FC236}">
                <a16:creationId xmlns:a16="http://schemas.microsoft.com/office/drawing/2014/main" id="{F0003F52-7019-7B5F-A1BD-4A4CB1CD5D7D}"/>
              </a:ext>
            </a:extLst>
          </p:cNvPr>
          <p:cNvSpPr>
            <a:spLocks noGrp="1"/>
          </p:cNvSpPr>
          <p:nvPr>
            <p:ph type="sldNum" sz="quarter" idx="12"/>
          </p:nvPr>
        </p:nvSpPr>
        <p:spPr/>
        <p:txBody>
          <a:bodyPr/>
          <a:lstStyle/>
          <a:p>
            <a:fld id="{6453830A-9269-0646-AACE-02E2A76B5280}" type="slidenum">
              <a:rPr lang="en-PE" smtClean="0"/>
              <a:t>‹Nº›</a:t>
            </a:fld>
            <a:endParaRPr lang="en-PE"/>
          </a:p>
        </p:txBody>
      </p:sp>
    </p:spTree>
    <p:extLst>
      <p:ext uri="{BB962C8B-B14F-4D97-AF65-F5344CB8AC3E}">
        <p14:creationId xmlns:p14="http://schemas.microsoft.com/office/powerpoint/2010/main" val="15781922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7A9053-4D91-843E-3D7B-C61F5ACF516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E"/>
          </a:p>
        </p:txBody>
      </p:sp>
      <p:sp>
        <p:nvSpPr>
          <p:cNvPr id="3" name="Picture Placeholder 2">
            <a:extLst>
              <a:ext uri="{FF2B5EF4-FFF2-40B4-BE49-F238E27FC236}">
                <a16:creationId xmlns:a16="http://schemas.microsoft.com/office/drawing/2014/main" id="{9433051E-AE15-D351-02B5-911FAFF5DC2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E"/>
          </a:p>
        </p:txBody>
      </p:sp>
      <p:sp>
        <p:nvSpPr>
          <p:cNvPr id="4" name="Text Placeholder 3">
            <a:extLst>
              <a:ext uri="{FF2B5EF4-FFF2-40B4-BE49-F238E27FC236}">
                <a16:creationId xmlns:a16="http://schemas.microsoft.com/office/drawing/2014/main" id="{7D54D878-0F2C-ED49-71ED-ACB76C8D8A7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06D861-53AD-5016-46C3-933D27F79782}"/>
              </a:ext>
            </a:extLst>
          </p:cNvPr>
          <p:cNvSpPr>
            <a:spLocks noGrp="1"/>
          </p:cNvSpPr>
          <p:nvPr>
            <p:ph type="dt" sz="half" idx="10"/>
          </p:nvPr>
        </p:nvSpPr>
        <p:spPr/>
        <p:txBody>
          <a:bodyPr/>
          <a:lstStyle/>
          <a:p>
            <a:fld id="{C48E63A0-0DAA-CF43-BB78-F2FE78E7FE81}" type="datetimeFigureOut">
              <a:rPr lang="en-PE" smtClean="0"/>
              <a:t>10/20/2026</a:t>
            </a:fld>
            <a:endParaRPr lang="en-PE"/>
          </a:p>
        </p:txBody>
      </p:sp>
      <p:sp>
        <p:nvSpPr>
          <p:cNvPr id="6" name="Footer Placeholder 5">
            <a:extLst>
              <a:ext uri="{FF2B5EF4-FFF2-40B4-BE49-F238E27FC236}">
                <a16:creationId xmlns:a16="http://schemas.microsoft.com/office/drawing/2014/main" id="{BF1C17E5-9670-4B8F-5E5D-F2FE71636AE4}"/>
              </a:ext>
            </a:extLst>
          </p:cNvPr>
          <p:cNvSpPr>
            <a:spLocks noGrp="1"/>
          </p:cNvSpPr>
          <p:nvPr>
            <p:ph type="ftr" sz="quarter" idx="11"/>
          </p:nvPr>
        </p:nvSpPr>
        <p:spPr/>
        <p:txBody>
          <a:bodyPr/>
          <a:lstStyle/>
          <a:p>
            <a:endParaRPr lang="en-PE"/>
          </a:p>
        </p:txBody>
      </p:sp>
      <p:sp>
        <p:nvSpPr>
          <p:cNvPr id="7" name="Slide Number Placeholder 6">
            <a:extLst>
              <a:ext uri="{FF2B5EF4-FFF2-40B4-BE49-F238E27FC236}">
                <a16:creationId xmlns:a16="http://schemas.microsoft.com/office/drawing/2014/main" id="{322B33E9-F549-443D-FCF4-7DEBD79E53AA}"/>
              </a:ext>
            </a:extLst>
          </p:cNvPr>
          <p:cNvSpPr>
            <a:spLocks noGrp="1"/>
          </p:cNvSpPr>
          <p:nvPr>
            <p:ph type="sldNum" sz="quarter" idx="12"/>
          </p:nvPr>
        </p:nvSpPr>
        <p:spPr/>
        <p:txBody>
          <a:bodyPr/>
          <a:lstStyle/>
          <a:p>
            <a:fld id="{6453830A-9269-0646-AACE-02E2A76B5280}" type="slidenum">
              <a:rPr lang="en-PE" smtClean="0"/>
              <a:t>‹Nº›</a:t>
            </a:fld>
            <a:endParaRPr lang="en-PE"/>
          </a:p>
        </p:txBody>
      </p:sp>
    </p:spTree>
    <p:extLst>
      <p:ext uri="{BB962C8B-B14F-4D97-AF65-F5344CB8AC3E}">
        <p14:creationId xmlns:p14="http://schemas.microsoft.com/office/powerpoint/2010/main" val="17762089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CF25E-0DD4-9BA5-800E-5E68D8B48B6B}"/>
              </a:ext>
            </a:extLst>
          </p:cNvPr>
          <p:cNvSpPr>
            <a:spLocks noGrp="1"/>
          </p:cNvSpPr>
          <p:nvPr>
            <p:ph type="title"/>
          </p:nvPr>
        </p:nvSpPr>
        <p:spPr/>
        <p:txBody>
          <a:bodyPr/>
          <a:lstStyle/>
          <a:p>
            <a:r>
              <a:rPr lang="en-US"/>
              <a:t>Click to edit Master title style</a:t>
            </a:r>
            <a:endParaRPr lang="en-PE"/>
          </a:p>
        </p:txBody>
      </p:sp>
      <p:sp>
        <p:nvSpPr>
          <p:cNvPr id="3" name="Vertical Text Placeholder 2">
            <a:extLst>
              <a:ext uri="{FF2B5EF4-FFF2-40B4-BE49-F238E27FC236}">
                <a16:creationId xmlns:a16="http://schemas.microsoft.com/office/drawing/2014/main" id="{69293F89-380F-AEA9-6BD5-F324771FFE6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E"/>
          </a:p>
        </p:txBody>
      </p:sp>
      <p:sp>
        <p:nvSpPr>
          <p:cNvPr id="4" name="Date Placeholder 3">
            <a:extLst>
              <a:ext uri="{FF2B5EF4-FFF2-40B4-BE49-F238E27FC236}">
                <a16:creationId xmlns:a16="http://schemas.microsoft.com/office/drawing/2014/main" id="{D96B802D-C030-1B59-7593-CB430C3F65B0}"/>
              </a:ext>
            </a:extLst>
          </p:cNvPr>
          <p:cNvSpPr>
            <a:spLocks noGrp="1"/>
          </p:cNvSpPr>
          <p:nvPr>
            <p:ph type="dt" sz="half" idx="10"/>
          </p:nvPr>
        </p:nvSpPr>
        <p:spPr/>
        <p:txBody>
          <a:bodyPr/>
          <a:lstStyle/>
          <a:p>
            <a:fld id="{C48E63A0-0DAA-CF43-BB78-F2FE78E7FE81}" type="datetimeFigureOut">
              <a:rPr lang="en-PE" smtClean="0"/>
              <a:t>10/20/2026</a:t>
            </a:fld>
            <a:endParaRPr lang="en-PE"/>
          </a:p>
        </p:txBody>
      </p:sp>
      <p:sp>
        <p:nvSpPr>
          <p:cNvPr id="5" name="Footer Placeholder 4">
            <a:extLst>
              <a:ext uri="{FF2B5EF4-FFF2-40B4-BE49-F238E27FC236}">
                <a16:creationId xmlns:a16="http://schemas.microsoft.com/office/drawing/2014/main" id="{ADA453AD-2255-F94B-C04B-BE7536559E96}"/>
              </a:ext>
            </a:extLst>
          </p:cNvPr>
          <p:cNvSpPr>
            <a:spLocks noGrp="1"/>
          </p:cNvSpPr>
          <p:nvPr>
            <p:ph type="ftr" sz="quarter" idx="11"/>
          </p:nvPr>
        </p:nvSpPr>
        <p:spPr/>
        <p:txBody>
          <a:bodyPr/>
          <a:lstStyle/>
          <a:p>
            <a:endParaRPr lang="en-PE"/>
          </a:p>
        </p:txBody>
      </p:sp>
      <p:sp>
        <p:nvSpPr>
          <p:cNvPr id="6" name="Slide Number Placeholder 5">
            <a:extLst>
              <a:ext uri="{FF2B5EF4-FFF2-40B4-BE49-F238E27FC236}">
                <a16:creationId xmlns:a16="http://schemas.microsoft.com/office/drawing/2014/main" id="{D06651EA-B520-FCDD-69B8-B121791EB54F}"/>
              </a:ext>
            </a:extLst>
          </p:cNvPr>
          <p:cNvSpPr>
            <a:spLocks noGrp="1"/>
          </p:cNvSpPr>
          <p:nvPr>
            <p:ph type="sldNum" sz="quarter" idx="12"/>
          </p:nvPr>
        </p:nvSpPr>
        <p:spPr/>
        <p:txBody>
          <a:bodyPr/>
          <a:lstStyle/>
          <a:p>
            <a:fld id="{6453830A-9269-0646-AACE-02E2A76B5280}" type="slidenum">
              <a:rPr lang="en-PE" smtClean="0"/>
              <a:t>‹Nº›</a:t>
            </a:fld>
            <a:endParaRPr lang="en-PE"/>
          </a:p>
        </p:txBody>
      </p:sp>
    </p:spTree>
    <p:extLst>
      <p:ext uri="{BB962C8B-B14F-4D97-AF65-F5344CB8AC3E}">
        <p14:creationId xmlns:p14="http://schemas.microsoft.com/office/powerpoint/2010/main" val="11631379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C4C40A2-F43A-9EB1-2784-EC56A6CFA11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PE"/>
          </a:p>
        </p:txBody>
      </p:sp>
      <p:sp>
        <p:nvSpPr>
          <p:cNvPr id="3" name="Vertical Text Placeholder 2">
            <a:extLst>
              <a:ext uri="{FF2B5EF4-FFF2-40B4-BE49-F238E27FC236}">
                <a16:creationId xmlns:a16="http://schemas.microsoft.com/office/drawing/2014/main" id="{4F77469A-9E41-E9FF-E182-DA049A27A50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E"/>
          </a:p>
        </p:txBody>
      </p:sp>
      <p:sp>
        <p:nvSpPr>
          <p:cNvPr id="4" name="Date Placeholder 3">
            <a:extLst>
              <a:ext uri="{FF2B5EF4-FFF2-40B4-BE49-F238E27FC236}">
                <a16:creationId xmlns:a16="http://schemas.microsoft.com/office/drawing/2014/main" id="{FF334316-49D0-9493-96F9-52D66FE69D8C}"/>
              </a:ext>
            </a:extLst>
          </p:cNvPr>
          <p:cNvSpPr>
            <a:spLocks noGrp="1"/>
          </p:cNvSpPr>
          <p:nvPr>
            <p:ph type="dt" sz="half" idx="10"/>
          </p:nvPr>
        </p:nvSpPr>
        <p:spPr/>
        <p:txBody>
          <a:bodyPr/>
          <a:lstStyle/>
          <a:p>
            <a:fld id="{C48E63A0-0DAA-CF43-BB78-F2FE78E7FE81}" type="datetimeFigureOut">
              <a:rPr lang="en-PE" smtClean="0"/>
              <a:t>10/20/2026</a:t>
            </a:fld>
            <a:endParaRPr lang="en-PE"/>
          </a:p>
        </p:txBody>
      </p:sp>
      <p:sp>
        <p:nvSpPr>
          <p:cNvPr id="5" name="Footer Placeholder 4">
            <a:extLst>
              <a:ext uri="{FF2B5EF4-FFF2-40B4-BE49-F238E27FC236}">
                <a16:creationId xmlns:a16="http://schemas.microsoft.com/office/drawing/2014/main" id="{F26DBE14-3009-D54D-D2A7-236E09145D64}"/>
              </a:ext>
            </a:extLst>
          </p:cNvPr>
          <p:cNvSpPr>
            <a:spLocks noGrp="1"/>
          </p:cNvSpPr>
          <p:nvPr>
            <p:ph type="ftr" sz="quarter" idx="11"/>
          </p:nvPr>
        </p:nvSpPr>
        <p:spPr/>
        <p:txBody>
          <a:bodyPr/>
          <a:lstStyle/>
          <a:p>
            <a:endParaRPr lang="en-PE"/>
          </a:p>
        </p:txBody>
      </p:sp>
      <p:sp>
        <p:nvSpPr>
          <p:cNvPr id="6" name="Slide Number Placeholder 5">
            <a:extLst>
              <a:ext uri="{FF2B5EF4-FFF2-40B4-BE49-F238E27FC236}">
                <a16:creationId xmlns:a16="http://schemas.microsoft.com/office/drawing/2014/main" id="{C5179E14-83F1-3676-3ED0-C71800C68F76}"/>
              </a:ext>
            </a:extLst>
          </p:cNvPr>
          <p:cNvSpPr>
            <a:spLocks noGrp="1"/>
          </p:cNvSpPr>
          <p:nvPr>
            <p:ph type="sldNum" sz="quarter" idx="12"/>
          </p:nvPr>
        </p:nvSpPr>
        <p:spPr/>
        <p:txBody>
          <a:bodyPr/>
          <a:lstStyle/>
          <a:p>
            <a:fld id="{6453830A-9269-0646-AACE-02E2A76B5280}" type="slidenum">
              <a:rPr lang="en-PE" smtClean="0"/>
              <a:t>‹Nº›</a:t>
            </a:fld>
            <a:endParaRPr lang="en-PE"/>
          </a:p>
        </p:txBody>
      </p:sp>
    </p:spTree>
    <p:extLst>
      <p:ext uri="{BB962C8B-B14F-4D97-AF65-F5344CB8AC3E}">
        <p14:creationId xmlns:p14="http://schemas.microsoft.com/office/powerpoint/2010/main" val="31384933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120299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Diseño personalizado">
  <p:cSld name="Diseño personalizado">
    <p:bg>
      <p:bgPr>
        <a:solidFill>
          <a:schemeClr val="dk1"/>
        </a:solidFill>
        <a:effectLst/>
      </p:bgPr>
    </p:bg>
    <p:spTree>
      <p:nvGrpSpPr>
        <p:cNvPr id="1" name="Shape 14"/>
        <p:cNvGrpSpPr/>
        <p:nvPr/>
      </p:nvGrpSpPr>
      <p:grpSpPr>
        <a:xfrm>
          <a:off x="0" y="0"/>
          <a:ext cx="0" cy="0"/>
          <a:chOff x="0" y="0"/>
          <a:chExt cx="0" cy="0"/>
        </a:xfrm>
      </p:grpSpPr>
      <p:pic>
        <p:nvPicPr>
          <p:cNvPr id="15" name="Google Shape;15;p13"/>
          <p:cNvPicPr preferRelativeResize="0"/>
          <p:nvPr/>
        </p:nvPicPr>
        <p:blipFill rotWithShape="1">
          <a:blip r:embed="rId2">
            <a:alphaModFix/>
          </a:blip>
          <a:srcRect/>
          <a:stretch/>
        </p:blipFill>
        <p:spPr>
          <a:xfrm>
            <a:off x="1400157" y="2604383"/>
            <a:ext cx="3619537" cy="1716521"/>
          </a:xfrm>
          <a:prstGeom prst="rect">
            <a:avLst/>
          </a:prstGeom>
          <a:noFill/>
          <a:ln>
            <a:noFill/>
          </a:ln>
        </p:spPr>
      </p:pic>
    </p:spTree>
    <p:extLst>
      <p:ext uri="{BB962C8B-B14F-4D97-AF65-F5344CB8AC3E}">
        <p14:creationId xmlns:p14="http://schemas.microsoft.com/office/powerpoint/2010/main" val="34642262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En blanco" type="blank">
  <p:cSld name="En blanco">
    <p:spTree>
      <p:nvGrpSpPr>
        <p:cNvPr id="1" name="Shape 16"/>
        <p:cNvGrpSpPr/>
        <p:nvPr/>
      </p:nvGrpSpPr>
      <p:grpSpPr>
        <a:xfrm>
          <a:off x="0" y="0"/>
          <a:ext cx="0" cy="0"/>
          <a:chOff x="0" y="0"/>
          <a:chExt cx="0" cy="0"/>
        </a:xfrm>
      </p:grpSpPr>
      <p:sp>
        <p:nvSpPr>
          <p:cNvPr id="17" name="Google Shape;17;g3d11f1f7e5e_1_35"/>
          <p:cNvSpPr txBox="1">
            <a:spLocks noGrp="1"/>
          </p:cNvSpPr>
          <p:nvPr>
            <p:ph type="dt" idx="10"/>
          </p:nvPr>
        </p:nvSpPr>
        <p:spPr>
          <a:xfrm>
            <a:off x="838200" y="6356350"/>
            <a:ext cx="2743200" cy="365125"/>
          </a:xfrm>
          <a:prstGeom prst="rect">
            <a:avLst/>
          </a:prstGeom>
          <a:noFill/>
          <a:ln>
            <a:noFill/>
          </a:ln>
        </p:spPr>
        <p:txBody>
          <a:bodyPr spcFirstLastPara="1" wrap="square" lIns="121900" tIns="60925" rIns="121900" bIns="60925" anchor="t" anchorCtr="0">
            <a:noAutofit/>
          </a:bodyPr>
          <a:lstStyle>
            <a:lvl1pPr marR="0" lvl="0" algn="l" rtl="0">
              <a:lnSpc>
                <a:spcPct val="100000"/>
              </a:lnSpc>
              <a:spcBef>
                <a:spcPts val="0"/>
              </a:spcBef>
              <a:spcAft>
                <a:spcPts val="0"/>
              </a:spcAft>
              <a:buClr>
                <a:srgbClr val="000000"/>
              </a:buClr>
              <a:buSzPts val="19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9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9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9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9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9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9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9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9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8" name="Google Shape;18;g3d11f1f7e5e_1_35"/>
          <p:cNvSpPr txBox="1">
            <a:spLocks noGrp="1"/>
          </p:cNvSpPr>
          <p:nvPr>
            <p:ph type="ftr" idx="11"/>
          </p:nvPr>
        </p:nvSpPr>
        <p:spPr>
          <a:xfrm>
            <a:off x="4038600" y="6356350"/>
            <a:ext cx="4114800" cy="365125"/>
          </a:xfrm>
          <a:prstGeom prst="rect">
            <a:avLst/>
          </a:prstGeom>
          <a:noFill/>
          <a:ln>
            <a:noFill/>
          </a:ln>
        </p:spPr>
        <p:txBody>
          <a:bodyPr spcFirstLastPara="1" wrap="square" lIns="121900" tIns="60925" rIns="121900" bIns="60925" anchor="t" anchorCtr="0">
            <a:noAutofit/>
          </a:bodyPr>
          <a:lstStyle>
            <a:lvl1pPr marR="0" lvl="0" algn="l" rtl="0">
              <a:lnSpc>
                <a:spcPct val="100000"/>
              </a:lnSpc>
              <a:spcBef>
                <a:spcPts val="0"/>
              </a:spcBef>
              <a:spcAft>
                <a:spcPts val="0"/>
              </a:spcAft>
              <a:buClr>
                <a:srgbClr val="000000"/>
              </a:buClr>
              <a:buSzPts val="19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9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9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9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9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9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9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9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9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9" name="Google Shape;19;g3d11f1f7e5e_1_35"/>
          <p:cNvSpPr txBox="1">
            <a:spLocks noGrp="1"/>
          </p:cNvSpPr>
          <p:nvPr>
            <p:ph type="sldNum" idx="12"/>
          </p:nvPr>
        </p:nvSpPr>
        <p:spPr>
          <a:xfrm>
            <a:off x="8610600" y="6356350"/>
            <a:ext cx="2743200" cy="365125"/>
          </a:xfrm>
          <a:prstGeom prst="rect">
            <a:avLst/>
          </a:prstGeom>
          <a:noFill/>
          <a:ln>
            <a:noFill/>
          </a:ln>
        </p:spPr>
        <p:txBody>
          <a:bodyPr spcFirstLastPara="1" wrap="square" lIns="121900" tIns="60925" rIns="121900" bIns="60925" anchor="t" anchorCtr="0">
            <a:noAutofit/>
          </a:bodyPr>
          <a:lstStyle>
            <a:lvl1pPr marL="0" marR="0" lvl="0" indent="0" algn="l" rtl="0">
              <a:lnSpc>
                <a:spcPct val="100000"/>
              </a:lnSpc>
              <a:spcBef>
                <a:spcPts val="0"/>
              </a:spcBef>
              <a:spcAft>
                <a:spcPts val="0"/>
              </a:spcAft>
              <a:buClr>
                <a:srgbClr val="000000"/>
              </a:buClr>
              <a:buSzPts val="24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24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24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24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24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24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24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24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2400"/>
              <a:buFont typeface="Arial"/>
              <a:buNone/>
              <a:defRPr sz="1800" b="0" i="0" u="none" strike="noStrike" cap="none">
                <a:solidFill>
                  <a:schemeClr val="dk1"/>
                </a:solidFill>
                <a:latin typeface="Calibri"/>
                <a:ea typeface="Calibri"/>
                <a:cs typeface="Calibri"/>
                <a:sym typeface="Calibri"/>
              </a:defRPr>
            </a:lvl9pPr>
          </a:lstStyle>
          <a:p>
            <a:fld id="{00000000-1234-1234-1234-123412341234}" type="slidenum">
              <a:rPr lang="en-US" smtClean="0"/>
              <a:pPr/>
              <a:t>‹Nº›</a:t>
            </a:fld>
            <a:endParaRPr lang="en-US"/>
          </a:p>
        </p:txBody>
      </p:sp>
    </p:spTree>
    <p:extLst>
      <p:ext uri="{BB962C8B-B14F-4D97-AF65-F5344CB8AC3E}">
        <p14:creationId xmlns:p14="http://schemas.microsoft.com/office/powerpoint/2010/main" val="221583965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ítulo y objetos" type="obj">
  <p:cSld name="Título y objetos">
    <p:spTree>
      <p:nvGrpSpPr>
        <p:cNvPr id="1" name="Shape 20"/>
        <p:cNvGrpSpPr/>
        <p:nvPr/>
      </p:nvGrpSpPr>
      <p:grpSpPr>
        <a:xfrm>
          <a:off x="0" y="0"/>
          <a:ext cx="0" cy="0"/>
          <a:chOff x="0" y="0"/>
          <a:chExt cx="0" cy="0"/>
        </a:xfrm>
      </p:grpSpPr>
      <p:sp>
        <p:nvSpPr>
          <p:cNvPr id="21" name="Google Shape;21;g3d2af3c2b62_1_101"/>
          <p:cNvSpPr txBox="1">
            <a:spLocks noGrp="1"/>
          </p:cNvSpPr>
          <p:nvPr>
            <p:ph type="title"/>
          </p:nvPr>
        </p:nvSpPr>
        <p:spPr>
          <a:xfrm>
            <a:off x="819665" y="244644"/>
            <a:ext cx="10515600" cy="623703"/>
          </a:xfrm>
          <a:prstGeom prst="rect">
            <a:avLst/>
          </a:prstGeom>
          <a:noFill/>
          <a:ln>
            <a:noFill/>
          </a:ln>
        </p:spPr>
        <p:txBody>
          <a:bodyPr spcFirstLastPara="1" wrap="square" lIns="121900" tIns="60925" rIns="121900" bIns="60925" anchor="ctr" anchorCtr="0">
            <a:normAutofit/>
          </a:bodyPr>
          <a:lstStyle>
            <a:lvl1pPr lvl="0" algn="l">
              <a:lnSpc>
                <a:spcPct val="90000"/>
              </a:lnSpc>
              <a:spcBef>
                <a:spcPts val="0"/>
              </a:spcBef>
              <a:spcAft>
                <a:spcPts val="0"/>
              </a:spcAft>
              <a:buClr>
                <a:srgbClr val="298485"/>
              </a:buClr>
              <a:buSzPts val="4300"/>
              <a:buFont typeface="Calibri"/>
              <a:buNone/>
              <a:defRPr sz="3225"/>
            </a:lvl1pPr>
            <a:lvl2pPr lvl="1" algn="l">
              <a:lnSpc>
                <a:spcPct val="100000"/>
              </a:lnSpc>
              <a:spcBef>
                <a:spcPts val="0"/>
              </a:spcBef>
              <a:spcAft>
                <a:spcPts val="0"/>
              </a:spcAft>
              <a:buSzPts val="1900"/>
              <a:buNone/>
              <a:defRPr sz="1425"/>
            </a:lvl2pPr>
            <a:lvl3pPr lvl="2" algn="l">
              <a:lnSpc>
                <a:spcPct val="100000"/>
              </a:lnSpc>
              <a:spcBef>
                <a:spcPts val="0"/>
              </a:spcBef>
              <a:spcAft>
                <a:spcPts val="0"/>
              </a:spcAft>
              <a:buSzPts val="1900"/>
              <a:buNone/>
              <a:defRPr sz="1425"/>
            </a:lvl3pPr>
            <a:lvl4pPr lvl="3" algn="l">
              <a:lnSpc>
                <a:spcPct val="100000"/>
              </a:lnSpc>
              <a:spcBef>
                <a:spcPts val="0"/>
              </a:spcBef>
              <a:spcAft>
                <a:spcPts val="0"/>
              </a:spcAft>
              <a:buSzPts val="1900"/>
              <a:buNone/>
              <a:defRPr sz="1425"/>
            </a:lvl4pPr>
            <a:lvl5pPr lvl="4" algn="l">
              <a:lnSpc>
                <a:spcPct val="100000"/>
              </a:lnSpc>
              <a:spcBef>
                <a:spcPts val="0"/>
              </a:spcBef>
              <a:spcAft>
                <a:spcPts val="0"/>
              </a:spcAft>
              <a:buSzPts val="1900"/>
              <a:buNone/>
              <a:defRPr sz="1425"/>
            </a:lvl5pPr>
            <a:lvl6pPr lvl="5" algn="l">
              <a:lnSpc>
                <a:spcPct val="100000"/>
              </a:lnSpc>
              <a:spcBef>
                <a:spcPts val="0"/>
              </a:spcBef>
              <a:spcAft>
                <a:spcPts val="0"/>
              </a:spcAft>
              <a:buSzPts val="1900"/>
              <a:buNone/>
              <a:defRPr sz="1425"/>
            </a:lvl6pPr>
            <a:lvl7pPr lvl="6" algn="l">
              <a:lnSpc>
                <a:spcPct val="100000"/>
              </a:lnSpc>
              <a:spcBef>
                <a:spcPts val="0"/>
              </a:spcBef>
              <a:spcAft>
                <a:spcPts val="0"/>
              </a:spcAft>
              <a:buSzPts val="1900"/>
              <a:buNone/>
              <a:defRPr sz="1425"/>
            </a:lvl7pPr>
            <a:lvl8pPr lvl="7" algn="l">
              <a:lnSpc>
                <a:spcPct val="100000"/>
              </a:lnSpc>
              <a:spcBef>
                <a:spcPts val="0"/>
              </a:spcBef>
              <a:spcAft>
                <a:spcPts val="0"/>
              </a:spcAft>
              <a:buSzPts val="1900"/>
              <a:buNone/>
              <a:defRPr sz="1425"/>
            </a:lvl8pPr>
            <a:lvl9pPr lvl="8" algn="l">
              <a:lnSpc>
                <a:spcPct val="100000"/>
              </a:lnSpc>
              <a:spcBef>
                <a:spcPts val="0"/>
              </a:spcBef>
              <a:spcAft>
                <a:spcPts val="0"/>
              </a:spcAft>
              <a:buSzPts val="1900"/>
              <a:buNone/>
              <a:defRPr sz="1425"/>
            </a:lvl9pPr>
          </a:lstStyle>
          <a:p>
            <a:endParaRPr/>
          </a:p>
        </p:txBody>
      </p:sp>
      <p:sp>
        <p:nvSpPr>
          <p:cNvPr id="22" name="Google Shape;22;g3d2af3c2b62_1_101"/>
          <p:cNvSpPr txBox="1">
            <a:spLocks noGrp="1"/>
          </p:cNvSpPr>
          <p:nvPr>
            <p:ph type="body" idx="1"/>
          </p:nvPr>
        </p:nvSpPr>
        <p:spPr>
          <a:xfrm>
            <a:off x="819665" y="1705145"/>
            <a:ext cx="10515600" cy="4351338"/>
          </a:xfrm>
          <a:prstGeom prst="rect">
            <a:avLst/>
          </a:prstGeom>
          <a:noFill/>
          <a:ln>
            <a:noFill/>
          </a:ln>
        </p:spPr>
        <p:txBody>
          <a:bodyPr spcFirstLastPara="1" wrap="square" lIns="121900" tIns="60925" rIns="121900" bIns="60925" anchor="t" anchorCtr="0">
            <a:normAutofit/>
          </a:bodyPr>
          <a:lstStyle>
            <a:lvl1pPr marL="342900" lvl="0" indent="-285750" algn="l">
              <a:lnSpc>
                <a:spcPct val="90000"/>
              </a:lnSpc>
              <a:spcBef>
                <a:spcPts val="975"/>
              </a:spcBef>
              <a:spcAft>
                <a:spcPts val="0"/>
              </a:spcAft>
              <a:buClr>
                <a:schemeClr val="dk1"/>
              </a:buClr>
              <a:buSzPts val="2400"/>
              <a:buChar char="•"/>
              <a:defRPr sz="1425"/>
            </a:lvl1pPr>
            <a:lvl2pPr marL="685800" lvl="1" indent="-285750" algn="l">
              <a:lnSpc>
                <a:spcPct val="90000"/>
              </a:lnSpc>
              <a:spcBef>
                <a:spcPts val="525"/>
              </a:spcBef>
              <a:spcAft>
                <a:spcPts val="0"/>
              </a:spcAft>
              <a:buClr>
                <a:schemeClr val="dk1"/>
              </a:buClr>
              <a:buSzPts val="2400"/>
              <a:buChar char="•"/>
              <a:defRPr sz="1425"/>
            </a:lvl2pPr>
            <a:lvl3pPr marL="1028700" lvl="2" indent="-285750" algn="l">
              <a:lnSpc>
                <a:spcPct val="90000"/>
              </a:lnSpc>
              <a:spcBef>
                <a:spcPts val="525"/>
              </a:spcBef>
              <a:spcAft>
                <a:spcPts val="0"/>
              </a:spcAft>
              <a:buClr>
                <a:schemeClr val="dk1"/>
              </a:buClr>
              <a:buSzPts val="2400"/>
              <a:buChar char="•"/>
              <a:defRPr sz="1425"/>
            </a:lvl3pPr>
            <a:lvl4pPr marL="1371600" lvl="3" indent="-285750" algn="l">
              <a:lnSpc>
                <a:spcPct val="90000"/>
              </a:lnSpc>
              <a:spcBef>
                <a:spcPts val="525"/>
              </a:spcBef>
              <a:spcAft>
                <a:spcPts val="0"/>
              </a:spcAft>
              <a:buClr>
                <a:schemeClr val="dk1"/>
              </a:buClr>
              <a:buSzPts val="2400"/>
              <a:buChar char="•"/>
              <a:defRPr sz="1425"/>
            </a:lvl4pPr>
            <a:lvl5pPr marL="1714500" lvl="4" indent="-285750" algn="l">
              <a:lnSpc>
                <a:spcPct val="90000"/>
              </a:lnSpc>
              <a:spcBef>
                <a:spcPts val="525"/>
              </a:spcBef>
              <a:spcAft>
                <a:spcPts val="0"/>
              </a:spcAft>
              <a:buClr>
                <a:schemeClr val="dk1"/>
              </a:buClr>
              <a:buSzPts val="2400"/>
              <a:buChar char="•"/>
              <a:defRPr sz="1425"/>
            </a:lvl5pPr>
            <a:lvl6pPr marL="2057400" lvl="5" indent="-285750" algn="l">
              <a:lnSpc>
                <a:spcPct val="90000"/>
              </a:lnSpc>
              <a:spcBef>
                <a:spcPts val="525"/>
              </a:spcBef>
              <a:spcAft>
                <a:spcPts val="0"/>
              </a:spcAft>
              <a:buClr>
                <a:schemeClr val="dk1"/>
              </a:buClr>
              <a:buSzPts val="2400"/>
              <a:buChar char="•"/>
              <a:defRPr sz="1425"/>
            </a:lvl6pPr>
            <a:lvl7pPr marL="2400300" lvl="6" indent="-285750" algn="l">
              <a:lnSpc>
                <a:spcPct val="90000"/>
              </a:lnSpc>
              <a:spcBef>
                <a:spcPts val="525"/>
              </a:spcBef>
              <a:spcAft>
                <a:spcPts val="0"/>
              </a:spcAft>
              <a:buClr>
                <a:schemeClr val="dk1"/>
              </a:buClr>
              <a:buSzPts val="2400"/>
              <a:buChar char="•"/>
              <a:defRPr sz="1425"/>
            </a:lvl7pPr>
            <a:lvl8pPr marL="2743200" lvl="7" indent="-285750" algn="l">
              <a:lnSpc>
                <a:spcPct val="90000"/>
              </a:lnSpc>
              <a:spcBef>
                <a:spcPts val="525"/>
              </a:spcBef>
              <a:spcAft>
                <a:spcPts val="0"/>
              </a:spcAft>
              <a:buClr>
                <a:schemeClr val="dk1"/>
              </a:buClr>
              <a:buSzPts val="2400"/>
              <a:buChar char="•"/>
              <a:defRPr sz="1425"/>
            </a:lvl8pPr>
            <a:lvl9pPr marL="3086100" lvl="8" indent="-285750" algn="l">
              <a:lnSpc>
                <a:spcPct val="90000"/>
              </a:lnSpc>
              <a:spcBef>
                <a:spcPts val="525"/>
              </a:spcBef>
              <a:spcAft>
                <a:spcPts val="0"/>
              </a:spcAft>
              <a:buClr>
                <a:schemeClr val="dk1"/>
              </a:buClr>
              <a:buSzPts val="2400"/>
              <a:buChar char="•"/>
              <a:defRPr sz="1425"/>
            </a:lvl9pPr>
          </a:lstStyle>
          <a:p>
            <a:endParaRPr/>
          </a:p>
        </p:txBody>
      </p:sp>
    </p:spTree>
    <p:extLst>
      <p:ext uri="{BB962C8B-B14F-4D97-AF65-F5344CB8AC3E}">
        <p14:creationId xmlns:p14="http://schemas.microsoft.com/office/powerpoint/2010/main" val="108125096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23"/>
        <p:cNvGrpSpPr/>
        <p:nvPr/>
      </p:nvGrpSpPr>
      <p:grpSpPr>
        <a:xfrm>
          <a:off x="0" y="0"/>
          <a:ext cx="0" cy="0"/>
          <a:chOff x="0" y="0"/>
          <a:chExt cx="0" cy="0"/>
        </a:xfrm>
      </p:grpSpPr>
      <p:sp>
        <p:nvSpPr>
          <p:cNvPr id="24" name="Google Shape;24;g3a8a166b9a7_3_10"/>
          <p:cNvSpPr txBox="1">
            <a:spLocks noGrp="1"/>
          </p:cNvSpPr>
          <p:nvPr>
            <p:ph type="title"/>
          </p:nvPr>
        </p:nvSpPr>
        <p:spPr>
          <a:xfrm>
            <a:off x="342900" y="228600"/>
            <a:ext cx="6553200" cy="857250"/>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rgbClr val="13807B"/>
              </a:buClr>
              <a:buSzPts val="4400"/>
              <a:buFont typeface="Poppins"/>
              <a:buNone/>
              <a:defRPr>
                <a:latin typeface="Poppins"/>
                <a:ea typeface="Poppins"/>
                <a:cs typeface="Poppins"/>
                <a:sym typeface="Poppi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3377314436"/>
      </p:ext>
    </p:extLst>
  </p:cSld>
  <p:clrMapOvr>
    <a:masterClrMapping/>
  </p:clrMapOvr>
  <p:extLst>
    <p:ext uri="{DCECCB84-F9BA-43D5-87BE-67443E8EF086}">
      <p15:sldGuideLst xmlns:p15="http://schemas.microsoft.com/office/powerpoint/2012/main">
        <p15:guide id="1" orient="horz" pos="672">
          <p15:clr>
            <a:srgbClr val="FBAE40"/>
          </p15:clr>
        </p15:guide>
        <p15:guide id="2" orient="horz" pos="96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seño personalizado 1">
  <p:cSld name="Diseño personalizado 1">
    <p:spTree>
      <p:nvGrpSpPr>
        <p:cNvPr id="1" name="Shape 25"/>
        <p:cNvGrpSpPr/>
        <p:nvPr/>
      </p:nvGrpSpPr>
      <p:grpSpPr>
        <a:xfrm>
          <a:off x="0" y="0"/>
          <a:ext cx="0" cy="0"/>
          <a:chOff x="0" y="0"/>
          <a:chExt cx="0" cy="0"/>
        </a:xfrm>
      </p:grpSpPr>
      <p:sp>
        <p:nvSpPr>
          <p:cNvPr id="26" name="Google Shape;26;g3a8a166b9a7_3_15"/>
          <p:cNvSpPr txBox="1">
            <a:spLocks noGrp="1"/>
          </p:cNvSpPr>
          <p:nvPr>
            <p:ph type="title"/>
          </p:nvPr>
        </p:nvSpPr>
        <p:spPr>
          <a:xfrm>
            <a:off x="450731" y="3000366"/>
            <a:ext cx="6172200" cy="857250"/>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0"/>
              </a:spcBef>
              <a:spcAft>
                <a:spcPts val="0"/>
              </a:spcAft>
              <a:buSzPts val="4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g3a8a166b9a7_3_15"/>
          <p:cNvSpPr/>
          <p:nvPr/>
        </p:nvSpPr>
        <p:spPr>
          <a:xfrm>
            <a:off x="8128000" y="0"/>
            <a:ext cx="4063950" cy="6858000"/>
          </a:xfrm>
          <a:prstGeom prst="rect">
            <a:avLst/>
          </a:prstGeom>
          <a:solidFill>
            <a:srgbClr val="186C70"/>
          </a:solidFill>
          <a:ln>
            <a:noFill/>
          </a:ln>
        </p:spPr>
        <p:txBody>
          <a:bodyPr spcFirstLastPara="1" wrap="square" lIns="91425" tIns="45694" rIns="91425" bIns="45694"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425" b="0" i="0" u="none" strike="noStrike" cap="none">
              <a:solidFill>
                <a:schemeClr val="lt1"/>
              </a:solidFill>
              <a:latin typeface="Arial"/>
              <a:ea typeface="Arial"/>
              <a:cs typeface="Arial"/>
              <a:sym typeface="Arial"/>
            </a:endParaRPr>
          </a:p>
        </p:txBody>
      </p:sp>
      <p:cxnSp>
        <p:nvCxnSpPr>
          <p:cNvPr id="28" name="Google Shape;28;g3a8a166b9a7_3_15"/>
          <p:cNvCxnSpPr/>
          <p:nvPr/>
        </p:nvCxnSpPr>
        <p:spPr>
          <a:xfrm>
            <a:off x="0" y="0"/>
            <a:ext cx="914400" cy="914400"/>
          </a:xfrm>
          <a:prstGeom prst="straightConnector1">
            <a:avLst/>
          </a:prstGeom>
          <a:noFill/>
          <a:ln w="25400" cap="flat" cmpd="sng">
            <a:solidFill>
              <a:srgbClr val="28ACAA"/>
            </a:solidFill>
            <a:prstDash val="solid"/>
            <a:round/>
            <a:headEnd type="none" w="sm" len="sm"/>
            <a:tailEnd type="none" w="sm" len="sm"/>
          </a:ln>
        </p:spPr>
      </p:cxnSp>
      <p:sp>
        <p:nvSpPr>
          <p:cNvPr id="29" name="Google Shape;29;g3a8a166b9a7_3_15"/>
          <p:cNvSpPr/>
          <p:nvPr/>
        </p:nvSpPr>
        <p:spPr>
          <a:xfrm>
            <a:off x="7366000" y="0"/>
            <a:ext cx="1269900" cy="6858000"/>
          </a:xfrm>
          <a:prstGeom prst="parallelogram">
            <a:avLst>
              <a:gd name="adj" fmla="val 25000"/>
            </a:avLst>
          </a:prstGeom>
          <a:solidFill>
            <a:srgbClr val="1D9089"/>
          </a:solidFill>
          <a:ln>
            <a:noFill/>
          </a:ln>
        </p:spPr>
        <p:txBody>
          <a:bodyPr spcFirstLastPara="1" wrap="square" lIns="91425" tIns="45694" rIns="91425" bIns="45694" anchor="t" anchorCtr="0">
            <a:noAutofit/>
          </a:bodyPr>
          <a:lstStyle/>
          <a:p>
            <a:pPr marL="0" marR="0" lvl="0" indent="0" algn="l" rtl="0">
              <a:lnSpc>
                <a:spcPct val="100000"/>
              </a:lnSpc>
              <a:spcBef>
                <a:spcPts val="0"/>
              </a:spcBef>
              <a:spcAft>
                <a:spcPts val="0"/>
              </a:spcAft>
              <a:buClr>
                <a:srgbClr val="000000"/>
              </a:buClr>
              <a:buSzPts val="1900"/>
              <a:buFont typeface="Arial"/>
              <a:buNone/>
            </a:pPr>
            <a:endParaRPr sz="1425" b="0" i="0" u="none" strike="noStrike" cap="none">
              <a:solidFill>
                <a:schemeClr val="lt1"/>
              </a:solidFill>
              <a:latin typeface="Arial"/>
              <a:ea typeface="Arial"/>
              <a:cs typeface="Arial"/>
              <a:sym typeface="Arial"/>
            </a:endParaRPr>
          </a:p>
        </p:txBody>
      </p:sp>
      <p:pic>
        <p:nvPicPr>
          <p:cNvPr id="30" name="Google Shape;30;g3a8a166b9a7_3_15"/>
          <p:cNvPicPr preferRelativeResize="0"/>
          <p:nvPr/>
        </p:nvPicPr>
        <p:blipFill rotWithShape="1">
          <a:blip r:embed="rId2">
            <a:alphaModFix/>
          </a:blip>
          <a:srcRect/>
          <a:stretch/>
        </p:blipFill>
        <p:spPr>
          <a:xfrm>
            <a:off x="11376142" y="167842"/>
            <a:ext cx="594562" cy="281963"/>
          </a:xfrm>
          <a:prstGeom prst="rect">
            <a:avLst/>
          </a:prstGeom>
          <a:noFill/>
          <a:ln>
            <a:noFill/>
          </a:ln>
        </p:spPr>
      </p:pic>
    </p:spTree>
    <p:extLst>
      <p:ext uri="{BB962C8B-B14F-4D97-AF65-F5344CB8AC3E}">
        <p14:creationId xmlns:p14="http://schemas.microsoft.com/office/powerpoint/2010/main" val="110244206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446611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em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oleObject" Target="../embeddings/oleObject1.bin"/><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2.xml"/></Relationships>
</file>

<file path=ppt/slideMasters/_rels/slideMaster2.xml.rels><?xml version="1.0" encoding="UTF-8" standalone="yes"?>
<Relationships xmlns="http://schemas.openxmlformats.org/package/2006/relationships"><Relationship Id="rId8" Type="http://schemas.openxmlformats.org/officeDocument/2006/relationships/tags" Target="../tags/tag3.xml"/><Relationship Id="rId3" Type="http://schemas.openxmlformats.org/officeDocument/2006/relationships/slideLayout" Target="../slideLayouts/slideLayout15.xml"/><Relationship Id="rId7" Type="http://schemas.openxmlformats.org/officeDocument/2006/relationships/theme" Target="../theme/theme2.xml"/><Relationship Id="rId12" Type="http://schemas.openxmlformats.org/officeDocument/2006/relationships/image" Target="../media/image4.png"/><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image" Target="../media/image3.png"/><Relationship Id="rId5" Type="http://schemas.openxmlformats.org/officeDocument/2006/relationships/slideLayout" Target="../slideLayouts/slideLayout17.xml"/><Relationship Id="rId10" Type="http://schemas.openxmlformats.org/officeDocument/2006/relationships/image" Target="../media/image2.emf"/><Relationship Id="rId4" Type="http://schemas.openxmlformats.org/officeDocument/2006/relationships/slideLayout" Target="../slideLayouts/slideLayout16.xml"/><Relationship Id="rId9" Type="http://schemas.openxmlformats.org/officeDocument/2006/relationships/oleObject" Target="../embeddings/oleObject2.bin"/></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3500ADA0-2131-5C85-5831-B13F880761F1}"/>
              </a:ext>
            </a:extLst>
          </p:cNvPr>
          <p:cNvGraphicFramePr>
            <a:graphicFrameLocks/>
          </p:cNvGraphicFramePr>
          <p:nvPr userDrawn="1">
            <p:custDataLst>
              <p:tags r:id="rId14"/>
            </p:custDataLst>
            <p:extLst>
              <p:ext uri="{D42A27DB-BD31-4B8C-83A1-F6EECF244321}">
                <p14:modId xmlns:p14="http://schemas.microsoft.com/office/powerpoint/2010/main" val="405969360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Diapositiva de thinkcell" r:id="rId15" imgW="7772400" imgH="10058400" progId="TCLayout.ActiveDocument.1">
                  <p:embed/>
                </p:oleObj>
              </mc:Choice>
              <mc:Fallback>
                <p:oleObj name="Diapositiva de thinkcell" r:id="rId15" imgW="7772400" imgH="10058400" progId="TCLayout.ActiveDocument.1">
                  <p:embed/>
                  <p:pic>
                    <p:nvPicPr>
                      <p:cNvPr id="7" name="think-cell data - do not delete" hidden="1">
                        <a:extLst>
                          <a:ext uri="{FF2B5EF4-FFF2-40B4-BE49-F238E27FC236}">
                            <a16:creationId xmlns:a16="http://schemas.microsoft.com/office/drawing/2014/main" id="{3500ADA0-2131-5C85-5831-B13F880761F1}"/>
                          </a:ext>
                        </a:extLst>
                      </p:cNvPr>
                      <p:cNvPicPr/>
                      <p:nvPr/>
                    </p:nvPicPr>
                    <p:blipFill>
                      <a:blip r:embed="rId16"/>
                      <a:stretch>
                        <a:fillRect/>
                      </a:stretch>
                    </p:blipFill>
                    <p:spPr>
                      <a:xfrm>
                        <a:off x="1588" y="1588"/>
                        <a:ext cx="1227" cy="1588"/>
                      </a:xfrm>
                      <a:prstGeom prst="rect">
                        <a:avLst/>
                      </a:prstGeom>
                    </p:spPr>
                  </p:pic>
                </p:oleObj>
              </mc:Fallback>
            </mc:AlternateContent>
          </a:graphicData>
        </a:graphic>
      </p:graphicFrame>
      <p:sp>
        <p:nvSpPr>
          <p:cNvPr id="2" name="Title Placeholder 1">
            <a:extLst>
              <a:ext uri="{FF2B5EF4-FFF2-40B4-BE49-F238E27FC236}">
                <a16:creationId xmlns:a16="http://schemas.microsoft.com/office/drawing/2014/main" id="{5BCE4942-0CD3-4673-A32D-AEBCD2F772F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E"/>
          </a:p>
        </p:txBody>
      </p:sp>
      <p:sp>
        <p:nvSpPr>
          <p:cNvPr id="3" name="Text Placeholder 2">
            <a:extLst>
              <a:ext uri="{FF2B5EF4-FFF2-40B4-BE49-F238E27FC236}">
                <a16:creationId xmlns:a16="http://schemas.microsoft.com/office/drawing/2014/main" id="{36CB2222-0FE6-1278-27B1-F47D7A0CC5B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E"/>
          </a:p>
        </p:txBody>
      </p:sp>
      <p:sp>
        <p:nvSpPr>
          <p:cNvPr id="4" name="Date Placeholder 3">
            <a:extLst>
              <a:ext uri="{FF2B5EF4-FFF2-40B4-BE49-F238E27FC236}">
                <a16:creationId xmlns:a16="http://schemas.microsoft.com/office/drawing/2014/main" id="{A0FD2562-0768-2F24-01EC-4F6C103BA88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48E63A0-0DAA-CF43-BB78-F2FE78E7FE81}" type="datetimeFigureOut">
              <a:rPr lang="en-PE" smtClean="0"/>
              <a:t>10/20/2026</a:t>
            </a:fld>
            <a:endParaRPr lang="en-PE"/>
          </a:p>
        </p:txBody>
      </p:sp>
      <p:sp>
        <p:nvSpPr>
          <p:cNvPr id="5" name="Footer Placeholder 4">
            <a:extLst>
              <a:ext uri="{FF2B5EF4-FFF2-40B4-BE49-F238E27FC236}">
                <a16:creationId xmlns:a16="http://schemas.microsoft.com/office/drawing/2014/main" id="{05FC993F-8282-8216-E95F-F9DDD8ADEE5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PE"/>
          </a:p>
        </p:txBody>
      </p:sp>
      <p:sp>
        <p:nvSpPr>
          <p:cNvPr id="6" name="Slide Number Placeholder 5">
            <a:extLst>
              <a:ext uri="{FF2B5EF4-FFF2-40B4-BE49-F238E27FC236}">
                <a16:creationId xmlns:a16="http://schemas.microsoft.com/office/drawing/2014/main" id="{BE451E7D-29FF-F703-177A-CEF27A794ED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453830A-9269-0646-AACE-02E2A76B5280}" type="slidenum">
              <a:rPr lang="en-PE" smtClean="0"/>
              <a:t>‹Nº›</a:t>
            </a:fld>
            <a:endParaRPr lang="en-PE"/>
          </a:p>
        </p:txBody>
      </p:sp>
    </p:spTree>
    <p:extLst>
      <p:ext uri="{BB962C8B-B14F-4D97-AF65-F5344CB8AC3E}">
        <p14:creationId xmlns:p14="http://schemas.microsoft.com/office/powerpoint/2010/main" val="3682729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alpha val="0"/>
          </a:schemeClr>
        </a:solidFill>
        <a:effectLst/>
      </p:bgPr>
    </p:bg>
    <p:spTree>
      <p:nvGrpSpPr>
        <p:cNvPr id="1" name="Shape 9"/>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AE03BF9C-EA3D-7DCF-1FF3-BBFC7A7BFCCD}"/>
              </a:ext>
            </a:extLst>
          </p:cNvPr>
          <p:cNvGraphicFramePr>
            <a:graphicFrameLocks noChangeAspect="1"/>
          </p:cNvGraphicFramePr>
          <p:nvPr userDrawn="1">
            <p:custDataLst>
              <p:tags r:id="rId8"/>
            </p:custDataLst>
            <p:extLst>
              <p:ext uri="{D42A27DB-BD31-4B8C-83A1-F6EECF244321}">
                <p14:modId xmlns:p14="http://schemas.microsoft.com/office/powerpoint/2010/main" val="100668548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Diapositiva de thinkcell" r:id="rId9" imgW="7772400" imgH="10058400" progId="TCLayout.ActiveDocument.1">
                  <p:embed/>
                </p:oleObj>
              </mc:Choice>
              <mc:Fallback>
                <p:oleObj name="Diapositiva de thinkcell" r:id="rId9" imgW="7772400" imgH="10058400" progId="TCLayout.ActiveDocument.1">
                  <p:embed/>
                  <p:pic>
                    <p:nvPicPr>
                      <p:cNvPr id="2" name="think-cell data - do not delete" hidden="1">
                        <a:extLst>
                          <a:ext uri="{FF2B5EF4-FFF2-40B4-BE49-F238E27FC236}">
                            <a16:creationId xmlns:a16="http://schemas.microsoft.com/office/drawing/2014/main" id="{AE03BF9C-EA3D-7DCF-1FF3-BBFC7A7BFCCD}"/>
                          </a:ext>
                        </a:extLst>
                      </p:cNvPr>
                      <p:cNvPicPr/>
                      <p:nvPr/>
                    </p:nvPicPr>
                    <p:blipFill>
                      <a:blip r:embed="rId10"/>
                      <a:stretch>
                        <a:fillRect/>
                      </a:stretch>
                    </p:blipFill>
                    <p:spPr>
                      <a:xfrm>
                        <a:off x="1588" y="1588"/>
                        <a:ext cx="1227" cy="1588"/>
                      </a:xfrm>
                      <a:prstGeom prst="rect">
                        <a:avLst/>
                      </a:prstGeom>
                    </p:spPr>
                  </p:pic>
                </p:oleObj>
              </mc:Fallback>
            </mc:AlternateContent>
          </a:graphicData>
        </a:graphic>
      </p:graphicFrame>
      <p:pic>
        <p:nvPicPr>
          <p:cNvPr id="10" name="Google Shape;10;p11"/>
          <p:cNvPicPr preferRelativeResize="0"/>
          <p:nvPr/>
        </p:nvPicPr>
        <p:blipFill rotWithShape="1">
          <a:blip r:embed="rId11">
            <a:alphaModFix/>
          </a:blip>
          <a:srcRect l="44" r="44"/>
          <a:stretch/>
        </p:blipFill>
        <p:spPr>
          <a:xfrm>
            <a:off x="1667" y="11357"/>
            <a:ext cx="12192000" cy="6858000"/>
          </a:xfrm>
          <a:prstGeom prst="rect">
            <a:avLst/>
          </a:prstGeom>
          <a:noFill/>
          <a:ln>
            <a:noFill/>
          </a:ln>
        </p:spPr>
      </p:pic>
      <p:pic>
        <p:nvPicPr>
          <p:cNvPr id="11" name="Google Shape;11;p11"/>
          <p:cNvPicPr preferRelativeResize="0"/>
          <p:nvPr/>
        </p:nvPicPr>
        <p:blipFill rotWithShape="1">
          <a:blip r:embed="rId12">
            <a:alphaModFix/>
          </a:blip>
          <a:srcRect b="5385"/>
          <a:stretch/>
        </p:blipFill>
        <p:spPr>
          <a:xfrm>
            <a:off x="11363325" y="114300"/>
            <a:ext cx="666750" cy="333375"/>
          </a:xfrm>
          <a:prstGeom prst="rect">
            <a:avLst/>
          </a:prstGeom>
          <a:noFill/>
          <a:ln>
            <a:noFill/>
          </a:ln>
        </p:spPr>
      </p:pic>
      <p:sp>
        <p:nvSpPr>
          <p:cNvPr id="12" name="Google Shape;12;p11"/>
          <p:cNvSpPr txBox="1">
            <a:spLocks noGrp="1"/>
          </p:cNvSpPr>
          <p:nvPr>
            <p:ph type="title"/>
          </p:nvPr>
        </p:nvSpPr>
        <p:spPr>
          <a:xfrm>
            <a:off x="342900" y="205979"/>
            <a:ext cx="6172200" cy="857250"/>
          </a:xfrm>
          <a:prstGeom prst="rect">
            <a:avLst/>
          </a:prstGeom>
          <a:noFill/>
          <a:ln>
            <a:noFill/>
          </a:ln>
        </p:spPr>
        <p:txBody>
          <a:bodyPr spcFirstLastPara="1" wrap="square" lIns="91425" tIns="45700" rIns="91425" bIns="45700" anchor="ctr" anchorCtr="0">
            <a:normAutofit/>
          </a:bodyPr>
          <a:lstStyle>
            <a:lvl1pPr marR="0" lvl="0" algn="ctr" rtl="0">
              <a:lnSpc>
                <a:spcPct val="100000"/>
              </a:lnSpc>
              <a:spcBef>
                <a:spcPts val="0"/>
              </a:spcBef>
              <a:spcAft>
                <a:spcPts val="0"/>
              </a:spcAft>
              <a:buClr>
                <a:srgbClr val="13807B"/>
              </a:buClr>
              <a:buSzPts val="4400"/>
              <a:buFont typeface="Calibri"/>
              <a:buNone/>
              <a:defRPr sz="4400" b="1" i="0" u="none" strike="noStrike" cap="none">
                <a:solidFill>
                  <a:srgbClr val="13807B"/>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3" name="Google Shape;13;p11"/>
          <p:cNvSpPr txBox="1">
            <a:spLocks noGrp="1"/>
          </p:cNvSpPr>
          <p:nvPr>
            <p:ph type="body" idx="1"/>
          </p:nvPr>
        </p:nvSpPr>
        <p:spPr>
          <a:xfrm>
            <a:off x="342900" y="1200151"/>
            <a:ext cx="6172200" cy="3394472"/>
          </a:xfrm>
          <a:prstGeom prst="rect">
            <a:avLst/>
          </a:prstGeom>
          <a:noFill/>
          <a:ln>
            <a:noFill/>
          </a:ln>
        </p:spPr>
        <p:txBody>
          <a:bodyPr spcFirstLastPara="1" wrap="square" lIns="91425" tIns="45700" rIns="91425" bIns="45700" anchor="t" anchorCtr="0">
            <a:normAutofit/>
          </a:bodyPr>
          <a:lstStyle>
            <a:lvl1pPr marL="457200" marR="0" lvl="0" indent="-431800" algn="l" rtl="0">
              <a:lnSpc>
                <a:spcPct val="100000"/>
              </a:lnSpc>
              <a:spcBef>
                <a:spcPts val="640"/>
              </a:spcBef>
              <a:spcAft>
                <a:spcPts val="0"/>
              </a:spcAft>
              <a:buClr>
                <a:srgbClr val="13807B"/>
              </a:buClr>
              <a:buSzPts val="3200"/>
              <a:buFont typeface="Arial"/>
              <a:buChar char="•"/>
              <a:defRPr sz="3200" b="0" i="0" u="none" strike="noStrike" cap="none">
                <a:solidFill>
                  <a:srgbClr val="13807B"/>
                </a:solidFill>
                <a:latin typeface="Calibri"/>
                <a:ea typeface="Calibri"/>
                <a:cs typeface="Calibri"/>
                <a:sym typeface="Calibri"/>
              </a:defRPr>
            </a:lvl1pPr>
            <a:lvl2pPr marL="914400" marR="0" lvl="1" indent="-406400" algn="l" rtl="0">
              <a:lnSpc>
                <a:spcPct val="100000"/>
              </a:lnSpc>
              <a:spcBef>
                <a:spcPts val="560"/>
              </a:spcBef>
              <a:spcAft>
                <a:spcPts val="0"/>
              </a:spcAft>
              <a:buClr>
                <a:srgbClr val="13807B"/>
              </a:buClr>
              <a:buSzPts val="2800"/>
              <a:buFont typeface="Arial"/>
              <a:buChar char="–"/>
              <a:defRPr sz="2800" b="0" i="0" u="none" strike="noStrike" cap="none">
                <a:solidFill>
                  <a:srgbClr val="13807B"/>
                </a:solidFill>
                <a:latin typeface="Calibri"/>
                <a:ea typeface="Calibri"/>
                <a:cs typeface="Calibri"/>
                <a:sym typeface="Calibri"/>
              </a:defRPr>
            </a:lvl2pPr>
            <a:lvl3pPr marL="1371600" marR="0" lvl="2" indent="-381000" algn="l" rtl="0">
              <a:lnSpc>
                <a:spcPct val="100000"/>
              </a:lnSpc>
              <a:spcBef>
                <a:spcPts val="480"/>
              </a:spcBef>
              <a:spcAft>
                <a:spcPts val="0"/>
              </a:spcAft>
              <a:buClr>
                <a:srgbClr val="13807B"/>
              </a:buClr>
              <a:buSzPts val="2400"/>
              <a:buFont typeface="Arial"/>
              <a:buChar char="•"/>
              <a:defRPr sz="2400" b="0" i="0" u="none" strike="noStrike" cap="none">
                <a:solidFill>
                  <a:srgbClr val="13807B"/>
                </a:solidFill>
                <a:latin typeface="Calibri"/>
                <a:ea typeface="Calibri"/>
                <a:cs typeface="Calibri"/>
                <a:sym typeface="Calibri"/>
              </a:defRPr>
            </a:lvl3pPr>
            <a:lvl4pPr marL="1828800" marR="0" lvl="3" indent="-355600" algn="l" rtl="0">
              <a:lnSpc>
                <a:spcPct val="100000"/>
              </a:lnSpc>
              <a:spcBef>
                <a:spcPts val="400"/>
              </a:spcBef>
              <a:spcAft>
                <a:spcPts val="0"/>
              </a:spcAft>
              <a:buClr>
                <a:srgbClr val="13807B"/>
              </a:buClr>
              <a:buSzPts val="2000"/>
              <a:buFont typeface="Arial"/>
              <a:buChar char="–"/>
              <a:defRPr sz="2000" b="0" i="0" u="none" strike="noStrike" cap="none">
                <a:solidFill>
                  <a:srgbClr val="13807B"/>
                </a:solidFill>
                <a:latin typeface="Calibri"/>
                <a:ea typeface="Calibri"/>
                <a:cs typeface="Calibri"/>
                <a:sym typeface="Calibri"/>
              </a:defRPr>
            </a:lvl4pPr>
            <a:lvl5pPr marL="2286000" marR="0" lvl="4" indent="-355600" algn="l" rtl="0">
              <a:lnSpc>
                <a:spcPct val="100000"/>
              </a:lnSpc>
              <a:spcBef>
                <a:spcPts val="400"/>
              </a:spcBef>
              <a:spcAft>
                <a:spcPts val="0"/>
              </a:spcAft>
              <a:buClr>
                <a:srgbClr val="13807B"/>
              </a:buClr>
              <a:buSzPts val="2000"/>
              <a:buFont typeface="Arial"/>
              <a:buChar char="»"/>
              <a:defRPr sz="2000" b="0" i="0" u="none" strike="noStrike" cap="none">
                <a:solidFill>
                  <a:srgbClr val="13807B"/>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519048204"/>
      </p:ext>
    </p:extLst>
  </p:cSld>
  <p:clrMap bg1="lt1" tx1="dk1" bg2="dk2" tx2="lt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5120">
          <p15:clr>
            <a:srgbClr val="F26B43"/>
          </p15:clr>
        </p15:guide>
        <p15:guide id="2" orient="horz" pos="2880">
          <p15:clr>
            <a:srgbClr val="F26B43"/>
          </p15:clr>
        </p15:guide>
        <p15:guide id="3" pos="272">
          <p15:clr>
            <a:srgbClr val="F26B43"/>
          </p15:clr>
        </p15:guide>
        <p15:guide id="4" pos="9968">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chart" Target="../charts/chart2.xml"/></Relationships>
</file>

<file path=ppt/slides/_rels/slide3.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chart" Target="../charts/chart4.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chart" Target="../charts/chart5.xml"/><Relationship Id="rId1" Type="http://schemas.openxmlformats.org/officeDocument/2006/relationships/slideLayout" Target="../slideLayouts/slideLayout7.xml"/><Relationship Id="rId6" Type="http://schemas.openxmlformats.org/officeDocument/2006/relationships/chart" Target="../charts/chart9.xml"/><Relationship Id="rId5" Type="http://schemas.openxmlformats.org/officeDocument/2006/relationships/chart" Target="../charts/chart8.xml"/><Relationship Id="rId4" Type="http://schemas.openxmlformats.org/officeDocument/2006/relationships/chart" Target="../charts/chart7.xml"/></Relationships>
</file>

<file path=ppt/slides/_rels/slide9.xml.rels><?xml version="1.0" encoding="UTF-8" standalone="yes"?>
<Relationships xmlns="http://schemas.openxmlformats.org/package/2006/relationships"><Relationship Id="rId3" Type="http://schemas.openxmlformats.org/officeDocument/2006/relationships/chart" Target="../charts/chart11.xml"/><Relationship Id="rId2" Type="http://schemas.openxmlformats.org/officeDocument/2006/relationships/chart" Target="../charts/chart10.xml"/><Relationship Id="rId1" Type="http://schemas.openxmlformats.org/officeDocument/2006/relationships/slideLayout" Target="../slideLayouts/slideLayout7.xml"/><Relationship Id="rId6" Type="http://schemas.openxmlformats.org/officeDocument/2006/relationships/chart" Target="../charts/chart14.xml"/><Relationship Id="rId5" Type="http://schemas.openxmlformats.org/officeDocument/2006/relationships/chart" Target="../charts/chart13.xml"/><Relationship Id="rId4" Type="http://schemas.openxmlformats.org/officeDocument/2006/relationships/chart" Target="../charts/chart12.xml"/></Relationships>
</file>

<file path=ppt/slides/_rels/slide10.xml.rels><?xml version="1.0" encoding="UTF-8" standalone="yes"?>
<Relationships xmlns="http://schemas.openxmlformats.org/package/2006/relationships"><Relationship Id="rId3" Type="http://schemas.openxmlformats.org/officeDocument/2006/relationships/chart" Target="../charts/chart15.xml"/><Relationship Id="rId7" Type="http://schemas.openxmlformats.org/officeDocument/2006/relationships/chart" Target="../charts/chart19.xml"/><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chart" Target="../charts/chart18.xml"/><Relationship Id="rId5" Type="http://schemas.openxmlformats.org/officeDocument/2006/relationships/chart" Target="../charts/chart17.xml"/><Relationship Id="rId4" Type="http://schemas.openxmlformats.org/officeDocument/2006/relationships/chart" Target="../charts/chart16.xml"/></Relationships>
</file>

<file path=ppt/slides/_rels/slide11.xml.rels><?xml version="1.0" encoding="UTF-8" standalone="yes"?>
<Relationships xmlns="http://schemas.openxmlformats.org/package/2006/relationships"><Relationship Id="rId3" Type="http://schemas.openxmlformats.org/officeDocument/2006/relationships/chart" Target="../charts/chart21.xml"/><Relationship Id="rId2" Type="http://schemas.openxmlformats.org/officeDocument/2006/relationships/chart" Target="../charts/chart20.xml"/><Relationship Id="rId1" Type="http://schemas.openxmlformats.org/officeDocument/2006/relationships/slideLayout" Target="../slideLayouts/slideLayout7.xml"/><Relationship Id="rId6" Type="http://schemas.openxmlformats.org/officeDocument/2006/relationships/chart" Target="../charts/chart24.xml"/><Relationship Id="rId5" Type="http://schemas.openxmlformats.org/officeDocument/2006/relationships/chart" Target="../charts/chart23.xml"/><Relationship Id="rId4" Type="http://schemas.openxmlformats.org/officeDocument/2006/relationships/chart" Target="../charts/chart22.xml"/></Relationships>
</file>

<file path=ppt/slides/_rels/slide12.xml.rels><?xml version="1.0" encoding="UTF-8" standalone="yes"?>
<Relationships xmlns="http://schemas.openxmlformats.org/package/2006/relationships"><Relationship Id="rId3" Type="http://schemas.openxmlformats.org/officeDocument/2006/relationships/chart" Target="../charts/chart26.xml"/><Relationship Id="rId2" Type="http://schemas.openxmlformats.org/officeDocument/2006/relationships/chart" Target="../charts/chart25.xml"/><Relationship Id="rId1" Type="http://schemas.openxmlformats.org/officeDocument/2006/relationships/slideLayout" Target="../slideLayouts/slideLayout7.xml"/><Relationship Id="rId6" Type="http://schemas.openxmlformats.org/officeDocument/2006/relationships/chart" Target="../charts/chart29.xml"/><Relationship Id="rId5" Type="http://schemas.openxmlformats.org/officeDocument/2006/relationships/chart" Target="../charts/chart28.xml"/><Relationship Id="rId4" Type="http://schemas.openxmlformats.org/officeDocument/2006/relationships/chart" Target="../charts/chart27.xml"/></Relationships>
</file>

<file path=ppt/slides/_rels/slide13.xml.rels><?xml version="1.0" encoding="UTF-8" standalone="yes"?>
<Relationships xmlns="http://schemas.openxmlformats.org/package/2006/relationships"><Relationship Id="rId3" Type="http://schemas.openxmlformats.org/officeDocument/2006/relationships/chart" Target="../charts/chart31.xml"/><Relationship Id="rId2" Type="http://schemas.openxmlformats.org/officeDocument/2006/relationships/chart" Target="../charts/chart30.xml"/><Relationship Id="rId1" Type="http://schemas.openxmlformats.org/officeDocument/2006/relationships/slideLayout" Target="../slideLayouts/slideLayout7.xml"/><Relationship Id="rId6" Type="http://schemas.openxmlformats.org/officeDocument/2006/relationships/chart" Target="../charts/chart34.xml"/><Relationship Id="rId5" Type="http://schemas.openxmlformats.org/officeDocument/2006/relationships/chart" Target="../charts/chart33.xml"/><Relationship Id="rId4" Type="http://schemas.openxmlformats.org/officeDocument/2006/relationships/chart" Target="../charts/chart32.xml"/></Relationships>
</file>

<file path=ppt/slides/_rels/slide14.xml.rels><?xml version="1.0" encoding="UTF-8" standalone="yes"?>
<Relationships xmlns="http://schemas.openxmlformats.org/package/2006/relationships"><Relationship Id="rId3" Type="http://schemas.openxmlformats.org/officeDocument/2006/relationships/chart" Target="../charts/chart36.xml"/><Relationship Id="rId2" Type="http://schemas.openxmlformats.org/officeDocument/2006/relationships/chart" Target="../charts/chart35.xml"/><Relationship Id="rId1" Type="http://schemas.openxmlformats.org/officeDocument/2006/relationships/slideLayout" Target="../slideLayouts/slideLayout7.xml"/><Relationship Id="rId6" Type="http://schemas.openxmlformats.org/officeDocument/2006/relationships/chart" Target="../charts/chart39.xml"/><Relationship Id="rId5" Type="http://schemas.openxmlformats.org/officeDocument/2006/relationships/chart" Target="../charts/chart38.xml"/><Relationship Id="rId4" Type="http://schemas.openxmlformats.org/officeDocument/2006/relationships/chart" Target="../charts/chart37.xml"/></Relationships>
</file>

<file path=ppt/slides/_rels/slide15.xml.rels><?xml version="1.0" encoding="UTF-8" standalone="yes"?>
<Relationships xmlns="http://schemas.openxmlformats.org/package/2006/relationships"><Relationship Id="rId3" Type="http://schemas.openxmlformats.org/officeDocument/2006/relationships/chart" Target="../charts/chart41.xml"/><Relationship Id="rId2" Type="http://schemas.openxmlformats.org/officeDocument/2006/relationships/chart" Target="../charts/chart40.xml"/><Relationship Id="rId1" Type="http://schemas.openxmlformats.org/officeDocument/2006/relationships/slideLayout" Target="../slideLayouts/slideLayout7.xml"/><Relationship Id="rId6" Type="http://schemas.openxmlformats.org/officeDocument/2006/relationships/chart" Target="../charts/chart44.xml"/><Relationship Id="rId5" Type="http://schemas.openxmlformats.org/officeDocument/2006/relationships/chart" Target="../charts/chart43.xml"/><Relationship Id="rId4" Type="http://schemas.openxmlformats.org/officeDocument/2006/relationships/chart" Target="../charts/chart42.xml"/></Relationships>
</file>

<file path=ppt/slides/_rels/slide16.xml.rels><?xml version="1.0" encoding="UTF-8" standalone="yes"?>
<Relationships xmlns="http://schemas.openxmlformats.org/package/2006/relationships"><Relationship Id="rId3" Type="http://schemas.openxmlformats.org/officeDocument/2006/relationships/chart" Target="../charts/chart46.xml"/><Relationship Id="rId2" Type="http://schemas.openxmlformats.org/officeDocument/2006/relationships/chart" Target="../charts/chart45.xml"/><Relationship Id="rId1" Type="http://schemas.openxmlformats.org/officeDocument/2006/relationships/slideLayout" Target="../slideLayouts/slideLayout7.xml"/><Relationship Id="rId6" Type="http://schemas.openxmlformats.org/officeDocument/2006/relationships/chart" Target="../charts/chart49.xml"/><Relationship Id="rId5" Type="http://schemas.openxmlformats.org/officeDocument/2006/relationships/chart" Target="../charts/chart48.xml"/><Relationship Id="rId4" Type="http://schemas.openxmlformats.org/officeDocument/2006/relationships/chart" Target="../charts/chart47.xml"/></Relationships>
</file>

<file path=ppt/slides/_rels/slide17.xml.rels><?xml version="1.0" encoding="UTF-8" standalone="yes"?>
<Relationships xmlns="http://schemas.openxmlformats.org/package/2006/relationships"><Relationship Id="rId3" Type="http://schemas.openxmlformats.org/officeDocument/2006/relationships/chart" Target="../charts/chart51.xml"/><Relationship Id="rId2" Type="http://schemas.openxmlformats.org/officeDocument/2006/relationships/chart" Target="../charts/chart50.xml"/><Relationship Id="rId1" Type="http://schemas.openxmlformats.org/officeDocument/2006/relationships/slideLayout" Target="../slideLayouts/slideLayout7.xml"/><Relationship Id="rId6" Type="http://schemas.openxmlformats.org/officeDocument/2006/relationships/chart" Target="../charts/chart54.xml"/><Relationship Id="rId5" Type="http://schemas.openxmlformats.org/officeDocument/2006/relationships/chart" Target="../charts/chart53.xml"/><Relationship Id="rId4" Type="http://schemas.openxmlformats.org/officeDocument/2006/relationships/chart" Target="../charts/chart5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2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8" name="Group 77">
            <a:extLst>
              <a:ext uri="{FF2B5EF4-FFF2-40B4-BE49-F238E27FC236}">
                <a16:creationId xmlns:a16="http://schemas.microsoft.com/office/drawing/2014/main" id="{E49F3A7F-FA5C-175D-CB5A-F355DAEA3D80}"/>
              </a:ext>
            </a:extLst>
          </p:cNvPr>
          <p:cNvGrpSpPr/>
          <p:nvPr/>
        </p:nvGrpSpPr>
        <p:grpSpPr>
          <a:xfrm>
            <a:off x="493776" y="1277169"/>
            <a:ext cx="11204463" cy="1303020"/>
            <a:chOff x="493776" y="1220724"/>
            <a:chExt cx="11204463" cy="1303020"/>
          </a:xfrm>
        </p:grpSpPr>
        <p:sp>
          <p:nvSpPr>
            <p:cNvPr id="7" name="Rectangle 6"/>
            <p:cNvSpPr/>
            <p:nvPr/>
          </p:nvSpPr>
          <p:spPr>
            <a:xfrm>
              <a:off x="493776" y="1220724"/>
              <a:ext cx="11204463" cy="1303020"/>
            </a:xfrm>
            <a:prstGeom prst="rect">
              <a:avLst/>
            </a:prstGeom>
            <a:solidFill>
              <a:srgbClr val="FFFFFF"/>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100"/>
            </a:p>
          </p:txBody>
        </p:sp>
        <p:sp>
          <p:nvSpPr>
            <p:cNvPr id="8" name="Rectangle 7"/>
            <p:cNvSpPr/>
            <p:nvPr/>
          </p:nvSpPr>
          <p:spPr>
            <a:xfrm>
              <a:off x="493776" y="1220724"/>
              <a:ext cx="41148" cy="1303020"/>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100"/>
            </a:p>
          </p:txBody>
        </p:sp>
        <p:sp>
          <p:nvSpPr>
            <p:cNvPr id="9" name="TextBox 8"/>
            <p:cNvSpPr txBox="1"/>
            <p:nvPr/>
          </p:nvSpPr>
          <p:spPr>
            <a:xfrm>
              <a:off x="699516" y="1357884"/>
              <a:ext cx="891540" cy="126958"/>
            </a:xfrm>
            <a:prstGeom prst="rect">
              <a:avLst/>
            </a:prstGeom>
            <a:noFill/>
          </p:spPr>
          <p:txBody>
            <a:bodyPr wrap="square" lIns="0" tIns="0" rIns="0" bIns="0" anchor="t">
              <a:spAutoFit/>
            </a:bodyPr>
            <a:lstStyle/>
            <a:p>
              <a:pPr algn="l">
                <a:lnSpc>
                  <a:spcPct val="100000"/>
                </a:lnSpc>
              </a:pPr>
              <a:r>
                <a:rPr sz="825" b="1">
                  <a:solidFill>
                    <a:srgbClr val="13807B"/>
                  </a:solidFill>
                  <a:latin typeface="Calibri"/>
                </a:rPr>
                <a:t>CAPA 1</a:t>
              </a:r>
            </a:p>
          </p:txBody>
        </p:sp>
        <p:sp>
          <p:nvSpPr>
            <p:cNvPr id="10" name="TextBox 9"/>
            <p:cNvSpPr txBox="1"/>
            <p:nvPr/>
          </p:nvSpPr>
          <p:spPr>
            <a:xfrm>
              <a:off x="699516" y="1549907"/>
              <a:ext cx="2468880" cy="432041"/>
            </a:xfrm>
            <a:prstGeom prst="rect">
              <a:avLst/>
            </a:prstGeom>
            <a:noFill/>
          </p:spPr>
          <p:txBody>
            <a:bodyPr wrap="square" lIns="0" tIns="0" rIns="0" bIns="0" anchor="t">
              <a:spAutoFit/>
            </a:bodyPr>
            <a:lstStyle/>
            <a:p>
              <a:pPr algn="l">
                <a:lnSpc>
                  <a:spcPct val="108000"/>
                </a:lnSpc>
              </a:pPr>
              <a:r>
                <a:rPr sz="1350" b="1">
                  <a:solidFill>
                    <a:srgbClr val="0B2E2C"/>
                  </a:solidFill>
                  <a:latin typeface="Calibri"/>
                </a:rPr>
                <a:t>Mirada interna · </a:t>
              </a:r>
              <a:r>
                <a:rPr sz="1350" b="1" err="1">
                  <a:solidFill>
                    <a:srgbClr val="0B2E2C"/>
                  </a:solidFill>
                  <a:latin typeface="Calibri"/>
                </a:rPr>
                <a:t>Segmentación</a:t>
              </a:r>
              <a:endParaRPr sz="1350" b="1">
                <a:solidFill>
                  <a:srgbClr val="0B2E2C"/>
                </a:solidFill>
                <a:latin typeface="Calibri"/>
              </a:endParaRPr>
            </a:p>
          </p:txBody>
        </p:sp>
        <p:sp>
          <p:nvSpPr>
            <p:cNvPr id="11" name="Rectangle 10"/>
            <p:cNvSpPr/>
            <p:nvPr/>
          </p:nvSpPr>
          <p:spPr>
            <a:xfrm>
              <a:off x="699516" y="2167127"/>
              <a:ext cx="1817370" cy="205740"/>
            </a:xfrm>
            <a:prstGeom prst="rect">
              <a:avLst/>
            </a:prstGeom>
            <a:solidFill>
              <a:srgbClr val="ECF6F5"/>
            </a:solidFill>
            <a:ln>
              <a:noFill/>
            </a:ln>
            <a:effectLst/>
          </p:spPr>
          <p:style>
            <a:lnRef idx="1">
              <a:schemeClr val="accent1"/>
            </a:lnRef>
            <a:fillRef idx="3">
              <a:schemeClr val="accent1"/>
            </a:fillRef>
            <a:effectRef idx="2">
              <a:schemeClr val="accent1"/>
            </a:effectRef>
            <a:fontRef idx="minor">
              <a:schemeClr val="lt1"/>
            </a:fontRef>
          </p:style>
          <p:txBody>
            <a:bodyPr wrap="square" lIns="41148" tIns="20574" rIns="41148" bIns="20574" rtlCol="0" anchor="ctr"/>
            <a:lstStyle/>
            <a:p>
              <a:pPr algn="ctr">
                <a:lnSpc>
                  <a:spcPct val="100000"/>
                </a:lnSpc>
              </a:pPr>
              <a:r>
                <a:rPr sz="1050" b="1">
                  <a:solidFill>
                    <a:srgbClr val="13807B"/>
                  </a:solidFill>
                  <a:latin typeface="Calibri"/>
                </a:rPr>
                <a:t>Completada</a:t>
              </a:r>
            </a:p>
          </p:txBody>
        </p:sp>
        <p:cxnSp>
          <p:nvCxnSpPr>
            <p:cNvPr id="12" name="Connector 11"/>
            <p:cNvCxnSpPr/>
            <p:nvPr/>
          </p:nvCxnSpPr>
          <p:spPr>
            <a:xfrm>
              <a:off x="3374136" y="1412748"/>
              <a:ext cx="0" cy="918972"/>
            </a:xfrm>
            <a:prstGeom prst="line">
              <a:avLst/>
            </a:prstGeom>
            <a:ln w="12700">
              <a:solidFill>
                <a:srgbClr val="D5DFDE"/>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3579876" y="1385316"/>
              <a:ext cx="3154680" cy="184666"/>
            </a:xfrm>
            <a:prstGeom prst="rect">
              <a:avLst/>
            </a:prstGeom>
            <a:noFill/>
          </p:spPr>
          <p:txBody>
            <a:bodyPr wrap="square" lIns="0" tIns="0" rIns="0" bIns="0" anchor="t">
              <a:spAutoFit/>
            </a:bodyPr>
            <a:lstStyle/>
            <a:p>
              <a:pPr algn="l">
                <a:lnSpc>
                  <a:spcPct val="100000"/>
                </a:lnSpc>
              </a:pPr>
              <a:r>
                <a:rPr sz="1200" b="1">
                  <a:solidFill>
                    <a:srgbClr val="13807B"/>
                  </a:solidFill>
                  <a:latin typeface="Calibri"/>
                </a:rPr>
                <a:t>¿Quién es el cliente?</a:t>
              </a:r>
            </a:p>
          </p:txBody>
        </p:sp>
        <p:sp>
          <p:nvSpPr>
            <p:cNvPr id="14" name="TextBox 13"/>
            <p:cNvSpPr txBox="1"/>
            <p:nvPr/>
          </p:nvSpPr>
          <p:spPr>
            <a:xfrm>
              <a:off x="3579876" y="1632204"/>
              <a:ext cx="4046220" cy="506229"/>
            </a:xfrm>
            <a:prstGeom prst="rect">
              <a:avLst/>
            </a:prstGeom>
            <a:noFill/>
          </p:spPr>
          <p:txBody>
            <a:bodyPr wrap="square" lIns="0" tIns="0" rIns="0" bIns="0" anchor="t">
              <a:spAutoFit/>
            </a:bodyPr>
            <a:lstStyle/>
            <a:p>
              <a:pPr algn="l">
                <a:lnSpc>
                  <a:spcPct val="126000"/>
                </a:lnSpc>
              </a:pPr>
              <a:r>
                <a:rPr sz="900">
                  <a:solidFill>
                    <a:srgbClr val="3E5553"/>
                  </a:solidFill>
                  <a:latin typeface="Calibri"/>
                </a:rPr>
                <a:t>Con la </a:t>
              </a:r>
              <a:r>
                <a:rPr sz="900" err="1">
                  <a:solidFill>
                    <a:srgbClr val="3E5553"/>
                  </a:solidFill>
                  <a:latin typeface="Calibri"/>
                </a:rPr>
                <a:t>información</a:t>
              </a:r>
              <a:r>
                <a:rPr sz="900">
                  <a:solidFill>
                    <a:srgbClr val="3E5553"/>
                  </a:solidFill>
                  <a:latin typeface="Calibri"/>
                </a:rPr>
                <a:t> </a:t>
              </a:r>
              <a:r>
                <a:rPr sz="900" err="1">
                  <a:solidFill>
                    <a:srgbClr val="3E5553"/>
                  </a:solidFill>
                  <a:latin typeface="Calibri"/>
                </a:rPr>
                <a:t>propia</a:t>
              </a:r>
              <a:r>
                <a:rPr sz="900">
                  <a:solidFill>
                    <a:srgbClr val="3E5553"/>
                  </a:solidFill>
                  <a:latin typeface="Calibri"/>
                </a:rPr>
                <a:t> de IBK </a:t>
              </a:r>
              <a:r>
                <a:rPr sz="900" err="1">
                  <a:solidFill>
                    <a:srgbClr val="3E5553"/>
                  </a:solidFill>
                  <a:latin typeface="Calibri"/>
                </a:rPr>
                <a:t>identificamos</a:t>
              </a:r>
              <a:r>
                <a:rPr sz="900">
                  <a:solidFill>
                    <a:srgbClr val="3E5553"/>
                  </a:solidFill>
                  <a:latin typeface="Calibri"/>
                </a:rPr>
                <a:t> </a:t>
              </a:r>
              <a:r>
                <a:rPr sz="900" err="1">
                  <a:solidFill>
                    <a:srgbClr val="3E5553"/>
                  </a:solidFill>
                  <a:latin typeface="Calibri"/>
                </a:rPr>
                <a:t>patrones</a:t>
              </a:r>
              <a:r>
                <a:rPr sz="900">
                  <a:solidFill>
                    <a:srgbClr val="3E5553"/>
                  </a:solidFill>
                  <a:latin typeface="Calibri"/>
                </a:rPr>
                <a:t> de </a:t>
              </a:r>
              <a:r>
                <a:rPr sz="900" err="1">
                  <a:solidFill>
                    <a:srgbClr val="3E5553"/>
                  </a:solidFill>
                  <a:latin typeface="Calibri"/>
                </a:rPr>
                <a:t>comportamiento</a:t>
              </a:r>
              <a:r>
                <a:rPr sz="900">
                  <a:solidFill>
                    <a:srgbClr val="3E5553"/>
                  </a:solidFill>
                  <a:latin typeface="Calibri"/>
                </a:rPr>
                <a:t> y </a:t>
              </a:r>
              <a:r>
                <a:rPr sz="900" err="1">
                  <a:solidFill>
                    <a:srgbClr val="3E5553"/>
                  </a:solidFill>
                  <a:latin typeface="Calibri"/>
                </a:rPr>
                <a:t>construimos</a:t>
              </a:r>
              <a:r>
                <a:rPr sz="900">
                  <a:solidFill>
                    <a:srgbClr val="3E5553"/>
                  </a:solidFill>
                  <a:latin typeface="Calibri"/>
                </a:rPr>
                <a:t> </a:t>
              </a:r>
              <a:r>
                <a:rPr sz="900" err="1">
                  <a:solidFill>
                    <a:srgbClr val="3E5553"/>
                  </a:solidFill>
                  <a:latin typeface="Calibri"/>
                </a:rPr>
                <a:t>segmentos</a:t>
              </a:r>
              <a:r>
                <a:rPr sz="900">
                  <a:solidFill>
                    <a:srgbClr val="3E5553"/>
                  </a:solidFill>
                  <a:latin typeface="Calibri"/>
                </a:rPr>
                <a:t>; de </a:t>
              </a:r>
              <a:r>
                <a:rPr sz="900" err="1">
                  <a:solidFill>
                    <a:srgbClr val="3E5553"/>
                  </a:solidFill>
                  <a:latin typeface="Calibri"/>
                </a:rPr>
                <a:t>esos</a:t>
              </a:r>
              <a:r>
                <a:rPr sz="900">
                  <a:solidFill>
                    <a:srgbClr val="3E5553"/>
                  </a:solidFill>
                  <a:latin typeface="Calibri"/>
                </a:rPr>
                <a:t> </a:t>
              </a:r>
              <a:r>
                <a:rPr sz="900" err="1">
                  <a:solidFill>
                    <a:srgbClr val="3E5553"/>
                  </a:solidFill>
                  <a:latin typeface="Calibri"/>
                </a:rPr>
                <a:t>patrones</a:t>
              </a:r>
              <a:r>
                <a:rPr sz="900">
                  <a:solidFill>
                    <a:srgbClr val="3E5553"/>
                  </a:solidFill>
                  <a:latin typeface="Calibri"/>
                </a:rPr>
                <a:t> </a:t>
              </a:r>
              <a:r>
                <a:rPr sz="900" err="1">
                  <a:solidFill>
                    <a:srgbClr val="3E5553"/>
                  </a:solidFill>
                  <a:latin typeface="Calibri"/>
                </a:rPr>
                <a:t>inferimos</a:t>
              </a:r>
              <a:r>
                <a:rPr sz="900">
                  <a:solidFill>
                    <a:srgbClr val="3E5553"/>
                  </a:solidFill>
                  <a:latin typeface="Calibri"/>
                </a:rPr>
                <a:t> el </a:t>
              </a:r>
              <a:r>
                <a:rPr sz="900" err="1">
                  <a:solidFill>
                    <a:srgbClr val="3E5553"/>
                  </a:solidFill>
                  <a:latin typeface="Calibri"/>
                </a:rPr>
                <a:t>nivel</a:t>
              </a:r>
              <a:r>
                <a:rPr sz="900">
                  <a:solidFill>
                    <a:srgbClr val="3E5553"/>
                  </a:solidFill>
                  <a:latin typeface="Calibri"/>
                </a:rPr>
                <a:t> de </a:t>
              </a:r>
              <a:r>
                <a:rPr sz="900" err="1">
                  <a:solidFill>
                    <a:srgbClr val="3E5553"/>
                  </a:solidFill>
                  <a:latin typeface="Calibri"/>
                </a:rPr>
                <a:t>sensibilidad</a:t>
              </a:r>
              <a:r>
                <a:rPr sz="900">
                  <a:solidFill>
                    <a:srgbClr val="3E5553"/>
                  </a:solidFill>
                  <a:latin typeface="Calibri"/>
                </a:rPr>
                <a:t> al </a:t>
              </a:r>
              <a:r>
                <a:rPr sz="900" err="1">
                  <a:solidFill>
                    <a:srgbClr val="3E5553"/>
                  </a:solidFill>
                  <a:latin typeface="Calibri"/>
                </a:rPr>
                <a:t>precio</a:t>
              </a:r>
              <a:r>
                <a:rPr sz="900">
                  <a:solidFill>
                    <a:srgbClr val="3E5553"/>
                  </a:solidFill>
                  <a:latin typeface="Calibri"/>
                </a:rPr>
                <a:t> de </a:t>
              </a:r>
              <a:r>
                <a:rPr sz="900" err="1">
                  <a:solidFill>
                    <a:srgbClr val="3E5553"/>
                  </a:solidFill>
                  <a:latin typeface="Calibri"/>
                </a:rPr>
                <a:t>cada</a:t>
              </a:r>
              <a:r>
                <a:rPr sz="900">
                  <a:solidFill>
                    <a:srgbClr val="3E5553"/>
                  </a:solidFill>
                  <a:latin typeface="Calibri"/>
                </a:rPr>
                <a:t> uno.</a:t>
              </a:r>
            </a:p>
          </p:txBody>
        </p:sp>
        <p:sp>
          <p:nvSpPr>
            <p:cNvPr id="15" name="Rectangle 14"/>
            <p:cNvSpPr/>
            <p:nvPr/>
          </p:nvSpPr>
          <p:spPr>
            <a:xfrm>
              <a:off x="7900416" y="1495044"/>
              <a:ext cx="301584" cy="288036"/>
            </a:xfrm>
            <a:prstGeom prst="rect">
              <a:avLst/>
            </a:prstGeom>
            <a:solidFill>
              <a:srgbClr val="ECF6F5"/>
            </a:solidFill>
            <a:ln>
              <a:noFill/>
            </a:ln>
            <a:effectLst/>
          </p:spPr>
          <p:style>
            <a:lnRef idx="1">
              <a:schemeClr val="accent1"/>
            </a:lnRef>
            <a:fillRef idx="3">
              <a:schemeClr val="accent1"/>
            </a:fillRef>
            <a:effectRef idx="2">
              <a:schemeClr val="accent1"/>
            </a:effectRef>
            <a:fontRef idx="minor">
              <a:schemeClr val="lt1"/>
            </a:fontRef>
          </p:style>
          <p:txBody>
            <a:bodyPr wrap="square" lIns="34290" tIns="20574" rIns="34290" bIns="20574" rtlCol="0" anchor="ctr"/>
            <a:lstStyle/>
            <a:p>
              <a:pPr algn="ctr">
                <a:lnSpc>
                  <a:spcPct val="100000"/>
                </a:lnSpc>
              </a:pPr>
              <a:r>
                <a:rPr sz="788" b="1">
                  <a:solidFill>
                    <a:srgbClr val="0C514E"/>
                  </a:solidFill>
                  <a:latin typeface="Calibri"/>
                </a:rPr>
                <a:t>1</a:t>
              </a:r>
            </a:p>
          </p:txBody>
        </p:sp>
        <p:sp>
          <p:nvSpPr>
            <p:cNvPr id="16" name="Rectangle 15"/>
            <p:cNvSpPr/>
            <p:nvPr/>
          </p:nvSpPr>
          <p:spPr>
            <a:xfrm>
              <a:off x="8311728" y="1495044"/>
              <a:ext cx="301584" cy="288036"/>
            </a:xfrm>
            <a:prstGeom prst="rect">
              <a:avLst/>
            </a:prstGeom>
            <a:solidFill>
              <a:srgbClr val="ECF6F5"/>
            </a:solidFill>
            <a:ln>
              <a:noFill/>
            </a:ln>
            <a:effectLst/>
          </p:spPr>
          <p:style>
            <a:lnRef idx="1">
              <a:schemeClr val="accent1"/>
            </a:lnRef>
            <a:fillRef idx="3">
              <a:schemeClr val="accent1"/>
            </a:fillRef>
            <a:effectRef idx="2">
              <a:schemeClr val="accent1"/>
            </a:effectRef>
            <a:fontRef idx="minor">
              <a:schemeClr val="lt1"/>
            </a:fontRef>
          </p:style>
          <p:txBody>
            <a:bodyPr wrap="square" lIns="34290" tIns="20574" rIns="34290" bIns="20574" rtlCol="0" anchor="ctr"/>
            <a:lstStyle/>
            <a:p>
              <a:pPr algn="ctr">
                <a:lnSpc>
                  <a:spcPct val="100000"/>
                </a:lnSpc>
              </a:pPr>
              <a:r>
                <a:rPr sz="788" b="1">
                  <a:solidFill>
                    <a:srgbClr val="0C514E"/>
                  </a:solidFill>
                  <a:latin typeface="Calibri"/>
                </a:rPr>
                <a:t>2</a:t>
              </a:r>
            </a:p>
          </p:txBody>
        </p:sp>
        <p:sp>
          <p:nvSpPr>
            <p:cNvPr id="17" name="Rectangle 16"/>
            <p:cNvSpPr/>
            <p:nvPr/>
          </p:nvSpPr>
          <p:spPr>
            <a:xfrm>
              <a:off x="8723040" y="1495044"/>
              <a:ext cx="301584" cy="288036"/>
            </a:xfrm>
            <a:prstGeom prst="rect">
              <a:avLst/>
            </a:prstGeom>
            <a:solidFill>
              <a:srgbClr val="ECF6F5"/>
            </a:solidFill>
            <a:ln>
              <a:noFill/>
            </a:ln>
            <a:effectLst/>
          </p:spPr>
          <p:style>
            <a:lnRef idx="1">
              <a:schemeClr val="accent1"/>
            </a:lnRef>
            <a:fillRef idx="3">
              <a:schemeClr val="accent1"/>
            </a:fillRef>
            <a:effectRef idx="2">
              <a:schemeClr val="accent1"/>
            </a:effectRef>
            <a:fontRef idx="minor">
              <a:schemeClr val="lt1"/>
            </a:fontRef>
          </p:style>
          <p:txBody>
            <a:bodyPr wrap="square" lIns="34290" tIns="20574" rIns="34290" bIns="20574" rtlCol="0" anchor="ctr"/>
            <a:lstStyle/>
            <a:p>
              <a:pPr algn="ctr">
                <a:lnSpc>
                  <a:spcPct val="100000"/>
                </a:lnSpc>
              </a:pPr>
              <a:r>
                <a:rPr sz="788" b="1">
                  <a:solidFill>
                    <a:srgbClr val="0C514E"/>
                  </a:solidFill>
                  <a:latin typeface="Calibri"/>
                </a:rPr>
                <a:t>3</a:t>
              </a:r>
            </a:p>
          </p:txBody>
        </p:sp>
        <p:sp>
          <p:nvSpPr>
            <p:cNvPr id="18" name="Rectangle 17"/>
            <p:cNvSpPr/>
            <p:nvPr/>
          </p:nvSpPr>
          <p:spPr>
            <a:xfrm>
              <a:off x="9134353" y="1495044"/>
              <a:ext cx="301584" cy="288036"/>
            </a:xfrm>
            <a:prstGeom prst="rect">
              <a:avLst/>
            </a:prstGeom>
            <a:solidFill>
              <a:srgbClr val="FCF3E3"/>
            </a:solidFill>
            <a:ln>
              <a:noFill/>
            </a:ln>
            <a:effectLst/>
          </p:spPr>
          <p:style>
            <a:lnRef idx="1">
              <a:schemeClr val="accent1"/>
            </a:lnRef>
            <a:fillRef idx="3">
              <a:schemeClr val="accent1"/>
            </a:fillRef>
            <a:effectRef idx="2">
              <a:schemeClr val="accent1"/>
            </a:effectRef>
            <a:fontRef idx="minor">
              <a:schemeClr val="lt1"/>
            </a:fontRef>
          </p:style>
          <p:txBody>
            <a:bodyPr wrap="square" lIns="34290" tIns="20574" rIns="34290" bIns="20574" rtlCol="0" anchor="ctr"/>
            <a:lstStyle/>
            <a:p>
              <a:pPr algn="ctr">
                <a:lnSpc>
                  <a:spcPct val="100000"/>
                </a:lnSpc>
              </a:pPr>
              <a:r>
                <a:rPr sz="788" b="1">
                  <a:solidFill>
                    <a:srgbClr val="C87A0B"/>
                  </a:solidFill>
                  <a:latin typeface="Calibri"/>
                </a:rPr>
                <a:t>4</a:t>
              </a:r>
            </a:p>
          </p:txBody>
        </p:sp>
        <p:sp>
          <p:nvSpPr>
            <p:cNvPr id="19" name="Rectangle 18"/>
            <p:cNvSpPr/>
            <p:nvPr/>
          </p:nvSpPr>
          <p:spPr>
            <a:xfrm>
              <a:off x="9545665" y="1495044"/>
              <a:ext cx="301584" cy="288036"/>
            </a:xfrm>
            <a:prstGeom prst="rect">
              <a:avLst/>
            </a:prstGeom>
            <a:solidFill>
              <a:srgbClr val="ECF0F4"/>
            </a:solidFill>
            <a:ln>
              <a:noFill/>
            </a:ln>
            <a:effectLst/>
          </p:spPr>
          <p:style>
            <a:lnRef idx="1">
              <a:schemeClr val="accent1"/>
            </a:lnRef>
            <a:fillRef idx="3">
              <a:schemeClr val="accent1"/>
            </a:fillRef>
            <a:effectRef idx="2">
              <a:schemeClr val="accent1"/>
            </a:effectRef>
            <a:fontRef idx="minor">
              <a:schemeClr val="lt1"/>
            </a:fontRef>
          </p:style>
          <p:txBody>
            <a:bodyPr wrap="square" lIns="34290" tIns="20574" rIns="34290" bIns="20574" rtlCol="0" anchor="ctr"/>
            <a:lstStyle/>
            <a:p>
              <a:pPr algn="ctr">
                <a:lnSpc>
                  <a:spcPct val="100000"/>
                </a:lnSpc>
              </a:pPr>
              <a:r>
                <a:rPr sz="788" b="1">
                  <a:solidFill>
                    <a:srgbClr val="445A6E"/>
                  </a:solidFill>
                  <a:latin typeface="Calibri"/>
                </a:rPr>
                <a:t>5</a:t>
              </a:r>
            </a:p>
          </p:txBody>
        </p:sp>
        <p:sp>
          <p:nvSpPr>
            <p:cNvPr id="20" name="Rectangle 19"/>
            <p:cNvSpPr/>
            <p:nvPr/>
          </p:nvSpPr>
          <p:spPr>
            <a:xfrm>
              <a:off x="9956978" y="1495044"/>
              <a:ext cx="301584" cy="288036"/>
            </a:xfrm>
            <a:prstGeom prst="rect">
              <a:avLst/>
            </a:prstGeom>
            <a:solidFill>
              <a:srgbClr val="ECF0F4"/>
            </a:solidFill>
            <a:ln>
              <a:noFill/>
            </a:ln>
            <a:effectLst/>
          </p:spPr>
          <p:style>
            <a:lnRef idx="1">
              <a:schemeClr val="accent1"/>
            </a:lnRef>
            <a:fillRef idx="3">
              <a:schemeClr val="accent1"/>
            </a:fillRef>
            <a:effectRef idx="2">
              <a:schemeClr val="accent1"/>
            </a:effectRef>
            <a:fontRef idx="minor">
              <a:schemeClr val="lt1"/>
            </a:fontRef>
          </p:style>
          <p:txBody>
            <a:bodyPr wrap="square" lIns="34290" tIns="20574" rIns="34290" bIns="20574" rtlCol="0" anchor="ctr"/>
            <a:lstStyle/>
            <a:p>
              <a:pPr algn="ctr">
                <a:lnSpc>
                  <a:spcPct val="100000"/>
                </a:lnSpc>
              </a:pPr>
              <a:r>
                <a:rPr sz="788" b="1">
                  <a:solidFill>
                    <a:srgbClr val="445A6E"/>
                  </a:solidFill>
                  <a:latin typeface="Calibri"/>
                </a:rPr>
                <a:t>6</a:t>
              </a:r>
            </a:p>
          </p:txBody>
        </p:sp>
        <p:sp>
          <p:nvSpPr>
            <p:cNvPr id="21" name="Rectangle 20"/>
            <p:cNvSpPr/>
            <p:nvPr/>
          </p:nvSpPr>
          <p:spPr>
            <a:xfrm>
              <a:off x="10368290" y="1495044"/>
              <a:ext cx="301584" cy="288036"/>
            </a:xfrm>
            <a:prstGeom prst="rect">
              <a:avLst/>
            </a:prstGeom>
            <a:solidFill>
              <a:srgbClr val="F1F3F3"/>
            </a:solidFill>
            <a:ln>
              <a:noFill/>
            </a:ln>
            <a:effectLst/>
          </p:spPr>
          <p:style>
            <a:lnRef idx="1">
              <a:schemeClr val="accent1"/>
            </a:lnRef>
            <a:fillRef idx="3">
              <a:schemeClr val="accent1"/>
            </a:fillRef>
            <a:effectRef idx="2">
              <a:schemeClr val="accent1"/>
            </a:effectRef>
            <a:fontRef idx="minor">
              <a:schemeClr val="lt1"/>
            </a:fontRef>
          </p:style>
          <p:txBody>
            <a:bodyPr wrap="square" lIns="34290" tIns="20574" rIns="34290" bIns="20574" rtlCol="0" anchor="ctr"/>
            <a:lstStyle/>
            <a:p>
              <a:pPr algn="ctr">
                <a:lnSpc>
                  <a:spcPct val="100000"/>
                </a:lnSpc>
              </a:pPr>
              <a:r>
                <a:rPr sz="788" b="1">
                  <a:solidFill>
                    <a:srgbClr val="6E7E7D"/>
                  </a:solidFill>
                  <a:latin typeface="Calibri"/>
                </a:rPr>
                <a:t>7</a:t>
              </a:r>
            </a:p>
          </p:txBody>
        </p:sp>
        <p:sp>
          <p:nvSpPr>
            <p:cNvPr id="22" name="Rectangle 21"/>
            <p:cNvSpPr/>
            <p:nvPr/>
          </p:nvSpPr>
          <p:spPr>
            <a:xfrm>
              <a:off x="10779602" y="1495044"/>
              <a:ext cx="301584" cy="288036"/>
            </a:xfrm>
            <a:prstGeom prst="rect">
              <a:avLst/>
            </a:prstGeom>
            <a:solidFill>
              <a:srgbClr val="F1F3F3"/>
            </a:solidFill>
            <a:ln>
              <a:noFill/>
            </a:ln>
            <a:effectLst/>
          </p:spPr>
          <p:style>
            <a:lnRef idx="1">
              <a:schemeClr val="accent1"/>
            </a:lnRef>
            <a:fillRef idx="3">
              <a:schemeClr val="accent1"/>
            </a:fillRef>
            <a:effectRef idx="2">
              <a:schemeClr val="accent1"/>
            </a:effectRef>
            <a:fontRef idx="minor">
              <a:schemeClr val="lt1"/>
            </a:fontRef>
          </p:style>
          <p:txBody>
            <a:bodyPr wrap="square" lIns="34290" tIns="20574" rIns="34290" bIns="20574" rtlCol="0" anchor="ctr"/>
            <a:lstStyle/>
            <a:p>
              <a:pPr algn="ctr">
                <a:lnSpc>
                  <a:spcPct val="100000"/>
                </a:lnSpc>
              </a:pPr>
              <a:r>
                <a:rPr sz="788" b="1">
                  <a:solidFill>
                    <a:srgbClr val="6E7E7D"/>
                  </a:solidFill>
                  <a:latin typeface="Calibri"/>
                </a:rPr>
                <a:t>8</a:t>
              </a:r>
            </a:p>
          </p:txBody>
        </p:sp>
        <p:sp>
          <p:nvSpPr>
            <p:cNvPr id="23" name="Rectangle 22"/>
            <p:cNvSpPr/>
            <p:nvPr/>
          </p:nvSpPr>
          <p:spPr>
            <a:xfrm>
              <a:off x="11190914" y="1495044"/>
              <a:ext cx="301584" cy="288036"/>
            </a:xfrm>
            <a:prstGeom prst="rect">
              <a:avLst/>
            </a:prstGeom>
            <a:solidFill>
              <a:srgbClr val="F1F3F3"/>
            </a:solidFill>
            <a:ln>
              <a:noFill/>
            </a:ln>
            <a:effectLst/>
          </p:spPr>
          <p:style>
            <a:lnRef idx="1">
              <a:schemeClr val="accent1"/>
            </a:lnRef>
            <a:fillRef idx="3">
              <a:schemeClr val="accent1"/>
            </a:fillRef>
            <a:effectRef idx="2">
              <a:schemeClr val="accent1"/>
            </a:effectRef>
            <a:fontRef idx="minor">
              <a:schemeClr val="lt1"/>
            </a:fontRef>
          </p:style>
          <p:txBody>
            <a:bodyPr wrap="square" lIns="34290" tIns="20574" rIns="34290" bIns="20574" rtlCol="0" anchor="ctr"/>
            <a:lstStyle/>
            <a:p>
              <a:pPr algn="ctr">
                <a:lnSpc>
                  <a:spcPct val="100000"/>
                </a:lnSpc>
              </a:pPr>
              <a:r>
                <a:rPr sz="788" b="1">
                  <a:solidFill>
                    <a:srgbClr val="6E7E7D"/>
                  </a:solidFill>
                  <a:latin typeface="Calibri"/>
                </a:rPr>
                <a:t>9</a:t>
              </a:r>
            </a:p>
          </p:txBody>
        </p:sp>
        <p:sp>
          <p:nvSpPr>
            <p:cNvPr id="24" name="TextBox 23"/>
            <p:cNvSpPr txBox="1"/>
            <p:nvPr/>
          </p:nvSpPr>
          <p:spPr>
            <a:xfrm>
              <a:off x="7900416" y="1851660"/>
              <a:ext cx="3592083" cy="121252"/>
            </a:xfrm>
            <a:prstGeom prst="rect">
              <a:avLst/>
            </a:prstGeom>
            <a:noFill/>
          </p:spPr>
          <p:txBody>
            <a:bodyPr wrap="square" lIns="0" tIns="0" rIns="0" bIns="0" anchor="t">
              <a:spAutoFit/>
            </a:bodyPr>
            <a:lstStyle/>
            <a:p>
              <a:pPr algn="ctr">
                <a:lnSpc>
                  <a:spcPct val="100000"/>
                </a:lnSpc>
              </a:pPr>
              <a:r>
                <a:rPr sz="788" i="1">
                  <a:solidFill>
                    <a:srgbClr val="6E7E7D"/>
                  </a:solidFill>
                  <a:latin typeface="Calibri"/>
                </a:rPr>
                <a:t>9 segmentos → 4 macroperfiles de negocio</a:t>
              </a:r>
            </a:p>
          </p:txBody>
        </p:sp>
        <p:sp>
          <p:nvSpPr>
            <p:cNvPr id="25" name="TextBox 24"/>
            <p:cNvSpPr txBox="1"/>
            <p:nvPr/>
          </p:nvSpPr>
          <p:spPr>
            <a:xfrm>
              <a:off x="7900416" y="2057400"/>
              <a:ext cx="3592083" cy="121508"/>
            </a:xfrm>
            <a:prstGeom prst="rect">
              <a:avLst/>
            </a:prstGeom>
            <a:noFill/>
          </p:spPr>
          <p:txBody>
            <a:bodyPr wrap="square" lIns="0" tIns="0" rIns="0" bIns="0" anchor="t">
              <a:spAutoFit/>
            </a:bodyPr>
            <a:lstStyle/>
            <a:p>
              <a:pPr algn="ctr">
                <a:lnSpc>
                  <a:spcPct val="115000"/>
                </a:lnSpc>
              </a:pPr>
              <a:r>
                <a:rPr sz="750">
                  <a:solidFill>
                    <a:srgbClr val="6E7E7D"/>
                  </a:solidFill>
                  <a:latin typeface="Calibri"/>
                </a:rPr>
                <a:t>Data IBK: comportamiento, vinculación, utilidad y transaccionalidad</a:t>
              </a:r>
            </a:p>
          </p:txBody>
        </p:sp>
      </p:grpSp>
      <p:cxnSp>
        <p:nvCxnSpPr>
          <p:cNvPr id="26" name="Connector 25"/>
          <p:cNvCxnSpPr>
            <a:cxnSpLocks/>
          </p:cNvCxnSpPr>
          <p:nvPr/>
        </p:nvCxnSpPr>
        <p:spPr>
          <a:xfrm>
            <a:off x="1760601" y="2717927"/>
            <a:ext cx="0" cy="109729"/>
          </a:xfrm>
          <a:prstGeom prst="line">
            <a:avLst/>
          </a:prstGeom>
          <a:ln w="22225">
            <a:solidFill>
              <a:srgbClr val="2F9E98"/>
            </a:solidFill>
            <a:tailEnd type="triangle" w="med" len="med"/>
          </a:ln>
        </p:spPr>
        <p:style>
          <a:lnRef idx="2">
            <a:schemeClr val="accent1"/>
          </a:lnRef>
          <a:fillRef idx="0">
            <a:schemeClr val="accent1"/>
          </a:fillRef>
          <a:effectRef idx="1">
            <a:schemeClr val="accent1"/>
          </a:effectRef>
          <a:fontRef idx="minor">
            <a:schemeClr val="tx1"/>
          </a:fontRef>
        </p:style>
      </p:cxnSp>
      <p:grpSp>
        <p:nvGrpSpPr>
          <p:cNvPr id="79" name="Group 78">
            <a:extLst>
              <a:ext uri="{FF2B5EF4-FFF2-40B4-BE49-F238E27FC236}">
                <a16:creationId xmlns:a16="http://schemas.microsoft.com/office/drawing/2014/main" id="{8C002A0B-32AD-F806-BBF9-76A505EE17C7}"/>
              </a:ext>
            </a:extLst>
          </p:cNvPr>
          <p:cNvGrpSpPr/>
          <p:nvPr/>
        </p:nvGrpSpPr>
        <p:grpSpPr>
          <a:xfrm>
            <a:off x="493767" y="3019101"/>
            <a:ext cx="11204463" cy="1303020"/>
            <a:chOff x="493776" y="2647188"/>
            <a:chExt cx="11204463" cy="1303020"/>
          </a:xfrm>
        </p:grpSpPr>
        <p:sp>
          <p:nvSpPr>
            <p:cNvPr id="27" name="Rectangle 26"/>
            <p:cNvSpPr/>
            <p:nvPr/>
          </p:nvSpPr>
          <p:spPr>
            <a:xfrm>
              <a:off x="493776" y="2647188"/>
              <a:ext cx="11204463" cy="1303020"/>
            </a:xfrm>
            <a:prstGeom prst="rect">
              <a:avLst/>
            </a:prstGeom>
            <a:solidFill>
              <a:srgbClr val="FFFFFF"/>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100"/>
            </a:p>
          </p:txBody>
        </p:sp>
        <p:sp>
          <p:nvSpPr>
            <p:cNvPr id="28" name="Rectangle 27"/>
            <p:cNvSpPr/>
            <p:nvPr/>
          </p:nvSpPr>
          <p:spPr>
            <a:xfrm>
              <a:off x="493776" y="2647188"/>
              <a:ext cx="41148" cy="1303020"/>
            </a:xfrm>
            <a:prstGeom prst="rect">
              <a:avLst/>
            </a:prstGeom>
            <a:solidFill>
              <a:srgbClr val="C87A0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100"/>
            </a:p>
          </p:txBody>
        </p:sp>
        <p:sp>
          <p:nvSpPr>
            <p:cNvPr id="29" name="TextBox 28"/>
            <p:cNvSpPr txBox="1"/>
            <p:nvPr/>
          </p:nvSpPr>
          <p:spPr>
            <a:xfrm>
              <a:off x="699516" y="2784348"/>
              <a:ext cx="891540" cy="126958"/>
            </a:xfrm>
            <a:prstGeom prst="rect">
              <a:avLst/>
            </a:prstGeom>
            <a:noFill/>
          </p:spPr>
          <p:txBody>
            <a:bodyPr wrap="square" lIns="0" tIns="0" rIns="0" bIns="0" anchor="t">
              <a:spAutoFit/>
            </a:bodyPr>
            <a:lstStyle/>
            <a:p>
              <a:pPr algn="l">
                <a:lnSpc>
                  <a:spcPct val="100000"/>
                </a:lnSpc>
              </a:pPr>
              <a:r>
                <a:rPr sz="825" b="1">
                  <a:solidFill>
                    <a:srgbClr val="C87A0B"/>
                  </a:solidFill>
                  <a:latin typeface="Calibri"/>
                </a:rPr>
                <a:t>CAPA 2</a:t>
              </a:r>
            </a:p>
          </p:txBody>
        </p:sp>
        <p:sp>
          <p:nvSpPr>
            <p:cNvPr id="30" name="TextBox 29"/>
            <p:cNvSpPr txBox="1"/>
            <p:nvPr/>
          </p:nvSpPr>
          <p:spPr>
            <a:xfrm>
              <a:off x="699516" y="2976372"/>
              <a:ext cx="2468880" cy="432041"/>
            </a:xfrm>
            <a:prstGeom prst="rect">
              <a:avLst/>
            </a:prstGeom>
            <a:noFill/>
          </p:spPr>
          <p:txBody>
            <a:bodyPr wrap="square" lIns="0" tIns="0" rIns="0" bIns="0" anchor="t">
              <a:spAutoFit/>
            </a:bodyPr>
            <a:lstStyle/>
            <a:p>
              <a:pPr algn="l">
                <a:lnSpc>
                  <a:spcPct val="108000"/>
                </a:lnSpc>
              </a:pPr>
              <a:r>
                <a:rPr sz="1350" b="1" err="1">
                  <a:solidFill>
                    <a:srgbClr val="0B2E2C"/>
                  </a:solidFill>
                  <a:latin typeface="Calibri"/>
                </a:rPr>
                <a:t>Oferta</a:t>
              </a:r>
              <a:r>
                <a:rPr sz="1350" b="1">
                  <a:solidFill>
                    <a:srgbClr val="0B2E2C"/>
                  </a:solidFill>
                  <a:latin typeface="Calibri"/>
                </a:rPr>
                <a:t> </a:t>
              </a:r>
              <a:r>
                <a:rPr sz="1350" b="1" err="1">
                  <a:solidFill>
                    <a:srgbClr val="0B2E2C"/>
                  </a:solidFill>
                  <a:latin typeface="Calibri"/>
                </a:rPr>
                <a:t>relevante</a:t>
              </a:r>
              <a:r>
                <a:rPr sz="1350" b="1">
                  <a:solidFill>
                    <a:srgbClr val="0B2E2C"/>
                  </a:solidFill>
                  <a:latin typeface="Calibri"/>
                </a:rPr>
                <a:t> · Share of Sales</a:t>
              </a:r>
            </a:p>
          </p:txBody>
        </p:sp>
        <p:sp>
          <p:nvSpPr>
            <p:cNvPr id="31" name="Rectangle 30"/>
            <p:cNvSpPr/>
            <p:nvPr/>
          </p:nvSpPr>
          <p:spPr>
            <a:xfrm>
              <a:off x="699516" y="3593592"/>
              <a:ext cx="1817370" cy="205740"/>
            </a:xfrm>
            <a:prstGeom prst="rect">
              <a:avLst/>
            </a:prstGeom>
            <a:solidFill>
              <a:srgbClr val="FCF3E3"/>
            </a:solidFill>
            <a:ln>
              <a:noFill/>
            </a:ln>
            <a:effectLst/>
          </p:spPr>
          <p:style>
            <a:lnRef idx="1">
              <a:schemeClr val="accent1"/>
            </a:lnRef>
            <a:fillRef idx="3">
              <a:schemeClr val="accent1"/>
            </a:fillRef>
            <a:effectRef idx="2">
              <a:schemeClr val="accent1"/>
            </a:effectRef>
            <a:fontRef idx="minor">
              <a:schemeClr val="lt1"/>
            </a:fontRef>
          </p:style>
          <p:txBody>
            <a:bodyPr wrap="square" lIns="41148" tIns="20574" rIns="41148" bIns="20574" rtlCol="0" anchor="ctr"/>
            <a:lstStyle/>
            <a:p>
              <a:pPr algn="ctr">
                <a:lnSpc>
                  <a:spcPct val="100000"/>
                </a:lnSpc>
              </a:pPr>
              <a:r>
                <a:rPr lang="es-419" sz="900" b="1">
                  <a:solidFill>
                    <a:srgbClr val="C87A0B"/>
                  </a:solidFill>
                  <a:latin typeface="Calibri"/>
                </a:rPr>
                <a:t>A</a:t>
              </a:r>
              <a:r>
                <a:rPr sz="900" b="1">
                  <a:solidFill>
                    <a:srgbClr val="C87A0B"/>
                  </a:solidFill>
                  <a:latin typeface="Calibri"/>
                </a:rPr>
                <a:t> </a:t>
              </a:r>
              <a:r>
                <a:rPr sz="900" b="1" err="1">
                  <a:solidFill>
                    <a:srgbClr val="C87A0B"/>
                  </a:solidFill>
                  <a:latin typeface="Calibri"/>
                </a:rPr>
                <a:t>revisar</a:t>
              </a:r>
              <a:endParaRPr sz="900" b="1">
                <a:solidFill>
                  <a:srgbClr val="C87A0B"/>
                </a:solidFill>
                <a:latin typeface="Calibri"/>
              </a:endParaRPr>
            </a:p>
          </p:txBody>
        </p:sp>
        <p:cxnSp>
          <p:nvCxnSpPr>
            <p:cNvPr id="32" name="Connector 31"/>
            <p:cNvCxnSpPr/>
            <p:nvPr/>
          </p:nvCxnSpPr>
          <p:spPr>
            <a:xfrm>
              <a:off x="3374136" y="2839212"/>
              <a:ext cx="0" cy="918972"/>
            </a:xfrm>
            <a:prstGeom prst="line">
              <a:avLst/>
            </a:prstGeom>
            <a:ln w="12700">
              <a:solidFill>
                <a:srgbClr val="D5DFDE"/>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3579876" y="2811780"/>
              <a:ext cx="3154680" cy="184666"/>
            </a:xfrm>
            <a:prstGeom prst="rect">
              <a:avLst/>
            </a:prstGeom>
            <a:noFill/>
          </p:spPr>
          <p:txBody>
            <a:bodyPr wrap="square" lIns="0" tIns="0" rIns="0" bIns="0" anchor="t">
              <a:spAutoFit/>
            </a:bodyPr>
            <a:lstStyle/>
            <a:p>
              <a:pPr algn="l">
                <a:lnSpc>
                  <a:spcPct val="100000"/>
                </a:lnSpc>
              </a:pPr>
              <a:r>
                <a:rPr sz="1200" b="1">
                  <a:solidFill>
                    <a:srgbClr val="C87A0B"/>
                  </a:solidFill>
                  <a:latin typeface="Calibri"/>
                </a:rPr>
                <a:t>¿Cuánto de su negocio capturamos?</a:t>
              </a:r>
            </a:p>
          </p:txBody>
        </p:sp>
        <p:sp>
          <p:nvSpPr>
            <p:cNvPr id="34" name="TextBox 33"/>
            <p:cNvSpPr txBox="1"/>
            <p:nvPr/>
          </p:nvSpPr>
          <p:spPr>
            <a:xfrm>
              <a:off x="3579876" y="3058668"/>
              <a:ext cx="4046220" cy="506229"/>
            </a:xfrm>
            <a:prstGeom prst="rect">
              <a:avLst/>
            </a:prstGeom>
            <a:noFill/>
          </p:spPr>
          <p:txBody>
            <a:bodyPr wrap="square" lIns="0" tIns="0" rIns="0" bIns="0" anchor="t">
              <a:spAutoFit/>
            </a:bodyPr>
            <a:lstStyle/>
            <a:p>
              <a:pPr algn="l">
                <a:lnSpc>
                  <a:spcPct val="126000"/>
                </a:lnSpc>
              </a:pPr>
              <a:r>
                <a:rPr sz="900">
                  <a:solidFill>
                    <a:srgbClr val="3E5553"/>
                  </a:solidFill>
                  <a:latin typeface="Calibri"/>
                </a:rPr>
                <a:t>El share of sales mide la posición de IBK dentro de cada segmento: de la oferta total, qué demanda se observó y cuánto desembolsó IBK frente a la competencia.</a:t>
              </a:r>
            </a:p>
          </p:txBody>
        </p:sp>
        <p:sp>
          <p:nvSpPr>
            <p:cNvPr id="35" name="Rectangle 34"/>
            <p:cNvSpPr/>
            <p:nvPr/>
          </p:nvSpPr>
          <p:spPr>
            <a:xfrm>
              <a:off x="7900416" y="2825496"/>
              <a:ext cx="3592083" cy="274320"/>
            </a:xfrm>
            <a:prstGeom prst="rect">
              <a:avLst/>
            </a:prstGeom>
            <a:solidFill>
              <a:srgbClr val="ECF0F4"/>
            </a:solidFill>
            <a:ln>
              <a:noFill/>
            </a:ln>
            <a:effectLst/>
          </p:spPr>
          <p:style>
            <a:lnRef idx="1">
              <a:schemeClr val="accent1"/>
            </a:lnRef>
            <a:fillRef idx="3">
              <a:schemeClr val="accent1"/>
            </a:fillRef>
            <a:effectRef idx="2">
              <a:schemeClr val="accent1"/>
            </a:effectRef>
            <a:fontRef idx="minor">
              <a:schemeClr val="lt1"/>
            </a:fontRef>
          </p:style>
          <p:txBody>
            <a:bodyPr wrap="square" lIns="34290" tIns="20574" rIns="34290" bIns="20574" rtlCol="0" anchor="ctr"/>
            <a:lstStyle/>
            <a:p>
              <a:pPr algn="ctr">
                <a:lnSpc>
                  <a:spcPct val="100000"/>
                </a:lnSpc>
              </a:pPr>
              <a:r>
                <a:rPr sz="788" b="1">
                  <a:solidFill>
                    <a:srgbClr val="445A6E"/>
                  </a:solidFill>
                  <a:latin typeface="Calibri"/>
                </a:rPr>
                <a:t>Oferta total</a:t>
              </a:r>
            </a:p>
          </p:txBody>
        </p:sp>
        <p:sp>
          <p:nvSpPr>
            <p:cNvPr id="36" name="Rectangle 35"/>
            <p:cNvSpPr/>
            <p:nvPr/>
          </p:nvSpPr>
          <p:spPr>
            <a:xfrm>
              <a:off x="8511070" y="3154680"/>
              <a:ext cx="2370775" cy="274320"/>
            </a:xfrm>
            <a:prstGeom prst="rect">
              <a:avLst/>
            </a:prstGeom>
            <a:solidFill>
              <a:srgbClr val="FCF3E3"/>
            </a:solidFill>
            <a:ln>
              <a:noFill/>
            </a:ln>
            <a:effectLst/>
          </p:spPr>
          <p:style>
            <a:lnRef idx="1">
              <a:schemeClr val="accent1"/>
            </a:lnRef>
            <a:fillRef idx="3">
              <a:schemeClr val="accent1"/>
            </a:fillRef>
            <a:effectRef idx="2">
              <a:schemeClr val="accent1"/>
            </a:effectRef>
            <a:fontRef idx="minor">
              <a:schemeClr val="lt1"/>
            </a:fontRef>
          </p:style>
          <p:txBody>
            <a:bodyPr wrap="square" lIns="34290" tIns="20574" rIns="34290" bIns="20574" rtlCol="0" anchor="ctr"/>
            <a:lstStyle/>
            <a:p>
              <a:pPr algn="ctr">
                <a:lnSpc>
                  <a:spcPct val="100000"/>
                </a:lnSpc>
              </a:pPr>
              <a:r>
                <a:rPr sz="788" b="1">
                  <a:solidFill>
                    <a:srgbClr val="C87A0B"/>
                  </a:solidFill>
                  <a:latin typeface="Calibri"/>
                </a:rPr>
                <a:t>Demanda observada</a:t>
              </a:r>
            </a:p>
          </p:txBody>
        </p:sp>
        <p:sp>
          <p:nvSpPr>
            <p:cNvPr id="37" name="Rectangle 36"/>
            <p:cNvSpPr/>
            <p:nvPr/>
          </p:nvSpPr>
          <p:spPr>
            <a:xfrm>
              <a:off x="9049883" y="3483864"/>
              <a:ext cx="1293149" cy="274320"/>
            </a:xfrm>
            <a:prstGeom prst="rect">
              <a:avLst/>
            </a:prstGeom>
            <a:solidFill>
              <a:srgbClr val="ECF6F5"/>
            </a:solidFill>
            <a:ln>
              <a:noFill/>
            </a:ln>
            <a:effectLst/>
          </p:spPr>
          <p:style>
            <a:lnRef idx="1">
              <a:schemeClr val="accent1"/>
            </a:lnRef>
            <a:fillRef idx="3">
              <a:schemeClr val="accent1"/>
            </a:fillRef>
            <a:effectRef idx="2">
              <a:schemeClr val="accent1"/>
            </a:effectRef>
            <a:fontRef idx="minor">
              <a:schemeClr val="lt1"/>
            </a:fontRef>
          </p:style>
          <p:txBody>
            <a:bodyPr wrap="square" lIns="34290" tIns="20574" rIns="34290" bIns="20574" rtlCol="0" anchor="ctr"/>
            <a:lstStyle/>
            <a:p>
              <a:pPr algn="ctr">
                <a:lnSpc>
                  <a:spcPct val="100000"/>
                </a:lnSpc>
              </a:pPr>
              <a:r>
                <a:rPr sz="788" b="1">
                  <a:solidFill>
                    <a:srgbClr val="0C514E"/>
                  </a:solidFill>
                  <a:latin typeface="Calibri"/>
                </a:rPr>
                <a:t>Desembolsos IBK  ·  éxito</a:t>
              </a:r>
            </a:p>
          </p:txBody>
        </p:sp>
        <p:sp>
          <p:nvSpPr>
            <p:cNvPr id="38" name="TextBox 37"/>
            <p:cNvSpPr txBox="1"/>
            <p:nvPr/>
          </p:nvSpPr>
          <p:spPr>
            <a:xfrm>
              <a:off x="7900416" y="3813048"/>
              <a:ext cx="3592083" cy="115416"/>
            </a:xfrm>
            <a:prstGeom prst="rect">
              <a:avLst/>
            </a:prstGeom>
            <a:noFill/>
          </p:spPr>
          <p:txBody>
            <a:bodyPr wrap="square" lIns="0" tIns="0" rIns="0" bIns="0" anchor="t">
              <a:spAutoFit/>
            </a:bodyPr>
            <a:lstStyle/>
            <a:p>
              <a:pPr algn="ctr">
                <a:lnSpc>
                  <a:spcPct val="100000"/>
                </a:lnSpc>
              </a:pPr>
              <a:r>
                <a:rPr sz="750" i="1">
                  <a:solidFill>
                    <a:srgbClr val="6E7E7D"/>
                  </a:solidFill>
                  <a:latin typeface="Calibri"/>
                </a:rPr>
                <a:t>el resto desembolsó con la competencia → fracaso</a:t>
              </a:r>
            </a:p>
          </p:txBody>
        </p:sp>
      </p:grpSp>
      <p:cxnSp>
        <p:nvCxnSpPr>
          <p:cNvPr id="39" name="Connector 38"/>
          <p:cNvCxnSpPr/>
          <p:nvPr/>
        </p:nvCxnSpPr>
        <p:spPr>
          <a:xfrm>
            <a:off x="1760601" y="4532396"/>
            <a:ext cx="0" cy="109728"/>
          </a:xfrm>
          <a:prstGeom prst="line">
            <a:avLst/>
          </a:prstGeom>
          <a:ln w="22225">
            <a:solidFill>
              <a:srgbClr val="2F9E98"/>
            </a:solidFill>
            <a:tailEnd type="triangle" w="med" len="med"/>
          </a:ln>
        </p:spPr>
        <p:style>
          <a:lnRef idx="2">
            <a:schemeClr val="accent1"/>
          </a:lnRef>
          <a:fillRef idx="0">
            <a:schemeClr val="accent1"/>
          </a:fillRef>
          <a:effectRef idx="1">
            <a:schemeClr val="accent1"/>
          </a:effectRef>
          <a:fontRef idx="minor">
            <a:schemeClr val="tx1"/>
          </a:fontRef>
        </p:style>
      </p:cxnSp>
      <p:grpSp>
        <p:nvGrpSpPr>
          <p:cNvPr id="82" name="Group 81">
            <a:extLst>
              <a:ext uri="{FF2B5EF4-FFF2-40B4-BE49-F238E27FC236}">
                <a16:creationId xmlns:a16="http://schemas.microsoft.com/office/drawing/2014/main" id="{9449325C-4E7E-D2A3-3D61-51D32382A789}"/>
              </a:ext>
            </a:extLst>
          </p:cNvPr>
          <p:cNvGrpSpPr/>
          <p:nvPr/>
        </p:nvGrpSpPr>
        <p:grpSpPr>
          <a:xfrm>
            <a:off x="493768" y="4929321"/>
            <a:ext cx="11204463" cy="1303020"/>
            <a:chOff x="493776" y="4073652"/>
            <a:chExt cx="11204463" cy="1303020"/>
          </a:xfrm>
        </p:grpSpPr>
        <p:sp>
          <p:nvSpPr>
            <p:cNvPr id="40" name="Rectangle 39"/>
            <p:cNvSpPr/>
            <p:nvPr/>
          </p:nvSpPr>
          <p:spPr>
            <a:xfrm>
              <a:off x="493776" y="4073652"/>
              <a:ext cx="11204463" cy="1303020"/>
            </a:xfrm>
            <a:prstGeom prst="rect">
              <a:avLst/>
            </a:prstGeom>
            <a:solidFill>
              <a:srgbClr val="FFFFFF"/>
            </a:solidFill>
            <a:ln w="9525">
              <a:solidFill>
                <a:srgbClr val="D5DFD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100"/>
            </a:p>
          </p:txBody>
        </p:sp>
        <p:sp>
          <p:nvSpPr>
            <p:cNvPr id="41" name="Rectangle 40"/>
            <p:cNvSpPr/>
            <p:nvPr/>
          </p:nvSpPr>
          <p:spPr>
            <a:xfrm>
              <a:off x="493776" y="4073652"/>
              <a:ext cx="41148" cy="1303020"/>
            </a:xfrm>
            <a:prstGeom prst="rect">
              <a:avLst/>
            </a:prstGeom>
            <a:solidFill>
              <a:srgbClr val="445A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100"/>
            </a:p>
          </p:txBody>
        </p:sp>
        <p:sp>
          <p:nvSpPr>
            <p:cNvPr id="42" name="TextBox 41"/>
            <p:cNvSpPr txBox="1"/>
            <p:nvPr/>
          </p:nvSpPr>
          <p:spPr>
            <a:xfrm>
              <a:off x="699516" y="4210812"/>
              <a:ext cx="891540" cy="126958"/>
            </a:xfrm>
            <a:prstGeom prst="rect">
              <a:avLst/>
            </a:prstGeom>
            <a:noFill/>
          </p:spPr>
          <p:txBody>
            <a:bodyPr wrap="square" lIns="0" tIns="0" rIns="0" bIns="0" anchor="t">
              <a:spAutoFit/>
            </a:bodyPr>
            <a:lstStyle/>
            <a:p>
              <a:pPr algn="l">
                <a:lnSpc>
                  <a:spcPct val="100000"/>
                </a:lnSpc>
              </a:pPr>
              <a:r>
                <a:rPr sz="825" b="1">
                  <a:solidFill>
                    <a:srgbClr val="445A6E"/>
                  </a:solidFill>
                  <a:latin typeface="Calibri"/>
                </a:rPr>
                <a:t>CAPA 3</a:t>
              </a:r>
            </a:p>
          </p:txBody>
        </p:sp>
        <p:sp>
          <p:nvSpPr>
            <p:cNvPr id="43" name="TextBox 42"/>
            <p:cNvSpPr txBox="1"/>
            <p:nvPr/>
          </p:nvSpPr>
          <p:spPr>
            <a:xfrm>
              <a:off x="699516" y="4402836"/>
              <a:ext cx="2468880" cy="207686"/>
            </a:xfrm>
            <a:prstGeom prst="rect">
              <a:avLst/>
            </a:prstGeom>
            <a:noFill/>
          </p:spPr>
          <p:txBody>
            <a:bodyPr wrap="square" lIns="0" tIns="0" rIns="0" bIns="0" anchor="t">
              <a:spAutoFit/>
            </a:bodyPr>
            <a:lstStyle/>
            <a:p>
              <a:pPr algn="l">
                <a:lnSpc>
                  <a:spcPct val="108000"/>
                </a:lnSpc>
              </a:pPr>
              <a:r>
                <a:rPr sz="1350" b="1">
                  <a:solidFill>
                    <a:srgbClr val="0B2E2C"/>
                  </a:solidFill>
                  <a:latin typeface="Calibri"/>
                </a:rPr>
                <a:t>Mercado · </a:t>
              </a:r>
              <a:r>
                <a:rPr sz="1350" b="1" err="1">
                  <a:solidFill>
                    <a:srgbClr val="0B2E2C"/>
                  </a:solidFill>
                  <a:latin typeface="Calibri"/>
                </a:rPr>
                <a:t>Diferencia</a:t>
              </a:r>
              <a:r>
                <a:rPr sz="1350" b="1">
                  <a:solidFill>
                    <a:srgbClr val="0B2E2C"/>
                  </a:solidFill>
                  <a:latin typeface="Calibri"/>
                </a:rPr>
                <a:t> de </a:t>
              </a:r>
              <a:r>
                <a:rPr sz="1350" b="1" err="1">
                  <a:solidFill>
                    <a:srgbClr val="0B2E2C"/>
                  </a:solidFill>
                  <a:latin typeface="Calibri"/>
                </a:rPr>
                <a:t>tasas</a:t>
              </a:r>
              <a:endParaRPr sz="1350" b="1">
                <a:solidFill>
                  <a:srgbClr val="0B2E2C"/>
                </a:solidFill>
                <a:latin typeface="Calibri"/>
              </a:endParaRPr>
            </a:p>
          </p:txBody>
        </p:sp>
        <p:sp>
          <p:nvSpPr>
            <p:cNvPr id="44" name="Rectangle 43"/>
            <p:cNvSpPr/>
            <p:nvPr/>
          </p:nvSpPr>
          <p:spPr>
            <a:xfrm>
              <a:off x="699516" y="5020056"/>
              <a:ext cx="1817370" cy="205740"/>
            </a:xfrm>
            <a:prstGeom prst="rect">
              <a:avLst/>
            </a:prstGeom>
            <a:solidFill>
              <a:srgbClr val="ECF0F4"/>
            </a:solidFill>
            <a:ln>
              <a:noFill/>
            </a:ln>
            <a:effectLst/>
          </p:spPr>
          <p:style>
            <a:lnRef idx="1">
              <a:schemeClr val="accent1"/>
            </a:lnRef>
            <a:fillRef idx="3">
              <a:schemeClr val="accent1"/>
            </a:fillRef>
            <a:effectRef idx="2">
              <a:schemeClr val="accent1"/>
            </a:effectRef>
            <a:fontRef idx="minor">
              <a:schemeClr val="lt1"/>
            </a:fontRef>
          </p:style>
          <p:txBody>
            <a:bodyPr wrap="square" lIns="41148" tIns="20574" rIns="41148" bIns="20574" rtlCol="0" anchor="ctr"/>
            <a:lstStyle/>
            <a:p>
              <a:pPr algn="ctr">
                <a:lnSpc>
                  <a:spcPct val="100000"/>
                </a:lnSpc>
              </a:pPr>
              <a:r>
                <a:rPr sz="1050" b="1">
                  <a:solidFill>
                    <a:srgbClr val="445A6E"/>
                  </a:solidFill>
                  <a:latin typeface="Calibri"/>
                </a:rPr>
                <a:t>Última capa</a:t>
              </a:r>
            </a:p>
          </p:txBody>
        </p:sp>
        <p:cxnSp>
          <p:nvCxnSpPr>
            <p:cNvPr id="45" name="Connector 44"/>
            <p:cNvCxnSpPr/>
            <p:nvPr/>
          </p:nvCxnSpPr>
          <p:spPr>
            <a:xfrm>
              <a:off x="3374136" y="4265676"/>
              <a:ext cx="0" cy="918972"/>
            </a:xfrm>
            <a:prstGeom prst="line">
              <a:avLst/>
            </a:prstGeom>
            <a:ln w="12700">
              <a:solidFill>
                <a:srgbClr val="D5DFDE"/>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3579876" y="4238244"/>
              <a:ext cx="3154680" cy="184666"/>
            </a:xfrm>
            <a:prstGeom prst="rect">
              <a:avLst/>
            </a:prstGeom>
            <a:noFill/>
          </p:spPr>
          <p:txBody>
            <a:bodyPr wrap="square" lIns="0" tIns="0" rIns="0" bIns="0" anchor="t">
              <a:spAutoFit/>
            </a:bodyPr>
            <a:lstStyle/>
            <a:p>
              <a:pPr algn="l">
                <a:lnSpc>
                  <a:spcPct val="100000"/>
                </a:lnSpc>
              </a:pPr>
              <a:r>
                <a:rPr sz="1200" b="1">
                  <a:solidFill>
                    <a:srgbClr val="445A6E"/>
                  </a:solidFill>
                  <a:latin typeface="Calibri"/>
                </a:rPr>
                <a:t>¿A qué precio juega el mercado?</a:t>
              </a:r>
            </a:p>
          </p:txBody>
        </p:sp>
        <p:sp>
          <p:nvSpPr>
            <p:cNvPr id="47" name="TextBox 46"/>
            <p:cNvSpPr txBox="1"/>
            <p:nvPr/>
          </p:nvSpPr>
          <p:spPr>
            <a:xfrm>
              <a:off x="3579876" y="4485132"/>
              <a:ext cx="4046220" cy="331694"/>
            </a:xfrm>
            <a:prstGeom prst="rect">
              <a:avLst/>
            </a:prstGeom>
            <a:noFill/>
          </p:spPr>
          <p:txBody>
            <a:bodyPr wrap="square" lIns="0" tIns="0" rIns="0" bIns="0" anchor="t">
              <a:spAutoFit/>
            </a:bodyPr>
            <a:lstStyle/>
            <a:p>
              <a:pPr algn="l">
                <a:lnSpc>
                  <a:spcPct val="126000"/>
                </a:lnSpc>
              </a:pPr>
              <a:r>
                <a:rPr sz="900">
                  <a:solidFill>
                    <a:srgbClr val="3E5553"/>
                  </a:solidFill>
                  <a:latin typeface="Calibri"/>
                </a:rPr>
                <a:t>Se incorpora cómo vienen las tasas de IBK frente al mercado y la competencia: la capa que completa la lectura de sensibilidad al precio.</a:t>
              </a:r>
            </a:p>
          </p:txBody>
        </p:sp>
        <p:sp>
          <p:nvSpPr>
            <p:cNvPr id="48" name="TextBox 47"/>
            <p:cNvSpPr txBox="1"/>
            <p:nvPr/>
          </p:nvSpPr>
          <p:spPr>
            <a:xfrm>
              <a:off x="7900416" y="4320540"/>
              <a:ext cx="548640" cy="121252"/>
            </a:xfrm>
            <a:prstGeom prst="rect">
              <a:avLst/>
            </a:prstGeom>
            <a:noFill/>
          </p:spPr>
          <p:txBody>
            <a:bodyPr wrap="square" lIns="0" tIns="0" rIns="0" bIns="0" anchor="t">
              <a:spAutoFit/>
            </a:bodyPr>
            <a:lstStyle/>
            <a:p>
              <a:pPr algn="r">
                <a:lnSpc>
                  <a:spcPct val="100000"/>
                </a:lnSpc>
              </a:pPr>
              <a:r>
                <a:rPr sz="788" b="1">
                  <a:solidFill>
                    <a:srgbClr val="445A6E"/>
                  </a:solidFill>
                  <a:latin typeface="Calibri"/>
                </a:rPr>
                <a:t>IBK</a:t>
              </a:r>
            </a:p>
          </p:txBody>
        </p:sp>
        <p:sp>
          <p:nvSpPr>
            <p:cNvPr id="49" name="Rectangle 48"/>
            <p:cNvSpPr/>
            <p:nvPr/>
          </p:nvSpPr>
          <p:spPr>
            <a:xfrm>
              <a:off x="8483346" y="4306824"/>
              <a:ext cx="1968594" cy="178308"/>
            </a:xfrm>
            <a:prstGeom prst="rect">
              <a:avLst/>
            </a:prstGeom>
            <a:solidFill>
              <a:srgbClr val="445A6E"/>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100"/>
            </a:p>
          </p:txBody>
        </p:sp>
        <p:sp>
          <p:nvSpPr>
            <p:cNvPr id="50" name="TextBox 49"/>
            <p:cNvSpPr txBox="1"/>
            <p:nvPr/>
          </p:nvSpPr>
          <p:spPr>
            <a:xfrm>
              <a:off x="7900416" y="4608576"/>
              <a:ext cx="548640" cy="121252"/>
            </a:xfrm>
            <a:prstGeom prst="rect">
              <a:avLst/>
            </a:prstGeom>
            <a:noFill/>
          </p:spPr>
          <p:txBody>
            <a:bodyPr wrap="square" lIns="0" tIns="0" rIns="0" bIns="0" anchor="t">
              <a:spAutoFit/>
            </a:bodyPr>
            <a:lstStyle/>
            <a:p>
              <a:pPr algn="r">
                <a:lnSpc>
                  <a:spcPct val="100000"/>
                </a:lnSpc>
              </a:pPr>
              <a:r>
                <a:rPr sz="788" b="1">
                  <a:solidFill>
                    <a:srgbClr val="13807B"/>
                  </a:solidFill>
                  <a:latin typeface="Calibri"/>
                </a:rPr>
                <a:t>Mercado</a:t>
              </a:r>
            </a:p>
          </p:txBody>
        </p:sp>
        <p:sp>
          <p:nvSpPr>
            <p:cNvPr id="51" name="Rectangle 50"/>
            <p:cNvSpPr/>
            <p:nvPr/>
          </p:nvSpPr>
          <p:spPr>
            <a:xfrm>
              <a:off x="8483347" y="4594860"/>
              <a:ext cx="1602344" cy="178308"/>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2100"/>
            </a:p>
          </p:txBody>
        </p:sp>
        <p:cxnSp>
          <p:nvCxnSpPr>
            <p:cNvPr id="52" name="Connector 51"/>
            <p:cNvCxnSpPr/>
            <p:nvPr/>
          </p:nvCxnSpPr>
          <p:spPr>
            <a:xfrm>
              <a:off x="10085690" y="4265676"/>
              <a:ext cx="0" cy="562356"/>
            </a:xfrm>
            <a:prstGeom prst="line">
              <a:avLst/>
            </a:prstGeom>
            <a:ln w="15875">
              <a:solidFill>
                <a:srgbClr val="C04B4B"/>
              </a:solidFill>
              <a:prstDash val="dash"/>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9708500" y="4869180"/>
              <a:ext cx="1645920" cy="115416"/>
            </a:xfrm>
            <a:prstGeom prst="rect">
              <a:avLst/>
            </a:prstGeom>
            <a:noFill/>
          </p:spPr>
          <p:txBody>
            <a:bodyPr wrap="square" lIns="0" tIns="0" rIns="0" bIns="0" anchor="t">
              <a:spAutoFit/>
            </a:bodyPr>
            <a:lstStyle/>
            <a:p>
              <a:pPr algn="l">
                <a:lnSpc>
                  <a:spcPct val="100000"/>
                </a:lnSpc>
              </a:pPr>
              <a:r>
                <a:rPr sz="750" b="1">
                  <a:solidFill>
                    <a:srgbClr val="C04B4B"/>
                  </a:solidFill>
                  <a:latin typeface="Calibri"/>
                </a:rPr>
                <a:t>Δ tasas vs. competencia</a:t>
              </a:r>
            </a:p>
          </p:txBody>
        </p:sp>
      </p:grpSp>
      <p:sp>
        <p:nvSpPr>
          <p:cNvPr id="85" name="Rectangle 84">
            <a:extLst>
              <a:ext uri="{FF2B5EF4-FFF2-40B4-BE49-F238E27FC236}">
                <a16:creationId xmlns:a16="http://schemas.microsoft.com/office/drawing/2014/main" id="{0A0355B6-3BB5-7098-0540-B5103E5A7F91}"/>
              </a:ext>
            </a:extLst>
          </p:cNvPr>
          <p:cNvSpPr/>
          <p:nvPr/>
        </p:nvSpPr>
        <p:spPr>
          <a:xfrm>
            <a:off x="184826" y="1097915"/>
            <a:ext cx="11813322" cy="1578286"/>
          </a:xfrm>
          <a:prstGeom prst="rect">
            <a:avLst/>
          </a:prstGeom>
          <a:solidFill>
            <a:srgbClr val="D1D1D1">
              <a:alpha val="8509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E"/>
          </a:p>
        </p:txBody>
      </p:sp>
      <p:sp>
        <p:nvSpPr>
          <p:cNvPr id="86" name="Rectangle 85">
            <a:extLst>
              <a:ext uri="{FF2B5EF4-FFF2-40B4-BE49-F238E27FC236}">
                <a16:creationId xmlns:a16="http://schemas.microsoft.com/office/drawing/2014/main" id="{A5764FF1-95AB-038D-63DE-5065F3180336}"/>
              </a:ext>
            </a:extLst>
          </p:cNvPr>
          <p:cNvSpPr/>
          <p:nvPr/>
        </p:nvSpPr>
        <p:spPr>
          <a:xfrm>
            <a:off x="184826" y="2822455"/>
            <a:ext cx="11813322" cy="1578286"/>
          </a:xfrm>
          <a:prstGeom prst="rect">
            <a:avLst/>
          </a:prstGeom>
          <a:solidFill>
            <a:srgbClr val="D1D1D1">
              <a:alpha val="8509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E"/>
          </a:p>
        </p:txBody>
      </p:sp>
      <p:pic>
        <p:nvPicPr>
          <p:cNvPr id="87" name="Picture 86">
            <a:extLst>
              <a:ext uri="{FF2B5EF4-FFF2-40B4-BE49-F238E27FC236}">
                <a16:creationId xmlns:a16="http://schemas.microsoft.com/office/drawing/2014/main" id="{6D0FA5A7-8B8E-8049-9671-318877DED661}"/>
              </a:ext>
            </a:extLst>
          </p:cNvPr>
          <p:cNvPicPr>
            <a:picLocks noChangeAspect="1"/>
          </p:cNvPicPr>
          <p:nvPr/>
        </p:nvPicPr>
        <p:blipFill>
          <a:blip r:embed="rId2"/>
          <a:stretch>
            <a:fillRect/>
          </a:stretch>
        </p:blipFill>
        <p:spPr>
          <a:xfrm>
            <a:off x="11081186" y="82166"/>
            <a:ext cx="916962" cy="343030"/>
          </a:xfrm>
          <a:prstGeom prst="rect">
            <a:avLst/>
          </a:prstGeom>
        </p:spPr>
      </p:pic>
      <p:sp>
        <p:nvSpPr>
          <p:cNvPr id="5" name="TextBox 1">
            <a:extLst>
              <a:ext uri="{FF2B5EF4-FFF2-40B4-BE49-F238E27FC236}">
                <a16:creationId xmlns:a16="http://schemas.microsoft.com/office/drawing/2014/main" id="{6888E979-F666-AF37-E360-98F8BD6B4275}"/>
              </a:ext>
            </a:extLst>
          </p:cNvPr>
          <p:cNvSpPr txBox="1"/>
          <p:nvPr/>
        </p:nvSpPr>
        <p:spPr>
          <a:xfrm>
            <a:off x="493777" y="246888"/>
            <a:ext cx="8963570" cy="123111"/>
          </a:xfrm>
          <a:prstGeom prst="rect">
            <a:avLst/>
          </a:prstGeom>
          <a:noFill/>
        </p:spPr>
        <p:txBody>
          <a:bodyPr wrap="square" lIns="0" tIns="0" rIns="0" bIns="0" anchor="t">
            <a:spAutoFit/>
          </a:bodyPr>
          <a:lstStyle/>
          <a:p>
            <a:pPr algn="l">
              <a:lnSpc>
                <a:spcPct val="100000"/>
              </a:lnSpc>
            </a:pPr>
            <a:r>
              <a:rPr lang="es-PE" sz="800" b="1">
                <a:solidFill>
                  <a:srgbClr val="6E7E7D"/>
                </a:solidFill>
                <a:latin typeface="Calibri"/>
                <a:ea typeface="Calibri"/>
                <a:cs typeface="Calibri"/>
              </a:rPr>
              <a:t>OFERTA RELEVANTE</a:t>
            </a:r>
            <a:r>
              <a:rPr sz="800" b="1">
                <a:solidFill>
                  <a:srgbClr val="6E7E7D"/>
                </a:solidFill>
                <a:latin typeface="Calibri"/>
                <a:ea typeface="Calibri"/>
                <a:cs typeface="Calibri"/>
              </a:rPr>
              <a:t> · MARCO METODOLÓGICO</a:t>
            </a:r>
          </a:p>
        </p:txBody>
      </p:sp>
      <p:sp>
        <p:nvSpPr>
          <p:cNvPr id="6" name="TextBox 2">
            <a:extLst>
              <a:ext uri="{FF2B5EF4-FFF2-40B4-BE49-F238E27FC236}">
                <a16:creationId xmlns:a16="http://schemas.microsoft.com/office/drawing/2014/main" id="{59D8B53D-FB31-7D1D-E9C5-3BAE64A9BA2E}"/>
              </a:ext>
            </a:extLst>
          </p:cNvPr>
          <p:cNvSpPr txBox="1"/>
          <p:nvPr/>
        </p:nvSpPr>
        <p:spPr>
          <a:xfrm>
            <a:off x="493776" y="425196"/>
            <a:ext cx="10312923" cy="452432"/>
          </a:xfrm>
          <a:prstGeom prst="rect">
            <a:avLst/>
          </a:prstGeom>
          <a:noFill/>
        </p:spPr>
        <p:txBody>
          <a:bodyPr wrap="square" lIns="0" tIns="0" rIns="0" bIns="0" anchor="t">
            <a:spAutoFit/>
          </a:bodyPr>
          <a:lstStyle/>
          <a:p>
            <a:pPr algn="l">
              <a:lnSpc>
                <a:spcPct val="98000"/>
              </a:lnSpc>
            </a:pPr>
            <a:r>
              <a:rPr sz="1600" b="1">
                <a:solidFill>
                  <a:srgbClr val="13807B"/>
                </a:solidFill>
                <a:latin typeface="Poppins"/>
                <a:ea typeface="Poppins"/>
                <a:cs typeface="Poppins"/>
              </a:rPr>
              <a:t>La </a:t>
            </a:r>
            <a:r>
              <a:rPr sz="1600" b="1" err="1">
                <a:solidFill>
                  <a:srgbClr val="13807B"/>
                </a:solidFill>
                <a:latin typeface="Poppins"/>
                <a:ea typeface="Poppins"/>
                <a:cs typeface="Poppins"/>
              </a:rPr>
              <a:t>sensibilidad</a:t>
            </a:r>
            <a:r>
              <a:rPr sz="1600" b="1">
                <a:solidFill>
                  <a:srgbClr val="13807B"/>
                </a:solidFill>
                <a:latin typeface="Poppins"/>
                <a:ea typeface="Poppins"/>
                <a:cs typeface="Poppins"/>
              </a:rPr>
              <a:t> al </a:t>
            </a:r>
            <a:r>
              <a:rPr sz="1600" b="1" err="1">
                <a:solidFill>
                  <a:srgbClr val="13807B"/>
                </a:solidFill>
                <a:latin typeface="Poppins"/>
                <a:ea typeface="Poppins"/>
                <a:cs typeface="Poppins"/>
              </a:rPr>
              <a:t>precio</a:t>
            </a:r>
            <a:r>
              <a:rPr sz="1600" b="1">
                <a:solidFill>
                  <a:srgbClr val="13807B"/>
                </a:solidFill>
                <a:latin typeface="Poppins"/>
                <a:ea typeface="Poppins"/>
                <a:cs typeface="Poppins"/>
              </a:rPr>
              <a:t> se </a:t>
            </a:r>
            <a:r>
              <a:rPr sz="1600" b="1" err="1">
                <a:solidFill>
                  <a:srgbClr val="13807B"/>
                </a:solidFill>
                <a:latin typeface="Poppins"/>
                <a:ea typeface="Poppins"/>
                <a:cs typeface="Poppins"/>
              </a:rPr>
              <a:t>construye</a:t>
            </a:r>
            <a:r>
              <a:rPr sz="1600" b="1">
                <a:solidFill>
                  <a:srgbClr val="13807B"/>
                </a:solidFill>
                <a:latin typeface="Poppins"/>
                <a:ea typeface="Poppins"/>
                <a:cs typeface="Poppins"/>
              </a:rPr>
              <a:t> </a:t>
            </a:r>
            <a:r>
              <a:rPr sz="1600" b="1" err="1">
                <a:solidFill>
                  <a:srgbClr val="13807B"/>
                </a:solidFill>
                <a:latin typeface="Poppins"/>
                <a:ea typeface="Poppins"/>
                <a:cs typeface="Poppins"/>
              </a:rPr>
              <a:t>en</a:t>
            </a:r>
            <a:r>
              <a:rPr sz="1600" b="1">
                <a:solidFill>
                  <a:srgbClr val="13807B"/>
                </a:solidFill>
                <a:latin typeface="Poppins"/>
                <a:ea typeface="Poppins"/>
                <a:cs typeface="Poppins"/>
              </a:rPr>
              <a:t> </a:t>
            </a:r>
            <a:r>
              <a:rPr sz="1600" b="1" err="1">
                <a:solidFill>
                  <a:srgbClr val="13807B"/>
                </a:solidFill>
                <a:latin typeface="Poppins"/>
                <a:ea typeface="Poppins"/>
                <a:cs typeface="Poppins"/>
              </a:rPr>
              <a:t>tres</a:t>
            </a:r>
            <a:r>
              <a:rPr sz="1600" b="1">
                <a:solidFill>
                  <a:srgbClr val="13807B"/>
                </a:solidFill>
                <a:latin typeface="Poppins"/>
                <a:ea typeface="Poppins"/>
                <a:cs typeface="Poppins"/>
              </a:rPr>
              <a:t> </a:t>
            </a:r>
            <a:r>
              <a:rPr sz="1600" b="1" err="1">
                <a:solidFill>
                  <a:srgbClr val="13807B"/>
                </a:solidFill>
                <a:latin typeface="Poppins"/>
                <a:ea typeface="Poppins"/>
                <a:cs typeface="Poppins"/>
              </a:rPr>
              <a:t>capas</a:t>
            </a:r>
            <a:r>
              <a:rPr sz="1600" b="1">
                <a:solidFill>
                  <a:srgbClr val="13807B"/>
                </a:solidFill>
                <a:latin typeface="Poppins"/>
                <a:ea typeface="Poppins"/>
                <a:cs typeface="Poppins"/>
              </a:rPr>
              <a:t>: </a:t>
            </a:r>
            <a:r>
              <a:rPr sz="1600" b="1" err="1">
                <a:solidFill>
                  <a:srgbClr val="13807B"/>
                </a:solidFill>
                <a:latin typeface="Poppins"/>
                <a:ea typeface="Poppins"/>
                <a:cs typeface="Poppins"/>
              </a:rPr>
              <a:t>quién</a:t>
            </a:r>
            <a:r>
              <a:rPr sz="1600" b="1">
                <a:solidFill>
                  <a:srgbClr val="13807B"/>
                </a:solidFill>
                <a:latin typeface="Poppins"/>
                <a:ea typeface="Poppins"/>
                <a:cs typeface="Poppins"/>
              </a:rPr>
              <a:t> es el </a:t>
            </a:r>
            <a:r>
              <a:rPr sz="1600" b="1" err="1">
                <a:solidFill>
                  <a:srgbClr val="13807B"/>
                </a:solidFill>
                <a:latin typeface="Poppins"/>
                <a:ea typeface="Poppins"/>
                <a:cs typeface="Poppins"/>
              </a:rPr>
              <a:t>cliente</a:t>
            </a:r>
            <a:r>
              <a:rPr sz="1600" b="1">
                <a:solidFill>
                  <a:srgbClr val="13807B"/>
                </a:solidFill>
                <a:latin typeface="Poppins"/>
                <a:ea typeface="Poppins"/>
                <a:cs typeface="Poppins"/>
              </a:rPr>
              <a:t>, </a:t>
            </a:r>
            <a:r>
              <a:rPr sz="1600" b="1" err="1">
                <a:solidFill>
                  <a:srgbClr val="13807B"/>
                </a:solidFill>
                <a:latin typeface="Poppins"/>
                <a:ea typeface="Poppins"/>
                <a:cs typeface="Poppins"/>
              </a:rPr>
              <a:t>cuánto</a:t>
            </a:r>
            <a:r>
              <a:rPr sz="1600" b="1">
                <a:solidFill>
                  <a:srgbClr val="13807B"/>
                </a:solidFill>
                <a:latin typeface="Poppins"/>
                <a:ea typeface="Poppins"/>
                <a:cs typeface="Poppins"/>
              </a:rPr>
              <a:t> de</a:t>
            </a:r>
            <a:r>
              <a:rPr lang="es-419" sz="1600" b="1">
                <a:solidFill>
                  <a:srgbClr val="13807B"/>
                </a:solidFill>
                <a:latin typeface="Poppins"/>
                <a:ea typeface="Poppins"/>
                <a:cs typeface="Poppins"/>
              </a:rPr>
              <a:t>l </a:t>
            </a:r>
            <a:r>
              <a:rPr sz="1600" b="1" err="1">
                <a:solidFill>
                  <a:srgbClr val="13807B"/>
                </a:solidFill>
                <a:latin typeface="Poppins"/>
                <a:ea typeface="Poppins"/>
                <a:cs typeface="Poppins"/>
              </a:rPr>
              <a:t>negocio</a:t>
            </a:r>
            <a:r>
              <a:rPr sz="1600" b="1">
                <a:solidFill>
                  <a:srgbClr val="13807B"/>
                </a:solidFill>
                <a:latin typeface="Poppins"/>
                <a:ea typeface="Poppins"/>
                <a:cs typeface="Poppins"/>
              </a:rPr>
              <a:t> </a:t>
            </a:r>
            <a:r>
              <a:rPr sz="1600" b="1" err="1">
                <a:solidFill>
                  <a:srgbClr val="13807B"/>
                </a:solidFill>
                <a:latin typeface="Poppins"/>
                <a:ea typeface="Poppins"/>
                <a:cs typeface="Poppins"/>
              </a:rPr>
              <a:t>tenemos</a:t>
            </a:r>
            <a:r>
              <a:rPr sz="1600" b="1">
                <a:solidFill>
                  <a:srgbClr val="13807B"/>
                </a:solidFill>
                <a:latin typeface="Poppins"/>
                <a:ea typeface="Poppins"/>
                <a:cs typeface="Poppins"/>
              </a:rPr>
              <a:t> y a </a:t>
            </a:r>
            <a:r>
              <a:rPr sz="1600" b="1" err="1">
                <a:solidFill>
                  <a:srgbClr val="13807B"/>
                </a:solidFill>
                <a:latin typeface="Poppins"/>
                <a:ea typeface="Poppins"/>
                <a:cs typeface="Poppins"/>
              </a:rPr>
              <a:t>qué</a:t>
            </a:r>
            <a:r>
              <a:rPr sz="1600" b="1">
                <a:solidFill>
                  <a:srgbClr val="13807B"/>
                </a:solidFill>
                <a:latin typeface="Poppins"/>
                <a:ea typeface="Poppins"/>
                <a:cs typeface="Poppins"/>
              </a:rPr>
              <a:t> </a:t>
            </a:r>
            <a:r>
              <a:rPr sz="1600" b="1" err="1">
                <a:solidFill>
                  <a:srgbClr val="13807B"/>
                </a:solidFill>
                <a:latin typeface="Poppins"/>
                <a:ea typeface="Poppins"/>
                <a:cs typeface="Poppins"/>
              </a:rPr>
              <a:t>precio</a:t>
            </a:r>
            <a:r>
              <a:rPr sz="1600" b="1">
                <a:solidFill>
                  <a:srgbClr val="13807B"/>
                </a:solidFill>
                <a:latin typeface="Poppins"/>
                <a:ea typeface="Poppins"/>
                <a:cs typeface="Poppins"/>
              </a:rPr>
              <a:t> </a:t>
            </a:r>
            <a:r>
              <a:rPr sz="1600" b="1" err="1">
                <a:solidFill>
                  <a:srgbClr val="13807B"/>
                </a:solidFill>
                <a:latin typeface="Poppins"/>
                <a:ea typeface="Poppins"/>
                <a:cs typeface="Poppins"/>
              </a:rPr>
              <a:t>juega</a:t>
            </a:r>
            <a:r>
              <a:rPr sz="1600" b="1">
                <a:solidFill>
                  <a:srgbClr val="13807B"/>
                </a:solidFill>
                <a:latin typeface="Poppins"/>
                <a:ea typeface="Poppins"/>
                <a:cs typeface="Poppins"/>
              </a:rPr>
              <a:t> el mercado</a:t>
            </a:r>
          </a:p>
        </p:txBody>
      </p:sp>
      <p:cxnSp>
        <p:nvCxnSpPr>
          <p:cNvPr id="54" name="Connector 3">
            <a:extLst>
              <a:ext uri="{FF2B5EF4-FFF2-40B4-BE49-F238E27FC236}">
                <a16:creationId xmlns:a16="http://schemas.microsoft.com/office/drawing/2014/main" id="{41CD8226-4A7C-B4D2-F6EE-462C67494CB9}"/>
              </a:ext>
            </a:extLst>
          </p:cNvPr>
          <p:cNvCxnSpPr/>
          <p:nvPr/>
        </p:nvCxnSpPr>
        <p:spPr>
          <a:xfrm>
            <a:off x="493776" y="1049274"/>
            <a:ext cx="11204463" cy="0"/>
          </a:xfrm>
          <a:prstGeom prst="line">
            <a:avLst/>
          </a:prstGeom>
          <a:ln w="12700">
            <a:solidFill>
              <a:srgbClr val="D5DFDE"/>
            </a:solidFill>
          </a:ln>
        </p:spPr>
        <p:style>
          <a:lnRef idx="2">
            <a:schemeClr val="accent1"/>
          </a:lnRef>
          <a:fillRef idx="0">
            <a:schemeClr val="accent1"/>
          </a:fillRef>
          <a:effectRef idx="1">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8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 grpId="0" animBg="1"/>
      <p:bldP spid="86"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93777" y="246888"/>
            <a:ext cx="8963570" cy="109710"/>
          </a:xfrm>
          <a:prstGeom prst="rect">
            <a:avLst/>
          </a:prstGeom>
          <a:noFill/>
        </p:spPr>
        <p:txBody>
          <a:bodyPr wrap="square" lIns="0" tIns="0" rIns="0" bIns="0" anchor="t">
            <a:spAutoFit/>
          </a:bodyPr>
          <a:lstStyle/>
          <a:p>
            <a:pPr algn="l"/>
            <a:r>
              <a:rPr sz="800" b="1">
                <a:solidFill>
                  <a:srgbClr val="6E7E7D"/>
                </a:solidFill>
                <a:latin typeface="Calibri"/>
              </a:rPr>
              <a:t>CONTEXTO · COBERTURA DE LA TASA INFERIDA</a:t>
            </a:r>
          </a:p>
        </p:txBody>
      </p:sp>
      <p:sp>
        <p:nvSpPr>
          <p:cNvPr id="3" name="TextBox 2"/>
          <p:cNvSpPr txBox="1"/>
          <p:nvPr/>
        </p:nvSpPr>
        <p:spPr>
          <a:xfrm>
            <a:off x="493776" y="425196"/>
            <a:ext cx="10312923" cy="482568"/>
          </a:xfrm>
          <a:prstGeom prst="rect">
            <a:avLst/>
          </a:prstGeom>
          <a:noFill/>
        </p:spPr>
        <p:txBody>
          <a:bodyPr wrap="square" lIns="0" tIns="0" rIns="0" bIns="0" anchor="t">
            <a:spAutoFit/>
          </a:bodyPr>
          <a:lstStyle/>
          <a:p>
            <a:pPr algn="l"/>
            <a:r>
              <a:rPr sz="1600" b="1">
                <a:solidFill>
                  <a:srgbClr val="13807B"/>
                </a:solidFill>
                <a:latin typeface="Poppins"/>
              </a:rPr>
              <a:t>54% de los desembolsos de la competencia tiene tasa inferida en nuestro análisis</a:t>
            </a:r>
          </a:p>
        </p:txBody>
      </p:sp>
      <p:cxnSp>
        <p:nvCxnSpPr>
          <p:cNvPr id="4" name="Connector 3"/>
          <p:cNvCxnSpPr/>
          <p:nvPr/>
        </p:nvCxnSpPr>
        <p:spPr>
          <a:xfrm>
            <a:off x="493776" y="1049274"/>
            <a:ext cx="11204463" cy="0"/>
          </a:xfrm>
          <a:prstGeom prst="line">
            <a:avLst/>
          </a:prstGeom>
          <a:ln w="12700">
            <a:solidFill>
              <a:srgbClr val="D5DFDE"/>
            </a:solidFill>
          </a:ln>
        </p:spPr>
        <p:style>
          <a:lnRef idx="2">
            <a:schemeClr val="accent1"/>
          </a:lnRef>
          <a:fillRef idx="0">
            <a:schemeClr val="accent1"/>
          </a:fillRef>
          <a:effectRef idx="1">
            <a:schemeClr val="accent1"/>
          </a:effectRef>
          <a:fontRef idx="minor">
            <a:schemeClr val="tx1"/>
          </a:fontRef>
        </p:style>
      </p:cxnSp>
      <p:pic>
        <p:nvPicPr>
          <p:cNvPr id="5" name="Picture 4" descr="logo.png"/>
          <p:cNvPicPr>
            <a:picLocks noChangeAspect="1"/>
          </p:cNvPicPr>
          <p:nvPr/>
        </p:nvPicPr>
        <p:blipFill>
          <a:blip r:embed="rId2"/>
          <a:stretch>
            <a:fillRect/>
          </a:stretch>
        </p:blipFill>
        <p:spPr>
          <a:xfrm>
            <a:off x="11081186" y="82166"/>
            <a:ext cx="916962" cy="343030"/>
          </a:xfrm>
          <a:prstGeom prst="rect">
            <a:avLst/>
          </a:prstGeom>
        </p:spPr>
      </p:pic>
      <p:sp>
        <p:nvSpPr>
          <p:cNvPr id="6" name="TextBox 5"/>
          <p:cNvSpPr txBox="1"/>
          <p:nvPr/>
        </p:nvSpPr>
        <p:spPr>
          <a:xfrm>
            <a:off x="493776" y="1100000"/>
            <a:ext cx="6500000" cy="230000"/>
          </a:xfrm>
          <a:prstGeom prst="rect">
            <a:avLst/>
          </a:prstGeom>
          <a:noFill/>
        </p:spPr>
        <p:txBody>
          <a:bodyPr wrap="square" lIns="0" tIns="0" rIns="0" bIns="0" anchor="t">
            <a:spAutoFit/>
          </a:bodyPr>
          <a:lstStyle/>
          <a:p>
            <a:pPr algn="l"/>
            <a:r>
              <a:rPr sz="1050" b="1">
                <a:solidFill>
                  <a:srgbClr val="13807B"/>
                </a:solidFill>
                <a:latin typeface="Calibri"/>
              </a:rPr>
              <a:t>De los desembolsos de la competencia del share relevante a los que tienen tasa inferida (abr 2025 – may 2026)</a:t>
            </a:r>
          </a:p>
        </p:txBody>
      </p:sp>
      <p:sp>
        <p:nvSpPr>
          <p:cNvPr id="8" name="TextBox 7"/>
          <p:cNvSpPr txBox="1"/>
          <p:nvPr/>
        </p:nvSpPr>
        <p:spPr>
          <a:xfrm>
            <a:off x="7150000" y="1100000"/>
            <a:ext cx="4550000" cy="230000"/>
          </a:xfrm>
          <a:prstGeom prst="rect">
            <a:avLst/>
          </a:prstGeom>
          <a:noFill/>
        </p:spPr>
        <p:txBody>
          <a:bodyPr wrap="square" lIns="0" tIns="0" rIns="0" bIns="0" anchor="t">
            <a:spAutoFit/>
          </a:bodyPr>
          <a:lstStyle/>
          <a:p>
            <a:pPr algn="l"/>
            <a:r>
              <a:rPr sz="1050" b="1">
                <a:solidFill>
                  <a:srgbClr val="13807B"/>
                </a:solidFill>
                <a:latin typeface="Calibri"/>
              </a:rPr>
              <a:t>Desembolsos de la competencia por cluster (total entre paréntesis)</a:t>
            </a:r>
          </a:p>
        </p:txBody>
      </p:sp>
      <p:graphicFrame>
        <p:nvGraphicFramePr>
          <p:cNvPr id="9" name="Chart 8"/>
          <p:cNvGraphicFramePr>
            <a:graphicFrameLocks noGrp="1"/>
          </p:cNvGraphicFramePr>
          <p:nvPr>
            <p:extLst>
              <p:ext uri="{D42A27DB-BD31-4B8C-83A1-F6EECF244321}">
                <p14:modId xmlns:p14="http://schemas.microsoft.com/office/powerpoint/2010/main" val="678365728"/>
              </p:ext>
            </p:extLst>
          </p:nvPr>
        </p:nvGraphicFramePr>
        <p:xfrm>
          <a:off x="493776" y="1400000"/>
          <a:ext cx="6500000" cy="50000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0" name="Chart 9"/>
          <p:cNvGraphicFramePr>
            <a:graphicFrameLocks noGrp="1"/>
          </p:cNvGraphicFramePr>
          <p:nvPr>
            <p:extLst>
              <p:ext uri="{D42A27DB-BD31-4B8C-83A1-F6EECF244321}">
                <p14:modId xmlns:p14="http://schemas.microsoft.com/office/powerpoint/2010/main" val="1050561313"/>
              </p:ext>
            </p:extLst>
          </p:nvPr>
        </p:nvGraphicFramePr>
        <p:xfrm>
          <a:off x="7150000" y="1400000"/>
          <a:ext cx="4545000" cy="5000000"/>
        </p:xfrm>
        <a:graphic>
          <a:graphicData uri="http://schemas.openxmlformats.org/drawingml/2006/chart">
            <c:chart xmlns:c="http://schemas.openxmlformats.org/drawingml/2006/chart" xmlns:r="http://schemas.openxmlformats.org/officeDocument/2006/relationships" r:id="rId4"/>
          </a:graphicData>
        </a:graphic>
      </p:graphicFrame>
      <p:sp>
        <p:nvSpPr>
          <p:cNvPr id="11" name="TextBox 10"/>
          <p:cNvSpPr txBox="1"/>
          <p:nvPr/>
        </p:nvSpPr>
        <p:spPr>
          <a:xfrm>
            <a:off x="8600000" y="6380000"/>
            <a:ext cx="3000000" cy="220000"/>
          </a:xfrm>
          <a:prstGeom prst="rect">
            <a:avLst/>
          </a:prstGeom>
          <a:noFill/>
        </p:spPr>
        <p:txBody>
          <a:bodyPr wrap="none">
            <a:spAutoFit/>
          </a:bodyPr>
          <a:lstStyle/>
          <a:p>
            <a:r>
              <a:rPr sz="900">
                <a:solidFill>
                  <a:srgbClr val="13807B"/>
                </a:solidFill>
              </a:rPr>
              <a:t>■ </a:t>
            </a:r>
            <a:r>
              <a:rPr sz="900">
                <a:solidFill>
                  <a:srgbClr val="4B5552"/>
                </a:solidFill>
              </a:rPr>
              <a:t>Con tasa inferida     </a:t>
            </a:r>
            <a:r>
              <a:rPr sz="900">
                <a:solidFill>
                  <a:srgbClr val="E5173F"/>
                </a:solidFill>
              </a:rPr>
              <a:t>■ </a:t>
            </a:r>
            <a:r>
              <a:rPr sz="900">
                <a:solidFill>
                  <a:srgbClr val="4B5552"/>
                </a:solidFill>
              </a:rPr>
              <a:t>Sin tasa inferida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493777" y="246888"/>
            <a:ext cx="8963570" cy="109710"/>
          </a:xfrm>
          <a:prstGeom prst="rect">
            <a:avLst/>
          </a:prstGeom>
          <a:noFill/>
        </p:spPr>
        <p:txBody>
          <a:bodyPr wrap="square" lIns="0" tIns="0" rIns="0" bIns="0" anchor="t">
            <a:spAutoFit/>
          </a:bodyPr>
          <a:lstStyle/>
          <a:p>
            <a:pPr algn="l"/>
            <a:r>
              <a:rPr sz="800" b="1">
                <a:solidFill>
                  <a:srgbClr val="6E7E7D"/>
                </a:solidFill>
                <a:latin typeface="Calibri"/>
              </a:rPr>
              <a:t>CONTEXTO · COBERTURA DE LA TASA INFERIDA</a:t>
            </a:r>
          </a:p>
        </p:txBody>
      </p:sp>
      <p:sp>
        <p:nvSpPr>
          <p:cNvPr id="3" name="TextBox 2"/>
          <p:cNvSpPr txBox="1"/>
          <p:nvPr/>
        </p:nvSpPr>
        <p:spPr>
          <a:xfrm>
            <a:off x="493776" y="425196"/>
            <a:ext cx="10312923" cy="482568"/>
          </a:xfrm>
          <a:prstGeom prst="rect">
            <a:avLst/>
          </a:prstGeom>
          <a:noFill/>
        </p:spPr>
        <p:txBody>
          <a:bodyPr wrap="square" lIns="0" tIns="0" rIns="0" bIns="0" anchor="t">
            <a:spAutoFit/>
          </a:bodyPr>
          <a:lstStyle/>
          <a:p>
            <a:pPr algn="l"/>
            <a:r>
              <a:rPr sz="1600" b="1">
                <a:solidFill>
                  <a:srgbClr val="13807B"/>
                </a:solidFill>
                <a:latin typeface="Poppins"/>
              </a:rPr>
              <a:t>44% de los desembolsos de la competencia tiene tasa inferida en nuestro análisis (2026)</a:t>
            </a:r>
          </a:p>
        </p:txBody>
      </p:sp>
      <p:cxnSp>
        <p:nvCxnSpPr>
          <p:cNvPr id="4" name="Connector 3"/>
          <p:cNvCxnSpPr/>
          <p:nvPr/>
        </p:nvCxnSpPr>
        <p:spPr>
          <a:xfrm>
            <a:off x="493776" y="1049274"/>
            <a:ext cx="11204463" cy="0"/>
          </a:xfrm>
          <a:prstGeom prst="line">
            <a:avLst/>
          </a:prstGeom>
          <a:ln w="12700">
            <a:solidFill>
              <a:srgbClr val="D5DFDE"/>
            </a:solidFill>
          </a:ln>
        </p:spPr>
        <p:style>
          <a:lnRef idx="2">
            <a:schemeClr val="accent1"/>
          </a:lnRef>
          <a:fillRef idx="0">
            <a:schemeClr val="accent1"/>
          </a:fillRef>
          <a:effectRef idx="1">
            <a:schemeClr val="accent1"/>
          </a:effectRef>
          <a:fontRef idx="minor">
            <a:schemeClr val="tx1"/>
          </a:fontRef>
        </p:style>
      </p:cxnSp>
      <p:pic>
        <p:nvPicPr>
          <p:cNvPr id="5" name="Picture 4" descr="logo.png"/>
          <p:cNvPicPr>
            <a:picLocks noChangeAspect="1"/>
          </p:cNvPicPr>
          <p:nvPr/>
        </p:nvPicPr>
        <p:blipFill>
          <a:blip r:embed="rId2"/>
          <a:stretch>
            <a:fillRect/>
          </a:stretch>
        </p:blipFill>
        <p:spPr>
          <a:xfrm>
            <a:off x="11081186" y="82166"/>
            <a:ext cx="916962" cy="343030"/>
          </a:xfrm>
          <a:prstGeom prst="rect">
            <a:avLst/>
          </a:prstGeom>
        </p:spPr>
      </p:pic>
      <p:sp>
        <p:nvSpPr>
          <p:cNvPr id="6" name="TextBox 5"/>
          <p:cNvSpPr txBox="1"/>
          <p:nvPr/>
        </p:nvSpPr>
        <p:spPr>
          <a:xfrm>
            <a:off x="493776" y="1100000"/>
            <a:ext cx="6500000" cy="230000"/>
          </a:xfrm>
          <a:prstGeom prst="rect">
            <a:avLst/>
          </a:prstGeom>
          <a:noFill/>
        </p:spPr>
        <p:txBody>
          <a:bodyPr wrap="square" lIns="0" tIns="0" rIns="0" bIns="0" anchor="t">
            <a:spAutoFit/>
          </a:bodyPr>
          <a:lstStyle/>
          <a:p>
            <a:pPr algn="l"/>
            <a:r>
              <a:rPr sz="1050" b="1">
                <a:solidFill>
                  <a:srgbClr val="13807B"/>
                </a:solidFill>
                <a:latin typeface="Calibri"/>
              </a:rPr>
              <a:t>De los desembolsos de la competencia del share relevante a los que tienen tasa inferida (ene – may 2026)</a:t>
            </a:r>
          </a:p>
        </p:txBody>
      </p:sp>
      <p:sp>
        <p:nvSpPr>
          <p:cNvPr id="8" name="TextBox 7"/>
          <p:cNvSpPr txBox="1"/>
          <p:nvPr/>
        </p:nvSpPr>
        <p:spPr>
          <a:xfrm>
            <a:off x="7150000" y="1100000"/>
            <a:ext cx="4550000" cy="230000"/>
          </a:xfrm>
          <a:prstGeom prst="rect">
            <a:avLst/>
          </a:prstGeom>
          <a:noFill/>
        </p:spPr>
        <p:txBody>
          <a:bodyPr wrap="square" lIns="0" tIns="0" rIns="0" bIns="0" anchor="t">
            <a:spAutoFit/>
          </a:bodyPr>
          <a:lstStyle/>
          <a:p>
            <a:pPr algn="l"/>
            <a:r>
              <a:rPr sz="1050" b="1">
                <a:solidFill>
                  <a:srgbClr val="13807B"/>
                </a:solidFill>
                <a:latin typeface="Calibri"/>
              </a:rPr>
              <a:t>Desembolsos de la competencia por cluster (total entre paréntesis)</a:t>
            </a:r>
          </a:p>
        </p:txBody>
      </p:sp>
      <p:graphicFrame>
        <p:nvGraphicFramePr>
          <p:cNvPr id="9" name="Chart 8"/>
          <p:cNvGraphicFramePr>
            <a:graphicFrameLocks noGrp="1"/>
          </p:cNvGraphicFramePr>
          <p:nvPr/>
        </p:nvGraphicFramePr>
        <p:xfrm>
          <a:off x="493776" y="1400000"/>
          <a:ext cx="6500000" cy="50000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0" name="Chart 9"/>
          <p:cNvGraphicFramePr>
            <a:graphicFrameLocks noGrp="1"/>
          </p:cNvGraphicFramePr>
          <p:nvPr/>
        </p:nvGraphicFramePr>
        <p:xfrm>
          <a:off x="7150000" y="1400000"/>
          <a:ext cx="4545000" cy="5000000"/>
        </p:xfrm>
        <a:graphic>
          <a:graphicData uri="http://schemas.openxmlformats.org/drawingml/2006/chart">
            <c:chart xmlns:c="http://schemas.openxmlformats.org/drawingml/2006/chart" xmlns:r="http://schemas.openxmlformats.org/officeDocument/2006/relationships" r:id="rId4"/>
          </a:graphicData>
        </a:graphic>
      </p:graphicFrame>
      <p:sp>
        <p:nvSpPr>
          <p:cNvPr id="11" name="TextBox 10"/>
          <p:cNvSpPr txBox="1"/>
          <p:nvPr/>
        </p:nvSpPr>
        <p:spPr>
          <a:xfrm>
            <a:off x="8600000" y="6380000"/>
            <a:ext cx="3000000" cy="220000"/>
          </a:xfrm>
          <a:prstGeom prst="rect">
            <a:avLst/>
          </a:prstGeom>
          <a:noFill/>
        </p:spPr>
        <p:txBody>
          <a:bodyPr wrap="none">
            <a:spAutoFit/>
          </a:bodyPr>
          <a:lstStyle/>
          <a:p>
            <a:r>
              <a:rPr sz="900">
                <a:solidFill>
                  <a:srgbClr val="13807B"/>
                </a:solidFill>
              </a:rPr>
              <a:t>■ </a:t>
            </a:r>
            <a:r>
              <a:rPr sz="900">
                <a:solidFill>
                  <a:srgbClr val="4B5552"/>
                </a:solidFill>
              </a:rPr>
              <a:t>Con tasa inferida     </a:t>
            </a:r>
            <a:r>
              <a:rPr sz="900">
                <a:solidFill>
                  <a:srgbClr val="E5173F"/>
                </a:solidFill>
              </a:rPr>
              <a:t>■ </a:t>
            </a:r>
            <a:r>
              <a:rPr sz="900">
                <a:solidFill>
                  <a:srgbClr val="4B5552"/>
                </a:solidFill>
              </a:rPr>
              <a:t>Sin tasa inferida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493777" y="246888"/>
            <a:ext cx="8963570" cy="109710"/>
          </a:xfrm>
          <a:prstGeom prst="rect">
            <a:avLst/>
          </a:prstGeom>
          <a:noFill/>
        </p:spPr>
        <p:txBody>
          <a:bodyPr wrap="square" lIns="0" tIns="0" rIns="0" bIns="0" anchor="t">
            <a:spAutoFit/>
          </a:bodyPr>
          <a:lstStyle/>
          <a:p>
            <a:pPr algn="l"/>
            <a:r>
              <a:rPr sz="800" b="1">
                <a:solidFill>
                  <a:srgbClr val="6E7E7D"/>
                </a:solidFill>
                <a:latin typeface="Calibri"/>
              </a:rPr>
              <a:t>SHARE RELEVANTE Y TASA POR APERTURAS · COBERTURA Y MATERIALIDAD · ABR 25–MAY 26</a:t>
            </a:r>
          </a:p>
        </p:txBody>
      </p:sp>
      <p:sp>
        <p:nvSpPr>
          <p:cNvPr id="3" name="TextBox 2"/>
          <p:cNvSpPr txBox="1"/>
          <p:nvPr/>
        </p:nvSpPr>
        <p:spPr>
          <a:xfrm>
            <a:off x="493776" y="425196"/>
            <a:ext cx="10312923" cy="482568"/>
          </a:xfrm>
          <a:prstGeom prst="rect">
            <a:avLst/>
          </a:prstGeom>
          <a:noFill/>
        </p:spPr>
        <p:txBody>
          <a:bodyPr wrap="square" lIns="0" tIns="0" rIns="0" bIns="0" anchor="t">
            <a:spAutoFit/>
          </a:bodyPr>
          <a:lstStyle/>
          <a:p>
            <a:pPr algn="l"/>
            <a:r>
              <a:rPr sz="1600" b="1">
                <a:solidFill>
                  <a:srgbClr val="13807B"/>
                </a:solidFill>
                <a:latin typeface="Poppins"/>
              </a:rPr>
              <a:t>Las 18 aperturas concentran 59% de las tasas inferidas de abr 25–may 26 y las que tienen materialidad, 52%</a:t>
            </a:r>
          </a:p>
        </p:txBody>
      </p:sp>
      <p:cxnSp>
        <p:nvCxnSpPr>
          <p:cNvPr id="4" name="Connector 3"/>
          <p:cNvCxnSpPr/>
          <p:nvPr/>
        </p:nvCxnSpPr>
        <p:spPr>
          <a:xfrm>
            <a:off x="493776" y="1049274"/>
            <a:ext cx="11204463" cy="0"/>
          </a:xfrm>
          <a:prstGeom prst="line">
            <a:avLst/>
          </a:prstGeom>
          <a:ln w="12700">
            <a:solidFill>
              <a:srgbClr val="D5DFDE"/>
            </a:solidFill>
          </a:ln>
        </p:spPr>
        <p:style>
          <a:lnRef idx="2">
            <a:schemeClr val="accent1"/>
          </a:lnRef>
          <a:fillRef idx="0">
            <a:schemeClr val="accent1"/>
          </a:fillRef>
          <a:effectRef idx="1">
            <a:schemeClr val="accent1"/>
          </a:effectRef>
          <a:fontRef idx="minor">
            <a:schemeClr val="tx1"/>
          </a:fontRef>
        </p:style>
      </p:cxnSp>
      <p:pic>
        <p:nvPicPr>
          <p:cNvPr id="5" name="Picture 4" descr="logo.png"/>
          <p:cNvPicPr>
            <a:picLocks noChangeAspect="1"/>
          </p:cNvPicPr>
          <p:nvPr/>
        </p:nvPicPr>
        <p:blipFill>
          <a:blip r:embed="rId2"/>
          <a:stretch>
            <a:fillRect/>
          </a:stretch>
        </p:blipFill>
        <p:spPr>
          <a:xfrm>
            <a:off x="11081186" y="82166"/>
            <a:ext cx="916962" cy="343030"/>
          </a:xfrm>
          <a:prstGeom prst="rect">
            <a:avLst/>
          </a:prstGeom>
        </p:spPr>
      </p:pic>
      <p:graphicFrame>
        <p:nvGraphicFramePr>
          <p:cNvPr id="6" name="Table 5"/>
          <p:cNvGraphicFramePr>
            <a:graphicFrameLocks noGrp="1"/>
          </p:cNvGraphicFramePr>
          <p:nvPr/>
        </p:nvGraphicFramePr>
        <p:xfrm>
          <a:off x="493776" y="1150000"/>
          <a:ext cx="9450000" cy="5003520"/>
        </p:xfrm>
        <a:graphic>
          <a:graphicData uri="http://schemas.openxmlformats.org/drawingml/2006/table">
            <a:tbl>
              <a:tblPr>
                <a:tableStyleId>{5C22544A-7EE6-4342-B048-85BDC9FD1C3A}</a:tableStyleId>
              </a:tblPr>
              <a:tblGrid>
                <a:gridCol w="1600000">
                  <a:extLst>
                    <a:ext uri="{9D8B030D-6E8A-4147-A177-3AD203B41FA5}">
                      <a16:colId xmlns:a16="http://schemas.microsoft.com/office/drawing/2014/main" val="20000"/>
                    </a:ext>
                  </a:extLst>
                </a:gridCol>
                <a:gridCol w="1500000">
                  <a:extLst>
                    <a:ext uri="{9D8B030D-6E8A-4147-A177-3AD203B41FA5}">
                      <a16:colId xmlns:a16="http://schemas.microsoft.com/office/drawing/2014/main" val="20001"/>
                    </a:ext>
                  </a:extLst>
                </a:gridCol>
                <a:gridCol w="1150000">
                  <a:extLst>
                    <a:ext uri="{9D8B030D-6E8A-4147-A177-3AD203B41FA5}">
                      <a16:colId xmlns:a16="http://schemas.microsoft.com/office/drawing/2014/main" val="20002"/>
                    </a:ext>
                  </a:extLst>
                </a:gridCol>
                <a:gridCol w="1150000">
                  <a:extLst>
                    <a:ext uri="{9D8B030D-6E8A-4147-A177-3AD203B41FA5}">
                      <a16:colId xmlns:a16="http://schemas.microsoft.com/office/drawing/2014/main" val="20003"/>
                    </a:ext>
                  </a:extLst>
                </a:gridCol>
                <a:gridCol w="1150000">
                  <a:extLst>
                    <a:ext uri="{9D8B030D-6E8A-4147-A177-3AD203B41FA5}">
                      <a16:colId xmlns:a16="http://schemas.microsoft.com/office/drawing/2014/main" val="20004"/>
                    </a:ext>
                  </a:extLst>
                </a:gridCol>
                <a:gridCol w="1500000">
                  <a:extLst>
                    <a:ext uri="{9D8B030D-6E8A-4147-A177-3AD203B41FA5}">
                      <a16:colId xmlns:a16="http://schemas.microsoft.com/office/drawing/2014/main" val="20005"/>
                    </a:ext>
                  </a:extLst>
                </a:gridCol>
                <a:gridCol w="1400000">
                  <a:extLst>
                    <a:ext uri="{9D8B030D-6E8A-4147-A177-3AD203B41FA5}">
                      <a16:colId xmlns:a16="http://schemas.microsoft.com/office/drawing/2014/main" val="20006"/>
                    </a:ext>
                  </a:extLst>
                </a:gridCol>
              </a:tblGrid>
              <a:tr h="210000">
                <a:tc>
                  <a:txBody>
                    <a:bodyPr/>
                    <a:lstStyle/>
                    <a:p>
                      <a:pPr algn="ctr"/>
                      <a:r>
                        <a:rPr sz="800" b="1">
                          <a:solidFill>
                            <a:srgbClr val="FFFFFF"/>
                          </a:solidFill>
                          <a:latin typeface="Calibri"/>
                        </a:rPr>
                        <a:t>Segmento</a:t>
                      </a:r>
                    </a:p>
                  </a:txBody>
                  <a:tcPr marL="45000" marR="45000" marT="12000" marB="12000" anchor="ctr">
                    <a:solidFill>
                      <a:srgbClr val="1F3A5F"/>
                    </a:solidFill>
                  </a:tcPr>
                </a:tc>
                <a:tc>
                  <a:txBody>
                    <a:bodyPr/>
                    <a:lstStyle/>
                    <a:p>
                      <a:pPr algn="ctr"/>
                      <a:r>
                        <a:rPr sz="800" b="1">
                          <a:solidFill>
                            <a:srgbClr val="FFFFFF"/>
                          </a:solidFill>
                          <a:latin typeface="Calibri"/>
                        </a:rPr>
                        <a:t>Apertura</a:t>
                      </a:r>
                    </a:p>
                  </a:txBody>
                  <a:tcPr marL="45000" marR="45000" marT="12000" marB="12000" anchor="ctr">
                    <a:solidFill>
                      <a:srgbClr val="1F3A5F"/>
                    </a:solidFill>
                  </a:tcPr>
                </a:tc>
                <a:tc>
                  <a:txBody>
                    <a:bodyPr/>
                    <a:lstStyle/>
                    <a:p>
                      <a:pPr algn="ctr"/>
                      <a:r>
                        <a:rPr sz="800" b="1">
                          <a:solidFill>
                            <a:srgbClr val="FFFFFF"/>
                          </a:solidFill>
                          <a:latin typeface="Calibri"/>
                        </a:rPr>
                        <a:t>Fracasos</a:t>
                      </a:r>
                    </a:p>
                  </a:txBody>
                  <a:tcPr marL="45000" marR="45000" marT="12000" marB="12000" anchor="ctr">
                    <a:solidFill>
                      <a:srgbClr val="1F3A5F"/>
                    </a:solidFill>
                  </a:tcPr>
                </a:tc>
                <a:tc>
                  <a:txBody>
                    <a:bodyPr/>
                    <a:lstStyle/>
                    <a:p>
                      <a:pPr algn="ctr"/>
                      <a:r>
                        <a:rPr sz="800" b="1">
                          <a:solidFill>
                            <a:srgbClr val="FFFFFF"/>
                          </a:solidFill>
                          <a:latin typeface="Calibri"/>
                        </a:rPr>
                        <a:t>Con tasa inferida</a:t>
                      </a:r>
                    </a:p>
                  </a:txBody>
                  <a:tcPr marL="45000" marR="45000" marT="12000" marB="12000" anchor="ctr">
                    <a:solidFill>
                      <a:srgbClr val="1F3A5F"/>
                    </a:solidFill>
                  </a:tcPr>
                </a:tc>
                <a:tc>
                  <a:txBody>
                    <a:bodyPr/>
                    <a:lstStyle/>
                    <a:p>
                      <a:pPr algn="ctr"/>
                      <a:r>
                        <a:rPr sz="800" b="1">
                          <a:solidFill>
                            <a:srgbClr val="FFFFFF"/>
                          </a:solidFill>
                          <a:latin typeface="Calibri"/>
                        </a:rPr>
                        <a:t>Cobertura</a:t>
                      </a:r>
                    </a:p>
                  </a:txBody>
                  <a:tcPr marL="45000" marR="45000" marT="12000" marB="12000" anchor="ctr">
                    <a:solidFill>
                      <a:srgbClr val="1F3A5F"/>
                    </a:solidFill>
                  </a:tcPr>
                </a:tc>
                <a:tc>
                  <a:txBody>
                    <a:bodyPr/>
                    <a:lstStyle/>
                    <a:p>
                      <a:pPr algn="ctr"/>
                      <a:r>
                        <a:rPr sz="800" b="1">
                          <a:solidFill>
                            <a:srgbClr val="FFFFFF"/>
                          </a:solidFill>
                          <a:latin typeface="Calibri"/>
                        </a:rPr>
                        <a:t>% de las tasas inferidas del periodo</a:t>
                      </a:r>
                    </a:p>
                  </a:txBody>
                  <a:tcPr marL="45000" marR="45000" marT="12000" marB="12000" anchor="ctr">
                    <a:solidFill>
                      <a:srgbClr val="1F3A5F"/>
                    </a:solidFill>
                  </a:tcPr>
                </a:tc>
                <a:tc>
                  <a:txBody>
                    <a:bodyPr/>
                    <a:lstStyle/>
                    <a:p>
                      <a:pPr algn="ctr"/>
                      <a:r>
                        <a:rPr sz="800" b="1">
                          <a:solidFill>
                            <a:srgbClr val="FFFFFF"/>
                          </a:solidFill>
                          <a:latin typeface="Calibri"/>
                        </a:rPr>
                        <a:t>Materialidad</a:t>
                      </a:r>
                    </a:p>
                  </a:txBody>
                  <a:tcPr marL="45000" marR="45000" marT="12000" marB="12000" anchor="ctr">
                    <a:solidFill>
                      <a:srgbClr val="1F3A5F"/>
                    </a:solidFill>
                  </a:tcPr>
                </a:tc>
                <a:extLst>
                  <a:ext uri="{0D108BD9-81ED-4DB2-BD59-A6C34878D82A}">
                    <a16:rowId xmlns:a16="http://schemas.microsoft.com/office/drawing/2014/main" val="10000"/>
                  </a:ext>
                </a:extLst>
              </a:tr>
              <a:tr h="210000">
                <a:tc>
                  <a:txBody>
                    <a:bodyPr/>
                    <a:lstStyle/>
                    <a:p>
                      <a:pPr algn="ctr"/>
                      <a:r>
                        <a:rPr sz="800" b="0">
                          <a:solidFill>
                            <a:srgbClr val="2F3B3A"/>
                          </a:solidFill>
                          <a:latin typeface="Calibri"/>
                        </a:rPr>
                        <a:t>Ancla</a:t>
                      </a:r>
                    </a:p>
                  </a:txBody>
                  <a:tcPr marL="45000" marR="45000" marT="12000" marB="12000" anchor="ctr">
                    <a:solidFill>
                      <a:srgbClr val="FFFFFF"/>
                    </a:solidFill>
                  </a:tcPr>
                </a:tc>
                <a:tc>
                  <a:txBody>
                    <a:bodyPr/>
                    <a:lstStyle/>
                    <a:p>
                      <a:pPr algn="ctr"/>
                      <a:r>
                        <a:rPr sz="800" b="0">
                          <a:solidFill>
                            <a:srgbClr val="2F3B3A"/>
                          </a:solidFill>
                          <a:latin typeface="Calibri"/>
                        </a:rPr>
                        <a:t>≤ 170K</a:t>
                      </a:r>
                    </a:p>
                  </a:txBody>
                  <a:tcPr marL="45000" marR="45000" marT="12000" marB="12000" anchor="ctr">
                    <a:solidFill>
                      <a:srgbClr val="FFFFFF"/>
                    </a:solidFill>
                  </a:tcPr>
                </a:tc>
                <a:tc>
                  <a:txBody>
                    <a:bodyPr/>
                    <a:lstStyle/>
                    <a:p>
                      <a:pPr algn="ctr"/>
                      <a:r>
                        <a:rPr sz="800" b="0">
                          <a:solidFill>
                            <a:srgbClr val="2F3B3A"/>
                          </a:solidFill>
                          <a:latin typeface="Calibri"/>
                        </a:rPr>
                        <a:t>34</a:t>
                      </a:r>
                    </a:p>
                  </a:txBody>
                  <a:tcPr marL="45000" marR="45000" marT="12000" marB="12000" anchor="ctr">
                    <a:solidFill>
                      <a:srgbClr val="FFFFFF"/>
                    </a:solidFill>
                  </a:tcPr>
                </a:tc>
                <a:tc>
                  <a:txBody>
                    <a:bodyPr/>
                    <a:lstStyle/>
                    <a:p>
                      <a:pPr algn="ctr"/>
                      <a:r>
                        <a:rPr sz="800" b="0">
                          <a:solidFill>
                            <a:srgbClr val="2F3B3A"/>
                          </a:solidFill>
                          <a:latin typeface="Calibri"/>
                        </a:rPr>
                        <a:t>25</a:t>
                      </a:r>
                    </a:p>
                  </a:txBody>
                  <a:tcPr marL="45000" marR="45000" marT="12000" marB="12000" anchor="ctr">
                    <a:solidFill>
                      <a:srgbClr val="FFFFFF"/>
                    </a:solidFill>
                  </a:tcPr>
                </a:tc>
                <a:tc>
                  <a:txBody>
                    <a:bodyPr/>
                    <a:lstStyle/>
                    <a:p>
                      <a:pPr algn="ctr"/>
                      <a:r>
                        <a:rPr sz="800" b="0">
                          <a:solidFill>
                            <a:srgbClr val="2F3B3A"/>
                          </a:solidFill>
                          <a:latin typeface="Calibri"/>
                        </a:rPr>
                        <a:t>74%</a:t>
                      </a:r>
                    </a:p>
                  </a:txBody>
                  <a:tcPr marL="45000" marR="45000" marT="12000" marB="12000" anchor="ctr">
                    <a:solidFill>
                      <a:srgbClr val="FFFFFF"/>
                    </a:solidFill>
                  </a:tcPr>
                </a:tc>
                <a:tc>
                  <a:txBody>
                    <a:bodyPr/>
                    <a:lstStyle/>
                    <a:p>
                      <a:pPr algn="ctr"/>
                      <a:r>
                        <a:rPr sz="800" b="0">
                          <a:solidFill>
                            <a:srgbClr val="2F3B3A"/>
                          </a:solidFill>
                          <a:latin typeface="Calibri"/>
                        </a:rPr>
                        <a:t>1,2%</a:t>
                      </a:r>
                    </a:p>
                  </a:txBody>
                  <a:tcPr marL="45000" marR="45000" marT="12000" marB="12000" anchor="ctr">
                    <a:solidFill>
                      <a:srgbClr val="FFFFFF"/>
                    </a:solidFill>
                  </a:tcPr>
                </a:tc>
                <a:tc>
                  <a:txBody>
                    <a:bodyPr/>
                    <a:lstStyle/>
                    <a:p>
                      <a:pPr algn="ctr"/>
                      <a:r>
                        <a:rPr sz="800" b="1">
                          <a:solidFill>
                            <a:srgbClr val="6E7E7D"/>
                          </a:solidFill>
                          <a:latin typeface="Calibri"/>
                        </a:rPr>
                        <a:t>No concluyente</a:t>
                      </a:r>
                    </a:p>
                  </a:txBody>
                  <a:tcPr marL="45000" marR="45000" marT="12000" marB="12000" anchor="ctr">
                    <a:solidFill>
                      <a:srgbClr val="FFFFFF"/>
                    </a:solidFill>
                  </a:tcPr>
                </a:tc>
                <a:extLst>
                  <a:ext uri="{0D108BD9-81ED-4DB2-BD59-A6C34878D82A}">
                    <a16:rowId xmlns:a16="http://schemas.microsoft.com/office/drawing/2014/main" val="10001"/>
                  </a:ext>
                </a:extLst>
              </a:tr>
              <a:tr h="210000">
                <a:tc>
                  <a:txBody>
                    <a:bodyPr/>
                    <a:lstStyle/>
                    <a:p>
                      <a:pPr algn="ctr"/>
                      <a:r>
                        <a:rPr sz="800" b="0">
                          <a:solidFill>
                            <a:srgbClr val="2F3B3A"/>
                          </a:solidFill>
                          <a:latin typeface="Calibri"/>
                        </a:rPr>
                        <a:t>Ancla</a:t>
                      </a:r>
                    </a:p>
                  </a:txBody>
                  <a:tcPr marL="45000" marR="45000" marT="12000" marB="12000" anchor="ctr">
                    <a:solidFill>
                      <a:srgbClr val="F7F9F9"/>
                    </a:solidFill>
                  </a:tcPr>
                </a:tc>
                <a:tc>
                  <a:txBody>
                    <a:bodyPr/>
                    <a:lstStyle/>
                    <a:p>
                      <a:pPr algn="ctr"/>
                      <a:r>
                        <a:rPr sz="800" b="0">
                          <a:solidFill>
                            <a:srgbClr val="2F3B3A"/>
                          </a:solidFill>
                          <a:latin typeface="Calibri"/>
                        </a:rPr>
                        <a:t>&gt; 350K</a:t>
                      </a:r>
                    </a:p>
                  </a:txBody>
                  <a:tcPr marL="45000" marR="45000" marT="12000" marB="12000" anchor="ctr">
                    <a:solidFill>
                      <a:srgbClr val="F7F9F9"/>
                    </a:solidFill>
                  </a:tcPr>
                </a:tc>
                <a:tc>
                  <a:txBody>
                    <a:bodyPr/>
                    <a:lstStyle/>
                    <a:p>
                      <a:pPr algn="ctr"/>
                      <a:r>
                        <a:rPr sz="800" b="0">
                          <a:solidFill>
                            <a:srgbClr val="2F3B3A"/>
                          </a:solidFill>
                          <a:latin typeface="Calibri"/>
                        </a:rPr>
                        <a:t>158</a:t>
                      </a:r>
                    </a:p>
                  </a:txBody>
                  <a:tcPr marL="45000" marR="45000" marT="12000" marB="12000" anchor="ctr">
                    <a:solidFill>
                      <a:srgbClr val="F7F9F9"/>
                    </a:solidFill>
                  </a:tcPr>
                </a:tc>
                <a:tc>
                  <a:txBody>
                    <a:bodyPr/>
                    <a:lstStyle/>
                    <a:p>
                      <a:pPr algn="ctr"/>
                      <a:r>
                        <a:rPr sz="800" b="0">
                          <a:solidFill>
                            <a:srgbClr val="2F3B3A"/>
                          </a:solidFill>
                          <a:latin typeface="Calibri"/>
                        </a:rPr>
                        <a:t>83</a:t>
                      </a:r>
                    </a:p>
                  </a:txBody>
                  <a:tcPr marL="45000" marR="45000" marT="12000" marB="12000" anchor="ctr">
                    <a:solidFill>
                      <a:srgbClr val="F7F9F9"/>
                    </a:solidFill>
                  </a:tcPr>
                </a:tc>
                <a:tc>
                  <a:txBody>
                    <a:bodyPr/>
                    <a:lstStyle/>
                    <a:p>
                      <a:pPr algn="ctr"/>
                      <a:r>
                        <a:rPr sz="800" b="0">
                          <a:solidFill>
                            <a:srgbClr val="2F3B3A"/>
                          </a:solidFill>
                          <a:latin typeface="Calibri"/>
                        </a:rPr>
                        <a:t>53%</a:t>
                      </a:r>
                    </a:p>
                  </a:txBody>
                  <a:tcPr marL="45000" marR="45000" marT="12000" marB="12000" anchor="ctr">
                    <a:solidFill>
                      <a:srgbClr val="F7F9F9"/>
                    </a:solidFill>
                  </a:tcPr>
                </a:tc>
                <a:tc>
                  <a:txBody>
                    <a:bodyPr/>
                    <a:lstStyle/>
                    <a:p>
                      <a:pPr algn="ctr"/>
                      <a:r>
                        <a:rPr sz="800" b="0">
                          <a:solidFill>
                            <a:srgbClr val="2F3B3A"/>
                          </a:solidFill>
                          <a:latin typeface="Calibri"/>
                        </a:rPr>
                        <a:t>3,9%</a:t>
                      </a:r>
                    </a:p>
                  </a:txBody>
                  <a:tcPr marL="45000" marR="45000" marT="12000" marB="12000" anchor="ctr">
                    <a:solidFill>
                      <a:srgbClr val="F7F9F9"/>
                    </a:solidFill>
                  </a:tcPr>
                </a:tc>
                <a:tc>
                  <a:txBody>
                    <a:bodyPr/>
                    <a:lstStyle/>
                    <a:p>
                      <a:pPr algn="ctr"/>
                      <a:r>
                        <a:rPr sz="800" b="1">
                          <a:solidFill>
                            <a:srgbClr val="13807B"/>
                          </a:solidFill>
                          <a:latin typeface="Calibri"/>
                        </a:rPr>
                        <a:t>Concluyente</a:t>
                      </a:r>
                    </a:p>
                  </a:txBody>
                  <a:tcPr marL="45000" marR="45000" marT="12000" marB="12000" anchor="ctr">
                    <a:solidFill>
                      <a:srgbClr val="F7F9F9"/>
                    </a:solidFill>
                  </a:tcPr>
                </a:tc>
                <a:extLst>
                  <a:ext uri="{0D108BD9-81ED-4DB2-BD59-A6C34878D82A}">
                    <a16:rowId xmlns:a16="http://schemas.microsoft.com/office/drawing/2014/main" val="10002"/>
                  </a:ext>
                </a:extLst>
              </a:tr>
              <a:tr h="210000">
                <a:tc>
                  <a:txBody>
                    <a:bodyPr/>
                    <a:lstStyle/>
                    <a:p>
                      <a:pPr algn="ctr"/>
                      <a:r>
                        <a:rPr sz="800" b="0">
                          <a:solidFill>
                            <a:srgbClr val="2F3B3A"/>
                          </a:solidFill>
                          <a:latin typeface="Calibri"/>
                        </a:rPr>
                        <a:t>Estratégica</a:t>
                      </a:r>
                    </a:p>
                  </a:txBody>
                  <a:tcPr marL="45000" marR="45000" marT="12000" marB="12000" anchor="ctr">
                    <a:solidFill>
                      <a:srgbClr val="FFFFFF"/>
                    </a:solidFill>
                  </a:tcPr>
                </a:tc>
                <a:tc>
                  <a:txBody>
                    <a:bodyPr/>
                    <a:lstStyle/>
                    <a:p>
                      <a:pPr algn="ctr"/>
                      <a:r>
                        <a:rPr sz="800" b="0">
                          <a:solidFill>
                            <a:srgbClr val="2F3B3A"/>
                          </a:solidFill>
                          <a:latin typeface="Calibri"/>
                        </a:rPr>
                        <a:t>≤ 170K</a:t>
                      </a:r>
                    </a:p>
                  </a:txBody>
                  <a:tcPr marL="45000" marR="45000" marT="12000" marB="12000" anchor="ctr">
                    <a:solidFill>
                      <a:srgbClr val="FFFFFF"/>
                    </a:solidFill>
                  </a:tcPr>
                </a:tc>
                <a:tc>
                  <a:txBody>
                    <a:bodyPr/>
                    <a:lstStyle/>
                    <a:p>
                      <a:pPr algn="ctr"/>
                      <a:r>
                        <a:rPr sz="800" b="0">
                          <a:solidFill>
                            <a:srgbClr val="2F3B3A"/>
                          </a:solidFill>
                          <a:latin typeface="Calibri"/>
                        </a:rPr>
                        <a:t>31</a:t>
                      </a:r>
                    </a:p>
                  </a:txBody>
                  <a:tcPr marL="45000" marR="45000" marT="12000" marB="12000" anchor="ctr">
                    <a:solidFill>
                      <a:srgbClr val="FFFFFF"/>
                    </a:solidFill>
                  </a:tcPr>
                </a:tc>
                <a:tc>
                  <a:txBody>
                    <a:bodyPr/>
                    <a:lstStyle/>
                    <a:p>
                      <a:pPr algn="ctr"/>
                      <a:r>
                        <a:rPr sz="800" b="0">
                          <a:solidFill>
                            <a:srgbClr val="2F3B3A"/>
                          </a:solidFill>
                          <a:latin typeface="Calibri"/>
                        </a:rPr>
                        <a:t>8</a:t>
                      </a:r>
                    </a:p>
                  </a:txBody>
                  <a:tcPr marL="45000" marR="45000" marT="12000" marB="12000" anchor="ctr">
                    <a:solidFill>
                      <a:srgbClr val="FFFFFF"/>
                    </a:solidFill>
                  </a:tcPr>
                </a:tc>
                <a:tc>
                  <a:txBody>
                    <a:bodyPr/>
                    <a:lstStyle/>
                    <a:p>
                      <a:pPr algn="ctr"/>
                      <a:r>
                        <a:rPr sz="800" b="0">
                          <a:solidFill>
                            <a:srgbClr val="2F3B3A"/>
                          </a:solidFill>
                          <a:latin typeface="Calibri"/>
                        </a:rPr>
                        <a:t>26%</a:t>
                      </a:r>
                    </a:p>
                  </a:txBody>
                  <a:tcPr marL="45000" marR="45000" marT="12000" marB="12000" anchor="ctr">
                    <a:solidFill>
                      <a:srgbClr val="FFFFFF"/>
                    </a:solidFill>
                  </a:tcPr>
                </a:tc>
                <a:tc>
                  <a:txBody>
                    <a:bodyPr/>
                    <a:lstStyle/>
                    <a:p>
                      <a:pPr algn="ctr"/>
                      <a:r>
                        <a:rPr sz="800" b="0">
                          <a:solidFill>
                            <a:srgbClr val="2F3B3A"/>
                          </a:solidFill>
                          <a:latin typeface="Calibri"/>
                        </a:rPr>
                        <a:t>0,4%</a:t>
                      </a:r>
                    </a:p>
                  </a:txBody>
                  <a:tcPr marL="45000" marR="45000" marT="12000" marB="12000" anchor="ctr">
                    <a:solidFill>
                      <a:srgbClr val="FFFFFF"/>
                    </a:solidFill>
                  </a:tcPr>
                </a:tc>
                <a:tc>
                  <a:txBody>
                    <a:bodyPr/>
                    <a:lstStyle/>
                    <a:p>
                      <a:pPr algn="ctr"/>
                      <a:r>
                        <a:rPr sz="800" b="1">
                          <a:solidFill>
                            <a:srgbClr val="6E7E7D"/>
                          </a:solidFill>
                          <a:latin typeface="Calibri"/>
                        </a:rPr>
                        <a:t>No concluyente</a:t>
                      </a:r>
                    </a:p>
                  </a:txBody>
                  <a:tcPr marL="45000" marR="45000" marT="12000" marB="12000" anchor="ctr">
                    <a:solidFill>
                      <a:srgbClr val="FFFFFF"/>
                    </a:solidFill>
                  </a:tcPr>
                </a:tc>
                <a:extLst>
                  <a:ext uri="{0D108BD9-81ED-4DB2-BD59-A6C34878D82A}">
                    <a16:rowId xmlns:a16="http://schemas.microsoft.com/office/drawing/2014/main" val="10003"/>
                  </a:ext>
                </a:extLst>
              </a:tr>
              <a:tr h="210000">
                <a:tc>
                  <a:txBody>
                    <a:bodyPr/>
                    <a:lstStyle/>
                    <a:p>
                      <a:pPr algn="ctr"/>
                      <a:r>
                        <a:rPr sz="800" b="0">
                          <a:solidFill>
                            <a:srgbClr val="2F3B3A"/>
                          </a:solidFill>
                          <a:latin typeface="Calibri"/>
                        </a:rPr>
                        <a:t>Estratégica</a:t>
                      </a:r>
                    </a:p>
                  </a:txBody>
                  <a:tcPr marL="45000" marR="45000" marT="12000" marB="12000" anchor="ctr">
                    <a:solidFill>
                      <a:srgbClr val="F7F9F9"/>
                    </a:solidFill>
                  </a:tcPr>
                </a:tc>
                <a:tc>
                  <a:txBody>
                    <a:bodyPr/>
                    <a:lstStyle/>
                    <a:p>
                      <a:pPr algn="ctr"/>
                      <a:r>
                        <a:rPr sz="800" b="0">
                          <a:solidFill>
                            <a:srgbClr val="2F3B3A"/>
                          </a:solidFill>
                          <a:latin typeface="Calibri"/>
                        </a:rPr>
                        <a:t>&gt; 350K</a:t>
                      </a:r>
                    </a:p>
                  </a:txBody>
                  <a:tcPr marL="45000" marR="45000" marT="12000" marB="12000" anchor="ctr">
                    <a:solidFill>
                      <a:srgbClr val="F7F9F9"/>
                    </a:solidFill>
                  </a:tcPr>
                </a:tc>
                <a:tc>
                  <a:txBody>
                    <a:bodyPr/>
                    <a:lstStyle/>
                    <a:p>
                      <a:pPr algn="ctr"/>
                      <a:r>
                        <a:rPr sz="800" b="0">
                          <a:solidFill>
                            <a:srgbClr val="2F3B3A"/>
                          </a:solidFill>
                          <a:latin typeface="Calibri"/>
                        </a:rPr>
                        <a:t>247</a:t>
                      </a:r>
                    </a:p>
                  </a:txBody>
                  <a:tcPr marL="45000" marR="45000" marT="12000" marB="12000" anchor="ctr">
                    <a:solidFill>
                      <a:srgbClr val="F7F9F9"/>
                    </a:solidFill>
                  </a:tcPr>
                </a:tc>
                <a:tc>
                  <a:txBody>
                    <a:bodyPr/>
                    <a:lstStyle/>
                    <a:p>
                      <a:pPr algn="ctr"/>
                      <a:r>
                        <a:rPr sz="800" b="0">
                          <a:solidFill>
                            <a:srgbClr val="2F3B3A"/>
                          </a:solidFill>
                          <a:latin typeface="Calibri"/>
                        </a:rPr>
                        <a:t>117</a:t>
                      </a:r>
                    </a:p>
                  </a:txBody>
                  <a:tcPr marL="45000" marR="45000" marT="12000" marB="12000" anchor="ctr">
                    <a:solidFill>
                      <a:srgbClr val="F7F9F9"/>
                    </a:solidFill>
                  </a:tcPr>
                </a:tc>
                <a:tc>
                  <a:txBody>
                    <a:bodyPr/>
                    <a:lstStyle/>
                    <a:p>
                      <a:pPr algn="ctr"/>
                      <a:r>
                        <a:rPr sz="800" b="0">
                          <a:solidFill>
                            <a:srgbClr val="2F3B3A"/>
                          </a:solidFill>
                          <a:latin typeface="Calibri"/>
                        </a:rPr>
                        <a:t>47%</a:t>
                      </a:r>
                    </a:p>
                  </a:txBody>
                  <a:tcPr marL="45000" marR="45000" marT="12000" marB="12000" anchor="ctr">
                    <a:solidFill>
                      <a:srgbClr val="F7F9F9"/>
                    </a:solidFill>
                  </a:tcPr>
                </a:tc>
                <a:tc>
                  <a:txBody>
                    <a:bodyPr/>
                    <a:lstStyle/>
                    <a:p>
                      <a:pPr algn="ctr"/>
                      <a:r>
                        <a:rPr sz="800" b="0">
                          <a:solidFill>
                            <a:srgbClr val="2F3B3A"/>
                          </a:solidFill>
                          <a:latin typeface="Calibri"/>
                        </a:rPr>
                        <a:t>5,4%</a:t>
                      </a:r>
                    </a:p>
                  </a:txBody>
                  <a:tcPr marL="45000" marR="45000" marT="12000" marB="12000" anchor="ctr">
                    <a:solidFill>
                      <a:srgbClr val="F7F9F9"/>
                    </a:solidFill>
                  </a:tcPr>
                </a:tc>
                <a:tc>
                  <a:txBody>
                    <a:bodyPr/>
                    <a:lstStyle/>
                    <a:p>
                      <a:pPr algn="ctr"/>
                      <a:r>
                        <a:rPr sz="800" b="1">
                          <a:solidFill>
                            <a:srgbClr val="13807B"/>
                          </a:solidFill>
                          <a:latin typeface="Calibri"/>
                        </a:rPr>
                        <a:t>Concluyente</a:t>
                      </a:r>
                    </a:p>
                  </a:txBody>
                  <a:tcPr marL="45000" marR="45000" marT="12000" marB="12000" anchor="ctr">
                    <a:solidFill>
                      <a:srgbClr val="F7F9F9"/>
                    </a:solidFill>
                  </a:tcPr>
                </a:tc>
                <a:extLst>
                  <a:ext uri="{0D108BD9-81ED-4DB2-BD59-A6C34878D82A}">
                    <a16:rowId xmlns:a16="http://schemas.microsoft.com/office/drawing/2014/main" val="10004"/>
                  </a:ext>
                </a:extLst>
              </a:tr>
              <a:tr h="210000">
                <a:tc>
                  <a:txBody>
                    <a:bodyPr/>
                    <a:lstStyle/>
                    <a:p>
                      <a:pPr algn="ctr"/>
                      <a:r>
                        <a:rPr sz="800" b="0">
                          <a:solidFill>
                            <a:srgbClr val="2F3B3A"/>
                          </a:solidFill>
                          <a:latin typeface="Calibri"/>
                        </a:rPr>
                        <a:t>Maduro</a:t>
                      </a:r>
                    </a:p>
                  </a:txBody>
                  <a:tcPr marL="45000" marR="45000" marT="12000" marB="12000" anchor="ctr">
                    <a:solidFill>
                      <a:srgbClr val="F7F9F9"/>
                    </a:solidFill>
                  </a:tcPr>
                </a:tc>
                <a:tc>
                  <a:txBody>
                    <a:bodyPr/>
                    <a:lstStyle/>
                    <a:p>
                      <a:pPr algn="ctr"/>
                      <a:r>
                        <a:rPr sz="800" b="0">
                          <a:solidFill>
                            <a:srgbClr val="2F3B3A"/>
                          </a:solidFill>
                          <a:latin typeface="Calibri"/>
                        </a:rPr>
                        <a:t>250–350K</a:t>
                      </a:r>
                    </a:p>
                  </a:txBody>
                  <a:tcPr marL="45000" marR="45000" marT="12000" marB="12000" anchor="ctr">
                    <a:solidFill>
                      <a:srgbClr val="F7F9F9"/>
                    </a:solidFill>
                  </a:tcPr>
                </a:tc>
                <a:tc>
                  <a:txBody>
                    <a:bodyPr/>
                    <a:lstStyle/>
                    <a:p>
                      <a:pPr algn="ctr"/>
                      <a:r>
                        <a:rPr sz="800" b="0">
                          <a:solidFill>
                            <a:srgbClr val="2F3B3A"/>
                          </a:solidFill>
                          <a:latin typeface="Calibri"/>
                        </a:rPr>
                        <a:t>237</a:t>
                      </a:r>
                    </a:p>
                  </a:txBody>
                  <a:tcPr marL="45000" marR="45000" marT="12000" marB="12000" anchor="ctr">
                    <a:solidFill>
                      <a:srgbClr val="F7F9F9"/>
                    </a:solidFill>
                  </a:tcPr>
                </a:tc>
                <a:tc>
                  <a:txBody>
                    <a:bodyPr/>
                    <a:lstStyle/>
                    <a:p>
                      <a:pPr algn="ctr"/>
                      <a:r>
                        <a:rPr sz="800" b="0">
                          <a:solidFill>
                            <a:srgbClr val="2F3B3A"/>
                          </a:solidFill>
                          <a:latin typeface="Calibri"/>
                        </a:rPr>
                        <a:t>127</a:t>
                      </a:r>
                    </a:p>
                  </a:txBody>
                  <a:tcPr marL="45000" marR="45000" marT="12000" marB="12000" anchor="ctr">
                    <a:solidFill>
                      <a:srgbClr val="F7F9F9"/>
                    </a:solidFill>
                  </a:tcPr>
                </a:tc>
                <a:tc>
                  <a:txBody>
                    <a:bodyPr/>
                    <a:lstStyle/>
                    <a:p>
                      <a:pPr algn="ctr"/>
                      <a:r>
                        <a:rPr sz="800" b="0">
                          <a:solidFill>
                            <a:srgbClr val="2F3B3A"/>
                          </a:solidFill>
                          <a:latin typeface="Calibri"/>
                        </a:rPr>
                        <a:t>54%</a:t>
                      </a:r>
                    </a:p>
                  </a:txBody>
                  <a:tcPr marL="45000" marR="45000" marT="12000" marB="12000" anchor="ctr">
                    <a:solidFill>
                      <a:srgbClr val="F7F9F9"/>
                    </a:solidFill>
                  </a:tcPr>
                </a:tc>
                <a:tc>
                  <a:txBody>
                    <a:bodyPr/>
                    <a:lstStyle/>
                    <a:p>
                      <a:pPr algn="ctr"/>
                      <a:r>
                        <a:rPr sz="800" b="0">
                          <a:solidFill>
                            <a:srgbClr val="2F3B3A"/>
                          </a:solidFill>
                          <a:latin typeface="Calibri"/>
                        </a:rPr>
                        <a:t>5,9%</a:t>
                      </a:r>
                    </a:p>
                  </a:txBody>
                  <a:tcPr marL="45000" marR="45000" marT="12000" marB="12000" anchor="ctr">
                    <a:solidFill>
                      <a:srgbClr val="F7F9F9"/>
                    </a:solidFill>
                  </a:tcPr>
                </a:tc>
                <a:tc>
                  <a:txBody>
                    <a:bodyPr/>
                    <a:lstStyle/>
                    <a:p>
                      <a:pPr algn="ctr"/>
                      <a:r>
                        <a:rPr sz="800" b="1">
                          <a:solidFill>
                            <a:srgbClr val="13807B"/>
                          </a:solidFill>
                          <a:latin typeface="Calibri"/>
                        </a:rPr>
                        <a:t>Concluyente</a:t>
                      </a:r>
                    </a:p>
                  </a:txBody>
                  <a:tcPr marL="45000" marR="45000" marT="12000" marB="12000" anchor="ctr">
                    <a:solidFill>
                      <a:srgbClr val="F7F9F9"/>
                    </a:solidFill>
                  </a:tcPr>
                </a:tc>
                <a:extLst>
                  <a:ext uri="{0D108BD9-81ED-4DB2-BD59-A6C34878D82A}">
                    <a16:rowId xmlns:a16="http://schemas.microsoft.com/office/drawing/2014/main" val="10006"/>
                  </a:ext>
                </a:extLst>
              </a:tr>
              <a:tr h="210000">
                <a:tc>
                  <a:txBody>
                    <a:bodyPr/>
                    <a:lstStyle/>
                    <a:p>
                      <a:pPr algn="ctr"/>
                      <a:r>
                        <a:rPr sz="800" b="0">
                          <a:solidFill>
                            <a:srgbClr val="2F3B3A"/>
                          </a:solidFill>
                          <a:latin typeface="Calibri"/>
                        </a:rPr>
                        <a:t>Maduro</a:t>
                      </a:r>
                    </a:p>
                  </a:txBody>
                  <a:tcPr marL="45000" marR="45000" marT="12000" marB="12000" anchor="ctr">
                    <a:solidFill>
                      <a:srgbClr val="FFFFFF"/>
                    </a:solidFill>
                  </a:tcPr>
                </a:tc>
                <a:tc>
                  <a:txBody>
                    <a:bodyPr/>
                    <a:lstStyle/>
                    <a:p>
                      <a:pPr algn="ctr"/>
                      <a:r>
                        <a:rPr sz="800" b="0">
                          <a:solidFill>
                            <a:srgbClr val="2F3B3A"/>
                          </a:solidFill>
                          <a:latin typeface="Calibri"/>
                        </a:rPr>
                        <a:t>&gt; 350K</a:t>
                      </a:r>
                    </a:p>
                  </a:txBody>
                  <a:tcPr marL="45000" marR="45000" marT="12000" marB="12000" anchor="ctr">
                    <a:solidFill>
                      <a:srgbClr val="FFFFFF"/>
                    </a:solidFill>
                  </a:tcPr>
                </a:tc>
                <a:tc>
                  <a:txBody>
                    <a:bodyPr/>
                    <a:lstStyle/>
                    <a:p>
                      <a:pPr algn="ctr"/>
                      <a:r>
                        <a:rPr sz="800" b="0">
                          <a:solidFill>
                            <a:srgbClr val="2F3B3A"/>
                          </a:solidFill>
                          <a:latin typeface="Calibri"/>
                        </a:rPr>
                        <a:t>217</a:t>
                      </a:r>
                    </a:p>
                  </a:txBody>
                  <a:tcPr marL="45000" marR="45000" marT="12000" marB="12000" anchor="ctr">
                    <a:solidFill>
                      <a:srgbClr val="FFFFFF"/>
                    </a:solidFill>
                  </a:tcPr>
                </a:tc>
                <a:tc>
                  <a:txBody>
                    <a:bodyPr/>
                    <a:lstStyle/>
                    <a:p>
                      <a:pPr algn="ctr"/>
                      <a:r>
                        <a:rPr sz="800" b="0">
                          <a:solidFill>
                            <a:srgbClr val="2F3B3A"/>
                          </a:solidFill>
                          <a:latin typeface="Calibri"/>
                        </a:rPr>
                        <a:t>93</a:t>
                      </a:r>
                    </a:p>
                  </a:txBody>
                  <a:tcPr marL="45000" marR="45000" marT="12000" marB="12000" anchor="ctr">
                    <a:solidFill>
                      <a:srgbClr val="FFFFFF"/>
                    </a:solidFill>
                  </a:tcPr>
                </a:tc>
                <a:tc>
                  <a:txBody>
                    <a:bodyPr/>
                    <a:lstStyle/>
                    <a:p>
                      <a:pPr algn="ctr"/>
                      <a:r>
                        <a:rPr sz="800" b="0">
                          <a:solidFill>
                            <a:srgbClr val="2F3B3A"/>
                          </a:solidFill>
                          <a:latin typeface="Calibri"/>
                        </a:rPr>
                        <a:t>43%</a:t>
                      </a:r>
                    </a:p>
                  </a:txBody>
                  <a:tcPr marL="45000" marR="45000" marT="12000" marB="12000" anchor="ctr">
                    <a:solidFill>
                      <a:srgbClr val="FFFFFF"/>
                    </a:solidFill>
                  </a:tcPr>
                </a:tc>
                <a:tc>
                  <a:txBody>
                    <a:bodyPr/>
                    <a:lstStyle/>
                    <a:p>
                      <a:pPr algn="ctr"/>
                      <a:r>
                        <a:rPr sz="800" b="0">
                          <a:solidFill>
                            <a:srgbClr val="2F3B3A"/>
                          </a:solidFill>
                          <a:latin typeface="Calibri"/>
                        </a:rPr>
                        <a:t>4,3%</a:t>
                      </a:r>
                    </a:p>
                  </a:txBody>
                  <a:tcPr marL="45000" marR="45000" marT="12000" marB="12000" anchor="ctr">
                    <a:solidFill>
                      <a:srgbClr val="FFFFFF"/>
                    </a:solidFill>
                  </a:tcPr>
                </a:tc>
                <a:tc>
                  <a:txBody>
                    <a:bodyPr/>
                    <a:lstStyle/>
                    <a:p>
                      <a:pPr algn="ctr"/>
                      <a:r>
                        <a:rPr sz="800" b="1">
                          <a:solidFill>
                            <a:srgbClr val="13807B"/>
                          </a:solidFill>
                          <a:latin typeface="Calibri"/>
                        </a:rPr>
                        <a:t>Concluyente</a:t>
                      </a:r>
                    </a:p>
                  </a:txBody>
                  <a:tcPr marL="45000" marR="45000" marT="12000" marB="12000" anchor="ctr">
                    <a:solidFill>
                      <a:srgbClr val="FFFFFF"/>
                    </a:solidFill>
                  </a:tcPr>
                </a:tc>
                <a:extLst>
                  <a:ext uri="{0D108BD9-81ED-4DB2-BD59-A6C34878D82A}">
                    <a16:rowId xmlns:a16="http://schemas.microsoft.com/office/drawing/2014/main" val="10005"/>
                  </a:ext>
                </a:extLst>
              </a:tr>
              <a:tr h="210000">
                <a:tc>
                  <a:txBody>
                    <a:bodyPr/>
                    <a:lstStyle/>
                    <a:p>
                      <a:pPr algn="ctr"/>
                      <a:r>
                        <a:rPr sz="800" b="0">
                          <a:solidFill>
                            <a:srgbClr val="2F3B3A"/>
                          </a:solidFill>
                          <a:latin typeface="Calibri"/>
                        </a:rPr>
                        <a:t>Socio</a:t>
                      </a:r>
                    </a:p>
                  </a:txBody>
                  <a:tcPr marL="45000" marR="45000" marT="12000" marB="12000" anchor="ctr">
                    <a:solidFill>
                      <a:srgbClr val="F7F9F9"/>
                    </a:solidFill>
                  </a:tcPr>
                </a:tc>
                <a:tc>
                  <a:txBody>
                    <a:bodyPr/>
                    <a:lstStyle/>
                    <a:p>
                      <a:pPr algn="ctr"/>
                      <a:r>
                        <a:rPr sz="800" b="0">
                          <a:solidFill>
                            <a:srgbClr val="2F3B3A"/>
                          </a:solidFill>
                          <a:latin typeface="Calibri"/>
                        </a:rPr>
                        <a:t>Pasivos &lt; 1K</a:t>
                      </a:r>
                    </a:p>
                  </a:txBody>
                  <a:tcPr marL="45000" marR="45000" marT="12000" marB="12000" anchor="ctr">
                    <a:solidFill>
                      <a:srgbClr val="F7F9F9"/>
                    </a:solidFill>
                  </a:tcPr>
                </a:tc>
                <a:tc>
                  <a:txBody>
                    <a:bodyPr/>
                    <a:lstStyle/>
                    <a:p>
                      <a:pPr algn="ctr"/>
                      <a:r>
                        <a:rPr sz="800" b="0">
                          <a:solidFill>
                            <a:srgbClr val="2F3B3A"/>
                          </a:solidFill>
                          <a:latin typeface="Calibri"/>
                        </a:rPr>
                        <a:t>388</a:t>
                      </a:r>
                    </a:p>
                  </a:txBody>
                  <a:tcPr marL="45000" marR="45000" marT="12000" marB="12000" anchor="ctr">
                    <a:solidFill>
                      <a:srgbClr val="F7F9F9"/>
                    </a:solidFill>
                  </a:tcPr>
                </a:tc>
                <a:tc>
                  <a:txBody>
                    <a:bodyPr/>
                    <a:lstStyle/>
                    <a:p>
                      <a:pPr algn="ctr"/>
                      <a:r>
                        <a:rPr sz="800" b="0">
                          <a:solidFill>
                            <a:srgbClr val="2F3B3A"/>
                          </a:solidFill>
                          <a:latin typeface="Calibri"/>
                        </a:rPr>
                        <a:t>257</a:t>
                      </a:r>
                    </a:p>
                  </a:txBody>
                  <a:tcPr marL="45000" marR="45000" marT="12000" marB="12000" anchor="ctr">
                    <a:solidFill>
                      <a:srgbClr val="F7F9F9"/>
                    </a:solidFill>
                  </a:tcPr>
                </a:tc>
                <a:tc>
                  <a:txBody>
                    <a:bodyPr/>
                    <a:lstStyle/>
                    <a:p>
                      <a:pPr algn="ctr"/>
                      <a:r>
                        <a:rPr sz="800" b="0">
                          <a:solidFill>
                            <a:srgbClr val="2F3B3A"/>
                          </a:solidFill>
                          <a:latin typeface="Calibri"/>
                        </a:rPr>
                        <a:t>66%</a:t>
                      </a:r>
                    </a:p>
                  </a:txBody>
                  <a:tcPr marL="45000" marR="45000" marT="12000" marB="12000" anchor="ctr">
                    <a:solidFill>
                      <a:srgbClr val="F7F9F9"/>
                    </a:solidFill>
                  </a:tcPr>
                </a:tc>
                <a:tc>
                  <a:txBody>
                    <a:bodyPr/>
                    <a:lstStyle/>
                    <a:p>
                      <a:pPr algn="ctr"/>
                      <a:r>
                        <a:rPr sz="800" b="0">
                          <a:solidFill>
                            <a:srgbClr val="2F3B3A"/>
                          </a:solidFill>
                          <a:latin typeface="Calibri"/>
                        </a:rPr>
                        <a:t>11,9%</a:t>
                      </a:r>
                    </a:p>
                  </a:txBody>
                  <a:tcPr marL="45000" marR="45000" marT="12000" marB="12000" anchor="ctr">
                    <a:solidFill>
                      <a:srgbClr val="F7F9F9"/>
                    </a:solidFill>
                  </a:tcPr>
                </a:tc>
                <a:tc>
                  <a:txBody>
                    <a:bodyPr/>
                    <a:lstStyle/>
                    <a:p>
                      <a:pPr algn="ctr"/>
                      <a:r>
                        <a:rPr sz="800" b="1">
                          <a:solidFill>
                            <a:srgbClr val="13807B"/>
                          </a:solidFill>
                          <a:latin typeface="Calibri"/>
                        </a:rPr>
                        <a:t>Concluyente</a:t>
                      </a:r>
                    </a:p>
                  </a:txBody>
                  <a:tcPr marL="45000" marR="45000" marT="12000" marB="12000" anchor="ctr">
                    <a:solidFill>
                      <a:srgbClr val="F7F9F9"/>
                    </a:solidFill>
                  </a:tcPr>
                </a:tc>
                <a:extLst>
                  <a:ext uri="{0D108BD9-81ED-4DB2-BD59-A6C34878D82A}">
                    <a16:rowId xmlns:a16="http://schemas.microsoft.com/office/drawing/2014/main" val="10008"/>
                  </a:ext>
                </a:extLst>
              </a:tr>
              <a:tr h="210000">
                <a:tc>
                  <a:txBody>
                    <a:bodyPr/>
                    <a:lstStyle/>
                    <a:p>
                      <a:pPr algn="ctr"/>
                      <a:r>
                        <a:rPr sz="800" b="0">
                          <a:solidFill>
                            <a:srgbClr val="2F3B3A"/>
                          </a:solidFill>
                          <a:latin typeface="Calibri"/>
                        </a:rPr>
                        <a:t>Socio</a:t>
                      </a:r>
                    </a:p>
                  </a:txBody>
                  <a:tcPr marL="45000" marR="45000" marT="12000" marB="12000" anchor="ctr">
                    <a:solidFill>
                      <a:srgbClr val="FFFFFF"/>
                    </a:solidFill>
                  </a:tcPr>
                </a:tc>
                <a:tc>
                  <a:txBody>
                    <a:bodyPr/>
                    <a:lstStyle/>
                    <a:p>
                      <a:pPr algn="ctr"/>
                      <a:r>
                        <a:rPr sz="800" b="0">
                          <a:solidFill>
                            <a:srgbClr val="2F3B3A"/>
                          </a:solidFill>
                          <a:latin typeface="Calibri"/>
                        </a:rPr>
                        <a:t>Pasivos ≥ 5K</a:t>
                      </a:r>
                    </a:p>
                  </a:txBody>
                  <a:tcPr marL="45000" marR="45000" marT="12000" marB="12000" anchor="ctr">
                    <a:solidFill>
                      <a:srgbClr val="FFFFFF"/>
                    </a:solidFill>
                  </a:tcPr>
                </a:tc>
                <a:tc>
                  <a:txBody>
                    <a:bodyPr/>
                    <a:lstStyle/>
                    <a:p>
                      <a:pPr algn="ctr"/>
                      <a:r>
                        <a:rPr sz="800" b="0">
                          <a:solidFill>
                            <a:srgbClr val="2F3B3A"/>
                          </a:solidFill>
                          <a:latin typeface="Calibri"/>
                        </a:rPr>
                        <a:t>320</a:t>
                      </a:r>
                    </a:p>
                  </a:txBody>
                  <a:tcPr marL="45000" marR="45000" marT="12000" marB="12000" anchor="ctr">
                    <a:solidFill>
                      <a:srgbClr val="FFFFFF"/>
                    </a:solidFill>
                  </a:tcPr>
                </a:tc>
                <a:tc>
                  <a:txBody>
                    <a:bodyPr/>
                    <a:lstStyle/>
                    <a:p>
                      <a:pPr algn="ctr"/>
                      <a:r>
                        <a:rPr sz="800" b="0">
                          <a:solidFill>
                            <a:srgbClr val="2F3B3A"/>
                          </a:solidFill>
                          <a:latin typeface="Calibri"/>
                        </a:rPr>
                        <a:t>196</a:t>
                      </a:r>
                    </a:p>
                  </a:txBody>
                  <a:tcPr marL="45000" marR="45000" marT="12000" marB="12000" anchor="ctr">
                    <a:solidFill>
                      <a:srgbClr val="FFFFFF"/>
                    </a:solidFill>
                  </a:tcPr>
                </a:tc>
                <a:tc>
                  <a:txBody>
                    <a:bodyPr/>
                    <a:lstStyle/>
                    <a:p>
                      <a:pPr algn="ctr"/>
                      <a:r>
                        <a:rPr sz="800" b="0">
                          <a:solidFill>
                            <a:srgbClr val="2F3B3A"/>
                          </a:solidFill>
                          <a:latin typeface="Calibri"/>
                        </a:rPr>
                        <a:t>61%</a:t>
                      </a:r>
                    </a:p>
                  </a:txBody>
                  <a:tcPr marL="45000" marR="45000" marT="12000" marB="12000" anchor="ctr">
                    <a:solidFill>
                      <a:srgbClr val="FFFFFF"/>
                    </a:solidFill>
                  </a:tcPr>
                </a:tc>
                <a:tc>
                  <a:txBody>
                    <a:bodyPr/>
                    <a:lstStyle/>
                    <a:p>
                      <a:pPr algn="ctr"/>
                      <a:r>
                        <a:rPr sz="800" b="0">
                          <a:solidFill>
                            <a:srgbClr val="2F3B3A"/>
                          </a:solidFill>
                          <a:latin typeface="Calibri"/>
                        </a:rPr>
                        <a:t>9,1%</a:t>
                      </a:r>
                    </a:p>
                  </a:txBody>
                  <a:tcPr marL="45000" marR="45000" marT="12000" marB="12000" anchor="ctr">
                    <a:solidFill>
                      <a:srgbClr val="FFFFFF"/>
                    </a:solidFill>
                  </a:tcPr>
                </a:tc>
                <a:tc>
                  <a:txBody>
                    <a:bodyPr/>
                    <a:lstStyle/>
                    <a:p>
                      <a:pPr algn="ctr"/>
                      <a:r>
                        <a:rPr sz="800" b="1">
                          <a:solidFill>
                            <a:srgbClr val="13807B"/>
                          </a:solidFill>
                          <a:latin typeface="Calibri"/>
                        </a:rPr>
                        <a:t>Concluyente</a:t>
                      </a:r>
                    </a:p>
                  </a:txBody>
                  <a:tcPr marL="45000" marR="45000" marT="12000" marB="12000" anchor="ctr">
                    <a:solidFill>
                      <a:srgbClr val="FFFFFF"/>
                    </a:solidFill>
                  </a:tcPr>
                </a:tc>
                <a:extLst>
                  <a:ext uri="{0D108BD9-81ED-4DB2-BD59-A6C34878D82A}">
                    <a16:rowId xmlns:a16="http://schemas.microsoft.com/office/drawing/2014/main" val="10007"/>
                  </a:ext>
                </a:extLst>
              </a:tr>
              <a:tr h="210000">
                <a:tc>
                  <a:txBody>
                    <a:bodyPr/>
                    <a:lstStyle/>
                    <a:p>
                      <a:pPr algn="ctr"/>
                      <a:r>
                        <a:rPr sz="800" b="0">
                          <a:solidFill>
                            <a:srgbClr val="2F3B3A"/>
                          </a:solidFill>
                          <a:latin typeface="Calibri"/>
                        </a:rPr>
                        <a:t>Gran Cuenta</a:t>
                      </a:r>
                    </a:p>
                  </a:txBody>
                  <a:tcPr marL="45000" marR="45000" marT="12000" marB="12000" anchor="ctr">
                    <a:solidFill>
                      <a:srgbClr val="FFFFFF"/>
                    </a:solidFill>
                  </a:tcPr>
                </a:tc>
                <a:tc>
                  <a:txBody>
                    <a:bodyPr/>
                    <a:lstStyle/>
                    <a:p>
                      <a:pPr algn="ctr"/>
                      <a:r>
                        <a:rPr sz="800" b="0">
                          <a:solidFill>
                            <a:srgbClr val="2F3B3A"/>
                          </a:solidFill>
                          <a:latin typeface="Calibri"/>
                        </a:rPr>
                        <a:t>SSFF ≤ 1,5MM</a:t>
                      </a:r>
                    </a:p>
                  </a:txBody>
                  <a:tcPr marL="45000" marR="45000" marT="12000" marB="12000" anchor="ctr">
                    <a:solidFill>
                      <a:srgbClr val="FFFFFF"/>
                    </a:solidFill>
                  </a:tcPr>
                </a:tc>
                <a:tc>
                  <a:txBody>
                    <a:bodyPr/>
                    <a:lstStyle/>
                    <a:p>
                      <a:pPr algn="ctr"/>
                      <a:r>
                        <a:rPr sz="800" b="0">
                          <a:solidFill>
                            <a:srgbClr val="2F3B3A"/>
                          </a:solidFill>
                          <a:latin typeface="Calibri"/>
                        </a:rPr>
                        <a:t>71</a:t>
                      </a:r>
                    </a:p>
                  </a:txBody>
                  <a:tcPr marL="45000" marR="45000" marT="12000" marB="12000" anchor="ctr">
                    <a:solidFill>
                      <a:srgbClr val="FFFFFF"/>
                    </a:solidFill>
                  </a:tcPr>
                </a:tc>
                <a:tc>
                  <a:txBody>
                    <a:bodyPr/>
                    <a:lstStyle/>
                    <a:p>
                      <a:pPr algn="ctr"/>
                      <a:r>
                        <a:rPr sz="800" b="0">
                          <a:solidFill>
                            <a:srgbClr val="2F3B3A"/>
                          </a:solidFill>
                          <a:latin typeface="Calibri"/>
                        </a:rPr>
                        <a:t>38</a:t>
                      </a:r>
                    </a:p>
                  </a:txBody>
                  <a:tcPr marL="45000" marR="45000" marT="12000" marB="12000" anchor="ctr">
                    <a:solidFill>
                      <a:srgbClr val="FFFFFF"/>
                    </a:solidFill>
                  </a:tcPr>
                </a:tc>
                <a:tc>
                  <a:txBody>
                    <a:bodyPr/>
                    <a:lstStyle/>
                    <a:p>
                      <a:pPr algn="ctr"/>
                      <a:r>
                        <a:rPr sz="800" b="0">
                          <a:solidFill>
                            <a:srgbClr val="2F3B3A"/>
                          </a:solidFill>
                          <a:latin typeface="Calibri"/>
                        </a:rPr>
                        <a:t>54%</a:t>
                      </a:r>
                    </a:p>
                  </a:txBody>
                  <a:tcPr marL="45000" marR="45000" marT="12000" marB="12000" anchor="ctr">
                    <a:solidFill>
                      <a:srgbClr val="FFFFFF"/>
                    </a:solidFill>
                  </a:tcPr>
                </a:tc>
                <a:tc>
                  <a:txBody>
                    <a:bodyPr/>
                    <a:lstStyle/>
                    <a:p>
                      <a:pPr algn="ctr"/>
                      <a:r>
                        <a:rPr sz="800" b="0">
                          <a:solidFill>
                            <a:srgbClr val="2F3B3A"/>
                          </a:solidFill>
                          <a:latin typeface="Calibri"/>
                        </a:rPr>
                        <a:t>1,8%</a:t>
                      </a:r>
                    </a:p>
                  </a:txBody>
                  <a:tcPr marL="45000" marR="45000" marT="12000" marB="12000" anchor="ctr">
                    <a:solidFill>
                      <a:srgbClr val="FFFFFF"/>
                    </a:solidFill>
                  </a:tcPr>
                </a:tc>
                <a:tc>
                  <a:txBody>
                    <a:bodyPr/>
                    <a:lstStyle/>
                    <a:p>
                      <a:pPr algn="ctr"/>
                      <a:r>
                        <a:rPr sz="800" b="1">
                          <a:solidFill>
                            <a:srgbClr val="13807B"/>
                          </a:solidFill>
                          <a:latin typeface="Calibri"/>
                        </a:rPr>
                        <a:t>Concluyente</a:t>
                      </a:r>
                    </a:p>
                  </a:txBody>
                  <a:tcPr marL="45000" marR="45000" marT="12000" marB="12000" anchor="ctr">
                    <a:solidFill>
                      <a:srgbClr val="FFFFFF"/>
                    </a:solidFill>
                  </a:tcPr>
                </a:tc>
                <a:extLst>
                  <a:ext uri="{0D108BD9-81ED-4DB2-BD59-A6C34878D82A}">
                    <a16:rowId xmlns:a16="http://schemas.microsoft.com/office/drawing/2014/main" val="10009"/>
                  </a:ext>
                </a:extLst>
              </a:tr>
              <a:tr h="210000">
                <a:tc>
                  <a:txBody>
                    <a:bodyPr/>
                    <a:lstStyle/>
                    <a:p>
                      <a:pPr algn="ctr"/>
                      <a:r>
                        <a:rPr sz="800" b="0">
                          <a:solidFill>
                            <a:srgbClr val="2F3B3A"/>
                          </a:solidFill>
                          <a:latin typeface="Calibri"/>
                        </a:rPr>
                        <a:t>Gran Cuenta</a:t>
                      </a:r>
                    </a:p>
                  </a:txBody>
                  <a:tcPr marL="45000" marR="45000" marT="12000" marB="12000" anchor="ctr">
                    <a:solidFill>
                      <a:srgbClr val="F7F9F9"/>
                    </a:solidFill>
                  </a:tcPr>
                </a:tc>
                <a:tc>
                  <a:txBody>
                    <a:bodyPr/>
                    <a:lstStyle/>
                    <a:p>
                      <a:pPr algn="ctr"/>
                      <a:r>
                        <a:rPr sz="800" b="0">
                          <a:solidFill>
                            <a:srgbClr val="2F3B3A"/>
                          </a:solidFill>
                          <a:latin typeface="Calibri"/>
                        </a:rPr>
                        <a:t>SSFF 1,5–3,8MM</a:t>
                      </a:r>
                    </a:p>
                  </a:txBody>
                  <a:tcPr marL="45000" marR="45000" marT="12000" marB="12000" anchor="ctr">
                    <a:solidFill>
                      <a:srgbClr val="F7F9F9"/>
                    </a:solidFill>
                  </a:tcPr>
                </a:tc>
                <a:tc>
                  <a:txBody>
                    <a:bodyPr/>
                    <a:lstStyle/>
                    <a:p>
                      <a:pPr algn="ctr"/>
                      <a:r>
                        <a:rPr sz="800" b="0">
                          <a:solidFill>
                            <a:srgbClr val="2F3B3A"/>
                          </a:solidFill>
                          <a:latin typeface="Calibri"/>
                        </a:rPr>
                        <a:t>247</a:t>
                      </a:r>
                    </a:p>
                  </a:txBody>
                  <a:tcPr marL="45000" marR="45000" marT="12000" marB="12000" anchor="ctr">
                    <a:solidFill>
                      <a:srgbClr val="F7F9F9"/>
                    </a:solidFill>
                  </a:tcPr>
                </a:tc>
                <a:tc>
                  <a:txBody>
                    <a:bodyPr/>
                    <a:lstStyle/>
                    <a:p>
                      <a:pPr algn="ctr"/>
                      <a:r>
                        <a:rPr sz="800" b="0">
                          <a:solidFill>
                            <a:srgbClr val="2F3B3A"/>
                          </a:solidFill>
                          <a:latin typeface="Calibri"/>
                        </a:rPr>
                        <a:t>114</a:t>
                      </a:r>
                    </a:p>
                  </a:txBody>
                  <a:tcPr marL="45000" marR="45000" marT="12000" marB="12000" anchor="ctr">
                    <a:solidFill>
                      <a:srgbClr val="F7F9F9"/>
                    </a:solidFill>
                  </a:tcPr>
                </a:tc>
                <a:tc>
                  <a:txBody>
                    <a:bodyPr/>
                    <a:lstStyle/>
                    <a:p>
                      <a:pPr algn="ctr"/>
                      <a:r>
                        <a:rPr sz="800" b="0">
                          <a:solidFill>
                            <a:srgbClr val="2F3B3A"/>
                          </a:solidFill>
                          <a:latin typeface="Calibri"/>
                        </a:rPr>
                        <a:t>46%</a:t>
                      </a:r>
                    </a:p>
                  </a:txBody>
                  <a:tcPr marL="45000" marR="45000" marT="12000" marB="12000" anchor="ctr">
                    <a:solidFill>
                      <a:srgbClr val="F7F9F9"/>
                    </a:solidFill>
                  </a:tcPr>
                </a:tc>
                <a:tc>
                  <a:txBody>
                    <a:bodyPr/>
                    <a:lstStyle/>
                    <a:p>
                      <a:pPr algn="ctr"/>
                      <a:r>
                        <a:rPr sz="800" b="0">
                          <a:solidFill>
                            <a:srgbClr val="2F3B3A"/>
                          </a:solidFill>
                          <a:latin typeface="Calibri"/>
                        </a:rPr>
                        <a:t>5,3%</a:t>
                      </a:r>
                    </a:p>
                  </a:txBody>
                  <a:tcPr marL="45000" marR="45000" marT="12000" marB="12000" anchor="ctr">
                    <a:solidFill>
                      <a:srgbClr val="F7F9F9"/>
                    </a:solidFill>
                  </a:tcPr>
                </a:tc>
                <a:tc>
                  <a:txBody>
                    <a:bodyPr/>
                    <a:lstStyle/>
                    <a:p>
                      <a:pPr algn="ctr"/>
                      <a:r>
                        <a:rPr sz="800" b="1">
                          <a:solidFill>
                            <a:srgbClr val="13807B"/>
                          </a:solidFill>
                          <a:latin typeface="Calibri"/>
                        </a:rPr>
                        <a:t>Concluyente · inconsistente</a:t>
                      </a:r>
                    </a:p>
                  </a:txBody>
                  <a:tcPr marL="45000" marR="45000" marT="12000" marB="12000" anchor="ctr">
                    <a:solidFill>
                      <a:srgbClr val="F7F9F9"/>
                    </a:solidFill>
                  </a:tcPr>
                </a:tc>
                <a:extLst>
                  <a:ext uri="{0D108BD9-81ED-4DB2-BD59-A6C34878D82A}">
                    <a16:rowId xmlns:a16="http://schemas.microsoft.com/office/drawing/2014/main" val="10010"/>
                  </a:ext>
                </a:extLst>
              </a:tr>
              <a:tr h="210000">
                <a:tc>
                  <a:txBody>
                    <a:bodyPr/>
                    <a:lstStyle/>
                    <a:p>
                      <a:pPr algn="ctr"/>
                      <a:r>
                        <a:rPr sz="800" b="0">
                          <a:solidFill>
                            <a:srgbClr val="2F3B3A"/>
                          </a:solidFill>
                          <a:latin typeface="Calibri"/>
                        </a:rPr>
                        <a:t>Reactivar</a:t>
                      </a:r>
                    </a:p>
                  </a:txBody>
                  <a:tcPr marL="45000" marR="45000" marT="12000" marB="12000" anchor="ctr">
                    <a:solidFill>
                      <a:srgbClr val="F7F9F9"/>
                    </a:solidFill>
                  </a:tcPr>
                </a:tc>
                <a:tc>
                  <a:txBody>
                    <a:bodyPr/>
                    <a:lstStyle/>
                    <a:p>
                      <a:pPr algn="ctr"/>
                      <a:r>
                        <a:rPr sz="800" b="0">
                          <a:solidFill>
                            <a:srgbClr val="2F3B3A"/>
                          </a:solidFill>
                          <a:latin typeface="Calibri"/>
                        </a:rPr>
                        <a:t>Pasivos &lt; 1K</a:t>
                      </a:r>
                    </a:p>
                  </a:txBody>
                  <a:tcPr marL="45000" marR="45000" marT="12000" marB="12000" anchor="ctr">
                    <a:solidFill>
                      <a:srgbClr val="F7F9F9"/>
                    </a:solidFill>
                  </a:tcPr>
                </a:tc>
                <a:tc>
                  <a:txBody>
                    <a:bodyPr/>
                    <a:lstStyle/>
                    <a:p>
                      <a:pPr algn="ctr"/>
                      <a:r>
                        <a:rPr sz="800" b="0">
                          <a:solidFill>
                            <a:srgbClr val="2F3B3A"/>
                          </a:solidFill>
                          <a:latin typeface="Calibri"/>
                        </a:rPr>
                        <a:t>75</a:t>
                      </a:r>
                    </a:p>
                  </a:txBody>
                  <a:tcPr marL="45000" marR="45000" marT="12000" marB="12000" anchor="ctr">
                    <a:solidFill>
                      <a:srgbClr val="F7F9F9"/>
                    </a:solidFill>
                  </a:tcPr>
                </a:tc>
                <a:tc>
                  <a:txBody>
                    <a:bodyPr/>
                    <a:lstStyle/>
                    <a:p>
                      <a:pPr algn="ctr"/>
                      <a:r>
                        <a:rPr sz="800" b="0">
                          <a:solidFill>
                            <a:srgbClr val="2F3B3A"/>
                          </a:solidFill>
                          <a:latin typeface="Calibri"/>
                        </a:rPr>
                        <a:t>33</a:t>
                      </a:r>
                    </a:p>
                  </a:txBody>
                  <a:tcPr marL="45000" marR="45000" marT="12000" marB="12000" anchor="ctr">
                    <a:solidFill>
                      <a:srgbClr val="F7F9F9"/>
                    </a:solidFill>
                  </a:tcPr>
                </a:tc>
                <a:tc>
                  <a:txBody>
                    <a:bodyPr/>
                    <a:lstStyle/>
                    <a:p>
                      <a:pPr algn="ctr"/>
                      <a:r>
                        <a:rPr sz="800" b="0">
                          <a:solidFill>
                            <a:srgbClr val="2F3B3A"/>
                          </a:solidFill>
                          <a:latin typeface="Calibri"/>
                        </a:rPr>
                        <a:t>44%</a:t>
                      </a:r>
                    </a:p>
                  </a:txBody>
                  <a:tcPr marL="45000" marR="45000" marT="12000" marB="12000" anchor="ctr">
                    <a:solidFill>
                      <a:srgbClr val="F7F9F9"/>
                    </a:solidFill>
                  </a:tcPr>
                </a:tc>
                <a:tc>
                  <a:txBody>
                    <a:bodyPr/>
                    <a:lstStyle/>
                    <a:p>
                      <a:pPr algn="ctr"/>
                      <a:r>
                        <a:rPr sz="800" b="0">
                          <a:solidFill>
                            <a:srgbClr val="2F3B3A"/>
                          </a:solidFill>
                          <a:latin typeface="Calibri"/>
                        </a:rPr>
                        <a:t>1,5%</a:t>
                      </a:r>
                    </a:p>
                  </a:txBody>
                  <a:tcPr marL="45000" marR="45000" marT="12000" marB="12000" anchor="ctr">
                    <a:solidFill>
                      <a:srgbClr val="F7F9F9"/>
                    </a:solidFill>
                  </a:tcPr>
                </a:tc>
                <a:tc>
                  <a:txBody>
                    <a:bodyPr/>
                    <a:lstStyle/>
                    <a:p>
                      <a:pPr algn="ctr"/>
                      <a:r>
                        <a:rPr sz="800" b="1">
                          <a:solidFill>
                            <a:srgbClr val="13807B"/>
                          </a:solidFill>
                          <a:latin typeface="Calibri"/>
                        </a:rPr>
                        <a:t>Concluyente</a:t>
                      </a:r>
                    </a:p>
                  </a:txBody>
                  <a:tcPr marL="45000" marR="45000" marT="12000" marB="12000" anchor="ctr">
                    <a:solidFill>
                      <a:srgbClr val="F7F9F9"/>
                    </a:solidFill>
                  </a:tcPr>
                </a:tc>
                <a:extLst>
                  <a:ext uri="{0D108BD9-81ED-4DB2-BD59-A6C34878D82A}">
                    <a16:rowId xmlns:a16="http://schemas.microsoft.com/office/drawing/2014/main" val="10012"/>
                  </a:ext>
                </a:extLst>
              </a:tr>
              <a:tr h="210000">
                <a:tc>
                  <a:txBody>
                    <a:bodyPr/>
                    <a:lstStyle/>
                    <a:p>
                      <a:pPr algn="ctr"/>
                      <a:r>
                        <a:rPr sz="800" b="0">
                          <a:solidFill>
                            <a:srgbClr val="2F3B3A"/>
                          </a:solidFill>
                          <a:latin typeface="Calibri"/>
                        </a:rPr>
                        <a:t>Reactivar</a:t>
                      </a:r>
                    </a:p>
                  </a:txBody>
                  <a:tcPr marL="45000" marR="45000" marT="12000" marB="12000" anchor="ctr">
                    <a:solidFill>
                      <a:srgbClr val="FFFFFF"/>
                    </a:solidFill>
                  </a:tcPr>
                </a:tc>
                <a:tc>
                  <a:txBody>
                    <a:bodyPr/>
                    <a:lstStyle/>
                    <a:p>
                      <a:pPr algn="ctr"/>
                      <a:r>
                        <a:rPr sz="800" b="0">
                          <a:solidFill>
                            <a:srgbClr val="2F3B3A"/>
                          </a:solidFill>
                          <a:latin typeface="Calibri"/>
                        </a:rPr>
                        <a:t>Pasivos ≥ 5K</a:t>
                      </a:r>
                    </a:p>
                  </a:txBody>
                  <a:tcPr marL="45000" marR="45000" marT="12000" marB="12000" anchor="ctr">
                    <a:solidFill>
                      <a:srgbClr val="FFFFFF"/>
                    </a:solidFill>
                  </a:tcPr>
                </a:tc>
                <a:tc>
                  <a:txBody>
                    <a:bodyPr/>
                    <a:lstStyle/>
                    <a:p>
                      <a:pPr algn="ctr"/>
                      <a:r>
                        <a:rPr sz="800" b="0">
                          <a:solidFill>
                            <a:srgbClr val="2F3B3A"/>
                          </a:solidFill>
                          <a:latin typeface="Calibri"/>
                        </a:rPr>
                        <a:t>56</a:t>
                      </a:r>
                    </a:p>
                  </a:txBody>
                  <a:tcPr marL="45000" marR="45000" marT="12000" marB="12000" anchor="ctr">
                    <a:solidFill>
                      <a:srgbClr val="FFFFFF"/>
                    </a:solidFill>
                  </a:tcPr>
                </a:tc>
                <a:tc>
                  <a:txBody>
                    <a:bodyPr/>
                    <a:lstStyle/>
                    <a:p>
                      <a:pPr algn="ctr"/>
                      <a:r>
                        <a:rPr sz="800" b="0">
                          <a:solidFill>
                            <a:srgbClr val="2F3B3A"/>
                          </a:solidFill>
                          <a:latin typeface="Calibri"/>
                        </a:rPr>
                        <a:t>29</a:t>
                      </a:r>
                    </a:p>
                  </a:txBody>
                  <a:tcPr marL="45000" marR="45000" marT="12000" marB="12000" anchor="ctr">
                    <a:solidFill>
                      <a:srgbClr val="FFFFFF"/>
                    </a:solidFill>
                  </a:tcPr>
                </a:tc>
                <a:tc>
                  <a:txBody>
                    <a:bodyPr/>
                    <a:lstStyle/>
                    <a:p>
                      <a:pPr algn="ctr"/>
                      <a:r>
                        <a:rPr sz="800" b="0">
                          <a:solidFill>
                            <a:srgbClr val="2F3B3A"/>
                          </a:solidFill>
                          <a:latin typeface="Calibri"/>
                        </a:rPr>
                        <a:t>52%</a:t>
                      </a:r>
                    </a:p>
                  </a:txBody>
                  <a:tcPr marL="45000" marR="45000" marT="12000" marB="12000" anchor="ctr">
                    <a:solidFill>
                      <a:srgbClr val="FFFFFF"/>
                    </a:solidFill>
                  </a:tcPr>
                </a:tc>
                <a:tc>
                  <a:txBody>
                    <a:bodyPr/>
                    <a:lstStyle/>
                    <a:p>
                      <a:pPr algn="ctr"/>
                      <a:r>
                        <a:rPr sz="800" b="0">
                          <a:solidFill>
                            <a:srgbClr val="2F3B3A"/>
                          </a:solidFill>
                          <a:latin typeface="Calibri"/>
                        </a:rPr>
                        <a:t>1,3%</a:t>
                      </a:r>
                    </a:p>
                  </a:txBody>
                  <a:tcPr marL="45000" marR="45000" marT="12000" marB="12000" anchor="ctr">
                    <a:solidFill>
                      <a:srgbClr val="FFFFFF"/>
                    </a:solidFill>
                  </a:tcPr>
                </a:tc>
                <a:tc>
                  <a:txBody>
                    <a:bodyPr/>
                    <a:lstStyle/>
                    <a:p>
                      <a:pPr algn="ctr"/>
                      <a:r>
                        <a:rPr sz="800" b="1">
                          <a:solidFill>
                            <a:srgbClr val="6E7E7D"/>
                          </a:solidFill>
                          <a:latin typeface="Calibri"/>
                        </a:rPr>
                        <a:t>No concluyente</a:t>
                      </a:r>
                    </a:p>
                  </a:txBody>
                  <a:tcPr marL="45000" marR="45000" marT="12000" marB="12000" anchor="ctr">
                    <a:solidFill>
                      <a:srgbClr val="FFFFFF"/>
                    </a:solidFill>
                  </a:tcPr>
                </a:tc>
                <a:extLst>
                  <a:ext uri="{0D108BD9-81ED-4DB2-BD59-A6C34878D82A}">
                    <a16:rowId xmlns:a16="http://schemas.microsoft.com/office/drawing/2014/main" val="10011"/>
                  </a:ext>
                </a:extLst>
              </a:tr>
              <a:tr h="210000">
                <a:tc>
                  <a:txBody>
                    <a:bodyPr/>
                    <a:lstStyle/>
                    <a:p>
                      <a:pPr algn="ctr"/>
                      <a:r>
                        <a:rPr sz="800" b="0">
                          <a:solidFill>
                            <a:srgbClr val="2F3B3A"/>
                          </a:solidFill>
                          <a:latin typeface="Calibri"/>
                        </a:rPr>
                        <a:t>Próximo</a:t>
                      </a:r>
                    </a:p>
                  </a:txBody>
                  <a:tcPr marL="45000" marR="45000" marT="12000" marB="12000" anchor="ctr">
                    <a:solidFill>
                      <a:srgbClr val="FFFFFF"/>
                    </a:solidFill>
                  </a:tcPr>
                </a:tc>
                <a:tc>
                  <a:txBody>
                    <a:bodyPr/>
                    <a:lstStyle/>
                    <a:p>
                      <a:pPr algn="ctr"/>
                      <a:r>
                        <a:rPr sz="800" b="0">
                          <a:solidFill>
                            <a:srgbClr val="2F3B3A"/>
                          </a:solidFill>
                          <a:latin typeface="Calibri"/>
                        </a:rPr>
                        <a:t>≤ 170K</a:t>
                      </a:r>
                    </a:p>
                  </a:txBody>
                  <a:tcPr marL="45000" marR="45000" marT="12000" marB="12000" anchor="ctr">
                    <a:solidFill>
                      <a:srgbClr val="FFFFFF"/>
                    </a:solidFill>
                  </a:tcPr>
                </a:tc>
                <a:tc>
                  <a:txBody>
                    <a:bodyPr/>
                    <a:lstStyle/>
                    <a:p>
                      <a:pPr algn="ctr"/>
                      <a:r>
                        <a:rPr sz="800" b="0">
                          <a:solidFill>
                            <a:srgbClr val="2F3B3A"/>
                          </a:solidFill>
                          <a:latin typeface="Calibri"/>
                        </a:rPr>
                        <a:t>32</a:t>
                      </a:r>
                    </a:p>
                  </a:txBody>
                  <a:tcPr marL="45000" marR="45000" marT="12000" marB="12000" anchor="ctr">
                    <a:solidFill>
                      <a:srgbClr val="FFFFFF"/>
                    </a:solidFill>
                  </a:tcPr>
                </a:tc>
                <a:tc>
                  <a:txBody>
                    <a:bodyPr/>
                    <a:lstStyle/>
                    <a:p>
                      <a:pPr algn="ctr"/>
                      <a:r>
                        <a:rPr sz="800" b="0">
                          <a:solidFill>
                            <a:srgbClr val="2F3B3A"/>
                          </a:solidFill>
                          <a:latin typeface="Calibri"/>
                        </a:rPr>
                        <a:t>16</a:t>
                      </a:r>
                    </a:p>
                  </a:txBody>
                  <a:tcPr marL="45000" marR="45000" marT="12000" marB="12000" anchor="ctr">
                    <a:solidFill>
                      <a:srgbClr val="FFFFFF"/>
                    </a:solidFill>
                  </a:tcPr>
                </a:tc>
                <a:tc>
                  <a:txBody>
                    <a:bodyPr/>
                    <a:lstStyle/>
                    <a:p>
                      <a:pPr algn="ctr"/>
                      <a:r>
                        <a:rPr sz="800" b="0">
                          <a:solidFill>
                            <a:srgbClr val="2F3B3A"/>
                          </a:solidFill>
                          <a:latin typeface="Calibri"/>
                        </a:rPr>
                        <a:t>50%</a:t>
                      </a:r>
                    </a:p>
                  </a:txBody>
                  <a:tcPr marL="45000" marR="45000" marT="12000" marB="12000" anchor="ctr">
                    <a:solidFill>
                      <a:srgbClr val="FFFFFF"/>
                    </a:solidFill>
                  </a:tcPr>
                </a:tc>
                <a:tc>
                  <a:txBody>
                    <a:bodyPr/>
                    <a:lstStyle/>
                    <a:p>
                      <a:pPr algn="ctr"/>
                      <a:r>
                        <a:rPr sz="800" b="0">
                          <a:solidFill>
                            <a:srgbClr val="2F3B3A"/>
                          </a:solidFill>
                          <a:latin typeface="Calibri"/>
                        </a:rPr>
                        <a:t>0,7%</a:t>
                      </a:r>
                    </a:p>
                  </a:txBody>
                  <a:tcPr marL="45000" marR="45000" marT="12000" marB="12000" anchor="ctr">
                    <a:solidFill>
                      <a:srgbClr val="FFFFFF"/>
                    </a:solidFill>
                  </a:tcPr>
                </a:tc>
                <a:tc>
                  <a:txBody>
                    <a:bodyPr/>
                    <a:lstStyle/>
                    <a:p>
                      <a:pPr algn="ctr"/>
                      <a:r>
                        <a:rPr sz="800" b="1">
                          <a:solidFill>
                            <a:srgbClr val="6E7E7D"/>
                          </a:solidFill>
                          <a:latin typeface="Calibri"/>
                        </a:rPr>
                        <a:t>No concluyente</a:t>
                      </a:r>
                    </a:p>
                  </a:txBody>
                  <a:tcPr marL="45000" marR="45000" marT="12000" marB="12000" anchor="ctr">
                    <a:solidFill>
                      <a:srgbClr val="FFFFFF"/>
                    </a:solidFill>
                  </a:tcPr>
                </a:tc>
                <a:extLst>
                  <a:ext uri="{0D108BD9-81ED-4DB2-BD59-A6C34878D82A}">
                    <a16:rowId xmlns:a16="http://schemas.microsoft.com/office/drawing/2014/main" val="10013"/>
                  </a:ext>
                </a:extLst>
              </a:tr>
              <a:tr h="210000">
                <a:tc>
                  <a:txBody>
                    <a:bodyPr/>
                    <a:lstStyle/>
                    <a:p>
                      <a:pPr algn="ctr"/>
                      <a:r>
                        <a:rPr sz="800" b="0">
                          <a:solidFill>
                            <a:srgbClr val="2F3B3A"/>
                          </a:solidFill>
                          <a:latin typeface="Calibri"/>
                        </a:rPr>
                        <a:t>Próximo</a:t>
                      </a:r>
                    </a:p>
                  </a:txBody>
                  <a:tcPr marL="45000" marR="45000" marT="12000" marB="12000" anchor="ctr">
                    <a:solidFill>
                      <a:srgbClr val="F7F9F9"/>
                    </a:solidFill>
                  </a:tcPr>
                </a:tc>
                <a:tc>
                  <a:txBody>
                    <a:bodyPr/>
                    <a:lstStyle/>
                    <a:p>
                      <a:pPr algn="ctr"/>
                      <a:r>
                        <a:rPr sz="800" b="0">
                          <a:solidFill>
                            <a:srgbClr val="2F3B3A"/>
                          </a:solidFill>
                          <a:latin typeface="Calibri"/>
                        </a:rPr>
                        <a:t>&gt; 250K</a:t>
                      </a:r>
                    </a:p>
                  </a:txBody>
                  <a:tcPr marL="45000" marR="45000" marT="12000" marB="12000" anchor="ctr">
                    <a:solidFill>
                      <a:srgbClr val="F7F9F9"/>
                    </a:solidFill>
                  </a:tcPr>
                </a:tc>
                <a:tc>
                  <a:txBody>
                    <a:bodyPr/>
                    <a:lstStyle/>
                    <a:p>
                      <a:pPr algn="ctr"/>
                      <a:r>
                        <a:rPr sz="800" b="0">
                          <a:solidFill>
                            <a:srgbClr val="2F3B3A"/>
                          </a:solidFill>
                          <a:latin typeface="Calibri"/>
                        </a:rPr>
                        <a:t>40</a:t>
                      </a:r>
                    </a:p>
                  </a:txBody>
                  <a:tcPr marL="45000" marR="45000" marT="12000" marB="12000" anchor="ctr">
                    <a:solidFill>
                      <a:srgbClr val="F7F9F9"/>
                    </a:solidFill>
                  </a:tcPr>
                </a:tc>
                <a:tc>
                  <a:txBody>
                    <a:bodyPr/>
                    <a:lstStyle/>
                    <a:p>
                      <a:pPr algn="ctr"/>
                      <a:r>
                        <a:rPr sz="800" b="0">
                          <a:solidFill>
                            <a:srgbClr val="2F3B3A"/>
                          </a:solidFill>
                          <a:latin typeface="Calibri"/>
                        </a:rPr>
                        <a:t>22</a:t>
                      </a:r>
                    </a:p>
                  </a:txBody>
                  <a:tcPr marL="45000" marR="45000" marT="12000" marB="12000" anchor="ctr">
                    <a:solidFill>
                      <a:srgbClr val="F7F9F9"/>
                    </a:solidFill>
                  </a:tcPr>
                </a:tc>
                <a:tc>
                  <a:txBody>
                    <a:bodyPr/>
                    <a:lstStyle/>
                    <a:p>
                      <a:pPr algn="ctr"/>
                      <a:r>
                        <a:rPr sz="800" b="0">
                          <a:solidFill>
                            <a:srgbClr val="2F3B3A"/>
                          </a:solidFill>
                          <a:latin typeface="Calibri"/>
                        </a:rPr>
                        <a:t>55%</a:t>
                      </a:r>
                    </a:p>
                  </a:txBody>
                  <a:tcPr marL="45000" marR="45000" marT="12000" marB="12000" anchor="ctr">
                    <a:solidFill>
                      <a:srgbClr val="F7F9F9"/>
                    </a:solidFill>
                  </a:tcPr>
                </a:tc>
                <a:tc>
                  <a:txBody>
                    <a:bodyPr/>
                    <a:lstStyle/>
                    <a:p>
                      <a:pPr algn="ctr"/>
                      <a:r>
                        <a:rPr sz="800" b="0">
                          <a:solidFill>
                            <a:srgbClr val="2F3B3A"/>
                          </a:solidFill>
                          <a:latin typeface="Calibri"/>
                        </a:rPr>
                        <a:t>1,0%</a:t>
                      </a:r>
                    </a:p>
                  </a:txBody>
                  <a:tcPr marL="45000" marR="45000" marT="12000" marB="12000" anchor="ctr">
                    <a:solidFill>
                      <a:srgbClr val="F7F9F9"/>
                    </a:solidFill>
                  </a:tcPr>
                </a:tc>
                <a:tc>
                  <a:txBody>
                    <a:bodyPr/>
                    <a:lstStyle/>
                    <a:p>
                      <a:pPr algn="ctr"/>
                      <a:r>
                        <a:rPr sz="800" b="1">
                          <a:solidFill>
                            <a:srgbClr val="6E7E7D"/>
                          </a:solidFill>
                          <a:latin typeface="Calibri"/>
                        </a:rPr>
                        <a:t>No concluyente</a:t>
                      </a:r>
                    </a:p>
                  </a:txBody>
                  <a:tcPr marL="45000" marR="45000" marT="12000" marB="12000" anchor="ctr">
                    <a:solidFill>
                      <a:srgbClr val="F7F9F9"/>
                    </a:solidFill>
                  </a:tcPr>
                </a:tc>
                <a:extLst>
                  <a:ext uri="{0D108BD9-81ED-4DB2-BD59-A6C34878D82A}">
                    <a16:rowId xmlns:a16="http://schemas.microsoft.com/office/drawing/2014/main" val="10014"/>
                  </a:ext>
                </a:extLst>
              </a:tr>
              <a:tr h="210000">
                <a:tc>
                  <a:txBody>
                    <a:bodyPr/>
                    <a:lstStyle/>
                    <a:p>
                      <a:pPr algn="ctr"/>
                      <a:r>
                        <a:rPr sz="800" b="0">
                          <a:solidFill>
                            <a:srgbClr val="2F3B3A"/>
                          </a:solidFill>
                          <a:latin typeface="Calibri"/>
                        </a:rPr>
                        <a:t>Nuevo</a:t>
                      </a:r>
                    </a:p>
                  </a:txBody>
                  <a:tcPr marL="45000" marR="45000" marT="12000" marB="12000" anchor="ctr">
                    <a:solidFill>
                      <a:srgbClr val="FFFFFF"/>
                    </a:solidFill>
                  </a:tcPr>
                </a:tc>
                <a:tc>
                  <a:txBody>
                    <a:bodyPr/>
                    <a:lstStyle/>
                    <a:p>
                      <a:pPr algn="ctr"/>
                      <a:r>
                        <a:rPr sz="800" b="0">
                          <a:solidFill>
                            <a:srgbClr val="2F3B3A"/>
                          </a:solidFill>
                          <a:latin typeface="Calibri"/>
                        </a:rPr>
                        <a:t>≤ 170K</a:t>
                      </a:r>
                    </a:p>
                  </a:txBody>
                  <a:tcPr marL="45000" marR="45000" marT="12000" marB="12000" anchor="ctr">
                    <a:solidFill>
                      <a:srgbClr val="FFFFFF"/>
                    </a:solidFill>
                  </a:tcPr>
                </a:tc>
                <a:tc>
                  <a:txBody>
                    <a:bodyPr/>
                    <a:lstStyle/>
                    <a:p>
                      <a:pPr algn="ctr"/>
                      <a:r>
                        <a:rPr sz="800" b="0">
                          <a:solidFill>
                            <a:srgbClr val="2F3B3A"/>
                          </a:solidFill>
                          <a:latin typeface="Calibri"/>
                        </a:rPr>
                        <a:t>54</a:t>
                      </a:r>
                    </a:p>
                  </a:txBody>
                  <a:tcPr marL="45000" marR="45000" marT="12000" marB="12000" anchor="ctr">
                    <a:solidFill>
                      <a:srgbClr val="FFFFFF"/>
                    </a:solidFill>
                  </a:tcPr>
                </a:tc>
                <a:tc>
                  <a:txBody>
                    <a:bodyPr/>
                    <a:lstStyle/>
                    <a:p>
                      <a:pPr algn="ctr"/>
                      <a:r>
                        <a:rPr sz="800" b="0">
                          <a:solidFill>
                            <a:srgbClr val="2F3B3A"/>
                          </a:solidFill>
                          <a:latin typeface="Calibri"/>
                        </a:rPr>
                        <a:t>29</a:t>
                      </a:r>
                    </a:p>
                  </a:txBody>
                  <a:tcPr marL="45000" marR="45000" marT="12000" marB="12000" anchor="ctr">
                    <a:solidFill>
                      <a:srgbClr val="FFFFFF"/>
                    </a:solidFill>
                  </a:tcPr>
                </a:tc>
                <a:tc>
                  <a:txBody>
                    <a:bodyPr/>
                    <a:lstStyle/>
                    <a:p>
                      <a:pPr algn="ctr"/>
                      <a:r>
                        <a:rPr sz="800" b="0">
                          <a:solidFill>
                            <a:srgbClr val="2F3B3A"/>
                          </a:solidFill>
                          <a:latin typeface="Calibri"/>
                        </a:rPr>
                        <a:t>54%</a:t>
                      </a:r>
                    </a:p>
                  </a:txBody>
                  <a:tcPr marL="45000" marR="45000" marT="12000" marB="12000" anchor="ctr">
                    <a:solidFill>
                      <a:srgbClr val="FFFFFF"/>
                    </a:solidFill>
                  </a:tcPr>
                </a:tc>
                <a:tc>
                  <a:txBody>
                    <a:bodyPr/>
                    <a:lstStyle/>
                    <a:p>
                      <a:pPr algn="ctr"/>
                      <a:r>
                        <a:rPr sz="800" b="0">
                          <a:solidFill>
                            <a:srgbClr val="2F3B3A"/>
                          </a:solidFill>
                          <a:latin typeface="Calibri"/>
                        </a:rPr>
                        <a:t>1,3%</a:t>
                      </a:r>
                    </a:p>
                  </a:txBody>
                  <a:tcPr marL="45000" marR="45000" marT="12000" marB="12000" anchor="ctr">
                    <a:solidFill>
                      <a:srgbClr val="FFFFFF"/>
                    </a:solidFill>
                  </a:tcPr>
                </a:tc>
                <a:tc>
                  <a:txBody>
                    <a:bodyPr/>
                    <a:lstStyle/>
                    <a:p>
                      <a:pPr algn="ctr"/>
                      <a:r>
                        <a:rPr sz="800" b="1">
                          <a:solidFill>
                            <a:srgbClr val="6E7E7D"/>
                          </a:solidFill>
                          <a:latin typeface="Calibri"/>
                        </a:rPr>
                        <a:t>No concluyente</a:t>
                      </a:r>
                    </a:p>
                  </a:txBody>
                  <a:tcPr marL="45000" marR="45000" marT="12000" marB="12000" anchor="ctr">
                    <a:solidFill>
                      <a:srgbClr val="FFFFFF"/>
                    </a:solidFill>
                  </a:tcPr>
                </a:tc>
                <a:extLst>
                  <a:ext uri="{0D108BD9-81ED-4DB2-BD59-A6C34878D82A}">
                    <a16:rowId xmlns:a16="http://schemas.microsoft.com/office/drawing/2014/main" val="10015"/>
                  </a:ext>
                </a:extLst>
              </a:tr>
              <a:tr h="210000">
                <a:tc>
                  <a:txBody>
                    <a:bodyPr/>
                    <a:lstStyle/>
                    <a:p>
                      <a:pPr algn="ctr"/>
                      <a:r>
                        <a:rPr sz="800" b="0">
                          <a:solidFill>
                            <a:srgbClr val="2F3B3A"/>
                          </a:solidFill>
                          <a:latin typeface="Calibri"/>
                        </a:rPr>
                        <a:t>Nuevo</a:t>
                      </a:r>
                    </a:p>
                  </a:txBody>
                  <a:tcPr marL="45000" marR="45000" marT="12000" marB="12000" anchor="ctr">
                    <a:solidFill>
                      <a:srgbClr val="F7F9F9"/>
                    </a:solidFill>
                  </a:tcPr>
                </a:tc>
                <a:tc>
                  <a:txBody>
                    <a:bodyPr/>
                    <a:lstStyle/>
                    <a:p>
                      <a:pPr algn="ctr"/>
                      <a:r>
                        <a:rPr sz="800" b="0">
                          <a:solidFill>
                            <a:srgbClr val="2F3B3A"/>
                          </a:solidFill>
                          <a:latin typeface="Calibri"/>
                        </a:rPr>
                        <a:t>&gt; 250K</a:t>
                      </a:r>
                    </a:p>
                  </a:txBody>
                  <a:tcPr marL="45000" marR="45000" marT="12000" marB="12000" anchor="ctr">
                    <a:solidFill>
                      <a:srgbClr val="F7F9F9"/>
                    </a:solidFill>
                  </a:tcPr>
                </a:tc>
                <a:tc>
                  <a:txBody>
                    <a:bodyPr/>
                    <a:lstStyle/>
                    <a:p>
                      <a:pPr algn="ctr"/>
                      <a:r>
                        <a:rPr sz="800" b="0">
                          <a:solidFill>
                            <a:srgbClr val="2F3B3A"/>
                          </a:solidFill>
                          <a:latin typeface="Calibri"/>
                        </a:rPr>
                        <a:t>92</a:t>
                      </a:r>
                    </a:p>
                  </a:txBody>
                  <a:tcPr marL="45000" marR="45000" marT="12000" marB="12000" anchor="ctr">
                    <a:solidFill>
                      <a:srgbClr val="F7F9F9"/>
                    </a:solidFill>
                  </a:tcPr>
                </a:tc>
                <a:tc>
                  <a:txBody>
                    <a:bodyPr/>
                    <a:lstStyle/>
                    <a:p>
                      <a:pPr algn="ctr"/>
                      <a:r>
                        <a:rPr sz="800" b="0">
                          <a:solidFill>
                            <a:srgbClr val="2F3B3A"/>
                          </a:solidFill>
                          <a:latin typeface="Calibri"/>
                        </a:rPr>
                        <a:t>56</a:t>
                      </a:r>
                    </a:p>
                  </a:txBody>
                  <a:tcPr marL="45000" marR="45000" marT="12000" marB="12000" anchor="ctr">
                    <a:solidFill>
                      <a:srgbClr val="F7F9F9"/>
                    </a:solidFill>
                  </a:tcPr>
                </a:tc>
                <a:tc>
                  <a:txBody>
                    <a:bodyPr/>
                    <a:lstStyle/>
                    <a:p>
                      <a:pPr algn="ctr"/>
                      <a:r>
                        <a:rPr sz="800" b="0">
                          <a:solidFill>
                            <a:srgbClr val="2F3B3A"/>
                          </a:solidFill>
                          <a:latin typeface="Calibri"/>
                        </a:rPr>
                        <a:t>61%</a:t>
                      </a:r>
                    </a:p>
                  </a:txBody>
                  <a:tcPr marL="45000" marR="45000" marT="12000" marB="12000" anchor="ctr">
                    <a:solidFill>
                      <a:srgbClr val="F7F9F9"/>
                    </a:solidFill>
                  </a:tcPr>
                </a:tc>
                <a:tc>
                  <a:txBody>
                    <a:bodyPr/>
                    <a:lstStyle/>
                    <a:p>
                      <a:pPr algn="ctr"/>
                      <a:r>
                        <a:rPr sz="800" b="0">
                          <a:solidFill>
                            <a:srgbClr val="2F3B3A"/>
                          </a:solidFill>
                          <a:latin typeface="Calibri"/>
                        </a:rPr>
                        <a:t>2,6%</a:t>
                      </a:r>
                    </a:p>
                  </a:txBody>
                  <a:tcPr marL="45000" marR="45000" marT="12000" marB="12000" anchor="ctr">
                    <a:solidFill>
                      <a:srgbClr val="F7F9F9"/>
                    </a:solidFill>
                  </a:tcPr>
                </a:tc>
                <a:tc>
                  <a:txBody>
                    <a:bodyPr/>
                    <a:lstStyle/>
                    <a:p>
                      <a:pPr algn="ctr"/>
                      <a:r>
                        <a:rPr sz="800" b="1">
                          <a:solidFill>
                            <a:srgbClr val="13807B"/>
                          </a:solidFill>
                          <a:latin typeface="Calibri"/>
                        </a:rPr>
                        <a:t>Concluyente</a:t>
                      </a:r>
                    </a:p>
                  </a:txBody>
                  <a:tcPr marL="45000" marR="45000" marT="12000" marB="12000" anchor="ctr">
                    <a:solidFill>
                      <a:srgbClr val="F7F9F9"/>
                    </a:solidFill>
                  </a:tcPr>
                </a:tc>
                <a:extLst>
                  <a:ext uri="{0D108BD9-81ED-4DB2-BD59-A6C34878D82A}">
                    <a16:rowId xmlns:a16="http://schemas.microsoft.com/office/drawing/2014/main" val="10016"/>
                  </a:ext>
                </a:extLst>
              </a:tr>
              <a:tr h="210000">
                <a:tc>
                  <a:txBody>
                    <a:bodyPr/>
                    <a:lstStyle/>
                    <a:p>
                      <a:pPr algn="ctr"/>
                      <a:r>
                        <a:rPr sz="800" b="0">
                          <a:solidFill>
                            <a:srgbClr val="2F3B3A"/>
                          </a:solidFill>
                          <a:latin typeface="Calibri"/>
                        </a:rPr>
                        <a:t>Izipay</a:t>
                      </a:r>
                    </a:p>
                  </a:txBody>
                  <a:tcPr marL="45000" marR="45000" marT="12000" marB="12000" anchor="ctr">
                    <a:solidFill>
                      <a:srgbClr val="F7F9F9"/>
                    </a:solidFill>
                  </a:tcPr>
                </a:tc>
                <a:tc>
                  <a:txBody>
                    <a:bodyPr/>
                    <a:lstStyle/>
                    <a:p>
                      <a:pPr algn="ctr"/>
                      <a:r>
                        <a:rPr sz="800" b="0">
                          <a:solidFill>
                            <a:srgbClr val="2F3B3A"/>
                          </a:solidFill>
                          <a:latin typeface="Calibri"/>
                        </a:rPr>
                        <a:t>Pasivos &lt; 1K</a:t>
                      </a:r>
                    </a:p>
                  </a:txBody>
                  <a:tcPr marL="45000" marR="45000" marT="12000" marB="12000" anchor="ctr">
                    <a:solidFill>
                      <a:srgbClr val="F7F9F9"/>
                    </a:solidFill>
                  </a:tcPr>
                </a:tc>
                <a:tc>
                  <a:txBody>
                    <a:bodyPr/>
                    <a:lstStyle/>
                    <a:p>
                      <a:pPr algn="ctr"/>
                      <a:r>
                        <a:rPr sz="800" b="0">
                          <a:solidFill>
                            <a:srgbClr val="2F3B3A"/>
                          </a:solidFill>
                          <a:latin typeface="Calibri"/>
                        </a:rPr>
                        <a:t>24</a:t>
                      </a:r>
                    </a:p>
                  </a:txBody>
                  <a:tcPr marL="45000" marR="45000" marT="12000" marB="12000" anchor="ctr">
                    <a:solidFill>
                      <a:srgbClr val="F7F9F9"/>
                    </a:solidFill>
                  </a:tcPr>
                </a:tc>
                <a:tc>
                  <a:txBody>
                    <a:bodyPr/>
                    <a:lstStyle/>
                    <a:p>
                      <a:pPr algn="ctr"/>
                      <a:r>
                        <a:rPr sz="800" b="0">
                          <a:solidFill>
                            <a:srgbClr val="2F3B3A"/>
                          </a:solidFill>
                          <a:latin typeface="Calibri"/>
                        </a:rPr>
                        <a:t>13</a:t>
                      </a:r>
                    </a:p>
                  </a:txBody>
                  <a:tcPr marL="45000" marR="45000" marT="12000" marB="12000" anchor="ctr">
                    <a:solidFill>
                      <a:srgbClr val="F7F9F9"/>
                    </a:solidFill>
                  </a:tcPr>
                </a:tc>
                <a:tc>
                  <a:txBody>
                    <a:bodyPr/>
                    <a:lstStyle/>
                    <a:p>
                      <a:pPr algn="ctr"/>
                      <a:r>
                        <a:rPr sz="800" b="0">
                          <a:solidFill>
                            <a:srgbClr val="2F3B3A"/>
                          </a:solidFill>
                          <a:latin typeface="Calibri"/>
                        </a:rPr>
                        <a:t>54%</a:t>
                      </a:r>
                    </a:p>
                  </a:txBody>
                  <a:tcPr marL="45000" marR="45000" marT="12000" marB="12000" anchor="ctr">
                    <a:solidFill>
                      <a:srgbClr val="F7F9F9"/>
                    </a:solidFill>
                  </a:tcPr>
                </a:tc>
                <a:tc>
                  <a:txBody>
                    <a:bodyPr/>
                    <a:lstStyle/>
                    <a:p>
                      <a:pPr algn="ctr"/>
                      <a:r>
                        <a:rPr sz="800" b="0">
                          <a:solidFill>
                            <a:srgbClr val="2F3B3A"/>
                          </a:solidFill>
                          <a:latin typeface="Calibri"/>
                        </a:rPr>
                        <a:t>0,6%</a:t>
                      </a:r>
                    </a:p>
                  </a:txBody>
                  <a:tcPr marL="45000" marR="45000" marT="12000" marB="12000" anchor="ctr">
                    <a:solidFill>
                      <a:srgbClr val="F7F9F9"/>
                    </a:solidFill>
                  </a:tcPr>
                </a:tc>
                <a:tc>
                  <a:txBody>
                    <a:bodyPr/>
                    <a:lstStyle/>
                    <a:p>
                      <a:pPr algn="ctr"/>
                      <a:r>
                        <a:rPr sz="800" b="1">
                          <a:solidFill>
                            <a:srgbClr val="6E7E7D"/>
                          </a:solidFill>
                          <a:latin typeface="Calibri"/>
                        </a:rPr>
                        <a:t>No concluyente</a:t>
                      </a:r>
                    </a:p>
                  </a:txBody>
                  <a:tcPr marL="45000" marR="45000" marT="12000" marB="12000" anchor="ctr">
                    <a:solidFill>
                      <a:srgbClr val="F7F9F9"/>
                    </a:solidFill>
                  </a:tcPr>
                </a:tc>
                <a:extLst>
                  <a:ext uri="{0D108BD9-81ED-4DB2-BD59-A6C34878D82A}">
                    <a16:rowId xmlns:a16="http://schemas.microsoft.com/office/drawing/2014/main" val="10018"/>
                  </a:ext>
                </a:extLst>
              </a:tr>
              <a:tr h="210000">
                <a:tc>
                  <a:txBody>
                    <a:bodyPr/>
                    <a:lstStyle/>
                    <a:p>
                      <a:pPr algn="ctr"/>
                      <a:r>
                        <a:rPr sz="800" b="0">
                          <a:solidFill>
                            <a:srgbClr val="2F3B3A"/>
                          </a:solidFill>
                          <a:latin typeface="Calibri"/>
                        </a:rPr>
                        <a:t>Izipay</a:t>
                      </a:r>
                    </a:p>
                  </a:txBody>
                  <a:tcPr marL="45000" marR="45000" marT="12000" marB="12000" anchor="ctr">
                    <a:solidFill>
                      <a:srgbClr val="FFFFFF"/>
                    </a:solidFill>
                  </a:tcPr>
                </a:tc>
                <a:tc>
                  <a:txBody>
                    <a:bodyPr/>
                    <a:lstStyle/>
                    <a:p>
                      <a:pPr algn="ctr"/>
                      <a:r>
                        <a:rPr sz="800" b="0">
                          <a:solidFill>
                            <a:srgbClr val="2F3B3A"/>
                          </a:solidFill>
                          <a:latin typeface="Calibri"/>
                        </a:rPr>
                        <a:t>Pasivos 1–20K</a:t>
                      </a:r>
                    </a:p>
                  </a:txBody>
                  <a:tcPr marL="45000" marR="45000" marT="12000" marB="12000" anchor="ctr">
                    <a:solidFill>
                      <a:srgbClr val="FFFFFF"/>
                    </a:solidFill>
                  </a:tcPr>
                </a:tc>
                <a:tc>
                  <a:txBody>
                    <a:bodyPr/>
                    <a:lstStyle/>
                    <a:p>
                      <a:pPr algn="ctr"/>
                      <a:r>
                        <a:rPr sz="800" b="0">
                          <a:solidFill>
                            <a:srgbClr val="2F3B3A"/>
                          </a:solidFill>
                          <a:latin typeface="Calibri"/>
                        </a:rPr>
                        <a:t>26</a:t>
                      </a:r>
                    </a:p>
                  </a:txBody>
                  <a:tcPr marL="45000" marR="45000" marT="12000" marB="12000" anchor="ctr">
                    <a:solidFill>
                      <a:srgbClr val="FFFFFF"/>
                    </a:solidFill>
                  </a:tcPr>
                </a:tc>
                <a:tc>
                  <a:txBody>
                    <a:bodyPr/>
                    <a:lstStyle/>
                    <a:p>
                      <a:pPr algn="ctr"/>
                      <a:r>
                        <a:rPr sz="800" b="0">
                          <a:solidFill>
                            <a:srgbClr val="2F3B3A"/>
                          </a:solidFill>
                          <a:latin typeface="Calibri"/>
                        </a:rPr>
                        <a:t>12</a:t>
                      </a:r>
                    </a:p>
                  </a:txBody>
                  <a:tcPr marL="45000" marR="45000" marT="12000" marB="12000" anchor="ctr">
                    <a:solidFill>
                      <a:srgbClr val="FFFFFF"/>
                    </a:solidFill>
                  </a:tcPr>
                </a:tc>
                <a:tc>
                  <a:txBody>
                    <a:bodyPr/>
                    <a:lstStyle/>
                    <a:p>
                      <a:pPr algn="ctr"/>
                      <a:r>
                        <a:rPr sz="800" b="0">
                          <a:solidFill>
                            <a:srgbClr val="2F3B3A"/>
                          </a:solidFill>
                          <a:latin typeface="Calibri"/>
                        </a:rPr>
                        <a:t>46%</a:t>
                      </a:r>
                    </a:p>
                  </a:txBody>
                  <a:tcPr marL="45000" marR="45000" marT="12000" marB="12000" anchor="ctr">
                    <a:solidFill>
                      <a:srgbClr val="FFFFFF"/>
                    </a:solidFill>
                  </a:tcPr>
                </a:tc>
                <a:tc>
                  <a:txBody>
                    <a:bodyPr/>
                    <a:lstStyle/>
                    <a:p>
                      <a:pPr algn="ctr"/>
                      <a:r>
                        <a:rPr sz="800" b="0">
                          <a:solidFill>
                            <a:srgbClr val="2F3B3A"/>
                          </a:solidFill>
                          <a:latin typeface="Calibri"/>
                        </a:rPr>
                        <a:t>0,6%</a:t>
                      </a:r>
                    </a:p>
                  </a:txBody>
                  <a:tcPr marL="45000" marR="45000" marT="12000" marB="12000" anchor="ctr">
                    <a:solidFill>
                      <a:srgbClr val="FFFFFF"/>
                    </a:solidFill>
                  </a:tcPr>
                </a:tc>
                <a:tc>
                  <a:txBody>
                    <a:bodyPr/>
                    <a:lstStyle/>
                    <a:p>
                      <a:pPr algn="ctr"/>
                      <a:r>
                        <a:rPr sz="800" b="1">
                          <a:solidFill>
                            <a:srgbClr val="6E7E7D"/>
                          </a:solidFill>
                          <a:latin typeface="Calibri"/>
                        </a:rPr>
                        <a:t>No concluyente</a:t>
                      </a:r>
                    </a:p>
                  </a:txBody>
                  <a:tcPr marL="45000" marR="45000" marT="12000" marB="12000" anchor="ctr">
                    <a:solidFill>
                      <a:srgbClr val="FFFFFF"/>
                    </a:solidFill>
                  </a:tcPr>
                </a:tc>
                <a:extLst>
                  <a:ext uri="{0D108BD9-81ED-4DB2-BD59-A6C34878D82A}">
                    <a16:rowId xmlns:a16="http://schemas.microsoft.com/office/drawing/2014/main" val="10017"/>
                  </a:ext>
                </a:extLst>
              </a:tr>
              <a:tr h="210000">
                <a:tc>
                  <a:txBody>
                    <a:bodyPr/>
                    <a:lstStyle/>
                    <a:p>
                      <a:pPr algn="ctr"/>
                      <a:r>
                        <a:rPr sz="800" b="1">
                          <a:solidFill>
                            <a:srgbClr val="2F3B3A"/>
                          </a:solidFill>
                          <a:latin typeface="Calibri"/>
                        </a:rPr>
                        <a:t>Concluyentes</a:t>
                      </a:r>
                    </a:p>
                  </a:txBody>
                  <a:tcPr marL="45000" marR="45000" marT="12000" marB="12000" anchor="ctr">
                    <a:solidFill>
                      <a:srgbClr val="E8EEEE"/>
                    </a:solidFill>
                  </a:tcPr>
                </a:tc>
                <a:tc>
                  <a:txBody>
                    <a:bodyPr/>
                    <a:lstStyle/>
                    <a:p>
                      <a:pPr algn="ctr"/>
                      <a:r>
                        <a:rPr sz="800" b="0">
                          <a:solidFill>
                            <a:srgbClr val="2F3B3A"/>
                          </a:solidFill>
                          <a:latin typeface="Calibri"/>
                        </a:rPr>
                        <a:t> </a:t>
                      </a:r>
                    </a:p>
                  </a:txBody>
                  <a:tcPr marL="45000" marR="45000" marT="12000" marB="12000" anchor="ctr">
                    <a:solidFill>
                      <a:srgbClr val="E8EEEE"/>
                    </a:solidFill>
                  </a:tcPr>
                </a:tc>
                <a:tc>
                  <a:txBody>
                    <a:bodyPr/>
                    <a:lstStyle/>
                    <a:p>
                      <a:pPr algn="ctr"/>
                      <a:r>
                        <a:rPr sz="800" b="1">
                          <a:solidFill>
                            <a:srgbClr val="2F3B3A"/>
                          </a:solidFill>
                          <a:latin typeface="Calibri"/>
                        </a:rPr>
                        <a:t>2.052</a:t>
                      </a:r>
                    </a:p>
                  </a:txBody>
                  <a:tcPr marL="45000" marR="45000" marT="12000" marB="12000" anchor="ctr">
                    <a:solidFill>
                      <a:srgbClr val="E8EEEE"/>
                    </a:solidFill>
                  </a:tcPr>
                </a:tc>
                <a:tc>
                  <a:txBody>
                    <a:bodyPr/>
                    <a:lstStyle/>
                    <a:p>
                      <a:pPr algn="ctr"/>
                      <a:r>
                        <a:rPr sz="800" b="1">
                          <a:solidFill>
                            <a:srgbClr val="2F3B3A"/>
                          </a:solidFill>
                          <a:latin typeface="Calibri"/>
                        </a:rPr>
                        <a:t>1.114</a:t>
                      </a:r>
                    </a:p>
                  </a:txBody>
                  <a:tcPr marL="45000" marR="45000" marT="12000" marB="12000" anchor="ctr">
                    <a:solidFill>
                      <a:srgbClr val="E8EEEE"/>
                    </a:solidFill>
                  </a:tcPr>
                </a:tc>
                <a:tc>
                  <a:txBody>
                    <a:bodyPr/>
                    <a:lstStyle/>
                    <a:p>
                      <a:pPr algn="ctr"/>
                      <a:r>
                        <a:rPr sz="800" b="1">
                          <a:solidFill>
                            <a:srgbClr val="2F3B3A"/>
                          </a:solidFill>
                          <a:latin typeface="Calibri"/>
                        </a:rPr>
                        <a:t>54%</a:t>
                      </a:r>
                    </a:p>
                  </a:txBody>
                  <a:tcPr marL="45000" marR="45000" marT="12000" marB="12000" anchor="ctr">
                    <a:solidFill>
                      <a:srgbClr val="E8EEEE"/>
                    </a:solidFill>
                  </a:tcPr>
                </a:tc>
                <a:tc>
                  <a:txBody>
                    <a:bodyPr/>
                    <a:lstStyle/>
                    <a:p>
                      <a:pPr algn="ctr"/>
                      <a:r>
                        <a:rPr sz="800" b="1">
                          <a:solidFill>
                            <a:srgbClr val="2F3B3A"/>
                          </a:solidFill>
                          <a:latin typeface="Calibri"/>
                        </a:rPr>
                        <a:t>52%</a:t>
                      </a:r>
                    </a:p>
                  </a:txBody>
                  <a:tcPr marL="45000" marR="45000" marT="12000" marB="12000" anchor="ctr">
                    <a:solidFill>
                      <a:srgbClr val="E8EEEE"/>
                    </a:solidFill>
                  </a:tcPr>
                </a:tc>
                <a:tc>
                  <a:txBody>
                    <a:bodyPr/>
                    <a:lstStyle/>
                    <a:p>
                      <a:pPr algn="ctr"/>
                      <a:r>
                        <a:rPr sz="800" b="0">
                          <a:solidFill>
                            <a:srgbClr val="6E7E7D"/>
                          </a:solidFill>
                          <a:latin typeface="Calibri"/>
                        </a:rPr>
                        <a:t>Usadas en insights</a:t>
                      </a:r>
                    </a:p>
                  </a:txBody>
                  <a:tcPr marL="45000" marR="45000" marT="12000" marB="12000" anchor="ctr">
                    <a:solidFill>
                      <a:srgbClr val="E8EEEE"/>
                    </a:solidFill>
                  </a:tcPr>
                </a:tc>
                <a:extLst>
                  <a:ext uri="{0D108BD9-81ED-4DB2-BD59-A6C34878D82A}">
                    <a16:rowId xmlns:a16="http://schemas.microsoft.com/office/drawing/2014/main" val="10019"/>
                  </a:ext>
                </a:extLst>
              </a:tr>
              <a:tr h="210000">
                <a:tc>
                  <a:txBody>
                    <a:bodyPr/>
                    <a:lstStyle/>
                    <a:p>
                      <a:pPr algn="ctr"/>
                      <a:r>
                        <a:rPr sz="800" b="1">
                          <a:solidFill>
                            <a:srgbClr val="2F3B3A"/>
                          </a:solidFill>
                          <a:latin typeface="Calibri"/>
                        </a:rPr>
                        <a:t>Con materialidad (concluyentes + indicativas)</a:t>
                      </a:r>
                    </a:p>
                  </a:txBody>
                  <a:tcPr marL="45000" marR="45000" marT="12000" marB="12000" anchor="ctr">
                    <a:solidFill>
                      <a:srgbClr val="E8EEEE"/>
                    </a:solidFill>
                  </a:tcPr>
                </a:tc>
                <a:tc>
                  <a:txBody>
                    <a:bodyPr/>
                    <a:lstStyle/>
                    <a:p>
                      <a:pPr algn="ctr"/>
                      <a:r>
                        <a:rPr sz="800" b="0">
                          <a:solidFill>
                            <a:srgbClr val="2F3B3A"/>
                          </a:solidFill>
                          <a:latin typeface="Calibri"/>
                        </a:rPr>
                        <a:t> </a:t>
                      </a:r>
                    </a:p>
                  </a:txBody>
                  <a:tcPr marL="45000" marR="45000" marT="12000" marB="12000" anchor="ctr">
                    <a:solidFill>
                      <a:srgbClr val="E8EEEE"/>
                    </a:solidFill>
                  </a:tcPr>
                </a:tc>
                <a:tc>
                  <a:txBody>
                    <a:bodyPr/>
                    <a:lstStyle/>
                    <a:p>
                      <a:pPr algn="ctr"/>
                      <a:r>
                        <a:rPr sz="800" b="1">
                          <a:solidFill>
                            <a:srgbClr val="2F3B3A"/>
                          </a:solidFill>
                          <a:latin typeface="Calibri"/>
                        </a:rPr>
                        <a:t>2.052</a:t>
                      </a:r>
                    </a:p>
                  </a:txBody>
                  <a:tcPr marL="45000" marR="45000" marT="12000" marB="12000" anchor="ctr">
                    <a:solidFill>
                      <a:srgbClr val="E8EEEE"/>
                    </a:solidFill>
                  </a:tcPr>
                </a:tc>
                <a:tc>
                  <a:txBody>
                    <a:bodyPr/>
                    <a:lstStyle/>
                    <a:p>
                      <a:pPr algn="ctr"/>
                      <a:r>
                        <a:rPr sz="800" b="1">
                          <a:solidFill>
                            <a:srgbClr val="2F3B3A"/>
                          </a:solidFill>
                          <a:latin typeface="Calibri"/>
                        </a:rPr>
                        <a:t>1.114</a:t>
                      </a:r>
                    </a:p>
                  </a:txBody>
                  <a:tcPr marL="45000" marR="45000" marT="12000" marB="12000" anchor="ctr">
                    <a:solidFill>
                      <a:srgbClr val="E8EEEE"/>
                    </a:solidFill>
                  </a:tcPr>
                </a:tc>
                <a:tc>
                  <a:txBody>
                    <a:bodyPr/>
                    <a:lstStyle/>
                    <a:p>
                      <a:pPr algn="ctr"/>
                      <a:r>
                        <a:rPr sz="800" b="1">
                          <a:solidFill>
                            <a:srgbClr val="2F3B3A"/>
                          </a:solidFill>
                          <a:latin typeface="Calibri"/>
                        </a:rPr>
                        <a:t>54%</a:t>
                      </a:r>
                    </a:p>
                  </a:txBody>
                  <a:tcPr marL="45000" marR="45000" marT="12000" marB="12000" anchor="ctr">
                    <a:solidFill>
                      <a:srgbClr val="E8EEEE"/>
                    </a:solidFill>
                  </a:tcPr>
                </a:tc>
                <a:tc>
                  <a:txBody>
                    <a:bodyPr/>
                    <a:lstStyle/>
                    <a:p>
                      <a:pPr algn="ctr"/>
                      <a:r>
                        <a:rPr sz="800" b="1">
                          <a:solidFill>
                            <a:srgbClr val="2F3B3A"/>
                          </a:solidFill>
                          <a:latin typeface="Calibri"/>
                        </a:rPr>
                        <a:t>52%</a:t>
                      </a:r>
                    </a:p>
                  </a:txBody>
                  <a:tcPr marL="45000" marR="45000" marT="12000" marB="12000" anchor="ctr">
                    <a:solidFill>
                      <a:srgbClr val="E8EEEE"/>
                    </a:solidFill>
                  </a:tcPr>
                </a:tc>
                <a:tc>
                  <a:txBody>
                    <a:bodyPr/>
                    <a:lstStyle/>
                    <a:p>
                      <a:pPr algn="ctr"/>
                      <a:r>
                        <a:rPr sz="800" b="0">
                          <a:solidFill>
                            <a:srgbClr val="6E7E7D"/>
                          </a:solidFill>
                          <a:latin typeface="Calibri"/>
                        </a:rPr>
                        <a:t>Base de los insights</a:t>
                      </a:r>
                    </a:p>
                  </a:txBody>
                  <a:tcPr marL="45000" marR="45000" marT="12000" marB="12000" anchor="ctr">
                    <a:solidFill>
                      <a:srgbClr val="E8EEEE"/>
                    </a:solidFill>
                  </a:tcPr>
                </a:tc>
                <a:extLst>
                  <a:ext uri="{0D108BD9-81ED-4DB2-BD59-A6C34878D82A}">
                    <a16:rowId xmlns:a16="http://schemas.microsoft.com/office/drawing/2014/main" val="10020"/>
                  </a:ext>
                </a:extLst>
              </a:tr>
              <a:tr h="210000">
                <a:tc>
                  <a:txBody>
                    <a:bodyPr/>
                    <a:lstStyle/>
                    <a:p>
                      <a:pPr algn="ctr"/>
                      <a:r>
                        <a:rPr sz="800" b="1">
                          <a:solidFill>
                            <a:srgbClr val="2F3B3A"/>
                          </a:solidFill>
                          <a:latin typeface="Calibri"/>
                        </a:rPr>
                        <a:t>Total 18 aperturas</a:t>
                      </a:r>
                    </a:p>
                  </a:txBody>
                  <a:tcPr marL="45000" marR="45000" marT="12000" marB="12000" anchor="ctr">
                    <a:solidFill>
                      <a:srgbClr val="E8EEEE"/>
                    </a:solidFill>
                  </a:tcPr>
                </a:tc>
                <a:tc>
                  <a:txBody>
                    <a:bodyPr/>
                    <a:lstStyle/>
                    <a:p>
                      <a:pPr algn="ctr"/>
                      <a:r>
                        <a:rPr sz="800" b="0">
                          <a:solidFill>
                            <a:srgbClr val="2F3B3A"/>
                          </a:solidFill>
                          <a:latin typeface="Calibri"/>
                        </a:rPr>
                        <a:t> </a:t>
                      </a:r>
                    </a:p>
                  </a:txBody>
                  <a:tcPr marL="45000" marR="45000" marT="12000" marB="12000" anchor="ctr">
                    <a:solidFill>
                      <a:srgbClr val="E8EEEE"/>
                    </a:solidFill>
                  </a:tcPr>
                </a:tc>
                <a:tc>
                  <a:txBody>
                    <a:bodyPr/>
                    <a:lstStyle/>
                    <a:p>
                      <a:pPr algn="ctr"/>
                      <a:r>
                        <a:rPr sz="800" b="1">
                          <a:solidFill>
                            <a:srgbClr val="2F3B3A"/>
                          </a:solidFill>
                          <a:latin typeface="Calibri"/>
                        </a:rPr>
                        <a:t>2.349</a:t>
                      </a:r>
                    </a:p>
                  </a:txBody>
                  <a:tcPr marL="45000" marR="45000" marT="12000" marB="12000" anchor="ctr">
                    <a:solidFill>
                      <a:srgbClr val="E8EEEE"/>
                    </a:solidFill>
                  </a:tcPr>
                </a:tc>
                <a:tc>
                  <a:txBody>
                    <a:bodyPr/>
                    <a:lstStyle/>
                    <a:p>
                      <a:pPr algn="ctr"/>
                      <a:r>
                        <a:rPr sz="800" b="1">
                          <a:solidFill>
                            <a:srgbClr val="2F3B3A"/>
                          </a:solidFill>
                          <a:latin typeface="Calibri"/>
                        </a:rPr>
                        <a:t>1.268</a:t>
                      </a:r>
                    </a:p>
                  </a:txBody>
                  <a:tcPr marL="45000" marR="45000" marT="12000" marB="12000" anchor="ctr">
                    <a:solidFill>
                      <a:srgbClr val="E8EEEE"/>
                    </a:solidFill>
                  </a:tcPr>
                </a:tc>
                <a:tc>
                  <a:txBody>
                    <a:bodyPr/>
                    <a:lstStyle/>
                    <a:p>
                      <a:pPr algn="ctr"/>
                      <a:r>
                        <a:rPr sz="800" b="1">
                          <a:solidFill>
                            <a:srgbClr val="2F3B3A"/>
                          </a:solidFill>
                          <a:latin typeface="Calibri"/>
                        </a:rPr>
                        <a:t>54%</a:t>
                      </a:r>
                    </a:p>
                  </a:txBody>
                  <a:tcPr marL="45000" marR="45000" marT="12000" marB="12000" anchor="ctr">
                    <a:solidFill>
                      <a:srgbClr val="E8EEEE"/>
                    </a:solidFill>
                  </a:tcPr>
                </a:tc>
                <a:tc>
                  <a:txBody>
                    <a:bodyPr/>
                    <a:lstStyle/>
                    <a:p>
                      <a:pPr algn="ctr"/>
                      <a:r>
                        <a:rPr sz="800" b="1">
                          <a:solidFill>
                            <a:srgbClr val="2F3B3A"/>
                          </a:solidFill>
                          <a:latin typeface="Calibri"/>
                        </a:rPr>
                        <a:t>59%</a:t>
                      </a:r>
                    </a:p>
                  </a:txBody>
                  <a:tcPr marL="45000" marR="45000" marT="12000" marB="12000" anchor="ctr">
                    <a:solidFill>
                      <a:srgbClr val="E8EEEE"/>
                    </a:solidFill>
                  </a:tcPr>
                </a:tc>
                <a:tc>
                  <a:txBody>
                    <a:bodyPr/>
                    <a:lstStyle/>
                    <a:p>
                      <a:pPr algn="ctr"/>
                      <a:r>
                        <a:rPr sz="800" b="0">
                          <a:solidFill>
                            <a:srgbClr val="6E7E7D"/>
                          </a:solidFill>
                          <a:latin typeface="Calibri"/>
                        </a:rPr>
                        <a:t> </a:t>
                      </a:r>
                    </a:p>
                  </a:txBody>
                  <a:tcPr marL="45000" marR="45000" marT="12000" marB="12000" anchor="ctr">
                    <a:solidFill>
                      <a:srgbClr val="E8EEEE"/>
                    </a:solidFill>
                  </a:tcPr>
                </a:tc>
                <a:extLst>
                  <a:ext uri="{0D108BD9-81ED-4DB2-BD59-A6C34878D82A}">
                    <a16:rowId xmlns:a16="http://schemas.microsoft.com/office/drawing/2014/main" val="10021"/>
                  </a:ext>
                </a:extLst>
              </a:tr>
              <a:tr h="210000">
                <a:tc>
                  <a:txBody>
                    <a:bodyPr/>
                    <a:lstStyle/>
                    <a:p>
                      <a:pPr algn="ctr"/>
                      <a:r>
                        <a:rPr sz="800" b="1">
                          <a:solidFill>
                            <a:srgbClr val="2F3B3A"/>
                          </a:solidFill>
                          <a:latin typeface="Calibri"/>
                        </a:rPr>
                        <a:t>Total de fracasos del share relevante (abr 25–may 26)</a:t>
                      </a:r>
                    </a:p>
                  </a:txBody>
                  <a:tcPr marL="45000" marR="45000" marT="12000" marB="12000" anchor="ctr">
                    <a:solidFill>
                      <a:srgbClr val="E8EEEE"/>
                    </a:solidFill>
                  </a:tcPr>
                </a:tc>
                <a:tc>
                  <a:txBody>
                    <a:bodyPr/>
                    <a:lstStyle/>
                    <a:p>
                      <a:pPr algn="ctr"/>
                      <a:r>
                        <a:rPr sz="800" b="0">
                          <a:solidFill>
                            <a:srgbClr val="2F3B3A"/>
                          </a:solidFill>
                          <a:latin typeface="Calibri"/>
                        </a:rPr>
                        <a:t> </a:t>
                      </a:r>
                    </a:p>
                  </a:txBody>
                  <a:tcPr marL="45000" marR="45000" marT="12000" marB="12000" anchor="ctr">
                    <a:solidFill>
                      <a:srgbClr val="E8EEEE"/>
                    </a:solidFill>
                  </a:tcPr>
                </a:tc>
                <a:tc>
                  <a:txBody>
                    <a:bodyPr/>
                    <a:lstStyle/>
                    <a:p>
                      <a:pPr algn="ctr"/>
                      <a:r>
                        <a:rPr sz="800" b="1">
                          <a:solidFill>
                            <a:srgbClr val="2F3B3A"/>
                          </a:solidFill>
                          <a:latin typeface="Calibri"/>
                        </a:rPr>
                        <a:t>3.969</a:t>
                      </a:r>
                    </a:p>
                  </a:txBody>
                  <a:tcPr marL="45000" marR="45000" marT="12000" marB="12000" anchor="ctr">
                    <a:solidFill>
                      <a:srgbClr val="E8EEEE"/>
                    </a:solidFill>
                  </a:tcPr>
                </a:tc>
                <a:tc>
                  <a:txBody>
                    <a:bodyPr/>
                    <a:lstStyle/>
                    <a:p>
                      <a:pPr algn="ctr"/>
                      <a:r>
                        <a:rPr sz="800" b="1">
                          <a:solidFill>
                            <a:srgbClr val="2F3B3A"/>
                          </a:solidFill>
                          <a:latin typeface="Calibri"/>
                        </a:rPr>
                        <a:t>2.154</a:t>
                      </a:r>
                    </a:p>
                  </a:txBody>
                  <a:tcPr marL="45000" marR="45000" marT="12000" marB="12000" anchor="ctr">
                    <a:solidFill>
                      <a:srgbClr val="E8EEEE"/>
                    </a:solidFill>
                  </a:tcPr>
                </a:tc>
                <a:tc>
                  <a:txBody>
                    <a:bodyPr/>
                    <a:lstStyle/>
                    <a:p>
                      <a:pPr algn="ctr"/>
                      <a:r>
                        <a:rPr sz="800" b="1">
                          <a:solidFill>
                            <a:srgbClr val="2F3B3A"/>
                          </a:solidFill>
                          <a:latin typeface="Calibri"/>
                        </a:rPr>
                        <a:t>54%</a:t>
                      </a:r>
                    </a:p>
                  </a:txBody>
                  <a:tcPr marL="45000" marR="45000" marT="12000" marB="12000" anchor="ctr">
                    <a:solidFill>
                      <a:srgbClr val="E8EEEE"/>
                    </a:solidFill>
                  </a:tcPr>
                </a:tc>
                <a:tc>
                  <a:txBody>
                    <a:bodyPr/>
                    <a:lstStyle/>
                    <a:p>
                      <a:pPr algn="ctr"/>
                      <a:r>
                        <a:rPr sz="800" b="1">
                          <a:solidFill>
                            <a:srgbClr val="2F3B3A"/>
                          </a:solidFill>
                          <a:latin typeface="Calibri"/>
                        </a:rPr>
                        <a:t>100%</a:t>
                      </a:r>
                    </a:p>
                  </a:txBody>
                  <a:tcPr marL="45000" marR="45000" marT="12000" marB="12000" anchor="ctr">
                    <a:solidFill>
                      <a:srgbClr val="E8EEEE"/>
                    </a:solidFill>
                  </a:tcPr>
                </a:tc>
                <a:tc>
                  <a:txBody>
                    <a:bodyPr/>
                    <a:lstStyle/>
                    <a:p>
                      <a:pPr algn="ctr"/>
                      <a:r>
                        <a:rPr sz="800" b="0">
                          <a:solidFill>
                            <a:srgbClr val="6E7E7D"/>
                          </a:solidFill>
                          <a:latin typeface="Calibri"/>
                        </a:rPr>
                        <a:t> </a:t>
                      </a:r>
                    </a:p>
                  </a:txBody>
                  <a:tcPr marL="45000" marR="45000" marT="12000" marB="12000" anchor="ctr">
                    <a:solidFill>
                      <a:srgbClr val="E8EEEE"/>
                    </a:solidFill>
                  </a:tcPr>
                </a:tc>
                <a:extLst>
                  <a:ext uri="{0D108BD9-81ED-4DB2-BD59-A6C34878D82A}">
                    <a16:rowId xmlns:a16="http://schemas.microsoft.com/office/drawing/2014/main" val="10022"/>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93777" y="246888"/>
            <a:ext cx="8963570" cy="123111"/>
          </a:xfrm>
          <a:prstGeom prst="rect">
            <a:avLst/>
          </a:prstGeom>
          <a:noFill/>
        </p:spPr>
        <p:txBody>
          <a:bodyPr wrap="square" lIns="0" tIns="0" rIns="0" bIns="0" anchor="t">
            <a:spAutoFit/>
          </a:bodyPr>
          <a:lstStyle/>
          <a:p>
            <a:pPr algn="l"/>
            <a:r>
              <a:rPr sz="800" b="1" dirty="0">
                <a:solidFill>
                  <a:srgbClr val="6E7E7D"/>
                </a:solidFill>
                <a:latin typeface="Calibri"/>
              </a:rPr>
              <a:t>SHARE RELEVANTE Y TASA POR APERTURAS · QUÉ ESTAMOS ANALIZANDO </a:t>
            </a:r>
          </a:p>
        </p:txBody>
      </p:sp>
      <p:sp>
        <p:nvSpPr>
          <p:cNvPr id="3" name="TextBox 2"/>
          <p:cNvSpPr txBox="1"/>
          <p:nvPr/>
        </p:nvSpPr>
        <p:spPr>
          <a:xfrm>
            <a:off x="493776" y="425196"/>
            <a:ext cx="10312923" cy="482568"/>
          </a:xfrm>
          <a:prstGeom prst="rect">
            <a:avLst/>
          </a:prstGeom>
          <a:noFill/>
        </p:spPr>
        <p:txBody>
          <a:bodyPr wrap="square" lIns="0" tIns="0" rIns="0" bIns="0" anchor="t">
            <a:spAutoFit/>
          </a:bodyPr>
          <a:lstStyle/>
          <a:p>
            <a:pPr algn="l"/>
            <a:r>
              <a:rPr sz="1600" b="1">
                <a:solidFill>
                  <a:srgbClr val="13807B"/>
                </a:solidFill>
                <a:latin typeface="Poppins"/>
              </a:rPr>
              <a:t>Analizamos 9 segmentos abiertos en 2 tramos: con materialidad de la competencia concluimos con su tasa y sin ella revisamos la negociación</a:t>
            </a:r>
          </a:p>
        </p:txBody>
      </p:sp>
      <p:cxnSp>
        <p:nvCxnSpPr>
          <p:cNvPr id="4" name="Connector 3"/>
          <p:cNvCxnSpPr/>
          <p:nvPr/>
        </p:nvCxnSpPr>
        <p:spPr>
          <a:xfrm>
            <a:off x="493776" y="1049274"/>
            <a:ext cx="11204463" cy="0"/>
          </a:xfrm>
          <a:prstGeom prst="line">
            <a:avLst/>
          </a:prstGeom>
          <a:ln w="12700">
            <a:solidFill>
              <a:srgbClr val="D5DFDE"/>
            </a:solidFill>
          </a:ln>
        </p:spPr>
        <p:style>
          <a:lnRef idx="2">
            <a:schemeClr val="accent1"/>
          </a:lnRef>
          <a:fillRef idx="0">
            <a:schemeClr val="accent1"/>
          </a:fillRef>
          <a:effectRef idx="1">
            <a:schemeClr val="accent1"/>
          </a:effectRef>
          <a:fontRef idx="minor">
            <a:schemeClr val="tx1"/>
          </a:fontRef>
        </p:style>
      </p:cxnSp>
      <p:pic>
        <p:nvPicPr>
          <p:cNvPr id="5" name="Picture 4" descr="logo.png"/>
          <p:cNvPicPr>
            <a:picLocks noChangeAspect="1"/>
          </p:cNvPicPr>
          <p:nvPr/>
        </p:nvPicPr>
        <p:blipFill>
          <a:blip r:embed="rId3"/>
          <a:stretch>
            <a:fillRect/>
          </a:stretch>
        </p:blipFill>
        <p:spPr>
          <a:xfrm>
            <a:off x="11081186" y="82166"/>
            <a:ext cx="916962" cy="343030"/>
          </a:xfrm>
          <a:prstGeom prst="rect">
            <a:avLst/>
          </a:prstGeom>
        </p:spPr>
      </p:pic>
      <p:sp>
        <p:nvSpPr>
          <p:cNvPr id="6" name="TextBox 5"/>
          <p:cNvSpPr txBox="1"/>
          <p:nvPr/>
        </p:nvSpPr>
        <p:spPr>
          <a:xfrm>
            <a:off x="493776" y="1150000"/>
            <a:ext cx="6300000" cy="220000"/>
          </a:xfrm>
          <a:prstGeom prst="rect">
            <a:avLst/>
          </a:prstGeom>
          <a:noFill/>
        </p:spPr>
        <p:txBody>
          <a:bodyPr wrap="square" lIns="0" tIns="0" rIns="0" bIns="0" anchor="t">
            <a:spAutoFit/>
          </a:bodyPr>
          <a:lstStyle/>
          <a:p>
            <a:pPr algn="l"/>
            <a:r>
              <a:rPr sz="1000" b="1">
                <a:solidFill>
                  <a:srgbClr val="2F3B3A"/>
                </a:solidFill>
                <a:latin typeface="Calibri"/>
              </a:rPr>
              <a:t>18 aperturas: 9 segmentos abiertos por la variable que mejor separa su share</a:t>
            </a:r>
            <a:r>
              <a:rPr sz="900" b="1">
                <a:solidFill>
                  <a:srgbClr val="13807B"/>
                </a:solidFill>
                <a:latin typeface="Calibri"/>
              </a:rPr>
              <a:t>  ·  materialidad abr 25–may 26</a:t>
            </a:r>
          </a:p>
        </p:txBody>
      </p:sp>
      <p:graphicFrame>
        <p:nvGraphicFramePr>
          <p:cNvPr id="7" name="Table 6"/>
          <p:cNvGraphicFramePr>
            <a:graphicFrameLocks noGrp="1"/>
          </p:cNvGraphicFramePr>
          <p:nvPr/>
        </p:nvGraphicFramePr>
        <p:xfrm>
          <a:off x="493776" y="1420000"/>
          <a:ext cx="6300000" cy="3300000"/>
        </p:xfrm>
        <a:graphic>
          <a:graphicData uri="http://schemas.openxmlformats.org/drawingml/2006/table">
            <a:tbl>
              <a:tblPr>
                <a:tableStyleId>{5C22544A-7EE6-4342-B048-85BDC9FD1C3A}</a:tableStyleId>
              </a:tblPr>
              <a:tblGrid>
                <a:gridCol w="1900000">
                  <a:extLst>
                    <a:ext uri="{9D8B030D-6E8A-4147-A177-3AD203B41FA5}">
                      <a16:colId xmlns:a16="http://schemas.microsoft.com/office/drawing/2014/main" val="20000"/>
                    </a:ext>
                  </a:extLst>
                </a:gridCol>
                <a:gridCol w="1500000">
                  <a:extLst>
                    <a:ext uri="{9D8B030D-6E8A-4147-A177-3AD203B41FA5}">
                      <a16:colId xmlns:a16="http://schemas.microsoft.com/office/drawing/2014/main" val="20001"/>
                    </a:ext>
                  </a:extLst>
                </a:gridCol>
                <a:gridCol w="1450000">
                  <a:extLst>
                    <a:ext uri="{9D8B030D-6E8A-4147-A177-3AD203B41FA5}">
                      <a16:colId xmlns:a16="http://schemas.microsoft.com/office/drawing/2014/main" val="20002"/>
                    </a:ext>
                  </a:extLst>
                </a:gridCol>
                <a:gridCol w="1450000">
                  <a:extLst>
                    <a:ext uri="{9D8B030D-6E8A-4147-A177-3AD203B41FA5}">
                      <a16:colId xmlns:a16="http://schemas.microsoft.com/office/drawing/2014/main" val="20003"/>
                    </a:ext>
                  </a:extLst>
                </a:gridCol>
              </a:tblGrid>
              <a:tr h="330000">
                <a:tc>
                  <a:txBody>
                    <a:bodyPr/>
                    <a:lstStyle/>
                    <a:p>
                      <a:pPr algn="l"/>
                      <a:r>
                        <a:rPr sz="850" b="1">
                          <a:solidFill>
                            <a:srgbClr val="FFFFFF"/>
                          </a:solidFill>
                          <a:latin typeface="Calibri"/>
                        </a:rPr>
                        <a:t>Segmento</a:t>
                      </a:r>
                    </a:p>
                  </a:txBody>
                  <a:tcPr marL="45000" marR="45000" marT="12000" marB="12000" anchor="ctr">
                    <a:solidFill>
                      <a:srgbClr val="1F3A5F"/>
                    </a:solidFill>
                  </a:tcPr>
                </a:tc>
                <a:tc>
                  <a:txBody>
                    <a:bodyPr/>
                    <a:lstStyle/>
                    <a:p>
                      <a:pPr algn="l"/>
                      <a:r>
                        <a:rPr sz="850" b="1">
                          <a:solidFill>
                            <a:srgbClr val="FFFFFF"/>
                          </a:solidFill>
                          <a:latin typeface="Calibri"/>
                        </a:rPr>
                        <a:t>Variable de apertura</a:t>
                      </a:r>
                    </a:p>
                  </a:txBody>
                  <a:tcPr marL="45000" marR="45000" marT="12000" marB="12000" anchor="ctr">
                    <a:solidFill>
                      <a:srgbClr val="1F3A5F"/>
                    </a:solidFill>
                  </a:tcPr>
                </a:tc>
                <a:tc>
                  <a:txBody>
                    <a:bodyPr/>
                    <a:lstStyle/>
                    <a:p>
                      <a:pPr algn="ctr"/>
                      <a:r>
                        <a:rPr sz="850" b="1">
                          <a:solidFill>
                            <a:srgbClr val="FFFFFF"/>
                          </a:solidFill>
                          <a:latin typeface="Calibri"/>
                        </a:rPr>
                        <a:t>Tramo 1</a:t>
                      </a:r>
                    </a:p>
                  </a:txBody>
                  <a:tcPr marL="45000" marR="45000" marT="12000" marB="12000" anchor="ctr">
                    <a:solidFill>
                      <a:srgbClr val="1F3A5F"/>
                    </a:solidFill>
                  </a:tcPr>
                </a:tc>
                <a:tc>
                  <a:txBody>
                    <a:bodyPr/>
                    <a:lstStyle/>
                    <a:p>
                      <a:pPr algn="ctr"/>
                      <a:r>
                        <a:rPr sz="850" b="1">
                          <a:solidFill>
                            <a:srgbClr val="FFFFFF"/>
                          </a:solidFill>
                          <a:latin typeface="Calibri"/>
                        </a:rPr>
                        <a:t>Tramo 2</a:t>
                      </a:r>
                    </a:p>
                  </a:txBody>
                  <a:tcPr marL="45000" marR="45000" marT="12000" marB="12000" anchor="ctr">
                    <a:solidFill>
                      <a:srgbClr val="1F3A5F"/>
                    </a:solidFill>
                  </a:tcPr>
                </a:tc>
                <a:extLst>
                  <a:ext uri="{0D108BD9-81ED-4DB2-BD59-A6C34878D82A}">
                    <a16:rowId xmlns:a16="http://schemas.microsoft.com/office/drawing/2014/main" val="10000"/>
                  </a:ext>
                </a:extLst>
              </a:tr>
              <a:tr h="330000">
                <a:tc>
                  <a:txBody>
                    <a:bodyPr/>
                    <a:lstStyle/>
                    <a:p>
                      <a:pPr algn="l"/>
                      <a:r>
                        <a:rPr sz="850" b="0">
                          <a:solidFill>
                            <a:srgbClr val="2F3B3A"/>
                          </a:solidFill>
                          <a:latin typeface="Calibri"/>
                        </a:rPr>
                        <a:t>Cliente Ancla</a:t>
                      </a:r>
                    </a:p>
                  </a:txBody>
                  <a:tcPr marL="45000" marR="45000" marT="12000" marB="12000" anchor="ctr">
                    <a:solidFill>
                      <a:srgbClr val="FFFFFF"/>
                    </a:solidFill>
                  </a:tcPr>
                </a:tc>
                <a:tc>
                  <a:txBody>
                    <a:bodyPr/>
                    <a:lstStyle/>
                    <a:p>
                      <a:pPr algn="l"/>
                      <a:r>
                        <a:rPr sz="850" b="0">
                          <a:solidFill>
                            <a:srgbClr val="2F3B3A"/>
                          </a:solidFill>
                          <a:latin typeface="Calibri"/>
                        </a:rPr>
                        <a:t>Monto ofertado</a:t>
                      </a:r>
                    </a:p>
                  </a:txBody>
                  <a:tcPr marL="45000" marR="45000" marT="12000" marB="12000" anchor="ctr">
                    <a:solidFill>
                      <a:srgbClr val="FFFFFF"/>
                    </a:solidFill>
                  </a:tcPr>
                </a:tc>
                <a:tc>
                  <a:txBody>
                    <a:bodyPr/>
                    <a:lstStyle/>
                    <a:p>
                      <a:pPr algn="ctr"/>
                      <a:r>
                        <a:rPr sz="850" b="1">
                          <a:solidFill>
                            <a:srgbClr val="6E7E7D"/>
                          </a:solidFill>
                          <a:latin typeface="Calibri"/>
                        </a:rPr>
                        <a:t>≤ 170K</a:t>
                      </a:r>
                    </a:p>
                  </a:txBody>
                  <a:tcPr marL="45000" marR="45000" marT="12000" marB="12000" anchor="ctr">
                    <a:solidFill>
                      <a:srgbClr val="FFFFFF"/>
                    </a:solidFill>
                  </a:tcPr>
                </a:tc>
                <a:tc>
                  <a:txBody>
                    <a:bodyPr/>
                    <a:lstStyle/>
                    <a:p>
                      <a:pPr algn="ctr"/>
                      <a:r>
                        <a:rPr sz="850" b="1">
                          <a:solidFill>
                            <a:srgbClr val="13807B"/>
                          </a:solidFill>
                          <a:latin typeface="Calibri"/>
                        </a:rPr>
                        <a:t>&gt; 350K</a:t>
                      </a:r>
                    </a:p>
                  </a:txBody>
                  <a:tcPr marL="45000" marR="45000" marT="12000" marB="12000" anchor="ctr">
                    <a:solidFill>
                      <a:srgbClr val="FFFFFF"/>
                    </a:solidFill>
                  </a:tcPr>
                </a:tc>
                <a:extLst>
                  <a:ext uri="{0D108BD9-81ED-4DB2-BD59-A6C34878D82A}">
                    <a16:rowId xmlns:a16="http://schemas.microsoft.com/office/drawing/2014/main" val="10001"/>
                  </a:ext>
                </a:extLst>
              </a:tr>
              <a:tr h="330000">
                <a:tc>
                  <a:txBody>
                    <a:bodyPr/>
                    <a:lstStyle/>
                    <a:p>
                      <a:pPr algn="l"/>
                      <a:r>
                        <a:rPr sz="850" b="0">
                          <a:solidFill>
                            <a:srgbClr val="2F3B3A"/>
                          </a:solidFill>
                          <a:latin typeface="Calibri"/>
                        </a:rPr>
                        <a:t>Cuenta Estratégica</a:t>
                      </a:r>
                    </a:p>
                  </a:txBody>
                  <a:tcPr marL="45000" marR="45000" marT="12000" marB="12000" anchor="ctr">
                    <a:solidFill>
                      <a:srgbClr val="F7F9F9"/>
                    </a:solidFill>
                  </a:tcPr>
                </a:tc>
                <a:tc>
                  <a:txBody>
                    <a:bodyPr/>
                    <a:lstStyle/>
                    <a:p>
                      <a:pPr algn="l"/>
                      <a:r>
                        <a:rPr sz="850" b="0">
                          <a:solidFill>
                            <a:srgbClr val="2F3B3A"/>
                          </a:solidFill>
                          <a:latin typeface="Calibri"/>
                        </a:rPr>
                        <a:t>Monto ofertado</a:t>
                      </a:r>
                    </a:p>
                  </a:txBody>
                  <a:tcPr marL="45000" marR="45000" marT="12000" marB="12000" anchor="ctr">
                    <a:solidFill>
                      <a:srgbClr val="F7F9F9"/>
                    </a:solidFill>
                  </a:tcPr>
                </a:tc>
                <a:tc>
                  <a:txBody>
                    <a:bodyPr/>
                    <a:lstStyle/>
                    <a:p>
                      <a:pPr algn="ctr"/>
                      <a:r>
                        <a:rPr sz="850" b="1">
                          <a:solidFill>
                            <a:srgbClr val="6E7E7D"/>
                          </a:solidFill>
                          <a:latin typeface="Calibri"/>
                        </a:rPr>
                        <a:t>≤ 170K</a:t>
                      </a:r>
                    </a:p>
                  </a:txBody>
                  <a:tcPr marL="45000" marR="45000" marT="12000" marB="12000" anchor="ctr">
                    <a:solidFill>
                      <a:srgbClr val="F7F9F9"/>
                    </a:solidFill>
                  </a:tcPr>
                </a:tc>
                <a:tc>
                  <a:txBody>
                    <a:bodyPr/>
                    <a:lstStyle/>
                    <a:p>
                      <a:pPr algn="ctr"/>
                      <a:r>
                        <a:rPr sz="850" b="1">
                          <a:solidFill>
                            <a:srgbClr val="13807B"/>
                          </a:solidFill>
                          <a:latin typeface="Calibri"/>
                        </a:rPr>
                        <a:t>&gt; 350K</a:t>
                      </a:r>
                    </a:p>
                  </a:txBody>
                  <a:tcPr marL="45000" marR="45000" marT="12000" marB="12000" anchor="ctr">
                    <a:solidFill>
                      <a:srgbClr val="F7F9F9"/>
                    </a:solidFill>
                  </a:tcPr>
                </a:tc>
                <a:extLst>
                  <a:ext uri="{0D108BD9-81ED-4DB2-BD59-A6C34878D82A}">
                    <a16:rowId xmlns:a16="http://schemas.microsoft.com/office/drawing/2014/main" val="10002"/>
                  </a:ext>
                </a:extLst>
              </a:tr>
              <a:tr h="330000">
                <a:tc>
                  <a:txBody>
                    <a:bodyPr/>
                    <a:lstStyle/>
                    <a:p>
                      <a:pPr algn="l"/>
                      <a:r>
                        <a:rPr sz="850" b="0">
                          <a:solidFill>
                            <a:srgbClr val="2F3B3A"/>
                          </a:solidFill>
                          <a:latin typeface="Calibri"/>
                        </a:rPr>
                        <a:t>Maduro Multibanco</a:t>
                      </a:r>
                    </a:p>
                  </a:txBody>
                  <a:tcPr marL="45000" marR="45000" marT="12000" marB="12000" anchor="ctr">
                    <a:solidFill>
                      <a:srgbClr val="FFFFFF"/>
                    </a:solidFill>
                  </a:tcPr>
                </a:tc>
                <a:tc>
                  <a:txBody>
                    <a:bodyPr/>
                    <a:lstStyle/>
                    <a:p>
                      <a:pPr algn="l"/>
                      <a:r>
                        <a:rPr sz="850" b="0">
                          <a:solidFill>
                            <a:srgbClr val="2F3B3A"/>
                          </a:solidFill>
                          <a:latin typeface="Calibri"/>
                        </a:rPr>
                        <a:t>Monto ofertado</a:t>
                      </a:r>
                    </a:p>
                  </a:txBody>
                  <a:tcPr marL="45000" marR="45000" marT="12000" marB="12000" anchor="ctr">
                    <a:solidFill>
                      <a:srgbClr val="FFFFFF"/>
                    </a:solidFill>
                  </a:tcPr>
                </a:tc>
                <a:tc>
                  <a:txBody>
                    <a:bodyPr/>
                    <a:lstStyle/>
                    <a:p>
                      <a:pPr algn="ctr"/>
                      <a:r>
                        <a:rPr sz="850" b="1">
                          <a:solidFill>
                            <a:srgbClr val="13807B"/>
                          </a:solidFill>
                          <a:latin typeface="Calibri"/>
                        </a:rPr>
                        <a:t>250–350K</a:t>
                      </a:r>
                    </a:p>
                  </a:txBody>
                  <a:tcPr marL="45000" marR="45000" marT="12000" marB="12000" anchor="ctr">
                    <a:solidFill>
                      <a:srgbClr val="FFFFFF"/>
                    </a:solidFill>
                  </a:tcPr>
                </a:tc>
                <a:tc>
                  <a:txBody>
                    <a:bodyPr/>
                    <a:lstStyle/>
                    <a:p>
                      <a:pPr algn="ctr"/>
                      <a:r>
                        <a:rPr sz="850" b="1">
                          <a:solidFill>
                            <a:srgbClr val="13807B"/>
                          </a:solidFill>
                          <a:latin typeface="Calibri"/>
                        </a:rPr>
                        <a:t>&gt; 350K</a:t>
                      </a:r>
                    </a:p>
                  </a:txBody>
                  <a:tcPr marL="45000" marR="45000" marT="12000" marB="12000" anchor="ctr">
                    <a:solidFill>
                      <a:srgbClr val="FFFFFF"/>
                    </a:solidFill>
                  </a:tcPr>
                </a:tc>
                <a:extLst>
                  <a:ext uri="{0D108BD9-81ED-4DB2-BD59-A6C34878D82A}">
                    <a16:rowId xmlns:a16="http://schemas.microsoft.com/office/drawing/2014/main" val="10003"/>
                  </a:ext>
                </a:extLst>
              </a:tr>
              <a:tr h="330000">
                <a:tc>
                  <a:txBody>
                    <a:bodyPr/>
                    <a:lstStyle/>
                    <a:p>
                      <a:pPr algn="l"/>
                      <a:r>
                        <a:rPr sz="850" b="0">
                          <a:solidFill>
                            <a:srgbClr val="2F3B3A"/>
                          </a:solidFill>
                          <a:latin typeface="Calibri"/>
                        </a:rPr>
                        <a:t>Socio en Crecimiento</a:t>
                      </a:r>
                    </a:p>
                  </a:txBody>
                  <a:tcPr marL="45000" marR="45000" marT="12000" marB="12000" anchor="ctr">
                    <a:solidFill>
                      <a:srgbClr val="F7F9F9"/>
                    </a:solidFill>
                  </a:tcPr>
                </a:tc>
                <a:tc>
                  <a:txBody>
                    <a:bodyPr/>
                    <a:lstStyle/>
                    <a:p>
                      <a:pPr algn="l"/>
                      <a:r>
                        <a:rPr sz="850" b="0">
                          <a:solidFill>
                            <a:srgbClr val="2F3B3A"/>
                          </a:solidFill>
                          <a:latin typeface="Calibri"/>
                        </a:rPr>
                        <a:t>Pasivos promedio 12m</a:t>
                      </a:r>
                    </a:p>
                  </a:txBody>
                  <a:tcPr marL="45000" marR="45000" marT="12000" marB="12000" anchor="ctr">
                    <a:solidFill>
                      <a:srgbClr val="F7F9F9"/>
                    </a:solidFill>
                  </a:tcPr>
                </a:tc>
                <a:tc>
                  <a:txBody>
                    <a:bodyPr/>
                    <a:lstStyle/>
                    <a:p>
                      <a:pPr algn="ctr"/>
                      <a:r>
                        <a:rPr sz="850" b="1">
                          <a:solidFill>
                            <a:srgbClr val="13807B"/>
                          </a:solidFill>
                          <a:latin typeface="Calibri"/>
                        </a:rPr>
                        <a:t>Pasivos &lt; 1K</a:t>
                      </a:r>
                    </a:p>
                  </a:txBody>
                  <a:tcPr marL="45000" marR="45000" marT="12000" marB="12000" anchor="ctr">
                    <a:solidFill>
                      <a:srgbClr val="F7F9F9"/>
                    </a:solidFill>
                  </a:tcPr>
                </a:tc>
                <a:tc>
                  <a:txBody>
                    <a:bodyPr/>
                    <a:lstStyle/>
                    <a:p>
                      <a:pPr algn="ctr"/>
                      <a:r>
                        <a:rPr sz="850" b="1">
                          <a:solidFill>
                            <a:srgbClr val="13807B"/>
                          </a:solidFill>
                          <a:latin typeface="Calibri"/>
                        </a:rPr>
                        <a:t>Pasivos ≥ 5K</a:t>
                      </a:r>
                    </a:p>
                  </a:txBody>
                  <a:tcPr marL="45000" marR="45000" marT="12000" marB="12000" anchor="ctr">
                    <a:solidFill>
                      <a:srgbClr val="F7F9F9"/>
                    </a:solidFill>
                  </a:tcPr>
                </a:tc>
                <a:extLst>
                  <a:ext uri="{0D108BD9-81ED-4DB2-BD59-A6C34878D82A}">
                    <a16:rowId xmlns:a16="http://schemas.microsoft.com/office/drawing/2014/main" val="10004"/>
                  </a:ext>
                </a:extLst>
              </a:tr>
              <a:tr h="330000">
                <a:tc>
                  <a:txBody>
                    <a:bodyPr/>
                    <a:lstStyle/>
                    <a:p>
                      <a:pPr algn="l"/>
                      <a:r>
                        <a:rPr sz="850" b="0">
                          <a:solidFill>
                            <a:srgbClr val="2F3B3A"/>
                          </a:solidFill>
                          <a:latin typeface="Calibri"/>
                        </a:rPr>
                        <a:t>Gran Cuenta por Conquistar</a:t>
                      </a:r>
                    </a:p>
                  </a:txBody>
                  <a:tcPr marL="45000" marR="45000" marT="12000" marB="12000" anchor="ctr">
                    <a:solidFill>
                      <a:srgbClr val="FFFFFF"/>
                    </a:solidFill>
                  </a:tcPr>
                </a:tc>
                <a:tc>
                  <a:txBody>
                    <a:bodyPr/>
                    <a:lstStyle/>
                    <a:p>
                      <a:pPr algn="l"/>
                      <a:r>
                        <a:rPr sz="850" b="0">
                          <a:solidFill>
                            <a:srgbClr val="2F3B3A"/>
                          </a:solidFill>
                          <a:latin typeface="Calibri"/>
                        </a:rPr>
                        <a:t>Deuda en el SSFF 12m</a:t>
                      </a:r>
                    </a:p>
                  </a:txBody>
                  <a:tcPr marL="45000" marR="45000" marT="12000" marB="12000" anchor="ctr">
                    <a:solidFill>
                      <a:srgbClr val="FFFFFF"/>
                    </a:solidFill>
                  </a:tcPr>
                </a:tc>
                <a:tc>
                  <a:txBody>
                    <a:bodyPr/>
                    <a:lstStyle/>
                    <a:p>
                      <a:pPr algn="ctr"/>
                      <a:r>
                        <a:rPr sz="850" b="1">
                          <a:solidFill>
                            <a:srgbClr val="13807B"/>
                          </a:solidFill>
                          <a:latin typeface="Calibri"/>
                        </a:rPr>
                        <a:t>SSFF ≤ 1,5MM</a:t>
                      </a:r>
                    </a:p>
                  </a:txBody>
                  <a:tcPr marL="45000" marR="45000" marT="12000" marB="12000" anchor="ctr">
                    <a:solidFill>
                      <a:srgbClr val="FFFFFF"/>
                    </a:solidFill>
                  </a:tcPr>
                </a:tc>
                <a:tc>
                  <a:txBody>
                    <a:bodyPr/>
                    <a:lstStyle/>
                    <a:p>
                      <a:pPr algn="ctr"/>
                      <a:r>
                        <a:rPr sz="850" b="1">
                          <a:solidFill>
                            <a:srgbClr val="13807B"/>
                          </a:solidFill>
                          <a:latin typeface="Calibri"/>
                        </a:rPr>
                        <a:t>SSFF 1,5–3,8MM</a:t>
                      </a:r>
                    </a:p>
                  </a:txBody>
                  <a:tcPr marL="45000" marR="45000" marT="12000" marB="12000" anchor="ctr">
                    <a:solidFill>
                      <a:srgbClr val="FFFFFF"/>
                    </a:solidFill>
                  </a:tcPr>
                </a:tc>
                <a:extLst>
                  <a:ext uri="{0D108BD9-81ED-4DB2-BD59-A6C34878D82A}">
                    <a16:rowId xmlns:a16="http://schemas.microsoft.com/office/drawing/2014/main" val="10005"/>
                  </a:ext>
                </a:extLst>
              </a:tr>
              <a:tr h="330000">
                <a:tc>
                  <a:txBody>
                    <a:bodyPr/>
                    <a:lstStyle/>
                    <a:p>
                      <a:pPr algn="l"/>
                      <a:r>
                        <a:rPr sz="850" b="0">
                          <a:solidFill>
                            <a:srgbClr val="2F3B3A"/>
                          </a:solidFill>
                          <a:latin typeface="Calibri"/>
                        </a:rPr>
                        <a:t>Cliente por Reactivar</a:t>
                      </a:r>
                    </a:p>
                  </a:txBody>
                  <a:tcPr marL="45000" marR="45000" marT="12000" marB="12000" anchor="ctr">
                    <a:solidFill>
                      <a:srgbClr val="F7F9F9"/>
                    </a:solidFill>
                  </a:tcPr>
                </a:tc>
                <a:tc>
                  <a:txBody>
                    <a:bodyPr/>
                    <a:lstStyle/>
                    <a:p>
                      <a:pPr algn="l"/>
                      <a:r>
                        <a:rPr sz="850" b="0">
                          <a:solidFill>
                            <a:srgbClr val="2F3B3A"/>
                          </a:solidFill>
                          <a:latin typeface="Calibri"/>
                        </a:rPr>
                        <a:t>Pasivos promedio 12m</a:t>
                      </a:r>
                    </a:p>
                  </a:txBody>
                  <a:tcPr marL="45000" marR="45000" marT="12000" marB="12000" anchor="ctr">
                    <a:solidFill>
                      <a:srgbClr val="F7F9F9"/>
                    </a:solidFill>
                  </a:tcPr>
                </a:tc>
                <a:tc>
                  <a:txBody>
                    <a:bodyPr/>
                    <a:lstStyle/>
                    <a:p>
                      <a:pPr algn="ctr"/>
                      <a:r>
                        <a:rPr sz="850" b="1">
                          <a:solidFill>
                            <a:srgbClr val="13807B"/>
                          </a:solidFill>
                          <a:latin typeface="Calibri"/>
                        </a:rPr>
                        <a:t>Pasivos &lt; 1K</a:t>
                      </a:r>
                    </a:p>
                  </a:txBody>
                  <a:tcPr marL="45000" marR="45000" marT="12000" marB="12000" anchor="ctr">
                    <a:solidFill>
                      <a:srgbClr val="F7F9F9"/>
                    </a:solidFill>
                  </a:tcPr>
                </a:tc>
                <a:tc>
                  <a:txBody>
                    <a:bodyPr/>
                    <a:lstStyle/>
                    <a:p>
                      <a:pPr algn="ctr"/>
                      <a:r>
                        <a:rPr sz="850" b="1">
                          <a:solidFill>
                            <a:srgbClr val="6E7E7D"/>
                          </a:solidFill>
                          <a:latin typeface="Calibri"/>
                        </a:rPr>
                        <a:t>Pasivos ≥ 5K</a:t>
                      </a:r>
                    </a:p>
                  </a:txBody>
                  <a:tcPr marL="45000" marR="45000" marT="12000" marB="12000" anchor="ctr">
                    <a:solidFill>
                      <a:srgbClr val="F7F9F9"/>
                    </a:solidFill>
                  </a:tcPr>
                </a:tc>
                <a:extLst>
                  <a:ext uri="{0D108BD9-81ED-4DB2-BD59-A6C34878D82A}">
                    <a16:rowId xmlns:a16="http://schemas.microsoft.com/office/drawing/2014/main" val="10006"/>
                  </a:ext>
                </a:extLst>
              </a:tr>
              <a:tr h="330000">
                <a:tc>
                  <a:txBody>
                    <a:bodyPr/>
                    <a:lstStyle/>
                    <a:p>
                      <a:pPr algn="l"/>
                      <a:r>
                        <a:rPr sz="850" b="0">
                          <a:solidFill>
                            <a:srgbClr val="2F3B3A"/>
                          </a:solidFill>
                          <a:latin typeface="Calibri"/>
                        </a:rPr>
                        <a:t>Próximo Recurrente</a:t>
                      </a:r>
                    </a:p>
                  </a:txBody>
                  <a:tcPr marL="45000" marR="45000" marT="12000" marB="12000" anchor="ctr">
                    <a:solidFill>
                      <a:srgbClr val="FFFFFF"/>
                    </a:solidFill>
                  </a:tcPr>
                </a:tc>
                <a:tc>
                  <a:txBody>
                    <a:bodyPr/>
                    <a:lstStyle/>
                    <a:p>
                      <a:pPr algn="l"/>
                      <a:r>
                        <a:rPr sz="850" b="0">
                          <a:solidFill>
                            <a:srgbClr val="2F3B3A"/>
                          </a:solidFill>
                          <a:latin typeface="Calibri"/>
                        </a:rPr>
                        <a:t>Monto ofertado</a:t>
                      </a:r>
                    </a:p>
                  </a:txBody>
                  <a:tcPr marL="45000" marR="45000" marT="12000" marB="12000" anchor="ctr">
                    <a:solidFill>
                      <a:srgbClr val="FFFFFF"/>
                    </a:solidFill>
                  </a:tcPr>
                </a:tc>
                <a:tc>
                  <a:txBody>
                    <a:bodyPr/>
                    <a:lstStyle/>
                    <a:p>
                      <a:pPr algn="ctr"/>
                      <a:r>
                        <a:rPr sz="850" b="1">
                          <a:solidFill>
                            <a:srgbClr val="6E7E7D"/>
                          </a:solidFill>
                          <a:latin typeface="Calibri"/>
                        </a:rPr>
                        <a:t>≤ 170K</a:t>
                      </a:r>
                    </a:p>
                  </a:txBody>
                  <a:tcPr marL="45000" marR="45000" marT="12000" marB="12000" anchor="ctr">
                    <a:solidFill>
                      <a:srgbClr val="FFFFFF"/>
                    </a:solidFill>
                  </a:tcPr>
                </a:tc>
                <a:tc>
                  <a:txBody>
                    <a:bodyPr/>
                    <a:lstStyle/>
                    <a:p>
                      <a:pPr algn="ctr"/>
                      <a:r>
                        <a:rPr sz="850" b="1">
                          <a:solidFill>
                            <a:srgbClr val="6E7E7D"/>
                          </a:solidFill>
                          <a:latin typeface="Calibri"/>
                        </a:rPr>
                        <a:t>&gt; 250K</a:t>
                      </a:r>
                    </a:p>
                  </a:txBody>
                  <a:tcPr marL="45000" marR="45000" marT="12000" marB="12000" anchor="ctr">
                    <a:solidFill>
                      <a:srgbClr val="FFFFFF"/>
                    </a:solidFill>
                  </a:tcPr>
                </a:tc>
                <a:extLst>
                  <a:ext uri="{0D108BD9-81ED-4DB2-BD59-A6C34878D82A}">
                    <a16:rowId xmlns:a16="http://schemas.microsoft.com/office/drawing/2014/main" val="10007"/>
                  </a:ext>
                </a:extLst>
              </a:tr>
              <a:tr h="330000">
                <a:tc>
                  <a:txBody>
                    <a:bodyPr/>
                    <a:lstStyle/>
                    <a:p>
                      <a:pPr algn="l"/>
                      <a:r>
                        <a:rPr sz="850" b="0">
                          <a:solidFill>
                            <a:srgbClr val="2F3B3A"/>
                          </a:solidFill>
                          <a:latin typeface="Calibri"/>
                        </a:rPr>
                        <a:t>Nuevo en Expansión</a:t>
                      </a:r>
                    </a:p>
                  </a:txBody>
                  <a:tcPr marL="45000" marR="45000" marT="12000" marB="12000" anchor="ctr">
                    <a:solidFill>
                      <a:srgbClr val="F7F9F9"/>
                    </a:solidFill>
                  </a:tcPr>
                </a:tc>
                <a:tc>
                  <a:txBody>
                    <a:bodyPr/>
                    <a:lstStyle/>
                    <a:p>
                      <a:pPr algn="l"/>
                      <a:r>
                        <a:rPr sz="850" b="0">
                          <a:solidFill>
                            <a:srgbClr val="2F3B3A"/>
                          </a:solidFill>
                          <a:latin typeface="Calibri"/>
                        </a:rPr>
                        <a:t>Monto ofertado</a:t>
                      </a:r>
                    </a:p>
                  </a:txBody>
                  <a:tcPr marL="45000" marR="45000" marT="12000" marB="12000" anchor="ctr">
                    <a:solidFill>
                      <a:srgbClr val="F7F9F9"/>
                    </a:solidFill>
                  </a:tcPr>
                </a:tc>
                <a:tc>
                  <a:txBody>
                    <a:bodyPr/>
                    <a:lstStyle/>
                    <a:p>
                      <a:pPr algn="ctr"/>
                      <a:r>
                        <a:rPr sz="850" b="1">
                          <a:solidFill>
                            <a:srgbClr val="6E7E7D"/>
                          </a:solidFill>
                          <a:latin typeface="Calibri"/>
                        </a:rPr>
                        <a:t>≤ 170K</a:t>
                      </a:r>
                    </a:p>
                  </a:txBody>
                  <a:tcPr marL="45000" marR="45000" marT="12000" marB="12000" anchor="ctr">
                    <a:solidFill>
                      <a:srgbClr val="F7F9F9"/>
                    </a:solidFill>
                  </a:tcPr>
                </a:tc>
                <a:tc>
                  <a:txBody>
                    <a:bodyPr/>
                    <a:lstStyle/>
                    <a:p>
                      <a:pPr algn="ctr"/>
                      <a:r>
                        <a:rPr sz="850" b="1">
                          <a:solidFill>
                            <a:srgbClr val="13807B"/>
                          </a:solidFill>
                          <a:latin typeface="Calibri"/>
                        </a:rPr>
                        <a:t>&gt; 250K</a:t>
                      </a:r>
                    </a:p>
                  </a:txBody>
                  <a:tcPr marL="45000" marR="45000" marT="12000" marB="12000" anchor="ctr">
                    <a:solidFill>
                      <a:srgbClr val="F7F9F9"/>
                    </a:solidFill>
                  </a:tcPr>
                </a:tc>
                <a:extLst>
                  <a:ext uri="{0D108BD9-81ED-4DB2-BD59-A6C34878D82A}">
                    <a16:rowId xmlns:a16="http://schemas.microsoft.com/office/drawing/2014/main" val="10008"/>
                  </a:ext>
                </a:extLst>
              </a:tr>
              <a:tr h="330000">
                <a:tc>
                  <a:txBody>
                    <a:bodyPr/>
                    <a:lstStyle/>
                    <a:p>
                      <a:pPr algn="l"/>
                      <a:r>
                        <a:rPr sz="850" b="0">
                          <a:solidFill>
                            <a:srgbClr val="2F3B3A"/>
                          </a:solidFill>
                          <a:latin typeface="Calibri"/>
                        </a:rPr>
                        <a:t>Emprendedor Izipay</a:t>
                      </a:r>
                    </a:p>
                  </a:txBody>
                  <a:tcPr marL="45000" marR="45000" marT="12000" marB="12000" anchor="ctr">
                    <a:solidFill>
                      <a:srgbClr val="FFFFFF"/>
                    </a:solidFill>
                  </a:tcPr>
                </a:tc>
                <a:tc>
                  <a:txBody>
                    <a:bodyPr/>
                    <a:lstStyle/>
                    <a:p>
                      <a:pPr algn="l"/>
                      <a:r>
                        <a:rPr sz="850" b="0">
                          <a:solidFill>
                            <a:srgbClr val="2F3B3A"/>
                          </a:solidFill>
                          <a:latin typeface="Calibri"/>
                        </a:rPr>
                        <a:t>Pasivos promedio 12m</a:t>
                      </a:r>
                    </a:p>
                  </a:txBody>
                  <a:tcPr marL="45000" marR="45000" marT="12000" marB="12000" anchor="ctr">
                    <a:solidFill>
                      <a:srgbClr val="FFFFFF"/>
                    </a:solidFill>
                  </a:tcPr>
                </a:tc>
                <a:tc>
                  <a:txBody>
                    <a:bodyPr/>
                    <a:lstStyle/>
                    <a:p>
                      <a:pPr algn="ctr"/>
                      <a:r>
                        <a:rPr sz="850" b="1">
                          <a:solidFill>
                            <a:srgbClr val="6E7E7D"/>
                          </a:solidFill>
                          <a:latin typeface="Calibri"/>
                        </a:rPr>
                        <a:t>Pasivos &lt; 1K</a:t>
                      </a:r>
                    </a:p>
                  </a:txBody>
                  <a:tcPr marL="45000" marR="45000" marT="12000" marB="12000" anchor="ctr">
                    <a:solidFill>
                      <a:srgbClr val="FFFFFF"/>
                    </a:solidFill>
                  </a:tcPr>
                </a:tc>
                <a:tc>
                  <a:txBody>
                    <a:bodyPr/>
                    <a:lstStyle/>
                    <a:p>
                      <a:pPr algn="ctr"/>
                      <a:r>
                        <a:rPr sz="850" b="1">
                          <a:solidFill>
                            <a:srgbClr val="6E7E7D"/>
                          </a:solidFill>
                          <a:latin typeface="Calibri"/>
                        </a:rPr>
                        <a:t>Pasivos 1–20K</a:t>
                      </a:r>
                    </a:p>
                  </a:txBody>
                  <a:tcPr marL="45000" marR="45000" marT="12000" marB="12000" anchor="ctr">
                    <a:solidFill>
                      <a:srgbClr val="FFFFFF"/>
                    </a:solidFill>
                  </a:tcPr>
                </a:tc>
                <a:extLst>
                  <a:ext uri="{0D108BD9-81ED-4DB2-BD59-A6C34878D82A}">
                    <a16:rowId xmlns:a16="http://schemas.microsoft.com/office/drawing/2014/main" val="10009"/>
                  </a:ext>
                </a:extLst>
              </a:tr>
            </a:tbl>
          </a:graphicData>
        </a:graphic>
      </p:graphicFrame>
      <p:sp>
        <p:nvSpPr>
          <p:cNvPr id="8" name="TextBox 7"/>
          <p:cNvSpPr txBox="1"/>
          <p:nvPr/>
        </p:nvSpPr>
        <p:spPr>
          <a:xfrm>
            <a:off x="493776" y="4780000"/>
            <a:ext cx="6300000" cy="200000"/>
          </a:xfrm>
          <a:prstGeom prst="rect">
            <a:avLst/>
          </a:prstGeom>
          <a:noFill/>
        </p:spPr>
        <p:txBody>
          <a:bodyPr wrap="square" lIns="0" tIns="0" rIns="0" bIns="0" anchor="t">
            <a:spAutoFit/>
          </a:bodyPr>
          <a:lstStyle/>
          <a:p>
            <a:pPr algn="l"/>
            <a:r>
              <a:rPr sz="900" b="1">
                <a:solidFill>
                  <a:srgbClr val="13807B"/>
                </a:solidFill>
                <a:latin typeface="Calibri"/>
              </a:rPr>
              <a:t>■ </a:t>
            </a:r>
            <a:r>
              <a:rPr sz="800" b="0">
                <a:solidFill>
                  <a:srgbClr val="6E7E7D"/>
                </a:solidFill>
                <a:latin typeface="Calibri"/>
              </a:rPr>
              <a:t>Concluyente   </a:t>
            </a:r>
            <a:r>
              <a:rPr sz="900" b="1">
                <a:solidFill>
                  <a:srgbClr val="6E7E7D"/>
                </a:solidFill>
                <a:latin typeface="Calibri"/>
              </a:rPr>
              <a:t>■ </a:t>
            </a:r>
            <a:r>
              <a:rPr sz="800" b="0">
                <a:solidFill>
                  <a:srgbClr val="6E7E7D"/>
                </a:solidFill>
                <a:latin typeface="Calibri"/>
              </a:rPr>
              <a:t>Sin materialidad de la competencia</a:t>
            </a:r>
          </a:p>
        </p:txBody>
      </p:sp>
      <p:sp>
        <p:nvSpPr>
          <p:cNvPr id="9" name="TextBox 8"/>
          <p:cNvSpPr txBox="1"/>
          <p:nvPr/>
        </p:nvSpPr>
        <p:spPr>
          <a:xfrm>
            <a:off x="7143776" y="1150000"/>
            <a:ext cx="4551400" cy="220000"/>
          </a:xfrm>
          <a:prstGeom prst="rect">
            <a:avLst/>
          </a:prstGeom>
          <a:noFill/>
        </p:spPr>
        <p:txBody>
          <a:bodyPr wrap="square" lIns="0" tIns="0" rIns="0" bIns="0" anchor="t">
            <a:spAutoFit/>
          </a:bodyPr>
          <a:lstStyle/>
          <a:p>
            <a:pPr algn="l"/>
            <a:r>
              <a:rPr sz="1000" b="1">
                <a:solidFill>
                  <a:srgbClr val="2F3B3A"/>
                </a:solidFill>
                <a:latin typeface="Calibri"/>
              </a:rPr>
              <a:t>Regla de lectura por apertura</a:t>
            </a:r>
          </a:p>
        </p:txBody>
      </p:sp>
      <p:sp>
        <p:nvSpPr>
          <p:cNvPr id="10" name="Rectangle 9"/>
          <p:cNvSpPr/>
          <p:nvPr/>
        </p:nvSpPr>
        <p:spPr>
          <a:xfrm>
            <a:off x="7143776" y="1420000"/>
            <a:ext cx="4551400" cy="650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120000" tIns="60000" rIns="120000" bIns="60000" rtlCol="0" anchor="ctr"/>
          <a:lstStyle/>
          <a:p>
            <a:pPr algn="ctr"/>
            <a:r>
              <a:rPr sz="1100" b="1">
                <a:solidFill>
                  <a:srgbClr val="FFFFFF"/>
                </a:solidFill>
                <a:latin typeface="Calibri"/>
              </a:rPr>
              <a:t>¿Hay materialidad de la tasa de la competencia?</a:t>
            </a:r>
          </a:p>
        </p:txBody>
      </p:sp>
      <p:cxnSp>
        <p:nvCxnSpPr>
          <p:cNvPr id="11" name="Connector 10"/>
          <p:cNvCxnSpPr/>
          <p:nvPr/>
        </p:nvCxnSpPr>
        <p:spPr>
          <a:xfrm>
            <a:off x="9419476" y="2070000"/>
            <a:ext cx="0" cy="230000"/>
          </a:xfrm>
          <a:prstGeom prst="line">
            <a:avLst/>
          </a:prstGeom>
          <a:ln w="19050">
            <a:solidFill>
              <a:srgbClr val="1F3A5F"/>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8244126" y="2300000"/>
            <a:ext cx="1175350" cy="0"/>
          </a:xfrm>
          <a:prstGeom prst="line">
            <a:avLst/>
          </a:prstGeom>
          <a:ln w="19050">
            <a:solidFill>
              <a:srgbClr val="13807B"/>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244126" y="2300000"/>
            <a:ext cx="0" cy="380000"/>
          </a:xfrm>
          <a:prstGeom prst="line">
            <a:avLst/>
          </a:prstGeom>
          <a:ln w="19050">
            <a:solidFill>
              <a:srgbClr val="13807B"/>
            </a:solidFill>
            <a:tailEnd type="triangle"/>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8304126" y="2380000"/>
            <a:ext cx="500000" cy="220000"/>
          </a:xfrm>
          <a:prstGeom prst="rect">
            <a:avLst/>
          </a:prstGeom>
          <a:noFill/>
        </p:spPr>
        <p:txBody>
          <a:bodyPr wrap="square" lIns="0" tIns="0" rIns="0" bIns="0" anchor="t">
            <a:spAutoFit/>
          </a:bodyPr>
          <a:lstStyle/>
          <a:p>
            <a:pPr algn="l"/>
            <a:r>
              <a:rPr sz="1000" b="1">
                <a:solidFill>
                  <a:srgbClr val="13807B"/>
                </a:solidFill>
                <a:latin typeface="Calibri"/>
              </a:rPr>
              <a:t>Sí</a:t>
            </a:r>
          </a:p>
        </p:txBody>
      </p:sp>
      <p:sp>
        <p:nvSpPr>
          <p:cNvPr id="15" name="Rectangle 14"/>
          <p:cNvSpPr/>
          <p:nvPr/>
        </p:nvSpPr>
        <p:spPr>
          <a:xfrm>
            <a:off x="7143776" y="2680000"/>
            <a:ext cx="2200700" cy="1500000"/>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lIns="110000" tIns="55000" rIns="110000" bIns="55000" rtlCol="0" anchor="ctr"/>
          <a:lstStyle/>
          <a:p>
            <a:pPr algn="ctr"/>
            <a:r>
              <a:rPr sz="1000" b="1">
                <a:solidFill>
                  <a:srgbClr val="FFFFFF"/>
                </a:solidFill>
                <a:latin typeface="Calibri"/>
              </a:rPr>
              <a:t>Concluimos con la tasa de la competencia</a:t>
            </a:r>
          </a:p>
          <a:p>
            <a:pPr algn="ctr">
              <a:spcBef>
                <a:spcPts val="300"/>
              </a:spcBef>
            </a:pPr>
            <a:r>
              <a:rPr sz="850" b="0">
                <a:solidFill>
                  <a:srgbClr val="FFFFFF"/>
                </a:solidFill>
                <a:latin typeface="Calibri"/>
              </a:rPr>
              <a:t>Comparamos su TEA con nuestra TEA de oferta y de desembolso</a:t>
            </a:r>
          </a:p>
        </p:txBody>
      </p:sp>
      <p:cxnSp>
        <p:nvCxnSpPr>
          <p:cNvPr id="16" name="Connector 15"/>
          <p:cNvCxnSpPr/>
          <p:nvPr/>
        </p:nvCxnSpPr>
        <p:spPr>
          <a:xfrm>
            <a:off x="9419476" y="2070000"/>
            <a:ext cx="0" cy="230000"/>
          </a:xfrm>
          <a:prstGeom prst="line">
            <a:avLst/>
          </a:prstGeom>
          <a:ln w="19050">
            <a:solidFill>
              <a:srgbClr val="1F3A5F"/>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9419476" y="2300000"/>
            <a:ext cx="1175350" cy="0"/>
          </a:xfrm>
          <a:prstGeom prst="line">
            <a:avLst/>
          </a:prstGeom>
          <a:ln w="19050">
            <a:solidFill>
              <a:srgbClr val="6E7E7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0594826" y="2300000"/>
            <a:ext cx="0" cy="380000"/>
          </a:xfrm>
          <a:prstGeom prst="line">
            <a:avLst/>
          </a:prstGeom>
          <a:ln w="19050">
            <a:solidFill>
              <a:srgbClr val="6E7E7D"/>
            </a:solidFill>
            <a:tailEnd type="triangle"/>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10654826" y="2380000"/>
            <a:ext cx="500000" cy="220000"/>
          </a:xfrm>
          <a:prstGeom prst="rect">
            <a:avLst/>
          </a:prstGeom>
          <a:noFill/>
        </p:spPr>
        <p:txBody>
          <a:bodyPr wrap="square" lIns="0" tIns="0" rIns="0" bIns="0" anchor="t">
            <a:spAutoFit/>
          </a:bodyPr>
          <a:lstStyle/>
          <a:p>
            <a:pPr algn="l"/>
            <a:r>
              <a:rPr sz="1000" b="1">
                <a:solidFill>
                  <a:srgbClr val="6E7E7D"/>
                </a:solidFill>
                <a:latin typeface="Calibri"/>
              </a:rPr>
              <a:t>No</a:t>
            </a:r>
          </a:p>
        </p:txBody>
      </p:sp>
      <p:sp>
        <p:nvSpPr>
          <p:cNvPr id="20" name="Rectangle 19"/>
          <p:cNvSpPr/>
          <p:nvPr/>
        </p:nvSpPr>
        <p:spPr>
          <a:xfrm>
            <a:off x="9494476" y="2680000"/>
            <a:ext cx="2200700" cy="1500000"/>
          </a:xfrm>
          <a:prstGeom prst="rect">
            <a:avLst/>
          </a:prstGeom>
          <a:solidFill>
            <a:srgbClr val="6E7E7D"/>
          </a:solidFill>
          <a:ln>
            <a:noFill/>
          </a:ln>
          <a:effectLst/>
        </p:spPr>
        <p:style>
          <a:lnRef idx="1">
            <a:schemeClr val="accent1"/>
          </a:lnRef>
          <a:fillRef idx="3">
            <a:schemeClr val="accent1"/>
          </a:fillRef>
          <a:effectRef idx="2">
            <a:schemeClr val="accent1"/>
          </a:effectRef>
          <a:fontRef idx="minor">
            <a:schemeClr val="lt1"/>
          </a:fontRef>
        </p:style>
        <p:txBody>
          <a:bodyPr wrap="square" lIns="110000" tIns="55000" rIns="110000" bIns="55000" rtlCol="0" anchor="ctr"/>
          <a:lstStyle/>
          <a:p>
            <a:pPr algn="ctr"/>
            <a:r>
              <a:rPr sz="1000" b="1">
                <a:solidFill>
                  <a:srgbClr val="FFFFFF"/>
                </a:solidFill>
                <a:latin typeface="Calibri"/>
              </a:rPr>
              <a:t>Revisamos la negociación</a:t>
            </a:r>
          </a:p>
          <a:p>
            <a:pPr algn="ctr">
              <a:spcBef>
                <a:spcPts val="300"/>
              </a:spcBef>
            </a:pPr>
            <a:r>
              <a:rPr sz="850" b="0">
                <a:solidFill>
                  <a:srgbClr val="FFFFFF"/>
                </a:solidFill>
                <a:latin typeface="Calibri"/>
              </a:rPr>
              <a:t>Leemos la brecha entre oferta y desembolso y cómo se mueve el share frente a ella</a:t>
            </a:r>
          </a:p>
        </p:txBody>
      </p:sp>
      <p:sp>
        <p:nvSpPr>
          <p:cNvPr id="21" name="TextBox 20"/>
          <p:cNvSpPr txBox="1"/>
          <p:nvPr/>
        </p:nvSpPr>
        <p:spPr>
          <a:xfrm>
            <a:off x="7143776" y="4350000"/>
            <a:ext cx="4551400" cy="707886"/>
          </a:xfrm>
          <a:prstGeom prst="rect">
            <a:avLst/>
          </a:prstGeom>
          <a:noFill/>
        </p:spPr>
        <p:txBody>
          <a:bodyPr wrap="square" lIns="0" tIns="0" rIns="0" bIns="0" anchor="t">
            <a:spAutoFit/>
          </a:bodyPr>
          <a:lstStyle/>
          <a:p>
            <a:pPr algn="l"/>
            <a:r>
              <a:rPr sz="900" b="1" dirty="0">
                <a:solidFill>
                  <a:srgbClr val="2F3B3A"/>
                </a:solidFill>
                <a:latin typeface="Calibri"/>
              </a:rPr>
              <a:t>En </a:t>
            </a:r>
            <a:r>
              <a:rPr sz="900" b="1" dirty="0" err="1">
                <a:solidFill>
                  <a:srgbClr val="2F3B3A"/>
                </a:solidFill>
                <a:latin typeface="Calibri"/>
              </a:rPr>
              <a:t>cada</a:t>
            </a:r>
            <a:r>
              <a:rPr sz="900" b="1" dirty="0">
                <a:solidFill>
                  <a:srgbClr val="2F3B3A"/>
                </a:solidFill>
                <a:latin typeface="Calibri"/>
              </a:rPr>
              <a:t> apertura </a:t>
            </a:r>
            <a:r>
              <a:rPr sz="900" b="1" dirty="0" err="1">
                <a:solidFill>
                  <a:srgbClr val="2F3B3A"/>
                </a:solidFill>
                <a:latin typeface="Calibri"/>
              </a:rPr>
              <a:t>leemos</a:t>
            </a:r>
            <a:endParaRPr sz="900" b="1" dirty="0">
              <a:solidFill>
                <a:srgbClr val="2F3B3A"/>
              </a:solidFill>
              <a:latin typeface="Calibri"/>
            </a:endParaRPr>
          </a:p>
          <a:p>
            <a:pPr algn="l">
              <a:spcBef>
                <a:spcPts val="400"/>
              </a:spcBef>
            </a:pPr>
            <a:r>
              <a:rPr sz="900" b="1" dirty="0">
                <a:solidFill>
                  <a:srgbClr val="13807B"/>
                </a:solidFill>
                <a:latin typeface="Calibri"/>
              </a:rPr>
              <a:t>• </a:t>
            </a:r>
            <a:r>
              <a:rPr sz="900" b="0" dirty="0">
                <a:solidFill>
                  <a:srgbClr val="2F3B3A"/>
                </a:solidFill>
                <a:latin typeface="Calibri"/>
              </a:rPr>
              <a:t>Share </a:t>
            </a:r>
            <a:r>
              <a:rPr sz="900" b="0" dirty="0" err="1">
                <a:solidFill>
                  <a:srgbClr val="2F3B3A"/>
                </a:solidFill>
                <a:latin typeface="Calibri"/>
              </a:rPr>
              <a:t>relevante</a:t>
            </a:r>
            <a:r>
              <a:rPr sz="900" b="0" dirty="0">
                <a:solidFill>
                  <a:srgbClr val="2F3B3A"/>
                </a:solidFill>
                <a:latin typeface="Calibri"/>
              </a:rPr>
              <a:t> </a:t>
            </a:r>
            <a:r>
              <a:rPr sz="900" b="0" dirty="0" err="1">
                <a:solidFill>
                  <a:srgbClr val="2F3B3A"/>
                </a:solidFill>
                <a:latin typeface="Calibri"/>
              </a:rPr>
              <a:t>por</a:t>
            </a:r>
            <a:r>
              <a:rPr sz="900" b="0" dirty="0">
                <a:solidFill>
                  <a:srgbClr val="2F3B3A"/>
                </a:solidFill>
                <a:latin typeface="Calibri"/>
              </a:rPr>
              <a:t> </a:t>
            </a:r>
            <a:r>
              <a:rPr sz="900" b="0" dirty="0" err="1">
                <a:solidFill>
                  <a:srgbClr val="2F3B3A"/>
                </a:solidFill>
                <a:latin typeface="Calibri"/>
              </a:rPr>
              <a:t>trimestre</a:t>
            </a:r>
            <a:endParaRPr sz="900" b="0" dirty="0">
              <a:solidFill>
                <a:srgbClr val="2F3B3A"/>
              </a:solidFill>
              <a:latin typeface="Calibri"/>
            </a:endParaRPr>
          </a:p>
          <a:p>
            <a:pPr algn="l">
              <a:spcBef>
                <a:spcPts val="400"/>
              </a:spcBef>
            </a:pPr>
            <a:r>
              <a:rPr sz="900" b="1" dirty="0">
                <a:solidFill>
                  <a:srgbClr val="13807B"/>
                </a:solidFill>
                <a:latin typeface="Calibri"/>
              </a:rPr>
              <a:t>• </a:t>
            </a:r>
            <a:r>
              <a:rPr sz="900" b="0" dirty="0">
                <a:solidFill>
                  <a:srgbClr val="2F3B3A"/>
                </a:solidFill>
                <a:latin typeface="Calibri"/>
              </a:rPr>
              <a:t>TEA de </a:t>
            </a:r>
            <a:r>
              <a:rPr sz="900" b="0" dirty="0" err="1">
                <a:solidFill>
                  <a:srgbClr val="2F3B3A"/>
                </a:solidFill>
                <a:latin typeface="Calibri"/>
              </a:rPr>
              <a:t>oferta</a:t>
            </a:r>
            <a:r>
              <a:rPr sz="900" b="0" dirty="0">
                <a:solidFill>
                  <a:srgbClr val="2F3B3A"/>
                </a:solidFill>
                <a:latin typeface="Calibri"/>
              </a:rPr>
              <a:t> y de </a:t>
            </a:r>
            <a:r>
              <a:rPr sz="900" b="0" dirty="0" err="1">
                <a:solidFill>
                  <a:srgbClr val="2F3B3A"/>
                </a:solidFill>
                <a:latin typeface="Calibri"/>
              </a:rPr>
              <a:t>desembolso</a:t>
            </a:r>
            <a:r>
              <a:rPr sz="900" b="0" dirty="0">
                <a:solidFill>
                  <a:srgbClr val="2F3B3A"/>
                </a:solidFill>
                <a:latin typeface="Calibri"/>
              </a:rPr>
              <a:t> </a:t>
            </a:r>
            <a:r>
              <a:rPr sz="900" b="0" dirty="0" err="1">
                <a:solidFill>
                  <a:srgbClr val="2F3B3A"/>
                </a:solidFill>
                <a:latin typeface="Calibri"/>
              </a:rPr>
              <a:t>por</a:t>
            </a:r>
            <a:r>
              <a:rPr sz="900" b="0" dirty="0">
                <a:solidFill>
                  <a:srgbClr val="2F3B3A"/>
                </a:solidFill>
                <a:latin typeface="Calibri"/>
              </a:rPr>
              <a:t> </a:t>
            </a:r>
            <a:r>
              <a:rPr sz="900" b="0" dirty="0" err="1">
                <a:solidFill>
                  <a:srgbClr val="2F3B3A"/>
                </a:solidFill>
                <a:latin typeface="Calibri"/>
              </a:rPr>
              <a:t>trimestre</a:t>
            </a:r>
            <a:r>
              <a:rPr sz="900" b="0" dirty="0">
                <a:solidFill>
                  <a:srgbClr val="2F3B3A"/>
                </a:solidFill>
                <a:latin typeface="Calibri"/>
              </a:rPr>
              <a:t>, ambas </a:t>
            </a:r>
            <a:r>
              <a:rPr sz="900" b="0" dirty="0" err="1">
                <a:solidFill>
                  <a:srgbClr val="2F3B3A"/>
                </a:solidFill>
                <a:latin typeface="Calibri"/>
              </a:rPr>
              <a:t>sobre</a:t>
            </a:r>
            <a:r>
              <a:rPr sz="900" b="0" dirty="0">
                <a:solidFill>
                  <a:srgbClr val="2F3B3A"/>
                </a:solidFill>
                <a:latin typeface="Calibri"/>
              </a:rPr>
              <a:t> </a:t>
            </a:r>
            <a:r>
              <a:rPr sz="900" b="0" dirty="0" err="1">
                <a:solidFill>
                  <a:srgbClr val="2F3B3A"/>
                </a:solidFill>
                <a:latin typeface="Calibri"/>
              </a:rPr>
              <a:t>los</a:t>
            </a:r>
            <a:r>
              <a:rPr sz="900" b="0" dirty="0">
                <a:solidFill>
                  <a:srgbClr val="2F3B3A"/>
                </a:solidFill>
                <a:latin typeface="Calibri"/>
              </a:rPr>
              <a:t> </a:t>
            </a:r>
            <a:r>
              <a:rPr sz="900" b="0" dirty="0" err="1">
                <a:solidFill>
                  <a:srgbClr val="2F3B3A"/>
                </a:solidFill>
                <a:latin typeface="Calibri"/>
              </a:rPr>
              <a:t>desembolsos</a:t>
            </a:r>
            <a:endParaRPr sz="900" b="0" dirty="0">
              <a:solidFill>
                <a:srgbClr val="2F3B3A"/>
              </a:solidFill>
              <a:latin typeface="Calibri"/>
            </a:endParaRPr>
          </a:p>
          <a:p>
            <a:pPr algn="l">
              <a:spcBef>
                <a:spcPts val="400"/>
              </a:spcBef>
            </a:pPr>
            <a:r>
              <a:rPr sz="900" b="1" dirty="0">
                <a:solidFill>
                  <a:srgbClr val="13807B"/>
                </a:solidFill>
                <a:latin typeface="Calibri"/>
              </a:rPr>
              <a:t>• </a:t>
            </a:r>
            <a:r>
              <a:rPr sz="900" b="0" dirty="0">
                <a:solidFill>
                  <a:srgbClr val="2F3B3A"/>
                </a:solidFill>
                <a:latin typeface="Calibri"/>
              </a:rPr>
              <a:t>TEA de la </a:t>
            </a:r>
            <a:r>
              <a:rPr sz="900" b="0" dirty="0" err="1">
                <a:solidFill>
                  <a:srgbClr val="2F3B3A"/>
                </a:solidFill>
                <a:latin typeface="Calibri"/>
              </a:rPr>
              <a:t>competencia</a:t>
            </a:r>
            <a:r>
              <a:rPr sz="900" b="0" dirty="0">
                <a:solidFill>
                  <a:srgbClr val="2F3B3A"/>
                </a:solidFill>
                <a:latin typeface="Calibri"/>
              </a:rPr>
              <a:t> de </a:t>
            </a:r>
            <a:r>
              <a:rPr sz="900" b="0" dirty="0" err="1">
                <a:solidFill>
                  <a:srgbClr val="2F3B3A"/>
                </a:solidFill>
                <a:latin typeface="Calibri"/>
              </a:rPr>
              <a:t>ene</a:t>
            </a:r>
            <a:r>
              <a:rPr sz="900" b="0" dirty="0">
                <a:solidFill>
                  <a:srgbClr val="2F3B3A"/>
                </a:solidFill>
                <a:latin typeface="Calibri"/>
              </a:rPr>
              <a:t>–may 2026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493777" y="246888"/>
            <a:ext cx="8963570" cy="109710"/>
          </a:xfrm>
          <a:prstGeom prst="rect">
            <a:avLst/>
          </a:prstGeom>
          <a:noFill/>
        </p:spPr>
        <p:txBody>
          <a:bodyPr wrap="square" lIns="0" tIns="0" rIns="0" bIns="0" anchor="t">
            <a:spAutoFit/>
          </a:bodyPr>
          <a:lstStyle/>
          <a:p>
            <a:pPr algn="l"/>
            <a:r>
              <a:rPr sz="800" b="1">
                <a:solidFill>
                  <a:srgbClr val="6E7E7D"/>
                </a:solidFill>
                <a:latin typeface="Calibri"/>
              </a:rPr>
              <a:t>SHARE RELEVANTE Y TASA POR APERTURAS · COBERTURA Y MATERIALIDAD · 2026</a:t>
            </a:r>
          </a:p>
        </p:txBody>
      </p:sp>
      <p:sp>
        <p:nvSpPr>
          <p:cNvPr id="3" name="TextBox 2"/>
          <p:cNvSpPr txBox="1"/>
          <p:nvPr/>
        </p:nvSpPr>
        <p:spPr>
          <a:xfrm>
            <a:off x="493776" y="425196"/>
            <a:ext cx="10312923" cy="482568"/>
          </a:xfrm>
          <a:prstGeom prst="rect">
            <a:avLst/>
          </a:prstGeom>
          <a:noFill/>
        </p:spPr>
        <p:txBody>
          <a:bodyPr wrap="square" lIns="0" tIns="0" rIns="0" bIns="0" anchor="t">
            <a:spAutoFit/>
          </a:bodyPr>
          <a:lstStyle/>
          <a:p>
            <a:pPr algn="l"/>
            <a:r>
              <a:rPr sz="1600" b="1">
                <a:solidFill>
                  <a:srgbClr val="13807B"/>
                </a:solidFill>
                <a:latin typeface="Poppins"/>
              </a:rPr>
              <a:t>Las 18 aperturas concentran 60% de las tasas inferidas de 2026 y las que tienen materialidad, 53%</a:t>
            </a:r>
          </a:p>
        </p:txBody>
      </p:sp>
      <p:cxnSp>
        <p:nvCxnSpPr>
          <p:cNvPr id="4" name="Connector 3"/>
          <p:cNvCxnSpPr/>
          <p:nvPr/>
        </p:nvCxnSpPr>
        <p:spPr>
          <a:xfrm>
            <a:off x="493776" y="1049274"/>
            <a:ext cx="11204463" cy="0"/>
          </a:xfrm>
          <a:prstGeom prst="line">
            <a:avLst/>
          </a:prstGeom>
          <a:ln w="12700">
            <a:solidFill>
              <a:srgbClr val="D5DFDE"/>
            </a:solidFill>
          </a:ln>
        </p:spPr>
        <p:style>
          <a:lnRef idx="2">
            <a:schemeClr val="accent1"/>
          </a:lnRef>
          <a:fillRef idx="0">
            <a:schemeClr val="accent1"/>
          </a:fillRef>
          <a:effectRef idx="1">
            <a:schemeClr val="accent1"/>
          </a:effectRef>
          <a:fontRef idx="minor">
            <a:schemeClr val="tx1"/>
          </a:fontRef>
        </p:style>
      </p:cxnSp>
      <p:pic>
        <p:nvPicPr>
          <p:cNvPr id="5" name="Picture 4" descr="logo.png"/>
          <p:cNvPicPr>
            <a:picLocks noChangeAspect="1"/>
          </p:cNvPicPr>
          <p:nvPr/>
        </p:nvPicPr>
        <p:blipFill>
          <a:blip r:embed="rId2"/>
          <a:stretch>
            <a:fillRect/>
          </a:stretch>
        </p:blipFill>
        <p:spPr>
          <a:xfrm>
            <a:off x="11081186" y="82166"/>
            <a:ext cx="916962" cy="343030"/>
          </a:xfrm>
          <a:prstGeom prst="rect">
            <a:avLst/>
          </a:prstGeom>
        </p:spPr>
      </p:pic>
      <p:graphicFrame>
        <p:nvGraphicFramePr>
          <p:cNvPr id="6" name="Table 5"/>
          <p:cNvGraphicFramePr>
            <a:graphicFrameLocks noGrp="1"/>
          </p:cNvGraphicFramePr>
          <p:nvPr/>
        </p:nvGraphicFramePr>
        <p:xfrm>
          <a:off x="493776" y="1150000"/>
          <a:ext cx="9450000" cy="5213520"/>
        </p:xfrm>
        <a:graphic>
          <a:graphicData uri="http://schemas.openxmlformats.org/drawingml/2006/table">
            <a:tbl>
              <a:tblPr>
                <a:tableStyleId>{5C22544A-7EE6-4342-B048-85BDC9FD1C3A}</a:tableStyleId>
              </a:tblPr>
              <a:tblGrid>
                <a:gridCol w="1600000">
                  <a:extLst>
                    <a:ext uri="{9D8B030D-6E8A-4147-A177-3AD203B41FA5}">
                      <a16:colId xmlns:a16="http://schemas.microsoft.com/office/drawing/2014/main" val="20000"/>
                    </a:ext>
                  </a:extLst>
                </a:gridCol>
                <a:gridCol w="1500000">
                  <a:extLst>
                    <a:ext uri="{9D8B030D-6E8A-4147-A177-3AD203B41FA5}">
                      <a16:colId xmlns:a16="http://schemas.microsoft.com/office/drawing/2014/main" val="20001"/>
                    </a:ext>
                  </a:extLst>
                </a:gridCol>
                <a:gridCol w="1150000">
                  <a:extLst>
                    <a:ext uri="{9D8B030D-6E8A-4147-A177-3AD203B41FA5}">
                      <a16:colId xmlns:a16="http://schemas.microsoft.com/office/drawing/2014/main" val="20002"/>
                    </a:ext>
                  </a:extLst>
                </a:gridCol>
                <a:gridCol w="1150000">
                  <a:extLst>
                    <a:ext uri="{9D8B030D-6E8A-4147-A177-3AD203B41FA5}">
                      <a16:colId xmlns:a16="http://schemas.microsoft.com/office/drawing/2014/main" val="20003"/>
                    </a:ext>
                  </a:extLst>
                </a:gridCol>
                <a:gridCol w="1150000">
                  <a:extLst>
                    <a:ext uri="{9D8B030D-6E8A-4147-A177-3AD203B41FA5}">
                      <a16:colId xmlns:a16="http://schemas.microsoft.com/office/drawing/2014/main" val="20004"/>
                    </a:ext>
                  </a:extLst>
                </a:gridCol>
                <a:gridCol w="1500000">
                  <a:extLst>
                    <a:ext uri="{9D8B030D-6E8A-4147-A177-3AD203B41FA5}">
                      <a16:colId xmlns:a16="http://schemas.microsoft.com/office/drawing/2014/main" val="20005"/>
                    </a:ext>
                  </a:extLst>
                </a:gridCol>
                <a:gridCol w="1400000">
                  <a:extLst>
                    <a:ext uri="{9D8B030D-6E8A-4147-A177-3AD203B41FA5}">
                      <a16:colId xmlns:a16="http://schemas.microsoft.com/office/drawing/2014/main" val="20006"/>
                    </a:ext>
                  </a:extLst>
                </a:gridCol>
              </a:tblGrid>
              <a:tr h="210000">
                <a:tc>
                  <a:txBody>
                    <a:bodyPr/>
                    <a:lstStyle/>
                    <a:p>
                      <a:pPr algn="ctr"/>
                      <a:r>
                        <a:rPr sz="800" b="1">
                          <a:solidFill>
                            <a:srgbClr val="FFFFFF"/>
                          </a:solidFill>
                          <a:latin typeface="Calibri"/>
                        </a:rPr>
                        <a:t>Segmento</a:t>
                      </a:r>
                    </a:p>
                  </a:txBody>
                  <a:tcPr marL="45000" marR="45000" marT="12000" marB="12000" anchor="ctr">
                    <a:solidFill>
                      <a:srgbClr val="1F3A5F"/>
                    </a:solidFill>
                  </a:tcPr>
                </a:tc>
                <a:tc>
                  <a:txBody>
                    <a:bodyPr/>
                    <a:lstStyle/>
                    <a:p>
                      <a:pPr algn="ctr"/>
                      <a:r>
                        <a:rPr sz="800" b="1">
                          <a:solidFill>
                            <a:srgbClr val="FFFFFF"/>
                          </a:solidFill>
                          <a:latin typeface="Calibri"/>
                        </a:rPr>
                        <a:t>Apertura</a:t>
                      </a:r>
                    </a:p>
                  </a:txBody>
                  <a:tcPr marL="45000" marR="45000" marT="12000" marB="12000" anchor="ctr">
                    <a:solidFill>
                      <a:srgbClr val="1F3A5F"/>
                    </a:solidFill>
                  </a:tcPr>
                </a:tc>
                <a:tc>
                  <a:txBody>
                    <a:bodyPr/>
                    <a:lstStyle/>
                    <a:p>
                      <a:pPr algn="ctr"/>
                      <a:r>
                        <a:rPr sz="800" b="1">
                          <a:solidFill>
                            <a:srgbClr val="FFFFFF"/>
                          </a:solidFill>
                          <a:latin typeface="Calibri"/>
                        </a:rPr>
                        <a:t>Fracasos</a:t>
                      </a:r>
                    </a:p>
                  </a:txBody>
                  <a:tcPr marL="45000" marR="45000" marT="12000" marB="12000" anchor="ctr">
                    <a:solidFill>
                      <a:srgbClr val="1F3A5F"/>
                    </a:solidFill>
                  </a:tcPr>
                </a:tc>
                <a:tc>
                  <a:txBody>
                    <a:bodyPr/>
                    <a:lstStyle/>
                    <a:p>
                      <a:pPr algn="ctr"/>
                      <a:r>
                        <a:rPr sz="800" b="1">
                          <a:solidFill>
                            <a:srgbClr val="FFFFFF"/>
                          </a:solidFill>
                          <a:latin typeface="Calibri"/>
                        </a:rPr>
                        <a:t>Con tasa inferida</a:t>
                      </a:r>
                    </a:p>
                  </a:txBody>
                  <a:tcPr marL="45000" marR="45000" marT="12000" marB="12000" anchor="ctr">
                    <a:solidFill>
                      <a:srgbClr val="1F3A5F"/>
                    </a:solidFill>
                  </a:tcPr>
                </a:tc>
                <a:tc>
                  <a:txBody>
                    <a:bodyPr/>
                    <a:lstStyle/>
                    <a:p>
                      <a:pPr algn="ctr"/>
                      <a:r>
                        <a:rPr sz="800" b="1">
                          <a:solidFill>
                            <a:srgbClr val="FFFFFF"/>
                          </a:solidFill>
                          <a:latin typeface="Calibri"/>
                        </a:rPr>
                        <a:t>Cobertura</a:t>
                      </a:r>
                    </a:p>
                  </a:txBody>
                  <a:tcPr marL="45000" marR="45000" marT="12000" marB="12000" anchor="ctr">
                    <a:solidFill>
                      <a:srgbClr val="1F3A5F"/>
                    </a:solidFill>
                  </a:tcPr>
                </a:tc>
                <a:tc>
                  <a:txBody>
                    <a:bodyPr/>
                    <a:lstStyle/>
                    <a:p>
                      <a:pPr algn="ctr"/>
                      <a:r>
                        <a:rPr sz="800" b="1">
                          <a:solidFill>
                            <a:srgbClr val="FFFFFF"/>
                          </a:solidFill>
                          <a:latin typeface="Calibri"/>
                        </a:rPr>
                        <a:t>% de las tasas inferidas del periodo</a:t>
                      </a:r>
                    </a:p>
                  </a:txBody>
                  <a:tcPr marL="45000" marR="45000" marT="12000" marB="12000" anchor="ctr">
                    <a:solidFill>
                      <a:srgbClr val="1F3A5F"/>
                    </a:solidFill>
                  </a:tcPr>
                </a:tc>
                <a:tc>
                  <a:txBody>
                    <a:bodyPr/>
                    <a:lstStyle/>
                    <a:p>
                      <a:pPr algn="ctr"/>
                      <a:r>
                        <a:rPr sz="800" b="1">
                          <a:solidFill>
                            <a:srgbClr val="FFFFFF"/>
                          </a:solidFill>
                          <a:latin typeface="Calibri"/>
                        </a:rPr>
                        <a:t>Materialidad</a:t>
                      </a:r>
                    </a:p>
                  </a:txBody>
                  <a:tcPr marL="45000" marR="45000" marT="12000" marB="12000" anchor="ctr">
                    <a:solidFill>
                      <a:srgbClr val="1F3A5F"/>
                    </a:solidFill>
                  </a:tcPr>
                </a:tc>
                <a:extLst>
                  <a:ext uri="{0D108BD9-81ED-4DB2-BD59-A6C34878D82A}">
                    <a16:rowId xmlns:a16="http://schemas.microsoft.com/office/drawing/2014/main" val="10000"/>
                  </a:ext>
                </a:extLst>
              </a:tr>
              <a:tr h="210000">
                <a:tc>
                  <a:txBody>
                    <a:bodyPr/>
                    <a:lstStyle/>
                    <a:p>
                      <a:pPr algn="ctr"/>
                      <a:r>
                        <a:rPr sz="800" b="0">
                          <a:solidFill>
                            <a:srgbClr val="2F3B3A"/>
                          </a:solidFill>
                          <a:latin typeface="Calibri"/>
                        </a:rPr>
                        <a:t>Ancla</a:t>
                      </a:r>
                    </a:p>
                  </a:txBody>
                  <a:tcPr marL="45000" marR="45000" marT="12000" marB="12000" anchor="ctr">
                    <a:solidFill>
                      <a:srgbClr val="FFFFFF"/>
                    </a:solidFill>
                  </a:tcPr>
                </a:tc>
                <a:tc>
                  <a:txBody>
                    <a:bodyPr/>
                    <a:lstStyle/>
                    <a:p>
                      <a:pPr algn="ctr"/>
                      <a:r>
                        <a:rPr sz="800" b="0">
                          <a:solidFill>
                            <a:srgbClr val="2F3B3A"/>
                          </a:solidFill>
                          <a:latin typeface="Calibri"/>
                        </a:rPr>
                        <a:t>≤ 170K</a:t>
                      </a:r>
                    </a:p>
                  </a:txBody>
                  <a:tcPr marL="45000" marR="45000" marT="12000" marB="12000" anchor="ctr">
                    <a:solidFill>
                      <a:srgbClr val="FFFFFF"/>
                    </a:solidFill>
                  </a:tcPr>
                </a:tc>
                <a:tc>
                  <a:txBody>
                    <a:bodyPr/>
                    <a:lstStyle/>
                    <a:p>
                      <a:pPr algn="ctr"/>
                      <a:r>
                        <a:rPr sz="800" b="0">
                          <a:solidFill>
                            <a:srgbClr val="2F3B3A"/>
                          </a:solidFill>
                          <a:latin typeface="Calibri"/>
                        </a:rPr>
                        <a:t>19</a:t>
                      </a:r>
                    </a:p>
                  </a:txBody>
                  <a:tcPr marL="45000" marR="45000" marT="12000" marB="12000" anchor="ctr">
                    <a:solidFill>
                      <a:srgbClr val="FFFFFF"/>
                    </a:solidFill>
                  </a:tcPr>
                </a:tc>
                <a:tc>
                  <a:txBody>
                    <a:bodyPr/>
                    <a:lstStyle/>
                    <a:p>
                      <a:pPr algn="ctr"/>
                      <a:r>
                        <a:rPr sz="800" b="0">
                          <a:solidFill>
                            <a:srgbClr val="2F3B3A"/>
                          </a:solidFill>
                          <a:latin typeface="Calibri"/>
                        </a:rPr>
                        <a:t>13</a:t>
                      </a:r>
                    </a:p>
                  </a:txBody>
                  <a:tcPr marL="45000" marR="45000" marT="12000" marB="12000" anchor="ctr">
                    <a:solidFill>
                      <a:srgbClr val="FFFFFF"/>
                    </a:solidFill>
                  </a:tcPr>
                </a:tc>
                <a:tc>
                  <a:txBody>
                    <a:bodyPr/>
                    <a:lstStyle/>
                    <a:p>
                      <a:pPr algn="ctr"/>
                      <a:r>
                        <a:rPr sz="800" b="0">
                          <a:solidFill>
                            <a:srgbClr val="2F3B3A"/>
                          </a:solidFill>
                          <a:latin typeface="Calibri"/>
                        </a:rPr>
                        <a:t>68%</a:t>
                      </a:r>
                    </a:p>
                  </a:txBody>
                  <a:tcPr marL="45000" marR="45000" marT="12000" marB="12000" anchor="ctr">
                    <a:solidFill>
                      <a:srgbClr val="FFFFFF"/>
                    </a:solidFill>
                  </a:tcPr>
                </a:tc>
                <a:tc>
                  <a:txBody>
                    <a:bodyPr/>
                    <a:lstStyle/>
                    <a:p>
                      <a:pPr algn="ctr"/>
                      <a:r>
                        <a:rPr sz="800" b="0">
                          <a:solidFill>
                            <a:srgbClr val="2F3B3A"/>
                          </a:solidFill>
                          <a:latin typeface="Calibri"/>
                        </a:rPr>
                        <a:t>1,6%</a:t>
                      </a:r>
                    </a:p>
                  </a:txBody>
                  <a:tcPr marL="45000" marR="45000" marT="12000" marB="12000" anchor="ctr">
                    <a:solidFill>
                      <a:srgbClr val="FFFFFF"/>
                    </a:solidFill>
                  </a:tcPr>
                </a:tc>
                <a:tc>
                  <a:txBody>
                    <a:bodyPr/>
                    <a:lstStyle/>
                    <a:p>
                      <a:pPr algn="ctr"/>
                      <a:r>
                        <a:rPr sz="800" b="1">
                          <a:solidFill>
                            <a:srgbClr val="6E7E7D"/>
                          </a:solidFill>
                          <a:latin typeface="Calibri"/>
                        </a:rPr>
                        <a:t>No concluyente</a:t>
                      </a:r>
                    </a:p>
                  </a:txBody>
                  <a:tcPr marL="45000" marR="45000" marT="12000" marB="12000" anchor="ctr">
                    <a:solidFill>
                      <a:srgbClr val="FFFFFF"/>
                    </a:solidFill>
                  </a:tcPr>
                </a:tc>
                <a:extLst>
                  <a:ext uri="{0D108BD9-81ED-4DB2-BD59-A6C34878D82A}">
                    <a16:rowId xmlns:a16="http://schemas.microsoft.com/office/drawing/2014/main" val="10001"/>
                  </a:ext>
                </a:extLst>
              </a:tr>
              <a:tr h="210000">
                <a:tc>
                  <a:txBody>
                    <a:bodyPr/>
                    <a:lstStyle/>
                    <a:p>
                      <a:pPr algn="ctr"/>
                      <a:r>
                        <a:rPr sz="800" b="0">
                          <a:solidFill>
                            <a:srgbClr val="2F3B3A"/>
                          </a:solidFill>
                          <a:latin typeface="Calibri"/>
                        </a:rPr>
                        <a:t>Ancla</a:t>
                      </a:r>
                    </a:p>
                  </a:txBody>
                  <a:tcPr marL="45000" marR="45000" marT="12000" marB="12000" anchor="ctr">
                    <a:solidFill>
                      <a:srgbClr val="F7F9F9"/>
                    </a:solidFill>
                  </a:tcPr>
                </a:tc>
                <a:tc>
                  <a:txBody>
                    <a:bodyPr/>
                    <a:lstStyle/>
                    <a:p>
                      <a:pPr algn="ctr"/>
                      <a:r>
                        <a:rPr sz="800" b="0">
                          <a:solidFill>
                            <a:srgbClr val="2F3B3A"/>
                          </a:solidFill>
                          <a:latin typeface="Calibri"/>
                        </a:rPr>
                        <a:t>&gt; 350K</a:t>
                      </a:r>
                    </a:p>
                  </a:txBody>
                  <a:tcPr marL="45000" marR="45000" marT="12000" marB="12000" anchor="ctr">
                    <a:solidFill>
                      <a:srgbClr val="F7F9F9"/>
                    </a:solidFill>
                  </a:tcPr>
                </a:tc>
                <a:tc>
                  <a:txBody>
                    <a:bodyPr/>
                    <a:lstStyle/>
                    <a:p>
                      <a:pPr algn="ctr"/>
                      <a:r>
                        <a:rPr sz="800" b="0">
                          <a:solidFill>
                            <a:srgbClr val="2F3B3A"/>
                          </a:solidFill>
                          <a:latin typeface="Calibri"/>
                        </a:rPr>
                        <a:t>94</a:t>
                      </a:r>
                    </a:p>
                  </a:txBody>
                  <a:tcPr marL="45000" marR="45000" marT="12000" marB="12000" anchor="ctr">
                    <a:solidFill>
                      <a:srgbClr val="F7F9F9"/>
                    </a:solidFill>
                  </a:tcPr>
                </a:tc>
                <a:tc>
                  <a:txBody>
                    <a:bodyPr/>
                    <a:lstStyle/>
                    <a:p>
                      <a:pPr algn="ctr"/>
                      <a:r>
                        <a:rPr sz="800" b="0">
                          <a:solidFill>
                            <a:srgbClr val="2F3B3A"/>
                          </a:solidFill>
                          <a:latin typeface="Calibri"/>
                        </a:rPr>
                        <a:t>41</a:t>
                      </a:r>
                    </a:p>
                  </a:txBody>
                  <a:tcPr marL="45000" marR="45000" marT="12000" marB="12000" anchor="ctr">
                    <a:solidFill>
                      <a:srgbClr val="F7F9F9"/>
                    </a:solidFill>
                  </a:tcPr>
                </a:tc>
                <a:tc>
                  <a:txBody>
                    <a:bodyPr/>
                    <a:lstStyle/>
                    <a:p>
                      <a:pPr algn="ctr"/>
                      <a:r>
                        <a:rPr sz="800" b="0">
                          <a:solidFill>
                            <a:srgbClr val="2F3B3A"/>
                          </a:solidFill>
                          <a:latin typeface="Calibri"/>
                        </a:rPr>
                        <a:t>44%</a:t>
                      </a:r>
                    </a:p>
                  </a:txBody>
                  <a:tcPr marL="45000" marR="45000" marT="12000" marB="12000" anchor="ctr">
                    <a:solidFill>
                      <a:srgbClr val="F7F9F9"/>
                    </a:solidFill>
                  </a:tcPr>
                </a:tc>
                <a:tc>
                  <a:txBody>
                    <a:bodyPr/>
                    <a:lstStyle/>
                    <a:p>
                      <a:pPr algn="ctr"/>
                      <a:r>
                        <a:rPr sz="800" b="0">
                          <a:solidFill>
                            <a:srgbClr val="2F3B3A"/>
                          </a:solidFill>
                          <a:latin typeface="Calibri"/>
                        </a:rPr>
                        <a:t>5,0%</a:t>
                      </a:r>
                    </a:p>
                  </a:txBody>
                  <a:tcPr marL="45000" marR="45000" marT="12000" marB="12000" anchor="ctr">
                    <a:solidFill>
                      <a:srgbClr val="F7F9F9"/>
                    </a:solidFill>
                  </a:tcPr>
                </a:tc>
                <a:tc>
                  <a:txBody>
                    <a:bodyPr/>
                    <a:lstStyle/>
                    <a:p>
                      <a:pPr algn="ctr"/>
                      <a:r>
                        <a:rPr sz="800" b="1">
                          <a:solidFill>
                            <a:srgbClr val="13807B"/>
                          </a:solidFill>
                          <a:latin typeface="Calibri"/>
                        </a:rPr>
                        <a:t>Concluyente</a:t>
                      </a:r>
                    </a:p>
                  </a:txBody>
                  <a:tcPr marL="45000" marR="45000" marT="12000" marB="12000" anchor="ctr">
                    <a:solidFill>
                      <a:srgbClr val="F7F9F9"/>
                    </a:solidFill>
                  </a:tcPr>
                </a:tc>
                <a:extLst>
                  <a:ext uri="{0D108BD9-81ED-4DB2-BD59-A6C34878D82A}">
                    <a16:rowId xmlns:a16="http://schemas.microsoft.com/office/drawing/2014/main" val="10002"/>
                  </a:ext>
                </a:extLst>
              </a:tr>
              <a:tr h="210000">
                <a:tc>
                  <a:txBody>
                    <a:bodyPr/>
                    <a:lstStyle/>
                    <a:p>
                      <a:pPr algn="ctr"/>
                      <a:r>
                        <a:rPr sz="800" b="0">
                          <a:solidFill>
                            <a:srgbClr val="2F3B3A"/>
                          </a:solidFill>
                          <a:latin typeface="Calibri"/>
                        </a:rPr>
                        <a:t>Estratégica</a:t>
                      </a:r>
                    </a:p>
                  </a:txBody>
                  <a:tcPr marL="45000" marR="45000" marT="12000" marB="12000" anchor="ctr">
                    <a:solidFill>
                      <a:srgbClr val="FFFFFF"/>
                    </a:solidFill>
                  </a:tcPr>
                </a:tc>
                <a:tc>
                  <a:txBody>
                    <a:bodyPr/>
                    <a:lstStyle/>
                    <a:p>
                      <a:pPr algn="ctr"/>
                      <a:r>
                        <a:rPr sz="800" b="0">
                          <a:solidFill>
                            <a:srgbClr val="2F3B3A"/>
                          </a:solidFill>
                          <a:latin typeface="Calibri"/>
                        </a:rPr>
                        <a:t>≤ 170K</a:t>
                      </a:r>
                    </a:p>
                  </a:txBody>
                  <a:tcPr marL="45000" marR="45000" marT="12000" marB="12000" anchor="ctr">
                    <a:solidFill>
                      <a:srgbClr val="FFFFFF"/>
                    </a:solidFill>
                  </a:tcPr>
                </a:tc>
                <a:tc>
                  <a:txBody>
                    <a:bodyPr/>
                    <a:lstStyle/>
                    <a:p>
                      <a:pPr algn="ctr"/>
                      <a:r>
                        <a:rPr sz="800" b="0">
                          <a:solidFill>
                            <a:srgbClr val="2F3B3A"/>
                          </a:solidFill>
                          <a:latin typeface="Calibri"/>
                        </a:rPr>
                        <a:t>16</a:t>
                      </a:r>
                    </a:p>
                  </a:txBody>
                  <a:tcPr marL="45000" marR="45000" marT="12000" marB="12000" anchor="ctr">
                    <a:solidFill>
                      <a:srgbClr val="FFFFFF"/>
                    </a:solidFill>
                  </a:tcPr>
                </a:tc>
                <a:tc>
                  <a:txBody>
                    <a:bodyPr/>
                    <a:lstStyle/>
                    <a:p>
                      <a:pPr algn="ctr"/>
                      <a:r>
                        <a:rPr sz="800" b="0">
                          <a:solidFill>
                            <a:srgbClr val="2F3B3A"/>
                          </a:solidFill>
                          <a:latin typeface="Calibri"/>
                        </a:rPr>
                        <a:t>3</a:t>
                      </a:r>
                    </a:p>
                  </a:txBody>
                  <a:tcPr marL="45000" marR="45000" marT="12000" marB="12000" anchor="ctr">
                    <a:solidFill>
                      <a:srgbClr val="FFFFFF"/>
                    </a:solidFill>
                  </a:tcPr>
                </a:tc>
                <a:tc>
                  <a:txBody>
                    <a:bodyPr/>
                    <a:lstStyle/>
                    <a:p>
                      <a:pPr algn="ctr"/>
                      <a:r>
                        <a:rPr sz="800" b="0">
                          <a:solidFill>
                            <a:srgbClr val="2F3B3A"/>
                          </a:solidFill>
                          <a:latin typeface="Calibri"/>
                        </a:rPr>
                        <a:t>19%</a:t>
                      </a:r>
                    </a:p>
                  </a:txBody>
                  <a:tcPr marL="45000" marR="45000" marT="12000" marB="12000" anchor="ctr">
                    <a:solidFill>
                      <a:srgbClr val="FFFFFF"/>
                    </a:solidFill>
                  </a:tcPr>
                </a:tc>
                <a:tc>
                  <a:txBody>
                    <a:bodyPr/>
                    <a:lstStyle/>
                    <a:p>
                      <a:pPr algn="ctr"/>
                      <a:r>
                        <a:rPr sz="800" b="0">
                          <a:solidFill>
                            <a:srgbClr val="2F3B3A"/>
                          </a:solidFill>
                          <a:latin typeface="Calibri"/>
                        </a:rPr>
                        <a:t>0,4%</a:t>
                      </a:r>
                    </a:p>
                  </a:txBody>
                  <a:tcPr marL="45000" marR="45000" marT="12000" marB="12000" anchor="ctr">
                    <a:solidFill>
                      <a:srgbClr val="FFFFFF"/>
                    </a:solidFill>
                  </a:tcPr>
                </a:tc>
                <a:tc>
                  <a:txBody>
                    <a:bodyPr/>
                    <a:lstStyle/>
                    <a:p>
                      <a:pPr algn="ctr"/>
                      <a:r>
                        <a:rPr sz="800" b="1">
                          <a:solidFill>
                            <a:srgbClr val="6E7E7D"/>
                          </a:solidFill>
                          <a:latin typeface="Calibri"/>
                        </a:rPr>
                        <a:t>No concluyente</a:t>
                      </a:r>
                    </a:p>
                  </a:txBody>
                  <a:tcPr marL="45000" marR="45000" marT="12000" marB="12000" anchor="ctr">
                    <a:solidFill>
                      <a:srgbClr val="FFFFFF"/>
                    </a:solidFill>
                  </a:tcPr>
                </a:tc>
                <a:extLst>
                  <a:ext uri="{0D108BD9-81ED-4DB2-BD59-A6C34878D82A}">
                    <a16:rowId xmlns:a16="http://schemas.microsoft.com/office/drawing/2014/main" val="10003"/>
                  </a:ext>
                </a:extLst>
              </a:tr>
              <a:tr h="210000">
                <a:tc>
                  <a:txBody>
                    <a:bodyPr/>
                    <a:lstStyle/>
                    <a:p>
                      <a:pPr algn="ctr"/>
                      <a:r>
                        <a:rPr sz="800" b="0">
                          <a:solidFill>
                            <a:srgbClr val="2F3B3A"/>
                          </a:solidFill>
                          <a:latin typeface="Calibri"/>
                        </a:rPr>
                        <a:t>Estratégica</a:t>
                      </a:r>
                    </a:p>
                  </a:txBody>
                  <a:tcPr marL="45000" marR="45000" marT="12000" marB="12000" anchor="ctr">
                    <a:solidFill>
                      <a:srgbClr val="F7F9F9"/>
                    </a:solidFill>
                  </a:tcPr>
                </a:tc>
                <a:tc>
                  <a:txBody>
                    <a:bodyPr/>
                    <a:lstStyle/>
                    <a:p>
                      <a:pPr algn="ctr"/>
                      <a:r>
                        <a:rPr sz="800" b="0">
                          <a:solidFill>
                            <a:srgbClr val="2F3B3A"/>
                          </a:solidFill>
                          <a:latin typeface="Calibri"/>
                        </a:rPr>
                        <a:t>&gt; 350K</a:t>
                      </a:r>
                    </a:p>
                  </a:txBody>
                  <a:tcPr marL="45000" marR="45000" marT="12000" marB="12000" anchor="ctr">
                    <a:solidFill>
                      <a:srgbClr val="F7F9F9"/>
                    </a:solidFill>
                  </a:tcPr>
                </a:tc>
                <a:tc>
                  <a:txBody>
                    <a:bodyPr/>
                    <a:lstStyle/>
                    <a:p>
                      <a:pPr algn="ctr"/>
                      <a:r>
                        <a:rPr sz="800" b="0">
                          <a:solidFill>
                            <a:srgbClr val="2F3B3A"/>
                          </a:solidFill>
                          <a:latin typeface="Calibri"/>
                        </a:rPr>
                        <a:t>149</a:t>
                      </a:r>
                    </a:p>
                  </a:txBody>
                  <a:tcPr marL="45000" marR="45000" marT="12000" marB="12000" anchor="ctr">
                    <a:solidFill>
                      <a:srgbClr val="F7F9F9"/>
                    </a:solidFill>
                  </a:tcPr>
                </a:tc>
                <a:tc>
                  <a:txBody>
                    <a:bodyPr/>
                    <a:lstStyle/>
                    <a:p>
                      <a:pPr algn="ctr"/>
                      <a:r>
                        <a:rPr sz="800" b="0">
                          <a:solidFill>
                            <a:srgbClr val="2F3B3A"/>
                          </a:solidFill>
                          <a:latin typeface="Calibri"/>
                        </a:rPr>
                        <a:t>64</a:t>
                      </a:r>
                    </a:p>
                  </a:txBody>
                  <a:tcPr marL="45000" marR="45000" marT="12000" marB="12000" anchor="ctr">
                    <a:solidFill>
                      <a:srgbClr val="F7F9F9"/>
                    </a:solidFill>
                  </a:tcPr>
                </a:tc>
                <a:tc>
                  <a:txBody>
                    <a:bodyPr/>
                    <a:lstStyle/>
                    <a:p>
                      <a:pPr algn="ctr"/>
                      <a:r>
                        <a:rPr sz="800" b="0">
                          <a:solidFill>
                            <a:srgbClr val="2F3B3A"/>
                          </a:solidFill>
                          <a:latin typeface="Calibri"/>
                        </a:rPr>
                        <a:t>43%</a:t>
                      </a:r>
                    </a:p>
                  </a:txBody>
                  <a:tcPr marL="45000" marR="45000" marT="12000" marB="12000" anchor="ctr">
                    <a:solidFill>
                      <a:srgbClr val="F7F9F9"/>
                    </a:solidFill>
                  </a:tcPr>
                </a:tc>
                <a:tc>
                  <a:txBody>
                    <a:bodyPr/>
                    <a:lstStyle/>
                    <a:p>
                      <a:pPr algn="ctr"/>
                      <a:r>
                        <a:rPr sz="800" b="0">
                          <a:solidFill>
                            <a:srgbClr val="2F3B3A"/>
                          </a:solidFill>
                          <a:latin typeface="Calibri"/>
                        </a:rPr>
                        <a:t>7,8%</a:t>
                      </a:r>
                    </a:p>
                  </a:txBody>
                  <a:tcPr marL="45000" marR="45000" marT="12000" marB="12000" anchor="ctr">
                    <a:solidFill>
                      <a:srgbClr val="F7F9F9"/>
                    </a:solidFill>
                  </a:tcPr>
                </a:tc>
                <a:tc>
                  <a:txBody>
                    <a:bodyPr/>
                    <a:lstStyle/>
                    <a:p>
                      <a:pPr algn="ctr"/>
                      <a:r>
                        <a:rPr sz="800" b="1">
                          <a:solidFill>
                            <a:srgbClr val="13807B"/>
                          </a:solidFill>
                          <a:latin typeface="Calibri"/>
                        </a:rPr>
                        <a:t>Concluyente</a:t>
                      </a:r>
                    </a:p>
                  </a:txBody>
                  <a:tcPr marL="45000" marR="45000" marT="12000" marB="12000" anchor="ctr">
                    <a:solidFill>
                      <a:srgbClr val="F7F9F9"/>
                    </a:solidFill>
                  </a:tcPr>
                </a:tc>
                <a:extLst>
                  <a:ext uri="{0D108BD9-81ED-4DB2-BD59-A6C34878D82A}">
                    <a16:rowId xmlns:a16="http://schemas.microsoft.com/office/drawing/2014/main" val="10004"/>
                  </a:ext>
                </a:extLst>
              </a:tr>
              <a:tr h="210000">
                <a:tc>
                  <a:txBody>
                    <a:bodyPr/>
                    <a:lstStyle/>
                    <a:p>
                      <a:pPr algn="ctr"/>
                      <a:r>
                        <a:rPr sz="800" b="0">
                          <a:solidFill>
                            <a:srgbClr val="2F3B3A"/>
                          </a:solidFill>
                          <a:latin typeface="Calibri"/>
                        </a:rPr>
                        <a:t>Maduro</a:t>
                      </a:r>
                    </a:p>
                  </a:txBody>
                  <a:tcPr marL="45000" marR="45000" marT="12000" marB="12000" anchor="ctr">
                    <a:solidFill>
                      <a:srgbClr val="F7F9F9"/>
                    </a:solidFill>
                  </a:tcPr>
                </a:tc>
                <a:tc>
                  <a:txBody>
                    <a:bodyPr/>
                    <a:lstStyle/>
                    <a:p>
                      <a:pPr algn="ctr"/>
                      <a:r>
                        <a:rPr sz="800" b="0">
                          <a:solidFill>
                            <a:srgbClr val="2F3B3A"/>
                          </a:solidFill>
                          <a:latin typeface="Calibri"/>
                        </a:rPr>
                        <a:t>250–350K</a:t>
                      </a:r>
                    </a:p>
                  </a:txBody>
                  <a:tcPr marL="45000" marR="45000" marT="12000" marB="12000" anchor="ctr">
                    <a:solidFill>
                      <a:srgbClr val="F7F9F9"/>
                    </a:solidFill>
                  </a:tcPr>
                </a:tc>
                <a:tc>
                  <a:txBody>
                    <a:bodyPr/>
                    <a:lstStyle/>
                    <a:p>
                      <a:pPr algn="ctr"/>
                      <a:r>
                        <a:rPr sz="800" b="0">
                          <a:solidFill>
                            <a:srgbClr val="2F3B3A"/>
                          </a:solidFill>
                          <a:latin typeface="Calibri"/>
                        </a:rPr>
                        <a:t>86</a:t>
                      </a:r>
                    </a:p>
                  </a:txBody>
                  <a:tcPr marL="45000" marR="45000" marT="12000" marB="12000" anchor="ctr">
                    <a:solidFill>
                      <a:srgbClr val="F7F9F9"/>
                    </a:solidFill>
                  </a:tcPr>
                </a:tc>
                <a:tc>
                  <a:txBody>
                    <a:bodyPr/>
                    <a:lstStyle/>
                    <a:p>
                      <a:pPr algn="ctr"/>
                      <a:r>
                        <a:rPr sz="800" b="0">
                          <a:solidFill>
                            <a:srgbClr val="2F3B3A"/>
                          </a:solidFill>
                          <a:latin typeface="Calibri"/>
                        </a:rPr>
                        <a:t>39</a:t>
                      </a:r>
                    </a:p>
                  </a:txBody>
                  <a:tcPr marL="45000" marR="45000" marT="12000" marB="12000" anchor="ctr">
                    <a:solidFill>
                      <a:srgbClr val="F7F9F9"/>
                    </a:solidFill>
                  </a:tcPr>
                </a:tc>
                <a:tc>
                  <a:txBody>
                    <a:bodyPr/>
                    <a:lstStyle/>
                    <a:p>
                      <a:pPr algn="ctr"/>
                      <a:r>
                        <a:rPr sz="800" b="0">
                          <a:solidFill>
                            <a:srgbClr val="2F3B3A"/>
                          </a:solidFill>
                          <a:latin typeface="Calibri"/>
                        </a:rPr>
                        <a:t>45%</a:t>
                      </a:r>
                    </a:p>
                  </a:txBody>
                  <a:tcPr marL="45000" marR="45000" marT="12000" marB="12000" anchor="ctr">
                    <a:solidFill>
                      <a:srgbClr val="F7F9F9"/>
                    </a:solidFill>
                  </a:tcPr>
                </a:tc>
                <a:tc>
                  <a:txBody>
                    <a:bodyPr/>
                    <a:lstStyle/>
                    <a:p>
                      <a:pPr algn="ctr"/>
                      <a:r>
                        <a:rPr sz="800" b="0">
                          <a:solidFill>
                            <a:srgbClr val="2F3B3A"/>
                          </a:solidFill>
                          <a:latin typeface="Calibri"/>
                        </a:rPr>
                        <a:t>4,8%</a:t>
                      </a:r>
                    </a:p>
                  </a:txBody>
                  <a:tcPr marL="45000" marR="45000" marT="12000" marB="12000" anchor="ctr">
                    <a:solidFill>
                      <a:srgbClr val="F7F9F9"/>
                    </a:solidFill>
                  </a:tcPr>
                </a:tc>
                <a:tc>
                  <a:txBody>
                    <a:bodyPr/>
                    <a:lstStyle/>
                    <a:p>
                      <a:pPr algn="ctr"/>
                      <a:r>
                        <a:rPr sz="800" b="1">
                          <a:solidFill>
                            <a:srgbClr val="13807B"/>
                          </a:solidFill>
                          <a:latin typeface="Calibri"/>
                        </a:rPr>
                        <a:t>Concluyente</a:t>
                      </a:r>
                    </a:p>
                  </a:txBody>
                  <a:tcPr marL="45000" marR="45000" marT="12000" marB="12000" anchor="ctr">
                    <a:solidFill>
                      <a:srgbClr val="F7F9F9"/>
                    </a:solidFill>
                  </a:tcPr>
                </a:tc>
                <a:extLst>
                  <a:ext uri="{0D108BD9-81ED-4DB2-BD59-A6C34878D82A}">
                    <a16:rowId xmlns:a16="http://schemas.microsoft.com/office/drawing/2014/main" val="10006"/>
                  </a:ext>
                </a:extLst>
              </a:tr>
              <a:tr h="210000">
                <a:tc>
                  <a:txBody>
                    <a:bodyPr/>
                    <a:lstStyle/>
                    <a:p>
                      <a:pPr algn="ctr"/>
                      <a:r>
                        <a:rPr sz="800" b="0">
                          <a:solidFill>
                            <a:srgbClr val="2F3B3A"/>
                          </a:solidFill>
                          <a:latin typeface="Calibri"/>
                        </a:rPr>
                        <a:t>Maduro</a:t>
                      </a:r>
                    </a:p>
                  </a:txBody>
                  <a:tcPr marL="45000" marR="45000" marT="12000" marB="12000" anchor="ctr">
                    <a:solidFill>
                      <a:srgbClr val="FFFFFF"/>
                    </a:solidFill>
                  </a:tcPr>
                </a:tc>
                <a:tc>
                  <a:txBody>
                    <a:bodyPr/>
                    <a:lstStyle/>
                    <a:p>
                      <a:pPr algn="ctr"/>
                      <a:r>
                        <a:rPr sz="800" b="0">
                          <a:solidFill>
                            <a:srgbClr val="2F3B3A"/>
                          </a:solidFill>
                          <a:latin typeface="Calibri"/>
                        </a:rPr>
                        <a:t>&gt; 350K</a:t>
                      </a:r>
                    </a:p>
                  </a:txBody>
                  <a:tcPr marL="45000" marR="45000" marT="12000" marB="12000" anchor="ctr">
                    <a:solidFill>
                      <a:srgbClr val="FFFFFF"/>
                    </a:solidFill>
                  </a:tcPr>
                </a:tc>
                <a:tc>
                  <a:txBody>
                    <a:bodyPr/>
                    <a:lstStyle/>
                    <a:p>
                      <a:pPr algn="ctr"/>
                      <a:r>
                        <a:rPr sz="800" b="0">
                          <a:solidFill>
                            <a:srgbClr val="2F3B3A"/>
                          </a:solidFill>
                          <a:latin typeface="Calibri"/>
                        </a:rPr>
                        <a:t>141</a:t>
                      </a:r>
                    </a:p>
                  </a:txBody>
                  <a:tcPr marL="45000" marR="45000" marT="12000" marB="12000" anchor="ctr">
                    <a:solidFill>
                      <a:srgbClr val="FFFFFF"/>
                    </a:solidFill>
                  </a:tcPr>
                </a:tc>
                <a:tc>
                  <a:txBody>
                    <a:bodyPr/>
                    <a:lstStyle/>
                    <a:p>
                      <a:pPr algn="ctr"/>
                      <a:r>
                        <a:rPr sz="800" b="0">
                          <a:solidFill>
                            <a:srgbClr val="2F3B3A"/>
                          </a:solidFill>
                          <a:latin typeface="Calibri"/>
                        </a:rPr>
                        <a:t>52</a:t>
                      </a:r>
                    </a:p>
                  </a:txBody>
                  <a:tcPr marL="45000" marR="45000" marT="12000" marB="12000" anchor="ctr">
                    <a:solidFill>
                      <a:srgbClr val="FFFFFF"/>
                    </a:solidFill>
                  </a:tcPr>
                </a:tc>
                <a:tc>
                  <a:txBody>
                    <a:bodyPr/>
                    <a:lstStyle/>
                    <a:p>
                      <a:pPr algn="ctr"/>
                      <a:r>
                        <a:rPr sz="800" b="0">
                          <a:solidFill>
                            <a:srgbClr val="2F3B3A"/>
                          </a:solidFill>
                          <a:latin typeface="Calibri"/>
                        </a:rPr>
                        <a:t>37%</a:t>
                      </a:r>
                    </a:p>
                  </a:txBody>
                  <a:tcPr marL="45000" marR="45000" marT="12000" marB="12000" anchor="ctr">
                    <a:solidFill>
                      <a:srgbClr val="FFFFFF"/>
                    </a:solidFill>
                  </a:tcPr>
                </a:tc>
                <a:tc>
                  <a:txBody>
                    <a:bodyPr/>
                    <a:lstStyle/>
                    <a:p>
                      <a:pPr algn="ctr"/>
                      <a:r>
                        <a:rPr sz="800" b="0">
                          <a:solidFill>
                            <a:srgbClr val="2F3B3A"/>
                          </a:solidFill>
                          <a:latin typeface="Calibri"/>
                        </a:rPr>
                        <a:t>6,4%</a:t>
                      </a:r>
                    </a:p>
                  </a:txBody>
                  <a:tcPr marL="45000" marR="45000" marT="12000" marB="12000" anchor="ctr">
                    <a:solidFill>
                      <a:srgbClr val="FFFFFF"/>
                    </a:solidFill>
                  </a:tcPr>
                </a:tc>
                <a:tc>
                  <a:txBody>
                    <a:bodyPr/>
                    <a:lstStyle/>
                    <a:p>
                      <a:pPr algn="ctr"/>
                      <a:r>
                        <a:rPr sz="800" b="1">
                          <a:solidFill>
                            <a:srgbClr val="13807B"/>
                          </a:solidFill>
                          <a:latin typeface="Calibri"/>
                        </a:rPr>
                        <a:t>Concluyente</a:t>
                      </a:r>
                    </a:p>
                  </a:txBody>
                  <a:tcPr marL="45000" marR="45000" marT="12000" marB="12000" anchor="ctr">
                    <a:solidFill>
                      <a:srgbClr val="FFFFFF"/>
                    </a:solidFill>
                  </a:tcPr>
                </a:tc>
                <a:extLst>
                  <a:ext uri="{0D108BD9-81ED-4DB2-BD59-A6C34878D82A}">
                    <a16:rowId xmlns:a16="http://schemas.microsoft.com/office/drawing/2014/main" val="10005"/>
                  </a:ext>
                </a:extLst>
              </a:tr>
              <a:tr h="210000">
                <a:tc>
                  <a:txBody>
                    <a:bodyPr/>
                    <a:lstStyle/>
                    <a:p>
                      <a:pPr algn="ctr"/>
                      <a:r>
                        <a:rPr sz="800" b="0">
                          <a:solidFill>
                            <a:srgbClr val="2F3B3A"/>
                          </a:solidFill>
                          <a:latin typeface="Calibri"/>
                        </a:rPr>
                        <a:t>Socio</a:t>
                      </a:r>
                    </a:p>
                  </a:txBody>
                  <a:tcPr marL="45000" marR="45000" marT="12000" marB="12000" anchor="ctr">
                    <a:solidFill>
                      <a:srgbClr val="F7F9F9"/>
                    </a:solidFill>
                  </a:tcPr>
                </a:tc>
                <a:tc>
                  <a:txBody>
                    <a:bodyPr/>
                    <a:lstStyle/>
                    <a:p>
                      <a:pPr algn="ctr"/>
                      <a:r>
                        <a:rPr sz="800" b="0">
                          <a:solidFill>
                            <a:srgbClr val="2F3B3A"/>
                          </a:solidFill>
                          <a:latin typeface="Calibri"/>
                        </a:rPr>
                        <a:t>Pasivos &lt; 1K</a:t>
                      </a:r>
                    </a:p>
                  </a:txBody>
                  <a:tcPr marL="45000" marR="45000" marT="12000" marB="12000" anchor="ctr">
                    <a:solidFill>
                      <a:srgbClr val="F7F9F9"/>
                    </a:solidFill>
                  </a:tcPr>
                </a:tc>
                <a:tc>
                  <a:txBody>
                    <a:bodyPr/>
                    <a:lstStyle/>
                    <a:p>
                      <a:pPr algn="ctr"/>
                      <a:r>
                        <a:rPr sz="800" b="0">
                          <a:solidFill>
                            <a:srgbClr val="2F3B3A"/>
                          </a:solidFill>
                          <a:latin typeface="Calibri"/>
                        </a:rPr>
                        <a:t>178</a:t>
                      </a:r>
                    </a:p>
                  </a:txBody>
                  <a:tcPr marL="45000" marR="45000" marT="12000" marB="12000" anchor="ctr">
                    <a:solidFill>
                      <a:srgbClr val="F7F9F9"/>
                    </a:solidFill>
                  </a:tcPr>
                </a:tc>
                <a:tc>
                  <a:txBody>
                    <a:bodyPr/>
                    <a:lstStyle/>
                    <a:p>
                      <a:pPr algn="ctr"/>
                      <a:r>
                        <a:rPr sz="800" b="0">
                          <a:solidFill>
                            <a:srgbClr val="2F3B3A"/>
                          </a:solidFill>
                          <a:latin typeface="Calibri"/>
                        </a:rPr>
                        <a:t>97</a:t>
                      </a:r>
                    </a:p>
                  </a:txBody>
                  <a:tcPr marL="45000" marR="45000" marT="12000" marB="12000" anchor="ctr">
                    <a:solidFill>
                      <a:srgbClr val="F7F9F9"/>
                    </a:solidFill>
                  </a:tcPr>
                </a:tc>
                <a:tc>
                  <a:txBody>
                    <a:bodyPr/>
                    <a:lstStyle/>
                    <a:p>
                      <a:pPr algn="ctr"/>
                      <a:r>
                        <a:rPr sz="800" b="0">
                          <a:solidFill>
                            <a:srgbClr val="2F3B3A"/>
                          </a:solidFill>
                          <a:latin typeface="Calibri"/>
                        </a:rPr>
                        <a:t>54%</a:t>
                      </a:r>
                    </a:p>
                  </a:txBody>
                  <a:tcPr marL="45000" marR="45000" marT="12000" marB="12000" anchor="ctr">
                    <a:solidFill>
                      <a:srgbClr val="F7F9F9"/>
                    </a:solidFill>
                  </a:tcPr>
                </a:tc>
                <a:tc>
                  <a:txBody>
                    <a:bodyPr/>
                    <a:lstStyle/>
                    <a:p>
                      <a:pPr algn="ctr"/>
                      <a:r>
                        <a:rPr sz="800" b="0">
                          <a:solidFill>
                            <a:srgbClr val="2F3B3A"/>
                          </a:solidFill>
                          <a:latin typeface="Calibri"/>
                        </a:rPr>
                        <a:t>11,9%</a:t>
                      </a:r>
                    </a:p>
                  </a:txBody>
                  <a:tcPr marL="45000" marR="45000" marT="12000" marB="12000" anchor="ctr">
                    <a:solidFill>
                      <a:srgbClr val="F7F9F9"/>
                    </a:solidFill>
                  </a:tcPr>
                </a:tc>
                <a:tc>
                  <a:txBody>
                    <a:bodyPr/>
                    <a:lstStyle/>
                    <a:p>
                      <a:pPr algn="ctr"/>
                      <a:r>
                        <a:rPr sz="800" b="1">
                          <a:solidFill>
                            <a:srgbClr val="13807B"/>
                          </a:solidFill>
                          <a:latin typeface="Calibri"/>
                        </a:rPr>
                        <a:t>Concluyente</a:t>
                      </a:r>
                    </a:p>
                  </a:txBody>
                  <a:tcPr marL="45000" marR="45000" marT="12000" marB="12000" anchor="ctr">
                    <a:solidFill>
                      <a:srgbClr val="F7F9F9"/>
                    </a:solidFill>
                  </a:tcPr>
                </a:tc>
                <a:extLst>
                  <a:ext uri="{0D108BD9-81ED-4DB2-BD59-A6C34878D82A}">
                    <a16:rowId xmlns:a16="http://schemas.microsoft.com/office/drawing/2014/main" val="10008"/>
                  </a:ext>
                </a:extLst>
              </a:tr>
              <a:tr h="210000">
                <a:tc>
                  <a:txBody>
                    <a:bodyPr/>
                    <a:lstStyle/>
                    <a:p>
                      <a:pPr algn="ctr"/>
                      <a:r>
                        <a:rPr sz="800" b="0">
                          <a:solidFill>
                            <a:srgbClr val="2F3B3A"/>
                          </a:solidFill>
                          <a:latin typeface="Calibri"/>
                        </a:rPr>
                        <a:t>Socio</a:t>
                      </a:r>
                    </a:p>
                  </a:txBody>
                  <a:tcPr marL="45000" marR="45000" marT="12000" marB="12000" anchor="ctr">
                    <a:solidFill>
                      <a:srgbClr val="FFFFFF"/>
                    </a:solidFill>
                  </a:tcPr>
                </a:tc>
                <a:tc>
                  <a:txBody>
                    <a:bodyPr/>
                    <a:lstStyle/>
                    <a:p>
                      <a:pPr algn="ctr"/>
                      <a:r>
                        <a:rPr sz="800" b="0">
                          <a:solidFill>
                            <a:srgbClr val="2F3B3A"/>
                          </a:solidFill>
                          <a:latin typeface="Calibri"/>
                        </a:rPr>
                        <a:t>Pasivos ≥ 5K</a:t>
                      </a:r>
                    </a:p>
                  </a:txBody>
                  <a:tcPr marL="45000" marR="45000" marT="12000" marB="12000" anchor="ctr">
                    <a:solidFill>
                      <a:srgbClr val="FFFFFF"/>
                    </a:solidFill>
                  </a:tcPr>
                </a:tc>
                <a:tc>
                  <a:txBody>
                    <a:bodyPr/>
                    <a:lstStyle/>
                    <a:p>
                      <a:pPr algn="ctr"/>
                      <a:r>
                        <a:rPr sz="800" b="0">
                          <a:solidFill>
                            <a:srgbClr val="2F3B3A"/>
                          </a:solidFill>
                          <a:latin typeface="Calibri"/>
                        </a:rPr>
                        <a:t>137</a:t>
                      </a:r>
                    </a:p>
                  </a:txBody>
                  <a:tcPr marL="45000" marR="45000" marT="12000" marB="12000" anchor="ctr">
                    <a:solidFill>
                      <a:srgbClr val="FFFFFF"/>
                    </a:solidFill>
                  </a:tcPr>
                </a:tc>
                <a:tc>
                  <a:txBody>
                    <a:bodyPr/>
                    <a:lstStyle/>
                    <a:p>
                      <a:pPr algn="ctr"/>
                      <a:r>
                        <a:rPr sz="800" b="0">
                          <a:solidFill>
                            <a:srgbClr val="2F3B3A"/>
                          </a:solidFill>
                          <a:latin typeface="Calibri"/>
                        </a:rPr>
                        <a:t>66</a:t>
                      </a:r>
                    </a:p>
                  </a:txBody>
                  <a:tcPr marL="45000" marR="45000" marT="12000" marB="12000" anchor="ctr">
                    <a:solidFill>
                      <a:srgbClr val="FFFFFF"/>
                    </a:solidFill>
                  </a:tcPr>
                </a:tc>
                <a:tc>
                  <a:txBody>
                    <a:bodyPr/>
                    <a:lstStyle/>
                    <a:p>
                      <a:pPr algn="ctr"/>
                      <a:r>
                        <a:rPr sz="800" b="0">
                          <a:solidFill>
                            <a:srgbClr val="2F3B3A"/>
                          </a:solidFill>
                          <a:latin typeface="Calibri"/>
                        </a:rPr>
                        <a:t>48%</a:t>
                      </a:r>
                    </a:p>
                  </a:txBody>
                  <a:tcPr marL="45000" marR="45000" marT="12000" marB="12000" anchor="ctr">
                    <a:solidFill>
                      <a:srgbClr val="FFFFFF"/>
                    </a:solidFill>
                  </a:tcPr>
                </a:tc>
                <a:tc>
                  <a:txBody>
                    <a:bodyPr/>
                    <a:lstStyle/>
                    <a:p>
                      <a:pPr algn="ctr"/>
                      <a:r>
                        <a:rPr sz="800" b="0">
                          <a:solidFill>
                            <a:srgbClr val="2F3B3A"/>
                          </a:solidFill>
                          <a:latin typeface="Calibri"/>
                        </a:rPr>
                        <a:t>8,1%</a:t>
                      </a:r>
                    </a:p>
                  </a:txBody>
                  <a:tcPr marL="45000" marR="45000" marT="12000" marB="12000" anchor="ctr">
                    <a:solidFill>
                      <a:srgbClr val="FFFFFF"/>
                    </a:solidFill>
                  </a:tcPr>
                </a:tc>
                <a:tc>
                  <a:txBody>
                    <a:bodyPr/>
                    <a:lstStyle/>
                    <a:p>
                      <a:pPr algn="ctr"/>
                      <a:r>
                        <a:rPr sz="800" b="1">
                          <a:solidFill>
                            <a:srgbClr val="13807B"/>
                          </a:solidFill>
                          <a:latin typeface="Calibri"/>
                        </a:rPr>
                        <a:t>Concluyente</a:t>
                      </a:r>
                    </a:p>
                  </a:txBody>
                  <a:tcPr marL="45000" marR="45000" marT="12000" marB="12000" anchor="ctr">
                    <a:solidFill>
                      <a:srgbClr val="FFFFFF"/>
                    </a:solidFill>
                  </a:tcPr>
                </a:tc>
                <a:extLst>
                  <a:ext uri="{0D108BD9-81ED-4DB2-BD59-A6C34878D82A}">
                    <a16:rowId xmlns:a16="http://schemas.microsoft.com/office/drawing/2014/main" val="10007"/>
                  </a:ext>
                </a:extLst>
              </a:tr>
              <a:tr h="210000">
                <a:tc>
                  <a:txBody>
                    <a:bodyPr/>
                    <a:lstStyle/>
                    <a:p>
                      <a:pPr algn="ctr"/>
                      <a:r>
                        <a:rPr sz="800" b="0">
                          <a:solidFill>
                            <a:srgbClr val="2F3B3A"/>
                          </a:solidFill>
                          <a:latin typeface="Calibri"/>
                        </a:rPr>
                        <a:t>Gran Cuenta</a:t>
                      </a:r>
                    </a:p>
                  </a:txBody>
                  <a:tcPr marL="45000" marR="45000" marT="12000" marB="12000" anchor="ctr">
                    <a:solidFill>
                      <a:srgbClr val="FFFFFF"/>
                    </a:solidFill>
                  </a:tcPr>
                </a:tc>
                <a:tc>
                  <a:txBody>
                    <a:bodyPr/>
                    <a:lstStyle/>
                    <a:p>
                      <a:pPr algn="ctr"/>
                      <a:r>
                        <a:rPr sz="800" b="0">
                          <a:solidFill>
                            <a:srgbClr val="2F3B3A"/>
                          </a:solidFill>
                          <a:latin typeface="Calibri"/>
                        </a:rPr>
                        <a:t>SSFF ≤ 1,5MM</a:t>
                      </a:r>
                    </a:p>
                  </a:txBody>
                  <a:tcPr marL="45000" marR="45000" marT="12000" marB="12000" anchor="ctr">
                    <a:solidFill>
                      <a:srgbClr val="FFFFFF"/>
                    </a:solidFill>
                  </a:tcPr>
                </a:tc>
                <a:tc>
                  <a:txBody>
                    <a:bodyPr/>
                    <a:lstStyle/>
                    <a:p>
                      <a:pPr algn="ctr"/>
                      <a:r>
                        <a:rPr sz="800" b="0">
                          <a:solidFill>
                            <a:srgbClr val="2F3B3A"/>
                          </a:solidFill>
                          <a:latin typeface="Calibri"/>
                        </a:rPr>
                        <a:t>33</a:t>
                      </a:r>
                    </a:p>
                  </a:txBody>
                  <a:tcPr marL="45000" marR="45000" marT="12000" marB="12000" anchor="ctr">
                    <a:solidFill>
                      <a:srgbClr val="FFFFFF"/>
                    </a:solidFill>
                  </a:tcPr>
                </a:tc>
                <a:tc>
                  <a:txBody>
                    <a:bodyPr/>
                    <a:lstStyle/>
                    <a:p>
                      <a:pPr algn="ctr"/>
                      <a:r>
                        <a:rPr sz="800" b="0">
                          <a:solidFill>
                            <a:srgbClr val="2F3B3A"/>
                          </a:solidFill>
                          <a:latin typeface="Calibri"/>
                        </a:rPr>
                        <a:t>12</a:t>
                      </a:r>
                    </a:p>
                  </a:txBody>
                  <a:tcPr marL="45000" marR="45000" marT="12000" marB="12000" anchor="ctr">
                    <a:solidFill>
                      <a:srgbClr val="FFFFFF"/>
                    </a:solidFill>
                  </a:tcPr>
                </a:tc>
                <a:tc>
                  <a:txBody>
                    <a:bodyPr/>
                    <a:lstStyle/>
                    <a:p>
                      <a:pPr algn="ctr"/>
                      <a:r>
                        <a:rPr sz="800" b="0">
                          <a:solidFill>
                            <a:srgbClr val="2F3B3A"/>
                          </a:solidFill>
                          <a:latin typeface="Calibri"/>
                        </a:rPr>
                        <a:t>36%</a:t>
                      </a:r>
                    </a:p>
                  </a:txBody>
                  <a:tcPr marL="45000" marR="45000" marT="12000" marB="12000" anchor="ctr">
                    <a:solidFill>
                      <a:srgbClr val="FFFFFF"/>
                    </a:solidFill>
                  </a:tcPr>
                </a:tc>
                <a:tc>
                  <a:txBody>
                    <a:bodyPr/>
                    <a:lstStyle/>
                    <a:p>
                      <a:pPr algn="ctr"/>
                      <a:r>
                        <a:rPr sz="800" b="0">
                          <a:solidFill>
                            <a:srgbClr val="2F3B3A"/>
                          </a:solidFill>
                          <a:latin typeface="Calibri"/>
                        </a:rPr>
                        <a:t>1,5%</a:t>
                      </a:r>
                    </a:p>
                  </a:txBody>
                  <a:tcPr marL="45000" marR="45000" marT="12000" marB="12000" anchor="ctr">
                    <a:solidFill>
                      <a:srgbClr val="FFFFFF"/>
                    </a:solidFill>
                  </a:tcPr>
                </a:tc>
                <a:tc>
                  <a:txBody>
                    <a:bodyPr/>
                    <a:lstStyle/>
                    <a:p>
                      <a:pPr algn="ctr"/>
                      <a:r>
                        <a:rPr sz="800" b="1">
                          <a:solidFill>
                            <a:srgbClr val="C2410C"/>
                          </a:solidFill>
                          <a:latin typeface="Calibri"/>
                        </a:rPr>
                        <a:t>Indicativa</a:t>
                      </a:r>
                    </a:p>
                  </a:txBody>
                  <a:tcPr marL="45000" marR="45000" marT="12000" marB="12000" anchor="ctr">
                    <a:solidFill>
                      <a:srgbClr val="FFFFFF"/>
                    </a:solidFill>
                  </a:tcPr>
                </a:tc>
                <a:extLst>
                  <a:ext uri="{0D108BD9-81ED-4DB2-BD59-A6C34878D82A}">
                    <a16:rowId xmlns:a16="http://schemas.microsoft.com/office/drawing/2014/main" val="10009"/>
                  </a:ext>
                </a:extLst>
              </a:tr>
              <a:tr h="210000">
                <a:tc>
                  <a:txBody>
                    <a:bodyPr/>
                    <a:lstStyle/>
                    <a:p>
                      <a:pPr algn="ctr"/>
                      <a:r>
                        <a:rPr sz="800" b="0">
                          <a:solidFill>
                            <a:srgbClr val="2F3B3A"/>
                          </a:solidFill>
                          <a:latin typeface="Calibri"/>
                        </a:rPr>
                        <a:t>Gran Cuenta</a:t>
                      </a:r>
                    </a:p>
                  </a:txBody>
                  <a:tcPr marL="45000" marR="45000" marT="12000" marB="12000" anchor="ctr">
                    <a:solidFill>
                      <a:srgbClr val="F7F9F9"/>
                    </a:solidFill>
                  </a:tcPr>
                </a:tc>
                <a:tc>
                  <a:txBody>
                    <a:bodyPr/>
                    <a:lstStyle/>
                    <a:p>
                      <a:pPr algn="ctr"/>
                      <a:r>
                        <a:rPr sz="800" b="0">
                          <a:solidFill>
                            <a:srgbClr val="2F3B3A"/>
                          </a:solidFill>
                          <a:latin typeface="Calibri"/>
                        </a:rPr>
                        <a:t>SSFF 1,5–3,8MM</a:t>
                      </a:r>
                    </a:p>
                  </a:txBody>
                  <a:tcPr marL="45000" marR="45000" marT="12000" marB="12000" anchor="ctr">
                    <a:solidFill>
                      <a:srgbClr val="F7F9F9"/>
                    </a:solidFill>
                  </a:tcPr>
                </a:tc>
                <a:tc>
                  <a:txBody>
                    <a:bodyPr/>
                    <a:lstStyle/>
                    <a:p>
                      <a:pPr algn="ctr"/>
                      <a:r>
                        <a:rPr sz="800" b="0">
                          <a:solidFill>
                            <a:srgbClr val="2F3B3A"/>
                          </a:solidFill>
                          <a:latin typeface="Calibri"/>
                        </a:rPr>
                        <a:t>94</a:t>
                      </a:r>
                    </a:p>
                  </a:txBody>
                  <a:tcPr marL="45000" marR="45000" marT="12000" marB="12000" anchor="ctr">
                    <a:solidFill>
                      <a:srgbClr val="F7F9F9"/>
                    </a:solidFill>
                  </a:tcPr>
                </a:tc>
                <a:tc>
                  <a:txBody>
                    <a:bodyPr/>
                    <a:lstStyle/>
                    <a:p>
                      <a:pPr algn="ctr"/>
                      <a:r>
                        <a:rPr sz="800" b="0">
                          <a:solidFill>
                            <a:srgbClr val="2F3B3A"/>
                          </a:solidFill>
                          <a:latin typeface="Calibri"/>
                        </a:rPr>
                        <a:t>36</a:t>
                      </a:r>
                    </a:p>
                  </a:txBody>
                  <a:tcPr marL="45000" marR="45000" marT="12000" marB="12000" anchor="ctr">
                    <a:solidFill>
                      <a:srgbClr val="F7F9F9"/>
                    </a:solidFill>
                  </a:tcPr>
                </a:tc>
                <a:tc>
                  <a:txBody>
                    <a:bodyPr/>
                    <a:lstStyle/>
                    <a:p>
                      <a:pPr algn="ctr"/>
                      <a:r>
                        <a:rPr sz="800" b="0">
                          <a:solidFill>
                            <a:srgbClr val="2F3B3A"/>
                          </a:solidFill>
                          <a:latin typeface="Calibri"/>
                        </a:rPr>
                        <a:t>38%</a:t>
                      </a:r>
                    </a:p>
                  </a:txBody>
                  <a:tcPr marL="45000" marR="45000" marT="12000" marB="12000" anchor="ctr">
                    <a:solidFill>
                      <a:srgbClr val="F7F9F9"/>
                    </a:solidFill>
                  </a:tcPr>
                </a:tc>
                <a:tc>
                  <a:txBody>
                    <a:bodyPr/>
                    <a:lstStyle/>
                    <a:p>
                      <a:pPr algn="ctr"/>
                      <a:r>
                        <a:rPr sz="800" b="0">
                          <a:solidFill>
                            <a:srgbClr val="2F3B3A"/>
                          </a:solidFill>
                          <a:latin typeface="Calibri"/>
                        </a:rPr>
                        <a:t>4,4%</a:t>
                      </a:r>
                    </a:p>
                  </a:txBody>
                  <a:tcPr marL="45000" marR="45000" marT="12000" marB="12000" anchor="ctr">
                    <a:solidFill>
                      <a:srgbClr val="F7F9F9"/>
                    </a:solidFill>
                  </a:tcPr>
                </a:tc>
                <a:tc>
                  <a:txBody>
                    <a:bodyPr/>
                    <a:lstStyle/>
                    <a:p>
                      <a:pPr algn="ctr"/>
                      <a:r>
                        <a:rPr sz="800" b="1">
                          <a:solidFill>
                            <a:srgbClr val="13807B"/>
                          </a:solidFill>
                          <a:latin typeface="Calibri"/>
                        </a:rPr>
                        <a:t>Concluyente · inconsistente</a:t>
                      </a:r>
                    </a:p>
                  </a:txBody>
                  <a:tcPr marL="45000" marR="45000" marT="12000" marB="12000" anchor="ctr">
                    <a:solidFill>
                      <a:srgbClr val="F7F9F9"/>
                    </a:solidFill>
                  </a:tcPr>
                </a:tc>
                <a:extLst>
                  <a:ext uri="{0D108BD9-81ED-4DB2-BD59-A6C34878D82A}">
                    <a16:rowId xmlns:a16="http://schemas.microsoft.com/office/drawing/2014/main" val="10010"/>
                  </a:ext>
                </a:extLst>
              </a:tr>
              <a:tr h="210000">
                <a:tc>
                  <a:txBody>
                    <a:bodyPr/>
                    <a:lstStyle/>
                    <a:p>
                      <a:pPr algn="ctr"/>
                      <a:r>
                        <a:rPr sz="800" b="0">
                          <a:solidFill>
                            <a:srgbClr val="2F3B3A"/>
                          </a:solidFill>
                          <a:latin typeface="Calibri"/>
                        </a:rPr>
                        <a:t>Reactivar</a:t>
                      </a:r>
                    </a:p>
                  </a:txBody>
                  <a:tcPr marL="45000" marR="45000" marT="12000" marB="12000" anchor="ctr">
                    <a:solidFill>
                      <a:srgbClr val="F7F9F9"/>
                    </a:solidFill>
                  </a:tcPr>
                </a:tc>
                <a:tc>
                  <a:txBody>
                    <a:bodyPr/>
                    <a:lstStyle/>
                    <a:p>
                      <a:pPr algn="ctr"/>
                      <a:r>
                        <a:rPr sz="800" b="0">
                          <a:solidFill>
                            <a:srgbClr val="2F3B3A"/>
                          </a:solidFill>
                          <a:latin typeface="Calibri"/>
                        </a:rPr>
                        <a:t>Pasivos &lt; 1K</a:t>
                      </a:r>
                    </a:p>
                  </a:txBody>
                  <a:tcPr marL="45000" marR="45000" marT="12000" marB="12000" anchor="ctr">
                    <a:solidFill>
                      <a:srgbClr val="F7F9F9"/>
                    </a:solidFill>
                  </a:tcPr>
                </a:tc>
                <a:tc>
                  <a:txBody>
                    <a:bodyPr/>
                    <a:lstStyle/>
                    <a:p>
                      <a:pPr algn="ctr"/>
                      <a:r>
                        <a:rPr sz="800" b="0">
                          <a:solidFill>
                            <a:srgbClr val="2F3B3A"/>
                          </a:solidFill>
                          <a:latin typeface="Calibri"/>
                        </a:rPr>
                        <a:t>33</a:t>
                      </a:r>
                    </a:p>
                  </a:txBody>
                  <a:tcPr marL="45000" marR="45000" marT="12000" marB="12000" anchor="ctr">
                    <a:solidFill>
                      <a:srgbClr val="F7F9F9"/>
                    </a:solidFill>
                  </a:tcPr>
                </a:tc>
                <a:tc>
                  <a:txBody>
                    <a:bodyPr/>
                    <a:lstStyle/>
                    <a:p>
                      <a:pPr algn="ctr"/>
                      <a:r>
                        <a:rPr sz="800" b="0">
                          <a:solidFill>
                            <a:srgbClr val="2F3B3A"/>
                          </a:solidFill>
                          <a:latin typeface="Calibri"/>
                        </a:rPr>
                        <a:t>11</a:t>
                      </a:r>
                    </a:p>
                  </a:txBody>
                  <a:tcPr marL="45000" marR="45000" marT="12000" marB="12000" anchor="ctr">
                    <a:solidFill>
                      <a:srgbClr val="F7F9F9"/>
                    </a:solidFill>
                  </a:tcPr>
                </a:tc>
                <a:tc>
                  <a:txBody>
                    <a:bodyPr/>
                    <a:lstStyle/>
                    <a:p>
                      <a:pPr algn="ctr"/>
                      <a:r>
                        <a:rPr sz="800" b="0">
                          <a:solidFill>
                            <a:srgbClr val="2F3B3A"/>
                          </a:solidFill>
                          <a:latin typeface="Calibri"/>
                        </a:rPr>
                        <a:t>33%</a:t>
                      </a:r>
                    </a:p>
                  </a:txBody>
                  <a:tcPr marL="45000" marR="45000" marT="12000" marB="12000" anchor="ctr">
                    <a:solidFill>
                      <a:srgbClr val="F7F9F9"/>
                    </a:solidFill>
                  </a:tcPr>
                </a:tc>
                <a:tc>
                  <a:txBody>
                    <a:bodyPr/>
                    <a:lstStyle/>
                    <a:p>
                      <a:pPr algn="ctr"/>
                      <a:r>
                        <a:rPr sz="800" b="0">
                          <a:solidFill>
                            <a:srgbClr val="2F3B3A"/>
                          </a:solidFill>
                          <a:latin typeface="Calibri"/>
                        </a:rPr>
                        <a:t>1,3%</a:t>
                      </a:r>
                    </a:p>
                  </a:txBody>
                  <a:tcPr marL="45000" marR="45000" marT="12000" marB="12000" anchor="ctr">
                    <a:solidFill>
                      <a:srgbClr val="F7F9F9"/>
                    </a:solidFill>
                  </a:tcPr>
                </a:tc>
                <a:tc>
                  <a:txBody>
                    <a:bodyPr/>
                    <a:lstStyle/>
                    <a:p>
                      <a:pPr algn="ctr"/>
                      <a:r>
                        <a:rPr sz="800" b="1">
                          <a:solidFill>
                            <a:srgbClr val="C2410C"/>
                          </a:solidFill>
                          <a:latin typeface="Calibri"/>
                        </a:rPr>
                        <a:t>Indicativa</a:t>
                      </a:r>
                    </a:p>
                  </a:txBody>
                  <a:tcPr marL="45000" marR="45000" marT="12000" marB="12000" anchor="ctr">
                    <a:solidFill>
                      <a:srgbClr val="F7F9F9"/>
                    </a:solidFill>
                  </a:tcPr>
                </a:tc>
                <a:extLst>
                  <a:ext uri="{0D108BD9-81ED-4DB2-BD59-A6C34878D82A}">
                    <a16:rowId xmlns:a16="http://schemas.microsoft.com/office/drawing/2014/main" val="10012"/>
                  </a:ext>
                </a:extLst>
              </a:tr>
              <a:tr h="210000">
                <a:tc>
                  <a:txBody>
                    <a:bodyPr/>
                    <a:lstStyle/>
                    <a:p>
                      <a:pPr algn="ctr"/>
                      <a:r>
                        <a:rPr sz="800" b="0">
                          <a:solidFill>
                            <a:srgbClr val="2F3B3A"/>
                          </a:solidFill>
                          <a:latin typeface="Calibri"/>
                        </a:rPr>
                        <a:t>Reactivar</a:t>
                      </a:r>
                    </a:p>
                  </a:txBody>
                  <a:tcPr marL="45000" marR="45000" marT="12000" marB="12000" anchor="ctr">
                    <a:solidFill>
                      <a:srgbClr val="FFFFFF"/>
                    </a:solidFill>
                  </a:tcPr>
                </a:tc>
                <a:tc>
                  <a:txBody>
                    <a:bodyPr/>
                    <a:lstStyle/>
                    <a:p>
                      <a:pPr algn="ctr"/>
                      <a:r>
                        <a:rPr sz="800" b="0">
                          <a:solidFill>
                            <a:srgbClr val="2F3B3A"/>
                          </a:solidFill>
                          <a:latin typeface="Calibri"/>
                        </a:rPr>
                        <a:t>Pasivos ≥ 5K</a:t>
                      </a:r>
                    </a:p>
                  </a:txBody>
                  <a:tcPr marL="45000" marR="45000" marT="12000" marB="12000" anchor="ctr">
                    <a:solidFill>
                      <a:srgbClr val="FFFFFF"/>
                    </a:solidFill>
                  </a:tcPr>
                </a:tc>
                <a:tc>
                  <a:txBody>
                    <a:bodyPr/>
                    <a:lstStyle/>
                    <a:p>
                      <a:pPr algn="ctr"/>
                      <a:r>
                        <a:rPr sz="800" b="0">
                          <a:solidFill>
                            <a:srgbClr val="2F3B3A"/>
                          </a:solidFill>
                          <a:latin typeface="Calibri"/>
                        </a:rPr>
                        <a:t>18</a:t>
                      </a:r>
                    </a:p>
                  </a:txBody>
                  <a:tcPr marL="45000" marR="45000" marT="12000" marB="12000" anchor="ctr">
                    <a:solidFill>
                      <a:srgbClr val="FFFFFF"/>
                    </a:solidFill>
                  </a:tcPr>
                </a:tc>
                <a:tc>
                  <a:txBody>
                    <a:bodyPr/>
                    <a:lstStyle/>
                    <a:p>
                      <a:pPr algn="ctr"/>
                      <a:r>
                        <a:rPr sz="800" b="0">
                          <a:solidFill>
                            <a:srgbClr val="2F3B3A"/>
                          </a:solidFill>
                          <a:latin typeface="Calibri"/>
                        </a:rPr>
                        <a:t>6</a:t>
                      </a:r>
                    </a:p>
                  </a:txBody>
                  <a:tcPr marL="45000" marR="45000" marT="12000" marB="12000" anchor="ctr">
                    <a:solidFill>
                      <a:srgbClr val="FFFFFF"/>
                    </a:solidFill>
                  </a:tcPr>
                </a:tc>
                <a:tc>
                  <a:txBody>
                    <a:bodyPr/>
                    <a:lstStyle/>
                    <a:p>
                      <a:pPr algn="ctr"/>
                      <a:r>
                        <a:rPr sz="800" b="0">
                          <a:solidFill>
                            <a:srgbClr val="2F3B3A"/>
                          </a:solidFill>
                          <a:latin typeface="Calibri"/>
                        </a:rPr>
                        <a:t>33%</a:t>
                      </a:r>
                    </a:p>
                  </a:txBody>
                  <a:tcPr marL="45000" marR="45000" marT="12000" marB="12000" anchor="ctr">
                    <a:solidFill>
                      <a:srgbClr val="FFFFFF"/>
                    </a:solidFill>
                  </a:tcPr>
                </a:tc>
                <a:tc>
                  <a:txBody>
                    <a:bodyPr/>
                    <a:lstStyle/>
                    <a:p>
                      <a:pPr algn="ctr"/>
                      <a:r>
                        <a:rPr sz="800" b="0">
                          <a:solidFill>
                            <a:srgbClr val="2F3B3A"/>
                          </a:solidFill>
                          <a:latin typeface="Calibri"/>
                        </a:rPr>
                        <a:t>0,7%</a:t>
                      </a:r>
                    </a:p>
                  </a:txBody>
                  <a:tcPr marL="45000" marR="45000" marT="12000" marB="12000" anchor="ctr">
                    <a:solidFill>
                      <a:srgbClr val="FFFFFF"/>
                    </a:solidFill>
                  </a:tcPr>
                </a:tc>
                <a:tc>
                  <a:txBody>
                    <a:bodyPr/>
                    <a:lstStyle/>
                    <a:p>
                      <a:pPr algn="ctr"/>
                      <a:r>
                        <a:rPr sz="800" b="1">
                          <a:solidFill>
                            <a:srgbClr val="6E7E7D"/>
                          </a:solidFill>
                          <a:latin typeface="Calibri"/>
                        </a:rPr>
                        <a:t>No concluyente</a:t>
                      </a:r>
                    </a:p>
                  </a:txBody>
                  <a:tcPr marL="45000" marR="45000" marT="12000" marB="12000" anchor="ctr">
                    <a:solidFill>
                      <a:srgbClr val="FFFFFF"/>
                    </a:solidFill>
                  </a:tcPr>
                </a:tc>
                <a:extLst>
                  <a:ext uri="{0D108BD9-81ED-4DB2-BD59-A6C34878D82A}">
                    <a16:rowId xmlns:a16="http://schemas.microsoft.com/office/drawing/2014/main" val="10011"/>
                  </a:ext>
                </a:extLst>
              </a:tr>
              <a:tr h="210000">
                <a:tc>
                  <a:txBody>
                    <a:bodyPr/>
                    <a:lstStyle/>
                    <a:p>
                      <a:pPr algn="ctr"/>
                      <a:r>
                        <a:rPr sz="800" b="0">
                          <a:solidFill>
                            <a:srgbClr val="2F3B3A"/>
                          </a:solidFill>
                          <a:latin typeface="Calibri"/>
                        </a:rPr>
                        <a:t>Próximo</a:t>
                      </a:r>
                    </a:p>
                  </a:txBody>
                  <a:tcPr marL="45000" marR="45000" marT="12000" marB="12000" anchor="ctr">
                    <a:solidFill>
                      <a:srgbClr val="FFFFFF"/>
                    </a:solidFill>
                  </a:tcPr>
                </a:tc>
                <a:tc>
                  <a:txBody>
                    <a:bodyPr/>
                    <a:lstStyle/>
                    <a:p>
                      <a:pPr algn="ctr"/>
                      <a:r>
                        <a:rPr sz="800" b="0">
                          <a:solidFill>
                            <a:srgbClr val="2F3B3A"/>
                          </a:solidFill>
                          <a:latin typeface="Calibri"/>
                        </a:rPr>
                        <a:t>≤ 170K</a:t>
                      </a:r>
                    </a:p>
                  </a:txBody>
                  <a:tcPr marL="45000" marR="45000" marT="12000" marB="12000" anchor="ctr">
                    <a:solidFill>
                      <a:srgbClr val="FFFFFF"/>
                    </a:solidFill>
                  </a:tcPr>
                </a:tc>
                <a:tc>
                  <a:txBody>
                    <a:bodyPr/>
                    <a:lstStyle/>
                    <a:p>
                      <a:pPr algn="ctr"/>
                      <a:r>
                        <a:rPr sz="800" b="0">
                          <a:solidFill>
                            <a:srgbClr val="2F3B3A"/>
                          </a:solidFill>
                          <a:latin typeface="Calibri"/>
                        </a:rPr>
                        <a:t>18</a:t>
                      </a:r>
                    </a:p>
                  </a:txBody>
                  <a:tcPr marL="45000" marR="45000" marT="12000" marB="12000" anchor="ctr">
                    <a:solidFill>
                      <a:srgbClr val="FFFFFF"/>
                    </a:solidFill>
                  </a:tcPr>
                </a:tc>
                <a:tc>
                  <a:txBody>
                    <a:bodyPr/>
                    <a:lstStyle/>
                    <a:p>
                      <a:pPr algn="ctr"/>
                      <a:r>
                        <a:rPr sz="800" b="0">
                          <a:solidFill>
                            <a:srgbClr val="2F3B3A"/>
                          </a:solidFill>
                          <a:latin typeface="Calibri"/>
                        </a:rPr>
                        <a:t>5</a:t>
                      </a:r>
                    </a:p>
                  </a:txBody>
                  <a:tcPr marL="45000" marR="45000" marT="12000" marB="12000" anchor="ctr">
                    <a:solidFill>
                      <a:srgbClr val="FFFFFF"/>
                    </a:solidFill>
                  </a:tcPr>
                </a:tc>
                <a:tc>
                  <a:txBody>
                    <a:bodyPr/>
                    <a:lstStyle/>
                    <a:p>
                      <a:pPr algn="ctr"/>
                      <a:r>
                        <a:rPr sz="800" b="0">
                          <a:solidFill>
                            <a:srgbClr val="2F3B3A"/>
                          </a:solidFill>
                          <a:latin typeface="Calibri"/>
                        </a:rPr>
                        <a:t>28%</a:t>
                      </a:r>
                    </a:p>
                  </a:txBody>
                  <a:tcPr marL="45000" marR="45000" marT="12000" marB="12000" anchor="ctr">
                    <a:solidFill>
                      <a:srgbClr val="FFFFFF"/>
                    </a:solidFill>
                  </a:tcPr>
                </a:tc>
                <a:tc>
                  <a:txBody>
                    <a:bodyPr/>
                    <a:lstStyle/>
                    <a:p>
                      <a:pPr algn="ctr"/>
                      <a:r>
                        <a:rPr sz="800" b="0">
                          <a:solidFill>
                            <a:srgbClr val="2F3B3A"/>
                          </a:solidFill>
                          <a:latin typeface="Calibri"/>
                        </a:rPr>
                        <a:t>0,6%</a:t>
                      </a:r>
                    </a:p>
                  </a:txBody>
                  <a:tcPr marL="45000" marR="45000" marT="12000" marB="12000" anchor="ctr">
                    <a:solidFill>
                      <a:srgbClr val="FFFFFF"/>
                    </a:solidFill>
                  </a:tcPr>
                </a:tc>
                <a:tc>
                  <a:txBody>
                    <a:bodyPr/>
                    <a:lstStyle/>
                    <a:p>
                      <a:pPr algn="ctr"/>
                      <a:r>
                        <a:rPr sz="800" b="1">
                          <a:solidFill>
                            <a:srgbClr val="6E7E7D"/>
                          </a:solidFill>
                          <a:latin typeface="Calibri"/>
                        </a:rPr>
                        <a:t>No concluyente</a:t>
                      </a:r>
                    </a:p>
                  </a:txBody>
                  <a:tcPr marL="45000" marR="45000" marT="12000" marB="12000" anchor="ctr">
                    <a:solidFill>
                      <a:srgbClr val="FFFFFF"/>
                    </a:solidFill>
                  </a:tcPr>
                </a:tc>
                <a:extLst>
                  <a:ext uri="{0D108BD9-81ED-4DB2-BD59-A6C34878D82A}">
                    <a16:rowId xmlns:a16="http://schemas.microsoft.com/office/drawing/2014/main" val="10013"/>
                  </a:ext>
                </a:extLst>
              </a:tr>
              <a:tr h="210000">
                <a:tc>
                  <a:txBody>
                    <a:bodyPr/>
                    <a:lstStyle/>
                    <a:p>
                      <a:pPr algn="ctr"/>
                      <a:r>
                        <a:rPr sz="800" b="0">
                          <a:solidFill>
                            <a:srgbClr val="2F3B3A"/>
                          </a:solidFill>
                          <a:latin typeface="Calibri"/>
                        </a:rPr>
                        <a:t>Próximo</a:t>
                      </a:r>
                    </a:p>
                  </a:txBody>
                  <a:tcPr marL="45000" marR="45000" marT="12000" marB="12000" anchor="ctr">
                    <a:solidFill>
                      <a:srgbClr val="F7F9F9"/>
                    </a:solidFill>
                  </a:tcPr>
                </a:tc>
                <a:tc>
                  <a:txBody>
                    <a:bodyPr/>
                    <a:lstStyle/>
                    <a:p>
                      <a:pPr algn="ctr"/>
                      <a:r>
                        <a:rPr sz="800" b="0">
                          <a:solidFill>
                            <a:srgbClr val="2F3B3A"/>
                          </a:solidFill>
                          <a:latin typeface="Calibri"/>
                        </a:rPr>
                        <a:t>&gt; 250K</a:t>
                      </a:r>
                    </a:p>
                  </a:txBody>
                  <a:tcPr marL="45000" marR="45000" marT="12000" marB="12000" anchor="ctr">
                    <a:solidFill>
                      <a:srgbClr val="F7F9F9"/>
                    </a:solidFill>
                  </a:tcPr>
                </a:tc>
                <a:tc>
                  <a:txBody>
                    <a:bodyPr/>
                    <a:lstStyle/>
                    <a:p>
                      <a:pPr algn="ctr"/>
                      <a:r>
                        <a:rPr sz="800" b="0">
                          <a:solidFill>
                            <a:srgbClr val="2F3B3A"/>
                          </a:solidFill>
                          <a:latin typeface="Calibri"/>
                        </a:rPr>
                        <a:t>21</a:t>
                      </a:r>
                    </a:p>
                  </a:txBody>
                  <a:tcPr marL="45000" marR="45000" marT="12000" marB="12000" anchor="ctr">
                    <a:solidFill>
                      <a:srgbClr val="F7F9F9"/>
                    </a:solidFill>
                  </a:tcPr>
                </a:tc>
                <a:tc>
                  <a:txBody>
                    <a:bodyPr/>
                    <a:lstStyle/>
                    <a:p>
                      <a:pPr algn="ctr"/>
                      <a:r>
                        <a:rPr sz="800" b="0">
                          <a:solidFill>
                            <a:srgbClr val="2F3B3A"/>
                          </a:solidFill>
                          <a:latin typeface="Calibri"/>
                        </a:rPr>
                        <a:t>11</a:t>
                      </a:r>
                    </a:p>
                  </a:txBody>
                  <a:tcPr marL="45000" marR="45000" marT="12000" marB="12000" anchor="ctr">
                    <a:solidFill>
                      <a:srgbClr val="F7F9F9"/>
                    </a:solidFill>
                  </a:tcPr>
                </a:tc>
                <a:tc>
                  <a:txBody>
                    <a:bodyPr/>
                    <a:lstStyle/>
                    <a:p>
                      <a:pPr algn="ctr"/>
                      <a:r>
                        <a:rPr sz="800" b="0">
                          <a:solidFill>
                            <a:srgbClr val="2F3B3A"/>
                          </a:solidFill>
                          <a:latin typeface="Calibri"/>
                        </a:rPr>
                        <a:t>52%</a:t>
                      </a:r>
                    </a:p>
                  </a:txBody>
                  <a:tcPr marL="45000" marR="45000" marT="12000" marB="12000" anchor="ctr">
                    <a:solidFill>
                      <a:srgbClr val="F7F9F9"/>
                    </a:solidFill>
                  </a:tcPr>
                </a:tc>
                <a:tc>
                  <a:txBody>
                    <a:bodyPr/>
                    <a:lstStyle/>
                    <a:p>
                      <a:pPr algn="ctr"/>
                      <a:r>
                        <a:rPr sz="800" b="0">
                          <a:solidFill>
                            <a:srgbClr val="2F3B3A"/>
                          </a:solidFill>
                          <a:latin typeface="Calibri"/>
                        </a:rPr>
                        <a:t>1,3%</a:t>
                      </a:r>
                    </a:p>
                  </a:txBody>
                  <a:tcPr marL="45000" marR="45000" marT="12000" marB="12000" anchor="ctr">
                    <a:solidFill>
                      <a:srgbClr val="F7F9F9"/>
                    </a:solidFill>
                  </a:tcPr>
                </a:tc>
                <a:tc>
                  <a:txBody>
                    <a:bodyPr/>
                    <a:lstStyle/>
                    <a:p>
                      <a:pPr algn="ctr"/>
                      <a:r>
                        <a:rPr sz="800" b="1">
                          <a:solidFill>
                            <a:srgbClr val="6E7E7D"/>
                          </a:solidFill>
                          <a:latin typeface="Calibri"/>
                        </a:rPr>
                        <a:t>No concluyente</a:t>
                      </a:r>
                    </a:p>
                  </a:txBody>
                  <a:tcPr marL="45000" marR="45000" marT="12000" marB="12000" anchor="ctr">
                    <a:solidFill>
                      <a:srgbClr val="F7F9F9"/>
                    </a:solidFill>
                  </a:tcPr>
                </a:tc>
                <a:extLst>
                  <a:ext uri="{0D108BD9-81ED-4DB2-BD59-A6C34878D82A}">
                    <a16:rowId xmlns:a16="http://schemas.microsoft.com/office/drawing/2014/main" val="10014"/>
                  </a:ext>
                </a:extLst>
              </a:tr>
              <a:tr h="210000">
                <a:tc>
                  <a:txBody>
                    <a:bodyPr/>
                    <a:lstStyle/>
                    <a:p>
                      <a:pPr algn="ctr"/>
                      <a:r>
                        <a:rPr sz="800" b="0">
                          <a:solidFill>
                            <a:srgbClr val="2F3B3A"/>
                          </a:solidFill>
                          <a:latin typeface="Calibri"/>
                        </a:rPr>
                        <a:t>Nuevo</a:t>
                      </a:r>
                    </a:p>
                  </a:txBody>
                  <a:tcPr marL="45000" marR="45000" marT="12000" marB="12000" anchor="ctr">
                    <a:solidFill>
                      <a:srgbClr val="FFFFFF"/>
                    </a:solidFill>
                  </a:tcPr>
                </a:tc>
                <a:tc>
                  <a:txBody>
                    <a:bodyPr/>
                    <a:lstStyle/>
                    <a:p>
                      <a:pPr algn="ctr"/>
                      <a:r>
                        <a:rPr sz="800" b="0">
                          <a:solidFill>
                            <a:srgbClr val="2F3B3A"/>
                          </a:solidFill>
                          <a:latin typeface="Calibri"/>
                        </a:rPr>
                        <a:t>≤ 170K</a:t>
                      </a:r>
                    </a:p>
                  </a:txBody>
                  <a:tcPr marL="45000" marR="45000" marT="12000" marB="12000" anchor="ctr">
                    <a:solidFill>
                      <a:srgbClr val="FFFFFF"/>
                    </a:solidFill>
                  </a:tcPr>
                </a:tc>
                <a:tc>
                  <a:txBody>
                    <a:bodyPr/>
                    <a:lstStyle/>
                    <a:p>
                      <a:pPr algn="ctr"/>
                      <a:r>
                        <a:rPr sz="800" b="0">
                          <a:solidFill>
                            <a:srgbClr val="2F3B3A"/>
                          </a:solidFill>
                          <a:latin typeface="Calibri"/>
                        </a:rPr>
                        <a:t>17</a:t>
                      </a:r>
                    </a:p>
                  </a:txBody>
                  <a:tcPr marL="45000" marR="45000" marT="12000" marB="12000" anchor="ctr">
                    <a:solidFill>
                      <a:srgbClr val="FFFFFF"/>
                    </a:solidFill>
                  </a:tcPr>
                </a:tc>
                <a:tc>
                  <a:txBody>
                    <a:bodyPr/>
                    <a:lstStyle/>
                    <a:p>
                      <a:pPr algn="ctr"/>
                      <a:r>
                        <a:rPr sz="800" b="0">
                          <a:solidFill>
                            <a:srgbClr val="2F3B3A"/>
                          </a:solidFill>
                          <a:latin typeface="Calibri"/>
                        </a:rPr>
                        <a:t>7</a:t>
                      </a:r>
                    </a:p>
                  </a:txBody>
                  <a:tcPr marL="45000" marR="45000" marT="12000" marB="12000" anchor="ctr">
                    <a:solidFill>
                      <a:srgbClr val="FFFFFF"/>
                    </a:solidFill>
                  </a:tcPr>
                </a:tc>
                <a:tc>
                  <a:txBody>
                    <a:bodyPr/>
                    <a:lstStyle/>
                    <a:p>
                      <a:pPr algn="ctr"/>
                      <a:r>
                        <a:rPr sz="800" b="0">
                          <a:solidFill>
                            <a:srgbClr val="2F3B3A"/>
                          </a:solidFill>
                          <a:latin typeface="Calibri"/>
                        </a:rPr>
                        <a:t>41%</a:t>
                      </a:r>
                    </a:p>
                  </a:txBody>
                  <a:tcPr marL="45000" marR="45000" marT="12000" marB="12000" anchor="ctr">
                    <a:solidFill>
                      <a:srgbClr val="FFFFFF"/>
                    </a:solidFill>
                  </a:tcPr>
                </a:tc>
                <a:tc>
                  <a:txBody>
                    <a:bodyPr/>
                    <a:lstStyle/>
                    <a:p>
                      <a:pPr algn="ctr"/>
                      <a:r>
                        <a:rPr sz="800" b="0">
                          <a:solidFill>
                            <a:srgbClr val="2F3B3A"/>
                          </a:solidFill>
                          <a:latin typeface="Calibri"/>
                        </a:rPr>
                        <a:t>0,9%</a:t>
                      </a:r>
                    </a:p>
                  </a:txBody>
                  <a:tcPr marL="45000" marR="45000" marT="12000" marB="12000" anchor="ctr">
                    <a:solidFill>
                      <a:srgbClr val="FFFFFF"/>
                    </a:solidFill>
                  </a:tcPr>
                </a:tc>
                <a:tc>
                  <a:txBody>
                    <a:bodyPr/>
                    <a:lstStyle/>
                    <a:p>
                      <a:pPr algn="ctr"/>
                      <a:r>
                        <a:rPr sz="800" b="1">
                          <a:solidFill>
                            <a:srgbClr val="6E7E7D"/>
                          </a:solidFill>
                          <a:latin typeface="Calibri"/>
                        </a:rPr>
                        <a:t>No concluyente</a:t>
                      </a:r>
                    </a:p>
                  </a:txBody>
                  <a:tcPr marL="45000" marR="45000" marT="12000" marB="12000" anchor="ctr">
                    <a:solidFill>
                      <a:srgbClr val="FFFFFF"/>
                    </a:solidFill>
                  </a:tcPr>
                </a:tc>
                <a:extLst>
                  <a:ext uri="{0D108BD9-81ED-4DB2-BD59-A6C34878D82A}">
                    <a16:rowId xmlns:a16="http://schemas.microsoft.com/office/drawing/2014/main" val="10015"/>
                  </a:ext>
                </a:extLst>
              </a:tr>
              <a:tr h="210000">
                <a:tc>
                  <a:txBody>
                    <a:bodyPr/>
                    <a:lstStyle/>
                    <a:p>
                      <a:pPr algn="ctr"/>
                      <a:r>
                        <a:rPr sz="800" b="0">
                          <a:solidFill>
                            <a:srgbClr val="2F3B3A"/>
                          </a:solidFill>
                          <a:latin typeface="Calibri"/>
                        </a:rPr>
                        <a:t>Nuevo</a:t>
                      </a:r>
                    </a:p>
                  </a:txBody>
                  <a:tcPr marL="45000" marR="45000" marT="12000" marB="12000" anchor="ctr">
                    <a:solidFill>
                      <a:srgbClr val="F7F9F9"/>
                    </a:solidFill>
                  </a:tcPr>
                </a:tc>
                <a:tc>
                  <a:txBody>
                    <a:bodyPr/>
                    <a:lstStyle/>
                    <a:p>
                      <a:pPr algn="ctr"/>
                      <a:r>
                        <a:rPr sz="800" b="0">
                          <a:solidFill>
                            <a:srgbClr val="2F3B3A"/>
                          </a:solidFill>
                          <a:latin typeface="Calibri"/>
                        </a:rPr>
                        <a:t>&gt; 250K</a:t>
                      </a:r>
                    </a:p>
                  </a:txBody>
                  <a:tcPr marL="45000" marR="45000" marT="12000" marB="12000" anchor="ctr">
                    <a:solidFill>
                      <a:srgbClr val="F7F9F9"/>
                    </a:solidFill>
                  </a:tcPr>
                </a:tc>
                <a:tc>
                  <a:txBody>
                    <a:bodyPr/>
                    <a:lstStyle/>
                    <a:p>
                      <a:pPr algn="ctr"/>
                      <a:r>
                        <a:rPr sz="800" b="0">
                          <a:solidFill>
                            <a:srgbClr val="2F3B3A"/>
                          </a:solidFill>
                          <a:latin typeface="Calibri"/>
                        </a:rPr>
                        <a:t>33</a:t>
                      </a:r>
                    </a:p>
                  </a:txBody>
                  <a:tcPr marL="45000" marR="45000" marT="12000" marB="12000" anchor="ctr">
                    <a:solidFill>
                      <a:srgbClr val="F7F9F9"/>
                    </a:solidFill>
                  </a:tcPr>
                </a:tc>
                <a:tc>
                  <a:txBody>
                    <a:bodyPr/>
                    <a:lstStyle/>
                    <a:p>
                      <a:pPr algn="ctr"/>
                      <a:r>
                        <a:rPr sz="800" b="0">
                          <a:solidFill>
                            <a:srgbClr val="2F3B3A"/>
                          </a:solidFill>
                          <a:latin typeface="Calibri"/>
                        </a:rPr>
                        <a:t>18</a:t>
                      </a:r>
                    </a:p>
                  </a:txBody>
                  <a:tcPr marL="45000" marR="45000" marT="12000" marB="12000" anchor="ctr">
                    <a:solidFill>
                      <a:srgbClr val="F7F9F9"/>
                    </a:solidFill>
                  </a:tcPr>
                </a:tc>
                <a:tc>
                  <a:txBody>
                    <a:bodyPr/>
                    <a:lstStyle/>
                    <a:p>
                      <a:pPr algn="ctr"/>
                      <a:r>
                        <a:rPr sz="800" b="0">
                          <a:solidFill>
                            <a:srgbClr val="2F3B3A"/>
                          </a:solidFill>
                          <a:latin typeface="Calibri"/>
                        </a:rPr>
                        <a:t>55%</a:t>
                      </a:r>
                    </a:p>
                  </a:txBody>
                  <a:tcPr marL="45000" marR="45000" marT="12000" marB="12000" anchor="ctr">
                    <a:solidFill>
                      <a:srgbClr val="F7F9F9"/>
                    </a:solidFill>
                  </a:tcPr>
                </a:tc>
                <a:tc>
                  <a:txBody>
                    <a:bodyPr/>
                    <a:lstStyle/>
                    <a:p>
                      <a:pPr algn="ctr"/>
                      <a:r>
                        <a:rPr sz="800" b="0">
                          <a:solidFill>
                            <a:srgbClr val="2F3B3A"/>
                          </a:solidFill>
                          <a:latin typeface="Calibri"/>
                        </a:rPr>
                        <a:t>2,2%</a:t>
                      </a:r>
                    </a:p>
                  </a:txBody>
                  <a:tcPr marL="45000" marR="45000" marT="12000" marB="12000" anchor="ctr">
                    <a:solidFill>
                      <a:srgbClr val="F7F9F9"/>
                    </a:solidFill>
                  </a:tcPr>
                </a:tc>
                <a:tc>
                  <a:txBody>
                    <a:bodyPr/>
                    <a:lstStyle/>
                    <a:p>
                      <a:pPr algn="ctr"/>
                      <a:r>
                        <a:rPr sz="800" b="1">
                          <a:solidFill>
                            <a:srgbClr val="C2410C"/>
                          </a:solidFill>
                          <a:latin typeface="Calibri"/>
                        </a:rPr>
                        <a:t>Indicativa</a:t>
                      </a:r>
                    </a:p>
                  </a:txBody>
                  <a:tcPr marL="45000" marR="45000" marT="12000" marB="12000" anchor="ctr">
                    <a:solidFill>
                      <a:srgbClr val="F7F9F9"/>
                    </a:solidFill>
                  </a:tcPr>
                </a:tc>
                <a:extLst>
                  <a:ext uri="{0D108BD9-81ED-4DB2-BD59-A6C34878D82A}">
                    <a16:rowId xmlns:a16="http://schemas.microsoft.com/office/drawing/2014/main" val="10016"/>
                  </a:ext>
                </a:extLst>
              </a:tr>
              <a:tr h="210000">
                <a:tc>
                  <a:txBody>
                    <a:bodyPr/>
                    <a:lstStyle/>
                    <a:p>
                      <a:pPr algn="ctr"/>
                      <a:r>
                        <a:rPr sz="800" b="0">
                          <a:solidFill>
                            <a:srgbClr val="2F3B3A"/>
                          </a:solidFill>
                          <a:latin typeface="Calibri"/>
                        </a:rPr>
                        <a:t>Izipay</a:t>
                      </a:r>
                    </a:p>
                  </a:txBody>
                  <a:tcPr marL="45000" marR="45000" marT="12000" marB="12000" anchor="ctr">
                    <a:solidFill>
                      <a:srgbClr val="F7F9F9"/>
                    </a:solidFill>
                  </a:tcPr>
                </a:tc>
                <a:tc>
                  <a:txBody>
                    <a:bodyPr/>
                    <a:lstStyle/>
                    <a:p>
                      <a:pPr algn="ctr"/>
                      <a:r>
                        <a:rPr sz="800" b="0">
                          <a:solidFill>
                            <a:srgbClr val="2F3B3A"/>
                          </a:solidFill>
                          <a:latin typeface="Calibri"/>
                        </a:rPr>
                        <a:t>Pasivos &lt; 1K</a:t>
                      </a:r>
                    </a:p>
                  </a:txBody>
                  <a:tcPr marL="45000" marR="45000" marT="12000" marB="12000" anchor="ctr">
                    <a:solidFill>
                      <a:srgbClr val="F7F9F9"/>
                    </a:solidFill>
                  </a:tcPr>
                </a:tc>
                <a:tc>
                  <a:txBody>
                    <a:bodyPr/>
                    <a:lstStyle/>
                    <a:p>
                      <a:pPr algn="ctr"/>
                      <a:r>
                        <a:rPr sz="800" b="0">
                          <a:solidFill>
                            <a:srgbClr val="2F3B3A"/>
                          </a:solidFill>
                          <a:latin typeface="Calibri"/>
                        </a:rPr>
                        <a:t>11</a:t>
                      </a:r>
                    </a:p>
                  </a:txBody>
                  <a:tcPr marL="45000" marR="45000" marT="12000" marB="12000" anchor="ctr">
                    <a:solidFill>
                      <a:srgbClr val="F7F9F9"/>
                    </a:solidFill>
                  </a:tcPr>
                </a:tc>
                <a:tc>
                  <a:txBody>
                    <a:bodyPr/>
                    <a:lstStyle/>
                    <a:p>
                      <a:pPr algn="ctr"/>
                      <a:r>
                        <a:rPr sz="800" b="0">
                          <a:solidFill>
                            <a:srgbClr val="2F3B3A"/>
                          </a:solidFill>
                          <a:latin typeface="Calibri"/>
                        </a:rPr>
                        <a:t>3</a:t>
                      </a:r>
                    </a:p>
                  </a:txBody>
                  <a:tcPr marL="45000" marR="45000" marT="12000" marB="12000" anchor="ctr">
                    <a:solidFill>
                      <a:srgbClr val="F7F9F9"/>
                    </a:solidFill>
                  </a:tcPr>
                </a:tc>
                <a:tc>
                  <a:txBody>
                    <a:bodyPr/>
                    <a:lstStyle/>
                    <a:p>
                      <a:pPr algn="ctr"/>
                      <a:r>
                        <a:rPr sz="800" b="0">
                          <a:solidFill>
                            <a:srgbClr val="2F3B3A"/>
                          </a:solidFill>
                          <a:latin typeface="Calibri"/>
                        </a:rPr>
                        <a:t>27%</a:t>
                      </a:r>
                    </a:p>
                  </a:txBody>
                  <a:tcPr marL="45000" marR="45000" marT="12000" marB="12000" anchor="ctr">
                    <a:solidFill>
                      <a:srgbClr val="F7F9F9"/>
                    </a:solidFill>
                  </a:tcPr>
                </a:tc>
                <a:tc>
                  <a:txBody>
                    <a:bodyPr/>
                    <a:lstStyle/>
                    <a:p>
                      <a:pPr algn="ctr"/>
                      <a:r>
                        <a:rPr sz="800" b="0">
                          <a:solidFill>
                            <a:srgbClr val="2F3B3A"/>
                          </a:solidFill>
                          <a:latin typeface="Calibri"/>
                        </a:rPr>
                        <a:t>0,4%</a:t>
                      </a:r>
                    </a:p>
                  </a:txBody>
                  <a:tcPr marL="45000" marR="45000" marT="12000" marB="12000" anchor="ctr">
                    <a:solidFill>
                      <a:srgbClr val="F7F9F9"/>
                    </a:solidFill>
                  </a:tcPr>
                </a:tc>
                <a:tc>
                  <a:txBody>
                    <a:bodyPr/>
                    <a:lstStyle/>
                    <a:p>
                      <a:pPr algn="ctr"/>
                      <a:r>
                        <a:rPr sz="800" b="1">
                          <a:solidFill>
                            <a:srgbClr val="6E7E7D"/>
                          </a:solidFill>
                          <a:latin typeface="Calibri"/>
                        </a:rPr>
                        <a:t>No concluyente</a:t>
                      </a:r>
                    </a:p>
                  </a:txBody>
                  <a:tcPr marL="45000" marR="45000" marT="12000" marB="12000" anchor="ctr">
                    <a:solidFill>
                      <a:srgbClr val="F7F9F9"/>
                    </a:solidFill>
                  </a:tcPr>
                </a:tc>
                <a:extLst>
                  <a:ext uri="{0D108BD9-81ED-4DB2-BD59-A6C34878D82A}">
                    <a16:rowId xmlns:a16="http://schemas.microsoft.com/office/drawing/2014/main" val="10018"/>
                  </a:ext>
                </a:extLst>
              </a:tr>
              <a:tr h="210000">
                <a:tc>
                  <a:txBody>
                    <a:bodyPr/>
                    <a:lstStyle/>
                    <a:p>
                      <a:pPr algn="ctr"/>
                      <a:r>
                        <a:rPr sz="800" b="0">
                          <a:solidFill>
                            <a:srgbClr val="2F3B3A"/>
                          </a:solidFill>
                          <a:latin typeface="Calibri"/>
                        </a:rPr>
                        <a:t>Izipay</a:t>
                      </a:r>
                    </a:p>
                  </a:txBody>
                  <a:tcPr marL="45000" marR="45000" marT="12000" marB="12000" anchor="ctr">
                    <a:solidFill>
                      <a:srgbClr val="FFFFFF"/>
                    </a:solidFill>
                  </a:tcPr>
                </a:tc>
                <a:tc>
                  <a:txBody>
                    <a:bodyPr/>
                    <a:lstStyle/>
                    <a:p>
                      <a:pPr algn="ctr"/>
                      <a:r>
                        <a:rPr sz="800" b="0">
                          <a:solidFill>
                            <a:srgbClr val="2F3B3A"/>
                          </a:solidFill>
                          <a:latin typeface="Calibri"/>
                        </a:rPr>
                        <a:t>Pasivos 1–20K</a:t>
                      </a:r>
                    </a:p>
                  </a:txBody>
                  <a:tcPr marL="45000" marR="45000" marT="12000" marB="12000" anchor="ctr">
                    <a:solidFill>
                      <a:srgbClr val="FFFFFF"/>
                    </a:solidFill>
                  </a:tcPr>
                </a:tc>
                <a:tc>
                  <a:txBody>
                    <a:bodyPr/>
                    <a:lstStyle/>
                    <a:p>
                      <a:pPr algn="ctr"/>
                      <a:r>
                        <a:rPr sz="800" b="0">
                          <a:solidFill>
                            <a:srgbClr val="2F3B3A"/>
                          </a:solidFill>
                          <a:latin typeface="Calibri"/>
                        </a:rPr>
                        <a:t>13</a:t>
                      </a:r>
                    </a:p>
                  </a:txBody>
                  <a:tcPr marL="45000" marR="45000" marT="12000" marB="12000" anchor="ctr">
                    <a:solidFill>
                      <a:srgbClr val="FFFFFF"/>
                    </a:solidFill>
                  </a:tcPr>
                </a:tc>
                <a:tc>
                  <a:txBody>
                    <a:bodyPr/>
                    <a:lstStyle/>
                    <a:p>
                      <a:pPr algn="ctr"/>
                      <a:r>
                        <a:rPr sz="800" b="0">
                          <a:solidFill>
                            <a:srgbClr val="2F3B3A"/>
                          </a:solidFill>
                          <a:latin typeface="Calibri"/>
                        </a:rPr>
                        <a:t>4</a:t>
                      </a:r>
                    </a:p>
                  </a:txBody>
                  <a:tcPr marL="45000" marR="45000" marT="12000" marB="12000" anchor="ctr">
                    <a:solidFill>
                      <a:srgbClr val="FFFFFF"/>
                    </a:solidFill>
                  </a:tcPr>
                </a:tc>
                <a:tc>
                  <a:txBody>
                    <a:bodyPr/>
                    <a:lstStyle/>
                    <a:p>
                      <a:pPr algn="ctr"/>
                      <a:r>
                        <a:rPr sz="800" b="0">
                          <a:solidFill>
                            <a:srgbClr val="2F3B3A"/>
                          </a:solidFill>
                          <a:latin typeface="Calibri"/>
                        </a:rPr>
                        <a:t>31%</a:t>
                      </a:r>
                    </a:p>
                  </a:txBody>
                  <a:tcPr marL="45000" marR="45000" marT="12000" marB="12000" anchor="ctr">
                    <a:solidFill>
                      <a:srgbClr val="FFFFFF"/>
                    </a:solidFill>
                  </a:tcPr>
                </a:tc>
                <a:tc>
                  <a:txBody>
                    <a:bodyPr/>
                    <a:lstStyle/>
                    <a:p>
                      <a:pPr algn="ctr"/>
                      <a:r>
                        <a:rPr sz="800" b="0">
                          <a:solidFill>
                            <a:srgbClr val="2F3B3A"/>
                          </a:solidFill>
                          <a:latin typeface="Calibri"/>
                        </a:rPr>
                        <a:t>0,5%</a:t>
                      </a:r>
                    </a:p>
                  </a:txBody>
                  <a:tcPr marL="45000" marR="45000" marT="12000" marB="12000" anchor="ctr">
                    <a:solidFill>
                      <a:srgbClr val="FFFFFF"/>
                    </a:solidFill>
                  </a:tcPr>
                </a:tc>
                <a:tc>
                  <a:txBody>
                    <a:bodyPr/>
                    <a:lstStyle/>
                    <a:p>
                      <a:pPr algn="ctr"/>
                      <a:r>
                        <a:rPr sz="800" b="1">
                          <a:solidFill>
                            <a:srgbClr val="6E7E7D"/>
                          </a:solidFill>
                          <a:latin typeface="Calibri"/>
                        </a:rPr>
                        <a:t>No concluyente</a:t>
                      </a:r>
                    </a:p>
                  </a:txBody>
                  <a:tcPr marL="45000" marR="45000" marT="12000" marB="12000" anchor="ctr">
                    <a:solidFill>
                      <a:srgbClr val="FFFFFF"/>
                    </a:solidFill>
                  </a:tcPr>
                </a:tc>
                <a:extLst>
                  <a:ext uri="{0D108BD9-81ED-4DB2-BD59-A6C34878D82A}">
                    <a16:rowId xmlns:a16="http://schemas.microsoft.com/office/drawing/2014/main" val="10017"/>
                  </a:ext>
                </a:extLst>
              </a:tr>
              <a:tr h="210000">
                <a:tc>
                  <a:txBody>
                    <a:bodyPr/>
                    <a:lstStyle/>
                    <a:p>
                      <a:pPr algn="ctr"/>
                      <a:r>
                        <a:rPr sz="800" b="1">
                          <a:solidFill>
                            <a:srgbClr val="2F3B3A"/>
                          </a:solidFill>
                          <a:latin typeface="Calibri"/>
                        </a:rPr>
                        <a:t>Concluyentes</a:t>
                      </a:r>
                    </a:p>
                  </a:txBody>
                  <a:tcPr marL="45000" marR="45000" marT="12000" marB="12000" anchor="ctr">
                    <a:solidFill>
                      <a:srgbClr val="E8EEEE"/>
                    </a:solidFill>
                  </a:tcPr>
                </a:tc>
                <a:tc>
                  <a:txBody>
                    <a:bodyPr/>
                    <a:lstStyle/>
                    <a:p>
                      <a:pPr algn="ctr"/>
                      <a:r>
                        <a:rPr sz="800" b="0">
                          <a:solidFill>
                            <a:srgbClr val="2F3B3A"/>
                          </a:solidFill>
                          <a:latin typeface="Calibri"/>
                        </a:rPr>
                        <a:t> </a:t>
                      </a:r>
                    </a:p>
                  </a:txBody>
                  <a:tcPr marL="45000" marR="45000" marT="12000" marB="12000" anchor="ctr">
                    <a:solidFill>
                      <a:srgbClr val="E8EEEE"/>
                    </a:solidFill>
                  </a:tcPr>
                </a:tc>
                <a:tc>
                  <a:txBody>
                    <a:bodyPr/>
                    <a:lstStyle/>
                    <a:p>
                      <a:pPr algn="ctr"/>
                      <a:r>
                        <a:rPr sz="800" b="1">
                          <a:solidFill>
                            <a:srgbClr val="2F3B3A"/>
                          </a:solidFill>
                          <a:latin typeface="Calibri"/>
                        </a:rPr>
                        <a:t>879</a:t>
                      </a:r>
                    </a:p>
                  </a:txBody>
                  <a:tcPr marL="45000" marR="45000" marT="12000" marB="12000" anchor="ctr">
                    <a:solidFill>
                      <a:srgbClr val="E8EEEE"/>
                    </a:solidFill>
                  </a:tcPr>
                </a:tc>
                <a:tc>
                  <a:txBody>
                    <a:bodyPr/>
                    <a:lstStyle/>
                    <a:p>
                      <a:pPr algn="ctr"/>
                      <a:r>
                        <a:rPr sz="800" b="1">
                          <a:solidFill>
                            <a:srgbClr val="2F3B3A"/>
                          </a:solidFill>
                          <a:latin typeface="Calibri"/>
                        </a:rPr>
                        <a:t>395</a:t>
                      </a:r>
                    </a:p>
                  </a:txBody>
                  <a:tcPr marL="45000" marR="45000" marT="12000" marB="12000" anchor="ctr">
                    <a:solidFill>
                      <a:srgbClr val="E8EEEE"/>
                    </a:solidFill>
                  </a:tcPr>
                </a:tc>
                <a:tc>
                  <a:txBody>
                    <a:bodyPr/>
                    <a:lstStyle/>
                    <a:p>
                      <a:pPr algn="ctr"/>
                      <a:r>
                        <a:rPr sz="800" b="1">
                          <a:solidFill>
                            <a:srgbClr val="2F3B3A"/>
                          </a:solidFill>
                          <a:latin typeface="Calibri"/>
                        </a:rPr>
                        <a:t>45%</a:t>
                      </a:r>
                    </a:p>
                  </a:txBody>
                  <a:tcPr marL="45000" marR="45000" marT="12000" marB="12000" anchor="ctr">
                    <a:solidFill>
                      <a:srgbClr val="E8EEEE"/>
                    </a:solidFill>
                  </a:tcPr>
                </a:tc>
                <a:tc>
                  <a:txBody>
                    <a:bodyPr/>
                    <a:lstStyle/>
                    <a:p>
                      <a:pPr algn="ctr"/>
                      <a:r>
                        <a:rPr sz="800" b="1">
                          <a:solidFill>
                            <a:srgbClr val="2F3B3A"/>
                          </a:solidFill>
                          <a:latin typeface="Calibri"/>
                        </a:rPr>
                        <a:t>48%</a:t>
                      </a:r>
                    </a:p>
                  </a:txBody>
                  <a:tcPr marL="45000" marR="45000" marT="12000" marB="12000" anchor="ctr">
                    <a:solidFill>
                      <a:srgbClr val="E8EEEE"/>
                    </a:solidFill>
                  </a:tcPr>
                </a:tc>
                <a:tc>
                  <a:txBody>
                    <a:bodyPr/>
                    <a:lstStyle/>
                    <a:p>
                      <a:pPr algn="ctr"/>
                      <a:r>
                        <a:rPr sz="800" b="0">
                          <a:solidFill>
                            <a:srgbClr val="6E7E7D"/>
                          </a:solidFill>
                          <a:latin typeface="Calibri"/>
                        </a:rPr>
                        <a:t>Usadas en insights</a:t>
                      </a:r>
                    </a:p>
                  </a:txBody>
                  <a:tcPr marL="45000" marR="45000" marT="12000" marB="12000" anchor="ctr">
                    <a:solidFill>
                      <a:srgbClr val="E8EEEE"/>
                    </a:solidFill>
                  </a:tcPr>
                </a:tc>
                <a:extLst>
                  <a:ext uri="{0D108BD9-81ED-4DB2-BD59-A6C34878D82A}">
                    <a16:rowId xmlns:a16="http://schemas.microsoft.com/office/drawing/2014/main" val="10019"/>
                  </a:ext>
                </a:extLst>
              </a:tr>
              <a:tr h="210000">
                <a:tc>
                  <a:txBody>
                    <a:bodyPr/>
                    <a:lstStyle/>
                    <a:p>
                      <a:pPr algn="ctr"/>
                      <a:r>
                        <a:rPr sz="800" b="1">
                          <a:solidFill>
                            <a:srgbClr val="2F3B3A"/>
                          </a:solidFill>
                          <a:latin typeface="Calibri"/>
                        </a:rPr>
                        <a:t>Indicativas</a:t>
                      </a:r>
                    </a:p>
                  </a:txBody>
                  <a:tcPr marL="45000" marR="45000" marT="12000" marB="12000" anchor="ctr">
                    <a:solidFill>
                      <a:srgbClr val="E8EEEE"/>
                    </a:solidFill>
                  </a:tcPr>
                </a:tc>
                <a:tc>
                  <a:txBody>
                    <a:bodyPr/>
                    <a:lstStyle/>
                    <a:p>
                      <a:pPr algn="ctr"/>
                      <a:r>
                        <a:rPr sz="800" b="0">
                          <a:solidFill>
                            <a:srgbClr val="2F3B3A"/>
                          </a:solidFill>
                          <a:latin typeface="Calibri"/>
                        </a:rPr>
                        <a:t> </a:t>
                      </a:r>
                    </a:p>
                  </a:txBody>
                  <a:tcPr marL="45000" marR="45000" marT="12000" marB="12000" anchor="ctr">
                    <a:solidFill>
                      <a:srgbClr val="E8EEEE"/>
                    </a:solidFill>
                  </a:tcPr>
                </a:tc>
                <a:tc>
                  <a:txBody>
                    <a:bodyPr/>
                    <a:lstStyle/>
                    <a:p>
                      <a:pPr algn="ctr"/>
                      <a:r>
                        <a:rPr sz="800" b="1">
                          <a:solidFill>
                            <a:srgbClr val="2F3B3A"/>
                          </a:solidFill>
                          <a:latin typeface="Calibri"/>
                        </a:rPr>
                        <a:t>99</a:t>
                      </a:r>
                    </a:p>
                  </a:txBody>
                  <a:tcPr marL="45000" marR="45000" marT="12000" marB="12000" anchor="ctr">
                    <a:solidFill>
                      <a:srgbClr val="E8EEEE"/>
                    </a:solidFill>
                  </a:tcPr>
                </a:tc>
                <a:tc>
                  <a:txBody>
                    <a:bodyPr/>
                    <a:lstStyle/>
                    <a:p>
                      <a:pPr algn="ctr"/>
                      <a:r>
                        <a:rPr sz="800" b="1">
                          <a:solidFill>
                            <a:srgbClr val="2F3B3A"/>
                          </a:solidFill>
                          <a:latin typeface="Calibri"/>
                        </a:rPr>
                        <a:t>41</a:t>
                      </a:r>
                    </a:p>
                  </a:txBody>
                  <a:tcPr marL="45000" marR="45000" marT="12000" marB="12000" anchor="ctr">
                    <a:solidFill>
                      <a:srgbClr val="E8EEEE"/>
                    </a:solidFill>
                  </a:tcPr>
                </a:tc>
                <a:tc>
                  <a:txBody>
                    <a:bodyPr/>
                    <a:lstStyle/>
                    <a:p>
                      <a:pPr algn="ctr"/>
                      <a:r>
                        <a:rPr sz="800" b="1">
                          <a:solidFill>
                            <a:srgbClr val="2F3B3A"/>
                          </a:solidFill>
                          <a:latin typeface="Calibri"/>
                        </a:rPr>
                        <a:t>41%</a:t>
                      </a:r>
                    </a:p>
                  </a:txBody>
                  <a:tcPr marL="45000" marR="45000" marT="12000" marB="12000" anchor="ctr">
                    <a:solidFill>
                      <a:srgbClr val="E8EEEE"/>
                    </a:solidFill>
                  </a:tcPr>
                </a:tc>
                <a:tc>
                  <a:txBody>
                    <a:bodyPr/>
                    <a:lstStyle/>
                    <a:p>
                      <a:pPr algn="ctr"/>
                      <a:r>
                        <a:rPr sz="800" b="1">
                          <a:solidFill>
                            <a:srgbClr val="2F3B3A"/>
                          </a:solidFill>
                          <a:latin typeface="Calibri"/>
                        </a:rPr>
                        <a:t>5%</a:t>
                      </a:r>
                    </a:p>
                  </a:txBody>
                  <a:tcPr marL="45000" marR="45000" marT="12000" marB="12000" anchor="ctr">
                    <a:solidFill>
                      <a:srgbClr val="E8EEEE"/>
                    </a:solidFill>
                  </a:tcPr>
                </a:tc>
                <a:tc>
                  <a:txBody>
                    <a:bodyPr/>
                    <a:lstStyle/>
                    <a:p>
                      <a:pPr algn="ctr"/>
                      <a:r>
                        <a:rPr sz="800" b="0">
                          <a:solidFill>
                            <a:srgbClr val="6E7E7D"/>
                          </a:solidFill>
                          <a:latin typeface="Calibri"/>
                        </a:rPr>
                        <a:t>Usadas en insights</a:t>
                      </a:r>
                    </a:p>
                  </a:txBody>
                  <a:tcPr marL="45000" marR="45000" marT="12000" marB="12000" anchor="ctr">
                    <a:solidFill>
                      <a:srgbClr val="E8EEEE"/>
                    </a:solidFill>
                  </a:tcPr>
                </a:tc>
                <a:extLst>
                  <a:ext uri="{0D108BD9-81ED-4DB2-BD59-A6C34878D82A}">
                    <a16:rowId xmlns:a16="http://schemas.microsoft.com/office/drawing/2014/main" val="10020"/>
                  </a:ext>
                </a:extLst>
              </a:tr>
              <a:tr h="210000">
                <a:tc>
                  <a:txBody>
                    <a:bodyPr/>
                    <a:lstStyle/>
                    <a:p>
                      <a:pPr algn="ctr"/>
                      <a:r>
                        <a:rPr sz="800" b="1">
                          <a:solidFill>
                            <a:srgbClr val="2F3B3A"/>
                          </a:solidFill>
                          <a:latin typeface="Calibri"/>
                        </a:rPr>
                        <a:t>Con materialidad (concluyentes + indicativas)</a:t>
                      </a:r>
                    </a:p>
                  </a:txBody>
                  <a:tcPr marL="45000" marR="45000" marT="12000" marB="12000" anchor="ctr">
                    <a:solidFill>
                      <a:srgbClr val="E8EEEE"/>
                    </a:solidFill>
                  </a:tcPr>
                </a:tc>
                <a:tc>
                  <a:txBody>
                    <a:bodyPr/>
                    <a:lstStyle/>
                    <a:p>
                      <a:pPr algn="ctr"/>
                      <a:r>
                        <a:rPr sz="800" b="0">
                          <a:solidFill>
                            <a:srgbClr val="2F3B3A"/>
                          </a:solidFill>
                          <a:latin typeface="Calibri"/>
                        </a:rPr>
                        <a:t> </a:t>
                      </a:r>
                    </a:p>
                  </a:txBody>
                  <a:tcPr marL="45000" marR="45000" marT="12000" marB="12000" anchor="ctr">
                    <a:solidFill>
                      <a:srgbClr val="E8EEEE"/>
                    </a:solidFill>
                  </a:tcPr>
                </a:tc>
                <a:tc>
                  <a:txBody>
                    <a:bodyPr/>
                    <a:lstStyle/>
                    <a:p>
                      <a:pPr algn="ctr"/>
                      <a:r>
                        <a:rPr sz="800" b="1">
                          <a:solidFill>
                            <a:srgbClr val="2F3B3A"/>
                          </a:solidFill>
                          <a:latin typeface="Calibri"/>
                        </a:rPr>
                        <a:t>978</a:t>
                      </a:r>
                    </a:p>
                  </a:txBody>
                  <a:tcPr marL="45000" marR="45000" marT="12000" marB="12000" anchor="ctr">
                    <a:solidFill>
                      <a:srgbClr val="E8EEEE"/>
                    </a:solidFill>
                  </a:tcPr>
                </a:tc>
                <a:tc>
                  <a:txBody>
                    <a:bodyPr/>
                    <a:lstStyle/>
                    <a:p>
                      <a:pPr algn="ctr"/>
                      <a:r>
                        <a:rPr sz="800" b="1">
                          <a:solidFill>
                            <a:srgbClr val="2F3B3A"/>
                          </a:solidFill>
                          <a:latin typeface="Calibri"/>
                        </a:rPr>
                        <a:t>436</a:t>
                      </a:r>
                    </a:p>
                  </a:txBody>
                  <a:tcPr marL="45000" marR="45000" marT="12000" marB="12000" anchor="ctr">
                    <a:solidFill>
                      <a:srgbClr val="E8EEEE"/>
                    </a:solidFill>
                  </a:tcPr>
                </a:tc>
                <a:tc>
                  <a:txBody>
                    <a:bodyPr/>
                    <a:lstStyle/>
                    <a:p>
                      <a:pPr algn="ctr"/>
                      <a:r>
                        <a:rPr sz="800" b="1">
                          <a:solidFill>
                            <a:srgbClr val="2F3B3A"/>
                          </a:solidFill>
                          <a:latin typeface="Calibri"/>
                        </a:rPr>
                        <a:t>45%</a:t>
                      </a:r>
                    </a:p>
                  </a:txBody>
                  <a:tcPr marL="45000" marR="45000" marT="12000" marB="12000" anchor="ctr">
                    <a:solidFill>
                      <a:srgbClr val="E8EEEE"/>
                    </a:solidFill>
                  </a:tcPr>
                </a:tc>
                <a:tc>
                  <a:txBody>
                    <a:bodyPr/>
                    <a:lstStyle/>
                    <a:p>
                      <a:pPr algn="ctr"/>
                      <a:r>
                        <a:rPr sz="800" b="1">
                          <a:solidFill>
                            <a:srgbClr val="2F3B3A"/>
                          </a:solidFill>
                          <a:latin typeface="Calibri"/>
                        </a:rPr>
                        <a:t>53%</a:t>
                      </a:r>
                    </a:p>
                  </a:txBody>
                  <a:tcPr marL="45000" marR="45000" marT="12000" marB="12000" anchor="ctr">
                    <a:solidFill>
                      <a:srgbClr val="E8EEEE"/>
                    </a:solidFill>
                  </a:tcPr>
                </a:tc>
                <a:tc>
                  <a:txBody>
                    <a:bodyPr/>
                    <a:lstStyle/>
                    <a:p>
                      <a:pPr algn="ctr"/>
                      <a:r>
                        <a:rPr sz="800" b="0">
                          <a:solidFill>
                            <a:srgbClr val="6E7E7D"/>
                          </a:solidFill>
                          <a:latin typeface="Calibri"/>
                        </a:rPr>
                        <a:t>Base de los insights</a:t>
                      </a:r>
                    </a:p>
                  </a:txBody>
                  <a:tcPr marL="45000" marR="45000" marT="12000" marB="12000" anchor="ctr">
                    <a:solidFill>
                      <a:srgbClr val="E8EEEE"/>
                    </a:solidFill>
                  </a:tcPr>
                </a:tc>
                <a:extLst>
                  <a:ext uri="{0D108BD9-81ED-4DB2-BD59-A6C34878D82A}">
                    <a16:rowId xmlns:a16="http://schemas.microsoft.com/office/drawing/2014/main" val="10021"/>
                  </a:ext>
                </a:extLst>
              </a:tr>
              <a:tr h="210000">
                <a:tc>
                  <a:txBody>
                    <a:bodyPr/>
                    <a:lstStyle/>
                    <a:p>
                      <a:pPr algn="ctr"/>
                      <a:r>
                        <a:rPr sz="800" b="1">
                          <a:solidFill>
                            <a:srgbClr val="2F3B3A"/>
                          </a:solidFill>
                          <a:latin typeface="Calibri"/>
                        </a:rPr>
                        <a:t>Total 18 aperturas</a:t>
                      </a:r>
                    </a:p>
                  </a:txBody>
                  <a:tcPr marL="45000" marR="45000" marT="12000" marB="12000" anchor="ctr">
                    <a:solidFill>
                      <a:srgbClr val="E8EEEE"/>
                    </a:solidFill>
                  </a:tcPr>
                </a:tc>
                <a:tc>
                  <a:txBody>
                    <a:bodyPr/>
                    <a:lstStyle/>
                    <a:p>
                      <a:pPr algn="ctr"/>
                      <a:r>
                        <a:rPr sz="800" b="0">
                          <a:solidFill>
                            <a:srgbClr val="2F3B3A"/>
                          </a:solidFill>
                          <a:latin typeface="Calibri"/>
                        </a:rPr>
                        <a:t> </a:t>
                      </a:r>
                    </a:p>
                  </a:txBody>
                  <a:tcPr marL="45000" marR="45000" marT="12000" marB="12000" anchor="ctr">
                    <a:solidFill>
                      <a:srgbClr val="E8EEEE"/>
                    </a:solidFill>
                  </a:tcPr>
                </a:tc>
                <a:tc>
                  <a:txBody>
                    <a:bodyPr/>
                    <a:lstStyle/>
                    <a:p>
                      <a:pPr algn="ctr"/>
                      <a:r>
                        <a:rPr sz="800" b="1">
                          <a:solidFill>
                            <a:srgbClr val="2F3B3A"/>
                          </a:solidFill>
                          <a:latin typeface="Calibri"/>
                        </a:rPr>
                        <a:t>1.111</a:t>
                      </a:r>
                    </a:p>
                  </a:txBody>
                  <a:tcPr marL="45000" marR="45000" marT="12000" marB="12000" anchor="ctr">
                    <a:solidFill>
                      <a:srgbClr val="E8EEEE"/>
                    </a:solidFill>
                  </a:tcPr>
                </a:tc>
                <a:tc>
                  <a:txBody>
                    <a:bodyPr/>
                    <a:lstStyle/>
                    <a:p>
                      <a:pPr algn="ctr"/>
                      <a:r>
                        <a:rPr sz="800" b="1">
                          <a:solidFill>
                            <a:srgbClr val="2F3B3A"/>
                          </a:solidFill>
                          <a:latin typeface="Calibri"/>
                        </a:rPr>
                        <a:t>488</a:t>
                      </a:r>
                    </a:p>
                  </a:txBody>
                  <a:tcPr marL="45000" marR="45000" marT="12000" marB="12000" anchor="ctr">
                    <a:solidFill>
                      <a:srgbClr val="E8EEEE"/>
                    </a:solidFill>
                  </a:tcPr>
                </a:tc>
                <a:tc>
                  <a:txBody>
                    <a:bodyPr/>
                    <a:lstStyle/>
                    <a:p>
                      <a:pPr algn="ctr"/>
                      <a:r>
                        <a:rPr sz="800" b="1">
                          <a:solidFill>
                            <a:srgbClr val="2F3B3A"/>
                          </a:solidFill>
                          <a:latin typeface="Calibri"/>
                        </a:rPr>
                        <a:t>44%</a:t>
                      </a:r>
                    </a:p>
                  </a:txBody>
                  <a:tcPr marL="45000" marR="45000" marT="12000" marB="12000" anchor="ctr">
                    <a:solidFill>
                      <a:srgbClr val="E8EEEE"/>
                    </a:solidFill>
                  </a:tcPr>
                </a:tc>
                <a:tc>
                  <a:txBody>
                    <a:bodyPr/>
                    <a:lstStyle/>
                    <a:p>
                      <a:pPr algn="ctr"/>
                      <a:r>
                        <a:rPr sz="800" b="1">
                          <a:solidFill>
                            <a:srgbClr val="2F3B3A"/>
                          </a:solidFill>
                          <a:latin typeface="Calibri"/>
                        </a:rPr>
                        <a:t>60%</a:t>
                      </a:r>
                    </a:p>
                  </a:txBody>
                  <a:tcPr marL="45000" marR="45000" marT="12000" marB="12000" anchor="ctr">
                    <a:solidFill>
                      <a:srgbClr val="E8EEEE"/>
                    </a:solidFill>
                  </a:tcPr>
                </a:tc>
                <a:tc>
                  <a:txBody>
                    <a:bodyPr/>
                    <a:lstStyle/>
                    <a:p>
                      <a:pPr algn="ctr"/>
                      <a:r>
                        <a:rPr sz="800" b="0">
                          <a:solidFill>
                            <a:srgbClr val="6E7E7D"/>
                          </a:solidFill>
                          <a:latin typeface="Calibri"/>
                        </a:rPr>
                        <a:t> </a:t>
                      </a:r>
                    </a:p>
                  </a:txBody>
                  <a:tcPr marL="45000" marR="45000" marT="12000" marB="12000" anchor="ctr">
                    <a:solidFill>
                      <a:srgbClr val="E8EEEE"/>
                    </a:solidFill>
                  </a:tcPr>
                </a:tc>
                <a:extLst>
                  <a:ext uri="{0D108BD9-81ED-4DB2-BD59-A6C34878D82A}">
                    <a16:rowId xmlns:a16="http://schemas.microsoft.com/office/drawing/2014/main" val="10022"/>
                  </a:ext>
                </a:extLst>
              </a:tr>
              <a:tr h="210000">
                <a:tc>
                  <a:txBody>
                    <a:bodyPr/>
                    <a:lstStyle/>
                    <a:p>
                      <a:pPr algn="ctr"/>
                      <a:r>
                        <a:rPr sz="800" b="1">
                          <a:solidFill>
                            <a:srgbClr val="2F3B3A"/>
                          </a:solidFill>
                          <a:latin typeface="Calibri"/>
                        </a:rPr>
                        <a:t>Total de fracasos del share relevante (2026)</a:t>
                      </a:r>
                    </a:p>
                  </a:txBody>
                  <a:tcPr marL="45000" marR="45000" marT="12000" marB="12000" anchor="ctr">
                    <a:solidFill>
                      <a:srgbClr val="E8EEEE"/>
                    </a:solidFill>
                  </a:tcPr>
                </a:tc>
                <a:tc>
                  <a:txBody>
                    <a:bodyPr/>
                    <a:lstStyle/>
                    <a:p>
                      <a:pPr algn="ctr"/>
                      <a:r>
                        <a:rPr sz="800" b="0">
                          <a:solidFill>
                            <a:srgbClr val="2F3B3A"/>
                          </a:solidFill>
                          <a:latin typeface="Calibri"/>
                        </a:rPr>
                        <a:t> </a:t>
                      </a:r>
                    </a:p>
                  </a:txBody>
                  <a:tcPr marL="45000" marR="45000" marT="12000" marB="12000" anchor="ctr">
                    <a:solidFill>
                      <a:srgbClr val="E8EEEE"/>
                    </a:solidFill>
                  </a:tcPr>
                </a:tc>
                <a:tc>
                  <a:txBody>
                    <a:bodyPr/>
                    <a:lstStyle/>
                    <a:p>
                      <a:pPr algn="ctr"/>
                      <a:r>
                        <a:rPr sz="800" b="1">
                          <a:solidFill>
                            <a:srgbClr val="2F3B3A"/>
                          </a:solidFill>
                          <a:latin typeface="Calibri"/>
                        </a:rPr>
                        <a:t>1.860</a:t>
                      </a:r>
                    </a:p>
                  </a:txBody>
                  <a:tcPr marL="45000" marR="45000" marT="12000" marB="12000" anchor="ctr">
                    <a:solidFill>
                      <a:srgbClr val="E8EEEE"/>
                    </a:solidFill>
                  </a:tcPr>
                </a:tc>
                <a:tc>
                  <a:txBody>
                    <a:bodyPr/>
                    <a:lstStyle/>
                    <a:p>
                      <a:pPr algn="ctr"/>
                      <a:r>
                        <a:rPr sz="800" b="1">
                          <a:solidFill>
                            <a:srgbClr val="2F3B3A"/>
                          </a:solidFill>
                          <a:latin typeface="Calibri"/>
                        </a:rPr>
                        <a:t>816</a:t>
                      </a:r>
                    </a:p>
                  </a:txBody>
                  <a:tcPr marL="45000" marR="45000" marT="12000" marB="12000" anchor="ctr">
                    <a:solidFill>
                      <a:srgbClr val="E8EEEE"/>
                    </a:solidFill>
                  </a:tcPr>
                </a:tc>
                <a:tc>
                  <a:txBody>
                    <a:bodyPr/>
                    <a:lstStyle/>
                    <a:p>
                      <a:pPr algn="ctr"/>
                      <a:r>
                        <a:rPr sz="800" b="1">
                          <a:solidFill>
                            <a:srgbClr val="2F3B3A"/>
                          </a:solidFill>
                          <a:latin typeface="Calibri"/>
                        </a:rPr>
                        <a:t>44%</a:t>
                      </a:r>
                    </a:p>
                  </a:txBody>
                  <a:tcPr marL="45000" marR="45000" marT="12000" marB="12000" anchor="ctr">
                    <a:solidFill>
                      <a:srgbClr val="E8EEEE"/>
                    </a:solidFill>
                  </a:tcPr>
                </a:tc>
                <a:tc>
                  <a:txBody>
                    <a:bodyPr/>
                    <a:lstStyle/>
                    <a:p>
                      <a:pPr algn="ctr"/>
                      <a:r>
                        <a:rPr sz="800" b="1">
                          <a:solidFill>
                            <a:srgbClr val="2F3B3A"/>
                          </a:solidFill>
                          <a:latin typeface="Calibri"/>
                        </a:rPr>
                        <a:t>100%</a:t>
                      </a:r>
                    </a:p>
                  </a:txBody>
                  <a:tcPr marL="45000" marR="45000" marT="12000" marB="12000" anchor="ctr">
                    <a:solidFill>
                      <a:srgbClr val="E8EEEE"/>
                    </a:solidFill>
                  </a:tcPr>
                </a:tc>
                <a:tc>
                  <a:txBody>
                    <a:bodyPr/>
                    <a:lstStyle/>
                    <a:p>
                      <a:pPr algn="ctr"/>
                      <a:r>
                        <a:rPr sz="800" b="0">
                          <a:solidFill>
                            <a:srgbClr val="6E7E7D"/>
                          </a:solidFill>
                          <a:latin typeface="Calibri"/>
                        </a:rPr>
                        <a:t> </a:t>
                      </a:r>
                    </a:p>
                  </a:txBody>
                  <a:tcPr marL="45000" marR="45000" marT="12000" marB="12000" anchor="ctr">
                    <a:solidFill>
                      <a:srgbClr val="E8EEEE"/>
                    </a:solidFill>
                  </a:tcPr>
                </a:tc>
                <a:extLst>
                  <a:ext uri="{0D108BD9-81ED-4DB2-BD59-A6C34878D82A}">
                    <a16:rowId xmlns:a16="http://schemas.microsoft.com/office/drawing/2014/main" val="10023"/>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493777" y="246888"/>
            <a:ext cx="8963570" cy="109710"/>
          </a:xfrm>
          <a:prstGeom prst="rect">
            <a:avLst/>
          </a:prstGeom>
          <a:noFill/>
        </p:spPr>
        <p:txBody>
          <a:bodyPr wrap="square" lIns="0" tIns="0" rIns="0" bIns="0" anchor="t">
            <a:spAutoFit/>
          </a:bodyPr>
          <a:lstStyle/>
          <a:p>
            <a:pPr algn="l"/>
            <a:r>
              <a:rPr sz="800" b="1">
                <a:solidFill>
                  <a:srgbClr val="6E7E7D"/>
                </a:solidFill>
                <a:latin typeface="Calibri"/>
              </a:rPr>
              <a:t>SHARE RELEVANTE Y TASA POR APERTURAS · QUÉ ESTAMOS ANALIZANDO · MATERIALIDAD 2026</a:t>
            </a:r>
          </a:p>
        </p:txBody>
      </p:sp>
      <p:sp>
        <p:nvSpPr>
          <p:cNvPr id="3" name="TextBox 2"/>
          <p:cNvSpPr txBox="1"/>
          <p:nvPr/>
        </p:nvSpPr>
        <p:spPr>
          <a:xfrm>
            <a:off x="493776" y="425196"/>
            <a:ext cx="10312923" cy="482568"/>
          </a:xfrm>
          <a:prstGeom prst="rect">
            <a:avLst/>
          </a:prstGeom>
          <a:noFill/>
        </p:spPr>
        <p:txBody>
          <a:bodyPr wrap="square" lIns="0" tIns="0" rIns="0" bIns="0" anchor="t">
            <a:spAutoFit/>
          </a:bodyPr>
          <a:lstStyle/>
          <a:p>
            <a:pPr algn="l"/>
            <a:r>
              <a:rPr sz="1600" b="1">
                <a:solidFill>
                  <a:srgbClr val="13807B"/>
                </a:solidFill>
                <a:latin typeface="Poppins"/>
              </a:rPr>
              <a:t>Analizamos 9 segmentos abiertos en 2 tramos: con materialidad de la competencia concluimos con su tasa y sin ella revisamos la negociación</a:t>
            </a:r>
          </a:p>
        </p:txBody>
      </p:sp>
      <p:cxnSp>
        <p:nvCxnSpPr>
          <p:cNvPr id="4" name="Connector 3"/>
          <p:cNvCxnSpPr/>
          <p:nvPr/>
        </p:nvCxnSpPr>
        <p:spPr>
          <a:xfrm>
            <a:off x="493776" y="1049274"/>
            <a:ext cx="11204463" cy="0"/>
          </a:xfrm>
          <a:prstGeom prst="line">
            <a:avLst/>
          </a:prstGeom>
          <a:ln w="12700">
            <a:solidFill>
              <a:srgbClr val="D5DFDE"/>
            </a:solidFill>
          </a:ln>
        </p:spPr>
        <p:style>
          <a:lnRef idx="2">
            <a:schemeClr val="accent1"/>
          </a:lnRef>
          <a:fillRef idx="0">
            <a:schemeClr val="accent1"/>
          </a:fillRef>
          <a:effectRef idx="1">
            <a:schemeClr val="accent1"/>
          </a:effectRef>
          <a:fontRef idx="minor">
            <a:schemeClr val="tx1"/>
          </a:fontRef>
        </p:style>
      </p:cxnSp>
      <p:pic>
        <p:nvPicPr>
          <p:cNvPr id="5" name="Picture 4" descr="logo.png"/>
          <p:cNvPicPr>
            <a:picLocks noChangeAspect="1"/>
          </p:cNvPicPr>
          <p:nvPr/>
        </p:nvPicPr>
        <p:blipFill>
          <a:blip r:embed="rId3"/>
          <a:stretch>
            <a:fillRect/>
          </a:stretch>
        </p:blipFill>
        <p:spPr>
          <a:xfrm>
            <a:off x="11081186" y="82166"/>
            <a:ext cx="916962" cy="343030"/>
          </a:xfrm>
          <a:prstGeom prst="rect">
            <a:avLst/>
          </a:prstGeom>
        </p:spPr>
      </p:pic>
      <p:sp>
        <p:nvSpPr>
          <p:cNvPr id="6" name="TextBox 5"/>
          <p:cNvSpPr txBox="1"/>
          <p:nvPr/>
        </p:nvSpPr>
        <p:spPr>
          <a:xfrm>
            <a:off x="493776" y="1150000"/>
            <a:ext cx="6300000" cy="220000"/>
          </a:xfrm>
          <a:prstGeom prst="rect">
            <a:avLst/>
          </a:prstGeom>
          <a:noFill/>
        </p:spPr>
        <p:txBody>
          <a:bodyPr wrap="square" lIns="0" tIns="0" rIns="0" bIns="0" anchor="t">
            <a:spAutoFit/>
          </a:bodyPr>
          <a:lstStyle/>
          <a:p>
            <a:pPr algn="l"/>
            <a:r>
              <a:rPr sz="1000" b="1">
                <a:solidFill>
                  <a:srgbClr val="2F3B3A"/>
                </a:solidFill>
                <a:latin typeface="Calibri"/>
              </a:rPr>
              <a:t>18 aperturas: 9 segmentos abiertos por la variable que mejor separa su share</a:t>
            </a:r>
            <a:r>
              <a:rPr sz="900" b="1">
                <a:solidFill>
                  <a:srgbClr val="13807B"/>
                </a:solidFill>
                <a:latin typeface="Calibri"/>
              </a:rPr>
              <a:t>  ·  materialidad 2026</a:t>
            </a:r>
          </a:p>
        </p:txBody>
      </p:sp>
      <p:graphicFrame>
        <p:nvGraphicFramePr>
          <p:cNvPr id="7" name="Table 6"/>
          <p:cNvGraphicFramePr>
            <a:graphicFrameLocks noGrp="1"/>
          </p:cNvGraphicFramePr>
          <p:nvPr/>
        </p:nvGraphicFramePr>
        <p:xfrm>
          <a:off x="493776" y="1420000"/>
          <a:ext cx="6300000" cy="3300000"/>
        </p:xfrm>
        <a:graphic>
          <a:graphicData uri="http://schemas.openxmlformats.org/drawingml/2006/table">
            <a:tbl>
              <a:tblPr>
                <a:tableStyleId>{5C22544A-7EE6-4342-B048-85BDC9FD1C3A}</a:tableStyleId>
              </a:tblPr>
              <a:tblGrid>
                <a:gridCol w="1900000">
                  <a:extLst>
                    <a:ext uri="{9D8B030D-6E8A-4147-A177-3AD203B41FA5}">
                      <a16:colId xmlns:a16="http://schemas.microsoft.com/office/drawing/2014/main" val="20000"/>
                    </a:ext>
                  </a:extLst>
                </a:gridCol>
                <a:gridCol w="1500000">
                  <a:extLst>
                    <a:ext uri="{9D8B030D-6E8A-4147-A177-3AD203B41FA5}">
                      <a16:colId xmlns:a16="http://schemas.microsoft.com/office/drawing/2014/main" val="20001"/>
                    </a:ext>
                  </a:extLst>
                </a:gridCol>
                <a:gridCol w="1450000">
                  <a:extLst>
                    <a:ext uri="{9D8B030D-6E8A-4147-A177-3AD203B41FA5}">
                      <a16:colId xmlns:a16="http://schemas.microsoft.com/office/drawing/2014/main" val="20002"/>
                    </a:ext>
                  </a:extLst>
                </a:gridCol>
                <a:gridCol w="1450000">
                  <a:extLst>
                    <a:ext uri="{9D8B030D-6E8A-4147-A177-3AD203B41FA5}">
                      <a16:colId xmlns:a16="http://schemas.microsoft.com/office/drawing/2014/main" val="20003"/>
                    </a:ext>
                  </a:extLst>
                </a:gridCol>
              </a:tblGrid>
              <a:tr h="330000">
                <a:tc>
                  <a:txBody>
                    <a:bodyPr/>
                    <a:lstStyle/>
                    <a:p>
                      <a:pPr algn="l"/>
                      <a:r>
                        <a:rPr sz="850" b="1">
                          <a:solidFill>
                            <a:srgbClr val="FFFFFF"/>
                          </a:solidFill>
                          <a:latin typeface="Calibri"/>
                        </a:rPr>
                        <a:t>Segmento</a:t>
                      </a:r>
                    </a:p>
                  </a:txBody>
                  <a:tcPr marL="45000" marR="45000" marT="12000" marB="12000" anchor="ctr">
                    <a:solidFill>
                      <a:srgbClr val="1F3A5F"/>
                    </a:solidFill>
                  </a:tcPr>
                </a:tc>
                <a:tc>
                  <a:txBody>
                    <a:bodyPr/>
                    <a:lstStyle/>
                    <a:p>
                      <a:pPr algn="l"/>
                      <a:r>
                        <a:rPr sz="850" b="1">
                          <a:solidFill>
                            <a:srgbClr val="FFFFFF"/>
                          </a:solidFill>
                          <a:latin typeface="Calibri"/>
                        </a:rPr>
                        <a:t>Variable de apertura</a:t>
                      </a:r>
                    </a:p>
                  </a:txBody>
                  <a:tcPr marL="45000" marR="45000" marT="12000" marB="12000" anchor="ctr">
                    <a:solidFill>
                      <a:srgbClr val="1F3A5F"/>
                    </a:solidFill>
                  </a:tcPr>
                </a:tc>
                <a:tc>
                  <a:txBody>
                    <a:bodyPr/>
                    <a:lstStyle/>
                    <a:p>
                      <a:pPr algn="ctr"/>
                      <a:r>
                        <a:rPr sz="850" b="1">
                          <a:solidFill>
                            <a:srgbClr val="FFFFFF"/>
                          </a:solidFill>
                          <a:latin typeface="Calibri"/>
                        </a:rPr>
                        <a:t>Tramo 1</a:t>
                      </a:r>
                    </a:p>
                  </a:txBody>
                  <a:tcPr marL="45000" marR="45000" marT="12000" marB="12000" anchor="ctr">
                    <a:solidFill>
                      <a:srgbClr val="1F3A5F"/>
                    </a:solidFill>
                  </a:tcPr>
                </a:tc>
                <a:tc>
                  <a:txBody>
                    <a:bodyPr/>
                    <a:lstStyle/>
                    <a:p>
                      <a:pPr algn="ctr"/>
                      <a:r>
                        <a:rPr sz="850" b="1">
                          <a:solidFill>
                            <a:srgbClr val="FFFFFF"/>
                          </a:solidFill>
                          <a:latin typeface="Calibri"/>
                        </a:rPr>
                        <a:t>Tramo 2</a:t>
                      </a:r>
                    </a:p>
                  </a:txBody>
                  <a:tcPr marL="45000" marR="45000" marT="12000" marB="12000" anchor="ctr">
                    <a:solidFill>
                      <a:srgbClr val="1F3A5F"/>
                    </a:solidFill>
                  </a:tcPr>
                </a:tc>
                <a:extLst>
                  <a:ext uri="{0D108BD9-81ED-4DB2-BD59-A6C34878D82A}">
                    <a16:rowId xmlns:a16="http://schemas.microsoft.com/office/drawing/2014/main" val="10000"/>
                  </a:ext>
                </a:extLst>
              </a:tr>
              <a:tr h="330000">
                <a:tc>
                  <a:txBody>
                    <a:bodyPr/>
                    <a:lstStyle/>
                    <a:p>
                      <a:pPr algn="l"/>
                      <a:r>
                        <a:rPr sz="850" b="0">
                          <a:solidFill>
                            <a:srgbClr val="2F3B3A"/>
                          </a:solidFill>
                          <a:latin typeface="Calibri"/>
                        </a:rPr>
                        <a:t>Cliente Ancla</a:t>
                      </a:r>
                    </a:p>
                  </a:txBody>
                  <a:tcPr marL="45000" marR="45000" marT="12000" marB="12000" anchor="ctr">
                    <a:solidFill>
                      <a:srgbClr val="FFFFFF"/>
                    </a:solidFill>
                  </a:tcPr>
                </a:tc>
                <a:tc>
                  <a:txBody>
                    <a:bodyPr/>
                    <a:lstStyle/>
                    <a:p>
                      <a:pPr algn="l"/>
                      <a:r>
                        <a:rPr sz="850" b="0">
                          <a:solidFill>
                            <a:srgbClr val="2F3B3A"/>
                          </a:solidFill>
                          <a:latin typeface="Calibri"/>
                        </a:rPr>
                        <a:t>Monto ofertado</a:t>
                      </a:r>
                    </a:p>
                  </a:txBody>
                  <a:tcPr marL="45000" marR="45000" marT="12000" marB="12000" anchor="ctr">
                    <a:solidFill>
                      <a:srgbClr val="FFFFFF"/>
                    </a:solidFill>
                  </a:tcPr>
                </a:tc>
                <a:tc>
                  <a:txBody>
                    <a:bodyPr/>
                    <a:lstStyle/>
                    <a:p>
                      <a:pPr algn="ctr"/>
                      <a:r>
                        <a:rPr sz="850" b="1">
                          <a:solidFill>
                            <a:srgbClr val="6E7E7D"/>
                          </a:solidFill>
                          <a:latin typeface="Calibri"/>
                        </a:rPr>
                        <a:t>≤ 170K</a:t>
                      </a:r>
                    </a:p>
                  </a:txBody>
                  <a:tcPr marL="45000" marR="45000" marT="12000" marB="12000" anchor="ctr">
                    <a:solidFill>
                      <a:srgbClr val="FFFFFF"/>
                    </a:solidFill>
                  </a:tcPr>
                </a:tc>
                <a:tc>
                  <a:txBody>
                    <a:bodyPr/>
                    <a:lstStyle/>
                    <a:p>
                      <a:pPr algn="ctr"/>
                      <a:r>
                        <a:rPr sz="850" b="1">
                          <a:solidFill>
                            <a:srgbClr val="13807B"/>
                          </a:solidFill>
                          <a:latin typeface="Calibri"/>
                        </a:rPr>
                        <a:t>&gt; 350K</a:t>
                      </a:r>
                    </a:p>
                  </a:txBody>
                  <a:tcPr marL="45000" marR="45000" marT="12000" marB="12000" anchor="ctr">
                    <a:solidFill>
                      <a:srgbClr val="FFFFFF"/>
                    </a:solidFill>
                  </a:tcPr>
                </a:tc>
                <a:extLst>
                  <a:ext uri="{0D108BD9-81ED-4DB2-BD59-A6C34878D82A}">
                    <a16:rowId xmlns:a16="http://schemas.microsoft.com/office/drawing/2014/main" val="10001"/>
                  </a:ext>
                </a:extLst>
              </a:tr>
              <a:tr h="330000">
                <a:tc>
                  <a:txBody>
                    <a:bodyPr/>
                    <a:lstStyle/>
                    <a:p>
                      <a:pPr algn="l"/>
                      <a:r>
                        <a:rPr sz="850" b="0">
                          <a:solidFill>
                            <a:srgbClr val="2F3B3A"/>
                          </a:solidFill>
                          <a:latin typeface="Calibri"/>
                        </a:rPr>
                        <a:t>Cuenta Estratégica</a:t>
                      </a:r>
                    </a:p>
                  </a:txBody>
                  <a:tcPr marL="45000" marR="45000" marT="12000" marB="12000" anchor="ctr">
                    <a:solidFill>
                      <a:srgbClr val="F7F9F9"/>
                    </a:solidFill>
                  </a:tcPr>
                </a:tc>
                <a:tc>
                  <a:txBody>
                    <a:bodyPr/>
                    <a:lstStyle/>
                    <a:p>
                      <a:pPr algn="l"/>
                      <a:r>
                        <a:rPr sz="850" b="0">
                          <a:solidFill>
                            <a:srgbClr val="2F3B3A"/>
                          </a:solidFill>
                          <a:latin typeface="Calibri"/>
                        </a:rPr>
                        <a:t>Monto ofertado</a:t>
                      </a:r>
                    </a:p>
                  </a:txBody>
                  <a:tcPr marL="45000" marR="45000" marT="12000" marB="12000" anchor="ctr">
                    <a:solidFill>
                      <a:srgbClr val="F7F9F9"/>
                    </a:solidFill>
                  </a:tcPr>
                </a:tc>
                <a:tc>
                  <a:txBody>
                    <a:bodyPr/>
                    <a:lstStyle/>
                    <a:p>
                      <a:pPr algn="ctr"/>
                      <a:r>
                        <a:rPr sz="850" b="1">
                          <a:solidFill>
                            <a:srgbClr val="6E7E7D"/>
                          </a:solidFill>
                          <a:latin typeface="Calibri"/>
                        </a:rPr>
                        <a:t>≤ 170K</a:t>
                      </a:r>
                    </a:p>
                  </a:txBody>
                  <a:tcPr marL="45000" marR="45000" marT="12000" marB="12000" anchor="ctr">
                    <a:solidFill>
                      <a:srgbClr val="F7F9F9"/>
                    </a:solidFill>
                  </a:tcPr>
                </a:tc>
                <a:tc>
                  <a:txBody>
                    <a:bodyPr/>
                    <a:lstStyle/>
                    <a:p>
                      <a:pPr algn="ctr"/>
                      <a:r>
                        <a:rPr sz="850" b="1">
                          <a:solidFill>
                            <a:srgbClr val="13807B"/>
                          </a:solidFill>
                          <a:latin typeface="Calibri"/>
                        </a:rPr>
                        <a:t>&gt; 350K</a:t>
                      </a:r>
                    </a:p>
                  </a:txBody>
                  <a:tcPr marL="45000" marR="45000" marT="12000" marB="12000" anchor="ctr">
                    <a:solidFill>
                      <a:srgbClr val="F7F9F9"/>
                    </a:solidFill>
                  </a:tcPr>
                </a:tc>
                <a:extLst>
                  <a:ext uri="{0D108BD9-81ED-4DB2-BD59-A6C34878D82A}">
                    <a16:rowId xmlns:a16="http://schemas.microsoft.com/office/drawing/2014/main" val="10002"/>
                  </a:ext>
                </a:extLst>
              </a:tr>
              <a:tr h="330000">
                <a:tc>
                  <a:txBody>
                    <a:bodyPr/>
                    <a:lstStyle/>
                    <a:p>
                      <a:pPr algn="l"/>
                      <a:r>
                        <a:rPr sz="850" b="0">
                          <a:solidFill>
                            <a:srgbClr val="2F3B3A"/>
                          </a:solidFill>
                          <a:latin typeface="Calibri"/>
                        </a:rPr>
                        <a:t>Maduro Multibanco</a:t>
                      </a:r>
                    </a:p>
                  </a:txBody>
                  <a:tcPr marL="45000" marR="45000" marT="12000" marB="12000" anchor="ctr">
                    <a:solidFill>
                      <a:srgbClr val="FFFFFF"/>
                    </a:solidFill>
                  </a:tcPr>
                </a:tc>
                <a:tc>
                  <a:txBody>
                    <a:bodyPr/>
                    <a:lstStyle/>
                    <a:p>
                      <a:pPr algn="l"/>
                      <a:r>
                        <a:rPr sz="850" b="0">
                          <a:solidFill>
                            <a:srgbClr val="2F3B3A"/>
                          </a:solidFill>
                          <a:latin typeface="Calibri"/>
                        </a:rPr>
                        <a:t>Monto ofertado</a:t>
                      </a:r>
                    </a:p>
                  </a:txBody>
                  <a:tcPr marL="45000" marR="45000" marT="12000" marB="12000" anchor="ctr">
                    <a:solidFill>
                      <a:srgbClr val="FFFFFF"/>
                    </a:solidFill>
                  </a:tcPr>
                </a:tc>
                <a:tc>
                  <a:txBody>
                    <a:bodyPr/>
                    <a:lstStyle/>
                    <a:p>
                      <a:pPr algn="ctr"/>
                      <a:r>
                        <a:rPr sz="850" b="1">
                          <a:solidFill>
                            <a:srgbClr val="13807B"/>
                          </a:solidFill>
                          <a:latin typeface="Calibri"/>
                        </a:rPr>
                        <a:t>250–350K</a:t>
                      </a:r>
                    </a:p>
                  </a:txBody>
                  <a:tcPr marL="45000" marR="45000" marT="12000" marB="12000" anchor="ctr">
                    <a:solidFill>
                      <a:srgbClr val="FFFFFF"/>
                    </a:solidFill>
                  </a:tcPr>
                </a:tc>
                <a:tc>
                  <a:txBody>
                    <a:bodyPr/>
                    <a:lstStyle/>
                    <a:p>
                      <a:pPr algn="ctr"/>
                      <a:r>
                        <a:rPr sz="850" b="1">
                          <a:solidFill>
                            <a:srgbClr val="13807B"/>
                          </a:solidFill>
                          <a:latin typeface="Calibri"/>
                        </a:rPr>
                        <a:t>&gt; 350K</a:t>
                      </a:r>
                    </a:p>
                  </a:txBody>
                  <a:tcPr marL="45000" marR="45000" marT="12000" marB="12000" anchor="ctr">
                    <a:solidFill>
                      <a:srgbClr val="FFFFFF"/>
                    </a:solidFill>
                  </a:tcPr>
                </a:tc>
                <a:extLst>
                  <a:ext uri="{0D108BD9-81ED-4DB2-BD59-A6C34878D82A}">
                    <a16:rowId xmlns:a16="http://schemas.microsoft.com/office/drawing/2014/main" val="10003"/>
                  </a:ext>
                </a:extLst>
              </a:tr>
              <a:tr h="330000">
                <a:tc>
                  <a:txBody>
                    <a:bodyPr/>
                    <a:lstStyle/>
                    <a:p>
                      <a:pPr algn="l"/>
                      <a:r>
                        <a:rPr sz="850" b="0">
                          <a:solidFill>
                            <a:srgbClr val="2F3B3A"/>
                          </a:solidFill>
                          <a:latin typeface="Calibri"/>
                        </a:rPr>
                        <a:t>Socio en Crecimiento</a:t>
                      </a:r>
                    </a:p>
                  </a:txBody>
                  <a:tcPr marL="45000" marR="45000" marT="12000" marB="12000" anchor="ctr">
                    <a:solidFill>
                      <a:srgbClr val="F7F9F9"/>
                    </a:solidFill>
                  </a:tcPr>
                </a:tc>
                <a:tc>
                  <a:txBody>
                    <a:bodyPr/>
                    <a:lstStyle/>
                    <a:p>
                      <a:pPr algn="l"/>
                      <a:r>
                        <a:rPr sz="850" b="0">
                          <a:solidFill>
                            <a:srgbClr val="2F3B3A"/>
                          </a:solidFill>
                          <a:latin typeface="Calibri"/>
                        </a:rPr>
                        <a:t>Pasivos promedio 12m</a:t>
                      </a:r>
                    </a:p>
                  </a:txBody>
                  <a:tcPr marL="45000" marR="45000" marT="12000" marB="12000" anchor="ctr">
                    <a:solidFill>
                      <a:srgbClr val="F7F9F9"/>
                    </a:solidFill>
                  </a:tcPr>
                </a:tc>
                <a:tc>
                  <a:txBody>
                    <a:bodyPr/>
                    <a:lstStyle/>
                    <a:p>
                      <a:pPr algn="ctr"/>
                      <a:r>
                        <a:rPr sz="850" b="1">
                          <a:solidFill>
                            <a:srgbClr val="13807B"/>
                          </a:solidFill>
                          <a:latin typeface="Calibri"/>
                        </a:rPr>
                        <a:t>Pasivos &lt; 1K</a:t>
                      </a:r>
                    </a:p>
                  </a:txBody>
                  <a:tcPr marL="45000" marR="45000" marT="12000" marB="12000" anchor="ctr">
                    <a:solidFill>
                      <a:srgbClr val="F7F9F9"/>
                    </a:solidFill>
                  </a:tcPr>
                </a:tc>
                <a:tc>
                  <a:txBody>
                    <a:bodyPr/>
                    <a:lstStyle/>
                    <a:p>
                      <a:pPr algn="ctr"/>
                      <a:r>
                        <a:rPr sz="850" b="1">
                          <a:solidFill>
                            <a:srgbClr val="13807B"/>
                          </a:solidFill>
                          <a:latin typeface="Calibri"/>
                        </a:rPr>
                        <a:t>Pasivos ≥ 5K</a:t>
                      </a:r>
                    </a:p>
                  </a:txBody>
                  <a:tcPr marL="45000" marR="45000" marT="12000" marB="12000" anchor="ctr">
                    <a:solidFill>
                      <a:srgbClr val="F7F9F9"/>
                    </a:solidFill>
                  </a:tcPr>
                </a:tc>
                <a:extLst>
                  <a:ext uri="{0D108BD9-81ED-4DB2-BD59-A6C34878D82A}">
                    <a16:rowId xmlns:a16="http://schemas.microsoft.com/office/drawing/2014/main" val="10004"/>
                  </a:ext>
                </a:extLst>
              </a:tr>
              <a:tr h="330000">
                <a:tc>
                  <a:txBody>
                    <a:bodyPr/>
                    <a:lstStyle/>
                    <a:p>
                      <a:pPr algn="l"/>
                      <a:r>
                        <a:rPr sz="850" b="0">
                          <a:solidFill>
                            <a:srgbClr val="2F3B3A"/>
                          </a:solidFill>
                          <a:latin typeface="Calibri"/>
                        </a:rPr>
                        <a:t>Gran Cuenta por Conquistar</a:t>
                      </a:r>
                    </a:p>
                  </a:txBody>
                  <a:tcPr marL="45000" marR="45000" marT="12000" marB="12000" anchor="ctr">
                    <a:solidFill>
                      <a:srgbClr val="FFFFFF"/>
                    </a:solidFill>
                  </a:tcPr>
                </a:tc>
                <a:tc>
                  <a:txBody>
                    <a:bodyPr/>
                    <a:lstStyle/>
                    <a:p>
                      <a:pPr algn="l"/>
                      <a:r>
                        <a:rPr sz="850" b="0">
                          <a:solidFill>
                            <a:srgbClr val="2F3B3A"/>
                          </a:solidFill>
                          <a:latin typeface="Calibri"/>
                        </a:rPr>
                        <a:t>Deuda en el SSFF 12m</a:t>
                      </a:r>
                    </a:p>
                  </a:txBody>
                  <a:tcPr marL="45000" marR="45000" marT="12000" marB="12000" anchor="ctr">
                    <a:solidFill>
                      <a:srgbClr val="FFFFFF"/>
                    </a:solidFill>
                  </a:tcPr>
                </a:tc>
                <a:tc>
                  <a:txBody>
                    <a:bodyPr/>
                    <a:lstStyle/>
                    <a:p>
                      <a:pPr algn="ctr"/>
                      <a:r>
                        <a:rPr sz="850" b="1">
                          <a:solidFill>
                            <a:srgbClr val="C2410C"/>
                          </a:solidFill>
                          <a:latin typeface="Calibri"/>
                        </a:rPr>
                        <a:t>SSFF ≤ 1,5MM</a:t>
                      </a:r>
                    </a:p>
                  </a:txBody>
                  <a:tcPr marL="45000" marR="45000" marT="12000" marB="12000" anchor="ctr">
                    <a:solidFill>
                      <a:srgbClr val="FFFFFF"/>
                    </a:solidFill>
                  </a:tcPr>
                </a:tc>
                <a:tc>
                  <a:txBody>
                    <a:bodyPr/>
                    <a:lstStyle/>
                    <a:p>
                      <a:pPr algn="ctr"/>
                      <a:r>
                        <a:rPr sz="850" b="1">
                          <a:solidFill>
                            <a:srgbClr val="13807B"/>
                          </a:solidFill>
                          <a:latin typeface="Calibri"/>
                        </a:rPr>
                        <a:t>SSFF 1,5–3,8MM</a:t>
                      </a:r>
                    </a:p>
                  </a:txBody>
                  <a:tcPr marL="45000" marR="45000" marT="12000" marB="12000" anchor="ctr">
                    <a:solidFill>
                      <a:srgbClr val="FFFFFF"/>
                    </a:solidFill>
                  </a:tcPr>
                </a:tc>
                <a:extLst>
                  <a:ext uri="{0D108BD9-81ED-4DB2-BD59-A6C34878D82A}">
                    <a16:rowId xmlns:a16="http://schemas.microsoft.com/office/drawing/2014/main" val="10005"/>
                  </a:ext>
                </a:extLst>
              </a:tr>
              <a:tr h="330000">
                <a:tc>
                  <a:txBody>
                    <a:bodyPr/>
                    <a:lstStyle/>
                    <a:p>
                      <a:pPr algn="l"/>
                      <a:r>
                        <a:rPr sz="850" b="0">
                          <a:solidFill>
                            <a:srgbClr val="2F3B3A"/>
                          </a:solidFill>
                          <a:latin typeface="Calibri"/>
                        </a:rPr>
                        <a:t>Cliente por Reactivar</a:t>
                      </a:r>
                    </a:p>
                  </a:txBody>
                  <a:tcPr marL="45000" marR="45000" marT="12000" marB="12000" anchor="ctr">
                    <a:solidFill>
                      <a:srgbClr val="F7F9F9"/>
                    </a:solidFill>
                  </a:tcPr>
                </a:tc>
                <a:tc>
                  <a:txBody>
                    <a:bodyPr/>
                    <a:lstStyle/>
                    <a:p>
                      <a:pPr algn="l"/>
                      <a:r>
                        <a:rPr sz="850" b="0">
                          <a:solidFill>
                            <a:srgbClr val="2F3B3A"/>
                          </a:solidFill>
                          <a:latin typeface="Calibri"/>
                        </a:rPr>
                        <a:t>Pasivos promedio 12m</a:t>
                      </a:r>
                    </a:p>
                  </a:txBody>
                  <a:tcPr marL="45000" marR="45000" marT="12000" marB="12000" anchor="ctr">
                    <a:solidFill>
                      <a:srgbClr val="F7F9F9"/>
                    </a:solidFill>
                  </a:tcPr>
                </a:tc>
                <a:tc>
                  <a:txBody>
                    <a:bodyPr/>
                    <a:lstStyle/>
                    <a:p>
                      <a:pPr algn="ctr"/>
                      <a:r>
                        <a:rPr sz="850" b="1">
                          <a:solidFill>
                            <a:srgbClr val="C2410C"/>
                          </a:solidFill>
                          <a:latin typeface="Calibri"/>
                        </a:rPr>
                        <a:t>Pasivos &lt; 1K</a:t>
                      </a:r>
                    </a:p>
                  </a:txBody>
                  <a:tcPr marL="45000" marR="45000" marT="12000" marB="12000" anchor="ctr">
                    <a:solidFill>
                      <a:srgbClr val="F7F9F9"/>
                    </a:solidFill>
                  </a:tcPr>
                </a:tc>
                <a:tc>
                  <a:txBody>
                    <a:bodyPr/>
                    <a:lstStyle/>
                    <a:p>
                      <a:pPr algn="ctr"/>
                      <a:r>
                        <a:rPr sz="850" b="1">
                          <a:solidFill>
                            <a:srgbClr val="6E7E7D"/>
                          </a:solidFill>
                          <a:latin typeface="Calibri"/>
                        </a:rPr>
                        <a:t>Pasivos ≥ 5K</a:t>
                      </a:r>
                    </a:p>
                  </a:txBody>
                  <a:tcPr marL="45000" marR="45000" marT="12000" marB="12000" anchor="ctr">
                    <a:solidFill>
                      <a:srgbClr val="F7F9F9"/>
                    </a:solidFill>
                  </a:tcPr>
                </a:tc>
                <a:extLst>
                  <a:ext uri="{0D108BD9-81ED-4DB2-BD59-A6C34878D82A}">
                    <a16:rowId xmlns:a16="http://schemas.microsoft.com/office/drawing/2014/main" val="10006"/>
                  </a:ext>
                </a:extLst>
              </a:tr>
              <a:tr h="330000">
                <a:tc>
                  <a:txBody>
                    <a:bodyPr/>
                    <a:lstStyle/>
                    <a:p>
                      <a:pPr algn="l"/>
                      <a:r>
                        <a:rPr sz="850" b="0">
                          <a:solidFill>
                            <a:srgbClr val="2F3B3A"/>
                          </a:solidFill>
                          <a:latin typeface="Calibri"/>
                        </a:rPr>
                        <a:t>Próximo Recurrente</a:t>
                      </a:r>
                    </a:p>
                  </a:txBody>
                  <a:tcPr marL="45000" marR="45000" marT="12000" marB="12000" anchor="ctr">
                    <a:solidFill>
                      <a:srgbClr val="FFFFFF"/>
                    </a:solidFill>
                  </a:tcPr>
                </a:tc>
                <a:tc>
                  <a:txBody>
                    <a:bodyPr/>
                    <a:lstStyle/>
                    <a:p>
                      <a:pPr algn="l"/>
                      <a:r>
                        <a:rPr sz="850" b="0">
                          <a:solidFill>
                            <a:srgbClr val="2F3B3A"/>
                          </a:solidFill>
                          <a:latin typeface="Calibri"/>
                        </a:rPr>
                        <a:t>Monto ofertado</a:t>
                      </a:r>
                    </a:p>
                  </a:txBody>
                  <a:tcPr marL="45000" marR="45000" marT="12000" marB="12000" anchor="ctr">
                    <a:solidFill>
                      <a:srgbClr val="FFFFFF"/>
                    </a:solidFill>
                  </a:tcPr>
                </a:tc>
                <a:tc>
                  <a:txBody>
                    <a:bodyPr/>
                    <a:lstStyle/>
                    <a:p>
                      <a:pPr algn="ctr"/>
                      <a:r>
                        <a:rPr sz="850" b="1">
                          <a:solidFill>
                            <a:srgbClr val="6E7E7D"/>
                          </a:solidFill>
                          <a:latin typeface="Calibri"/>
                        </a:rPr>
                        <a:t>≤ 170K</a:t>
                      </a:r>
                    </a:p>
                  </a:txBody>
                  <a:tcPr marL="45000" marR="45000" marT="12000" marB="12000" anchor="ctr">
                    <a:solidFill>
                      <a:srgbClr val="FFFFFF"/>
                    </a:solidFill>
                  </a:tcPr>
                </a:tc>
                <a:tc>
                  <a:txBody>
                    <a:bodyPr/>
                    <a:lstStyle/>
                    <a:p>
                      <a:pPr algn="ctr"/>
                      <a:r>
                        <a:rPr sz="850" b="1">
                          <a:solidFill>
                            <a:srgbClr val="6E7E7D"/>
                          </a:solidFill>
                          <a:latin typeface="Calibri"/>
                        </a:rPr>
                        <a:t>&gt; 250K</a:t>
                      </a:r>
                    </a:p>
                  </a:txBody>
                  <a:tcPr marL="45000" marR="45000" marT="12000" marB="12000" anchor="ctr">
                    <a:solidFill>
                      <a:srgbClr val="FFFFFF"/>
                    </a:solidFill>
                  </a:tcPr>
                </a:tc>
                <a:extLst>
                  <a:ext uri="{0D108BD9-81ED-4DB2-BD59-A6C34878D82A}">
                    <a16:rowId xmlns:a16="http://schemas.microsoft.com/office/drawing/2014/main" val="10007"/>
                  </a:ext>
                </a:extLst>
              </a:tr>
              <a:tr h="330000">
                <a:tc>
                  <a:txBody>
                    <a:bodyPr/>
                    <a:lstStyle/>
                    <a:p>
                      <a:pPr algn="l"/>
                      <a:r>
                        <a:rPr sz="850" b="0">
                          <a:solidFill>
                            <a:srgbClr val="2F3B3A"/>
                          </a:solidFill>
                          <a:latin typeface="Calibri"/>
                        </a:rPr>
                        <a:t>Nuevo en Expansión</a:t>
                      </a:r>
                    </a:p>
                  </a:txBody>
                  <a:tcPr marL="45000" marR="45000" marT="12000" marB="12000" anchor="ctr">
                    <a:solidFill>
                      <a:srgbClr val="F7F9F9"/>
                    </a:solidFill>
                  </a:tcPr>
                </a:tc>
                <a:tc>
                  <a:txBody>
                    <a:bodyPr/>
                    <a:lstStyle/>
                    <a:p>
                      <a:pPr algn="l"/>
                      <a:r>
                        <a:rPr sz="850" b="0">
                          <a:solidFill>
                            <a:srgbClr val="2F3B3A"/>
                          </a:solidFill>
                          <a:latin typeface="Calibri"/>
                        </a:rPr>
                        <a:t>Monto ofertado</a:t>
                      </a:r>
                    </a:p>
                  </a:txBody>
                  <a:tcPr marL="45000" marR="45000" marT="12000" marB="12000" anchor="ctr">
                    <a:solidFill>
                      <a:srgbClr val="F7F9F9"/>
                    </a:solidFill>
                  </a:tcPr>
                </a:tc>
                <a:tc>
                  <a:txBody>
                    <a:bodyPr/>
                    <a:lstStyle/>
                    <a:p>
                      <a:pPr algn="ctr"/>
                      <a:r>
                        <a:rPr sz="850" b="1">
                          <a:solidFill>
                            <a:srgbClr val="6E7E7D"/>
                          </a:solidFill>
                          <a:latin typeface="Calibri"/>
                        </a:rPr>
                        <a:t>≤ 170K</a:t>
                      </a:r>
                    </a:p>
                  </a:txBody>
                  <a:tcPr marL="45000" marR="45000" marT="12000" marB="12000" anchor="ctr">
                    <a:solidFill>
                      <a:srgbClr val="F7F9F9"/>
                    </a:solidFill>
                  </a:tcPr>
                </a:tc>
                <a:tc>
                  <a:txBody>
                    <a:bodyPr/>
                    <a:lstStyle/>
                    <a:p>
                      <a:pPr algn="ctr"/>
                      <a:r>
                        <a:rPr sz="850" b="1">
                          <a:solidFill>
                            <a:srgbClr val="C2410C"/>
                          </a:solidFill>
                          <a:latin typeface="Calibri"/>
                        </a:rPr>
                        <a:t>&gt; 250K</a:t>
                      </a:r>
                    </a:p>
                  </a:txBody>
                  <a:tcPr marL="45000" marR="45000" marT="12000" marB="12000" anchor="ctr">
                    <a:solidFill>
                      <a:srgbClr val="F7F9F9"/>
                    </a:solidFill>
                  </a:tcPr>
                </a:tc>
                <a:extLst>
                  <a:ext uri="{0D108BD9-81ED-4DB2-BD59-A6C34878D82A}">
                    <a16:rowId xmlns:a16="http://schemas.microsoft.com/office/drawing/2014/main" val="10008"/>
                  </a:ext>
                </a:extLst>
              </a:tr>
              <a:tr h="330000">
                <a:tc>
                  <a:txBody>
                    <a:bodyPr/>
                    <a:lstStyle/>
                    <a:p>
                      <a:pPr algn="l"/>
                      <a:r>
                        <a:rPr sz="850" b="0">
                          <a:solidFill>
                            <a:srgbClr val="2F3B3A"/>
                          </a:solidFill>
                          <a:latin typeface="Calibri"/>
                        </a:rPr>
                        <a:t>Emprendedor Izipay</a:t>
                      </a:r>
                    </a:p>
                  </a:txBody>
                  <a:tcPr marL="45000" marR="45000" marT="12000" marB="12000" anchor="ctr">
                    <a:solidFill>
                      <a:srgbClr val="FFFFFF"/>
                    </a:solidFill>
                  </a:tcPr>
                </a:tc>
                <a:tc>
                  <a:txBody>
                    <a:bodyPr/>
                    <a:lstStyle/>
                    <a:p>
                      <a:pPr algn="l"/>
                      <a:r>
                        <a:rPr sz="850" b="0">
                          <a:solidFill>
                            <a:srgbClr val="2F3B3A"/>
                          </a:solidFill>
                          <a:latin typeface="Calibri"/>
                        </a:rPr>
                        <a:t>Pasivos promedio 12m</a:t>
                      </a:r>
                    </a:p>
                  </a:txBody>
                  <a:tcPr marL="45000" marR="45000" marT="12000" marB="12000" anchor="ctr">
                    <a:solidFill>
                      <a:srgbClr val="FFFFFF"/>
                    </a:solidFill>
                  </a:tcPr>
                </a:tc>
                <a:tc>
                  <a:txBody>
                    <a:bodyPr/>
                    <a:lstStyle/>
                    <a:p>
                      <a:pPr algn="ctr"/>
                      <a:r>
                        <a:rPr sz="850" b="1">
                          <a:solidFill>
                            <a:srgbClr val="6E7E7D"/>
                          </a:solidFill>
                          <a:latin typeface="Calibri"/>
                        </a:rPr>
                        <a:t>Pasivos &lt; 1K</a:t>
                      </a:r>
                    </a:p>
                  </a:txBody>
                  <a:tcPr marL="45000" marR="45000" marT="12000" marB="12000" anchor="ctr">
                    <a:solidFill>
                      <a:srgbClr val="FFFFFF"/>
                    </a:solidFill>
                  </a:tcPr>
                </a:tc>
                <a:tc>
                  <a:txBody>
                    <a:bodyPr/>
                    <a:lstStyle/>
                    <a:p>
                      <a:pPr algn="ctr"/>
                      <a:r>
                        <a:rPr sz="850" b="1">
                          <a:solidFill>
                            <a:srgbClr val="6E7E7D"/>
                          </a:solidFill>
                          <a:latin typeface="Calibri"/>
                        </a:rPr>
                        <a:t>Pasivos 1–20K</a:t>
                      </a:r>
                    </a:p>
                  </a:txBody>
                  <a:tcPr marL="45000" marR="45000" marT="12000" marB="12000" anchor="ctr">
                    <a:solidFill>
                      <a:srgbClr val="FFFFFF"/>
                    </a:solidFill>
                  </a:tcPr>
                </a:tc>
                <a:extLst>
                  <a:ext uri="{0D108BD9-81ED-4DB2-BD59-A6C34878D82A}">
                    <a16:rowId xmlns:a16="http://schemas.microsoft.com/office/drawing/2014/main" val="10009"/>
                  </a:ext>
                </a:extLst>
              </a:tr>
            </a:tbl>
          </a:graphicData>
        </a:graphic>
      </p:graphicFrame>
      <p:sp>
        <p:nvSpPr>
          <p:cNvPr id="8" name="TextBox 7"/>
          <p:cNvSpPr txBox="1"/>
          <p:nvPr/>
        </p:nvSpPr>
        <p:spPr>
          <a:xfrm>
            <a:off x="493776" y="4780000"/>
            <a:ext cx="6300000" cy="200000"/>
          </a:xfrm>
          <a:prstGeom prst="rect">
            <a:avLst/>
          </a:prstGeom>
          <a:noFill/>
        </p:spPr>
        <p:txBody>
          <a:bodyPr wrap="square" lIns="0" tIns="0" rIns="0" bIns="0" anchor="t">
            <a:spAutoFit/>
          </a:bodyPr>
          <a:lstStyle/>
          <a:p>
            <a:pPr algn="l"/>
            <a:r>
              <a:rPr sz="900" b="1">
                <a:solidFill>
                  <a:srgbClr val="13807B"/>
                </a:solidFill>
                <a:latin typeface="Calibri"/>
              </a:rPr>
              <a:t>■ </a:t>
            </a:r>
            <a:r>
              <a:rPr sz="800" b="0">
                <a:solidFill>
                  <a:srgbClr val="6E7E7D"/>
                </a:solidFill>
                <a:latin typeface="Calibri"/>
              </a:rPr>
              <a:t>Concluyente   </a:t>
            </a:r>
            <a:r>
              <a:rPr sz="900" b="1">
                <a:solidFill>
                  <a:srgbClr val="C2410C"/>
                </a:solidFill>
                <a:latin typeface="Calibri"/>
              </a:rPr>
              <a:t>■ </a:t>
            </a:r>
            <a:r>
              <a:rPr sz="800" b="0">
                <a:solidFill>
                  <a:srgbClr val="6E7E7D"/>
                </a:solidFill>
                <a:latin typeface="Calibri"/>
              </a:rPr>
              <a:t>Indicativa   </a:t>
            </a:r>
            <a:r>
              <a:rPr sz="900" b="1">
                <a:solidFill>
                  <a:srgbClr val="6E7E7D"/>
                </a:solidFill>
                <a:latin typeface="Calibri"/>
              </a:rPr>
              <a:t>■ </a:t>
            </a:r>
            <a:r>
              <a:rPr sz="800" b="0">
                <a:solidFill>
                  <a:srgbClr val="6E7E7D"/>
                </a:solidFill>
                <a:latin typeface="Calibri"/>
              </a:rPr>
              <a:t>Sin materialidad de la competencia</a:t>
            </a:r>
          </a:p>
        </p:txBody>
      </p:sp>
      <p:sp>
        <p:nvSpPr>
          <p:cNvPr id="9" name="TextBox 8"/>
          <p:cNvSpPr txBox="1"/>
          <p:nvPr/>
        </p:nvSpPr>
        <p:spPr>
          <a:xfrm>
            <a:off x="7143776" y="1150000"/>
            <a:ext cx="4551400" cy="220000"/>
          </a:xfrm>
          <a:prstGeom prst="rect">
            <a:avLst/>
          </a:prstGeom>
          <a:noFill/>
        </p:spPr>
        <p:txBody>
          <a:bodyPr wrap="square" lIns="0" tIns="0" rIns="0" bIns="0" anchor="t">
            <a:spAutoFit/>
          </a:bodyPr>
          <a:lstStyle/>
          <a:p>
            <a:pPr algn="l"/>
            <a:r>
              <a:rPr sz="1000" b="1">
                <a:solidFill>
                  <a:srgbClr val="2F3B3A"/>
                </a:solidFill>
                <a:latin typeface="Calibri"/>
              </a:rPr>
              <a:t>Regla de lectura por apertura</a:t>
            </a:r>
          </a:p>
        </p:txBody>
      </p:sp>
      <p:sp>
        <p:nvSpPr>
          <p:cNvPr id="10" name="Rectangle 9"/>
          <p:cNvSpPr/>
          <p:nvPr/>
        </p:nvSpPr>
        <p:spPr>
          <a:xfrm>
            <a:off x="7143776" y="1420000"/>
            <a:ext cx="4551400" cy="650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120000" tIns="60000" rIns="120000" bIns="60000" rtlCol="0" anchor="ctr"/>
          <a:lstStyle/>
          <a:p>
            <a:pPr algn="ctr"/>
            <a:r>
              <a:rPr sz="1100" b="1">
                <a:solidFill>
                  <a:srgbClr val="FFFFFF"/>
                </a:solidFill>
                <a:latin typeface="Calibri"/>
              </a:rPr>
              <a:t>¿Hay materialidad de la tasa de la competencia?</a:t>
            </a:r>
          </a:p>
        </p:txBody>
      </p:sp>
      <p:cxnSp>
        <p:nvCxnSpPr>
          <p:cNvPr id="11" name="Connector 10"/>
          <p:cNvCxnSpPr/>
          <p:nvPr/>
        </p:nvCxnSpPr>
        <p:spPr>
          <a:xfrm>
            <a:off x="9419476" y="2070000"/>
            <a:ext cx="0" cy="230000"/>
          </a:xfrm>
          <a:prstGeom prst="line">
            <a:avLst/>
          </a:prstGeom>
          <a:ln w="19050">
            <a:solidFill>
              <a:srgbClr val="1F3A5F"/>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8244126" y="2300000"/>
            <a:ext cx="1175350" cy="0"/>
          </a:xfrm>
          <a:prstGeom prst="line">
            <a:avLst/>
          </a:prstGeom>
          <a:ln w="19050">
            <a:solidFill>
              <a:srgbClr val="13807B"/>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244126" y="2300000"/>
            <a:ext cx="0" cy="380000"/>
          </a:xfrm>
          <a:prstGeom prst="line">
            <a:avLst/>
          </a:prstGeom>
          <a:ln w="19050">
            <a:solidFill>
              <a:srgbClr val="13807B"/>
            </a:solidFill>
            <a:tailEnd type="triangle"/>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8304126" y="2380000"/>
            <a:ext cx="500000" cy="220000"/>
          </a:xfrm>
          <a:prstGeom prst="rect">
            <a:avLst/>
          </a:prstGeom>
          <a:noFill/>
        </p:spPr>
        <p:txBody>
          <a:bodyPr wrap="square" lIns="0" tIns="0" rIns="0" bIns="0" anchor="t">
            <a:spAutoFit/>
          </a:bodyPr>
          <a:lstStyle/>
          <a:p>
            <a:pPr algn="l"/>
            <a:r>
              <a:rPr sz="1000" b="1">
                <a:solidFill>
                  <a:srgbClr val="13807B"/>
                </a:solidFill>
                <a:latin typeface="Calibri"/>
              </a:rPr>
              <a:t>Sí</a:t>
            </a:r>
          </a:p>
        </p:txBody>
      </p:sp>
      <p:sp>
        <p:nvSpPr>
          <p:cNvPr id="15" name="Rectangle 14"/>
          <p:cNvSpPr/>
          <p:nvPr/>
        </p:nvSpPr>
        <p:spPr>
          <a:xfrm>
            <a:off x="7143776" y="2680000"/>
            <a:ext cx="2200700" cy="1500000"/>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lIns="110000" tIns="55000" rIns="110000" bIns="55000" rtlCol="0" anchor="ctr"/>
          <a:lstStyle/>
          <a:p>
            <a:pPr algn="ctr"/>
            <a:r>
              <a:rPr sz="1000" b="1">
                <a:solidFill>
                  <a:srgbClr val="FFFFFF"/>
                </a:solidFill>
                <a:latin typeface="Calibri"/>
              </a:rPr>
              <a:t>Concluimos con la tasa de la competencia</a:t>
            </a:r>
          </a:p>
          <a:p>
            <a:pPr algn="ctr">
              <a:spcBef>
                <a:spcPts val="300"/>
              </a:spcBef>
            </a:pPr>
            <a:r>
              <a:rPr sz="850" b="0">
                <a:solidFill>
                  <a:srgbClr val="FFFFFF"/>
                </a:solidFill>
                <a:latin typeface="Calibri"/>
              </a:rPr>
              <a:t>Comparamos su TEA con nuestra TEA de oferta y de desembolso</a:t>
            </a:r>
          </a:p>
        </p:txBody>
      </p:sp>
      <p:cxnSp>
        <p:nvCxnSpPr>
          <p:cNvPr id="16" name="Connector 15"/>
          <p:cNvCxnSpPr/>
          <p:nvPr/>
        </p:nvCxnSpPr>
        <p:spPr>
          <a:xfrm>
            <a:off x="9419476" y="2070000"/>
            <a:ext cx="0" cy="230000"/>
          </a:xfrm>
          <a:prstGeom prst="line">
            <a:avLst/>
          </a:prstGeom>
          <a:ln w="19050">
            <a:solidFill>
              <a:srgbClr val="1F3A5F"/>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9419476" y="2300000"/>
            <a:ext cx="1175350" cy="0"/>
          </a:xfrm>
          <a:prstGeom prst="line">
            <a:avLst/>
          </a:prstGeom>
          <a:ln w="19050">
            <a:solidFill>
              <a:srgbClr val="6E7E7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0594826" y="2300000"/>
            <a:ext cx="0" cy="380000"/>
          </a:xfrm>
          <a:prstGeom prst="line">
            <a:avLst/>
          </a:prstGeom>
          <a:ln w="19050">
            <a:solidFill>
              <a:srgbClr val="6E7E7D"/>
            </a:solidFill>
            <a:tailEnd type="triangle"/>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10654826" y="2380000"/>
            <a:ext cx="500000" cy="220000"/>
          </a:xfrm>
          <a:prstGeom prst="rect">
            <a:avLst/>
          </a:prstGeom>
          <a:noFill/>
        </p:spPr>
        <p:txBody>
          <a:bodyPr wrap="square" lIns="0" tIns="0" rIns="0" bIns="0" anchor="t">
            <a:spAutoFit/>
          </a:bodyPr>
          <a:lstStyle/>
          <a:p>
            <a:pPr algn="l"/>
            <a:r>
              <a:rPr sz="1000" b="1">
                <a:solidFill>
                  <a:srgbClr val="6E7E7D"/>
                </a:solidFill>
                <a:latin typeface="Calibri"/>
              </a:rPr>
              <a:t>No</a:t>
            </a:r>
          </a:p>
        </p:txBody>
      </p:sp>
      <p:sp>
        <p:nvSpPr>
          <p:cNvPr id="20" name="Rectangle 19"/>
          <p:cNvSpPr/>
          <p:nvPr/>
        </p:nvSpPr>
        <p:spPr>
          <a:xfrm>
            <a:off x="9494476" y="2680000"/>
            <a:ext cx="2200700" cy="1500000"/>
          </a:xfrm>
          <a:prstGeom prst="rect">
            <a:avLst/>
          </a:prstGeom>
          <a:solidFill>
            <a:srgbClr val="6E7E7D"/>
          </a:solidFill>
          <a:ln>
            <a:noFill/>
          </a:ln>
          <a:effectLst/>
        </p:spPr>
        <p:style>
          <a:lnRef idx="1">
            <a:schemeClr val="accent1"/>
          </a:lnRef>
          <a:fillRef idx="3">
            <a:schemeClr val="accent1"/>
          </a:fillRef>
          <a:effectRef idx="2">
            <a:schemeClr val="accent1"/>
          </a:effectRef>
          <a:fontRef idx="minor">
            <a:schemeClr val="lt1"/>
          </a:fontRef>
        </p:style>
        <p:txBody>
          <a:bodyPr wrap="square" lIns="110000" tIns="55000" rIns="110000" bIns="55000" rtlCol="0" anchor="ctr"/>
          <a:lstStyle/>
          <a:p>
            <a:pPr algn="ctr"/>
            <a:r>
              <a:rPr sz="1000" b="1">
                <a:solidFill>
                  <a:srgbClr val="FFFFFF"/>
                </a:solidFill>
                <a:latin typeface="Calibri"/>
              </a:rPr>
              <a:t>Revisamos la negociación</a:t>
            </a:r>
          </a:p>
          <a:p>
            <a:pPr algn="ctr">
              <a:spcBef>
                <a:spcPts val="300"/>
              </a:spcBef>
            </a:pPr>
            <a:r>
              <a:rPr sz="850" b="0">
                <a:solidFill>
                  <a:srgbClr val="FFFFFF"/>
                </a:solidFill>
                <a:latin typeface="Calibri"/>
              </a:rPr>
              <a:t>Leemos la brecha entre oferta y desembolso y cómo se mueve el share frente a ella</a:t>
            </a:r>
          </a:p>
        </p:txBody>
      </p:sp>
      <p:sp>
        <p:nvSpPr>
          <p:cNvPr id="21" name="TextBox 20"/>
          <p:cNvSpPr txBox="1"/>
          <p:nvPr/>
        </p:nvSpPr>
        <p:spPr>
          <a:xfrm>
            <a:off x="7143776" y="4350000"/>
            <a:ext cx="4551400" cy="1500000"/>
          </a:xfrm>
          <a:prstGeom prst="rect">
            <a:avLst/>
          </a:prstGeom>
          <a:noFill/>
        </p:spPr>
        <p:txBody>
          <a:bodyPr wrap="square" lIns="0" tIns="0" rIns="0" bIns="0" anchor="t">
            <a:spAutoFit/>
          </a:bodyPr>
          <a:lstStyle/>
          <a:p>
            <a:pPr algn="l"/>
            <a:r>
              <a:rPr sz="900" b="1">
                <a:solidFill>
                  <a:srgbClr val="2F3B3A"/>
                </a:solidFill>
                <a:latin typeface="Calibri"/>
              </a:rPr>
              <a:t>En cada apertura leemos</a:t>
            </a:r>
          </a:p>
          <a:p>
            <a:pPr algn="l">
              <a:spcBef>
                <a:spcPts val="400"/>
              </a:spcBef>
            </a:pPr>
            <a:r>
              <a:rPr sz="900" b="1">
                <a:solidFill>
                  <a:srgbClr val="13807B"/>
                </a:solidFill>
                <a:latin typeface="Calibri"/>
              </a:rPr>
              <a:t>• </a:t>
            </a:r>
            <a:r>
              <a:rPr sz="900" b="0">
                <a:solidFill>
                  <a:srgbClr val="2F3B3A"/>
                </a:solidFill>
                <a:latin typeface="Calibri"/>
              </a:rPr>
              <a:t>Share relevante por trimestre</a:t>
            </a:r>
          </a:p>
          <a:p>
            <a:pPr algn="l">
              <a:spcBef>
                <a:spcPts val="400"/>
              </a:spcBef>
            </a:pPr>
            <a:r>
              <a:rPr sz="900" b="1">
                <a:solidFill>
                  <a:srgbClr val="13807B"/>
                </a:solidFill>
                <a:latin typeface="Calibri"/>
              </a:rPr>
              <a:t>• </a:t>
            </a:r>
            <a:r>
              <a:rPr sz="900" b="0">
                <a:solidFill>
                  <a:srgbClr val="2F3B3A"/>
                </a:solidFill>
                <a:latin typeface="Calibri"/>
              </a:rPr>
              <a:t>TEA de oferta y de desembolso por trimestre, ambas sobre los desembolsos</a:t>
            </a:r>
          </a:p>
          <a:p>
            <a:pPr algn="l">
              <a:spcBef>
                <a:spcPts val="400"/>
              </a:spcBef>
            </a:pPr>
            <a:r>
              <a:rPr sz="900" b="1">
                <a:solidFill>
                  <a:srgbClr val="13807B"/>
                </a:solidFill>
                <a:latin typeface="Calibri"/>
              </a:rPr>
              <a:t>• </a:t>
            </a:r>
            <a:r>
              <a:rPr sz="900" b="0">
                <a:solidFill>
                  <a:srgbClr val="2F3B3A"/>
                </a:solidFill>
                <a:latin typeface="Calibri"/>
              </a:rPr>
              <a:t>TEA de la competencia de jul–dic 2025 y de ene–may 2026</a:t>
            </a:r>
          </a:p>
          <a:p>
            <a:pPr algn="l">
              <a:spcBef>
                <a:spcPts val="400"/>
              </a:spcBef>
            </a:pPr>
            <a:r>
              <a:rPr sz="900" b="1">
                <a:solidFill>
                  <a:srgbClr val="13807B"/>
                </a:solidFill>
                <a:latin typeface="Calibri"/>
              </a:rPr>
              <a:t>Las 10 aperturas con materialidad suman 436 de las 816 tasas inferidas de 2026 (53%).</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93777" y="246888"/>
            <a:ext cx="8963570" cy="109710"/>
          </a:xfrm>
          <a:prstGeom prst="rect">
            <a:avLst/>
          </a:prstGeom>
          <a:noFill/>
        </p:spPr>
        <p:txBody>
          <a:bodyPr wrap="square" lIns="0" tIns="0" rIns="0" bIns="0" anchor="t">
            <a:spAutoFit/>
          </a:bodyPr>
          <a:lstStyle/>
          <a:p>
            <a:pPr algn="l"/>
            <a:r>
              <a:rPr sz="800" b="1">
                <a:solidFill>
                  <a:srgbClr val="6E7E7D"/>
                </a:solidFill>
                <a:latin typeface="Calibri"/>
              </a:rPr>
              <a:t>SHARE Y TASA POR SEGMENTO · CÓMO LEER CADA LÁMINA</a:t>
            </a:r>
          </a:p>
        </p:txBody>
      </p:sp>
      <p:sp>
        <p:nvSpPr>
          <p:cNvPr id="3" name="TextBox 2"/>
          <p:cNvSpPr txBox="1"/>
          <p:nvPr/>
        </p:nvSpPr>
        <p:spPr>
          <a:xfrm>
            <a:off x="493776" y="425196"/>
            <a:ext cx="10312923" cy="246221"/>
          </a:xfrm>
          <a:prstGeom prst="rect">
            <a:avLst/>
          </a:prstGeom>
          <a:noFill/>
        </p:spPr>
        <p:txBody>
          <a:bodyPr wrap="square" lIns="0" tIns="0" rIns="0" bIns="0" anchor="t">
            <a:spAutoFit/>
          </a:bodyPr>
          <a:lstStyle/>
          <a:p>
            <a:pPr algn="l"/>
            <a:r>
              <a:rPr sz="1600" b="1" dirty="0">
                <a:solidFill>
                  <a:srgbClr val="13807B"/>
                </a:solidFill>
                <a:latin typeface="Poppins"/>
              </a:rPr>
              <a:t>Cada </a:t>
            </a:r>
            <a:r>
              <a:rPr sz="1600" b="1" dirty="0" err="1">
                <a:solidFill>
                  <a:srgbClr val="13807B"/>
                </a:solidFill>
                <a:latin typeface="Poppins"/>
              </a:rPr>
              <a:t>lámina</a:t>
            </a:r>
            <a:r>
              <a:rPr sz="1600" b="1" dirty="0">
                <a:solidFill>
                  <a:srgbClr val="13807B"/>
                </a:solidFill>
                <a:latin typeface="Poppins"/>
              </a:rPr>
              <a:t> </a:t>
            </a:r>
            <a:r>
              <a:rPr sz="1600" b="1" dirty="0" err="1">
                <a:solidFill>
                  <a:srgbClr val="13807B"/>
                </a:solidFill>
                <a:latin typeface="Poppins"/>
              </a:rPr>
              <a:t>combina</a:t>
            </a:r>
            <a:r>
              <a:rPr sz="1600" b="1" dirty="0">
                <a:solidFill>
                  <a:srgbClr val="13807B"/>
                </a:solidFill>
                <a:latin typeface="Poppins"/>
              </a:rPr>
              <a:t> </a:t>
            </a:r>
            <a:r>
              <a:rPr sz="1600" b="1" dirty="0" err="1">
                <a:solidFill>
                  <a:srgbClr val="13807B"/>
                </a:solidFill>
                <a:latin typeface="Poppins"/>
              </a:rPr>
              <a:t>datos</a:t>
            </a:r>
            <a:r>
              <a:rPr sz="1600" b="1" dirty="0">
                <a:solidFill>
                  <a:srgbClr val="13807B"/>
                </a:solidFill>
                <a:latin typeface="Poppins"/>
              </a:rPr>
              <a:t> reales de Interbank con </a:t>
            </a:r>
            <a:r>
              <a:rPr sz="1600" b="1" dirty="0" err="1">
                <a:solidFill>
                  <a:srgbClr val="13807B"/>
                </a:solidFill>
                <a:latin typeface="Poppins"/>
              </a:rPr>
              <a:t>tasas</a:t>
            </a:r>
            <a:r>
              <a:rPr sz="1600" b="1" dirty="0">
                <a:solidFill>
                  <a:srgbClr val="13807B"/>
                </a:solidFill>
                <a:latin typeface="Poppins"/>
              </a:rPr>
              <a:t> </a:t>
            </a:r>
            <a:r>
              <a:rPr sz="1600" b="1" dirty="0" err="1">
                <a:solidFill>
                  <a:srgbClr val="13807B"/>
                </a:solidFill>
                <a:latin typeface="Poppins"/>
              </a:rPr>
              <a:t>inferidas</a:t>
            </a:r>
            <a:r>
              <a:rPr sz="1600" b="1" dirty="0">
                <a:solidFill>
                  <a:srgbClr val="13807B"/>
                </a:solidFill>
                <a:latin typeface="Poppins"/>
              </a:rPr>
              <a:t> de la </a:t>
            </a:r>
            <a:r>
              <a:rPr sz="1600" b="1" dirty="0" err="1">
                <a:solidFill>
                  <a:srgbClr val="13807B"/>
                </a:solidFill>
                <a:latin typeface="Poppins"/>
              </a:rPr>
              <a:t>competencia</a:t>
            </a:r>
            <a:endParaRPr sz="1600" b="1" dirty="0">
              <a:solidFill>
                <a:srgbClr val="13807B"/>
              </a:solidFill>
              <a:latin typeface="Poppins"/>
            </a:endParaRPr>
          </a:p>
        </p:txBody>
      </p:sp>
      <p:cxnSp>
        <p:nvCxnSpPr>
          <p:cNvPr id="4" name="Connector 3"/>
          <p:cNvCxnSpPr/>
          <p:nvPr/>
        </p:nvCxnSpPr>
        <p:spPr>
          <a:xfrm>
            <a:off x="493776" y="1049274"/>
            <a:ext cx="11204463" cy="0"/>
          </a:xfrm>
          <a:prstGeom prst="line">
            <a:avLst/>
          </a:prstGeom>
          <a:ln w="12700">
            <a:solidFill>
              <a:srgbClr val="D5DFDE"/>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493776" y="1200000"/>
            <a:ext cx="6650000" cy="4250000"/>
          </a:xfrm>
          <a:prstGeom prst="rect">
            <a:avLst/>
          </a:prstGeom>
          <a:solidFill>
            <a:srgbClr val="FFFFFF"/>
          </a:solidFill>
          <a:ln w="9525">
            <a:solidFill>
              <a:srgbClr val="D5DC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73776" y="1290000"/>
            <a:ext cx="2885000" cy="150000"/>
          </a:xfrm>
          <a:prstGeom prst="rect">
            <a:avLst/>
          </a:prstGeom>
          <a:noFill/>
        </p:spPr>
        <p:txBody>
          <a:bodyPr wrap="square" lIns="0" tIns="0" rIns="0" bIns="0" anchor="t">
            <a:spAutoFit/>
          </a:bodyPr>
          <a:lstStyle/>
          <a:p>
            <a:pPr algn="l"/>
            <a:r>
              <a:rPr sz="700" b="1">
                <a:solidFill>
                  <a:srgbClr val="2F3B3A"/>
                </a:solidFill>
                <a:latin typeface="Lato"/>
              </a:rPr>
              <a:t>Share relevante por trimestre (%)</a:t>
            </a:r>
          </a:p>
        </p:txBody>
      </p:sp>
      <p:graphicFrame>
        <p:nvGraphicFramePr>
          <p:cNvPr id="7" name="Chart 6"/>
          <p:cNvGraphicFramePr>
            <a:graphicFrameLocks noGrp="1"/>
          </p:cNvGraphicFramePr>
          <p:nvPr/>
        </p:nvGraphicFramePr>
        <p:xfrm>
          <a:off x="613776" y="1440000"/>
          <a:ext cx="3145000" cy="1750000"/>
        </p:xfrm>
        <a:graphic>
          <a:graphicData uri="http://schemas.openxmlformats.org/drawingml/2006/chart">
            <c:chart xmlns:c="http://schemas.openxmlformats.org/drawingml/2006/chart" xmlns:r="http://schemas.openxmlformats.org/officeDocument/2006/relationships" r:id="rId2"/>
          </a:graphicData>
        </a:graphic>
      </p:graphicFrame>
      <p:sp>
        <p:nvSpPr>
          <p:cNvPr id="8" name="TextBox 7"/>
          <p:cNvSpPr txBox="1"/>
          <p:nvPr/>
        </p:nvSpPr>
        <p:spPr>
          <a:xfrm>
            <a:off x="873776" y="3320000"/>
            <a:ext cx="2885000" cy="150000"/>
          </a:xfrm>
          <a:prstGeom prst="rect">
            <a:avLst/>
          </a:prstGeom>
          <a:noFill/>
        </p:spPr>
        <p:txBody>
          <a:bodyPr wrap="square" lIns="0" tIns="0" rIns="0" bIns="0" anchor="t">
            <a:spAutoFit/>
          </a:bodyPr>
          <a:lstStyle/>
          <a:p>
            <a:pPr algn="l"/>
            <a:r>
              <a:rPr sz="700" b="1">
                <a:solidFill>
                  <a:srgbClr val="2F3B3A"/>
                </a:solidFill>
                <a:latin typeface="Lato"/>
              </a:rPr>
              <a:t>TEA promedio ponderado por trimestre</a:t>
            </a:r>
          </a:p>
        </p:txBody>
      </p:sp>
      <p:sp>
        <p:nvSpPr>
          <p:cNvPr id="9" name="TextBox 8"/>
          <p:cNvSpPr txBox="1"/>
          <p:nvPr/>
        </p:nvSpPr>
        <p:spPr>
          <a:xfrm>
            <a:off x="873776" y="3490000"/>
            <a:ext cx="1532500" cy="130000"/>
          </a:xfrm>
          <a:prstGeom prst="rect">
            <a:avLst/>
          </a:prstGeom>
          <a:noFill/>
        </p:spPr>
        <p:txBody>
          <a:bodyPr wrap="square" lIns="0" tIns="0" rIns="0" bIns="0" anchor="t">
            <a:spAutoFit/>
          </a:bodyPr>
          <a:lstStyle/>
          <a:p>
            <a:pPr algn="l"/>
            <a:r>
              <a:rPr sz="650" b="1">
                <a:solidFill>
                  <a:srgbClr val="13807B"/>
                </a:solidFill>
                <a:latin typeface="Lato"/>
              </a:rPr>
              <a:t>Tramo 1</a:t>
            </a:r>
          </a:p>
        </p:txBody>
      </p:sp>
      <p:graphicFrame>
        <p:nvGraphicFramePr>
          <p:cNvPr id="10" name="Chart 9"/>
          <p:cNvGraphicFramePr>
            <a:graphicFrameLocks noGrp="1"/>
          </p:cNvGraphicFramePr>
          <p:nvPr/>
        </p:nvGraphicFramePr>
        <p:xfrm>
          <a:off x="613776" y="3620000"/>
          <a:ext cx="1532500" cy="1700000"/>
        </p:xfrm>
        <a:graphic>
          <a:graphicData uri="http://schemas.openxmlformats.org/drawingml/2006/chart">
            <c:chart xmlns:c="http://schemas.openxmlformats.org/drawingml/2006/chart" xmlns:r="http://schemas.openxmlformats.org/officeDocument/2006/relationships" r:id="rId3"/>
          </a:graphicData>
        </a:graphic>
      </p:graphicFrame>
      <p:sp>
        <p:nvSpPr>
          <p:cNvPr id="11" name="TextBox 10"/>
          <p:cNvSpPr txBox="1"/>
          <p:nvPr/>
        </p:nvSpPr>
        <p:spPr>
          <a:xfrm>
            <a:off x="2226276" y="3490000"/>
            <a:ext cx="1532500" cy="130000"/>
          </a:xfrm>
          <a:prstGeom prst="rect">
            <a:avLst/>
          </a:prstGeom>
          <a:noFill/>
        </p:spPr>
        <p:txBody>
          <a:bodyPr wrap="square" lIns="0" tIns="0" rIns="0" bIns="0" anchor="t">
            <a:spAutoFit/>
          </a:bodyPr>
          <a:lstStyle/>
          <a:p>
            <a:pPr algn="l"/>
            <a:r>
              <a:rPr sz="650" b="1">
                <a:solidFill>
                  <a:srgbClr val="E5173F"/>
                </a:solidFill>
                <a:latin typeface="Lato"/>
              </a:rPr>
              <a:t>Tramo 2</a:t>
            </a:r>
          </a:p>
        </p:txBody>
      </p:sp>
      <p:graphicFrame>
        <p:nvGraphicFramePr>
          <p:cNvPr id="12" name="Chart 11"/>
          <p:cNvGraphicFramePr>
            <a:graphicFrameLocks noGrp="1"/>
          </p:cNvGraphicFramePr>
          <p:nvPr/>
        </p:nvGraphicFramePr>
        <p:xfrm>
          <a:off x="2226276" y="3620000"/>
          <a:ext cx="1532500" cy="1700000"/>
        </p:xfrm>
        <a:graphic>
          <a:graphicData uri="http://schemas.openxmlformats.org/drawingml/2006/chart">
            <c:chart xmlns:c="http://schemas.openxmlformats.org/drawingml/2006/chart" xmlns:r="http://schemas.openxmlformats.org/officeDocument/2006/relationships" r:id="rId4"/>
          </a:graphicData>
        </a:graphic>
      </p:graphicFrame>
      <p:sp>
        <p:nvSpPr>
          <p:cNvPr id="13" name="TextBox 12"/>
          <p:cNvSpPr txBox="1"/>
          <p:nvPr/>
        </p:nvSpPr>
        <p:spPr>
          <a:xfrm>
            <a:off x="4138776" y="1290000"/>
            <a:ext cx="2885000" cy="150000"/>
          </a:xfrm>
          <a:prstGeom prst="rect">
            <a:avLst/>
          </a:prstGeom>
          <a:noFill/>
        </p:spPr>
        <p:txBody>
          <a:bodyPr wrap="square" lIns="0" tIns="0" rIns="0" bIns="0" anchor="t">
            <a:spAutoFit/>
          </a:bodyPr>
          <a:lstStyle/>
          <a:p>
            <a:pPr algn="l"/>
            <a:r>
              <a:rPr sz="700" b="1">
                <a:solidFill>
                  <a:srgbClr val="2F3B3A"/>
                </a:solidFill>
                <a:latin typeface="Lato"/>
              </a:rPr>
              <a:t>TEA mediana ponderada · jul–dic 2025</a:t>
            </a:r>
          </a:p>
        </p:txBody>
      </p:sp>
      <p:graphicFrame>
        <p:nvGraphicFramePr>
          <p:cNvPr id="14" name="Chart 13"/>
          <p:cNvGraphicFramePr>
            <a:graphicFrameLocks noGrp="1"/>
          </p:cNvGraphicFramePr>
          <p:nvPr/>
        </p:nvGraphicFramePr>
        <p:xfrm>
          <a:off x="3878776" y="1440000"/>
          <a:ext cx="3145000" cy="1100000"/>
        </p:xfrm>
        <a:graphic>
          <a:graphicData uri="http://schemas.openxmlformats.org/drawingml/2006/chart">
            <c:chart xmlns:c="http://schemas.openxmlformats.org/drawingml/2006/chart" xmlns:r="http://schemas.openxmlformats.org/officeDocument/2006/relationships" r:id="rId5"/>
          </a:graphicData>
        </a:graphic>
      </p:graphicFrame>
      <p:sp>
        <p:nvSpPr>
          <p:cNvPr id="15" name="TextBox 14"/>
          <p:cNvSpPr txBox="1"/>
          <p:nvPr/>
        </p:nvSpPr>
        <p:spPr>
          <a:xfrm>
            <a:off x="4138776" y="2600000"/>
            <a:ext cx="2885000" cy="150000"/>
          </a:xfrm>
          <a:prstGeom prst="rect">
            <a:avLst/>
          </a:prstGeom>
          <a:noFill/>
        </p:spPr>
        <p:txBody>
          <a:bodyPr wrap="square" lIns="0" tIns="0" rIns="0" bIns="0" anchor="t">
            <a:spAutoFit/>
          </a:bodyPr>
          <a:lstStyle/>
          <a:p>
            <a:pPr algn="l"/>
            <a:r>
              <a:rPr sz="700" b="1">
                <a:solidFill>
                  <a:srgbClr val="2F3B3A"/>
                </a:solidFill>
                <a:latin typeface="Lato"/>
              </a:rPr>
              <a:t>TEA mediana ponderada · ene–may 2026</a:t>
            </a:r>
          </a:p>
        </p:txBody>
      </p:sp>
      <p:graphicFrame>
        <p:nvGraphicFramePr>
          <p:cNvPr id="16" name="Chart 15"/>
          <p:cNvGraphicFramePr>
            <a:graphicFrameLocks noGrp="1"/>
          </p:cNvGraphicFramePr>
          <p:nvPr/>
        </p:nvGraphicFramePr>
        <p:xfrm>
          <a:off x="3878776" y="2750000"/>
          <a:ext cx="3145000" cy="900000"/>
        </p:xfrm>
        <a:graphic>
          <a:graphicData uri="http://schemas.openxmlformats.org/drawingml/2006/chart">
            <c:chart xmlns:c="http://schemas.openxmlformats.org/drawingml/2006/chart" xmlns:r="http://schemas.openxmlformats.org/officeDocument/2006/relationships" r:id="rId6"/>
          </a:graphicData>
        </a:graphic>
      </p:graphicFrame>
      <p:sp>
        <p:nvSpPr>
          <p:cNvPr id="17" name="TextBox 16"/>
          <p:cNvSpPr txBox="1"/>
          <p:nvPr/>
        </p:nvSpPr>
        <p:spPr>
          <a:xfrm>
            <a:off x="4138776" y="3750000"/>
            <a:ext cx="2885000" cy="150000"/>
          </a:xfrm>
          <a:prstGeom prst="rect">
            <a:avLst/>
          </a:prstGeom>
          <a:noFill/>
        </p:spPr>
        <p:txBody>
          <a:bodyPr wrap="square" lIns="0" tIns="0" rIns="0" bIns="0" anchor="t">
            <a:spAutoFit/>
          </a:bodyPr>
          <a:lstStyle/>
          <a:p>
            <a:pPr algn="l"/>
            <a:r>
              <a:rPr sz="700" b="1">
                <a:solidFill>
                  <a:srgbClr val="2F3B3A"/>
                </a:solidFill>
                <a:latin typeface="Lato"/>
              </a:rPr>
              <a:t>Insights</a:t>
            </a:r>
          </a:p>
        </p:txBody>
      </p:sp>
      <p:sp>
        <p:nvSpPr>
          <p:cNvPr id="18" name="Rectangle 17"/>
          <p:cNvSpPr/>
          <p:nvPr/>
        </p:nvSpPr>
        <p:spPr>
          <a:xfrm>
            <a:off x="3878776" y="3900000"/>
            <a:ext cx="3145000" cy="1430000"/>
          </a:xfrm>
          <a:prstGeom prst="rect">
            <a:avLst/>
          </a:prstGeom>
          <a:solidFill>
            <a:srgbClr val="F1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3878776" y="3900000"/>
            <a:ext cx="30000" cy="1430000"/>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988776" y="3960000"/>
            <a:ext cx="2965000" cy="1350000"/>
          </a:xfrm>
          <a:prstGeom prst="rect">
            <a:avLst/>
          </a:prstGeom>
          <a:noFill/>
        </p:spPr>
        <p:txBody>
          <a:bodyPr wrap="square" lIns="0" tIns="0" rIns="0" bIns="0" anchor="t">
            <a:spAutoFit/>
          </a:bodyPr>
          <a:lstStyle/>
          <a:p>
            <a:pPr algn="l"/>
            <a:r>
              <a:rPr sz="700" b="1">
                <a:solidFill>
                  <a:srgbClr val="13807B"/>
                </a:solidFill>
                <a:latin typeface="Lato"/>
              </a:rPr>
              <a:t>Tramo 1</a:t>
            </a:r>
          </a:p>
          <a:p>
            <a:pPr algn="l">
              <a:spcBef>
                <a:spcPts val="300"/>
              </a:spcBef>
            </a:pPr>
            <a:r>
              <a:rPr sz="650" b="0">
                <a:solidFill>
                  <a:srgbClr val="2F3B3A"/>
                </a:solidFill>
                <a:latin typeface="Lato"/>
              </a:rPr>
              <a:t>• Lectura del share y de la negociación</a:t>
            </a:r>
          </a:p>
          <a:p>
            <a:pPr algn="l">
              <a:spcBef>
                <a:spcPts val="300"/>
              </a:spcBef>
            </a:pPr>
            <a:r>
              <a:rPr sz="650" b="1">
                <a:solidFill>
                  <a:srgbClr val="13807B"/>
                </a:solidFill>
                <a:latin typeface="Lato"/>
              </a:rPr>
              <a:t>Estrategia de pilotos: …</a:t>
            </a:r>
          </a:p>
          <a:p>
            <a:pPr algn="l">
              <a:spcBef>
                <a:spcPts val="300"/>
              </a:spcBef>
            </a:pPr>
            <a:r>
              <a:rPr sz="700" b="1">
                <a:solidFill>
                  <a:srgbClr val="E5173F"/>
                </a:solidFill>
                <a:latin typeface="Lato"/>
              </a:rPr>
              <a:t>Tramo 2</a:t>
            </a:r>
          </a:p>
          <a:p>
            <a:pPr algn="l">
              <a:spcBef>
                <a:spcPts val="300"/>
              </a:spcBef>
            </a:pPr>
            <a:r>
              <a:rPr sz="650" b="0">
                <a:solidFill>
                  <a:srgbClr val="2F3B3A"/>
                </a:solidFill>
                <a:latin typeface="Lato"/>
              </a:rPr>
              <a:t>• Lectura frente a la competencia</a:t>
            </a:r>
          </a:p>
          <a:p>
            <a:pPr algn="l">
              <a:spcBef>
                <a:spcPts val="300"/>
              </a:spcBef>
            </a:pPr>
            <a:r>
              <a:rPr sz="650" b="1">
                <a:solidFill>
                  <a:srgbClr val="13807B"/>
                </a:solidFill>
                <a:latin typeface="Lato"/>
              </a:rPr>
              <a:t>Estrategia de pilotos: …</a:t>
            </a:r>
          </a:p>
        </p:txBody>
      </p:sp>
      <p:sp>
        <p:nvSpPr>
          <p:cNvPr id="21" name="Oval 20"/>
          <p:cNvSpPr/>
          <p:nvPr/>
        </p:nvSpPr>
        <p:spPr>
          <a:xfrm>
            <a:off x="573776" y="1240000"/>
            <a:ext cx="260000" cy="260000"/>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FFFFFF"/>
                </a:solidFill>
              </a:rPr>
              <a:t>1</a:t>
            </a:r>
          </a:p>
        </p:txBody>
      </p:sp>
      <p:sp>
        <p:nvSpPr>
          <p:cNvPr id="22" name="Oval 21"/>
          <p:cNvSpPr/>
          <p:nvPr/>
        </p:nvSpPr>
        <p:spPr>
          <a:xfrm>
            <a:off x="573776" y="3270000"/>
            <a:ext cx="260000" cy="260000"/>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FFFFFF"/>
                </a:solidFill>
              </a:rPr>
              <a:t>2</a:t>
            </a:r>
          </a:p>
        </p:txBody>
      </p:sp>
      <p:sp>
        <p:nvSpPr>
          <p:cNvPr id="23" name="Oval 22"/>
          <p:cNvSpPr/>
          <p:nvPr/>
        </p:nvSpPr>
        <p:spPr>
          <a:xfrm>
            <a:off x="3838776" y="1240000"/>
            <a:ext cx="260000" cy="260000"/>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FFFFFF"/>
                </a:solidFill>
              </a:rPr>
              <a:t>3</a:t>
            </a:r>
          </a:p>
        </p:txBody>
      </p:sp>
      <p:sp>
        <p:nvSpPr>
          <p:cNvPr id="24" name="Oval 23"/>
          <p:cNvSpPr/>
          <p:nvPr/>
        </p:nvSpPr>
        <p:spPr>
          <a:xfrm>
            <a:off x="3838776" y="3700000"/>
            <a:ext cx="260000" cy="260000"/>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FFFFFF"/>
                </a:solidFill>
              </a:rPr>
              <a:t>4</a:t>
            </a:r>
          </a:p>
        </p:txBody>
      </p:sp>
      <p:sp>
        <p:nvSpPr>
          <p:cNvPr id="25" name="Oval 24"/>
          <p:cNvSpPr/>
          <p:nvPr/>
        </p:nvSpPr>
        <p:spPr>
          <a:xfrm>
            <a:off x="7393776" y="1200000"/>
            <a:ext cx="260000" cy="260000"/>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FFFFFF"/>
                </a:solidFill>
              </a:rPr>
              <a:t>1</a:t>
            </a:r>
          </a:p>
        </p:txBody>
      </p:sp>
      <p:sp>
        <p:nvSpPr>
          <p:cNvPr id="26" name="TextBox 25"/>
          <p:cNvSpPr txBox="1"/>
          <p:nvPr/>
        </p:nvSpPr>
        <p:spPr>
          <a:xfrm>
            <a:off x="7733776" y="1210000"/>
            <a:ext cx="3961400" cy="820000"/>
          </a:xfrm>
          <a:prstGeom prst="rect">
            <a:avLst/>
          </a:prstGeom>
          <a:noFill/>
        </p:spPr>
        <p:txBody>
          <a:bodyPr wrap="square" lIns="0" tIns="0" rIns="0" bIns="0" anchor="t">
            <a:spAutoFit/>
          </a:bodyPr>
          <a:lstStyle/>
          <a:p>
            <a:pPr algn="l"/>
            <a:r>
              <a:rPr sz="950" b="1">
                <a:solidFill>
                  <a:srgbClr val="2F3B3A"/>
                </a:solidFill>
                <a:latin typeface="Lato"/>
              </a:rPr>
              <a:t>Share relevante</a:t>
            </a:r>
          </a:p>
          <a:p>
            <a:pPr algn="l">
              <a:spcBef>
                <a:spcPts val="300"/>
              </a:spcBef>
            </a:pPr>
            <a:r>
              <a:rPr sz="800" b="0">
                <a:solidFill>
                  <a:srgbClr val="2F3B3A"/>
                </a:solidFill>
                <a:latin typeface="Lato"/>
              </a:rPr>
              <a:t>Cuánto del monto en disputa se queda en Interbank frente a la competencia. Verde es el tramo 1, el de menor corte, y rojo el tramo 2, el de mayor corte, en todas las láminas.</a:t>
            </a:r>
          </a:p>
        </p:txBody>
      </p:sp>
      <p:sp>
        <p:nvSpPr>
          <p:cNvPr id="27" name="Oval 26"/>
          <p:cNvSpPr/>
          <p:nvPr/>
        </p:nvSpPr>
        <p:spPr>
          <a:xfrm>
            <a:off x="7393776" y="1920000"/>
            <a:ext cx="260000" cy="260000"/>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FFFFFF"/>
                </a:solidFill>
              </a:rPr>
              <a:t>2</a:t>
            </a:r>
          </a:p>
        </p:txBody>
      </p:sp>
      <p:sp>
        <p:nvSpPr>
          <p:cNvPr id="28" name="TextBox 27"/>
          <p:cNvSpPr txBox="1"/>
          <p:nvPr/>
        </p:nvSpPr>
        <p:spPr>
          <a:xfrm>
            <a:off x="7733776" y="1930000"/>
            <a:ext cx="3961400" cy="820000"/>
          </a:xfrm>
          <a:prstGeom prst="rect">
            <a:avLst/>
          </a:prstGeom>
          <a:noFill/>
        </p:spPr>
        <p:txBody>
          <a:bodyPr wrap="square" lIns="0" tIns="0" rIns="0" bIns="0" anchor="t">
            <a:spAutoFit/>
          </a:bodyPr>
          <a:lstStyle/>
          <a:p>
            <a:pPr algn="l"/>
            <a:r>
              <a:rPr sz="950" b="1">
                <a:solidFill>
                  <a:srgbClr val="2F3B3A"/>
                </a:solidFill>
                <a:latin typeface="Lato"/>
              </a:rPr>
              <a:t>TEA por trimestre</a:t>
            </a:r>
          </a:p>
          <a:p>
            <a:pPr algn="l">
              <a:spcBef>
                <a:spcPts val="300"/>
              </a:spcBef>
            </a:pPr>
            <a:r>
              <a:rPr sz="800" b="0">
                <a:solidFill>
                  <a:srgbClr val="2F3B3A"/>
                </a:solidFill>
                <a:latin typeface="Lato"/>
              </a:rPr>
              <a:t>Cómo se movieron nuestra oferta y nuestro desembolso en el tiempo. Es dato real de Interbank, por eso usamos promedio ponderado.</a:t>
            </a:r>
          </a:p>
        </p:txBody>
      </p:sp>
      <p:sp>
        <p:nvSpPr>
          <p:cNvPr id="29" name="Oval 28"/>
          <p:cNvSpPr/>
          <p:nvPr/>
        </p:nvSpPr>
        <p:spPr>
          <a:xfrm>
            <a:off x="7393776" y="2640000"/>
            <a:ext cx="260000" cy="260000"/>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FFFFFF"/>
                </a:solidFill>
              </a:rPr>
              <a:t>3</a:t>
            </a:r>
          </a:p>
        </p:txBody>
      </p:sp>
      <p:sp>
        <p:nvSpPr>
          <p:cNvPr id="30" name="TextBox 29"/>
          <p:cNvSpPr txBox="1"/>
          <p:nvPr/>
        </p:nvSpPr>
        <p:spPr>
          <a:xfrm>
            <a:off x="7733776" y="2650000"/>
            <a:ext cx="3961400" cy="820000"/>
          </a:xfrm>
          <a:prstGeom prst="rect">
            <a:avLst/>
          </a:prstGeom>
          <a:noFill/>
        </p:spPr>
        <p:txBody>
          <a:bodyPr wrap="square" lIns="0" tIns="0" rIns="0" bIns="0" anchor="t">
            <a:spAutoFit/>
          </a:bodyPr>
          <a:lstStyle/>
          <a:p>
            <a:pPr algn="l"/>
            <a:r>
              <a:rPr sz="950" b="1">
                <a:solidFill>
                  <a:srgbClr val="2F3B3A"/>
                </a:solidFill>
                <a:latin typeface="Lato"/>
              </a:rPr>
              <a:t>TEA por semestre</a:t>
            </a:r>
          </a:p>
          <a:p>
            <a:pPr algn="l">
              <a:spcBef>
                <a:spcPts val="300"/>
              </a:spcBef>
            </a:pPr>
            <a:r>
              <a:rPr sz="800" b="0">
                <a:solidFill>
                  <a:srgbClr val="2F3B3A"/>
                </a:solidFill>
                <a:latin typeface="Lato"/>
              </a:rPr>
              <a:t>Nuestra oferta y desembolso frente a la tasa inferida de la competencia, en jul–dic 2025 y ene–may 2026. Usamos mediana porque la tasa inferida tiene valores extremos. La competencia solo aparece si hay materialidad.</a:t>
            </a:r>
          </a:p>
        </p:txBody>
      </p:sp>
      <p:sp>
        <p:nvSpPr>
          <p:cNvPr id="31" name="Oval 30"/>
          <p:cNvSpPr/>
          <p:nvPr/>
        </p:nvSpPr>
        <p:spPr>
          <a:xfrm>
            <a:off x="7393776" y="3540000"/>
            <a:ext cx="260000" cy="260000"/>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FFFFFF"/>
                </a:solidFill>
              </a:rPr>
              <a:t>4</a:t>
            </a:r>
          </a:p>
        </p:txBody>
      </p:sp>
      <p:sp>
        <p:nvSpPr>
          <p:cNvPr id="32" name="TextBox 31"/>
          <p:cNvSpPr txBox="1"/>
          <p:nvPr/>
        </p:nvSpPr>
        <p:spPr>
          <a:xfrm>
            <a:off x="7733776" y="3550000"/>
            <a:ext cx="3961400" cy="820000"/>
          </a:xfrm>
          <a:prstGeom prst="rect">
            <a:avLst/>
          </a:prstGeom>
          <a:noFill/>
        </p:spPr>
        <p:txBody>
          <a:bodyPr wrap="square" lIns="0" tIns="0" rIns="0" bIns="0" anchor="t">
            <a:spAutoFit/>
          </a:bodyPr>
          <a:lstStyle/>
          <a:p>
            <a:pPr algn="l"/>
            <a:r>
              <a:rPr sz="950" b="1">
                <a:solidFill>
                  <a:srgbClr val="2F3B3A"/>
                </a:solidFill>
                <a:latin typeface="Lato"/>
              </a:rPr>
              <a:t>Insights</a:t>
            </a:r>
          </a:p>
          <a:p>
            <a:pPr algn="l">
              <a:spcBef>
                <a:spcPts val="300"/>
              </a:spcBef>
            </a:pPr>
            <a:r>
              <a:rPr sz="800" b="0">
                <a:solidFill>
                  <a:srgbClr val="2F3B3A"/>
                </a:solidFill>
                <a:latin typeface="Lato"/>
              </a:rPr>
              <a:t>Lectura conjunta de los gráficos y la estrategia de pilotos de cada tramo.</a:t>
            </a:r>
          </a:p>
        </p:txBody>
      </p:sp>
      <p:sp>
        <p:nvSpPr>
          <p:cNvPr id="33" name="Rectangle 32"/>
          <p:cNvSpPr/>
          <p:nvPr/>
        </p:nvSpPr>
        <p:spPr>
          <a:xfrm>
            <a:off x="7393776" y="4350000"/>
            <a:ext cx="4301400" cy="1100000"/>
          </a:xfrm>
          <a:prstGeom prst="rect">
            <a:avLst/>
          </a:prstGeom>
          <a:solidFill>
            <a:srgbClr val="FFF4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7393776" y="4350000"/>
            <a:ext cx="30000" cy="1100000"/>
          </a:xfrm>
          <a:prstGeom prst="rect">
            <a:avLst/>
          </a:prstGeom>
          <a:solidFill>
            <a:srgbClr val="F28C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7523776" y="4430000"/>
            <a:ext cx="4081400" cy="980000"/>
          </a:xfrm>
          <a:prstGeom prst="rect">
            <a:avLst/>
          </a:prstGeom>
          <a:noFill/>
        </p:spPr>
        <p:txBody>
          <a:bodyPr wrap="square" lIns="0" tIns="0" rIns="0" bIns="0" anchor="t">
            <a:spAutoFit/>
          </a:bodyPr>
          <a:lstStyle/>
          <a:p>
            <a:pPr algn="l"/>
            <a:r>
              <a:rPr sz="950" b="1">
                <a:solidFill>
                  <a:srgbClr val="C2410C"/>
                </a:solidFill>
                <a:latin typeface="Lato"/>
              </a:rPr>
              <a:t>Por qué los números no cuadran exactamente</a:t>
            </a:r>
          </a:p>
          <a:p>
            <a:pPr algn="l">
              <a:spcBef>
                <a:spcPts val="300"/>
              </a:spcBef>
            </a:pPr>
            <a:r>
              <a:rPr sz="800" b="1">
                <a:solidFill>
                  <a:srgbClr val="2F3B3A"/>
                </a:solidFill>
                <a:latin typeface="Lato"/>
              </a:rPr>
              <a:t>Mediana y promedio: </a:t>
            </a:r>
            <a:r>
              <a:rPr sz="800" b="0">
                <a:solidFill>
                  <a:srgbClr val="2F3B3A"/>
                </a:solidFill>
                <a:latin typeface="Lato"/>
              </a:rPr>
              <a:t>las barras usan la mediana del semestre y las líneas el promedio de cada trimestre.</a:t>
            </a:r>
          </a:p>
          <a:p>
            <a:pPr algn="l">
              <a:spcBef>
                <a:spcPts val="300"/>
              </a:spcBef>
            </a:pPr>
            <a:r>
              <a:rPr sz="800" b="1">
                <a:solidFill>
                  <a:srgbClr val="2F3B3A"/>
                </a:solidFill>
                <a:latin typeface="Lato"/>
              </a:rPr>
              <a:t>Desembolso IBK y competencia: </a:t>
            </a:r>
            <a:r>
              <a:rPr sz="800" b="0">
                <a:solidFill>
                  <a:srgbClr val="2F3B3A"/>
                </a:solidFill>
                <a:latin typeface="Lato"/>
              </a:rPr>
              <a:t>nuestra tasa es la de cada desembolso de Interbank. La de la competencia se infiere sobre toda la deuda del cliente en el RCC, no solo sobre el desembolso nuevo. Si debía S/ 50K y ahora debe S/ 200K, la tasa inferida es la de los S/ 200K.</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93777" y="246888"/>
            <a:ext cx="8963570" cy="109710"/>
          </a:xfrm>
          <a:prstGeom prst="rect">
            <a:avLst/>
          </a:prstGeom>
          <a:noFill/>
        </p:spPr>
        <p:txBody>
          <a:bodyPr wrap="square" lIns="0" tIns="0" rIns="0" bIns="0" anchor="t">
            <a:spAutoFit/>
          </a:bodyPr>
          <a:lstStyle/>
          <a:p>
            <a:pPr algn="l"/>
            <a:r>
              <a:rPr sz="800" b="1">
                <a:solidFill>
                  <a:srgbClr val="6E7E7D"/>
                </a:solidFill>
                <a:latin typeface="Calibri"/>
              </a:rPr>
              <a:t>SHARE Y TASA POR SEGMENTO · CLIENTE ANCLA · FIDELIZADOS · SOW 68%</a:t>
            </a:r>
          </a:p>
        </p:txBody>
      </p:sp>
      <p:sp>
        <p:nvSpPr>
          <p:cNvPr id="3" name="TextBox 2"/>
          <p:cNvSpPr txBox="1"/>
          <p:nvPr/>
        </p:nvSpPr>
        <p:spPr>
          <a:xfrm>
            <a:off x="493776" y="425196"/>
            <a:ext cx="10312923" cy="482568"/>
          </a:xfrm>
          <a:prstGeom prst="rect">
            <a:avLst/>
          </a:prstGeom>
          <a:noFill/>
        </p:spPr>
        <p:txBody>
          <a:bodyPr wrap="square" lIns="0" tIns="0" rIns="0" bIns="0" anchor="t">
            <a:spAutoFit/>
          </a:bodyPr>
          <a:lstStyle/>
          <a:p>
            <a:pPr algn="l"/>
            <a:r>
              <a:rPr sz="1600" b="1">
                <a:solidFill>
                  <a:srgbClr val="13807B"/>
                </a:solidFill>
                <a:latin typeface="Poppins"/>
              </a:rPr>
              <a:t>Cliente Ancla tiene espacio para subir tasa en tickets hasta S/ 170K y necesita tasas más competitivas en tickets mayores a S/ 350K</a:t>
            </a:r>
          </a:p>
        </p:txBody>
      </p:sp>
      <p:cxnSp>
        <p:nvCxnSpPr>
          <p:cNvPr id="4" name="Connector 3"/>
          <p:cNvCxnSpPr/>
          <p:nvPr/>
        </p:nvCxnSpPr>
        <p:spPr>
          <a:xfrm>
            <a:off x="493776" y="1049274"/>
            <a:ext cx="11204463" cy="0"/>
          </a:xfrm>
          <a:prstGeom prst="line">
            <a:avLst/>
          </a:prstGeom>
          <a:ln w="12700">
            <a:solidFill>
              <a:srgbClr val="D5DFDE"/>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93776" y="1120000"/>
            <a:ext cx="5475700" cy="220000"/>
          </a:xfrm>
          <a:prstGeom prst="rect">
            <a:avLst/>
          </a:prstGeom>
          <a:noFill/>
        </p:spPr>
        <p:txBody>
          <a:bodyPr wrap="square" lIns="0" tIns="0" rIns="0" bIns="0" anchor="t">
            <a:spAutoFit/>
          </a:bodyPr>
          <a:lstStyle/>
          <a:p>
            <a:pPr algn="l"/>
            <a:r>
              <a:rPr sz="1000" b="1">
                <a:solidFill>
                  <a:srgbClr val="2F3B3A"/>
                </a:solidFill>
                <a:latin typeface="Calibri"/>
              </a:rPr>
              <a:t>Share relevante por trimestre (%) · </a:t>
            </a:r>
            <a:r>
              <a:rPr sz="1000" b="1">
                <a:solidFill>
                  <a:srgbClr val="13807B"/>
                </a:solidFill>
              </a:rPr>
              <a:t>tramos por monto ofertado</a:t>
            </a:r>
          </a:p>
        </p:txBody>
      </p:sp>
      <p:graphicFrame>
        <p:nvGraphicFramePr>
          <p:cNvPr id="7" name="Chart 6"/>
          <p:cNvGraphicFramePr>
            <a:graphicFrameLocks noGrp="1"/>
          </p:cNvGraphicFramePr>
          <p:nvPr/>
        </p:nvGraphicFramePr>
        <p:xfrm>
          <a:off x="493776" y="1330000"/>
          <a:ext cx="5475700" cy="2250000"/>
        </p:xfrm>
        <a:graphic>
          <a:graphicData uri="http://schemas.openxmlformats.org/drawingml/2006/chart">
            <c:chart xmlns:c="http://schemas.openxmlformats.org/drawingml/2006/chart" xmlns:r="http://schemas.openxmlformats.org/officeDocument/2006/relationships" r:id="rId2"/>
          </a:graphicData>
        </a:graphic>
      </p:graphicFrame>
      <p:sp>
        <p:nvSpPr>
          <p:cNvPr id="11" name="TextBox 10"/>
          <p:cNvSpPr txBox="1"/>
          <p:nvPr/>
        </p:nvSpPr>
        <p:spPr>
          <a:xfrm>
            <a:off x="493776" y="3720000"/>
            <a:ext cx="2662850" cy="138499"/>
          </a:xfrm>
          <a:prstGeom prst="rect">
            <a:avLst/>
          </a:prstGeom>
          <a:noFill/>
        </p:spPr>
        <p:txBody>
          <a:bodyPr wrap="square" lIns="0" tIns="0" rIns="0" bIns="0" anchor="t">
            <a:spAutoFit/>
          </a:bodyPr>
          <a:lstStyle/>
          <a:p>
            <a:pPr algn="l"/>
            <a:r>
              <a:rPr lang="es-ES" sz="900" b="1" dirty="0">
                <a:solidFill>
                  <a:srgbClr val="2F3B3A"/>
                </a:solidFill>
                <a:latin typeface="Calibri"/>
              </a:rPr>
              <a:t>TEA promedio ponderado · </a:t>
            </a:r>
            <a:r>
              <a:rPr sz="900" b="1">
                <a:solidFill>
                  <a:srgbClr val="13807B"/>
                </a:solidFill>
              </a:rPr>
              <a:t>≤ 170K</a:t>
            </a:r>
            <a:endParaRPr sz="650" b="0" dirty="0">
              <a:solidFill>
                <a:srgbClr val="8E9B9A"/>
              </a:solidFill>
              <a:latin typeface="Calibri"/>
            </a:endParaRPr>
          </a:p>
        </p:txBody>
      </p:sp>
      <p:graphicFrame>
        <p:nvGraphicFramePr>
          <p:cNvPr id="12" name="Chart 11"/>
          <p:cNvGraphicFramePr>
            <a:graphicFrameLocks noGrp="1"/>
          </p:cNvGraphicFramePr>
          <p:nvPr>
            <p:extLst>
              <p:ext uri="{D42A27DB-BD31-4B8C-83A1-F6EECF244321}">
                <p14:modId xmlns:p14="http://schemas.microsoft.com/office/powerpoint/2010/main" val="2246604425"/>
              </p:ext>
            </p:extLst>
          </p:nvPr>
        </p:nvGraphicFramePr>
        <p:xfrm>
          <a:off x="493776" y="3930000"/>
          <a:ext cx="2662850" cy="2350000"/>
        </p:xfrm>
        <a:graphic>
          <a:graphicData uri="http://schemas.openxmlformats.org/drawingml/2006/chart">
            <c:chart xmlns:c="http://schemas.openxmlformats.org/drawingml/2006/chart" xmlns:r="http://schemas.openxmlformats.org/officeDocument/2006/relationships" r:id="rId3"/>
          </a:graphicData>
        </a:graphic>
      </p:graphicFrame>
      <p:sp>
        <p:nvSpPr>
          <p:cNvPr id="13" name="TextBox 12"/>
          <p:cNvSpPr txBox="1"/>
          <p:nvPr/>
        </p:nvSpPr>
        <p:spPr>
          <a:xfrm>
            <a:off x="3306626" y="3720000"/>
            <a:ext cx="2662850" cy="138499"/>
          </a:xfrm>
          <a:prstGeom prst="rect">
            <a:avLst/>
          </a:prstGeom>
          <a:noFill/>
        </p:spPr>
        <p:txBody>
          <a:bodyPr wrap="square" lIns="0" tIns="0" rIns="0" bIns="0" anchor="t">
            <a:spAutoFit/>
          </a:bodyPr>
          <a:lstStyle/>
          <a:p>
            <a:pPr algn="l"/>
            <a:r>
              <a:rPr lang="es-ES" sz="900" b="1" dirty="0">
                <a:solidFill>
                  <a:srgbClr val="2F3B3A"/>
                </a:solidFill>
                <a:latin typeface="Calibri"/>
              </a:rPr>
              <a:t>TEA promedio ponderado · </a:t>
            </a:r>
            <a:r>
              <a:rPr sz="900" b="1">
                <a:solidFill>
                  <a:srgbClr val="E5173F"/>
                </a:solidFill>
              </a:rPr>
              <a:t>&gt; 350K</a:t>
            </a:r>
            <a:endParaRPr sz="650" b="0" dirty="0">
              <a:solidFill>
                <a:srgbClr val="8E9B9A"/>
              </a:solidFill>
              <a:latin typeface="Calibri"/>
            </a:endParaRPr>
          </a:p>
        </p:txBody>
      </p:sp>
      <p:graphicFrame>
        <p:nvGraphicFramePr>
          <p:cNvPr id="14" name="Chart 13"/>
          <p:cNvGraphicFramePr>
            <a:graphicFrameLocks noGrp="1"/>
          </p:cNvGraphicFramePr>
          <p:nvPr/>
        </p:nvGraphicFramePr>
        <p:xfrm>
          <a:off x="3306626" y="3930000"/>
          <a:ext cx="2662850" cy="2350000"/>
        </p:xfrm>
        <a:graphic>
          <a:graphicData uri="http://schemas.openxmlformats.org/drawingml/2006/chart">
            <c:chart xmlns:c="http://schemas.openxmlformats.org/drawingml/2006/chart" xmlns:r="http://schemas.openxmlformats.org/officeDocument/2006/relationships" r:id="rId4"/>
          </a:graphicData>
        </a:graphic>
      </p:graphicFrame>
      <p:sp>
        <p:nvSpPr>
          <p:cNvPr id="16" name="Rectangle 15"/>
          <p:cNvSpPr/>
          <p:nvPr/>
        </p:nvSpPr>
        <p:spPr>
          <a:xfrm>
            <a:off x="6219476" y="4140000"/>
            <a:ext cx="5475700" cy="2340000"/>
          </a:xfrm>
          <a:prstGeom prst="rect">
            <a:avLst/>
          </a:prstGeom>
          <a:solidFill>
            <a:srgbClr val="F1F6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219476" y="4140000"/>
            <a:ext cx="45000" cy="2340000"/>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93776" y="6380000"/>
            <a:ext cx="11201400" cy="300000"/>
          </a:xfrm>
          <a:prstGeom prst="rect">
            <a:avLst/>
          </a:prstGeom>
          <a:noFill/>
        </p:spPr>
        <p:txBody>
          <a:bodyPr wrap="square" lIns="0" tIns="0" rIns="0" bIns="0" anchor="t">
            <a:spAutoFit/>
          </a:bodyPr>
          <a:lstStyle/>
          <a:p>
            <a:pPr algn="l"/>
            <a:r>
              <a:rPr sz="700" b="0">
                <a:solidFill>
                  <a:srgbClr val="6E7E7D"/>
                </a:solidFill>
                <a:latin typeface="Calibri"/>
              </a:rPr>
              <a:t>2T26* = abr–may.</a:t>
            </a:r>
          </a:p>
        </p:txBody>
      </p:sp>
      <p:sp>
        <p:nvSpPr>
          <p:cNvPr id="20" name="TextBox 19"/>
          <p:cNvSpPr txBox="1"/>
          <p:nvPr/>
        </p:nvSpPr>
        <p:spPr>
          <a:xfrm>
            <a:off x="6219476" y="1120000"/>
            <a:ext cx="5475700" cy="200000"/>
          </a:xfrm>
          <a:prstGeom prst="rect">
            <a:avLst/>
          </a:prstGeom>
          <a:noFill/>
        </p:spPr>
        <p:txBody>
          <a:bodyPr wrap="square" lIns="0" tIns="0" rIns="0" bIns="0">
            <a:spAutoFit/>
          </a:bodyPr>
          <a:lstStyle/>
          <a:p>
            <a:pPr algn="l"/>
            <a:r>
              <a:rPr sz="1000" b="1">
                <a:solidFill>
                  <a:srgbClr val="2F3B3A"/>
                </a:solidFill>
                <a:latin typeface="Lato"/>
              </a:rPr>
              <a:t>TEA mediana ponderada por apertura · </a:t>
            </a:r>
            <a:r>
              <a:rPr sz="1000" b="1">
                <a:solidFill>
                  <a:srgbClr val="6E7E7D"/>
                </a:solidFill>
                <a:latin typeface="Lato"/>
              </a:rPr>
              <a:t>jul–dic 2025</a:t>
            </a:r>
          </a:p>
        </p:txBody>
      </p:sp>
      <p:graphicFrame>
        <p:nvGraphicFramePr>
          <p:cNvPr id="21" name="Chart 20"/>
          <p:cNvGraphicFramePr>
            <a:graphicFrameLocks noGrp="1"/>
          </p:cNvGraphicFramePr>
          <p:nvPr/>
        </p:nvGraphicFramePr>
        <p:xfrm>
          <a:off x="6219476" y="1265449"/>
          <a:ext cx="5475700" cy="1171679"/>
        </p:xfrm>
        <a:graphic>
          <a:graphicData uri="http://schemas.openxmlformats.org/drawingml/2006/chart">
            <c:chart xmlns:c="http://schemas.openxmlformats.org/drawingml/2006/chart" xmlns:r="http://schemas.openxmlformats.org/officeDocument/2006/relationships" r:id="rId5"/>
          </a:graphicData>
        </a:graphic>
      </p:graphicFrame>
      <p:sp>
        <p:nvSpPr>
          <p:cNvPr id="22" name="TextBox 21"/>
          <p:cNvSpPr txBox="1"/>
          <p:nvPr/>
        </p:nvSpPr>
        <p:spPr>
          <a:xfrm>
            <a:off x="6743158" y="2309052"/>
            <a:ext cx="1800000" cy="180000"/>
          </a:xfrm>
          <a:prstGeom prst="rect">
            <a:avLst/>
          </a:prstGeom>
          <a:noFill/>
        </p:spPr>
        <p:txBody>
          <a:bodyPr wrap="square" lIns="0" tIns="0" rIns="0" bIns="0">
            <a:spAutoFit/>
          </a:bodyPr>
          <a:lstStyle/>
          <a:p>
            <a:pPr algn="ctr"/>
            <a:r>
              <a:rPr sz="900" b="1">
                <a:solidFill>
                  <a:srgbClr val="13807B"/>
                </a:solidFill>
                <a:latin typeface="Lato"/>
              </a:rPr>
              <a:t>≤ 170K</a:t>
            </a:r>
          </a:p>
        </p:txBody>
      </p:sp>
      <p:sp>
        <p:nvSpPr>
          <p:cNvPr id="23" name="TextBox 22"/>
          <p:cNvSpPr txBox="1"/>
          <p:nvPr/>
        </p:nvSpPr>
        <p:spPr>
          <a:xfrm>
            <a:off x="8022806" y="1832300"/>
            <a:ext cx="700889" cy="452510"/>
          </a:xfrm>
          <a:prstGeom prst="rect">
            <a:avLst/>
          </a:prstGeom>
          <a:noFill/>
          <a:ln w="9525">
            <a:solidFill>
              <a:srgbClr val="F28C28"/>
            </a:solidFill>
            <a:prstDash val="dash"/>
          </a:ln>
        </p:spPr>
        <p:txBody>
          <a:bodyPr wrap="square" lIns="0" tIns="0" rIns="0" bIns="0" anchor="ctr">
            <a:spAutoFit/>
          </a:bodyPr>
          <a:lstStyle/>
          <a:p>
            <a:pPr algn="ctr"/>
            <a:r>
              <a:rPr sz="650" b="0">
                <a:solidFill>
                  <a:srgbClr val="F28C28"/>
                </a:solidFill>
                <a:latin typeface="Lato"/>
              </a:rPr>
              <a:t>Insuficiente materialidad para la tasa de la competencia</a:t>
            </a:r>
          </a:p>
        </p:txBody>
      </p:sp>
      <p:sp>
        <p:nvSpPr>
          <p:cNvPr id="24" name="TextBox 23"/>
          <p:cNvSpPr txBox="1"/>
          <p:nvPr/>
        </p:nvSpPr>
        <p:spPr>
          <a:xfrm>
            <a:off x="9371494" y="2309052"/>
            <a:ext cx="1800000" cy="180000"/>
          </a:xfrm>
          <a:prstGeom prst="rect">
            <a:avLst/>
          </a:prstGeom>
          <a:noFill/>
        </p:spPr>
        <p:txBody>
          <a:bodyPr wrap="square" lIns="0" tIns="0" rIns="0" bIns="0">
            <a:spAutoFit/>
          </a:bodyPr>
          <a:lstStyle/>
          <a:p>
            <a:pPr algn="ctr"/>
            <a:r>
              <a:rPr sz="900" b="1">
                <a:solidFill>
                  <a:srgbClr val="E5173F"/>
                </a:solidFill>
                <a:latin typeface="Lato"/>
              </a:rPr>
              <a:t>&gt; 350K</a:t>
            </a:r>
          </a:p>
        </p:txBody>
      </p:sp>
      <p:sp>
        <p:nvSpPr>
          <p:cNvPr id="25" name="TextBox 24"/>
          <p:cNvSpPr txBox="1"/>
          <p:nvPr/>
        </p:nvSpPr>
        <p:spPr>
          <a:xfrm>
            <a:off x="6219476" y="2606820"/>
            <a:ext cx="5475700" cy="200000"/>
          </a:xfrm>
          <a:prstGeom prst="rect">
            <a:avLst/>
          </a:prstGeom>
          <a:noFill/>
        </p:spPr>
        <p:txBody>
          <a:bodyPr wrap="square" lIns="0" tIns="0" rIns="0" bIns="0">
            <a:spAutoFit/>
          </a:bodyPr>
          <a:lstStyle/>
          <a:p>
            <a:pPr algn="l"/>
            <a:r>
              <a:rPr sz="1000" b="1">
                <a:solidFill>
                  <a:srgbClr val="2F3B3A"/>
                </a:solidFill>
                <a:latin typeface="Lato"/>
              </a:rPr>
              <a:t>TEA mediana ponderada por apertura · </a:t>
            </a:r>
            <a:r>
              <a:rPr sz="1000" b="1">
                <a:solidFill>
                  <a:srgbClr val="13807B"/>
                </a:solidFill>
                <a:latin typeface="Lato"/>
              </a:rPr>
              <a:t>ene–may 2026</a:t>
            </a:r>
          </a:p>
        </p:txBody>
      </p:sp>
      <p:graphicFrame>
        <p:nvGraphicFramePr>
          <p:cNvPr id="26" name="Chart 25"/>
          <p:cNvGraphicFramePr>
            <a:graphicFrameLocks noGrp="1"/>
          </p:cNvGraphicFramePr>
          <p:nvPr/>
        </p:nvGraphicFramePr>
        <p:xfrm>
          <a:off x="6219476" y="2752271"/>
          <a:ext cx="5475700" cy="969665"/>
        </p:xfrm>
        <a:graphic>
          <a:graphicData uri="http://schemas.openxmlformats.org/drawingml/2006/chart">
            <c:chart xmlns:c="http://schemas.openxmlformats.org/drawingml/2006/chart" xmlns:r="http://schemas.openxmlformats.org/officeDocument/2006/relationships" r:id="rId6"/>
          </a:graphicData>
        </a:graphic>
      </p:graphicFrame>
      <p:sp>
        <p:nvSpPr>
          <p:cNvPr id="27" name="TextBox 26"/>
          <p:cNvSpPr txBox="1"/>
          <p:nvPr/>
        </p:nvSpPr>
        <p:spPr>
          <a:xfrm>
            <a:off x="6743158" y="3610425"/>
            <a:ext cx="1800000" cy="180000"/>
          </a:xfrm>
          <a:prstGeom prst="rect">
            <a:avLst/>
          </a:prstGeom>
          <a:noFill/>
        </p:spPr>
        <p:txBody>
          <a:bodyPr wrap="square" lIns="0" tIns="0" rIns="0" bIns="0">
            <a:spAutoFit/>
          </a:bodyPr>
          <a:lstStyle/>
          <a:p>
            <a:pPr algn="ctr"/>
            <a:r>
              <a:rPr sz="900" b="1">
                <a:solidFill>
                  <a:srgbClr val="13807B"/>
                </a:solidFill>
                <a:latin typeface="Lato"/>
              </a:rPr>
              <a:t>≤ 170K</a:t>
            </a:r>
          </a:p>
        </p:txBody>
      </p:sp>
      <p:sp>
        <p:nvSpPr>
          <p:cNvPr id="28" name="TextBox 27"/>
          <p:cNvSpPr txBox="1"/>
          <p:nvPr/>
        </p:nvSpPr>
        <p:spPr>
          <a:xfrm>
            <a:off x="8022806" y="3108809"/>
            <a:ext cx="700889" cy="477373"/>
          </a:xfrm>
          <a:prstGeom prst="rect">
            <a:avLst/>
          </a:prstGeom>
          <a:noFill/>
          <a:ln w="9525">
            <a:solidFill>
              <a:srgbClr val="F28C28"/>
            </a:solidFill>
            <a:prstDash val="dash"/>
          </a:ln>
        </p:spPr>
        <p:txBody>
          <a:bodyPr wrap="square" lIns="0" tIns="0" rIns="0" bIns="0" anchor="ctr">
            <a:spAutoFit/>
          </a:bodyPr>
          <a:lstStyle/>
          <a:p>
            <a:pPr algn="ctr"/>
            <a:r>
              <a:rPr sz="650" b="0">
                <a:solidFill>
                  <a:srgbClr val="F28C28"/>
                </a:solidFill>
                <a:latin typeface="Lato"/>
              </a:rPr>
              <a:t>Insuficiente materialidad para la tasa de la competencia</a:t>
            </a:r>
          </a:p>
        </p:txBody>
      </p:sp>
      <p:sp>
        <p:nvSpPr>
          <p:cNvPr id="29" name="TextBox 28"/>
          <p:cNvSpPr txBox="1"/>
          <p:nvPr/>
        </p:nvSpPr>
        <p:spPr>
          <a:xfrm>
            <a:off x="9371494" y="3610425"/>
            <a:ext cx="1800000" cy="180000"/>
          </a:xfrm>
          <a:prstGeom prst="rect">
            <a:avLst/>
          </a:prstGeom>
          <a:noFill/>
        </p:spPr>
        <p:txBody>
          <a:bodyPr wrap="square" lIns="0" tIns="0" rIns="0" bIns="0">
            <a:spAutoFit/>
          </a:bodyPr>
          <a:lstStyle/>
          <a:p>
            <a:pPr algn="ctr"/>
            <a:r>
              <a:rPr sz="900" b="1">
                <a:solidFill>
                  <a:srgbClr val="E5173F"/>
                </a:solidFill>
                <a:latin typeface="Lato"/>
              </a:rPr>
              <a:t>&gt; 350K</a:t>
            </a:r>
          </a:p>
        </p:txBody>
      </p:sp>
      <p:sp>
        <p:nvSpPr>
          <p:cNvPr id="30" name="TextBox 29"/>
          <p:cNvSpPr txBox="1"/>
          <p:nvPr/>
        </p:nvSpPr>
        <p:spPr>
          <a:xfrm>
            <a:off x="6219476" y="3950000"/>
            <a:ext cx="5475700" cy="200000"/>
          </a:xfrm>
          <a:prstGeom prst="rect">
            <a:avLst/>
          </a:prstGeom>
          <a:noFill/>
        </p:spPr>
        <p:txBody>
          <a:bodyPr wrap="square" lIns="0" tIns="0" rIns="0" bIns="0">
            <a:spAutoFit/>
          </a:bodyPr>
          <a:lstStyle/>
          <a:p>
            <a:pPr algn="l"/>
            <a:r>
              <a:rPr sz="1000" b="1">
                <a:solidFill>
                  <a:srgbClr val="2F3B3A"/>
                </a:solidFill>
                <a:latin typeface="Lato"/>
              </a:rPr>
              <a:t>Insights</a:t>
            </a:r>
          </a:p>
        </p:txBody>
      </p:sp>
      <p:sp>
        <p:nvSpPr>
          <p:cNvPr id="31" name="TextBox 30"/>
          <p:cNvSpPr txBox="1"/>
          <p:nvPr/>
        </p:nvSpPr>
        <p:spPr>
          <a:xfrm>
            <a:off x="6369476" y="4190000"/>
            <a:ext cx="5225700" cy="2250000"/>
          </a:xfrm>
          <a:prstGeom prst="rect">
            <a:avLst/>
          </a:prstGeom>
          <a:noFill/>
        </p:spPr>
        <p:txBody>
          <a:bodyPr wrap="square" lIns="0" tIns="0" rIns="0" bIns="0">
            <a:spAutoFit/>
          </a:bodyPr>
          <a:lstStyle/>
          <a:p>
            <a:pPr algn="l"/>
            <a:r>
              <a:rPr sz="1000" b="1" dirty="0">
                <a:solidFill>
                  <a:srgbClr val="13807B"/>
                </a:solidFill>
                <a:latin typeface="Calibri"/>
              </a:rPr>
              <a:t>≤ 170K</a:t>
            </a:r>
            <a:r>
              <a:rPr sz="750" b="0" dirty="0">
                <a:solidFill>
                  <a:srgbClr val="6E7E7D"/>
                </a:solidFill>
                <a:latin typeface="Calibri"/>
              </a:rPr>
              <a:t>   share 91 → 83</a:t>
            </a:r>
          </a:p>
          <a:p>
            <a:pPr algn="l">
              <a:spcBef>
                <a:spcPts val="300"/>
              </a:spcBef>
            </a:pPr>
            <a:r>
              <a:rPr sz="750" b="1" dirty="0">
                <a:solidFill>
                  <a:srgbClr val="13807B"/>
                </a:solidFill>
                <a:latin typeface="Calibri"/>
              </a:rPr>
              <a:t>• </a:t>
            </a:r>
            <a:r>
              <a:rPr sz="750" b="0" dirty="0">
                <a:solidFill>
                  <a:srgbClr val="2F3B3A"/>
                </a:solidFill>
                <a:latin typeface="Calibri"/>
              </a:rPr>
              <a:t>Sin </a:t>
            </a:r>
            <a:r>
              <a:rPr sz="750" b="0" dirty="0" err="1">
                <a:solidFill>
                  <a:srgbClr val="2F3B3A"/>
                </a:solidFill>
                <a:latin typeface="Calibri"/>
              </a:rPr>
              <a:t>reducción</a:t>
            </a:r>
            <a:r>
              <a:rPr sz="750" b="0" dirty="0">
                <a:solidFill>
                  <a:srgbClr val="2F3B3A"/>
                </a:solidFill>
                <a:latin typeface="Calibri"/>
              </a:rPr>
              <a:t> </a:t>
            </a:r>
            <a:r>
              <a:rPr sz="750" b="0" dirty="0" err="1">
                <a:solidFill>
                  <a:srgbClr val="2F3B3A"/>
                </a:solidFill>
                <a:latin typeface="Calibri"/>
              </a:rPr>
              <a:t>significativa</a:t>
            </a:r>
            <a:r>
              <a:rPr sz="750" b="0" dirty="0">
                <a:solidFill>
                  <a:srgbClr val="2F3B3A"/>
                </a:solidFill>
                <a:latin typeface="Calibri"/>
              </a:rPr>
              <a:t> del share</a:t>
            </a:r>
          </a:p>
          <a:p>
            <a:pPr algn="l">
              <a:spcBef>
                <a:spcPts val="300"/>
              </a:spcBef>
            </a:pPr>
            <a:r>
              <a:rPr sz="750" b="1" dirty="0">
                <a:solidFill>
                  <a:srgbClr val="13807B"/>
                </a:solidFill>
                <a:latin typeface="Calibri"/>
              </a:rPr>
              <a:t>• </a:t>
            </a:r>
            <a:r>
              <a:rPr sz="750" b="0" dirty="0">
                <a:solidFill>
                  <a:srgbClr val="2F3B3A"/>
                </a:solidFill>
                <a:latin typeface="Calibri"/>
              </a:rPr>
              <a:t>La brecha entre la tasa ofertada y la desembolsada se redujo el último trimestre, de unos 310 a 180 pbs, porque subió el desembolso</a:t>
            </a:r>
          </a:p>
          <a:p>
            <a:pPr>
              <a:spcBef>
                <a:spcPts val="300"/>
              </a:spcBef>
            </a:pPr>
            <a:r>
              <a:rPr sz="750" b="1" dirty="0" err="1">
                <a:solidFill>
                  <a:srgbClr val="13807B"/>
                </a:solidFill>
                <a:latin typeface="Calibri"/>
              </a:rPr>
              <a:t>Estrategia</a:t>
            </a:r>
            <a:r>
              <a:rPr sz="750" b="1" dirty="0">
                <a:solidFill>
                  <a:srgbClr val="13807B"/>
                </a:solidFill>
                <a:latin typeface="Calibri"/>
              </a:rPr>
              <a:t> de </a:t>
            </a:r>
            <a:r>
              <a:rPr sz="750" b="1" dirty="0" err="1">
                <a:solidFill>
                  <a:srgbClr val="13807B"/>
                </a:solidFill>
                <a:latin typeface="Calibri"/>
              </a:rPr>
              <a:t>pilotos</a:t>
            </a:r>
            <a:r>
              <a:rPr sz="750" b="1" dirty="0">
                <a:solidFill>
                  <a:srgbClr val="13807B"/>
                </a:solidFill>
                <a:latin typeface="Calibri"/>
              </a:rPr>
              <a:t>: </a:t>
            </a:r>
            <a:r>
              <a:rPr lang="es-ES" sz="750" b="1" dirty="0">
                <a:solidFill>
                  <a:srgbClr val="2F3B3A"/>
                </a:solidFill>
              </a:rPr>
              <a:t>Subir precio cuidando la caída del share</a:t>
            </a:r>
            <a:endParaRPr sz="850" b="1" dirty="0">
              <a:solidFill>
                <a:srgbClr val="2F3B3A"/>
              </a:solidFill>
              <a:latin typeface="Calibri"/>
            </a:endParaRPr>
          </a:p>
          <a:p>
            <a:pPr algn="l">
              <a:spcBef>
                <a:spcPts val="300"/>
              </a:spcBef>
            </a:pPr>
            <a:r>
              <a:rPr sz="400" b="0" dirty="0">
                <a:solidFill>
                  <a:srgbClr val="2F3B3A"/>
                </a:solidFill>
                <a:latin typeface="Calibri"/>
              </a:rPr>
              <a:t> </a:t>
            </a:r>
          </a:p>
          <a:p>
            <a:pPr algn="l">
              <a:spcBef>
                <a:spcPts val="300"/>
              </a:spcBef>
            </a:pPr>
            <a:r>
              <a:rPr sz="1000" b="1" dirty="0">
                <a:solidFill>
                  <a:srgbClr val="E5173F"/>
                </a:solidFill>
                <a:latin typeface="Calibri"/>
              </a:rPr>
              <a:t>&gt; 350K</a:t>
            </a:r>
            <a:r>
              <a:rPr sz="750" b="0" dirty="0">
                <a:solidFill>
                  <a:srgbClr val="6E7E7D"/>
                </a:solidFill>
                <a:latin typeface="Calibri"/>
              </a:rPr>
              <a:t>   share 82 → 41</a:t>
            </a:r>
          </a:p>
          <a:p>
            <a:pPr algn="l">
              <a:spcBef>
                <a:spcPts val="300"/>
              </a:spcBef>
            </a:pPr>
            <a:r>
              <a:rPr sz="750" b="1" dirty="0">
                <a:solidFill>
                  <a:srgbClr val="13807B"/>
                </a:solidFill>
                <a:latin typeface="Calibri"/>
              </a:rPr>
              <a:t>• </a:t>
            </a:r>
            <a:r>
              <a:rPr sz="750" b="0" dirty="0" err="1">
                <a:solidFill>
                  <a:srgbClr val="2F3B3A"/>
                </a:solidFill>
                <a:latin typeface="Calibri"/>
              </a:rPr>
              <a:t>Caída</a:t>
            </a:r>
            <a:r>
              <a:rPr sz="750" b="0" dirty="0">
                <a:solidFill>
                  <a:srgbClr val="2F3B3A"/>
                </a:solidFill>
                <a:latin typeface="Calibri"/>
              </a:rPr>
              <a:t> </a:t>
            </a:r>
            <a:r>
              <a:rPr sz="750" b="0" dirty="0" err="1">
                <a:solidFill>
                  <a:srgbClr val="2F3B3A"/>
                </a:solidFill>
                <a:latin typeface="Calibri"/>
              </a:rPr>
              <a:t>abrupta</a:t>
            </a:r>
            <a:r>
              <a:rPr sz="750" b="0" dirty="0">
                <a:solidFill>
                  <a:srgbClr val="2F3B3A"/>
                </a:solidFill>
                <a:latin typeface="Calibri"/>
              </a:rPr>
              <a:t> del share, </a:t>
            </a:r>
            <a:r>
              <a:rPr sz="750" b="0" dirty="0" err="1">
                <a:solidFill>
                  <a:srgbClr val="2F3B3A"/>
                </a:solidFill>
                <a:latin typeface="Calibri"/>
              </a:rPr>
              <a:t>que</a:t>
            </a:r>
            <a:r>
              <a:rPr sz="750" b="0" dirty="0">
                <a:solidFill>
                  <a:srgbClr val="2F3B3A"/>
                </a:solidFill>
                <a:latin typeface="Calibri"/>
              </a:rPr>
              <a:t> se reduce a la </a:t>
            </a:r>
            <a:r>
              <a:rPr sz="750" b="0" dirty="0" err="1">
                <a:solidFill>
                  <a:srgbClr val="2F3B3A"/>
                </a:solidFill>
                <a:latin typeface="Calibri"/>
              </a:rPr>
              <a:t>mitad</a:t>
            </a:r>
            <a:endParaRPr sz="850" b="0" dirty="0">
              <a:solidFill>
                <a:srgbClr val="2F3B3A"/>
              </a:solidFill>
              <a:latin typeface="Calibri"/>
            </a:endParaRPr>
          </a:p>
          <a:p>
            <a:pPr algn="l">
              <a:spcBef>
                <a:spcPts val="300"/>
              </a:spcBef>
            </a:pPr>
            <a:r>
              <a:rPr sz="750" b="1" dirty="0">
                <a:solidFill>
                  <a:srgbClr val="13807B"/>
                </a:solidFill>
                <a:latin typeface="Calibri"/>
              </a:rPr>
              <a:t>• </a:t>
            </a:r>
            <a:r>
              <a:rPr sz="750" b="0" dirty="0">
                <a:solidFill>
                  <a:srgbClr val="2F3B3A"/>
                </a:solidFill>
                <a:latin typeface="Calibri"/>
              </a:rPr>
              <a:t>La </a:t>
            </a:r>
            <a:r>
              <a:rPr sz="750" b="0" dirty="0" err="1">
                <a:solidFill>
                  <a:srgbClr val="2F3B3A"/>
                </a:solidFill>
                <a:latin typeface="Calibri"/>
              </a:rPr>
              <a:t>brecha</a:t>
            </a:r>
            <a:r>
              <a:rPr sz="750" b="0" dirty="0">
                <a:solidFill>
                  <a:srgbClr val="2F3B3A"/>
                </a:solidFill>
                <a:latin typeface="Calibri"/>
              </a:rPr>
              <a:t> entre la </a:t>
            </a:r>
            <a:r>
              <a:rPr sz="750" b="0" dirty="0" err="1">
                <a:solidFill>
                  <a:srgbClr val="2F3B3A"/>
                </a:solidFill>
                <a:latin typeface="Calibri"/>
              </a:rPr>
              <a:t>tasa</a:t>
            </a:r>
            <a:r>
              <a:rPr sz="750" b="0" dirty="0">
                <a:solidFill>
                  <a:srgbClr val="2F3B3A"/>
                </a:solidFill>
                <a:latin typeface="Calibri"/>
              </a:rPr>
              <a:t> </a:t>
            </a:r>
            <a:r>
              <a:rPr sz="750" b="0" dirty="0" err="1">
                <a:solidFill>
                  <a:srgbClr val="2F3B3A"/>
                </a:solidFill>
                <a:latin typeface="Calibri"/>
              </a:rPr>
              <a:t>ofertada</a:t>
            </a:r>
            <a:r>
              <a:rPr sz="750" b="0" dirty="0">
                <a:solidFill>
                  <a:srgbClr val="2F3B3A"/>
                </a:solidFill>
                <a:latin typeface="Calibri"/>
              </a:rPr>
              <a:t> y la </a:t>
            </a:r>
            <a:r>
              <a:rPr sz="750" b="0" dirty="0" err="1">
                <a:solidFill>
                  <a:srgbClr val="2F3B3A"/>
                </a:solidFill>
                <a:latin typeface="Calibri"/>
              </a:rPr>
              <a:t>desembolsada</a:t>
            </a:r>
            <a:r>
              <a:rPr sz="750" b="0" dirty="0">
                <a:solidFill>
                  <a:srgbClr val="2F3B3A"/>
                </a:solidFill>
                <a:latin typeface="Calibri"/>
              </a:rPr>
              <a:t> </a:t>
            </a:r>
            <a:r>
              <a:rPr sz="750" b="0" dirty="0" err="1">
                <a:solidFill>
                  <a:srgbClr val="2F3B3A"/>
                </a:solidFill>
                <a:latin typeface="Calibri"/>
              </a:rPr>
              <a:t>disminuyó</a:t>
            </a:r>
            <a:r>
              <a:rPr sz="750" b="0" dirty="0">
                <a:solidFill>
                  <a:srgbClr val="2F3B3A"/>
                </a:solidFill>
                <a:latin typeface="Calibri"/>
              </a:rPr>
              <a:t> hasta 4T25 </a:t>
            </a:r>
            <a:r>
              <a:rPr sz="750" b="0" dirty="0" err="1">
                <a:solidFill>
                  <a:srgbClr val="2F3B3A"/>
                </a:solidFill>
                <a:latin typeface="Calibri"/>
              </a:rPr>
              <a:t>por</a:t>
            </a:r>
            <a:r>
              <a:rPr sz="750" b="0" dirty="0">
                <a:solidFill>
                  <a:srgbClr val="2F3B3A"/>
                </a:solidFill>
                <a:latin typeface="Calibri"/>
              </a:rPr>
              <a:t> un </a:t>
            </a:r>
            <a:r>
              <a:rPr sz="750" b="0" dirty="0" err="1">
                <a:solidFill>
                  <a:srgbClr val="2F3B3A"/>
                </a:solidFill>
                <a:latin typeface="Calibri"/>
              </a:rPr>
              <a:t>efecto</a:t>
            </a:r>
            <a:r>
              <a:rPr sz="750" b="0" dirty="0">
                <a:solidFill>
                  <a:srgbClr val="2F3B3A"/>
                </a:solidFill>
                <a:latin typeface="Calibri"/>
              </a:rPr>
              <a:t> </a:t>
            </a:r>
            <a:r>
              <a:rPr sz="750" b="0" dirty="0" err="1">
                <a:solidFill>
                  <a:srgbClr val="2F3B3A"/>
                </a:solidFill>
                <a:latin typeface="Calibri"/>
              </a:rPr>
              <a:t>mixto</a:t>
            </a:r>
            <a:r>
              <a:rPr sz="750" b="0" dirty="0">
                <a:solidFill>
                  <a:srgbClr val="2F3B3A"/>
                </a:solidFill>
                <a:latin typeface="Calibri"/>
              </a:rPr>
              <a:t>: </a:t>
            </a:r>
            <a:r>
              <a:rPr sz="750" b="0" dirty="0" err="1">
                <a:solidFill>
                  <a:srgbClr val="2F3B3A"/>
                </a:solidFill>
                <a:latin typeface="Calibri"/>
              </a:rPr>
              <a:t>bajó</a:t>
            </a:r>
            <a:r>
              <a:rPr sz="750" b="0" dirty="0">
                <a:solidFill>
                  <a:srgbClr val="2F3B3A"/>
                </a:solidFill>
                <a:latin typeface="Calibri"/>
              </a:rPr>
              <a:t> la </a:t>
            </a:r>
            <a:r>
              <a:rPr sz="750" b="0" dirty="0" err="1">
                <a:solidFill>
                  <a:srgbClr val="2F3B3A"/>
                </a:solidFill>
                <a:latin typeface="Calibri"/>
              </a:rPr>
              <a:t>oferta</a:t>
            </a:r>
            <a:r>
              <a:rPr sz="750" b="0" dirty="0">
                <a:solidFill>
                  <a:srgbClr val="2F3B3A"/>
                </a:solidFill>
                <a:latin typeface="Calibri"/>
              </a:rPr>
              <a:t> y </a:t>
            </a:r>
            <a:r>
              <a:rPr sz="750" b="0" dirty="0" err="1">
                <a:solidFill>
                  <a:srgbClr val="2F3B3A"/>
                </a:solidFill>
                <a:latin typeface="Calibri"/>
              </a:rPr>
              <a:t>subió</a:t>
            </a:r>
            <a:r>
              <a:rPr sz="750" b="0" dirty="0">
                <a:solidFill>
                  <a:srgbClr val="2F3B3A"/>
                </a:solidFill>
                <a:latin typeface="Calibri"/>
              </a:rPr>
              <a:t> el </a:t>
            </a:r>
            <a:r>
              <a:rPr sz="750" b="0" dirty="0" err="1">
                <a:solidFill>
                  <a:srgbClr val="2F3B3A"/>
                </a:solidFill>
                <a:latin typeface="Calibri"/>
              </a:rPr>
              <a:t>desembolso</a:t>
            </a:r>
            <a:r>
              <a:rPr sz="750" b="0" dirty="0">
                <a:solidFill>
                  <a:srgbClr val="2F3B3A"/>
                </a:solidFill>
                <a:latin typeface="Calibri"/>
              </a:rPr>
              <a:t>. En 2026 ambas </a:t>
            </a:r>
            <a:r>
              <a:rPr sz="750" b="0" dirty="0" err="1">
                <a:solidFill>
                  <a:srgbClr val="2F3B3A"/>
                </a:solidFill>
                <a:latin typeface="Calibri"/>
              </a:rPr>
              <a:t>tasas</a:t>
            </a:r>
            <a:r>
              <a:rPr sz="750" b="0" dirty="0">
                <a:solidFill>
                  <a:srgbClr val="2F3B3A"/>
                </a:solidFill>
                <a:latin typeface="Calibri"/>
              </a:rPr>
              <a:t> </a:t>
            </a:r>
            <a:r>
              <a:rPr sz="750" b="0" dirty="0" err="1">
                <a:solidFill>
                  <a:srgbClr val="2F3B3A"/>
                </a:solidFill>
                <a:latin typeface="Calibri"/>
              </a:rPr>
              <a:t>volvieron</a:t>
            </a:r>
            <a:r>
              <a:rPr sz="750" b="0" dirty="0">
                <a:solidFill>
                  <a:srgbClr val="2F3B3A"/>
                </a:solidFill>
                <a:latin typeface="Calibri"/>
              </a:rPr>
              <a:t> a </a:t>
            </a:r>
            <a:r>
              <a:rPr sz="750" b="0" dirty="0" err="1">
                <a:solidFill>
                  <a:srgbClr val="2F3B3A"/>
                </a:solidFill>
                <a:latin typeface="Calibri"/>
              </a:rPr>
              <a:t>niveles</a:t>
            </a:r>
            <a:r>
              <a:rPr sz="750" b="0" dirty="0">
                <a:solidFill>
                  <a:srgbClr val="2F3B3A"/>
                </a:solidFill>
                <a:latin typeface="Calibri"/>
              </a:rPr>
              <a:t> </a:t>
            </a:r>
            <a:r>
              <a:rPr sz="750" b="0" dirty="0" err="1">
                <a:solidFill>
                  <a:srgbClr val="2F3B3A"/>
                </a:solidFill>
                <a:latin typeface="Calibri"/>
              </a:rPr>
              <a:t>cercanos</a:t>
            </a:r>
            <a:r>
              <a:rPr sz="750" b="0" dirty="0">
                <a:solidFill>
                  <a:srgbClr val="2F3B3A"/>
                </a:solidFill>
                <a:latin typeface="Calibri"/>
              </a:rPr>
              <a:t> a </a:t>
            </a:r>
            <a:r>
              <a:rPr sz="750" b="0" dirty="0" err="1">
                <a:solidFill>
                  <a:srgbClr val="2F3B3A"/>
                </a:solidFill>
                <a:latin typeface="Calibri"/>
              </a:rPr>
              <a:t>los</a:t>
            </a:r>
            <a:r>
              <a:rPr sz="750" b="0" dirty="0">
                <a:solidFill>
                  <a:srgbClr val="2F3B3A"/>
                </a:solidFill>
                <a:latin typeface="Calibri"/>
              </a:rPr>
              <a:t> de 2T25, </a:t>
            </a:r>
            <a:r>
              <a:rPr sz="750" b="0" dirty="0" err="1">
                <a:solidFill>
                  <a:srgbClr val="2F3B3A"/>
                </a:solidFill>
                <a:latin typeface="Calibri"/>
              </a:rPr>
              <a:t>pero</a:t>
            </a:r>
            <a:r>
              <a:rPr sz="750" b="0" dirty="0">
                <a:solidFill>
                  <a:srgbClr val="2F3B3A"/>
                </a:solidFill>
                <a:latin typeface="Calibri"/>
              </a:rPr>
              <a:t> el share no se </a:t>
            </a:r>
            <a:r>
              <a:rPr sz="750" b="0" dirty="0" err="1">
                <a:solidFill>
                  <a:srgbClr val="2F3B3A"/>
                </a:solidFill>
                <a:latin typeface="Calibri"/>
              </a:rPr>
              <a:t>recuperó</a:t>
            </a:r>
            <a:endParaRPr sz="850" b="0" dirty="0">
              <a:solidFill>
                <a:srgbClr val="2F3B3A"/>
              </a:solidFill>
              <a:latin typeface="Calibri"/>
            </a:endParaRPr>
          </a:p>
          <a:p>
            <a:pPr algn="l">
              <a:spcBef>
                <a:spcPts val="300"/>
              </a:spcBef>
            </a:pPr>
            <a:r>
              <a:rPr sz="750" b="1" dirty="0">
                <a:solidFill>
                  <a:srgbClr val="13807B"/>
                </a:solidFill>
                <a:latin typeface="Calibri"/>
              </a:rPr>
              <a:t>• </a:t>
            </a:r>
            <a:r>
              <a:rPr sz="750" b="0" dirty="0">
                <a:solidFill>
                  <a:srgbClr val="2F3B3A"/>
                </a:solidFill>
                <a:latin typeface="Calibri"/>
              </a:rPr>
              <a:t>En 2025 la competencia cobraba más que nuestro desembolso y el share se sostenía. En 2026 la competencia bajó su tasa y pasó a ser más competitiva, lo que se refleja en la caída del share</a:t>
            </a:r>
          </a:p>
          <a:p>
            <a:pPr>
              <a:spcBef>
                <a:spcPts val="300"/>
              </a:spcBef>
            </a:pPr>
            <a:r>
              <a:rPr sz="750" b="1" dirty="0" err="1">
                <a:solidFill>
                  <a:srgbClr val="13807B"/>
                </a:solidFill>
                <a:latin typeface="Calibri"/>
              </a:rPr>
              <a:t>Estrategia</a:t>
            </a:r>
            <a:r>
              <a:rPr sz="750" b="1" dirty="0">
                <a:solidFill>
                  <a:srgbClr val="13807B"/>
                </a:solidFill>
                <a:latin typeface="Calibri"/>
              </a:rPr>
              <a:t> de </a:t>
            </a:r>
            <a:r>
              <a:rPr sz="750" b="1" dirty="0" err="1">
                <a:solidFill>
                  <a:srgbClr val="13807B"/>
                </a:solidFill>
                <a:latin typeface="Calibri"/>
              </a:rPr>
              <a:t>pilotos</a:t>
            </a:r>
            <a:r>
              <a:rPr sz="750" b="1" dirty="0">
                <a:solidFill>
                  <a:srgbClr val="13807B"/>
                </a:solidFill>
                <a:latin typeface="Calibri"/>
              </a:rPr>
              <a:t>: </a:t>
            </a:r>
            <a:r>
              <a:rPr lang="es-ES" sz="750" b="1" dirty="0">
                <a:solidFill>
                  <a:srgbClr val="2F3B3A"/>
                </a:solidFill>
              </a:rPr>
              <a:t>Bajar precio monitoreando el share</a:t>
            </a:r>
            <a:endParaRPr sz="850" b="1" dirty="0">
              <a:solidFill>
                <a:srgbClr val="2F3B3A"/>
              </a:solidFill>
              <a:latin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93777" y="246888"/>
            <a:ext cx="8963570" cy="109710"/>
          </a:xfrm>
          <a:prstGeom prst="rect">
            <a:avLst/>
          </a:prstGeom>
          <a:noFill/>
        </p:spPr>
        <p:txBody>
          <a:bodyPr wrap="square" lIns="0" tIns="0" rIns="0" bIns="0" anchor="t">
            <a:spAutoFit/>
          </a:bodyPr>
          <a:lstStyle/>
          <a:p>
            <a:pPr algn="l"/>
            <a:r>
              <a:rPr sz="800" b="1">
                <a:solidFill>
                  <a:srgbClr val="6E7E7D"/>
                </a:solidFill>
                <a:latin typeface="Calibri"/>
              </a:rPr>
              <a:t>SHARE Y TASA POR SEGMENTO · CUENTA ESTRATÉGICA · GRANDES POR FIDELIZAR · SOW 38%</a:t>
            </a:r>
          </a:p>
        </p:txBody>
      </p:sp>
      <p:sp>
        <p:nvSpPr>
          <p:cNvPr id="3" name="TextBox 2"/>
          <p:cNvSpPr txBox="1"/>
          <p:nvPr/>
        </p:nvSpPr>
        <p:spPr>
          <a:xfrm>
            <a:off x="493776" y="425196"/>
            <a:ext cx="10312923" cy="492443"/>
          </a:xfrm>
          <a:prstGeom prst="rect">
            <a:avLst/>
          </a:prstGeom>
          <a:noFill/>
        </p:spPr>
        <p:txBody>
          <a:bodyPr wrap="square" lIns="0" tIns="0" rIns="0" bIns="0" anchor="t">
            <a:spAutoFit/>
          </a:bodyPr>
          <a:lstStyle/>
          <a:p>
            <a:pPr algn="l"/>
            <a:r>
              <a:rPr sz="1600" b="1" dirty="0" err="1">
                <a:solidFill>
                  <a:srgbClr val="13807B"/>
                </a:solidFill>
                <a:latin typeface="Poppins"/>
              </a:rPr>
              <a:t>Cuenta</a:t>
            </a:r>
            <a:r>
              <a:rPr sz="1600" b="1" dirty="0">
                <a:solidFill>
                  <a:srgbClr val="13807B"/>
                </a:solidFill>
                <a:latin typeface="Poppins"/>
              </a:rPr>
              <a:t> </a:t>
            </a:r>
            <a:r>
              <a:rPr sz="1600" b="1" dirty="0" err="1">
                <a:solidFill>
                  <a:srgbClr val="13807B"/>
                </a:solidFill>
                <a:latin typeface="Poppins"/>
              </a:rPr>
              <a:t>Estratégica</a:t>
            </a:r>
            <a:r>
              <a:rPr sz="1600" b="1" dirty="0">
                <a:solidFill>
                  <a:srgbClr val="13807B"/>
                </a:solidFill>
                <a:latin typeface="Poppins"/>
              </a:rPr>
              <a:t> </a:t>
            </a:r>
            <a:r>
              <a:rPr sz="1600" b="1" dirty="0" err="1">
                <a:solidFill>
                  <a:srgbClr val="13807B"/>
                </a:solidFill>
                <a:latin typeface="Poppins"/>
              </a:rPr>
              <a:t>puede</a:t>
            </a:r>
            <a:r>
              <a:rPr sz="1600" b="1" dirty="0">
                <a:solidFill>
                  <a:srgbClr val="13807B"/>
                </a:solidFill>
                <a:latin typeface="Poppins"/>
              </a:rPr>
              <a:t> </a:t>
            </a:r>
            <a:r>
              <a:rPr sz="1600" b="1" dirty="0" err="1">
                <a:solidFill>
                  <a:srgbClr val="13807B"/>
                </a:solidFill>
                <a:latin typeface="Poppins"/>
              </a:rPr>
              <a:t>subir</a:t>
            </a:r>
            <a:r>
              <a:rPr sz="1600" b="1" dirty="0">
                <a:solidFill>
                  <a:srgbClr val="13807B"/>
                </a:solidFill>
                <a:latin typeface="Poppins"/>
              </a:rPr>
              <a:t> </a:t>
            </a:r>
            <a:r>
              <a:rPr sz="1600" b="1" dirty="0" err="1">
                <a:solidFill>
                  <a:srgbClr val="13807B"/>
                </a:solidFill>
                <a:latin typeface="Poppins"/>
              </a:rPr>
              <a:t>precio</a:t>
            </a:r>
            <a:r>
              <a:rPr sz="1600" b="1" dirty="0">
                <a:solidFill>
                  <a:srgbClr val="13807B"/>
                </a:solidFill>
                <a:latin typeface="Poppins"/>
              </a:rPr>
              <a:t> de forma </a:t>
            </a:r>
            <a:r>
              <a:rPr sz="1600" b="1" dirty="0" err="1">
                <a:solidFill>
                  <a:srgbClr val="13807B"/>
                </a:solidFill>
                <a:latin typeface="Poppins"/>
              </a:rPr>
              <a:t>acotada</a:t>
            </a:r>
            <a:r>
              <a:rPr sz="1600" b="1" dirty="0">
                <a:solidFill>
                  <a:srgbClr val="13807B"/>
                </a:solidFill>
                <a:latin typeface="Poppins"/>
              </a:rPr>
              <a:t> </a:t>
            </a:r>
            <a:r>
              <a:rPr sz="1600" b="1" dirty="0" err="1">
                <a:solidFill>
                  <a:srgbClr val="13807B"/>
                </a:solidFill>
                <a:latin typeface="Poppins"/>
              </a:rPr>
              <a:t>en</a:t>
            </a:r>
            <a:r>
              <a:rPr sz="1600" b="1" dirty="0">
                <a:solidFill>
                  <a:srgbClr val="13807B"/>
                </a:solidFill>
                <a:latin typeface="Poppins"/>
              </a:rPr>
              <a:t> tickets hasta S/ 170K y </a:t>
            </a:r>
            <a:r>
              <a:rPr sz="1600" b="1" dirty="0" err="1">
                <a:solidFill>
                  <a:srgbClr val="13807B"/>
                </a:solidFill>
                <a:latin typeface="Poppins"/>
              </a:rPr>
              <a:t>bajarlo</a:t>
            </a:r>
            <a:r>
              <a:rPr sz="1600" b="1" dirty="0">
                <a:solidFill>
                  <a:srgbClr val="13807B"/>
                </a:solidFill>
                <a:latin typeface="Poppins"/>
              </a:rPr>
              <a:t> de forma </a:t>
            </a:r>
            <a:r>
              <a:rPr sz="1600" b="1" dirty="0" err="1">
                <a:solidFill>
                  <a:srgbClr val="13807B"/>
                </a:solidFill>
                <a:latin typeface="Poppins"/>
              </a:rPr>
              <a:t>acotada</a:t>
            </a:r>
            <a:r>
              <a:rPr sz="1600" b="1" dirty="0">
                <a:solidFill>
                  <a:srgbClr val="13807B"/>
                </a:solidFill>
                <a:latin typeface="Poppins"/>
              </a:rPr>
              <a:t> </a:t>
            </a:r>
            <a:r>
              <a:rPr sz="1600" b="1" dirty="0" err="1">
                <a:solidFill>
                  <a:srgbClr val="13807B"/>
                </a:solidFill>
                <a:latin typeface="Poppins"/>
              </a:rPr>
              <a:t>en</a:t>
            </a:r>
            <a:r>
              <a:rPr sz="1600" b="1" dirty="0">
                <a:solidFill>
                  <a:srgbClr val="13807B"/>
                </a:solidFill>
                <a:latin typeface="Poppins"/>
              </a:rPr>
              <a:t> tickets </a:t>
            </a:r>
            <a:r>
              <a:rPr sz="1600" b="1" dirty="0" err="1">
                <a:solidFill>
                  <a:srgbClr val="13807B"/>
                </a:solidFill>
                <a:latin typeface="Poppins"/>
              </a:rPr>
              <a:t>mayores</a:t>
            </a:r>
            <a:r>
              <a:rPr sz="1600" b="1" dirty="0">
                <a:solidFill>
                  <a:srgbClr val="13807B"/>
                </a:solidFill>
                <a:latin typeface="Poppins"/>
              </a:rPr>
              <a:t> a S/ 350K</a:t>
            </a:r>
          </a:p>
        </p:txBody>
      </p:sp>
      <p:cxnSp>
        <p:nvCxnSpPr>
          <p:cNvPr id="4" name="Connector 3"/>
          <p:cNvCxnSpPr/>
          <p:nvPr/>
        </p:nvCxnSpPr>
        <p:spPr>
          <a:xfrm>
            <a:off x="493776" y="1049274"/>
            <a:ext cx="11204463" cy="0"/>
          </a:xfrm>
          <a:prstGeom prst="line">
            <a:avLst/>
          </a:prstGeom>
          <a:ln w="12700">
            <a:solidFill>
              <a:srgbClr val="D5DFDE"/>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93776" y="1120000"/>
            <a:ext cx="5475700" cy="220000"/>
          </a:xfrm>
          <a:prstGeom prst="rect">
            <a:avLst/>
          </a:prstGeom>
          <a:noFill/>
        </p:spPr>
        <p:txBody>
          <a:bodyPr wrap="square" lIns="0" tIns="0" rIns="0" bIns="0" anchor="t">
            <a:spAutoFit/>
          </a:bodyPr>
          <a:lstStyle/>
          <a:p>
            <a:pPr algn="l"/>
            <a:r>
              <a:rPr sz="1000" b="1">
                <a:solidFill>
                  <a:srgbClr val="2F3B3A"/>
                </a:solidFill>
                <a:latin typeface="Calibri"/>
              </a:rPr>
              <a:t>Share relevante por trimestre (%) · </a:t>
            </a:r>
            <a:r>
              <a:rPr sz="1000" b="1">
                <a:solidFill>
                  <a:srgbClr val="13807B"/>
                </a:solidFill>
              </a:rPr>
              <a:t>tramos por monto ofertado</a:t>
            </a:r>
          </a:p>
        </p:txBody>
      </p:sp>
      <p:graphicFrame>
        <p:nvGraphicFramePr>
          <p:cNvPr id="7" name="Chart 6"/>
          <p:cNvGraphicFramePr>
            <a:graphicFrameLocks noGrp="1"/>
          </p:cNvGraphicFramePr>
          <p:nvPr/>
        </p:nvGraphicFramePr>
        <p:xfrm>
          <a:off x="493776" y="1330000"/>
          <a:ext cx="5475700" cy="2250000"/>
        </p:xfrm>
        <a:graphic>
          <a:graphicData uri="http://schemas.openxmlformats.org/drawingml/2006/chart">
            <c:chart xmlns:c="http://schemas.openxmlformats.org/drawingml/2006/chart" xmlns:r="http://schemas.openxmlformats.org/officeDocument/2006/relationships" r:id="rId3"/>
          </a:graphicData>
        </a:graphic>
      </p:graphicFrame>
      <p:sp>
        <p:nvSpPr>
          <p:cNvPr id="11" name="TextBox 10"/>
          <p:cNvSpPr txBox="1"/>
          <p:nvPr/>
        </p:nvSpPr>
        <p:spPr>
          <a:xfrm>
            <a:off x="493776" y="3720000"/>
            <a:ext cx="2662850" cy="220000"/>
          </a:xfrm>
          <a:prstGeom prst="rect">
            <a:avLst/>
          </a:prstGeom>
          <a:noFill/>
        </p:spPr>
        <p:txBody>
          <a:bodyPr wrap="square" lIns="0" tIns="0" rIns="0" bIns="0" anchor="t">
            <a:spAutoFit/>
          </a:bodyPr>
          <a:lstStyle/>
          <a:p>
            <a:pPr algn="l"/>
            <a:r>
              <a:rPr sz="900" b="1">
                <a:solidFill>
                  <a:srgbClr val="2F3B3A"/>
                </a:solidFill>
                <a:latin typeface="Calibri"/>
              </a:rPr>
              <a:t>TEA promedio ponderado · </a:t>
            </a:r>
            <a:r>
              <a:rPr sz="900" b="1">
                <a:solidFill>
                  <a:srgbClr val="13807B"/>
                </a:solidFill>
              </a:rPr>
              <a:t>≤ 170K</a:t>
            </a:r>
          </a:p>
        </p:txBody>
      </p:sp>
      <p:graphicFrame>
        <p:nvGraphicFramePr>
          <p:cNvPr id="12" name="Chart 11"/>
          <p:cNvGraphicFramePr>
            <a:graphicFrameLocks noGrp="1"/>
          </p:cNvGraphicFramePr>
          <p:nvPr/>
        </p:nvGraphicFramePr>
        <p:xfrm>
          <a:off x="493776" y="3930000"/>
          <a:ext cx="2662850" cy="2350000"/>
        </p:xfrm>
        <a:graphic>
          <a:graphicData uri="http://schemas.openxmlformats.org/drawingml/2006/chart">
            <c:chart xmlns:c="http://schemas.openxmlformats.org/drawingml/2006/chart" xmlns:r="http://schemas.openxmlformats.org/officeDocument/2006/relationships" r:id="rId4"/>
          </a:graphicData>
        </a:graphic>
      </p:graphicFrame>
      <p:sp>
        <p:nvSpPr>
          <p:cNvPr id="13" name="TextBox 12"/>
          <p:cNvSpPr txBox="1"/>
          <p:nvPr/>
        </p:nvSpPr>
        <p:spPr>
          <a:xfrm>
            <a:off x="3306626" y="3720000"/>
            <a:ext cx="2662850" cy="220000"/>
          </a:xfrm>
          <a:prstGeom prst="rect">
            <a:avLst/>
          </a:prstGeom>
          <a:noFill/>
        </p:spPr>
        <p:txBody>
          <a:bodyPr wrap="square" lIns="0" tIns="0" rIns="0" bIns="0" anchor="t">
            <a:spAutoFit/>
          </a:bodyPr>
          <a:lstStyle/>
          <a:p>
            <a:pPr algn="l"/>
            <a:r>
              <a:rPr sz="900" b="1">
                <a:solidFill>
                  <a:srgbClr val="2F3B3A"/>
                </a:solidFill>
                <a:latin typeface="Calibri"/>
              </a:rPr>
              <a:t>TEA promedio ponderado · </a:t>
            </a:r>
            <a:r>
              <a:rPr sz="900" b="1">
                <a:solidFill>
                  <a:srgbClr val="E5173F"/>
                </a:solidFill>
              </a:rPr>
              <a:t>&gt; 350K</a:t>
            </a:r>
          </a:p>
        </p:txBody>
      </p:sp>
      <p:graphicFrame>
        <p:nvGraphicFramePr>
          <p:cNvPr id="14" name="Chart 13"/>
          <p:cNvGraphicFramePr>
            <a:graphicFrameLocks noGrp="1"/>
          </p:cNvGraphicFramePr>
          <p:nvPr/>
        </p:nvGraphicFramePr>
        <p:xfrm>
          <a:off x="3306626" y="3930000"/>
          <a:ext cx="2662850" cy="2350000"/>
        </p:xfrm>
        <a:graphic>
          <a:graphicData uri="http://schemas.openxmlformats.org/drawingml/2006/chart">
            <c:chart xmlns:c="http://schemas.openxmlformats.org/drawingml/2006/chart" xmlns:r="http://schemas.openxmlformats.org/officeDocument/2006/relationships" r:id="rId5"/>
          </a:graphicData>
        </a:graphic>
      </p:graphicFrame>
      <p:sp>
        <p:nvSpPr>
          <p:cNvPr id="16" name="Rectangle 15"/>
          <p:cNvSpPr/>
          <p:nvPr/>
        </p:nvSpPr>
        <p:spPr>
          <a:xfrm>
            <a:off x="6219476" y="4140000"/>
            <a:ext cx="5475700" cy="2340000"/>
          </a:xfrm>
          <a:prstGeom prst="rect">
            <a:avLst/>
          </a:prstGeom>
          <a:solidFill>
            <a:srgbClr val="F1F6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219476" y="4140000"/>
            <a:ext cx="45000" cy="2340000"/>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93776" y="6380000"/>
            <a:ext cx="11201400" cy="300000"/>
          </a:xfrm>
          <a:prstGeom prst="rect">
            <a:avLst/>
          </a:prstGeom>
          <a:noFill/>
        </p:spPr>
        <p:txBody>
          <a:bodyPr wrap="square" lIns="0" tIns="0" rIns="0" bIns="0" anchor="t">
            <a:spAutoFit/>
          </a:bodyPr>
          <a:lstStyle/>
          <a:p>
            <a:pPr algn="l"/>
            <a:r>
              <a:rPr sz="700" b="0">
                <a:solidFill>
                  <a:srgbClr val="6E7E7D"/>
                </a:solidFill>
                <a:latin typeface="Calibri"/>
              </a:rPr>
              <a:t>2T26* = abr–may.</a:t>
            </a:r>
          </a:p>
        </p:txBody>
      </p:sp>
      <p:sp>
        <p:nvSpPr>
          <p:cNvPr id="20" name="TextBox 19"/>
          <p:cNvSpPr txBox="1"/>
          <p:nvPr/>
        </p:nvSpPr>
        <p:spPr>
          <a:xfrm>
            <a:off x="6219476" y="1120000"/>
            <a:ext cx="5475700" cy="200000"/>
          </a:xfrm>
          <a:prstGeom prst="rect">
            <a:avLst/>
          </a:prstGeom>
          <a:noFill/>
        </p:spPr>
        <p:txBody>
          <a:bodyPr wrap="square" lIns="0" tIns="0" rIns="0" bIns="0">
            <a:spAutoFit/>
          </a:bodyPr>
          <a:lstStyle/>
          <a:p>
            <a:pPr algn="l"/>
            <a:r>
              <a:rPr sz="1000" b="1">
                <a:solidFill>
                  <a:srgbClr val="2F3B3A"/>
                </a:solidFill>
                <a:latin typeface="Lato"/>
              </a:rPr>
              <a:t>TEA mediana ponderada por apertura · </a:t>
            </a:r>
            <a:r>
              <a:rPr sz="1000" b="1">
                <a:solidFill>
                  <a:srgbClr val="6E7E7D"/>
                </a:solidFill>
                <a:latin typeface="Lato"/>
              </a:rPr>
              <a:t>jul–dic 2025</a:t>
            </a:r>
          </a:p>
        </p:txBody>
      </p:sp>
      <p:graphicFrame>
        <p:nvGraphicFramePr>
          <p:cNvPr id="21" name="Chart 20"/>
          <p:cNvGraphicFramePr>
            <a:graphicFrameLocks noGrp="1"/>
          </p:cNvGraphicFramePr>
          <p:nvPr/>
        </p:nvGraphicFramePr>
        <p:xfrm>
          <a:off x="6219476" y="1265449"/>
          <a:ext cx="5475700" cy="1171679"/>
        </p:xfrm>
        <a:graphic>
          <a:graphicData uri="http://schemas.openxmlformats.org/drawingml/2006/chart">
            <c:chart xmlns:c="http://schemas.openxmlformats.org/drawingml/2006/chart" xmlns:r="http://schemas.openxmlformats.org/officeDocument/2006/relationships" r:id="rId6"/>
          </a:graphicData>
        </a:graphic>
      </p:graphicFrame>
      <p:sp>
        <p:nvSpPr>
          <p:cNvPr id="22" name="TextBox 21"/>
          <p:cNvSpPr txBox="1"/>
          <p:nvPr/>
        </p:nvSpPr>
        <p:spPr>
          <a:xfrm>
            <a:off x="6743158" y="2309052"/>
            <a:ext cx="1800000" cy="180000"/>
          </a:xfrm>
          <a:prstGeom prst="rect">
            <a:avLst/>
          </a:prstGeom>
          <a:noFill/>
        </p:spPr>
        <p:txBody>
          <a:bodyPr wrap="square" lIns="0" tIns="0" rIns="0" bIns="0">
            <a:spAutoFit/>
          </a:bodyPr>
          <a:lstStyle/>
          <a:p>
            <a:pPr algn="ctr"/>
            <a:r>
              <a:rPr sz="900" b="1">
                <a:solidFill>
                  <a:srgbClr val="13807B"/>
                </a:solidFill>
                <a:latin typeface="Lato"/>
              </a:rPr>
              <a:t>≤ 170K</a:t>
            </a:r>
          </a:p>
        </p:txBody>
      </p:sp>
      <p:sp>
        <p:nvSpPr>
          <p:cNvPr id="23" name="TextBox 22"/>
          <p:cNvSpPr txBox="1"/>
          <p:nvPr/>
        </p:nvSpPr>
        <p:spPr>
          <a:xfrm>
            <a:off x="8022806" y="1832300"/>
            <a:ext cx="700889" cy="452510"/>
          </a:xfrm>
          <a:prstGeom prst="rect">
            <a:avLst/>
          </a:prstGeom>
          <a:noFill/>
          <a:ln w="9525">
            <a:solidFill>
              <a:srgbClr val="F28C28"/>
            </a:solidFill>
            <a:prstDash val="dash"/>
          </a:ln>
        </p:spPr>
        <p:txBody>
          <a:bodyPr wrap="square" lIns="0" tIns="0" rIns="0" bIns="0" anchor="ctr">
            <a:spAutoFit/>
          </a:bodyPr>
          <a:lstStyle/>
          <a:p>
            <a:pPr algn="ctr"/>
            <a:r>
              <a:rPr sz="650" b="0">
                <a:solidFill>
                  <a:srgbClr val="F28C28"/>
                </a:solidFill>
                <a:latin typeface="Lato"/>
              </a:rPr>
              <a:t>Insuficiente materialidad para la tasa de la competencia</a:t>
            </a:r>
          </a:p>
        </p:txBody>
      </p:sp>
      <p:sp>
        <p:nvSpPr>
          <p:cNvPr id="24" name="TextBox 23"/>
          <p:cNvSpPr txBox="1"/>
          <p:nvPr/>
        </p:nvSpPr>
        <p:spPr>
          <a:xfrm>
            <a:off x="9371494" y="2309052"/>
            <a:ext cx="1800000" cy="180000"/>
          </a:xfrm>
          <a:prstGeom prst="rect">
            <a:avLst/>
          </a:prstGeom>
          <a:noFill/>
        </p:spPr>
        <p:txBody>
          <a:bodyPr wrap="square" lIns="0" tIns="0" rIns="0" bIns="0">
            <a:spAutoFit/>
          </a:bodyPr>
          <a:lstStyle/>
          <a:p>
            <a:pPr algn="ctr"/>
            <a:r>
              <a:rPr sz="900" b="1">
                <a:solidFill>
                  <a:srgbClr val="E5173F"/>
                </a:solidFill>
                <a:latin typeface="Lato"/>
              </a:rPr>
              <a:t>&gt; 350K</a:t>
            </a:r>
          </a:p>
        </p:txBody>
      </p:sp>
      <p:sp>
        <p:nvSpPr>
          <p:cNvPr id="25" name="TextBox 24"/>
          <p:cNvSpPr txBox="1"/>
          <p:nvPr/>
        </p:nvSpPr>
        <p:spPr>
          <a:xfrm>
            <a:off x="6219476" y="2606820"/>
            <a:ext cx="5475700" cy="200000"/>
          </a:xfrm>
          <a:prstGeom prst="rect">
            <a:avLst/>
          </a:prstGeom>
          <a:noFill/>
        </p:spPr>
        <p:txBody>
          <a:bodyPr wrap="square" lIns="0" tIns="0" rIns="0" bIns="0">
            <a:spAutoFit/>
          </a:bodyPr>
          <a:lstStyle/>
          <a:p>
            <a:pPr algn="l"/>
            <a:r>
              <a:rPr sz="1000" b="1">
                <a:solidFill>
                  <a:srgbClr val="2F3B3A"/>
                </a:solidFill>
                <a:latin typeface="Lato"/>
              </a:rPr>
              <a:t>TEA mediana ponderada por apertura · </a:t>
            </a:r>
            <a:r>
              <a:rPr sz="1000" b="1">
                <a:solidFill>
                  <a:srgbClr val="13807B"/>
                </a:solidFill>
                <a:latin typeface="Lato"/>
              </a:rPr>
              <a:t>ene–may 2026</a:t>
            </a:r>
          </a:p>
        </p:txBody>
      </p:sp>
      <p:graphicFrame>
        <p:nvGraphicFramePr>
          <p:cNvPr id="26" name="Chart 25"/>
          <p:cNvGraphicFramePr>
            <a:graphicFrameLocks noGrp="1"/>
          </p:cNvGraphicFramePr>
          <p:nvPr/>
        </p:nvGraphicFramePr>
        <p:xfrm>
          <a:off x="6219476" y="2752271"/>
          <a:ext cx="5475700" cy="969665"/>
        </p:xfrm>
        <a:graphic>
          <a:graphicData uri="http://schemas.openxmlformats.org/drawingml/2006/chart">
            <c:chart xmlns:c="http://schemas.openxmlformats.org/drawingml/2006/chart" xmlns:r="http://schemas.openxmlformats.org/officeDocument/2006/relationships" r:id="rId7"/>
          </a:graphicData>
        </a:graphic>
      </p:graphicFrame>
      <p:sp>
        <p:nvSpPr>
          <p:cNvPr id="27" name="TextBox 26"/>
          <p:cNvSpPr txBox="1"/>
          <p:nvPr/>
        </p:nvSpPr>
        <p:spPr>
          <a:xfrm>
            <a:off x="6743158" y="3610425"/>
            <a:ext cx="1800000" cy="180000"/>
          </a:xfrm>
          <a:prstGeom prst="rect">
            <a:avLst/>
          </a:prstGeom>
          <a:noFill/>
        </p:spPr>
        <p:txBody>
          <a:bodyPr wrap="square" lIns="0" tIns="0" rIns="0" bIns="0">
            <a:spAutoFit/>
          </a:bodyPr>
          <a:lstStyle/>
          <a:p>
            <a:pPr algn="ctr"/>
            <a:r>
              <a:rPr sz="900" b="1">
                <a:solidFill>
                  <a:srgbClr val="13807B"/>
                </a:solidFill>
                <a:latin typeface="Lato"/>
              </a:rPr>
              <a:t>≤ 170K</a:t>
            </a:r>
          </a:p>
        </p:txBody>
      </p:sp>
      <p:sp>
        <p:nvSpPr>
          <p:cNvPr id="28" name="TextBox 27"/>
          <p:cNvSpPr txBox="1"/>
          <p:nvPr/>
        </p:nvSpPr>
        <p:spPr>
          <a:xfrm>
            <a:off x="8022806" y="3069028"/>
            <a:ext cx="700889" cy="517155"/>
          </a:xfrm>
          <a:prstGeom prst="rect">
            <a:avLst/>
          </a:prstGeom>
          <a:noFill/>
          <a:ln w="9525">
            <a:solidFill>
              <a:srgbClr val="F28C28"/>
            </a:solidFill>
            <a:prstDash val="dash"/>
          </a:ln>
        </p:spPr>
        <p:txBody>
          <a:bodyPr wrap="square" lIns="0" tIns="0" rIns="0" bIns="0" anchor="ctr">
            <a:spAutoFit/>
          </a:bodyPr>
          <a:lstStyle/>
          <a:p>
            <a:pPr algn="ctr"/>
            <a:r>
              <a:rPr sz="650" b="0">
                <a:solidFill>
                  <a:srgbClr val="F28C28"/>
                </a:solidFill>
                <a:latin typeface="Lato"/>
              </a:rPr>
              <a:t>Insuficiente materialidad para la tasa de la competencia</a:t>
            </a:r>
          </a:p>
        </p:txBody>
      </p:sp>
      <p:sp>
        <p:nvSpPr>
          <p:cNvPr id="29" name="TextBox 28"/>
          <p:cNvSpPr txBox="1"/>
          <p:nvPr/>
        </p:nvSpPr>
        <p:spPr>
          <a:xfrm>
            <a:off x="9371494" y="3610425"/>
            <a:ext cx="1800000" cy="180000"/>
          </a:xfrm>
          <a:prstGeom prst="rect">
            <a:avLst/>
          </a:prstGeom>
          <a:noFill/>
        </p:spPr>
        <p:txBody>
          <a:bodyPr wrap="square" lIns="0" tIns="0" rIns="0" bIns="0">
            <a:spAutoFit/>
          </a:bodyPr>
          <a:lstStyle/>
          <a:p>
            <a:pPr algn="ctr"/>
            <a:r>
              <a:rPr sz="900" b="1">
                <a:solidFill>
                  <a:srgbClr val="E5173F"/>
                </a:solidFill>
                <a:latin typeface="Lato"/>
              </a:rPr>
              <a:t>&gt; 350K</a:t>
            </a:r>
          </a:p>
        </p:txBody>
      </p:sp>
      <p:sp>
        <p:nvSpPr>
          <p:cNvPr id="30" name="TextBox 29"/>
          <p:cNvSpPr txBox="1"/>
          <p:nvPr/>
        </p:nvSpPr>
        <p:spPr>
          <a:xfrm>
            <a:off x="6219476" y="3950000"/>
            <a:ext cx="5475700" cy="200000"/>
          </a:xfrm>
          <a:prstGeom prst="rect">
            <a:avLst/>
          </a:prstGeom>
          <a:noFill/>
        </p:spPr>
        <p:txBody>
          <a:bodyPr wrap="square" lIns="0" tIns="0" rIns="0" bIns="0">
            <a:spAutoFit/>
          </a:bodyPr>
          <a:lstStyle/>
          <a:p>
            <a:pPr algn="l"/>
            <a:r>
              <a:rPr sz="1000" b="1">
                <a:solidFill>
                  <a:srgbClr val="2F3B3A"/>
                </a:solidFill>
                <a:latin typeface="Lato"/>
              </a:rPr>
              <a:t>Insights</a:t>
            </a:r>
          </a:p>
        </p:txBody>
      </p:sp>
      <p:sp>
        <p:nvSpPr>
          <p:cNvPr id="31" name="TextBox 30"/>
          <p:cNvSpPr txBox="1"/>
          <p:nvPr/>
        </p:nvSpPr>
        <p:spPr>
          <a:xfrm>
            <a:off x="6369476" y="4190000"/>
            <a:ext cx="5225700" cy="2250000"/>
          </a:xfrm>
          <a:prstGeom prst="rect">
            <a:avLst/>
          </a:prstGeom>
          <a:noFill/>
        </p:spPr>
        <p:txBody>
          <a:bodyPr wrap="square" lIns="0" tIns="0" rIns="0" bIns="0">
            <a:spAutoFit/>
          </a:bodyPr>
          <a:lstStyle/>
          <a:p>
            <a:pPr algn="l"/>
            <a:r>
              <a:rPr sz="1000" b="1" dirty="0">
                <a:solidFill>
                  <a:srgbClr val="13807B"/>
                </a:solidFill>
                <a:latin typeface="Calibri"/>
              </a:rPr>
              <a:t>≤ 170K</a:t>
            </a:r>
            <a:r>
              <a:rPr sz="750" b="0" dirty="0">
                <a:solidFill>
                  <a:srgbClr val="6E7E7D"/>
                </a:solidFill>
                <a:latin typeface="Calibri"/>
              </a:rPr>
              <a:t>   share 89 → 78</a:t>
            </a:r>
          </a:p>
          <a:p>
            <a:pPr algn="l">
              <a:spcBef>
                <a:spcPts val="300"/>
              </a:spcBef>
            </a:pPr>
            <a:r>
              <a:rPr sz="750" b="1" dirty="0">
                <a:solidFill>
                  <a:srgbClr val="13807B"/>
                </a:solidFill>
                <a:latin typeface="Calibri"/>
              </a:rPr>
              <a:t>• </a:t>
            </a:r>
            <a:r>
              <a:rPr sz="750" b="0" dirty="0">
                <a:solidFill>
                  <a:srgbClr val="2F3B3A"/>
                </a:solidFill>
                <a:latin typeface="Calibri"/>
              </a:rPr>
              <a:t>Share alto, </a:t>
            </a:r>
            <a:r>
              <a:rPr sz="750" b="0" dirty="0" err="1">
                <a:solidFill>
                  <a:srgbClr val="2F3B3A"/>
                </a:solidFill>
                <a:latin typeface="Calibri"/>
              </a:rPr>
              <a:t>todavía</a:t>
            </a:r>
            <a:r>
              <a:rPr sz="750" b="0" dirty="0">
                <a:solidFill>
                  <a:srgbClr val="2F3B3A"/>
                </a:solidFill>
                <a:latin typeface="Calibri"/>
              </a:rPr>
              <a:t> </a:t>
            </a:r>
            <a:r>
              <a:rPr sz="750" b="0" dirty="0" err="1">
                <a:solidFill>
                  <a:srgbClr val="2F3B3A"/>
                </a:solidFill>
                <a:latin typeface="Calibri"/>
              </a:rPr>
              <a:t>sobre</a:t>
            </a:r>
            <a:r>
              <a:rPr sz="750" b="0" dirty="0">
                <a:solidFill>
                  <a:srgbClr val="2F3B3A"/>
                </a:solidFill>
                <a:latin typeface="Calibri"/>
              </a:rPr>
              <a:t> 70 </a:t>
            </a:r>
            <a:r>
              <a:rPr sz="750" b="0" dirty="0" err="1">
                <a:solidFill>
                  <a:srgbClr val="2F3B3A"/>
                </a:solidFill>
                <a:latin typeface="Calibri"/>
              </a:rPr>
              <a:t>aunque</a:t>
            </a:r>
            <a:r>
              <a:rPr sz="750" b="0" dirty="0">
                <a:solidFill>
                  <a:srgbClr val="2F3B3A"/>
                </a:solidFill>
                <a:latin typeface="Calibri"/>
              </a:rPr>
              <a:t> </a:t>
            </a:r>
            <a:r>
              <a:rPr sz="750" b="0" dirty="0" err="1">
                <a:solidFill>
                  <a:srgbClr val="2F3B3A"/>
                </a:solidFill>
                <a:latin typeface="Calibri"/>
              </a:rPr>
              <a:t>bajó</a:t>
            </a:r>
            <a:r>
              <a:rPr sz="750" b="0" dirty="0">
                <a:solidFill>
                  <a:srgbClr val="2F3B3A"/>
                </a:solidFill>
                <a:latin typeface="Calibri"/>
              </a:rPr>
              <a:t> el </a:t>
            </a:r>
            <a:r>
              <a:rPr sz="750" b="0" dirty="0" err="1">
                <a:solidFill>
                  <a:srgbClr val="2F3B3A"/>
                </a:solidFill>
                <a:latin typeface="Calibri"/>
              </a:rPr>
              <a:t>último</a:t>
            </a:r>
            <a:r>
              <a:rPr sz="750" b="0" dirty="0">
                <a:solidFill>
                  <a:srgbClr val="2F3B3A"/>
                </a:solidFill>
                <a:latin typeface="Calibri"/>
              </a:rPr>
              <a:t> </a:t>
            </a:r>
            <a:r>
              <a:rPr sz="750" b="0" dirty="0" err="1">
                <a:solidFill>
                  <a:srgbClr val="2F3B3A"/>
                </a:solidFill>
                <a:latin typeface="Calibri"/>
              </a:rPr>
              <a:t>trimestre</a:t>
            </a:r>
            <a:endParaRPr sz="850" b="0" dirty="0">
              <a:solidFill>
                <a:srgbClr val="2F3B3A"/>
              </a:solidFill>
              <a:latin typeface="Calibri"/>
            </a:endParaRPr>
          </a:p>
          <a:p>
            <a:pPr algn="l">
              <a:spcBef>
                <a:spcPts val="300"/>
              </a:spcBef>
            </a:pPr>
            <a:r>
              <a:rPr sz="750" b="1" dirty="0">
                <a:solidFill>
                  <a:srgbClr val="13807B"/>
                </a:solidFill>
                <a:latin typeface="Calibri"/>
              </a:rPr>
              <a:t>• </a:t>
            </a:r>
            <a:r>
              <a:rPr sz="750" b="0" dirty="0">
                <a:solidFill>
                  <a:srgbClr val="2F3B3A"/>
                </a:solidFill>
                <a:latin typeface="Calibri"/>
              </a:rPr>
              <a:t>La </a:t>
            </a:r>
            <a:r>
              <a:rPr sz="750" b="0" dirty="0" err="1">
                <a:solidFill>
                  <a:srgbClr val="2F3B3A"/>
                </a:solidFill>
                <a:latin typeface="Calibri"/>
              </a:rPr>
              <a:t>brecha</a:t>
            </a:r>
            <a:r>
              <a:rPr sz="750" b="0" dirty="0">
                <a:solidFill>
                  <a:srgbClr val="2F3B3A"/>
                </a:solidFill>
                <a:latin typeface="Calibri"/>
              </a:rPr>
              <a:t> entre la </a:t>
            </a:r>
            <a:r>
              <a:rPr sz="750" b="0" dirty="0" err="1">
                <a:solidFill>
                  <a:srgbClr val="2F3B3A"/>
                </a:solidFill>
                <a:latin typeface="Calibri"/>
              </a:rPr>
              <a:t>tasa</a:t>
            </a:r>
            <a:r>
              <a:rPr sz="750" b="0" dirty="0">
                <a:solidFill>
                  <a:srgbClr val="2F3B3A"/>
                </a:solidFill>
                <a:latin typeface="Calibri"/>
              </a:rPr>
              <a:t> </a:t>
            </a:r>
            <a:r>
              <a:rPr sz="750" b="0" dirty="0" err="1">
                <a:solidFill>
                  <a:srgbClr val="2F3B3A"/>
                </a:solidFill>
                <a:latin typeface="Calibri"/>
              </a:rPr>
              <a:t>ofertada</a:t>
            </a:r>
            <a:r>
              <a:rPr sz="750" b="0" dirty="0">
                <a:solidFill>
                  <a:srgbClr val="2F3B3A"/>
                </a:solidFill>
                <a:latin typeface="Calibri"/>
              </a:rPr>
              <a:t> y la </a:t>
            </a:r>
            <a:r>
              <a:rPr sz="750" b="0" dirty="0" err="1">
                <a:solidFill>
                  <a:srgbClr val="2F3B3A"/>
                </a:solidFill>
                <a:latin typeface="Calibri"/>
              </a:rPr>
              <a:t>desembolsada</a:t>
            </a:r>
            <a:r>
              <a:rPr sz="750" b="0" dirty="0">
                <a:solidFill>
                  <a:srgbClr val="2F3B3A"/>
                </a:solidFill>
                <a:latin typeface="Calibri"/>
              </a:rPr>
              <a:t> se </a:t>
            </a:r>
            <a:r>
              <a:rPr sz="750" b="0" dirty="0" err="1">
                <a:solidFill>
                  <a:srgbClr val="2F3B3A"/>
                </a:solidFill>
                <a:latin typeface="Calibri"/>
              </a:rPr>
              <a:t>mantuvo</a:t>
            </a:r>
            <a:r>
              <a:rPr sz="750" b="0" dirty="0">
                <a:solidFill>
                  <a:srgbClr val="2F3B3A"/>
                </a:solidFill>
                <a:latin typeface="Calibri"/>
              </a:rPr>
              <a:t> </a:t>
            </a:r>
            <a:r>
              <a:rPr sz="750" b="0" dirty="0" err="1">
                <a:solidFill>
                  <a:srgbClr val="2F3B3A"/>
                </a:solidFill>
                <a:latin typeface="Calibri"/>
              </a:rPr>
              <a:t>estable</a:t>
            </a:r>
            <a:r>
              <a:rPr sz="750" b="0" dirty="0">
                <a:solidFill>
                  <a:srgbClr val="2F3B3A"/>
                </a:solidFill>
                <a:latin typeface="Calibri"/>
              </a:rPr>
              <a:t> y se </a:t>
            </a:r>
            <a:r>
              <a:rPr sz="750" b="0" dirty="0" err="1">
                <a:solidFill>
                  <a:srgbClr val="2F3B3A"/>
                </a:solidFill>
                <a:latin typeface="Calibri"/>
              </a:rPr>
              <a:t>redujo</a:t>
            </a:r>
            <a:r>
              <a:rPr sz="750" b="0" dirty="0">
                <a:solidFill>
                  <a:srgbClr val="2F3B3A"/>
                </a:solidFill>
                <a:latin typeface="Calibri"/>
              </a:rPr>
              <a:t> de forma </a:t>
            </a:r>
            <a:r>
              <a:rPr sz="750" b="0" dirty="0" err="1">
                <a:solidFill>
                  <a:srgbClr val="2F3B3A"/>
                </a:solidFill>
                <a:latin typeface="Calibri"/>
              </a:rPr>
              <a:t>abrupta</a:t>
            </a:r>
            <a:r>
              <a:rPr sz="750" b="0" dirty="0">
                <a:solidFill>
                  <a:srgbClr val="2F3B3A"/>
                </a:solidFill>
                <a:latin typeface="Calibri"/>
              </a:rPr>
              <a:t> el </a:t>
            </a:r>
            <a:r>
              <a:rPr sz="750" b="0" dirty="0" err="1">
                <a:solidFill>
                  <a:srgbClr val="2F3B3A"/>
                </a:solidFill>
                <a:latin typeface="Calibri"/>
              </a:rPr>
              <a:t>último</a:t>
            </a:r>
            <a:r>
              <a:rPr sz="750" b="0" dirty="0">
                <a:solidFill>
                  <a:srgbClr val="2F3B3A"/>
                </a:solidFill>
                <a:latin typeface="Calibri"/>
              </a:rPr>
              <a:t> </a:t>
            </a:r>
            <a:r>
              <a:rPr sz="750" b="0" dirty="0" err="1">
                <a:solidFill>
                  <a:srgbClr val="2F3B3A"/>
                </a:solidFill>
                <a:latin typeface="Calibri"/>
              </a:rPr>
              <a:t>trimestre</a:t>
            </a:r>
            <a:r>
              <a:rPr sz="750" b="0" dirty="0">
                <a:solidFill>
                  <a:srgbClr val="2F3B3A"/>
                </a:solidFill>
                <a:latin typeface="Calibri"/>
              </a:rPr>
              <a:t>, </a:t>
            </a:r>
            <a:r>
              <a:rPr sz="750" b="0" dirty="0" err="1">
                <a:solidFill>
                  <a:srgbClr val="2F3B3A"/>
                </a:solidFill>
                <a:latin typeface="Calibri"/>
              </a:rPr>
              <a:t>cuando</a:t>
            </a:r>
            <a:r>
              <a:rPr sz="750" b="0" dirty="0">
                <a:solidFill>
                  <a:srgbClr val="2F3B3A"/>
                </a:solidFill>
                <a:latin typeface="Calibri"/>
              </a:rPr>
              <a:t> el </a:t>
            </a:r>
            <a:r>
              <a:rPr sz="750" b="0" dirty="0" err="1">
                <a:solidFill>
                  <a:srgbClr val="2F3B3A"/>
                </a:solidFill>
                <a:latin typeface="Calibri"/>
              </a:rPr>
              <a:t>desembolso</a:t>
            </a:r>
            <a:r>
              <a:rPr sz="750" b="0" dirty="0">
                <a:solidFill>
                  <a:srgbClr val="2F3B3A"/>
                </a:solidFill>
                <a:latin typeface="Calibri"/>
              </a:rPr>
              <a:t> </a:t>
            </a:r>
            <a:r>
              <a:rPr sz="750" b="0" dirty="0" err="1">
                <a:solidFill>
                  <a:srgbClr val="2F3B3A"/>
                </a:solidFill>
                <a:latin typeface="Calibri"/>
              </a:rPr>
              <a:t>subió</a:t>
            </a:r>
            <a:r>
              <a:rPr sz="750" b="0" dirty="0">
                <a:solidFill>
                  <a:srgbClr val="2F3B3A"/>
                </a:solidFill>
                <a:latin typeface="Calibri"/>
              </a:rPr>
              <a:t> 170 pbs</a:t>
            </a:r>
            <a:r>
              <a:rPr lang="es-ES" sz="750" b="0" dirty="0">
                <a:solidFill>
                  <a:srgbClr val="2F3B3A"/>
                </a:solidFill>
                <a:latin typeface="Calibri"/>
              </a:rPr>
              <a:t>, y el share cayó, pero se mantiene en niveles altos</a:t>
            </a:r>
            <a:endParaRPr sz="850" b="0" dirty="0">
              <a:solidFill>
                <a:srgbClr val="2F3B3A"/>
              </a:solidFill>
              <a:latin typeface="Calibri"/>
            </a:endParaRPr>
          </a:p>
          <a:p>
            <a:pPr algn="l">
              <a:spcBef>
                <a:spcPts val="300"/>
              </a:spcBef>
            </a:pPr>
            <a:r>
              <a:rPr sz="750" b="1" dirty="0" err="1">
                <a:solidFill>
                  <a:srgbClr val="13807B"/>
                </a:solidFill>
                <a:latin typeface="Calibri"/>
              </a:rPr>
              <a:t>Estrategia</a:t>
            </a:r>
            <a:r>
              <a:rPr sz="750" b="1" dirty="0">
                <a:solidFill>
                  <a:srgbClr val="13807B"/>
                </a:solidFill>
                <a:latin typeface="Calibri"/>
              </a:rPr>
              <a:t> de </a:t>
            </a:r>
            <a:r>
              <a:rPr sz="750" b="1" dirty="0" err="1">
                <a:solidFill>
                  <a:srgbClr val="13807B"/>
                </a:solidFill>
                <a:latin typeface="Calibri"/>
              </a:rPr>
              <a:t>pilotos</a:t>
            </a:r>
            <a:r>
              <a:rPr sz="750" b="1" dirty="0">
                <a:solidFill>
                  <a:srgbClr val="13807B"/>
                </a:solidFill>
                <a:latin typeface="Calibri"/>
              </a:rPr>
              <a:t>: </a:t>
            </a:r>
            <a:r>
              <a:rPr sz="750" b="1" dirty="0">
                <a:solidFill>
                  <a:srgbClr val="2F3B3A"/>
                </a:solidFill>
                <a:latin typeface="Calibri"/>
              </a:rPr>
              <a:t>Subir</a:t>
            </a:r>
            <a:r>
              <a:rPr lang="es-ES" sz="750" b="1" dirty="0">
                <a:solidFill>
                  <a:srgbClr val="2F3B3A"/>
                </a:solidFill>
                <a:latin typeface="Calibri"/>
              </a:rPr>
              <a:t> precio</a:t>
            </a:r>
            <a:r>
              <a:rPr sz="750" b="1" dirty="0">
                <a:solidFill>
                  <a:srgbClr val="2F3B3A"/>
                </a:solidFill>
                <a:latin typeface="Calibri"/>
              </a:rPr>
              <a:t> de forma </a:t>
            </a:r>
            <a:r>
              <a:rPr sz="750" b="1" dirty="0" err="1">
                <a:solidFill>
                  <a:srgbClr val="2F3B3A"/>
                </a:solidFill>
                <a:latin typeface="Calibri"/>
              </a:rPr>
              <a:t>acotada</a:t>
            </a:r>
            <a:r>
              <a:rPr sz="750" b="1" dirty="0">
                <a:solidFill>
                  <a:srgbClr val="2F3B3A"/>
                </a:solidFill>
                <a:latin typeface="Calibri"/>
              </a:rPr>
              <a:t>, </a:t>
            </a:r>
            <a:r>
              <a:rPr sz="750" b="1" dirty="0" err="1">
                <a:solidFill>
                  <a:srgbClr val="2F3B3A"/>
                </a:solidFill>
                <a:latin typeface="Calibri"/>
              </a:rPr>
              <a:t>monitoreando</a:t>
            </a:r>
            <a:r>
              <a:rPr sz="750" b="1" dirty="0">
                <a:solidFill>
                  <a:srgbClr val="2F3B3A"/>
                </a:solidFill>
                <a:latin typeface="Calibri"/>
              </a:rPr>
              <a:t> </a:t>
            </a:r>
            <a:r>
              <a:rPr sz="750" b="1" dirty="0" err="1">
                <a:solidFill>
                  <a:srgbClr val="2F3B3A"/>
                </a:solidFill>
                <a:latin typeface="Calibri"/>
              </a:rPr>
              <a:t>que</a:t>
            </a:r>
            <a:r>
              <a:rPr sz="750" b="1" dirty="0">
                <a:solidFill>
                  <a:srgbClr val="2F3B3A"/>
                </a:solidFill>
                <a:latin typeface="Calibri"/>
              </a:rPr>
              <a:t> el share no </a:t>
            </a:r>
            <a:r>
              <a:rPr sz="750" b="1" dirty="0" err="1">
                <a:solidFill>
                  <a:srgbClr val="2F3B3A"/>
                </a:solidFill>
                <a:latin typeface="Calibri"/>
              </a:rPr>
              <a:t>baje</a:t>
            </a:r>
            <a:r>
              <a:rPr sz="750" b="1" dirty="0">
                <a:solidFill>
                  <a:srgbClr val="2F3B3A"/>
                </a:solidFill>
                <a:latin typeface="Calibri"/>
              </a:rPr>
              <a:t> de 70</a:t>
            </a:r>
          </a:p>
          <a:p>
            <a:pPr algn="l">
              <a:spcBef>
                <a:spcPts val="300"/>
              </a:spcBef>
            </a:pPr>
            <a:r>
              <a:rPr sz="400" b="0" dirty="0">
                <a:solidFill>
                  <a:srgbClr val="2F3B3A"/>
                </a:solidFill>
                <a:latin typeface="Calibri"/>
              </a:rPr>
              <a:t> </a:t>
            </a:r>
          </a:p>
          <a:p>
            <a:pPr algn="l">
              <a:spcBef>
                <a:spcPts val="300"/>
              </a:spcBef>
            </a:pPr>
            <a:r>
              <a:rPr sz="1000" b="1" dirty="0">
                <a:solidFill>
                  <a:srgbClr val="E5173F"/>
                </a:solidFill>
                <a:latin typeface="Calibri"/>
              </a:rPr>
              <a:t>&gt; 350K</a:t>
            </a:r>
            <a:r>
              <a:rPr sz="750" b="0" dirty="0">
                <a:solidFill>
                  <a:srgbClr val="6E7E7D"/>
                </a:solidFill>
                <a:latin typeface="Calibri"/>
              </a:rPr>
              <a:t>   share 79 → 41</a:t>
            </a:r>
          </a:p>
          <a:p>
            <a:pPr algn="l">
              <a:spcBef>
                <a:spcPts val="300"/>
              </a:spcBef>
            </a:pPr>
            <a:r>
              <a:rPr sz="750" b="1" dirty="0">
                <a:solidFill>
                  <a:srgbClr val="13807B"/>
                </a:solidFill>
                <a:latin typeface="Calibri"/>
              </a:rPr>
              <a:t>• </a:t>
            </a:r>
            <a:r>
              <a:rPr sz="750" b="0" dirty="0" err="1">
                <a:solidFill>
                  <a:srgbClr val="2F3B3A"/>
                </a:solidFill>
                <a:latin typeface="Calibri"/>
              </a:rPr>
              <a:t>Caída</a:t>
            </a:r>
            <a:r>
              <a:rPr sz="750" b="0" dirty="0">
                <a:solidFill>
                  <a:srgbClr val="2F3B3A"/>
                </a:solidFill>
                <a:latin typeface="Calibri"/>
              </a:rPr>
              <a:t> </a:t>
            </a:r>
            <a:r>
              <a:rPr sz="750" b="0" dirty="0" err="1">
                <a:solidFill>
                  <a:srgbClr val="2F3B3A"/>
                </a:solidFill>
                <a:latin typeface="Calibri"/>
              </a:rPr>
              <a:t>abrupta</a:t>
            </a:r>
            <a:r>
              <a:rPr sz="750" b="0" dirty="0">
                <a:solidFill>
                  <a:srgbClr val="2F3B3A"/>
                </a:solidFill>
                <a:latin typeface="Calibri"/>
              </a:rPr>
              <a:t> del share </a:t>
            </a:r>
            <a:r>
              <a:rPr sz="750" b="0" dirty="0" err="1">
                <a:solidFill>
                  <a:srgbClr val="2F3B3A"/>
                </a:solidFill>
                <a:latin typeface="Calibri"/>
              </a:rPr>
              <a:t>en</a:t>
            </a:r>
            <a:r>
              <a:rPr sz="750" b="0" dirty="0">
                <a:solidFill>
                  <a:srgbClr val="2F3B3A"/>
                </a:solidFill>
                <a:latin typeface="Calibri"/>
              </a:rPr>
              <a:t> </a:t>
            </a:r>
            <a:r>
              <a:rPr sz="750" b="0" dirty="0" err="1">
                <a:solidFill>
                  <a:srgbClr val="2F3B3A"/>
                </a:solidFill>
                <a:latin typeface="Calibri"/>
              </a:rPr>
              <a:t>todo</a:t>
            </a:r>
            <a:r>
              <a:rPr sz="750" b="0" dirty="0">
                <a:solidFill>
                  <a:srgbClr val="2F3B3A"/>
                </a:solidFill>
                <a:latin typeface="Calibri"/>
              </a:rPr>
              <a:t> el </a:t>
            </a:r>
            <a:r>
              <a:rPr sz="750" b="0" dirty="0" err="1">
                <a:solidFill>
                  <a:srgbClr val="2F3B3A"/>
                </a:solidFill>
                <a:latin typeface="Calibri"/>
              </a:rPr>
              <a:t>periodo</a:t>
            </a:r>
            <a:endParaRPr sz="850" b="0" dirty="0">
              <a:solidFill>
                <a:srgbClr val="2F3B3A"/>
              </a:solidFill>
              <a:latin typeface="Calibri"/>
            </a:endParaRPr>
          </a:p>
          <a:p>
            <a:pPr algn="l">
              <a:spcBef>
                <a:spcPts val="300"/>
              </a:spcBef>
            </a:pPr>
            <a:r>
              <a:rPr sz="750" b="1" dirty="0">
                <a:solidFill>
                  <a:srgbClr val="13807B"/>
                </a:solidFill>
                <a:latin typeface="Calibri"/>
              </a:rPr>
              <a:t>• </a:t>
            </a:r>
            <a:r>
              <a:rPr sz="750" b="0" dirty="0">
                <a:solidFill>
                  <a:srgbClr val="2F3B3A"/>
                </a:solidFill>
                <a:latin typeface="Calibri"/>
              </a:rPr>
              <a:t>La </a:t>
            </a:r>
            <a:r>
              <a:rPr sz="750" b="0" dirty="0" err="1">
                <a:solidFill>
                  <a:srgbClr val="2F3B3A"/>
                </a:solidFill>
                <a:latin typeface="Calibri"/>
              </a:rPr>
              <a:t>brecha</a:t>
            </a:r>
            <a:r>
              <a:rPr sz="750" b="0" dirty="0">
                <a:solidFill>
                  <a:srgbClr val="2F3B3A"/>
                </a:solidFill>
                <a:latin typeface="Calibri"/>
              </a:rPr>
              <a:t> entre la </a:t>
            </a:r>
            <a:r>
              <a:rPr sz="750" b="0" dirty="0" err="1">
                <a:solidFill>
                  <a:srgbClr val="2F3B3A"/>
                </a:solidFill>
                <a:latin typeface="Calibri"/>
              </a:rPr>
              <a:t>tasa</a:t>
            </a:r>
            <a:r>
              <a:rPr sz="750" b="0" dirty="0">
                <a:solidFill>
                  <a:srgbClr val="2F3B3A"/>
                </a:solidFill>
                <a:latin typeface="Calibri"/>
              </a:rPr>
              <a:t> </a:t>
            </a:r>
            <a:r>
              <a:rPr sz="750" b="0" dirty="0" err="1">
                <a:solidFill>
                  <a:srgbClr val="2F3B3A"/>
                </a:solidFill>
                <a:latin typeface="Calibri"/>
              </a:rPr>
              <a:t>ofertada</a:t>
            </a:r>
            <a:r>
              <a:rPr sz="750" b="0" dirty="0">
                <a:solidFill>
                  <a:srgbClr val="2F3B3A"/>
                </a:solidFill>
                <a:latin typeface="Calibri"/>
              </a:rPr>
              <a:t> y la </a:t>
            </a:r>
            <a:r>
              <a:rPr sz="750" b="0" dirty="0" err="1">
                <a:solidFill>
                  <a:srgbClr val="2F3B3A"/>
                </a:solidFill>
                <a:latin typeface="Calibri"/>
              </a:rPr>
              <a:t>desembolsada</a:t>
            </a:r>
            <a:r>
              <a:rPr sz="750" b="0" dirty="0">
                <a:solidFill>
                  <a:srgbClr val="2F3B3A"/>
                </a:solidFill>
                <a:latin typeface="Calibri"/>
              </a:rPr>
              <a:t> se reduce </a:t>
            </a:r>
            <a:r>
              <a:rPr sz="750" b="0" dirty="0" err="1">
                <a:solidFill>
                  <a:srgbClr val="2F3B3A"/>
                </a:solidFill>
                <a:latin typeface="Calibri"/>
              </a:rPr>
              <a:t>en</a:t>
            </a:r>
            <a:r>
              <a:rPr sz="750" b="0" dirty="0">
                <a:solidFill>
                  <a:srgbClr val="2F3B3A"/>
                </a:solidFill>
                <a:latin typeface="Calibri"/>
              </a:rPr>
              <a:t> el </a:t>
            </a:r>
            <a:r>
              <a:rPr sz="750" b="0" dirty="0" err="1">
                <a:solidFill>
                  <a:srgbClr val="2F3B3A"/>
                </a:solidFill>
                <a:latin typeface="Calibri"/>
              </a:rPr>
              <a:t>tiempo</a:t>
            </a:r>
            <a:r>
              <a:rPr sz="750" b="0" dirty="0">
                <a:solidFill>
                  <a:srgbClr val="2F3B3A"/>
                </a:solidFill>
                <a:latin typeface="Calibri"/>
              </a:rPr>
              <a:t> </a:t>
            </a:r>
            <a:r>
              <a:rPr sz="750" b="0" dirty="0" err="1">
                <a:solidFill>
                  <a:srgbClr val="2F3B3A"/>
                </a:solidFill>
                <a:latin typeface="Calibri"/>
              </a:rPr>
              <a:t>porque</a:t>
            </a:r>
            <a:r>
              <a:rPr sz="750" b="0" dirty="0">
                <a:solidFill>
                  <a:srgbClr val="2F3B3A"/>
                </a:solidFill>
                <a:latin typeface="Calibri"/>
              </a:rPr>
              <a:t> </a:t>
            </a:r>
            <a:r>
              <a:rPr sz="750" b="0" dirty="0" err="1">
                <a:solidFill>
                  <a:srgbClr val="2F3B3A"/>
                </a:solidFill>
                <a:latin typeface="Calibri"/>
              </a:rPr>
              <a:t>bajamos</a:t>
            </a:r>
            <a:r>
              <a:rPr sz="750" b="0" dirty="0">
                <a:solidFill>
                  <a:srgbClr val="2F3B3A"/>
                </a:solidFill>
                <a:latin typeface="Calibri"/>
              </a:rPr>
              <a:t> la </a:t>
            </a:r>
            <a:r>
              <a:rPr sz="750" b="0" dirty="0" err="1">
                <a:solidFill>
                  <a:srgbClr val="2F3B3A"/>
                </a:solidFill>
                <a:latin typeface="Calibri"/>
              </a:rPr>
              <a:t>oferta</a:t>
            </a:r>
            <a:r>
              <a:rPr sz="750" b="0" dirty="0">
                <a:solidFill>
                  <a:srgbClr val="2F3B3A"/>
                </a:solidFill>
                <a:latin typeface="Calibri"/>
              </a:rPr>
              <a:t>, con un </a:t>
            </a:r>
            <a:r>
              <a:rPr sz="750" b="0" dirty="0" err="1">
                <a:solidFill>
                  <a:srgbClr val="2F3B3A"/>
                </a:solidFill>
                <a:latin typeface="Calibri"/>
              </a:rPr>
              <a:t>desembolso</a:t>
            </a:r>
            <a:r>
              <a:rPr sz="750" b="0" dirty="0">
                <a:solidFill>
                  <a:srgbClr val="2F3B3A"/>
                </a:solidFill>
                <a:latin typeface="Calibri"/>
              </a:rPr>
              <a:t> </a:t>
            </a:r>
            <a:r>
              <a:rPr sz="750" b="0" dirty="0" err="1">
                <a:solidFill>
                  <a:srgbClr val="2F3B3A"/>
                </a:solidFill>
                <a:latin typeface="Calibri"/>
              </a:rPr>
              <a:t>casi</a:t>
            </a:r>
            <a:r>
              <a:rPr sz="750" b="0" dirty="0">
                <a:solidFill>
                  <a:srgbClr val="2F3B3A"/>
                </a:solidFill>
                <a:latin typeface="Calibri"/>
              </a:rPr>
              <a:t> </a:t>
            </a:r>
            <a:r>
              <a:rPr sz="750" b="0" dirty="0" err="1">
                <a:solidFill>
                  <a:srgbClr val="2F3B3A"/>
                </a:solidFill>
                <a:latin typeface="Calibri"/>
              </a:rPr>
              <a:t>estable</a:t>
            </a:r>
            <a:endParaRPr sz="850" b="0" dirty="0">
              <a:solidFill>
                <a:srgbClr val="2F3B3A"/>
              </a:solidFill>
              <a:latin typeface="Calibri"/>
            </a:endParaRPr>
          </a:p>
          <a:p>
            <a:pPr algn="l">
              <a:spcBef>
                <a:spcPts val="300"/>
              </a:spcBef>
            </a:pPr>
            <a:r>
              <a:rPr sz="750" b="1" dirty="0">
                <a:solidFill>
                  <a:srgbClr val="13807B"/>
                </a:solidFill>
                <a:latin typeface="Calibri"/>
              </a:rPr>
              <a:t>• </a:t>
            </a:r>
            <a:r>
              <a:rPr sz="750" b="0" dirty="0">
                <a:solidFill>
                  <a:srgbClr val="2F3B3A"/>
                </a:solidFill>
                <a:latin typeface="Calibri"/>
              </a:rPr>
              <a:t>En 2025 la competencia cobraba en línea con nuestro desembolso. En 2026 bajó su tasa mientras nuestro desembolso se mantuvo, y el share siguió cayendo</a:t>
            </a:r>
            <a:endParaRPr sz="850" b="0" dirty="0">
              <a:solidFill>
                <a:srgbClr val="2F3B3A"/>
              </a:solidFill>
              <a:latin typeface="Calibri"/>
            </a:endParaRPr>
          </a:p>
          <a:p>
            <a:pPr algn="l">
              <a:spcBef>
                <a:spcPts val="300"/>
              </a:spcBef>
            </a:pPr>
            <a:r>
              <a:rPr sz="750" b="1" dirty="0" err="1">
                <a:solidFill>
                  <a:srgbClr val="13807B"/>
                </a:solidFill>
                <a:latin typeface="Calibri"/>
              </a:rPr>
              <a:t>Estrategia</a:t>
            </a:r>
            <a:r>
              <a:rPr sz="750" b="1" dirty="0">
                <a:solidFill>
                  <a:srgbClr val="13807B"/>
                </a:solidFill>
                <a:latin typeface="Calibri"/>
              </a:rPr>
              <a:t> de </a:t>
            </a:r>
            <a:r>
              <a:rPr sz="750" b="1" dirty="0" err="1">
                <a:solidFill>
                  <a:srgbClr val="13807B"/>
                </a:solidFill>
                <a:latin typeface="Calibri"/>
              </a:rPr>
              <a:t>pilotos</a:t>
            </a:r>
            <a:r>
              <a:rPr sz="750" b="1" dirty="0">
                <a:solidFill>
                  <a:srgbClr val="13807B"/>
                </a:solidFill>
                <a:latin typeface="Calibri"/>
              </a:rPr>
              <a:t>: </a:t>
            </a:r>
            <a:r>
              <a:rPr sz="750" b="1" dirty="0">
                <a:solidFill>
                  <a:srgbClr val="2F3B3A"/>
                </a:solidFill>
                <a:latin typeface="Calibri"/>
              </a:rPr>
              <a:t>Bajar </a:t>
            </a:r>
            <a:r>
              <a:rPr lang="es-ES" sz="750" b="1" dirty="0">
                <a:solidFill>
                  <a:srgbClr val="2F3B3A"/>
                </a:solidFill>
                <a:latin typeface="Calibri"/>
              </a:rPr>
              <a:t>precio </a:t>
            </a:r>
            <a:r>
              <a:rPr sz="750" b="1" dirty="0">
                <a:solidFill>
                  <a:srgbClr val="2F3B3A"/>
                </a:solidFill>
                <a:latin typeface="Calibri"/>
              </a:rPr>
              <a:t>de forma </a:t>
            </a:r>
            <a:r>
              <a:rPr sz="750" b="1" dirty="0" err="1">
                <a:solidFill>
                  <a:srgbClr val="2F3B3A"/>
                </a:solidFill>
                <a:latin typeface="Calibri"/>
              </a:rPr>
              <a:t>acotada</a:t>
            </a:r>
            <a:endParaRPr sz="850" b="1" dirty="0">
              <a:solidFill>
                <a:srgbClr val="2F3B3A"/>
              </a:solidFill>
              <a:latin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93777" y="246888"/>
            <a:ext cx="8963570" cy="109710"/>
          </a:xfrm>
          <a:prstGeom prst="rect">
            <a:avLst/>
          </a:prstGeom>
          <a:noFill/>
        </p:spPr>
        <p:txBody>
          <a:bodyPr wrap="square" lIns="0" tIns="0" rIns="0" bIns="0" anchor="t">
            <a:spAutoFit/>
          </a:bodyPr>
          <a:lstStyle/>
          <a:p>
            <a:pPr algn="l"/>
            <a:r>
              <a:rPr sz="800" b="1">
                <a:solidFill>
                  <a:srgbClr val="6E7E7D"/>
                </a:solidFill>
                <a:latin typeface="Calibri"/>
              </a:rPr>
              <a:t>SHARE Y TASA POR SEGMENTO · MADURO MULTIBANCO · MEDIANOS POR FIDELIZAR · SOW 24%</a:t>
            </a:r>
          </a:p>
        </p:txBody>
      </p:sp>
      <p:sp>
        <p:nvSpPr>
          <p:cNvPr id="3" name="TextBox 2"/>
          <p:cNvSpPr txBox="1"/>
          <p:nvPr/>
        </p:nvSpPr>
        <p:spPr>
          <a:xfrm>
            <a:off x="493776" y="425196"/>
            <a:ext cx="10312923" cy="482568"/>
          </a:xfrm>
          <a:prstGeom prst="rect">
            <a:avLst/>
          </a:prstGeom>
          <a:noFill/>
        </p:spPr>
        <p:txBody>
          <a:bodyPr wrap="square" lIns="0" tIns="0" rIns="0" bIns="0" anchor="t">
            <a:spAutoFit/>
          </a:bodyPr>
          <a:lstStyle/>
          <a:p>
            <a:pPr algn="l"/>
            <a:r>
              <a:rPr sz="1600" b="1">
                <a:solidFill>
                  <a:srgbClr val="13807B"/>
                </a:solidFill>
                <a:latin typeface="Poppins"/>
              </a:rPr>
              <a:t>Maduro Multibanco necesita tasas más competitivas en sus dos tramos para frenar la caída del share</a:t>
            </a:r>
          </a:p>
        </p:txBody>
      </p:sp>
      <p:cxnSp>
        <p:nvCxnSpPr>
          <p:cNvPr id="4" name="Connector 3"/>
          <p:cNvCxnSpPr/>
          <p:nvPr/>
        </p:nvCxnSpPr>
        <p:spPr>
          <a:xfrm>
            <a:off x="493776" y="1049274"/>
            <a:ext cx="11204463" cy="0"/>
          </a:xfrm>
          <a:prstGeom prst="line">
            <a:avLst/>
          </a:prstGeom>
          <a:ln w="12700">
            <a:solidFill>
              <a:srgbClr val="D5DFDE"/>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93776" y="1120000"/>
            <a:ext cx="5475700" cy="220000"/>
          </a:xfrm>
          <a:prstGeom prst="rect">
            <a:avLst/>
          </a:prstGeom>
          <a:noFill/>
        </p:spPr>
        <p:txBody>
          <a:bodyPr wrap="square" lIns="0" tIns="0" rIns="0" bIns="0" anchor="t">
            <a:spAutoFit/>
          </a:bodyPr>
          <a:lstStyle/>
          <a:p>
            <a:pPr algn="l"/>
            <a:r>
              <a:rPr sz="1000" b="1">
                <a:solidFill>
                  <a:srgbClr val="2F3B3A"/>
                </a:solidFill>
                <a:latin typeface="Calibri"/>
              </a:rPr>
              <a:t>Share relevante por trimestre (%) · </a:t>
            </a:r>
            <a:r>
              <a:rPr sz="1000" b="1">
                <a:solidFill>
                  <a:srgbClr val="13807B"/>
                </a:solidFill>
              </a:rPr>
              <a:t>tramos por monto ofertado</a:t>
            </a:r>
          </a:p>
        </p:txBody>
      </p:sp>
      <p:graphicFrame>
        <p:nvGraphicFramePr>
          <p:cNvPr id="7" name="Chart 6"/>
          <p:cNvGraphicFramePr>
            <a:graphicFrameLocks noGrp="1"/>
          </p:cNvGraphicFramePr>
          <p:nvPr/>
        </p:nvGraphicFramePr>
        <p:xfrm>
          <a:off x="493776" y="1330000"/>
          <a:ext cx="5475700" cy="2250000"/>
        </p:xfrm>
        <a:graphic>
          <a:graphicData uri="http://schemas.openxmlformats.org/drawingml/2006/chart">
            <c:chart xmlns:c="http://schemas.openxmlformats.org/drawingml/2006/chart" xmlns:r="http://schemas.openxmlformats.org/officeDocument/2006/relationships" r:id="rId2"/>
          </a:graphicData>
        </a:graphic>
      </p:graphicFrame>
      <p:sp>
        <p:nvSpPr>
          <p:cNvPr id="10" name="TextBox 9"/>
          <p:cNvSpPr txBox="1"/>
          <p:nvPr/>
        </p:nvSpPr>
        <p:spPr>
          <a:xfrm>
            <a:off x="3306626" y="3720000"/>
            <a:ext cx="2662850" cy="220000"/>
          </a:xfrm>
          <a:prstGeom prst="rect">
            <a:avLst/>
          </a:prstGeom>
          <a:noFill/>
        </p:spPr>
        <p:txBody>
          <a:bodyPr wrap="square" lIns="0" tIns="0" rIns="0" bIns="0" anchor="t">
            <a:spAutoFit/>
          </a:bodyPr>
          <a:lstStyle/>
          <a:p>
            <a:pPr algn="l"/>
            <a:r>
              <a:rPr sz="900" b="1">
                <a:solidFill>
                  <a:srgbClr val="2F3B3A"/>
                </a:solidFill>
                <a:latin typeface="Calibri"/>
              </a:rPr>
              <a:t>TEA promedio ponderado · </a:t>
            </a:r>
            <a:r>
              <a:rPr sz="900" b="1">
                <a:solidFill>
                  <a:srgbClr val="E5173F"/>
                </a:solidFill>
              </a:rPr>
              <a:t>&gt; 350K</a:t>
            </a:r>
          </a:p>
        </p:txBody>
      </p:sp>
      <p:graphicFrame>
        <p:nvGraphicFramePr>
          <p:cNvPr id="11" name="Chart 10"/>
          <p:cNvGraphicFramePr>
            <a:graphicFrameLocks noGrp="1"/>
          </p:cNvGraphicFramePr>
          <p:nvPr/>
        </p:nvGraphicFramePr>
        <p:xfrm>
          <a:off x="3306626" y="3930000"/>
          <a:ext cx="2662850" cy="2350000"/>
        </p:xfrm>
        <a:graphic>
          <a:graphicData uri="http://schemas.openxmlformats.org/drawingml/2006/chart">
            <c:chart xmlns:c="http://schemas.openxmlformats.org/drawingml/2006/chart" xmlns:r="http://schemas.openxmlformats.org/officeDocument/2006/relationships" r:id="rId3"/>
          </a:graphicData>
        </a:graphic>
      </p:graphicFrame>
      <p:sp>
        <p:nvSpPr>
          <p:cNvPr id="12" name="TextBox 11"/>
          <p:cNvSpPr txBox="1"/>
          <p:nvPr/>
        </p:nvSpPr>
        <p:spPr>
          <a:xfrm>
            <a:off x="493776" y="3720000"/>
            <a:ext cx="2662850" cy="220000"/>
          </a:xfrm>
          <a:prstGeom prst="rect">
            <a:avLst/>
          </a:prstGeom>
          <a:noFill/>
        </p:spPr>
        <p:txBody>
          <a:bodyPr wrap="square" lIns="0" tIns="0" rIns="0" bIns="0" anchor="t">
            <a:spAutoFit/>
          </a:bodyPr>
          <a:lstStyle/>
          <a:p>
            <a:pPr algn="l"/>
            <a:r>
              <a:rPr sz="900" b="1">
                <a:solidFill>
                  <a:srgbClr val="2F3B3A"/>
                </a:solidFill>
                <a:latin typeface="Calibri"/>
              </a:rPr>
              <a:t>TEA promedio ponderado · </a:t>
            </a:r>
            <a:r>
              <a:rPr sz="900" b="1">
                <a:solidFill>
                  <a:srgbClr val="13807B"/>
                </a:solidFill>
              </a:rPr>
              <a:t>250–350K</a:t>
            </a:r>
          </a:p>
        </p:txBody>
      </p:sp>
      <p:graphicFrame>
        <p:nvGraphicFramePr>
          <p:cNvPr id="13" name="Chart 12"/>
          <p:cNvGraphicFramePr>
            <a:graphicFrameLocks noGrp="1"/>
          </p:cNvGraphicFramePr>
          <p:nvPr/>
        </p:nvGraphicFramePr>
        <p:xfrm>
          <a:off x="493776" y="3930000"/>
          <a:ext cx="2662850" cy="2350000"/>
        </p:xfrm>
        <a:graphic>
          <a:graphicData uri="http://schemas.openxmlformats.org/drawingml/2006/chart">
            <c:chart xmlns:c="http://schemas.openxmlformats.org/drawingml/2006/chart" xmlns:r="http://schemas.openxmlformats.org/officeDocument/2006/relationships" r:id="rId4"/>
          </a:graphicData>
        </a:graphic>
      </p:graphicFrame>
      <p:sp>
        <p:nvSpPr>
          <p:cNvPr id="15" name="Rectangle 14"/>
          <p:cNvSpPr/>
          <p:nvPr/>
        </p:nvSpPr>
        <p:spPr>
          <a:xfrm>
            <a:off x="6219476" y="4140000"/>
            <a:ext cx="5475700" cy="2340000"/>
          </a:xfrm>
          <a:prstGeom prst="rect">
            <a:avLst/>
          </a:prstGeom>
          <a:solidFill>
            <a:srgbClr val="F1F6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219476" y="4140000"/>
            <a:ext cx="45000" cy="2340000"/>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93776" y="6380000"/>
            <a:ext cx="11201400" cy="300000"/>
          </a:xfrm>
          <a:prstGeom prst="rect">
            <a:avLst/>
          </a:prstGeom>
          <a:noFill/>
        </p:spPr>
        <p:txBody>
          <a:bodyPr wrap="square" lIns="0" tIns="0" rIns="0" bIns="0" anchor="t">
            <a:spAutoFit/>
          </a:bodyPr>
          <a:lstStyle/>
          <a:p>
            <a:pPr algn="l"/>
            <a:r>
              <a:rPr sz="700" b="0">
                <a:solidFill>
                  <a:srgbClr val="6E7E7D"/>
                </a:solidFill>
                <a:latin typeface="Calibri"/>
              </a:rPr>
              <a:t>2T26* = abr–may.</a:t>
            </a:r>
          </a:p>
        </p:txBody>
      </p:sp>
      <p:sp>
        <p:nvSpPr>
          <p:cNvPr id="19" name="TextBox 18"/>
          <p:cNvSpPr txBox="1"/>
          <p:nvPr/>
        </p:nvSpPr>
        <p:spPr>
          <a:xfrm>
            <a:off x="6219476" y="1120000"/>
            <a:ext cx="5475700" cy="200000"/>
          </a:xfrm>
          <a:prstGeom prst="rect">
            <a:avLst/>
          </a:prstGeom>
          <a:noFill/>
        </p:spPr>
        <p:txBody>
          <a:bodyPr wrap="square" lIns="0" tIns="0" rIns="0" bIns="0">
            <a:spAutoFit/>
          </a:bodyPr>
          <a:lstStyle/>
          <a:p>
            <a:pPr algn="l"/>
            <a:r>
              <a:rPr sz="1000" b="1">
                <a:solidFill>
                  <a:srgbClr val="2F3B3A"/>
                </a:solidFill>
                <a:latin typeface="Lato"/>
              </a:rPr>
              <a:t>TEA mediana ponderada por apertura · </a:t>
            </a:r>
            <a:r>
              <a:rPr sz="1000" b="1">
                <a:solidFill>
                  <a:srgbClr val="6E7E7D"/>
                </a:solidFill>
                <a:latin typeface="Lato"/>
              </a:rPr>
              <a:t>jul–dic 2025</a:t>
            </a:r>
          </a:p>
        </p:txBody>
      </p:sp>
      <p:graphicFrame>
        <p:nvGraphicFramePr>
          <p:cNvPr id="20" name="Chart 19"/>
          <p:cNvGraphicFramePr>
            <a:graphicFrameLocks noGrp="1"/>
          </p:cNvGraphicFramePr>
          <p:nvPr/>
        </p:nvGraphicFramePr>
        <p:xfrm>
          <a:off x="6219476" y="1265449"/>
          <a:ext cx="5475700" cy="1171679"/>
        </p:xfrm>
        <a:graphic>
          <a:graphicData uri="http://schemas.openxmlformats.org/drawingml/2006/chart">
            <c:chart xmlns:c="http://schemas.openxmlformats.org/drawingml/2006/chart" xmlns:r="http://schemas.openxmlformats.org/officeDocument/2006/relationships" r:id="rId5"/>
          </a:graphicData>
        </a:graphic>
      </p:graphicFrame>
      <p:sp>
        <p:nvSpPr>
          <p:cNvPr id="21" name="TextBox 20"/>
          <p:cNvSpPr txBox="1"/>
          <p:nvPr/>
        </p:nvSpPr>
        <p:spPr>
          <a:xfrm>
            <a:off x="6743158" y="2309052"/>
            <a:ext cx="1800000" cy="180000"/>
          </a:xfrm>
          <a:prstGeom prst="rect">
            <a:avLst/>
          </a:prstGeom>
          <a:noFill/>
        </p:spPr>
        <p:txBody>
          <a:bodyPr wrap="square" lIns="0" tIns="0" rIns="0" bIns="0">
            <a:spAutoFit/>
          </a:bodyPr>
          <a:lstStyle/>
          <a:p>
            <a:pPr algn="ctr"/>
            <a:r>
              <a:rPr sz="900" b="1">
                <a:solidFill>
                  <a:srgbClr val="13807B"/>
                </a:solidFill>
                <a:latin typeface="Lato"/>
              </a:rPr>
              <a:t>250–350K</a:t>
            </a:r>
          </a:p>
        </p:txBody>
      </p:sp>
      <p:sp>
        <p:nvSpPr>
          <p:cNvPr id="22" name="TextBox 21"/>
          <p:cNvSpPr txBox="1"/>
          <p:nvPr/>
        </p:nvSpPr>
        <p:spPr>
          <a:xfrm>
            <a:off x="9371494" y="2309052"/>
            <a:ext cx="1800000" cy="180000"/>
          </a:xfrm>
          <a:prstGeom prst="rect">
            <a:avLst/>
          </a:prstGeom>
          <a:noFill/>
        </p:spPr>
        <p:txBody>
          <a:bodyPr wrap="square" lIns="0" tIns="0" rIns="0" bIns="0">
            <a:spAutoFit/>
          </a:bodyPr>
          <a:lstStyle/>
          <a:p>
            <a:pPr algn="ctr"/>
            <a:r>
              <a:rPr sz="900" b="1">
                <a:solidFill>
                  <a:srgbClr val="E5173F"/>
                </a:solidFill>
                <a:latin typeface="Lato"/>
              </a:rPr>
              <a:t>&gt; 350K</a:t>
            </a:r>
          </a:p>
        </p:txBody>
      </p:sp>
      <p:sp>
        <p:nvSpPr>
          <p:cNvPr id="23" name="TextBox 22"/>
          <p:cNvSpPr txBox="1"/>
          <p:nvPr/>
        </p:nvSpPr>
        <p:spPr>
          <a:xfrm>
            <a:off x="6219476" y="2606820"/>
            <a:ext cx="5475700" cy="200000"/>
          </a:xfrm>
          <a:prstGeom prst="rect">
            <a:avLst/>
          </a:prstGeom>
          <a:noFill/>
        </p:spPr>
        <p:txBody>
          <a:bodyPr wrap="square" lIns="0" tIns="0" rIns="0" bIns="0">
            <a:spAutoFit/>
          </a:bodyPr>
          <a:lstStyle/>
          <a:p>
            <a:pPr algn="l"/>
            <a:r>
              <a:rPr sz="1000" b="1">
                <a:solidFill>
                  <a:srgbClr val="2F3B3A"/>
                </a:solidFill>
                <a:latin typeface="Lato"/>
              </a:rPr>
              <a:t>TEA mediana ponderada por apertura · </a:t>
            </a:r>
            <a:r>
              <a:rPr sz="1000" b="1">
                <a:solidFill>
                  <a:srgbClr val="13807B"/>
                </a:solidFill>
                <a:latin typeface="Lato"/>
              </a:rPr>
              <a:t>ene–may 2026</a:t>
            </a:r>
          </a:p>
        </p:txBody>
      </p:sp>
      <p:graphicFrame>
        <p:nvGraphicFramePr>
          <p:cNvPr id="24" name="Chart 23"/>
          <p:cNvGraphicFramePr>
            <a:graphicFrameLocks noGrp="1"/>
          </p:cNvGraphicFramePr>
          <p:nvPr/>
        </p:nvGraphicFramePr>
        <p:xfrm>
          <a:off x="6219476" y="2752271"/>
          <a:ext cx="5475700" cy="969665"/>
        </p:xfrm>
        <a:graphic>
          <a:graphicData uri="http://schemas.openxmlformats.org/drawingml/2006/chart">
            <c:chart xmlns:c="http://schemas.openxmlformats.org/drawingml/2006/chart" xmlns:r="http://schemas.openxmlformats.org/officeDocument/2006/relationships" r:id="rId6"/>
          </a:graphicData>
        </a:graphic>
      </p:graphicFrame>
      <p:sp>
        <p:nvSpPr>
          <p:cNvPr id="25" name="TextBox 24"/>
          <p:cNvSpPr txBox="1"/>
          <p:nvPr/>
        </p:nvSpPr>
        <p:spPr>
          <a:xfrm>
            <a:off x="6743158" y="3610425"/>
            <a:ext cx="1800000" cy="180000"/>
          </a:xfrm>
          <a:prstGeom prst="rect">
            <a:avLst/>
          </a:prstGeom>
          <a:noFill/>
        </p:spPr>
        <p:txBody>
          <a:bodyPr wrap="square" lIns="0" tIns="0" rIns="0" bIns="0">
            <a:spAutoFit/>
          </a:bodyPr>
          <a:lstStyle/>
          <a:p>
            <a:pPr algn="ctr"/>
            <a:r>
              <a:rPr sz="900" b="1">
                <a:solidFill>
                  <a:srgbClr val="13807B"/>
                </a:solidFill>
                <a:latin typeface="Lato"/>
              </a:rPr>
              <a:t>250–350K</a:t>
            </a:r>
          </a:p>
        </p:txBody>
      </p:sp>
      <p:sp>
        <p:nvSpPr>
          <p:cNvPr id="26" name="TextBox 25"/>
          <p:cNvSpPr txBox="1"/>
          <p:nvPr/>
        </p:nvSpPr>
        <p:spPr>
          <a:xfrm>
            <a:off x="9371494" y="3610425"/>
            <a:ext cx="1800000" cy="180000"/>
          </a:xfrm>
          <a:prstGeom prst="rect">
            <a:avLst/>
          </a:prstGeom>
          <a:noFill/>
        </p:spPr>
        <p:txBody>
          <a:bodyPr wrap="square" lIns="0" tIns="0" rIns="0" bIns="0">
            <a:spAutoFit/>
          </a:bodyPr>
          <a:lstStyle/>
          <a:p>
            <a:pPr algn="ctr"/>
            <a:r>
              <a:rPr sz="900" b="1">
                <a:solidFill>
                  <a:srgbClr val="E5173F"/>
                </a:solidFill>
                <a:latin typeface="Lato"/>
              </a:rPr>
              <a:t>&gt; 350K</a:t>
            </a:r>
          </a:p>
        </p:txBody>
      </p:sp>
      <p:sp>
        <p:nvSpPr>
          <p:cNvPr id="27" name="TextBox 26"/>
          <p:cNvSpPr txBox="1"/>
          <p:nvPr/>
        </p:nvSpPr>
        <p:spPr>
          <a:xfrm>
            <a:off x="6219476" y="3950000"/>
            <a:ext cx="5475700" cy="200000"/>
          </a:xfrm>
          <a:prstGeom prst="rect">
            <a:avLst/>
          </a:prstGeom>
          <a:noFill/>
        </p:spPr>
        <p:txBody>
          <a:bodyPr wrap="square" lIns="0" tIns="0" rIns="0" bIns="0">
            <a:spAutoFit/>
          </a:bodyPr>
          <a:lstStyle/>
          <a:p>
            <a:pPr algn="l"/>
            <a:r>
              <a:rPr sz="1000" b="1">
                <a:solidFill>
                  <a:srgbClr val="2F3B3A"/>
                </a:solidFill>
                <a:latin typeface="Lato"/>
              </a:rPr>
              <a:t>Insights</a:t>
            </a:r>
          </a:p>
        </p:txBody>
      </p:sp>
      <p:sp>
        <p:nvSpPr>
          <p:cNvPr id="28" name="TextBox 27"/>
          <p:cNvSpPr txBox="1"/>
          <p:nvPr/>
        </p:nvSpPr>
        <p:spPr>
          <a:xfrm>
            <a:off x="6369476" y="4190000"/>
            <a:ext cx="5225700" cy="2250000"/>
          </a:xfrm>
          <a:prstGeom prst="rect">
            <a:avLst/>
          </a:prstGeom>
          <a:noFill/>
        </p:spPr>
        <p:txBody>
          <a:bodyPr wrap="square" lIns="0" tIns="0" rIns="0" bIns="0">
            <a:spAutoFit/>
          </a:bodyPr>
          <a:lstStyle/>
          <a:p>
            <a:pPr algn="l">
              <a:spcBef>
                <a:spcPts val="300"/>
              </a:spcBef>
            </a:pPr>
            <a:r>
              <a:rPr sz="1000" b="1" dirty="0">
                <a:solidFill>
                  <a:srgbClr val="13807B"/>
                </a:solidFill>
                <a:latin typeface="Calibri"/>
              </a:rPr>
              <a:t>250–350K</a:t>
            </a:r>
            <a:r>
              <a:rPr sz="750" b="0" dirty="0">
                <a:solidFill>
                  <a:srgbClr val="6E7E7D"/>
                </a:solidFill>
                <a:latin typeface="Calibri"/>
              </a:rPr>
              <a:t>   share 62 → 25</a:t>
            </a:r>
          </a:p>
          <a:p>
            <a:pPr algn="l">
              <a:spcBef>
                <a:spcPts val="300"/>
              </a:spcBef>
            </a:pPr>
            <a:r>
              <a:rPr sz="750" b="1" dirty="0">
                <a:solidFill>
                  <a:srgbClr val="13807B"/>
                </a:solidFill>
                <a:latin typeface="Calibri"/>
              </a:rPr>
              <a:t>• </a:t>
            </a:r>
            <a:r>
              <a:rPr sz="750" b="0" dirty="0" err="1">
                <a:solidFill>
                  <a:srgbClr val="2F3B3A"/>
                </a:solidFill>
                <a:latin typeface="Calibri"/>
              </a:rPr>
              <a:t>Caída</a:t>
            </a:r>
            <a:r>
              <a:rPr sz="750" b="0" dirty="0">
                <a:solidFill>
                  <a:srgbClr val="2F3B3A"/>
                </a:solidFill>
                <a:latin typeface="Calibri"/>
              </a:rPr>
              <a:t> </a:t>
            </a:r>
            <a:r>
              <a:rPr sz="750" b="0" dirty="0" err="1">
                <a:solidFill>
                  <a:srgbClr val="2F3B3A"/>
                </a:solidFill>
                <a:latin typeface="Calibri"/>
              </a:rPr>
              <a:t>abrupta</a:t>
            </a:r>
            <a:r>
              <a:rPr sz="750" b="0" dirty="0">
                <a:solidFill>
                  <a:srgbClr val="2F3B3A"/>
                </a:solidFill>
                <a:latin typeface="Calibri"/>
              </a:rPr>
              <a:t> del share </a:t>
            </a:r>
            <a:r>
              <a:rPr sz="750" b="0" dirty="0" err="1">
                <a:solidFill>
                  <a:srgbClr val="2F3B3A"/>
                </a:solidFill>
                <a:latin typeface="Calibri"/>
              </a:rPr>
              <a:t>en</a:t>
            </a:r>
            <a:r>
              <a:rPr sz="750" b="0" dirty="0">
                <a:solidFill>
                  <a:srgbClr val="2F3B3A"/>
                </a:solidFill>
                <a:latin typeface="Calibri"/>
              </a:rPr>
              <a:t> 4T25 y </a:t>
            </a:r>
            <a:r>
              <a:rPr sz="750" b="0" dirty="0" err="1">
                <a:solidFill>
                  <a:srgbClr val="2F3B3A"/>
                </a:solidFill>
                <a:latin typeface="Calibri"/>
              </a:rPr>
              <a:t>una</a:t>
            </a:r>
            <a:r>
              <a:rPr sz="750" b="0" dirty="0">
                <a:solidFill>
                  <a:srgbClr val="2F3B3A"/>
                </a:solidFill>
                <a:latin typeface="Calibri"/>
              </a:rPr>
              <a:t> </a:t>
            </a:r>
            <a:r>
              <a:rPr sz="750" b="0" dirty="0" err="1">
                <a:solidFill>
                  <a:srgbClr val="2F3B3A"/>
                </a:solidFill>
                <a:latin typeface="Calibri"/>
              </a:rPr>
              <a:t>leve</a:t>
            </a:r>
            <a:r>
              <a:rPr sz="750" b="0" dirty="0">
                <a:solidFill>
                  <a:srgbClr val="2F3B3A"/>
                </a:solidFill>
                <a:latin typeface="Calibri"/>
              </a:rPr>
              <a:t> </a:t>
            </a:r>
            <a:r>
              <a:rPr sz="750" b="0" dirty="0" err="1">
                <a:solidFill>
                  <a:srgbClr val="2F3B3A"/>
                </a:solidFill>
                <a:latin typeface="Calibri"/>
              </a:rPr>
              <a:t>recuperación</a:t>
            </a:r>
            <a:r>
              <a:rPr sz="750" b="0" dirty="0">
                <a:solidFill>
                  <a:srgbClr val="2F3B3A"/>
                </a:solidFill>
                <a:latin typeface="Calibri"/>
              </a:rPr>
              <a:t> el </a:t>
            </a:r>
            <a:r>
              <a:rPr sz="750" b="0" dirty="0" err="1">
                <a:solidFill>
                  <a:srgbClr val="2F3B3A"/>
                </a:solidFill>
                <a:latin typeface="Calibri"/>
              </a:rPr>
              <a:t>último</a:t>
            </a:r>
            <a:r>
              <a:rPr sz="750" b="0" dirty="0">
                <a:solidFill>
                  <a:srgbClr val="2F3B3A"/>
                </a:solidFill>
                <a:latin typeface="Calibri"/>
              </a:rPr>
              <a:t> </a:t>
            </a:r>
            <a:r>
              <a:rPr sz="750" b="0" dirty="0" err="1">
                <a:solidFill>
                  <a:srgbClr val="2F3B3A"/>
                </a:solidFill>
                <a:latin typeface="Calibri"/>
              </a:rPr>
              <a:t>trimestre</a:t>
            </a:r>
            <a:endParaRPr sz="850" b="0" dirty="0">
              <a:solidFill>
                <a:srgbClr val="2F3B3A"/>
              </a:solidFill>
              <a:latin typeface="Calibri"/>
            </a:endParaRPr>
          </a:p>
          <a:p>
            <a:pPr algn="l">
              <a:spcBef>
                <a:spcPts val="300"/>
              </a:spcBef>
            </a:pPr>
            <a:r>
              <a:rPr sz="750" b="1" dirty="0">
                <a:solidFill>
                  <a:srgbClr val="13807B"/>
                </a:solidFill>
                <a:latin typeface="Calibri"/>
              </a:rPr>
              <a:t>• </a:t>
            </a:r>
            <a:r>
              <a:rPr sz="750" b="0" dirty="0">
                <a:solidFill>
                  <a:srgbClr val="2F3B3A"/>
                </a:solidFill>
                <a:latin typeface="Calibri"/>
              </a:rPr>
              <a:t>La </a:t>
            </a:r>
            <a:r>
              <a:rPr sz="750" b="0" dirty="0" err="1">
                <a:solidFill>
                  <a:srgbClr val="2F3B3A"/>
                </a:solidFill>
                <a:latin typeface="Calibri"/>
              </a:rPr>
              <a:t>tasa</a:t>
            </a:r>
            <a:r>
              <a:rPr sz="750" b="0" dirty="0">
                <a:solidFill>
                  <a:srgbClr val="2F3B3A"/>
                </a:solidFill>
                <a:latin typeface="Calibri"/>
              </a:rPr>
              <a:t> </a:t>
            </a:r>
            <a:r>
              <a:rPr sz="750" b="0" dirty="0" err="1">
                <a:solidFill>
                  <a:srgbClr val="2F3B3A"/>
                </a:solidFill>
                <a:latin typeface="Calibri"/>
              </a:rPr>
              <a:t>desembolsada</a:t>
            </a:r>
            <a:r>
              <a:rPr sz="750" b="0" dirty="0">
                <a:solidFill>
                  <a:srgbClr val="2F3B3A"/>
                </a:solidFill>
                <a:latin typeface="Calibri"/>
              </a:rPr>
              <a:t> </a:t>
            </a:r>
            <a:r>
              <a:rPr sz="750" b="0" dirty="0" err="1">
                <a:solidFill>
                  <a:srgbClr val="2F3B3A"/>
                </a:solidFill>
                <a:latin typeface="Calibri"/>
              </a:rPr>
              <a:t>bajó</a:t>
            </a:r>
            <a:r>
              <a:rPr sz="750" b="0" dirty="0">
                <a:solidFill>
                  <a:srgbClr val="2F3B3A"/>
                </a:solidFill>
                <a:latin typeface="Calibri"/>
              </a:rPr>
              <a:t> de forma </a:t>
            </a:r>
            <a:r>
              <a:rPr sz="750" b="0" dirty="0" err="1">
                <a:solidFill>
                  <a:srgbClr val="2F3B3A"/>
                </a:solidFill>
                <a:latin typeface="Calibri"/>
              </a:rPr>
              <a:t>constante</a:t>
            </a:r>
            <a:r>
              <a:rPr sz="750" b="0" dirty="0">
                <a:solidFill>
                  <a:srgbClr val="2F3B3A"/>
                </a:solidFill>
                <a:latin typeface="Calibri"/>
              </a:rPr>
              <a:t>, de 17,9% a 16,6%, y </a:t>
            </a:r>
            <a:r>
              <a:rPr sz="750" b="0" dirty="0" err="1">
                <a:solidFill>
                  <a:srgbClr val="2F3B3A"/>
                </a:solidFill>
                <a:latin typeface="Calibri"/>
              </a:rPr>
              <a:t>recién</a:t>
            </a:r>
            <a:r>
              <a:rPr sz="750" b="0" dirty="0">
                <a:solidFill>
                  <a:srgbClr val="2F3B3A"/>
                </a:solidFill>
                <a:latin typeface="Calibri"/>
              </a:rPr>
              <a:t> al </a:t>
            </a:r>
            <a:r>
              <a:rPr sz="750" b="0" dirty="0" err="1">
                <a:solidFill>
                  <a:srgbClr val="2F3B3A"/>
                </a:solidFill>
                <a:latin typeface="Calibri"/>
              </a:rPr>
              <a:t>llegar</a:t>
            </a:r>
            <a:r>
              <a:rPr sz="750" b="0" dirty="0">
                <a:solidFill>
                  <a:srgbClr val="2F3B3A"/>
                </a:solidFill>
                <a:latin typeface="Calibri"/>
              </a:rPr>
              <a:t> a </a:t>
            </a:r>
            <a:r>
              <a:rPr sz="750" b="0" dirty="0" err="1">
                <a:solidFill>
                  <a:srgbClr val="2F3B3A"/>
                </a:solidFill>
                <a:latin typeface="Calibri"/>
              </a:rPr>
              <a:t>niveles</a:t>
            </a:r>
            <a:r>
              <a:rPr sz="750" b="0" dirty="0">
                <a:solidFill>
                  <a:srgbClr val="2F3B3A"/>
                </a:solidFill>
                <a:latin typeface="Calibri"/>
              </a:rPr>
              <a:t> </a:t>
            </a:r>
            <a:r>
              <a:rPr lang="es-ES" sz="750" b="0" dirty="0">
                <a:solidFill>
                  <a:srgbClr val="2F3B3A"/>
                </a:solidFill>
                <a:latin typeface="Calibri"/>
              </a:rPr>
              <a:t>cercanos a los</a:t>
            </a:r>
            <a:r>
              <a:rPr sz="750" b="0" dirty="0">
                <a:solidFill>
                  <a:srgbClr val="2F3B3A"/>
                </a:solidFill>
                <a:latin typeface="Calibri"/>
              </a:rPr>
              <a:t> </a:t>
            </a:r>
            <a:r>
              <a:rPr sz="750" b="0" dirty="0" err="1">
                <a:solidFill>
                  <a:srgbClr val="2F3B3A"/>
                </a:solidFill>
                <a:latin typeface="Calibri"/>
              </a:rPr>
              <a:t>competitivos</a:t>
            </a:r>
            <a:r>
              <a:rPr sz="750" b="0" dirty="0">
                <a:solidFill>
                  <a:srgbClr val="2F3B3A"/>
                </a:solidFill>
                <a:latin typeface="Calibri"/>
              </a:rPr>
              <a:t> el share </a:t>
            </a:r>
            <a:r>
              <a:rPr sz="750" b="0" dirty="0" err="1">
                <a:solidFill>
                  <a:srgbClr val="2F3B3A"/>
                </a:solidFill>
                <a:latin typeface="Calibri"/>
              </a:rPr>
              <a:t>empieza</a:t>
            </a:r>
            <a:r>
              <a:rPr sz="750" b="0" dirty="0">
                <a:solidFill>
                  <a:srgbClr val="2F3B3A"/>
                </a:solidFill>
                <a:latin typeface="Calibri"/>
              </a:rPr>
              <a:t> a responder</a:t>
            </a:r>
          </a:p>
          <a:p>
            <a:pPr algn="l">
              <a:spcBef>
                <a:spcPts val="300"/>
              </a:spcBef>
            </a:pPr>
            <a:r>
              <a:rPr sz="750" b="1" dirty="0">
                <a:solidFill>
                  <a:srgbClr val="13807B"/>
                </a:solidFill>
                <a:latin typeface="Calibri"/>
              </a:rPr>
              <a:t>• </a:t>
            </a:r>
            <a:r>
              <a:rPr sz="750" b="0" dirty="0" err="1">
                <a:solidFill>
                  <a:srgbClr val="2F3B3A"/>
                </a:solidFill>
                <a:latin typeface="Calibri"/>
              </a:rPr>
              <a:t>En 2025 la competencia cobraba en línea con nuestro desembolso. En 2026 bajó su tasa y pasó a ser más competitiva, y el share cayó porque nuestra baja no alcanzó</a:t>
            </a:r>
            <a:endParaRPr sz="850" b="0" dirty="0">
              <a:solidFill>
                <a:srgbClr val="2F3B3A"/>
              </a:solidFill>
              <a:latin typeface="Calibri"/>
            </a:endParaRPr>
          </a:p>
          <a:p>
            <a:pPr>
              <a:spcBef>
                <a:spcPts val="300"/>
              </a:spcBef>
            </a:pPr>
            <a:r>
              <a:rPr sz="750" b="1" dirty="0" err="1">
                <a:solidFill>
                  <a:srgbClr val="13807B"/>
                </a:solidFill>
                <a:latin typeface="Calibri"/>
              </a:rPr>
              <a:t>Estrategia</a:t>
            </a:r>
            <a:r>
              <a:rPr sz="750" b="1" dirty="0">
                <a:solidFill>
                  <a:srgbClr val="13807B"/>
                </a:solidFill>
                <a:latin typeface="Calibri"/>
              </a:rPr>
              <a:t> de </a:t>
            </a:r>
            <a:r>
              <a:rPr sz="750" b="1" dirty="0" err="1">
                <a:solidFill>
                  <a:srgbClr val="13807B"/>
                </a:solidFill>
                <a:latin typeface="Calibri"/>
              </a:rPr>
              <a:t>pilotos</a:t>
            </a:r>
            <a:r>
              <a:rPr sz="750" b="1" dirty="0">
                <a:solidFill>
                  <a:srgbClr val="13807B"/>
                </a:solidFill>
                <a:latin typeface="Calibri"/>
              </a:rPr>
              <a:t>: </a:t>
            </a:r>
            <a:r>
              <a:rPr lang="es-ES" sz="750" b="1" dirty="0">
                <a:solidFill>
                  <a:srgbClr val="2F3B3A"/>
                </a:solidFill>
              </a:rPr>
              <a:t>Bajar precio a uno más competitivo</a:t>
            </a:r>
            <a:endParaRPr sz="850" b="1" dirty="0">
              <a:solidFill>
                <a:srgbClr val="2F3B3A"/>
              </a:solidFill>
              <a:latin typeface="Calibri"/>
            </a:endParaRPr>
          </a:p>
          <a:p>
            <a:pPr algn="l">
              <a:spcBef>
                <a:spcPts val="300"/>
              </a:spcBef>
            </a:pPr>
            <a:r>
              <a:rPr sz="400" b="0" dirty="0">
                <a:solidFill>
                  <a:srgbClr val="2F3B3A"/>
                </a:solidFill>
                <a:latin typeface="Calibri"/>
              </a:rPr>
              <a:t> </a:t>
            </a:r>
          </a:p>
          <a:p>
            <a:pPr algn="l"/>
            <a:r>
              <a:rPr sz="1000" b="1" dirty="0">
                <a:solidFill>
                  <a:srgbClr val="E5173F"/>
                </a:solidFill>
                <a:latin typeface="Calibri"/>
              </a:rPr>
              <a:t>&gt; 350K</a:t>
            </a:r>
            <a:r>
              <a:rPr sz="750" b="0" dirty="0">
                <a:solidFill>
                  <a:srgbClr val="6E7E7D"/>
                </a:solidFill>
                <a:latin typeface="Calibri"/>
              </a:rPr>
              <a:t>   share 73 → 42</a:t>
            </a:r>
          </a:p>
          <a:p>
            <a:pPr algn="l">
              <a:spcBef>
                <a:spcPts val="300"/>
              </a:spcBef>
            </a:pPr>
            <a:r>
              <a:rPr sz="750" b="1" dirty="0">
                <a:solidFill>
                  <a:srgbClr val="13807B"/>
                </a:solidFill>
                <a:latin typeface="Calibri"/>
              </a:rPr>
              <a:t>• </a:t>
            </a:r>
            <a:r>
              <a:rPr sz="750" b="0" dirty="0" err="1">
                <a:solidFill>
                  <a:srgbClr val="2F3B3A"/>
                </a:solidFill>
                <a:latin typeface="Calibri"/>
              </a:rPr>
              <a:t>Caída</a:t>
            </a:r>
            <a:r>
              <a:rPr sz="750" b="0" dirty="0">
                <a:solidFill>
                  <a:srgbClr val="2F3B3A"/>
                </a:solidFill>
                <a:latin typeface="Calibri"/>
              </a:rPr>
              <a:t> del share </a:t>
            </a:r>
            <a:r>
              <a:rPr sz="750" b="0" dirty="0" err="1">
                <a:solidFill>
                  <a:srgbClr val="2F3B3A"/>
                </a:solidFill>
                <a:latin typeface="Calibri"/>
              </a:rPr>
              <a:t>en</a:t>
            </a:r>
            <a:r>
              <a:rPr sz="750" b="0" dirty="0">
                <a:solidFill>
                  <a:srgbClr val="2F3B3A"/>
                </a:solidFill>
                <a:latin typeface="Calibri"/>
              </a:rPr>
              <a:t> </a:t>
            </a:r>
            <a:r>
              <a:rPr sz="750" b="0" dirty="0" err="1">
                <a:solidFill>
                  <a:srgbClr val="2F3B3A"/>
                </a:solidFill>
                <a:latin typeface="Calibri"/>
              </a:rPr>
              <a:t>todo</a:t>
            </a:r>
            <a:r>
              <a:rPr sz="750" b="0" dirty="0">
                <a:solidFill>
                  <a:srgbClr val="2F3B3A"/>
                </a:solidFill>
                <a:latin typeface="Calibri"/>
              </a:rPr>
              <a:t> el </a:t>
            </a:r>
            <a:r>
              <a:rPr sz="750" b="0" dirty="0" err="1">
                <a:solidFill>
                  <a:srgbClr val="2F3B3A"/>
                </a:solidFill>
                <a:latin typeface="Calibri"/>
              </a:rPr>
              <a:t>periodo</a:t>
            </a:r>
            <a:endParaRPr sz="850" b="0" dirty="0">
              <a:solidFill>
                <a:srgbClr val="2F3B3A"/>
              </a:solidFill>
              <a:latin typeface="Calibri"/>
            </a:endParaRPr>
          </a:p>
          <a:p>
            <a:pPr algn="l">
              <a:spcBef>
                <a:spcPts val="300"/>
              </a:spcBef>
            </a:pPr>
            <a:r>
              <a:rPr sz="750" b="1" dirty="0">
                <a:solidFill>
                  <a:srgbClr val="13807B"/>
                </a:solidFill>
                <a:latin typeface="Calibri"/>
              </a:rPr>
              <a:t>• </a:t>
            </a:r>
            <a:r>
              <a:rPr sz="750" b="0" dirty="0">
                <a:solidFill>
                  <a:srgbClr val="2F3B3A"/>
                </a:solidFill>
                <a:latin typeface="Calibri"/>
              </a:rPr>
              <a:t>La brecha entre la tasa ofertada y la desembolsada se mueve entre 210 y 370 pbs, sin una tendencia clara.</a:t>
            </a:r>
          </a:p>
          <a:p>
            <a:pPr algn="l">
              <a:spcBef>
                <a:spcPts val="300"/>
              </a:spcBef>
            </a:pPr>
            <a:r>
              <a:rPr sz="750" b="1" dirty="0">
                <a:solidFill>
                  <a:srgbClr val="13807B"/>
                </a:solidFill>
                <a:latin typeface="Calibri"/>
              </a:rPr>
              <a:t>• </a:t>
            </a:r>
            <a:r>
              <a:rPr sz="750" b="0" dirty="0" err="1">
                <a:solidFill>
                  <a:srgbClr val="2F3B3A"/>
                </a:solidFill>
                <a:latin typeface="Calibri"/>
              </a:rPr>
              <a:t>En 2025 la competencia ya era más competitiva. En 2026 cobra en línea con nosotros, pero el share siguió cayendo, así que la tasa no explica toda la caída</a:t>
            </a:r>
            <a:endParaRPr sz="850" b="0" dirty="0">
              <a:solidFill>
                <a:srgbClr val="2F3B3A"/>
              </a:solidFill>
              <a:latin typeface="Calibri"/>
            </a:endParaRPr>
          </a:p>
          <a:p>
            <a:pPr algn="l">
              <a:spcBef>
                <a:spcPts val="300"/>
              </a:spcBef>
            </a:pPr>
            <a:r>
              <a:rPr sz="750" b="1" dirty="0" err="1">
                <a:solidFill>
                  <a:srgbClr val="13807B"/>
                </a:solidFill>
                <a:latin typeface="Calibri"/>
              </a:rPr>
              <a:t>Estrategia</a:t>
            </a:r>
            <a:r>
              <a:rPr sz="750" b="1" dirty="0">
                <a:solidFill>
                  <a:srgbClr val="13807B"/>
                </a:solidFill>
                <a:latin typeface="Calibri"/>
              </a:rPr>
              <a:t> de </a:t>
            </a:r>
            <a:r>
              <a:rPr sz="750" b="1" dirty="0" err="1">
                <a:solidFill>
                  <a:srgbClr val="13807B"/>
                </a:solidFill>
                <a:latin typeface="Calibri"/>
              </a:rPr>
              <a:t>pilotos</a:t>
            </a:r>
            <a:r>
              <a:rPr sz="750" b="1" dirty="0">
                <a:solidFill>
                  <a:srgbClr val="13807B"/>
                </a:solidFill>
                <a:latin typeface="Calibri"/>
              </a:rPr>
              <a:t>: </a:t>
            </a:r>
            <a:r>
              <a:rPr sz="750" b="1" dirty="0">
                <a:solidFill>
                  <a:srgbClr val="2F3B3A"/>
                </a:solidFill>
                <a:latin typeface="Calibri"/>
              </a:rPr>
              <a:t>Bajar</a:t>
            </a:r>
            <a:r>
              <a:rPr lang="es-ES" sz="750" b="1" dirty="0">
                <a:solidFill>
                  <a:srgbClr val="2F3B3A"/>
                </a:solidFill>
                <a:latin typeface="Calibri"/>
              </a:rPr>
              <a:t> precio a uno más competitivo</a:t>
            </a:r>
            <a:endParaRPr sz="850" b="1" dirty="0">
              <a:solidFill>
                <a:srgbClr val="2F3B3A"/>
              </a:solidFill>
              <a:latin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93777" y="246888"/>
            <a:ext cx="8963570" cy="109710"/>
          </a:xfrm>
          <a:prstGeom prst="rect">
            <a:avLst/>
          </a:prstGeom>
          <a:noFill/>
        </p:spPr>
        <p:txBody>
          <a:bodyPr wrap="square" lIns="0" tIns="0" rIns="0" bIns="0" anchor="t">
            <a:spAutoFit/>
          </a:bodyPr>
          <a:lstStyle/>
          <a:p>
            <a:pPr algn="l"/>
            <a:r>
              <a:rPr sz="800" b="1">
                <a:solidFill>
                  <a:srgbClr val="6E7E7D"/>
                </a:solidFill>
                <a:latin typeface="Calibri"/>
              </a:rPr>
              <a:t>SHARE Y TASA POR SEGMENTO · SOCIO EN CRECIMIENTO · FIDELIZADOS · SOW 56%</a:t>
            </a:r>
          </a:p>
        </p:txBody>
      </p:sp>
      <p:sp>
        <p:nvSpPr>
          <p:cNvPr id="3" name="TextBox 2"/>
          <p:cNvSpPr txBox="1"/>
          <p:nvPr/>
        </p:nvSpPr>
        <p:spPr>
          <a:xfrm>
            <a:off x="493776" y="425196"/>
            <a:ext cx="10421874" cy="492443"/>
          </a:xfrm>
          <a:prstGeom prst="rect">
            <a:avLst/>
          </a:prstGeom>
          <a:noFill/>
        </p:spPr>
        <p:txBody>
          <a:bodyPr wrap="square" lIns="0" tIns="0" rIns="0" bIns="0" anchor="t">
            <a:spAutoFit/>
          </a:bodyPr>
          <a:lstStyle/>
          <a:p>
            <a:pPr algn="l"/>
            <a:r>
              <a:rPr sz="1600" b="1" dirty="0">
                <a:solidFill>
                  <a:srgbClr val="13807B"/>
                </a:solidFill>
                <a:latin typeface="Poppins"/>
              </a:rPr>
              <a:t>Socio en Crecimiento plantea una bajada de precios en pasivos menores a S/ 1K y puede mantener precios en pasivos de S/ 5K o más, donde el share se estabilizó</a:t>
            </a:r>
          </a:p>
        </p:txBody>
      </p:sp>
      <p:cxnSp>
        <p:nvCxnSpPr>
          <p:cNvPr id="4" name="Connector 3"/>
          <p:cNvCxnSpPr/>
          <p:nvPr/>
        </p:nvCxnSpPr>
        <p:spPr>
          <a:xfrm>
            <a:off x="493776" y="1049274"/>
            <a:ext cx="11204463" cy="0"/>
          </a:xfrm>
          <a:prstGeom prst="line">
            <a:avLst/>
          </a:prstGeom>
          <a:ln w="12700">
            <a:solidFill>
              <a:srgbClr val="D5DFDE"/>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93776" y="1120000"/>
            <a:ext cx="5475700" cy="220000"/>
          </a:xfrm>
          <a:prstGeom prst="rect">
            <a:avLst/>
          </a:prstGeom>
          <a:noFill/>
        </p:spPr>
        <p:txBody>
          <a:bodyPr wrap="square" lIns="0" tIns="0" rIns="0" bIns="0" anchor="t">
            <a:spAutoFit/>
          </a:bodyPr>
          <a:lstStyle/>
          <a:p>
            <a:pPr algn="l"/>
            <a:r>
              <a:rPr sz="1000" b="1">
                <a:solidFill>
                  <a:srgbClr val="2F3B3A"/>
                </a:solidFill>
                <a:latin typeface="Calibri"/>
              </a:rPr>
              <a:t>Share relevante por trimestre (%) · </a:t>
            </a:r>
            <a:r>
              <a:rPr sz="1000" b="1">
                <a:solidFill>
                  <a:srgbClr val="13807B"/>
                </a:solidFill>
              </a:rPr>
              <a:t>tramos por pasivos promedio 12m</a:t>
            </a:r>
          </a:p>
        </p:txBody>
      </p:sp>
      <p:graphicFrame>
        <p:nvGraphicFramePr>
          <p:cNvPr id="7" name="Chart 6"/>
          <p:cNvGraphicFramePr>
            <a:graphicFrameLocks noGrp="1"/>
          </p:cNvGraphicFramePr>
          <p:nvPr/>
        </p:nvGraphicFramePr>
        <p:xfrm>
          <a:off x="493776" y="1330000"/>
          <a:ext cx="5475700" cy="2250000"/>
        </p:xfrm>
        <a:graphic>
          <a:graphicData uri="http://schemas.openxmlformats.org/drawingml/2006/chart">
            <c:chart xmlns:c="http://schemas.openxmlformats.org/drawingml/2006/chart" xmlns:r="http://schemas.openxmlformats.org/officeDocument/2006/relationships" r:id="rId2"/>
          </a:graphicData>
        </a:graphic>
      </p:graphicFrame>
      <p:sp>
        <p:nvSpPr>
          <p:cNvPr id="10" name="TextBox 9"/>
          <p:cNvSpPr txBox="1"/>
          <p:nvPr/>
        </p:nvSpPr>
        <p:spPr>
          <a:xfrm>
            <a:off x="3306626" y="3720000"/>
            <a:ext cx="2662850" cy="220000"/>
          </a:xfrm>
          <a:prstGeom prst="rect">
            <a:avLst/>
          </a:prstGeom>
          <a:noFill/>
        </p:spPr>
        <p:txBody>
          <a:bodyPr wrap="square" lIns="0" tIns="0" rIns="0" bIns="0" anchor="t">
            <a:spAutoFit/>
          </a:bodyPr>
          <a:lstStyle/>
          <a:p>
            <a:pPr algn="l"/>
            <a:r>
              <a:rPr sz="900" b="1">
                <a:solidFill>
                  <a:srgbClr val="2F3B3A"/>
                </a:solidFill>
                <a:latin typeface="Calibri"/>
              </a:rPr>
              <a:t>TEA promedio ponderado · </a:t>
            </a:r>
            <a:r>
              <a:rPr sz="900" b="1">
                <a:solidFill>
                  <a:srgbClr val="E5173F"/>
                </a:solidFill>
              </a:rPr>
              <a:t>Pasivos ≥ 5K</a:t>
            </a:r>
          </a:p>
        </p:txBody>
      </p:sp>
      <p:graphicFrame>
        <p:nvGraphicFramePr>
          <p:cNvPr id="11" name="Chart 10"/>
          <p:cNvGraphicFramePr>
            <a:graphicFrameLocks noGrp="1"/>
          </p:cNvGraphicFramePr>
          <p:nvPr/>
        </p:nvGraphicFramePr>
        <p:xfrm>
          <a:off x="3306626" y="3930000"/>
          <a:ext cx="2662850" cy="2350000"/>
        </p:xfrm>
        <a:graphic>
          <a:graphicData uri="http://schemas.openxmlformats.org/drawingml/2006/chart">
            <c:chart xmlns:c="http://schemas.openxmlformats.org/drawingml/2006/chart" xmlns:r="http://schemas.openxmlformats.org/officeDocument/2006/relationships" r:id="rId3"/>
          </a:graphicData>
        </a:graphic>
      </p:graphicFrame>
      <p:sp>
        <p:nvSpPr>
          <p:cNvPr id="12" name="TextBox 11"/>
          <p:cNvSpPr txBox="1"/>
          <p:nvPr/>
        </p:nvSpPr>
        <p:spPr>
          <a:xfrm>
            <a:off x="493776" y="3720000"/>
            <a:ext cx="2662850" cy="220000"/>
          </a:xfrm>
          <a:prstGeom prst="rect">
            <a:avLst/>
          </a:prstGeom>
          <a:noFill/>
        </p:spPr>
        <p:txBody>
          <a:bodyPr wrap="square" lIns="0" tIns="0" rIns="0" bIns="0" anchor="t">
            <a:spAutoFit/>
          </a:bodyPr>
          <a:lstStyle/>
          <a:p>
            <a:pPr algn="l"/>
            <a:r>
              <a:rPr sz="900" b="1">
                <a:solidFill>
                  <a:srgbClr val="2F3B3A"/>
                </a:solidFill>
                <a:latin typeface="Calibri"/>
              </a:rPr>
              <a:t>TEA promedio ponderado · </a:t>
            </a:r>
            <a:r>
              <a:rPr sz="900" b="1">
                <a:solidFill>
                  <a:srgbClr val="13807B"/>
                </a:solidFill>
              </a:rPr>
              <a:t>Pasivos &lt; 1K</a:t>
            </a:r>
          </a:p>
        </p:txBody>
      </p:sp>
      <p:graphicFrame>
        <p:nvGraphicFramePr>
          <p:cNvPr id="13" name="Chart 12"/>
          <p:cNvGraphicFramePr>
            <a:graphicFrameLocks noGrp="1"/>
          </p:cNvGraphicFramePr>
          <p:nvPr/>
        </p:nvGraphicFramePr>
        <p:xfrm>
          <a:off x="493776" y="3930000"/>
          <a:ext cx="2662850" cy="2350000"/>
        </p:xfrm>
        <a:graphic>
          <a:graphicData uri="http://schemas.openxmlformats.org/drawingml/2006/chart">
            <c:chart xmlns:c="http://schemas.openxmlformats.org/drawingml/2006/chart" xmlns:r="http://schemas.openxmlformats.org/officeDocument/2006/relationships" r:id="rId4"/>
          </a:graphicData>
        </a:graphic>
      </p:graphicFrame>
      <p:sp>
        <p:nvSpPr>
          <p:cNvPr id="15" name="Rectangle 14"/>
          <p:cNvSpPr/>
          <p:nvPr/>
        </p:nvSpPr>
        <p:spPr>
          <a:xfrm>
            <a:off x="6219476" y="4140000"/>
            <a:ext cx="5475700" cy="2340000"/>
          </a:xfrm>
          <a:prstGeom prst="rect">
            <a:avLst/>
          </a:prstGeom>
          <a:solidFill>
            <a:srgbClr val="F1F6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219476" y="4140000"/>
            <a:ext cx="45000" cy="2340000"/>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93776" y="6380000"/>
            <a:ext cx="11201400" cy="300000"/>
          </a:xfrm>
          <a:prstGeom prst="rect">
            <a:avLst/>
          </a:prstGeom>
          <a:noFill/>
        </p:spPr>
        <p:txBody>
          <a:bodyPr wrap="square" lIns="0" tIns="0" rIns="0" bIns="0" anchor="t">
            <a:spAutoFit/>
          </a:bodyPr>
          <a:lstStyle/>
          <a:p>
            <a:pPr algn="l"/>
            <a:r>
              <a:rPr sz="700" b="0">
                <a:solidFill>
                  <a:srgbClr val="6E7E7D"/>
                </a:solidFill>
                <a:latin typeface="Calibri"/>
              </a:rPr>
              <a:t>2T26* = abr–may.</a:t>
            </a:r>
          </a:p>
        </p:txBody>
      </p:sp>
      <p:sp>
        <p:nvSpPr>
          <p:cNvPr id="19" name="TextBox 18"/>
          <p:cNvSpPr txBox="1"/>
          <p:nvPr/>
        </p:nvSpPr>
        <p:spPr>
          <a:xfrm>
            <a:off x="6219476" y="1120000"/>
            <a:ext cx="5475700" cy="200000"/>
          </a:xfrm>
          <a:prstGeom prst="rect">
            <a:avLst/>
          </a:prstGeom>
          <a:noFill/>
        </p:spPr>
        <p:txBody>
          <a:bodyPr wrap="square" lIns="0" tIns="0" rIns="0" bIns="0">
            <a:spAutoFit/>
          </a:bodyPr>
          <a:lstStyle/>
          <a:p>
            <a:pPr algn="l"/>
            <a:r>
              <a:rPr sz="1000" b="1">
                <a:solidFill>
                  <a:srgbClr val="2F3B3A"/>
                </a:solidFill>
                <a:latin typeface="Lato"/>
              </a:rPr>
              <a:t>TEA mediana ponderada por apertura · </a:t>
            </a:r>
            <a:r>
              <a:rPr sz="1000" b="1">
                <a:solidFill>
                  <a:srgbClr val="6E7E7D"/>
                </a:solidFill>
                <a:latin typeface="Lato"/>
              </a:rPr>
              <a:t>jul–dic 2025</a:t>
            </a:r>
          </a:p>
        </p:txBody>
      </p:sp>
      <p:graphicFrame>
        <p:nvGraphicFramePr>
          <p:cNvPr id="20" name="Chart 19"/>
          <p:cNvGraphicFramePr>
            <a:graphicFrameLocks noGrp="1"/>
          </p:cNvGraphicFramePr>
          <p:nvPr/>
        </p:nvGraphicFramePr>
        <p:xfrm>
          <a:off x="6219476" y="1265449"/>
          <a:ext cx="5475700" cy="1171679"/>
        </p:xfrm>
        <a:graphic>
          <a:graphicData uri="http://schemas.openxmlformats.org/drawingml/2006/chart">
            <c:chart xmlns:c="http://schemas.openxmlformats.org/drawingml/2006/chart" xmlns:r="http://schemas.openxmlformats.org/officeDocument/2006/relationships" r:id="rId5"/>
          </a:graphicData>
        </a:graphic>
      </p:graphicFrame>
      <p:sp>
        <p:nvSpPr>
          <p:cNvPr id="21" name="TextBox 20"/>
          <p:cNvSpPr txBox="1"/>
          <p:nvPr/>
        </p:nvSpPr>
        <p:spPr>
          <a:xfrm>
            <a:off x="6743158" y="2309052"/>
            <a:ext cx="1800000" cy="180000"/>
          </a:xfrm>
          <a:prstGeom prst="rect">
            <a:avLst/>
          </a:prstGeom>
          <a:noFill/>
        </p:spPr>
        <p:txBody>
          <a:bodyPr wrap="square" lIns="0" tIns="0" rIns="0" bIns="0">
            <a:spAutoFit/>
          </a:bodyPr>
          <a:lstStyle/>
          <a:p>
            <a:pPr algn="ctr"/>
            <a:r>
              <a:rPr sz="900" b="1">
                <a:solidFill>
                  <a:srgbClr val="13807B"/>
                </a:solidFill>
                <a:latin typeface="Lato"/>
              </a:rPr>
              <a:t>Pasivos &lt; 1K</a:t>
            </a:r>
          </a:p>
        </p:txBody>
      </p:sp>
      <p:sp>
        <p:nvSpPr>
          <p:cNvPr id="22" name="TextBox 21"/>
          <p:cNvSpPr txBox="1"/>
          <p:nvPr/>
        </p:nvSpPr>
        <p:spPr>
          <a:xfrm>
            <a:off x="9371494" y="2309052"/>
            <a:ext cx="1800000" cy="180000"/>
          </a:xfrm>
          <a:prstGeom prst="rect">
            <a:avLst/>
          </a:prstGeom>
          <a:noFill/>
        </p:spPr>
        <p:txBody>
          <a:bodyPr wrap="square" lIns="0" tIns="0" rIns="0" bIns="0">
            <a:spAutoFit/>
          </a:bodyPr>
          <a:lstStyle/>
          <a:p>
            <a:pPr algn="ctr"/>
            <a:r>
              <a:rPr sz="900" b="1">
                <a:solidFill>
                  <a:srgbClr val="E5173F"/>
                </a:solidFill>
                <a:latin typeface="Lato"/>
              </a:rPr>
              <a:t>Pasivos ≥ 5K</a:t>
            </a:r>
          </a:p>
        </p:txBody>
      </p:sp>
      <p:sp>
        <p:nvSpPr>
          <p:cNvPr id="23" name="TextBox 22"/>
          <p:cNvSpPr txBox="1"/>
          <p:nvPr/>
        </p:nvSpPr>
        <p:spPr>
          <a:xfrm>
            <a:off x="6219476" y="2606820"/>
            <a:ext cx="5475700" cy="200000"/>
          </a:xfrm>
          <a:prstGeom prst="rect">
            <a:avLst/>
          </a:prstGeom>
          <a:noFill/>
        </p:spPr>
        <p:txBody>
          <a:bodyPr wrap="square" lIns="0" tIns="0" rIns="0" bIns="0">
            <a:spAutoFit/>
          </a:bodyPr>
          <a:lstStyle/>
          <a:p>
            <a:pPr algn="l"/>
            <a:r>
              <a:rPr sz="1000" b="1">
                <a:solidFill>
                  <a:srgbClr val="2F3B3A"/>
                </a:solidFill>
                <a:latin typeface="Lato"/>
              </a:rPr>
              <a:t>TEA mediana ponderada por apertura · </a:t>
            </a:r>
            <a:r>
              <a:rPr sz="1000" b="1">
                <a:solidFill>
                  <a:srgbClr val="13807B"/>
                </a:solidFill>
                <a:latin typeface="Lato"/>
              </a:rPr>
              <a:t>ene–may 2026</a:t>
            </a:r>
          </a:p>
        </p:txBody>
      </p:sp>
      <p:graphicFrame>
        <p:nvGraphicFramePr>
          <p:cNvPr id="24" name="Chart 23"/>
          <p:cNvGraphicFramePr>
            <a:graphicFrameLocks noGrp="1"/>
          </p:cNvGraphicFramePr>
          <p:nvPr/>
        </p:nvGraphicFramePr>
        <p:xfrm>
          <a:off x="6219476" y="2752271"/>
          <a:ext cx="5475700" cy="969665"/>
        </p:xfrm>
        <a:graphic>
          <a:graphicData uri="http://schemas.openxmlformats.org/drawingml/2006/chart">
            <c:chart xmlns:c="http://schemas.openxmlformats.org/drawingml/2006/chart" xmlns:r="http://schemas.openxmlformats.org/officeDocument/2006/relationships" r:id="rId6"/>
          </a:graphicData>
        </a:graphic>
      </p:graphicFrame>
      <p:sp>
        <p:nvSpPr>
          <p:cNvPr id="25" name="TextBox 24"/>
          <p:cNvSpPr txBox="1"/>
          <p:nvPr/>
        </p:nvSpPr>
        <p:spPr>
          <a:xfrm>
            <a:off x="6743158" y="3610425"/>
            <a:ext cx="1800000" cy="180000"/>
          </a:xfrm>
          <a:prstGeom prst="rect">
            <a:avLst/>
          </a:prstGeom>
          <a:noFill/>
        </p:spPr>
        <p:txBody>
          <a:bodyPr wrap="square" lIns="0" tIns="0" rIns="0" bIns="0">
            <a:spAutoFit/>
          </a:bodyPr>
          <a:lstStyle/>
          <a:p>
            <a:pPr algn="ctr"/>
            <a:r>
              <a:rPr sz="900" b="1">
                <a:solidFill>
                  <a:srgbClr val="13807B"/>
                </a:solidFill>
                <a:latin typeface="Lato"/>
              </a:rPr>
              <a:t>Pasivos &lt; 1K</a:t>
            </a:r>
          </a:p>
        </p:txBody>
      </p:sp>
      <p:sp>
        <p:nvSpPr>
          <p:cNvPr id="26" name="TextBox 25"/>
          <p:cNvSpPr txBox="1"/>
          <p:nvPr/>
        </p:nvSpPr>
        <p:spPr>
          <a:xfrm>
            <a:off x="9371494" y="3610425"/>
            <a:ext cx="1800000" cy="180000"/>
          </a:xfrm>
          <a:prstGeom prst="rect">
            <a:avLst/>
          </a:prstGeom>
          <a:noFill/>
        </p:spPr>
        <p:txBody>
          <a:bodyPr wrap="square" lIns="0" tIns="0" rIns="0" bIns="0">
            <a:spAutoFit/>
          </a:bodyPr>
          <a:lstStyle/>
          <a:p>
            <a:pPr algn="ctr"/>
            <a:r>
              <a:rPr sz="900" b="1">
                <a:solidFill>
                  <a:srgbClr val="E5173F"/>
                </a:solidFill>
                <a:latin typeface="Lato"/>
              </a:rPr>
              <a:t>Pasivos ≥ 5K</a:t>
            </a:r>
          </a:p>
        </p:txBody>
      </p:sp>
      <p:sp>
        <p:nvSpPr>
          <p:cNvPr id="27" name="TextBox 26"/>
          <p:cNvSpPr txBox="1"/>
          <p:nvPr/>
        </p:nvSpPr>
        <p:spPr>
          <a:xfrm>
            <a:off x="6219476" y="3950000"/>
            <a:ext cx="5475700" cy="200000"/>
          </a:xfrm>
          <a:prstGeom prst="rect">
            <a:avLst/>
          </a:prstGeom>
          <a:noFill/>
        </p:spPr>
        <p:txBody>
          <a:bodyPr wrap="square" lIns="0" tIns="0" rIns="0" bIns="0">
            <a:spAutoFit/>
          </a:bodyPr>
          <a:lstStyle/>
          <a:p>
            <a:pPr algn="l"/>
            <a:r>
              <a:rPr sz="1000" b="1">
                <a:solidFill>
                  <a:srgbClr val="2F3B3A"/>
                </a:solidFill>
                <a:latin typeface="Lato"/>
              </a:rPr>
              <a:t>Insights</a:t>
            </a:r>
          </a:p>
        </p:txBody>
      </p:sp>
      <p:sp>
        <p:nvSpPr>
          <p:cNvPr id="28" name="TextBox 27"/>
          <p:cNvSpPr txBox="1"/>
          <p:nvPr/>
        </p:nvSpPr>
        <p:spPr>
          <a:xfrm>
            <a:off x="6369476" y="4190000"/>
            <a:ext cx="5225700" cy="2250000"/>
          </a:xfrm>
          <a:prstGeom prst="rect">
            <a:avLst/>
          </a:prstGeom>
          <a:noFill/>
        </p:spPr>
        <p:txBody>
          <a:bodyPr wrap="square" lIns="0" tIns="0" rIns="0" bIns="0">
            <a:spAutoFit/>
          </a:bodyPr>
          <a:lstStyle/>
          <a:p>
            <a:pPr algn="l">
              <a:spcBef>
                <a:spcPts val="300"/>
              </a:spcBef>
            </a:pPr>
            <a:r>
              <a:rPr sz="1000" b="1" dirty="0" err="1">
                <a:solidFill>
                  <a:srgbClr val="13807B"/>
                </a:solidFill>
                <a:latin typeface="Calibri"/>
              </a:rPr>
              <a:t>Pasivos</a:t>
            </a:r>
            <a:r>
              <a:rPr sz="1000" b="1" dirty="0">
                <a:solidFill>
                  <a:srgbClr val="13807B"/>
                </a:solidFill>
                <a:latin typeface="Calibri"/>
              </a:rPr>
              <a:t> &lt; 1K</a:t>
            </a:r>
            <a:r>
              <a:rPr sz="750" b="0" dirty="0">
                <a:solidFill>
                  <a:srgbClr val="6E7E7D"/>
                </a:solidFill>
                <a:latin typeface="Calibri"/>
              </a:rPr>
              <a:t>   share 51 → 9</a:t>
            </a:r>
          </a:p>
          <a:p>
            <a:pPr algn="l">
              <a:spcBef>
                <a:spcPts val="300"/>
              </a:spcBef>
            </a:pPr>
            <a:r>
              <a:rPr sz="750" b="1" dirty="0">
                <a:solidFill>
                  <a:srgbClr val="13807B"/>
                </a:solidFill>
                <a:latin typeface="Calibri"/>
              </a:rPr>
              <a:t>• </a:t>
            </a:r>
            <a:r>
              <a:rPr sz="750" b="0" dirty="0" err="1">
                <a:solidFill>
                  <a:srgbClr val="2F3B3A"/>
                </a:solidFill>
                <a:latin typeface="Calibri"/>
              </a:rPr>
              <a:t>Caída abrupta del share, que hasta 1T26 sube y baja en contra de la oferta</a:t>
            </a:r>
            <a:endParaRPr sz="850" b="0" dirty="0">
              <a:solidFill>
                <a:srgbClr val="2F3B3A"/>
              </a:solidFill>
              <a:latin typeface="Calibri"/>
            </a:endParaRPr>
          </a:p>
          <a:p>
            <a:pPr algn="l">
              <a:spcBef>
                <a:spcPts val="300"/>
              </a:spcBef>
            </a:pPr>
            <a:r>
              <a:rPr sz="750" b="1" dirty="0">
                <a:solidFill>
                  <a:srgbClr val="13807B"/>
                </a:solidFill>
                <a:latin typeface="Calibri"/>
              </a:rPr>
              <a:t>• </a:t>
            </a:r>
            <a:r>
              <a:rPr sz="750" b="0" dirty="0">
                <a:solidFill>
                  <a:srgbClr val="2F3B3A"/>
                </a:solidFill>
                <a:latin typeface="Calibri"/>
              </a:rPr>
              <a:t>La brecha entre la tasa ofertada y la desembolsada se mueve entre 160 y 310 pbs, con una oferta estable alrededor de 20,5%</a:t>
            </a:r>
          </a:p>
          <a:p>
            <a:pPr algn="l">
              <a:spcBef>
                <a:spcPts val="300"/>
              </a:spcBef>
            </a:pPr>
            <a:r>
              <a:rPr sz="750" b="1" dirty="0">
                <a:solidFill>
                  <a:srgbClr val="13807B"/>
                </a:solidFill>
                <a:latin typeface="Calibri"/>
              </a:rPr>
              <a:t>• </a:t>
            </a:r>
            <a:r>
              <a:rPr sz="750" b="0" dirty="0" err="1">
                <a:solidFill>
                  <a:srgbClr val="2F3B3A"/>
                </a:solidFill>
                <a:latin typeface="Calibri"/>
              </a:rPr>
              <a:t>En 2025 la competencia era más competitiva. En 2026 cobra en línea con nuestro desembolso, pero el share siguió cayendo porque la desventaja está en la oferta, bastante por encima del mercado</a:t>
            </a:r>
            <a:endParaRPr sz="850" b="0" dirty="0">
              <a:solidFill>
                <a:srgbClr val="2F3B3A"/>
              </a:solidFill>
              <a:latin typeface="Calibri"/>
            </a:endParaRPr>
          </a:p>
          <a:p>
            <a:pPr algn="l">
              <a:spcBef>
                <a:spcPts val="300"/>
              </a:spcBef>
            </a:pPr>
            <a:r>
              <a:rPr sz="750" b="1" dirty="0" err="1">
                <a:solidFill>
                  <a:srgbClr val="13807B"/>
                </a:solidFill>
                <a:latin typeface="Calibri"/>
              </a:rPr>
              <a:t>Estrategia</a:t>
            </a:r>
            <a:r>
              <a:rPr sz="750" b="1" dirty="0">
                <a:solidFill>
                  <a:srgbClr val="13807B"/>
                </a:solidFill>
                <a:latin typeface="Calibri"/>
              </a:rPr>
              <a:t> de </a:t>
            </a:r>
            <a:r>
              <a:rPr sz="750" b="1" dirty="0" err="1">
                <a:solidFill>
                  <a:srgbClr val="13807B"/>
                </a:solidFill>
                <a:latin typeface="Calibri"/>
              </a:rPr>
              <a:t>pilotos</a:t>
            </a:r>
            <a:r>
              <a:rPr sz="750" b="1" dirty="0">
                <a:solidFill>
                  <a:srgbClr val="13807B"/>
                </a:solidFill>
                <a:latin typeface="Calibri"/>
              </a:rPr>
              <a:t>: </a:t>
            </a:r>
            <a:r>
              <a:rPr lang="es-ES" sz="750" b="1" dirty="0">
                <a:solidFill>
                  <a:srgbClr val="2F3B3A"/>
                </a:solidFill>
                <a:latin typeface="Calibri"/>
              </a:rPr>
              <a:t>Bajar precio a uno más competitivo </a:t>
            </a:r>
            <a:endParaRPr sz="850" b="1" dirty="0">
              <a:solidFill>
                <a:srgbClr val="2F3B3A"/>
              </a:solidFill>
              <a:latin typeface="Calibri"/>
            </a:endParaRPr>
          </a:p>
          <a:p>
            <a:pPr algn="l">
              <a:spcBef>
                <a:spcPts val="300"/>
              </a:spcBef>
            </a:pPr>
            <a:r>
              <a:rPr sz="400" b="0" dirty="0">
                <a:solidFill>
                  <a:srgbClr val="2F3B3A"/>
                </a:solidFill>
                <a:latin typeface="Calibri"/>
              </a:rPr>
              <a:t> </a:t>
            </a:r>
          </a:p>
          <a:p>
            <a:pPr algn="l"/>
            <a:r>
              <a:rPr sz="1000" b="1" dirty="0" err="1">
                <a:solidFill>
                  <a:srgbClr val="E5173F"/>
                </a:solidFill>
                <a:latin typeface="Calibri"/>
              </a:rPr>
              <a:t>Pasivos</a:t>
            </a:r>
            <a:r>
              <a:rPr sz="1000" b="1" dirty="0">
                <a:solidFill>
                  <a:srgbClr val="E5173F"/>
                </a:solidFill>
                <a:latin typeface="Calibri"/>
              </a:rPr>
              <a:t> ≥ 5K</a:t>
            </a:r>
            <a:r>
              <a:rPr sz="750" b="0" dirty="0">
                <a:solidFill>
                  <a:srgbClr val="6E7E7D"/>
                </a:solidFill>
                <a:latin typeface="Calibri"/>
              </a:rPr>
              <a:t>   share 70 → 40</a:t>
            </a:r>
          </a:p>
          <a:p>
            <a:pPr algn="l">
              <a:spcBef>
                <a:spcPts val="300"/>
              </a:spcBef>
            </a:pPr>
            <a:r>
              <a:rPr sz="750" b="1" dirty="0">
                <a:solidFill>
                  <a:srgbClr val="13807B"/>
                </a:solidFill>
                <a:latin typeface="Calibri"/>
              </a:rPr>
              <a:t>• </a:t>
            </a:r>
            <a:r>
              <a:rPr sz="750" b="0" dirty="0" err="1">
                <a:solidFill>
                  <a:srgbClr val="2F3B3A"/>
                </a:solidFill>
                <a:latin typeface="Calibri"/>
              </a:rPr>
              <a:t>Caída</a:t>
            </a:r>
            <a:r>
              <a:rPr sz="750" b="0" dirty="0">
                <a:solidFill>
                  <a:srgbClr val="2F3B3A"/>
                </a:solidFill>
                <a:latin typeface="Calibri"/>
              </a:rPr>
              <a:t> del share </a:t>
            </a:r>
            <a:r>
              <a:rPr sz="750" b="0" dirty="0" err="1">
                <a:solidFill>
                  <a:srgbClr val="2F3B3A"/>
                </a:solidFill>
                <a:latin typeface="Calibri"/>
              </a:rPr>
              <a:t>en</a:t>
            </a:r>
            <a:r>
              <a:rPr sz="750" b="0" dirty="0">
                <a:solidFill>
                  <a:srgbClr val="2F3B3A"/>
                </a:solidFill>
                <a:latin typeface="Calibri"/>
              </a:rPr>
              <a:t> 2025 y </a:t>
            </a:r>
            <a:r>
              <a:rPr sz="750" b="0" dirty="0" err="1">
                <a:solidFill>
                  <a:srgbClr val="2F3B3A"/>
                </a:solidFill>
                <a:latin typeface="Calibri"/>
              </a:rPr>
              <a:t>estable</a:t>
            </a:r>
            <a:r>
              <a:rPr sz="750" b="0" dirty="0">
                <a:solidFill>
                  <a:srgbClr val="2F3B3A"/>
                </a:solidFill>
                <a:latin typeface="Calibri"/>
              </a:rPr>
              <a:t> </a:t>
            </a:r>
            <a:r>
              <a:rPr sz="750" b="0" dirty="0" err="1">
                <a:solidFill>
                  <a:srgbClr val="2F3B3A"/>
                </a:solidFill>
                <a:latin typeface="Calibri"/>
              </a:rPr>
              <a:t>en</a:t>
            </a:r>
            <a:r>
              <a:rPr sz="750" b="0" dirty="0">
                <a:solidFill>
                  <a:srgbClr val="2F3B3A"/>
                </a:solidFill>
                <a:latin typeface="Calibri"/>
              </a:rPr>
              <a:t> 2026</a:t>
            </a:r>
          </a:p>
          <a:p>
            <a:pPr algn="l">
              <a:spcBef>
                <a:spcPts val="300"/>
              </a:spcBef>
            </a:pPr>
            <a:r>
              <a:rPr sz="750" b="1" dirty="0">
                <a:solidFill>
                  <a:srgbClr val="13807B"/>
                </a:solidFill>
                <a:latin typeface="Calibri"/>
              </a:rPr>
              <a:t>• </a:t>
            </a:r>
            <a:r>
              <a:rPr sz="750" b="0" dirty="0">
                <a:solidFill>
                  <a:srgbClr val="2F3B3A"/>
                </a:solidFill>
                <a:latin typeface="Calibri"/>
              </a:rPr>
              <a:t>La brecha entre la tasa ofertada y la desembolsada se reduce en todo el periodo, de unos 340 a 180 pbs, con un alza abrupta del desembolso el último trimestre</a:t>
            </a:r>
          </a:p>
          <a:p>
            <a:pPr algn="l">
              <a:spcBef>
                <a:spcPts val="300"/>
              </a:spcBef>
            </a:pPr>
            <a:r>
              <a:rPr sz="750" b="1" dirty="0">
                <a:solidFill>
                  <a:srgbClr val="13807B"/>
                </a:solidFill>
                <a:latin typeface="Calibri"/>
              </a:rPr>
              <a:t>• </a:t>
            </a:r>
            <a:r>
              <a:rPr sz="750" b="0" dirty="0" err="1">
                <a:solidFill>
                  <a:srgbClr val="2F3B3A"/>
                </a:solidFill>
                <a:latin typeface="Calibri"/>
              </a:rPr>
              <a:t>La competencia cobra en línea con nuestro desembolso en 2025 y en 2026, y el share se mantiene estable en 2026</a:t>
            </a:r>
            <a:endParaRPr sz="850" b="0" dirty="0">
              <a:solidFill>
                <a:srgbClr val="2F3B3A"/>
              </a:solidFill>
              <a:latin typeface="Calibri"/>
            </a:endParaRPr>
          </a:p>
          <a:p>
            <a:pPr algn="l">
              <a:spcBef>
                <a:spcPts val="300"/>
              </a:spcBef>
            </a:pPr>
            <a:r>
              <a:rPr sz="750" b="1" dirty="0" err="1">
                <a:solidFill>
                  <a:srgbClr val="13807B"/>
                </a:solidFill>
                <a:latin typeface="Calibri"/>
              </a:rPr>
              <a:t>Estrategia</a:t>
            </a:r>
            <a:r>
              <a:rPr sz="750" b="1" dirty="0">
                <a:solidFill>
                  <a:srgbClr val="13807B"/>
                </a:solidFill>
                <a:latin typeface="Calibri"/>
              </a:rPr>
              <a:t> de </a:t>
            </a:r>
            <a:r>
              <a:rPr sz="750" b="1" dirty="0" err="1">
                <a:solidFill>
                  <a:srgbClr val="13807B"/>
                </a:solidFill>
                <a:latin typeface="Calibri"/>
              </a:rPr>
              <a:t>pilotos</a:t>
            </a:r>
            <a:r>
              <a:rPr sz="750" b="1" dirty="0">
                <a:solidFill>
                  <a:srgbClr val="13807B"/>
                </a:solidFill>
                <a:latin typeface="Calibri"/>
              </a:rPr>
              <a:t>: </a:t>
            </a:r>
            <a:r>
              <a:rPr lang="es-ES" sz="750" b="1" dirty="0">
                <a:solidFill>
                  <a:srgbClr val="2F3B3A"/>
                </a:solidFill>
                <a:latin typeface="Calibri"/>
              </a:rPr>
              <a:t>Mantener / Bajar Precio</a:t>
            </a:r>
            <a:endParaRPr sz="850" b="1" dirty="0">
              <a:solidFill>
                <a:srgbClr val="2F3B3A"/>
              </a:solidFill>
              <a:latin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93777" y="246888"/>
            <a:ext cx="8963570" cy="109710"/>
          </a:xfrm>
          <a:prstGeom prst="rect">
            <a:avLst/>
          </a:prstGeom>
          <a:noFill/>
        </p:spPr>
        <p:txBody>
          <a:bodyPr wrap="square" lIns="0" tIns="0" rIns="0" bIns="0" anchor="t">
            <a:spAutoFit/>
          </a:bodyPr>
          <a:lstStyle/>
          <a:p>
            <a:pPr algn="l"/>
            <a:r>
              <a:rPr sz="800" b="1">
                <a:solidFill>
                  <a:srgbClr val="6E7E7D"/>
                </a:solidFill>
                <a:latin typeface="Calibri"/>
              </a:rPr>
              <a:t>SHARE Y TASA POR SEGMENTO · GRAN CUENTA POR CONQUISTAR · GRANDES POR FIDELIZAR · SOW 11%</a:t>
            </a:r>
          </a:p>
        </p:txBody>
      </p:sp>
      <p:sp>
        <p:nvSpPr>
          <p:cNvPr id="3" name="TextBox 2"/>
          <p:cNvSpPr txBox="1"/>
          <p:nvPr/>
        </p:nvSpPr>
        <p:spPr>
          <a:xfrm>
            <a:off x="493776" y="425196"/>
            <a:ext cx="10312923" cy="492443"/>
          </a:xfrm>
          <a:prstGeom prst="rect">
            <a:avLst/>
          </a:prstGeom>
          <a:noFill/>
        </p:spPr>
        <p:txBody>
          <a:bodyPr wrap="square" lIns="0" tIns="0" rIns="0" bIns="0" anchor="t">
            <a:spAutoFit/>
          </a:bodyPr>
          <a:lstStyle/>
          <a:p>
            <a:pPr algn="l"/>
            <a:r>
              <a:rPr sz="1600" b="1" dirty="0">
                <a:solidFill>
                  <a:srgbClr val="13807B"/>
                </a:solidFill>
                <a:latin typeface="Poppins"/>
              </a:rPr>
              <a:t>Gran Cuenta por Conquistar puede probar una subida acotada en SSFF hasta S/ 1,5MM, y en SSFF 1,5–3,8MM la caída no tiene una señal directa por precio</a:t>
            </a:r>
          </a:p>
        </p:txBody>
      </p:sp>
      <p:cxnSp>
        <p:nvCxnSpPr>
          <p:cNvPr id="4" name="Connector 3"/>
          <p:cNvCxnSpPr/>
          <p:nvPr/>
        </p:nvCxnSpPr>
        <p:spPr>
          <a:xfrm>
            <a:off x="493776" y="1049274"/>
            <a:ext cx="11204463" cy="0"/>
          </a:xfrm>
          <a:prstGeom prst="line">
            <a:avLst/>
          </a:prstGeom>
          <a:ln w="12700">
            <a:solidFill>
              <a:srgbClr val="D5DFDE"/>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93776" y="1120000"/>
            <a:ext cx="5475700" cy="220000"/>
          </a:xfrm>
          <a:prstGeom prst="rect">
            <a:avLst/>
          </a:prstGeom>
          <a:noFill/>
        </p:spPr>
        <p:txBody>
          <a:bodyPr wrap="square" lIns="0" tIns="0" rIns="0" bIns="0" anchor="t">
            <a:spAutoFit/>
          </a:bodyPr>
          <a:lstStyle/>
          <a:p>
            <a:pPr algn="l"/>
            <a:r>
              <a:rPr sz="1000" b="1">
                <a:solidFill>
                  <a:srgbClr val="2F3B3A"/>
                </a:solidFill>
                <a:latin typeface="Calibri"/>
              </a:rPr>
              <a:t>Share relevante por trimestre (%) · </a:t>
            </a:r>
            <a:r>
              <a:rPr sz="1000" b="1">
                <a:solidFill>
                  <a:srgbClr val="13807B"/>
                </a:solidFill>
              </a:rPr>
              <a:t>tramos por deuda en el SSFF 12m</a:t>
            </a:r>
          </a:p>
        </p:txBody>
      </p:sp>
      <p:graphicFrame>
        <p:nvGraphicFramePr>
          <p:cNvPr id="7" name="Chart 6"/>
          <p:cNvGraphicFramePr>
            <a:graphicFrameLocks noGrp="1"/>
          </p:cNvGraphicFramePr>
          <p:nvPr/>
        </p:nvGraphicFramePr>
        <p:xfrm>
          <a:off x="493776" y="1330000"/>
          <a:ext cx="5475700" cy="2250000"/>
        </p:xfrm>
        <a:graphic>
          <a:graphicData uri="http://schemas.openxmlformats.org/drawingml/2006/chart">
            <c:chart xmlns:c="http://schemas.openxmlformats.org/drawingml/2006/chart" xmlns:r="http://schemas.openxmlformats.org/officeDocument/2006/relationships" r:id="rId2"/>
          </a:graphicData>
        </a:graphic>
      </p:graphicFrame>
      <p:sp>
        <p:nvSpPr>
          <p:cNvPr id="11" name="TextBox 10"/>
          <p:cNvSpPr txBox="1"/>
          <p:nvPr/>
        </p:nvSpPr>
        <p:spPr>
          <a:xfrm>
            <a:off x="493776" y="3720000"/>
            <a:ext cx="2662850" cy="220000"/>
          </a:xfrm>
          <a:prstGeom prst="rect">
            <a:avLst/>
          </a:prstGeom>
          <a:noFill/>
        </p:spPr>
        <p:txBody>
          <a:bodyPr wrap="square" lIns="0" tIns="0" rIns="0" bIns="0" anchor="t">
            <a:spAutoFit/>
          </a:bodyPr>
          <a:lstStyle/>
          <a:p>
            <a:pPr algn="l"/>
            <a:r>
              <a:rPr sz="900" b="1">
                <a:solidFill>
                  <a:srgbClr val="2F3B3A"/>
                </a:solidFill>
                <a:latin typeface="Calibri"/>
              </a:rPr>
              <a:t>TEA promedio ponderado · </a:t>
            </a:r>
            <a:r>
              <a:rPr sz="900" b="1">
                <a:solidFill>
                  <a:srgbClr val="13807B"/>
                </a:solidFill>
              </a:rPr>
              <a:t>SSFF ≤ 1,5MM</a:t>
            </a:r>
          </a:p>
        </p:txBody>
      </p:sp>
      <p:graphicFrame>
        <p:nvGraphicFramePr>
          <p:cNvPr id="12" name="Chart 11"/>
          <p:cNvGraphicFramePr>
            <a:graphicFrameLocks noGrp="1"/>
          </p:cNvGraphicFramePr>
          <p:nvPr/>
        </p:nvGraphicFramePr>
        <p:xfrm>
          <a:off x="493776" y="3930000"/>
          <a:ext cx="2662850" cy="2350000"/>
        </p:xfrm>
        <a:graphic>
          <a:graphicData uri="http://schemas.openxmlformats.org/drawingml/2006/chart">
            <c:chart xmlns:c="http://schemas.openxmlformats.org/drawingml/2006/chart" xmlns:r="http://schemas.openxmlformats.org/officeDocument/2006/relationships" r:id="rId3"/>
          </a:graphicData>
        </a:graphic>
      </p:graphicFrame>
      <p:sp>
        <p:nvSpPr>
          <p:cNvPr id="13" name="TextBox 12"/>
          <p:cNvSpPr txBox="1"/>
          <p:nvPr/>
        </p:nvSpPr>
        <p:spPr>
          <a:xfrm>
            <a:off x="3306626" y="3720000"/>
            <a:ext cx="2662850" cy="220000"/>
          </a:xfrm>
          <a:prstGeom prst="rect">
            <a:avLst/>
          </a:prstGeom>
          <a:noFill/>
        </p:spPr>
        <p:txBody>
          <a:bodyPr wrap="square" lIns="0" tIns="0" rIns="0" bIns="0" anchor="t">
            <a:spAutoFit/>
          </a:bodyPr>
          <a:lstStyle/>
          <a:p>
            <a:pPr algn="l"/>
            <a:r>
              <a:rPr sz="900" b="1">
                <a:solidFill>
                  <a:srgbClr val="2F3B3A"/>
                </a:solidFill>
                <a:latin typeface="Calibri"/>
              </a:rPr>
              <a:t>TEA promedio ponderado · </a:t>
            </a:r>
            <a:r>
              <a:rPr sz="900" b="1">
                <a:solidFill>
                  <a:srgbClr val="E5173F"/>
                </a:solidFill>
              </a:rPr>
              <a:t>SSFF 1,5–3,8MM</a:t>
            </a:r>
          </a:p>
        </p:txBody>
      </p:sp>
      <p:graphicFrame>
        <p:nvGraphicFramePr>
          <p:cNvPr id="14" name="Chart 13"/>
          <p:cNvGraphicFramePr>
            <a:graphicFrameLocks noGrp="1"/>
          </p:cNvGraphicFramePr>
          <p:nvPr/>
        </p:nvGraphicFramePr>
        <p:xfrm>
          <a:off x="3306626" y="3930000"/>
          <a:ext cx="2662850" cy="2350000"/>
        </p:xfrm>
        <a:graphic>
          <a:graphicData uri="http://schemas.openxmlformats.org/drawingml/2006/chart">
            <c:chart xmlns:c="http://schemas.openxmlformats.org/drawingml/2006/chart" xmlns:r="http://schemas.openxmlformats.org/officeDocument/2006/relationships" r:id="rId4"/>
          </a:graphicData>
        </a:graphic>
      </p:graphicFrame>
      <p:sp>
        <p:nvSpPr>
          <p:cNvPr id="16" name="Rectangle 15"/>
          <p:cNvSpPr/>
          <p:nvPr/>
        </p:nvSpPr>
        <p:spPr>
          <a:xfrm>
            <a:off x="6219476" y="4140000"/>
            <a:ext cx="5475700" cy="2340000"/>
          </a:xfrm>
          <a:prstGeom prst="rect">
            <a:avLst/>
          </a:prstGeom>
          <a:solidFill>
            <a:srgbClr val="F1F6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219476" y="4140000"/>
            <a:ext cx="45000" cy="2340000"/>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93776" y="6380000"/>
            <a:ext cx="11201400" cy="300000"/>
          </a:xfrm>
          <a:prstGeom prst="rect">
            <a:avLst/>
          </a:prstGeom>
          <a:noFill/>
        </p:spPr>
        <p:txBody>
          <a:bodyPr wrap="square" lIns="0" tIns="0" rIns="0" bIns="0" anchor="t">
            <a:spAutoFit/>
          </a:bodyPr>
          <a:lstStyle/>
          <a:p>
            <a:pPr algn="l"/>
            <a:r>
              <a:rPr sz="700" b="0">
                <a:solidFill>
                  <a:srgbClr val="6E7E7D"/>
                </a:solidFill>
                <a:latin typeface="Calibri"/>
              </a:rPr>
              <a:t>2T26* = abr–may.</a:t>
            </a:r>
          </a:p>
        </p:txBody>
      </p:sp>
      <p:sp>
        <p:nvSpPr>
          <p:cNvPr id="20" name="TextBox 19"/>
          <p:cNvSpPr txBox="1"/>
          <p:nvPr/>
        </p:nvSpPr>
        <p:spPr>
          <a:xfrm>
            <a:off x="6219476" y="1120000"/>
            <a:ext cx="5475700" cy="200000"/>
          </a:xfrm>
          <a:prstGeom prst="rect">
            <a:avLst/>
          </a:prstGeom>
          <a:noFill/>
        </p:spPr>
        <p:txBody>
          <a:bodyPr wrap="square" lIns="0" tIns="0" rIns="0" bIns="0">
            <a:spAutoFit/>
          </a:bodyPr>
          <a:lstStyle/>
          <a:p>
            <a:pPr algn="l"/>
            <a:r>
              <a:rPr sz="1000" b="1">
                <a:solidFill>
                  <a:srgbClr val="2F3B3A"/>
                </a:solidFill>
                <a:latin typeface="Lato"/>
              </a:rPr>
              <a:t>TEA mediana ponderada por apertura · </a:t>
            </a:r>
            <a:r>
              <a:rPr sz="1000" b="1">
                <a:solidFill>
                  <a:srgbClr val="6E7E7D"/>
                </a:solidFill>
                <a:latin typeface="Lato"/>
              </a:rPr>
              <a:t>jul–dic 2025</a:t>
            </a:r>
          </a:p>
        </p:txBody>
      </p:sp>
      <p:graphicFrame>
        <p:nvGraphicFramePr>
          <p:cNvPr id="21" name="Chart 20"/>
          <p:cNvGraphicFramePr>
            <a:graphicFrameLocks noGrp="1"/>
          </p:cNvGraphicFramePr>
          <p:nvPr/>
        </p:nvGraphicFramePr>
        <p:xfrm>
          <a:off x="6219476" y="1265449"/>
          <a:ext cx="5475700" cy="1171679"/>
        </p:xfrm>
        <a:graphic>
          <a:graphicData uri="http://schemas.openxmlformats.org/drawingml/2006/chart">
            <c:chart xmlns:c="http://schemas.openxmlformats.org/drawingml/2006/chart" xmlns:r="http://schemas.openxmlformats.org/officeDocument/2006/relationships" r:id="rId5"/>
          </a:graphicData>
        </a:graphic>
      </p:graphicFrame>
      <p:sp>
        <p:nvSpPr>
          <p:cNvPr id="22" name="TextBox 21"/>
          <p:cNvSpPr txBox="1"/>
          <p:nvPr/>
        </p:nvSpPr>
        <p:spPr>
          <a:xfrm>
            <a:off x="6743158" y="2309052"/>
            <a:ext cx="1800000" cy="180000"/>
          </a:xfrm>
          <a:prstGeom prst="rect">
            <a:avLst/>
          </a:prstGeom>
          <a:noFill/>
        </p:spPr>
        <p:txBody>
          <a:bodyPr wrap="square" lIns="0" tIns="0" rIns="0" bIns="0">
            <a:spAutoFit/>
          </a:bodyPr>
          <a:lstStyle/>
          <a:p>
            <a:pPr algn="ctr"/>
            <a:r>
              <a:rPr sz="900" b="1">
                <a:solidFill>
                  <a:srgbClr val="13807B"/>
                </a:solidFill>
                <a:latin typeface="Lato"/>
              </a:rPr>
              <a:t>SSFF ≤ 1,5MM</a:t>
            </a:r>
          </a:p>
        </p:txBody>
      </p:sp>
      <p:sp>
        <p:nvSpPr>
          <p:cNvPr id="24" name="TextBox 23"/>
          <p:cNvSpPr txBox="1"/>
          <p:nvPr/>
        </p:nvSpPr>
        <p:spPr>
          <a:xfrm>
            <a:off x="9371494" y="2309052"/>
            <a:ext cx="1800000" cy="180000"/>
          </a:xfrm>
          <a:prstGeom prst="rect">
            <a:avLst/>
          </a:prstGeom>
          <a:noFill/>
        </p:spPr>
        <p:txBody>
          <a:bodyPr wrap="square" lIns="0" tIns="0" rIns="0" bIns="0">
            <a:spAutoFit/>
          </a:bodyPr>
          <a:lstStyle/>
          <a:p>
            <a:pPr algn="ctr"/>
            <a:r>
              <a:rPr sz="900" b="1">
                <a:solidFill>
                  <a:srgbClr val="E5173F"/>
                </a:solidFill>
                <a:latin typeface="Lato"/>
              </a:rPr>
              <a:t>SSFF 1,5–3,8MM</a:t>
            </a:r>
          </a:p>
        </p:txBody>
      </p:sp>
      <p:sp>
        <p:nvSpPr>
          <p:cNvPr id="25" name="TextBox 24"/>
          <p:cNvSpPr txBox="1"/>
          <p:nvPr/>
        </p:nvSpPr>
        <p:spPr>
          <a:xfrm>
            <a:off x="6219476" y="2606820"/>
            <a:ext cx="5475700" cy="200000"/>
          </a:xfrm>
          <a:prstGeom prst="rect">
            <a:avLst/>
          </a:prstGeom>
          <a:noFill/>
        </p:spPr>
        <p:txBody>
          <a:bodyPr wrap="square" lIns="0" tIns="0" rIns="0" bIns="0">
            <a:spAutoFit/>
          </a:bodyPr>
          <a:lstStyle/>
          <a:p>
            <a:pPr algn="l"/>
            <a:r>
              <a:rPr sz="1000" b="1">
                <a:solidFill>
                  <a:srgbClr val="2F3B3A"/>
                </a:solidFill>
                <a:latin typeface="Lato"/>
              </a:rPr>
              <a:t>TEA mediana ponderada por apertura · </a:t>
            </a:r>
            <a:r>
              <a:rPr sz="1000" b="1">
                <a:solidFill>
                  <a:srgbClr val="13807B"/>
                </a:solidFill>
                <a:latin typeface="Lato"/>
              </a:rPr>
              <a:t>ene–may 2026</a:t>
            </a:r>
          </a:p>
        </p:txBody>
      </p:sp>
      <p:graphicFrame>
        <p:nvGraphicFramePr>
          <p:cNvPr id="26" name="Chart 25"/>
          <p:cNvGraphicFramePr>
            <a:graphicFrameLocks noGrp="1"/>
          </p:cNvGraphicFramePr>
          <p:nvPr/>
        </p:nvGraphicFramePr>
        <p:xfrm>
          <a:off x="6219476" y="2752271"/>
          <a:ext cx="5475700" cy="969665"/>
        </p:xfrm>
        <a:graphic>
          <a:graphicData uri="http://schemas.openxmlformats.org/drawingml/2006/chart">
            <c:chart xmlns:c="http://schemas.openxmlformats.org/drawingml/2006/chart" xmlns:r="http://schemas.openxmlformats.org/officeDocument/2006/relationships" r:id="rId6"/>
          </a:graphicData>
        </a:graphic>
      </p:graphicFrame>
      <p:sp>
        <p:nvSpPr>
          <p:cNvPr id="27" name="TextBox 26"/>
          <p:cNvSpPr txBox="1"/>
          <p:nvPr/>
        </p:nvSpPr>
        <p:spPr>
          <a:xfrm>
            <a:off x="6743158" y="3610425"/>
            <a:ext cx="1800000" cy="180000"/>
          </a:xfrm>
          <a:prstGeom prst="rect">
            <a:avLst/>
          </a:prstGeom>
          <a:noFill/>
        </p:spPr>
        <p:txBody>
          <a:bodyPr wrap="square" lIns="0" tIns="0" rIns="0" bIns="0">
            <a:spAutoFit/>
          </a:bodyPr>
          <a:lstStyle/>
          <a:p>
            <a:pPr algn="ctr"/>
            <a:r>
              <a:rPr sz="900" b="1">
                <a:solidFill>
                  <a:srgbClr val="13807B"/>
                </a:solidFill>
                <a:latin typeface="Lato"/>
              </a:rPr>
              <a:t>SSFF ≤ 1,5MM</a:t>
            </a:r>
          </a:p>
        </p:txBody>
      </p:sp>
      <p:sp>
        <p:nvSpPr>
          <p:cNvPr id="29" name="TextBox 28"/>
          <p:cNvSpPr txBox="1"/>
          <p:nvPr/>
        </p:nvSpPr>
        <p:spPr>
          <a:xfrm>
            <a:off x="9371494" y="3610425"/>
            <a:ext cx="1800000" cy="180000"/>
          </a:xfrm>
          <a:prstGeom prst="rect">
            <a:avLst/>
          </a:prstGeom>
          <a:noFill/>
        </p:spPr>
        <p:txBody>
          <a:bodyPr wrap="square" lIns="0" tIns="0" rIns="0" bIns="0">
            <a:spAutoFit/>
          </a:bodyPr>
          <a:lstStyle/>
          <a:p>
            <a:pPr algn="ctr"/>
            <a:r>
              <a:rPr sz="900" b="1">
                <a:solidFill>
                  <a:srgbClr val="E5173F"/>
                </a:solidFill>
                <a:latin typeface="Lato"/>
              </a:rPr>
              <a:t>SSFF 1,5–3,8MM</a:t>
            </a:r>
          </a:p>
        </p:txBody>
      </p:sp>
      <p:sp>
        <p:nvSpPr>
          <p:cNvPr id="30" name="Rectangle 29"/>
          <p:cNvSpPr/>
          <p:nvPr/>
        </p:nvSpPr>
        <p:spPr>
          <a:xfrm>
            <a:off x="10548929" y="2810450"/>
            <a:ext cx="905315" cy="775732"/>
          </a:xfrm>
          <a:prstGeom prst="rect">
            <a:avLst/>
          </a:prstGeom>
          <a:noFill/>
          <a:ln w="15875">
            <a:solidFill>
              <a:srgbClr val="E5173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9995176" y="2610861"/>
            <a:ext cx="1700000" cy="170000"/>
          </a:xfrm>
          <a:prstGeom prst="rect">
            <a:avLst/>
          </a:prstGeom>
          <a:noFill/>
        </p:spPr>
        <p:txBody>
          <a:bodyPr wrap="square" lIns="0" tIns="0" rIns="0" bIns="0">
            <a:spAutoFit/>
          </a:bodyPr>
          <a:lstStyle/>
          <a:p>
            <a:pPr algn="r"/>
            <a:r>
              <a:rPr sz="750" b="1">
                <a:solidFill>
                  <a:srgbClr val="E5173F"/>
                </a:solidFill>
                <a:latin typeface="Lato"/>
              </a:rPr>
              <a:t>▢ Inconsistente, por profundizar</a:t>
            </a:r>
          </a:p>
        </p:txBody>
      </p:sp>
      <p:sp>
        <p:nvSpPr>
          <p:cNvPr id="32" name="TextBox 31"/>
          <p:cNvSpPr txBox="1"/>
          <p:nvPr/>
        </p:nvSpPr>
        <p:spPr>
          <a:xfrm>
            <a:off x="6219476" y="3950000"/>
            <a:ext cx="5475700" cy="200000"/>
          </a:xfrm>
          <a:prstGeom prst="rect">
            <a:avLst/>
          </a:prstGeom>
          <a:noFill/>
        </p:spPr>
        <p:txBody>
          <a:bodyPr wrap="square" lIns="0" tIns="0" rIns="0" bIns="0">
            <a:spAutoFit/>
          </a:bodyPr>
          <a:lstStyle/>
          <a:p>
            <a:pPr algn="l"/>
            <a:r>
              <a:rPr sz="1000" b="1">
                <a:solidFill>
                  <a:srgbClr val="2F3B3A"/>
                </a:solidFill>
                <a:latin typeface="Lato"/>
              </a:rPr>
              <a:t>Insights</a:t>
            </a:r>
          </a:p>
        </p:txBody>
      </p:sp>
      <p:sp>
        <p:nvSpPr>
          <p:cNvPr id="33" name="TextBox 32"/>
          <p:cNvSpPr txBox="1"/>
          <p:nvPr/>
        </p:nvSpPr>
        <p:spPr>
          <a:xfrm>
            <a:off x="6369476" y="4190000"/>
            <a:ext cx="5225700" cy="2250000"/>
          </a:xfrm>
          <a:prstGeom prst="rect">
            <a:avLst/>
          </a:prstGeom>
          <a:noFill/>
        </p:spPr>
        <p:txBody>
          <a:bodyPr wrap="square" lIns="0" tIns="0" rIns="0" bIns="0">
            <a:spAutoFit/>
          </a:bodyPr>
          <a:lstStyle/>
          <a:p>
            <a:pPr algn="l"/>
            <a:r>
              <a:rPr sz="1000" b="1" dirty="0">
                <a:solidFill>
                  <a:srgbClr val="13807B"/>
                </a:solidFill>
                <a:latin typeface="Calibri"/>
              </a:rPr>
              <a:t>SSFF ≤ 1,5MM</a:t>
            </a:r>
            <a:r>
              <a:rPr sz="750" b="0" dirty="0">
                <a:solidFill>
                  <a:srgbClr val="6E7E7D"/>
                </a:solidFill>
                <a:latin typeface="Calibri"/>
              </a:rPr>
              <a:t>   share 80 → 71</a:t>
            </a:r>
          </a:p>
          <a:p>
            <a:pPr algn="l">
              <a:spcBef>
                <a:spcPts val="300"/>
              </a:spcBef>
            </a:pPr>
            <a:r>
              <a:rPr sz="750" b="1" dirty="0">
                <a:solidFill>
                  <a:srgbClr val="13807B"/>
                </a:solidFill>
                <a:latin typeface="Calibri"/>
              </a:rPr>
              <a:t>• </a:t>
            </a:r>
            <a:r>
              <a:rPr sz="750" b="0" dirty="0">
                <a:solidFill>
                  <a:srgbClr val="2F3B3A"/>
                </a:solidFill>
                <a:latin typeface="Calibri"/>
              </a:rPr>
              <a:t>Share </a:t>
            </a:r>
            <a:r>
              <a:rPr sz="750" b="0" dirty="0" err="1">
                <a:solidFill>
                  <a:srgbClr val="2F3B3A"/>
                </a:solidFill>
                <a:latin typeface="Calibri"/>
              </a:rPr>
              <a:t>volátil</a:t>
            </a:r>
            <a:r>
              <a:rPr sz="750" b="0" dirty="0">
                <a:solidFill>
                  <a:srgbClr val="2F3B3A"/>
                </a:solidFill>
                <a:latin typeface="Calibri"/>
              </a:rPr>
              <a:t>, </a:t>
            </a:r>
            <a:r>
              <a:rPr sz="750" b="0" dirty="0" err="1">
                <a:solidFill>
                  <a:srgbClr val="2F3B3A"/>
                </a:solidFill>
                <a:latin typeface="Calibri"/>
              </a:rPr>
              <a:t>que</a:t>
            </a:r>
            <a:r>
              <a:rPr sz="750" b="0" dirty="0">
                <a:solidFill>
                  <a:srgbClr val="2F3B3A"/>
                </a:solidFill>
                <a:latin typeface="Calibri"/>
              </a:rPr>
              <a:t> se </a:t>
            </a:r>
            <a:r>
              <a:rPr sz="750" b="0" dirty="0" err="1">
                <a:solidFill>
                  <a:srgbClr val="2F3B3A"/>
                </a:solidFill>
                <a:latin typeface="Calibri"/>
              </a:rPr>
              <a:t>recupera</a:t>
            </a:r>
            <a:r>
              <a:rPr sz="750" b="0" dirty="0">
                <a:solidFill>
                  <a:srgbClr val="2F3B3A"/>
                </a:solidFill>
                <a:latin typeface="Calibri"/>
              </a:rPr>
              <a:t> el </a:t>
            </a:r>
            <a:r>
              <a:rPr sz="750" b="0" dirty="0" err="1">
                <a:solidFill>
                  <a:srgbClr val="2F3B3A"/>
                </a:solidFill>
                <a:latin typeface="Calibri"/>
              </a:rPr>
              <a:t>último</a:t>
            </a:r>
            <a:r>
              <a:rPr sz="750" b="0" dirty="0">
                <a:solidFill>
                  <a:srgbClr val="2F3B3A"/>
                </a:solidFill>
                <a:latin typeface="Calibri"/>
              </a:rPr>
              <a:t> </a:t>
            </a:r>
            <a:r>
              <a:rPr sz="750" b="0" dirty="0" err="1">
                <a:solidFill>
                  <a:srgbClr val="2F3B3A"/>
                </a:solidFill>
                <a:latin typeface="Calibri"/>
              </a:rPr>
              <a:t>trimestre</a:t>
            </a:r>
            <a:endParaRPr sz="850" b="0" dirty="0">
              <a:solidFill>
                <a:srgbClr val="2F3B3A"/>
              </a:solidFill>
              <a:latin typeface="Calibri"/>
            </a:endParaRPr>
          </a:p>
          <a:p>
            <a:pPr algn="l">
              <a:spcBef>
                <a:spcPts val="300"/>
              </a:spcBef>
            </a:pPr>
            <a:r>
              <a:rPr sz="750" b="1" dirty="0">
                <a:solidFill>
                  <a:srgbClr val="13807B"/>
                </a:solidFill>
                <a:latin typeface="Calibri"/>
              </a:rPr>
              <a:t>• </a:t>
            </a:r>
            <a:r>
              <a:rPr sz="750" b="0" dirty="0">
                <a:solidFill>
                  <a:srgbClr val="2F3B3A"/>
                </a:solidFill>
                <a:latin typeface="Calibri"/>
              </a:rPr>
              <a:t>La brecha entre la tasa ofertada y la desembolsada se mueve entre 220 y 440 pbs, con una baja puntual en 4T25 cuando bajó la oferta</a:t>
            </a:r>
          </a:p>
          <a:p>
            <a:pPr algn="l">
              <a:spcBef>
                <a:spcPts val="300"/>
              </a:spcBef>
            </a:pPr>
            <a:r>
              <a:rPr sz="750" b="1" dirty="0">
                <a:solidFill>
                  <a:srgbClr val="13807B"/>
                </a:solidFill>
                <a:latin typeface="Calibri"/>
              </a:rPr>
              <a:t>• </a:t>
            </a:r>
            <a:r>
              <a:rPr sz="750" b="0" dirty="0">
                <a:solidFill>
                  <a:srgbClr val="2F3B3A"/>
                </a:solidFill>
                <a:latin typeface="Calibri"/>
              </a:rPr>
              <a:t>En 2025 la competencia era más competitiva y aun así el share se sostenía. En 2026 cobra más que nosotros, con pocas tasas, así que el espacio para subir es reciente</a:t>
            </a:r>
            <a:endParaRPr sz="850" b="0" dirty="0">
              <a:solidFill>
                <a:srgbClr val="2F3B3A"/>
              </a:solidFill>
              <a:latin typeface="Calibri"/>
            </a:endParaRPr>
          </a:p>
          <a:p>
            <a:pPr algn="l">
              <a:spcBef>
                <a:spcPts val="300"/>
              </a:spcBef>
            </a:pPr>
            <a:r>
              <a:rPr sz="750" b="1" dirty="0" err="1">
                <a:solidFill>
                  <a:srgbClr val="13807B"/>
                </a:solidFill>
                <a:latin typeface="Calibri"/>
              </a:rPr>
              <a:t>Estrategia</a:t>
            </a:r>
            <a:r>
              <a:rPr sz="750" b="1" dirty="0">
                <a:solidFill>
                  <a:srgbClr val="13807B"/>
                </a:solidFill>
                <a:latin typeface="Calibri"/>
              </a:rPr>
              <a:t> de </a:t>
            </a:r>
            <a:r>
              <a:rPr sz="750" b="1" dirty="0" err="1">
                <a:solidFill>
                  <a:srgbClr val="13807B"/>
                </a:solidFill>
                <a:latin typeface="Calibri"/>
              </a:rPr>
              <a:t>pilotos</a:t>
            </a:r>
            <a:r>
              <a:rPr sz="750" b="1" dirty="0">
                <a:solidFill>
                  <a:srgbClr val="13807B"/>
                </a:solidFill>
                <a:latin typeface="Calibri"/>
              </a:rPr>
              <a:t>: </a:t>
            </a:r>
            <a:r>
              <a:rPr sz="750" b="1" dirty="0">
                <a:solidFill>
                  <a:srgbClr val="2F3B3A"/>
                </a:solidFill>
                <a:latin typeface="Calibri"/>
              </a:rPr>
              <a:t>Subir</a:t>
            </a:r>
            <a:r>
              <a:rPr lang="es-ES" sz="750" b="1" dirty="0">
                <a:solidFill>
                  <a:srgbClr val="2F3B3A"/>
                </a:solidFill>
                <a:latin typeface="Calibri"/>
              </a:rPr>
              <a:t> precio</a:t>
            </a:r>
            <a:r>
              <a:rPr sz="750" b="1" dirty="0">
                <a:solidFill>
                  <a:srgbClr val="2F3B3A"/>
                </a:solidFill>
                <a:latin typeface="Calibri"/>
              </a:rPr>
              <a:t> de forma </a:t>
            </a:r>
            <a:r>
              <a:rPr sz="750" b="1" dirty="0" err="1">
                <a:solidFill>
                  <a:srgbClr val="2F3B3A"/>
                </a:solidFill>
                <a:latin typeface="Calibri"/>
              </a:rPr>
              <a:t>acotada, monitoreando el share</a:t>
            </a:r>
            <a:endParaRPr sz="850" b="1" dirty="0">
              <a:solidFill>
                <a:srgbClr val="2F3B3A"/>
              </a:solidFill>
              <a:latin typeface="Calibri"/>
            </a:endParaRPr>
          </a:p>
          <a:p>
            <a:pPr algn="l">
              <a:spcBef>
                <a:spcPts val="300"/>
              </a:spcBef>
            </a:pPr>
            <a:r>
              <a:rPr sz="400" b="0" dirty="0">
                <a:solidFill>
                  <a:srgbClr val="2F3B3A"/>
                </a:solidFill>
                <a:latin typeface="Calibri"/>
              </a:rPr>
              <a:t> </a:t>
            </a:r>
          </a:p>
          <a:p>
            <a:pPr algn="l">
              <a:spcBef>
                <a:spcPts val="300"/>
              </a:spcBef>
            </a:pPr>
            <a:r>
              <a:rPr sz="1000" b="1" dirty="0">
                <a:solidFill>
                  <a:srgbClr val="E5173F"/>
                </a:solidFill>
                <a:latin typeface="Calibri"/>
              </a:rPr>
              <a:t>SSFF 1,5–3,8MM</a:t>
            </a:r>
            <a:r>
              <a:rPr sz="750" b="0" dirty="0">
                <a:solidFill>
                  <a:srgbClr val="6E7E7D"/>
                </a:solidFill>
                <a:latin typeface="Calibri"/>
              </a:rPr>
              <a:t>   share 71 → 33</a:t>
            </a:r>
          </a:p>
          <a:p>
            <a:pPr algn="l">
              <a:spcBef>
                <a:spcPts val="300"/>
              </a:spcBef>
            </a:pPr>
            <a:r>
              <a:rPr sz="750" b="1" dirty="0">
                <a:solidFill>
                  <a:srgbClr val="13807B"/>
                </a:solidFill>
                <a:latin typeface="Calibri"/>
              </a:rPr>
              <a:t>• </a:t>
            </a:r>
            <a:r>
              <a:rPr sz="750" b="0" dirty="0" err="1">
                <a:solidFill>
                  <a:srgbClr val="2F3B3A"/>
                </a:solidFill>
                <a:latin typeface="Calibri"/>
              </a:rPr>
              <a:t>Caída</a:t>
            </a:r>
            <a:r>
              <a:rPr sz="750" b="0" dirty="0">
                <a:solidFill>
                  <a:srgbClr val="2F3B3A"/>
                </a:solidFill>
                <a:latin typeface="Calibri"/>
              </a:rPr>
              <a:t> </a:t>
            </a:r>
            <a:r>
              <a:rPr sz="750" b="0" dirty="0" err="1">
                <a:solidFill>
                  <a:srgbClr val="2F3B3A"/>
                </a:solidFill>
                <a:latin typeface="Calibri"/>
              </a:rPr>
              <a:t>abrupta</a:t>
            </a:r>
            <a:r>
              <a:rPr sz="750" b="0" dirty="0">
                <a:solidFill>
                  <a:srgbClr val="2F3B3A"/>
                </a:solidFill>
                <a:latin typeface="Calibri"/>
              </a:rPr>
              <a:t> del share </a:t>
            </a:r>
            <a:r>
              <a:rPr sz="750" b="0" dirty="0" err="1">
                <a:solidFill>
                  <a:srgbClr val="2F3B3A"/>
                </a:solidFill>
                <a:latin typeface="Calibri"/>
              </a:rPr>
              <a:t>en</a:t>
            </a:r>
            <a:r>
              <a:rPr sz="750" b="0" dirty="0">
                <a:solidFill>
                  <a:srgbClr val="2F3B3A"/>
                </a:solidFill>
                <a:latin typeface="Calibri"/>
              </a:rPr>
              <a:t> </a:t>
            </a:r>
            <a:r>
              <a:rPr sz="750" b="0" dirty="0" err="1">
                <a:solidFill>
                  <a:srgbClr val="2F3B3A"/>
                </a:solidFill>
                <a:latin typeface="Calibri"/>
              </a:rPr>
              <a:t>todo</a:t>
            </a:r>
            <a:r>
              <a:rPr sz="750" b="0" dirty="0">
                <a:solidFill>
                  <a:srgbClr val="2F3B3A"/>
                </a:solidFill>
                <a:latin typeface="Calibri"/>
              </a:rPr>
              <a:t> el </a:t>
            </a:r>
            <a:r>
              <a:rPr sz="750" b="0" dirty="0" err="1">
                <a:solidFill>
                  <a:srgbClr val="2F3B3A"/>
                </a:solidFill>
                <a:latin typeface="Calibri"/>
              </a:rPr>
              <a:t>periodo</a:t>
            </a:r>
            <a:endParaRPr sz="850" b="0" dirty="0">
              <a:solidFill>
                <a:srgbClr val="2F3B3A"/>
              </a:solidFill>
              <a:latin typeface="Calibri"/>
            </a:endParaRPr>
          </a:p>
          <a:p>
            <a:pPr algn="l">
              <a:spcBef>
                <a:spcPts val="300"/>
              </a:spcBef>
            </a:pPr>
            <a:r>
              <a:rPr sz="750" b="1" dirty="0">
                <a:solidFill>
                  <a:srgbClr val="13807B"/>
                </a:solidFill>
                <a:latin typeface="Calibri"/>
              </a:rPr>
              <a:t>• </a:t>
            </a:r>
            <a:r>
              <a:rPr sz="750" b="0" dirty="0">
                <a:solidFill>
                  <a:srgbClr val="2F3B3A"/>
                </a:solidFill>
                <a:latin typeface="Calibri"/>
              </a:rPr>
              <a:t>La brecha entre la tasa ofertada y la desembolsada se mantiene estable, entre 250 y 340 pbs</a:t>
            </a:r>
          </a:p>
          <a:p>
            <a:pPr algn="l">
              <a:spcBef>
                <a:spcPts val="300"/>
              </a:spcBef>
            </a:pPr>
            <a:r>
              <a:rPr sz="750" b="1" dirty="0">
                <a:solidFill>
                  <a:srgbClr val="13807B"/>
                </a:solidFill>
                <a:latin typeface="Calibri"/>
              </a:rPr>
              <a:t>• </a:t>
            </a:r>
            <a:r>
              <a:rPr sz="750" b="0" dirty="0">
                <a:solidFill>
                  <a:srgbClr val="2F3B3A"/>
                </a:solidFill>
                <a:latin typeface="Calibri"/>
              </a:rPr>
              <a:t>Con el </a:t>
            </a:r>
            <a:r>
              <a:rPr sz="750" b="0" dirty="0" err="1">
                <a:solidFill>
                  <a:srgbClr val="2F3B3A"/>
                </a:solidFill>
                <a:latin typeface="Calibri"/>
              </a:rPr>
              <a:t>mismo</a:t>
            </a:r>
            <a:r>
              <a:rPr sz="750" b="0" dirty="0">
                <a:solidFill>
                  <a:srgbClr val="2F3B3A"/>
                </a:solidFill>
                <a:latin typeface="Calibri"/>
              </a:rPr>
              <a:t> </a:t>
            </a:r>
            <a:r>
              <a:rPr sz="750" b="0" dirty="0" err="1">
                <a:solidFill>
                  <a:srgbClr val="2F3B3A"/>
                </a:solidFill>
                <a:latin typeface="Calibri"/>
              </a:rPr>
              <a:t>descuento</a:t>
            </a:r>
            <a:r>
              <a:rPr sz="750" b="0" dirty="0">
                <a:solidFill>
                  <a:srgbClr val="2F3B3A"/>
                </a:solidFill>
                <a:latin typeface="Calibri"/>
              </a:rPr>
              <a:t> el share </a:t>
            </a:r>
            <a:r>
              <a:rPr sz="750" b="0" dirty="0" err="1">
                <a:solidFill>
                  <a:srgbClr val="2F3B3A"/>
                </a:solidFill>
                <a:latin typeface="Calibri"/>
              </a:rPr>
              <a:t>cae</a:t>
            </a:r>
            <a:r>
              <a:rPr sz="750" b="0" dirty="0">
                <a:solidFill>
                  <a:srgbClr val="2F3B3A"/>
                </a:solidFill>
                <a:latin typeface="Calibri"/>
              </a:rPr>
              <a:t> sin pausa, </a:t>
            </a:r>
            <a:r>
              <a:rPr sz="750" b="0" dirty="0" err="1">
                <a:solidFill>
                  <a:srgbClr val="2F3B3A"/>
                </a:solidFill>
                <a:latin typeface="Calibri"/>
              </a:rPr>
              <a:t>así</a:t>
            </a:r>
            <a:r>
              <a:rPr sz="750" b="0" dirty="0">
                <a:solidFill>
                  <a:srgbClr val="2F3B3A"/>
                </a:solidFill>
                <a:latin typeface="Calibri"/>
              </a:rPr>
              <a:t> </a:t>
            </a:r>
            <a:r>
              <a:rPr sz="750" b="0" dirty="0" err="1">
                <a:solidFill>
                  <a:srgbClr val="2F3B3A"/>
                </a:solidFill>
                <a:latin typeface="Calibri"/>
              </a:rPr>
              <a:t>que</a:t>
            </a:r>
            <a:r>
              <a:rPr sz="750" b="0" dirty="0">
                <a:solidFill>
                  <a:srgbClr val="2F3B3A"/>
                </a:solidFill>
                <a:latin typeface="Calibri"/>
              </a:rPr>
              <a:t> la </a:t>
            </a:r>
            <a:r>
              <a:rPr sz="750" b="0" dirty="0" err="1">
                <a:solidFill>
                  <a:srgbClr val="2F3B3A"/>
                </a:solidFill>
                <a:latin typeface="Calibri"/>
              </a:rPr>
              <a:t>caída</a:t>
            </a:r>
            <a:r>
              <a:rPr sz="750" b="0" dirty="0">
                <a:solidFill>
                  <a:srgbClr val="2F3B3A"/>
                </a:solidFill>
                <a:latin typeface="Calibri"/>
              </a:rPr>
              <a:t> no se </a:t>
            </a:r>
            <a:r>
              <a:rPr sz="750" b="0" dirty="0" err="1">
                <a:solidFill>
                  <a:srgbClr val="2F3B3A"/>
                </a:solidFill>
                <a:latin typeface="Calibri"/>
              </a:rPr>
              <a:t>explica</a:t>
            </a:r>
            <a:r>
              <a:rPr sz="750" b="0" dirty="0">
                <a:solidFill>
                  <a:srgbClr val="2F3B3A"/>
                </a:solidFill>
                <a:latin typeface="Calibri"/>
              </a:rPr>
              <a:t> solo </a:t>
            </a:r>
            <a:r>
              <a:rPr sz="750" b="0" dirty="0" err="1">
                <a:solidFill>
                  <a:srgbClr val="2F3B3A"/>
                </a:solidFill>
                <a:latin typeface="Calibri"/>
              </a:rPr>
              <a:t>por</a:t>
            </a:r>
            <a:r>
              <a:rPr sz="750" b="0" dirty="0">
                <a:solidFill>
                  <a:srgbClr val="2F3B3A"/>
                </a:solidFill>
                <a:latin typeface="Calibri"/>
              </a:rPr>
              <a:t> </a:t>
            </a:r>
            <a:r>
              <a:rPr sz="750" b="0" dirty="0" err="1">
                <a:solidFill>
                  <a:srgbClr val="2F3B3A"/>
                </a:solidFill>
                <a:latin typeface="Calibri"/>
              </a:rPr>
              <a:t>precio</a:t>
            </a:r>
            <a:endParaRPr sz="850" b="0" dirty="0">
              <a:solidFill>
                <a:srgbClr val="2F3B3A"/>
              </a:solidFill>
              <a:latin typeface="Calibri"/>
            </a:endParaRPr>
          </a:p>
          <a:p>
            <a:pPr algn="l">
              <a:spcBef>
                <a:spcPts val="300"/>
              </a:spcBef>
            </a:pPr>
            <a:r>
              <a:rPr sz="750" b="1" dirty="0">
                <a:solidFill>
                  <a:srgbClr val="13807B"/>
                </a:solidFill>
                <a:latin typeface="Calibri"/>
              </a:rPr>
              <a:t>• </a:t>
            </a:r>
            <a:r>
              <a:rPr sz="750" b="0" dirty="0">
                <a:solidFill>
                  <a:srgbClr val="2F3B3A"/>
                </a:solidFill>
                <a:latin typeface="Calibri"/>
              </a:rPr>
              <a:t>En 2025 y en 2026 la competencia cobra más que nuestro desembolso y aun así el share cae: resultado inconsistente que hay que profundizar</a:t>
            </a:r>
            <a:endParaRPr sz="850" b="0" dirty="0">
              <a:solidFill>
                <a:srgbClr val="2F3B3A"/>
              </a:solidFill>
              <a:latin typeface="Calibri"/>
            </a:endParaRPr>
          </a:p>
          <a:p>
            <a:pPr algn="l">
              <a:spcBef>
                <a:spcPts val="300"/>
              </a:spcBef>
            </a:pPr>
            <a:r>
              <a:rPr sz="750" b="1" dirty="0" err="1">
                <a:solidFill>
                  <a:srgbClr val="13807B"/>
                </a:solidFill>
                <a:latin typeface="Calibri"/>
              </a:rPr>
              <a:t>Estrategia</a:t>
            </a:r>
            <a:r>
              <a:rPr sz="750" b="1" dirty="0">
                <a:solidFill>
                  <a:srgbClr val="13807B"/>
                </a:solidFill>
                <a:latin typeface="Calibri"/>
              </a:rPr>
              <a:t> de </a:t>
            </a:r>
            <a:r>
              <a:rPr sz="750" b="1" dirty="0" err="1">
                <a:solidFill>
                  <a:srgbClr val="13807B"/>
                </a:solidFill>
                <a:latin typeface="Calibri"/>
              </a:rPr>
              <a:t>pilotos</a:t>
            </a:r>
            <a:r>
              <a:rPr sz="750" b="1" dirty="0">
                <a:solidFill>
                  <a:srgbClr val="13807B"/>
                </a:solidFill>
                <a:latin typeface="Calibri"/>
              </a:rPr>
              <a:t>: </a:t>
            </a:r>
            <a:r>
              <a:rPr sz="750" b="1" dirty="0" err="1">
                <a:solidFill>
                  <a:srgbClr val="2F3B3A"/>
                </a:solidFill>
                <a:latin typeface="Calibri"/>
              </a:rPr>
              <a:t>Mantener</a:t>
            </a:r>
            <a:r>
              <a:rPr lang="es-ES" sz="750" b="1" dirty="0">
                <a:solidFill>
                  <a:srgbClr val="2F3B3A"/>
                </a:solidFill>
                <a:latin typeface="Calibri"/>
              </a:rPr>
              <a:t> precio</a:t>
            </a:r>
            <a:r>
              <a:rPr sz="750" b="1" dirty="0">
                <a:solidFill>
                  <a:srgbClr val="2F3B3A"/>
                </a:solidFill>
                <a:latin typeface="Calibri"/>
              </a:rPr>
              <a:t> y </a:t>
            </a:r>
            <a:r>
              <a:rPr sz="750" b="1" dirty="0" err="1">
                <a:solidFill>
                  <a:srgbClr val="2F3B3A"/>
                </a:solidFill>
                <a:latin typeface="Calibri"/>
              </a:rPr>
              <a:t>probar</a:t>
            </a:r>
            <a:r>
              <a:rPr sz="750" b="1" dirty="0">
                <a:solidFill>
                  <a:srgbClr val="2F3B3A"/>
                </a:solidFill>
                <a:latin typeface="Calibri"/>
              </a:rPr>
              <a:t> </a:t>
            </a:r>
            <a:r>
              <a:rPr sz="750" b="1" dirty="0" err="1">
                <a:solidFill>
                  <a:srgbClr val="2F3B3A"/>
                </a:solidFill>
                <a:latin typeface="Calibri"/>
              </a:rPr>
              <a:t>otras</a:t>
            </a:r>
            <a:r>
              <a:rPr sz="750" b="1" dirty="0">
                <a:solidFill>
                  <a:srgbClr val="2F3B3A"/>
                </a:solidFill>
                <a:latin typeface="Calibri"/>
              </a:rPr>
              <a:t> </a:t>
            </a:r>
            <a:r>
              <a:rPr sz="750" b="1" dirty="0" err="1">
                <a:solidFill>
                  <a:srgbClr val="2F3B3A"/>
                </a:solidFill>
                <a:latin typeface="Calibri"/>
              </a:rPr>
              <a:t>palancas</a:t>
            </a:r>
            <a:endParaRPr sz="850" b="1" dirty="0">
              <a:solidFill>
                <a:srgbClr val="2F3B3A"/>
              </a:solidFill>
              <a:latin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93777" y="246888"/>
            <a:ext cx="8963570" cy="109710"/>
          </a:xfrm>
          <a:prstGeom prst="rect">
            <a:avLst/>
          </a:prstGeom>
          <a:noFill/>
        </p:spPr>
        <p:txBody>
          <a:bodyPr wrap="square" lIns="0" tIns="0" rIns="0" bIns="0" anchor="t">
            <a:spAutoFit/>
          </a:bodyPr>
          <a:lstStyle/>
          <a:p>
            <a:pPr algn="l"/>
            <a:r>
              <a:rPr sz="800" b="1">
                <a:solidFill>
                  <a:srgbClr val="6E7E7D"/>
                </a:solidFill>
                <a:latin typeface="Calibri"/>
              </a:rPr>
              <a:t>SHARE Y TASA POR SEGMENTO · CLIENTE POR REACTIVAR · MEDIANOS POR FIDELIZAR · SOW 40%</a:t>
            </a:r>
          </a:p>
        </p:txBody>
      </p:sp>
      <p:sp>
        <p:nvSpPr>
          <p:cNvPr id="3" name="TextBox 2"/>
          <p:cNvSpPr txBox="1"/>
          <p:nvPr/>
        </p:nvSpPr>
        <p:spPr>
          <a:xfrm>
            <a:off x="493776" y="425196"/>
            <a:ext cx="10312923" cy="482568"/>
          </a:xfrm>
          <a:prstGeom prst="rect">
            <a:avLst/>
          </a:prstGeom>
          <a:noFill/>
        </p:spPr>
        <p:txBody>
          <a:bodyPr wrap="square" lIns="0" tIns="0" rIns="0" bIns="0" anchor="t">
            <a:spAutoFit/>
          </a:bodyPr>
          <a:lstStyle/>
          <a:p>
            <a:pPr algn="l"/>
            <a:r>
              <a:rPr sz="1600" b="1">
                <a:solidFill>
                  <a:srgbClr val="13807B"/>
                </a:solidFill>
                <a:latin typeface="Poppins"/>
              </a:rPr>
              <a:t>Cliente por Reactivar debe bajar la tasa en pasivos menores a S/ 1K y puede probar una subida acotada en pasivos de S/ 5K o más</a:t>
            </a:r>
          </a:p>
        </p:txBody>
      </p:sp>
      <p:cxnSp>
        <p:nvCxnSpPr>
          <p:cNvPr id="4" name="Connector 3"/>
          <p:cNvCxnSpPr/>
          <p:nvPr/>
        </p:nvCxnSpPr>
        <p:spPr>
          <a:xfrm>
            <a:off x="493776" y="1049274"/>
            <a:ext cx="11204463" cy="0"/>
          </a:xfrm>
          <a:prstGeom prst="line">
            <a:avLst/>
          </a:prstGeom>
          <a:ln w="12700">
            <a:solidFill>
              <a:srgbClr val="D5DFDE"/>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93776" y="1120000"/>
            <a:ext cx="5475700" cy="220000"/>
          </a:xfrm>
          <a:prstGeom prst="rect">
            <a:avLst/>
          </a:prstGeom>
          <a:noFill/>
        </p:spPr>
        <p:txBody>
          <a:bodyPr wrap="square" lIns="0" tIns="0" rIns="0" bIns="0" anchor="t">
            <a:spAutoFit/>
          </a:bodyPr>
          <a:lstStyle/>
          <a:p>
            <a:pPr algn="l"/>
            <a:r>
              <a:rPr sz="1000" b="1">
                <a:solidFill>
                  <a:srgbClr val="2F3B3A"/>
                </a:solidFill>
                <a:latin typeface="Calibri"/>
              </a:rPr>
              <a:t>Share relevante por trimestre (%) · </a:t>
            </a:r>
            <a:r>
              <a:rPr sz="1000" b="1">
                <a:solidFill>
                  <a:srgbClr val="13807B"/>
                </a:solidFill>
              </a:rPr>
              <a:t>tramos por pasivos promedio 12m</a:t>
            </a:r>
          </a:p>
        </p:txBody>
      </p:sp>
      <p:graphicFrame>
        <p:nvGraphicFramePr>
          <p:cNvPr id="7" name="Chart 6"/>
          <p:cNvGraphicFramePr>
            <a:graphicFrameLocks noGrp="1"/>
          </p:cNvGraphicFramePr>
          <p:nvPr/>
        </p:nvGraphicFramePr>
        <p:xfrm>
          <a:off x="493776" y="1330000"/>
          <a:ext cx="5475700" cy="2250000"/>
        </p:xfrm>
        <a:graphic>
          <a:graphicData uri="http://schemas.openxmlformats.org/drawingml/2006/chart">
            <c:chart xmlns:c="http://schemas.openxmlformats.org/drawingml/2006/chart" xmlns:r="http://schemas.openxmlformats.org/officeDocument/2006/relationships" r:id="rId2"/>
          </a:graphicData>
        </a:graphic>
      </p:graphicFrame>
      <p:sp>
        <p:nvSpPr>
          <p:cNvPr id="11" name="TextBox 10"/>
          <p:cNvSpPr txBox="1"/>
          <p:nvPr/>
        </p:nvSpPr>
        <p:spPr>
          <a:xfrm>
            <a:off x="3306626" y="3720000"/>
            <a:ext cx="2662850" cy="220000"/>
          </a:xfrm>
          <a:prstGeom prst="rect">
            <a:avLst/>
          </a:prstGeom>
          <a:noFill/>
        </p:spPr>
        <p:txBody>
          <a:bodyPr wrap="square" lIns="0" tIns="0" rIns="0" bIns="0" anchor="t">
            <a:spAutoFit/>
          </a:bodyPr>
          <a:lstStyle/>
          <a:p>
            <a:pPr algn="l"/>
            <a:r>
              <a:rPr sz="900" b="1">
                <a:solidFill>
                  <a:srgbClr val="2F3B3A"/>
                </a:solidFill>
                <a:latin typeface="Calibri"/>
              </a:rPr>
              <a:t>TEA promedio ponderado · </a:t>
            </a:r>
            <a:r>
              <a:rPr sz="900" b="1">
                <a:solidFill>
                  <a:srgbClr val="E5173F"/>
                </a:solidFill>
              </a:rPr>
              <a:t>Pasivos ≥ 5K</a:t>
            </a:r>
          </a:p>
        </p:txBody>
      </p:sp>
      <p:graphicFrame>
        <p:nvGraphicFramePr>
          <p:cNvPr id="12" name="Chart 11"/>
          <p:cNvGraphicFramePr>
            <a:graphicFrameLocks noGrp="1"/>
          </p:cNvGraphicFramePr>
          <p:nvPr/>
        </p:nvGraphicFramePr>
        <p:xfrm>
          <a:off x="3306626" y="3930000"/>
          <a:ext cx="2662850" cy="2350000"/>
        </p:xfrm>
        <a:graphic>
          <a:graphicData uri="http://schemas.openxmlformats.org/drawingml/2006/chart">
            <c:chart xmlns:c="http://schemas.openxmlformats.org/drawingml/2006/chart" xmlns:r="http://schemas.openxmlformats.org/officeDocument/2006/relationships" r:id="rId3"/>
          </a:graphicData>
        </a:graphic>
      </p:graphicFrame>
      <p:sp>
        <p:nvSpPr>
          <p:cNvPr id="13" name="TextBox 12"/>
          <p:cNvSpPr txBox="1"/>
          <p:nvPr/>
        </p:nvSpPr>
        <p:spPr>
          <a:xfrm>
            <a:off x="493776" y="3720000"/>
            <a:ext cx="2662850" cy="220000"/>
          </a:xfrm>
          <a:prstGeom prst="rect">
            <a:avLst/>
          </a:prstGeom>
          <a:noFill/>
        </p:spPr>
        <p:txBody>
          <a:bodyPr wrap="square" lIns="0" tIns="0" rIns="0" bIns="0" anchor="t">
            <a:spAutoFit/>
          </a:bodyPr>
          <a:lstStyle/>
          <a:p>
            <a:pPr algn="l"/>
            <a:r>
              <a:rPr sz="900" b="1">
                <a:solidFill>
                  <a:srgbClr val="2F3B3A"/>
                </a:solidFill>
                <a:latin typeface="Calibri"/>
              </a:rPr>
              <a:t>TEA promedio ponderado · </a:t>
            </a:r>
            <a:r>
              <a:rPr sz="900" b="1">
                <a:solidFill>
                  <a:srgbClr val="13807B"/>
                </a:solidFill>
              </a:rPr>
              <a:t>Pasivos &lt; 1K</a:t>
            </a:r>
          </a:p>
        </p:txBody>
      </p:sp>
      <p:graphicFrame>
        <p:nvGraphicFramePr>
          <p:cNvPr id="14" name="Chart 13"/>
          <p:cNvGraphicFramePr>
            <a:graphicFrameLocks noGrp="1"/>
          </p:cNvGraphicFramePr>
          <p:nvPr/>
        </p:nvGraphicFramePr>
        <p:xfrm>
          <a:off x="493776" y="3930000"/>
          <a:ext cx="2662850" cy="2350000"/>
        </p:xfrm>
        <a:graphic>
          <a:graphicData uri="http://schemas.openxmlformats.org/drawingml/2006/chart">
            <c:chart xmlns:c="http://schemas.openxmlformats.org/drawingml/2006/chart" xmlns:r="http://schemas.openxmlformats.org/officeDocument/2006/relationships" r:id="rId4"/>
          </a:graphicData>
        </a:graphic>
      </p:graphicFrame>
      <p:sp>
        <p:nvSpPr>
          <p:cNvPr id="16" name="Rectangle 15"/>
          <p:cNvSpPr/>
          <p:nvPr/>
        </p:nvSpPr>
        <p:spPr>
          <a:xfrm>
            <a:off x="6219476" y="4140000"/>
            <a:ext cx="5475700" cy="2340000"/>
          </a:xfrm>
          <a:prstGeom prst="rect">
            <a:avLst/>
          </a:prstGeom>
          <a:solidFill>
            <a:srgbClr val="F1F6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219476" y="4140000"/>
            <a:ext cx="45000" cy="2340000"/>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93776" y="6380000"/>
            <a:ext cx="11201400" cy="300000"/>
          </a:xfrm>
          <a:prstGeom prst="rect">
            <a:avLst/>
          </a:prstGeom>
          <a:noFill/>
        </p:spPr>
        <p:txBody>
          <a:bodyPr wrap="square" lIns="0" tIns="0" rIns="0" bIns="0" anchor="t">
            <a:spAutoFit/>
          </a:bodyPr>
          <a:lstStyle/>
          <a:p>
            <a:pPr algn="l"/>
            <a:r>
              <a:rPr sz="700" b="0">
                <a:solidFill>
                  <a:srgbClr val="6E7E7D"/>
                </a:solidFill>
                <a:latin typeface="Calibri"/>
              </a:rPr>
              <a:t>2T26* = abr–may.</a:t>
            </a:r>
          </a:p>
        </p:txBody>
      </p:sp>
      <p:sp>
        <p:nvSpPr>
          <p:cNvPr id="20" name="TextBox 19"/>
          <p:cNvSpPr txBox="1"/>
          <p:nvPr/>
        </p:nvSpPr>
        <p:spPr>
          <a:xfrm>
            <a:off x="6219476" y="1120000"/>
            <a:ext cx="5475700" cy="200000"/>
          </a:xfrm>
          <a:prstGeom prst="rect">
            <a:avLst/>
          </a:prstGeom>
          <a:noFill/>
        </p:spPr>
        <p:txBody>
          <a:bodyPr wrap="square" lIns="0" tIns="0" rIns="0" bIns="0">
            <a:spAutoFit/>
          </a:bodyPr>
          <a:lstStyle/>
          <a:p>
            <a:pPr algn="l"/>
            <a:r>
              <a:rPr sz="1000" b="1">
                <a:solidFill>
                  <a:srgbClr val="2F3B3A"/>
                </a:solidFill>
                <a:latin typeface="Lato"/>
              </a:rPr>
              <a:t>TEA mediana ponderada por apertura · </a:t>
            </a:r>
            <a:r>
              <a:rPr sz="1000" b="1">
                <a:solidFill>
                  <a:srgbClr val="6E7E7D"/>
                </a:solidFill>
                <a:latin typeface="Lato"/>
              </a:rPr>
              <a:t>jul–dic 2025</a:t>
            </a:r>
          </a:p>
        </p:txBody>
      </p:sp>
      <p:graphicFrame>
        <p:nvGraphicFramePr>
          <p:cNvPr id="21" name="Chart 20"/>
          <p:cNvGraphicFramePr>
            <a:graphicFrameLocks noGrp="1"/>
          </p:cNvGraphicFramePr>
          <p:nvPr/>
        </p:nvGraphicFramePr>
        <p:xfrm>
          <a:off x="6219476" y="1265449"/>
          <a:ext cx="5475700" cy="1171679"/>
        </p:xfrm>
        <a:graphic>
          <a:graphicData uri="http://schemas.openxmlformats.org/drawingml/2006/chart">
            <c:chart xmlns:c="http://schemas.openxmlformats.org/drawingml/2006/chart" xmlns:r="http://schemas.openxmlformats.org/officeDocument/2006/relationships" r:id="rId5"/>
          </a:graphicData>
        </a:graphic>
      </p:graphicFrame>
      <p:sp>
        <p:nvSpPr>
          <p:cNvPr id="22" name="TextBox 21"/>
          <p:cNvSpPr txBox="1"/>
          <p:nvPr/>
        </p:nvSpPr>
        <p:spPr>
          <a:xfrm>
            <a:off x="6743158" y="2309052"/>
            <a:ext cx="1800000" cy="180000"/>
          </a:xfrm>
          <a:prstGeom prst="rect">
            <a:avLst/>
          </a:prstGeom>
          <a:noFill/>
        </p:spPr>
        <p:txBody>
          <a:bodyPr wrap="square" lIns="0" tIns="0" rIns="0" bIns="0">
            <a:spAutoFit/>
          </a:bodyPr>
          <a:lstStyle/>
          <a:p>
            <a:pPr algn="ctr"/>
            <a:r>
              <a:rPr sz="900" b="1">
                <a:solidFill>
                  <a:srgbClr val="13807B"/>
                </a:solidFill>
                <a:latin typeface="Lato"/>
              </a:rPr>
              <a:t>Pasivos &lt; 1K</a:t>
            </a:r>
          </a:p>
        </p:txBody>
      </p:sp>
      <p:sp>
        <p:nvSpPr>
          <p:cNvPr id="24" name="TextBox 23"/>
          <p:cNvSpPr txBox="1"/>
          <p:nvPr/>
        </p:nvSpPr>
        <p:spPr>
          <a:xfrm>
            <a:off x="9371494" y="2309052"/>
            <a:ext cx="1800000" cy="180000"/>
          </a:xfrm>
          <a:prstGeom prst="rect">
            <a:avLst/>
          </a:prstGeom>
          <a:noFill/>
        </p:spPr>
        <p:txBody>
          <a:bodyPr wrap="square" lIns="0" tIns="0" rIns="0" bIns="0">
            <a:spAutoFit/>
          </a:bodyPr>
          <a:lstStyle/>
          <a:p>
            <a:pPr algn="ctr"/>
            <a:r>
              <a:rPr sz="900" b="1">
                <a:solidFill>
                  <a:srgbClr val="E5173F"/>
                </a:solidFill>
                <a:latin typeface="Lato"/>
              </a:rPr>
              <a:t>Pasivos ≥ 5K</a:t>
            </a:r>
          </a:p>
        </p:txBody>
      </p:sp>
      <p:sp>
        <p:nvSpPr>
          <p:cNvPr id="26" name="TextBox 25"/>
          <p:cNvSpPr txBox="1"/>
          <p:nvPr/>
        </p:nvSpPr>
        <p:spPr>
          <a:xfrm>
            <a:off x="6219476" y="2606820"/>
            <a:ext cx="5475700" cy="200000"/>
          </a:xfrm>
          <a:prstGeom prst="rect">
            <a:avLst/>
          </a:prstGeom>
          <a:noFill/>
        </p:spPr>
        <p:txBody>
          <a:bodyPr wrap="square" lIns="0" tIns="0" rIns="0" bIns="0">
            <a:spAutoFit/>
          </a:bodyPr>
          <a:lstStyle/>
          <a:p>
            <a:pPr algn="l"/>
            <a:r>
              <a:rPr sz="1000" b="1">
                <a:solidFill>
                  <a:srgbClr val="2F3B3A"/>
                </a:solidFill>
                <a:latin typeface="Lato"/>
              </a:rPr>
              <a:t>TEA mediana ponderada por apertura · </a:t>
            </a:r>
            <a:r>
              <a:rPr sz="1000" b="1">
                <a:solidFill>
                  <a:srgbClr val="13807B"/>
                </a:solidFill>
                <a:latin typeface="Lato"/>
              </a:rPr>
              <a:t>ene–may 2026</a:t>
            </a:r>
          </a:p>
        </p:txBody>
      </p:sp>
      <p:graphicFrame>
        <p:nvGraphicFramePr>
          <p:cNvPr id="27" name="Chart 26"/>
          <p:cNvGraphicFramePr>
            <a:graphicFrameLocks noGrp="1"/>
          </p:cNvGraphicFramePr>
          <p:nvPr/>
        </p:nvGraphicFramePr>
        <p:xfrm>
          <a:off x="6219476" y="2752271"/>
          <a:ext cx="5475700" cy="969665"/>
        </p:xfrm>
        <a:graphic>
          <a:graphicData uri="http://schemas.openxmlformats.org/drawingml/2006/chart">
            <c:chart xmlns:c="http://schemas.openxmlformats.org/drawingml/2006/chart" xmlns:r="http://schemas.openxmlformats.org/officeDocument/2006/relationships" r:id="rId6"/>
          </a:graphicData>
        </a:graphic>
      </p:graphicFrame>
      <p:sp>
        <p:nvSpPr>
          <p:cNvPr id="28" name="TextBox 27"/>
          <p:cNvSpPr txBox="1"/>
          <p:nvPr/>
        </p:nvSpPr>
        <p:spPr>
          <a:xfrm>
            <a:off x="6743158" y="3610425"/>
            <a:ext cx="1800000" cy="180000"/>
          </a:xfrm>
          <a:prstGeom prst="rect">
            <a:avLst/>
          </a:prstGeom>
          <a:noFill/>
        </p:spPr>
        <p:txBody>
          <a:bodyPr wrap="square" lIns="0" tIns="0" rIns="0" bIns="0">
            <a:spAutoFit/>
          </a:bodyPr>
          <a:lstStyle/>
          <a:p>
            <a:pPr algn="ctr"/>
            <a:r>
              <a:rPr sz="900" b="1">
                <a:solidFill>
                  <a:srgbClr val="13807B"/>
                </a:solidFill>
                <a:latin typeface="Lato"/>
              </a:rPr>
              <a:t>Pasivos &lt; 1K</a:t>
            </a:r>
          </a:p>
        </p:txBody>
      </p:sp>
      <p:sp>
        <p:nvSpPr>
          <p:cNvPr id="30" name="TextBox 29"/>
          <p:cNvSpPr txBox="1"/>
          <p:nvPr/>
        </p:nvSpPr>
        <p:spPr>
          <a:xfrm>
            <a:off x="9371494" y="3610425"/>
            <a:ext cx="1800000" cy="180000"/>
          </a:xfrm>
          <a:prstGeom prst="rect">
            <a:avLst/>
          </a:prstGeom>
          <a:noFill/>
        </p:spPr>
        <p:txBody>
          <a:bodyPr wrap="square" lIns="0" tIns="0" rIns="0" bIns="0">
            <a:spAutoFit/>
          </a:bodyPr>
          <a:lstStyle/>
          <a:p>
            <a:pPr algn="ctr"/>
            <a:r>
              <a:rPr sz="900" b="1">
                <a:solidFill>
                  <a:srgbClr val="E5173F"/>
                </a:solidFill>
                <a:latin typeface="Lato"/>
              </a:rPr>
              <a:t>Pasivos ≥ 5K</a:t>
            </a:r>
          </a:p>
        </p:txBody>
      </p:sp>
      <p:sp>
        <p:nvSpPr>
          <p:cNvPr id="31" name="TextBox 30"/>
          <p:cNvSpPr txBox="1"/>
          <p:nvPr/>
        </p:nvSpPr>
        <p:spPr>
          <a:xfrm>
            <a:off x="10651142" y="3133672"/>
            <a:ext cx="700889" cy="452510"/>
          </a:xfrm>
          <a:prstGeom prst="rect">
            <a:avLst/>
          </a:prstGeom>
          <a:noFill/>
          <a:ln w="9525">
            <a:solidFill>
              <a:srgbClr val="F28C28"/>
            </a:solidFill>
            <a:prstDash val="dash"/>
          </a:ln>
        </p:spPr>
        <p:txBody>
          <a:bodyPr wrap="square" lIns="0" tIns="0" rIns="0" bIns="0" anchor="ctr">
            <a:spAutoFit/>
          </a:bodyPr>
          <a:lstStyle/>
          <a:p>
            <a:pPr algn="ctr"/>
            <a:r>
              <a:rPr sz="650" b="0">
                <a:solidFill>
                  <a:srgbClr val="F28C28"/>
                </a:solidFill>
                <a:latin typeface="Lato"/>
              </a:rPr>
              <a:t>Insuficiente materialidad para la tasa de la competencia</a:t>
            </a:r>
          </a:p>
        </p:txBody>
      </p:sp>
      <p:sp>
        <p:nvSpPr>
          <p:cNvPr id="32" name="TextBox 31"/>
          <p:cNvSpPr txBox="1"/>
          <p:nvPr/>
        </p:nvSpPr>
        <p:spPr>
          <a:xfrm>
            <a:off x="6219476" y="3950000"/>
            <a:ext cx="5475700" cy="200000"/>
          </a:xfrm>
          <a:prstGeom prst="rect">
            <a:avLst/>
          </a:prstGeom>
          <a:noFill/>
        </p:spPr>
        <p:txBody>
          <a:bodyPr wrap="square" lIns="0" tIns="0" rIns="0" bIns="0">
            <a:spAutoFit/>
          </a:bodyPr>
          <a:lstStyle/>
          <a:p>
            <a:pPr algn="l"/>
            <a:r>
              <a:rPr sz="1000" b="1">
                <a:solidFill>
                  <a:srgbClr val="2F3B3A"/>
                </a:solidFill>
                <a:latin typeface="Lato"/>
              </a:rPr>
              <a:t>Insights</a:t>
            </a:r>
          </a:p>
        </p:txBody>
      </p:sp>
      <p:sp>
        <p:nvSpPr>
          <p:cNvPr id="33" name="TextBox 32"/>
          <p:cNvSpPr txBox="1"/>
          <p:nvPr/>
        </p:nvSpPr>
        <p:spPr>
          <a:xfrm>
            <a:off x="6369476" y="4190000"/>
            <a:ext cx="5225700" cy="2250000"/>
          </a:xfrm>
          <a:prstGeom prst="rect">
            <a:avLst/>
          </a:prstGeom>
          <a:noFill/>
        </p:spPr>
        <p:txBody>
          <a:bodyPr wrap="square" lIns="0" tIns="0" rIns="0" bIns="0">
            <a:spAutoFit/>
          </a:bodyPr>
          <a:lstStyle/>
          <a:p>
            <a:pPr algn="l">
              <a:spcBef>
                <a:spcPts val="300"/>
              </a:spcBef>
            </a:pPr>
            <a:r>
              <a:rPr sz="1000" b="1" dirty="0" err="1">
                <a:solidFill>
                  <a:srgbClr val="13807B"/>
                </a:solidFill>
                <a:latin typeface="Calibri"/>
              </a:rPr>
              <a:t>Pasivos</a:t>
            </a:r>
            <a:r>
              <a:rPr sz="1000" b="1" dirty="0">
                <a:solidFill>
                  <a:srgbClr val="13807B"/>
                </a:solidFill>
                <a:latin typeface="Calibri"/>
              </a:rPr>
              <a:t> &lt; 1K</a:t>
            </a:r>
            <a:r>
              <a:rPr sz="750" b="0" dirty="0">
                <a:solidFill>
                  <a:srgbClr val="6E7E7D"/>
                </a:solidFill>
                <a:latin typeface="Calibri"/>
              </a:rPr>
              <a:t>   share 70 → 31</a:t>
            </a:r>
          </a:p>
          <a:p>
            <a:pPr algn="l">
              <a:spcBef>
                <a:spcPts val="300"/>
              </a:spcBef>
            </a:pPr>
            <a:r>
              <a:rPr sz="750" b="1" dirty="0">
                <a:solidFill>
                  <a:srgbClr val="13807B"/>
                </a:solidFill>
                <a:latin typeface="Calibri"/>
              </a:rPr>
              <a:t>• </a:t>
            </a:r>
            <a:r>
              <a:rPr sz="750" b="0" dirty="0" err="1">
                <a:solidFill>
                  <a:srgbClr val="2F3B3A"/>
                </a:solidFill>
                <a:latin typeface="Calibri"/>
              </a:rPr>
              <a:t>Caída</a:t>
            </a:r>
            <a:r>
              <a:rPr sz="750" b="0" dirty="0">
                <a:solidFill>
                  <a:srgbClr val="2F3B3A"/>
                </a:solidFill>
                <a:latin typeface="Calibri"/>
              </a:rPr>
              <a:t> </a:t>
            </a:r>
            <a:r>
              <a:rPr sz="750" b="0" dirty="0" err="1">
                <a:solidFill>
                  <a:srgbClr val="2F3B3A"/>
                </a:solidFill>
                <a:latin typeface="Calibri"/>
              </a:rPr>
              <a:t>abrupta</a:t>
            </a:r>
            <a:r>
              <a:rPr sz="750" b="0" dirty="0">
                <a:solidFill>
                  <a:srgbClr val="2F3B3A"/>
                </a:solidFill>
                <a:latin typeface="Calibri"/>
              </a:rPr>
              <a:t> del share el </a:t>
            </a:r>
            <a:r>
              <a:rPr sz="750" b="0" dirty="0" err="1">
                <a:solidFill>
                  <a:srgbClr val="2F3B3A"/>
                </a:solidFill>
                <a:latin typeface="Calibri"/>
              </a:rPr>
              <a:t>último</a:t>
            </a:r>
            <a:r>
              <a:rPr sz="750" b="0" dirty="0">
                <a:solidFill>
                  <a:srgbClr val="2F3B3A"/>
                </a:solidFill>
                <a:latin typeface="Calibri"/>
              </a:rPr>
              <a:t> </a:t>
            </a:r>
            <a:r>
              <a:rPr sz="750" b="0" dirty="0" err="1">
                <a:solidFill>
                  <a:srgbClr val="2F3B3A"/>
                </a:solidFill>
                <a:latin typeface="Calibri"/>
              </a:rPr>
              <a:t>trimestre</a:t>
            </a:r>
            <a:endParaRPr sz="850" b="0" dirty="0">
              <a:solidFill>
                <a:srgbClr val="2F3B3A"/>
              </a:solidFill>
              <a:latin typeface="Calibri"/>
            </a:endParaRPr>
          </a:p>
          <a:p>
            <a:pPr algn="l">
              <a:spcBef>
                <a:spcPts val="300"/>
              </a:spcBef>
            </a:pPr>
            <a:r>
              <a:rPr sz="750" b="1" dirty="0">
                <a:solidFill>
                  <a:srgbClr val="13807B"/>
                </a:solidFill>
                <a:latin typeface="Calibri"/>
              </a:rPr>
              <a:t>• </a:t>
            </a:r>
            <a:r>
              <a:rPr sz="750" b="0" dirty="0">
                <a:solidFill>
                  <a:srgbClr val="2F3B3A"/>
                </a:solidFill>
                <a:latin typeface="Calibri"/>
              </a:rPr>
              <a:t>La brecha entre la tasa ofertada y la desembolsada saltó de unos 230 a 480 pbs en 3T25 y llega a 610 pbs el último trimestre, la más amplia del portafolio: es un cliente que negocia. El último trimestre bajamos el desembolso y aun así el share siguió cayendo</a:t>
            </a:r>
          </a:p>
          <a:p>
            <a:pPr algn="l">
              <a:spcBef>
                <a:spcPts val="300"/>
              </a:spcBef>
            </a:pPr>
            <a:r>
              <a:rPr sz="750" b="1" dirty="0">
                <a:solidFill>
                  <a:srgbClr val="13807B"/>
                </a:solidFill>
                <a:latin typeface="Calibri"/>
              </a:rPr>
              <a:t>• </a:t>
            </a:r>
            <a:r>
              <a:rPr sz="750" b="0" dirty="0" err="1">
                <a:solidFill>
                  <a:srgbClr val="2F3B3A"/>
                </a:solidFill>
                <a:latin typeface="Calibri"/>
              </a:rPr>
              <a:t>En 2025 la competencia ya era más competitiva. En 2026 sigue más barata y el share cayó, por eso nuestra baja no alcanzó</a:t>
            </a:r>
            <a:endParaRPr sz="850" b="0" dirty="0">
              <a:solidFill>
                <a:srgbClr val="2F3B3A"/>
              </a:solidFill>
              <a:latin typeface="Calibri"/>
            </a:endParaRPr>
          </a:p>
          <a:p>
            <a:pPr algn="l">
              <a:spcBef>
                <a:spcPts val="300"/>
              </a:spcBef>
            </a:pPr>
            <a:r>
              <a:rPr sz="750" b="1" dirty="0" err="1">
                <a:solidFill>
                  <a:srgbClr val="13807B"/>
                </a:solidFill>
                <a:latin typeface="Calibri"/>
              </a:rPr>
              <a:t>Estrategia</a:t>
            </a:r>
            <a:r>
              <a:rPr sz="750" b="1" dirty="0">
                <a:solidFill>
                  <a:srgbClr val="13807B"/>
                </a:solidFill>
                <a:latin typeface="Calibri"/>
              </a:rPr>
              <a:t> de </a:t>
            </a:r>
            <a:r>
              <a:rPr sz="750" b="1" dirty="0" err="1">
                <a:solidFill>
                  <a:srgbClr val="13807B"/>
                </a:solidFill>
                <a:latin typeface="Calibri"/>
              </a:rPr>
              <a:t>pilotos</a:t>
            </a:r>
            <a:r>
              <a:rPr sz="750" b="1" dirty="0">
                <a:solidFill>
                  <a:srgbClr val="13807B"/>
                </a:solidFill>
                <a:latin typeface="Calibri"/>
              </a:rPr>
              <a:t>: </a:t>
            </a:r>
            <a:r>
              <a:rPr sz="750" b="1" dirty="0">
                <a:solidFill>
                  <a:srgbClr val="2F3B3A"/>
                </a:solidFill>
                <a:latin typeface="Calibri"/>
              </a:rPr>
              <a:t>Bajar</a:t>
            </a:r>
            <a:r>
              <a:rPr lang="es-ES" sz="750" b="1" dirty="0">
                <a:solidFill>
                  <a:srgbClr val="2F3B3A"/>
                </a:solidFill>
                <a:latin typeface="Calibri"/>
              </a:rPr>
              <a:t> precio</a:t>
            </a:r>
            <a:endParaRPr sz="850" b="1" dirty="0">
              <a:solidFill>
                <a:srgbClr val="2F3B3A"/>
              </a:solidFill>
              <a:latin typeface="Calibri"/>
            </a:endParaRPr>
          </a:p>
          <a:p>
            <a:pPr algn="l">
              <a:spcBef>
                <a:spcPts val="300"/>
              </a:spcBef>
            </a:pPr>
            <a:r>
              <a:rPr sz="400" b="0" dirty="0">
                <a:solidFill>
                  <a:srgbClr val="2F3B3A"/>
                </a:solidFill>
                <a:latin typeface="Calibri"/>
              </a:rPr>
              <a:t> </a:t>
            </a:r>
          </a:p>
          <a:p>
            <a:pPr algn="l"/>
            <a:r>
              <a:rPr sz="1000" b="1" dirty="0" err="1">
                <a:solidFill>
                  <a:srgbClr val="E5173F"/>
                </a:solidFill>
                <a:latin typeface="Calibri"/>
              </a:rPr>
              <a:t>Pasivos</a:t>
            </a:r>
            <a:r>
              <a:rPr sz="1000" b="1" dirty="0">
                <a:solidFill>
                  <a:srgbClr val="E5173F"/>
                </a:solidFill>
                <a:latin typeface="Calibri"/>
              </a:rPr>
              <a:t> ≥ 5K</a:t>
            </a:r>
            <a:r>
              <a:rPr sz="750" b="0" dirty="0">
                <a:solidFill>
                  <a:srgbClr val="6E7E7D"/>
                </a:solidFill>
                <a:latin typeface="Calibri"/>
              </a:rPr>
              <a:t>   share 87 → 87</a:t>
            </a:r>
          </a:p>
          <a:p>
            <a:pPr algn="l">
              <a:spcBef>
                <a:spcPts val="300"/>
              </a:spcBef>
            </a:pPr>
            <a:r>
              <a:rPr sz="750" b="1" dirty="0">
                <a:solidFill>
                  <a:srgbClr val="13807B"/>
                </a:solidFill>
                <a:latin typeface="Calibri"/>
              </a:rPr>
              <a:t>• </a:t>
            </a:r>
            <a:r>
              <a:rPr sz="750" b="0" dirty="0">
                <a:solidFill>
                  <a:srgbClr val="2F3B3A"/>
                </a:solidFill>
                <a:latin typeface="Calibri"/>
              </a:rPr>
              <a:t>Share alto y </a:t>
            </a:r>
            <a:r>
              <a:rPr sz="750" b="0" dirty="0" err="1">
                <a:solidFill>
                  <a:srgbClr val="2F3B3A"/>
                </a:solidFill>
                <a:latin typeface="Calibri"/>
              </a:rPr>
              <a:t>estable</a:t>
            </a:r>
            <a:endParaRPr sz="850" b="0" dirty="0">
              <a:solidFill>
                <a:srgbClr val="2F3B3A"/>
              </a:solidFill>
              <a:latin typeface="Calibri"/>
            </a:endParaRPr>
          </a:p>
          <a:p>
            <a:pPr algn="l">
              <a:spcBef>
                <a:spcPts val="300"/>
              </a:spcBef>
            </a:pPr>
            <a:r>
              <a:rPr sz="750" b="1" dirty="0">
                <a:solidFill>
                  <a:srgbClr val="13807B"/>
                </a:solidFill>
                <a:latin typeface="Calibri"/>
              </a:rPr>
              <a:t>• </a:t>
            </a:r>
            <a:r>
              <a:rPr sz="750" b="0" dirty="0">
                <a:solidFill>
                  <a:srgbClr val="2F3B3A"/>
                </a:solidFill>
                <a:latin typeface="Calibri"/>
              </a:rPr>
              <a:t>La brecha entre la tasa ofertada y la desembolsada es amplia en todo el periodo, entre 300 y 440 pbs, con una oferta que sube de forma sostenida, sin afectar el share</a:t>
            </a:r>
          </a:p>
          <a:p>
            <a:pPr algn="l">
              <a:spcBef>
                <a:spcPts val="300"/>
              </a:spcBef>
            </a:pPr>
            <a:r>
              <a:rPr sz="750" b="1" dirty="0" err="1">
                <a:solidFill>
                  <a:srgbClr val="13807B"/>
                </a:solidFill>
                <a:latin typeface="Calibri"/>
              </a:rPr>
              <a:t>Estrategia</a:t>
            </a:r>
            <a:r>
              <a:rPr sz="750" b="1" dirty="0">
                <a:solidFill>
                  <a:srgbClr val="13807B"/>
                </a:solidFill>
                <a:latin typeface="Calibri"/>
              </a:rPr>
              <a:t> de </a:t>
            </a:r>
            <a:r>
              <a:rPr sz="750" b="1" dirty="0" err="1">
                <a:solidFill>
                  <a:srgbClr val="13807B"/>
                </a:solidFill>
                <a:latin typeface="Calibri"/>
              </a:rPr>
              <a:t>pilotos</a:t>
            </a:r>
            <a:r>
              <a:rPr sz="750" b="1" dirty="0">
                <a:solidFill>
                  <a:srgbClr val="13807B"/>
                </a:solidFill>
                <a:latin typeface="Calibri"/>
              </a:rPr>
              <a:t>: </a:t>
            </a:r>
            <a:r>
              <a:rPr sz="750" b="1" dirty="0">
                <a:solidFill>
                  <a:srgbClr val="2F3B3A"/>
                </a:solidFill>
                <a:latin typeface="Calibri"/>
              </a:rPr>
              <a:t>Subir</a:t>
            </a:r>
            <a:r>
              <a:rPr lang="es-ES" sz="750" b="1" dirty="0">
                <a:solidFill>
                  <a:srgbClr val="2F3B3A"/>
                </a:solidFill>
                <a:latin typeface="Calibri"/>
              </a:rPr>
              <a:t> precio</a:t>
            </a:r>
            <a:r>
              <a:rPr sz="750" b="1" dirty="0">
                <a:solidFill>
                  <a:srgbClr val="2F3B3A"/>
                </a:solidFill>
                <a:latin typeface="Calibri"/>
              </a:rPr>
              <a:t> de forma </a:t>
            </a:r>
            <a:r>
              <a:rPr sz="750" b="1" dirty="0" err="1">
                <a:solidFill>
                  <a:srgbClr val="2F3B3A"/>
                </a:solidFill>
                <a:latin typeface="Calibri"/>
              </a:rPr>
              <a:t>acotada, monitoreando el share</a:t>
            </a:r>
            <a:endParaRPr sz="850" b="1" dirty="0">
              <a:solidFill>
                <a:srgbClr val="2F3B3A"/>
              </a:solidFill>
              <a:latin typeface="Calibri"/>
            </a:endParaRPr>
          </a:p>
        </p:txBody>
      </p:sp>
      <p:sp>
        <p:nvSpPr>
          <p:cNvPr id="5" name="TextBox 30"/>
          <p:cNvSpPr txBox="1"/>
          <p:nvPr/>
        </p:nvSpPr>
        <p:spPr>
          <a:xfrm>
            <a:off x="10651142" y="1724809"/>
            <a:ext cx="700889" cy="560000"/>
          </a:xfrm>
          <a:prstGeom prst="rect">
            <a:avLst/>
          </a:prstGeom>
          <a:noFill/>
          <a:ln w="9525">
            <a:solidFill>
              <a:srgbClr val="F28C28"/>
            </a:solidFill>
            <a:prstDash val="dash"/>
          </a:ln>
        </p:spPr>
        <p:txBody>
          <a:bodyPr wrap="square" lIns="0" tIns="0" rIns="0" bIns="0" anchor="ctr">
            <a:spAutoFit/>
          </a:bodyPr>
          <a:lstStyle/>
          <a:p>
            <a:pPr algn="ctr"/>
            <a:r>
              <a:rPr sz="650" b="0">
                <a:solidFill>
                  <a:srgbClr val="F28C28"/>
                </a:solidFill>
                <a:latin typeface="Lato"/>
              </a:rPr>
              <a:t>Insuficiente materialidad para la tasa de la competencia</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93777" y="246888"/>
            <a:ext cx="8963570" cy="109710"/>
          </a:xfrm>
          <a:prstGeom prst="rect">
            <a:avLst/>
          </a:prstGeom>
          <a:noFill/>
        </p:spPr>
        <p:txBody>
          <a:bodyPr wrap="square" lIns="0" tIns="0" rIns="0" bIns="0" anchor="t">
            <a:spAutoFit/>
          </a:bodyPr>
          <a:lstStyle/>
          <a:p>
            <a:pPr algn="l"/>
            <a:r>
              <a:rPr sz="800" b="1">
                <a:solidFill>
                  <a:srgbClr val="6E7E7D"/>
                </a:solidFill>
                <a:latin typeface="Calibri"/>
              </a:rPr>
              <a:t>SHARE Y TASA POR SEGMENTO · PRÓXIMO RECURRENTE · SIN HISTORIAL CREDITICIO</a:t>
            </a:r>
          </a:p>
        </p:txBody>
      </p:sp>
      <p:sp>
        <p:nvSpPr>
          <p:cNvPr id="3" name="TextBox 2"/>
          <p:cNvSpPr txBox="1"/>
          <p:nvPr/>
        </p:nvSpPr>
        <p:spPr>
          <a:xfrm>
            <a:off x="493776" y="425196"/>
            <a:ext cx="10312923" cy="482568"/>
          </a:xfrm>
          <a:prstGeom prst="rect">
            <a:avLst/>
          </a:prstGeom>
          <a:noFill/>
        </p:spPr>
        <p:txBody>
          <a:bodyPr wrap="square" lIns="0" tIns="0" rIns="0" bIns="0" anchor="t">
            <a:spAutoFit/>
          </a:bodyPr>
          <a:lstStyle/>
          <a:p>
            <a:pPr algn="l"/>
            <a:r>
              <a:rPr sz="1600" b="1">
                <a:solidFill>
                  <a:srgbClr val="13807B"/>
                </a:solidFill>
                <a:latin typeface="Poppins"/>
              </a:rPr>
              <a:t>Próximo Recurrente debe mantener el precio en tickets chicos y bajarlo en tickets mayores a S/ 250K</a:t>
            </a:r>
          </a:p>
        </p:txBody>
      </p:sp>
      <p:cxnSp>
        <p:nvCxnSpPr>
          <p:cNvPr id="4" name="Connector 3"/>
          <p:cNvCxnSpPr/>
          <p:nvPr/>
        </p:nvCxnSpPr>
        <p:spPr>
          <a:xfrm>
            <a:off x="493776" y="1049274"/>
            <a:ext cx="11204463" cy="0"/>
          </a:xfrm>
          <a:prstGeom prst="line">
            <a:avLst/>
          </a:prstGeom>
          <a:ln w="12700">
            <a:solidFill>
              <a:srgbClr val="D5DFDE"/>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93776" y="1120000"/>
            <a:ext cx="5475700" cy="220000"/>
          </a:xfrm>
          <a:prstGeom prst="rect">
            <a:avLst/>
          </a:prstGeom>
          <a:noFill/>
        </p:spPr>
        <p:txBody>
          <a:bodyPr wrap="square" lIns="0" tIns="0" rIns="0" bIns="0" anchor="t">
            <a:spAutoFit/>
          </a:bodyPr>
          <a:lstStyle/>
          <a:p>
            <a:pPr algn="l"/>
            <a:r>
              <a:rPr sz="1000" b="1">
                <a:solidFill>
                  <a:srgbClr val="2F3B3A"/>
                </a:solidFill>
                <a:latin typeface="Calibri"/>
              </a:rPr>
              <a:t>Share relevante por trimestre (%) · </a:t>
            </a:r>
            <a:r>
              <a:rPr sz="1000" b="1">
                <a:solidFill>
                  <a:srgbClr val="13807B"/>
                </a:solidFill>
              </a:rPr>
              <a:t>tramos por monto ofertado</a:t>
            </a:r>
          </a:p>
        </p:txBody>
      </p:sp>
      <p:graphicFrame>
        <p:nvGraphicFramePr>
          <p:cNvPr id="7" name="Chart 6"/>
          <p:cNvGraphicFramePr>
            <a:graphicFrameLocks noGrp="1"/>
          </p:cNvGraphicFramePr>
          <p:nvPr/>
        </p:nvGraphicFramePr>
        <p:xfrm>
          <a:off x="493776" y="1330000"/>
          <a:ext cx="5475700" cy="2250000"/>
        </p:xfrm>
        <a:graphic>
          <a:graphicData uri="http://schemas.openxmlformats.org/drawingml/2006/chart">
            <c:chart xmlns:c="http://schemas.openxmlformats.org/drawingml/2006/chart" xmlns:r="http://schemas.openxmlformats.org/officeDocument/2006/relationships" r:id="rId2"/>
          </a:graphicData>
        </a:graphic>
      </p:graphicFrame>
      <p:sp>
        <p:nvSpPr>
          <p:cNvPr id="12" name="TextBox 11"/>
          <p:cNvSpPr txBox="1"/>
          <p:nvPr/>
        </p:nvSpPr>
        <p:spPr>
          <a:xfrm>
            <a:off x="493776" y="3720000"/>
            <a:ext cx="2662850" cy="220000"/>
          </a:xfrm>
          <a:prstGeom prst="rect">
            <a:avLst/>
          </a:prstGeom>
          <a:noFill/>
        </p:spPr>
        <p:txBody>
          <a:bodyPr wrap="square" lIns="0" tIns="0" rIns="0" bIns="0" anchor="t">
            <a:spAutoFit/>
          </a:bodyPr>
          <a:lstStyle/>
          <a:p>
            <a:pPr algn="l"/>
            <a:r>
              <a:rPr sz="900" b="1">
                <a:solidFill>
                  <a:srgbClr val="2F3B3A"/>
                </a:solidFill>
                <a:latin typeface="Calibri"/>
              </a:rPr>
              <a:t>TEA promedio ponderado · </a:t>
            </a:r>
            <a:r>
              <a:rPr sz="900" b="1">
                <a:solidFill>
                  <a:srgbClr val="13807B"/>
                </a:solidFill>
              </a:rPr>
              <a:t>≤ 170K</a:t>
            </a:r>
          </a:p>
        </p:txBody>
      </p:sp>
      <p:graphicFrame>
        <p:nvGraphicFramePr>
          <p:cNvPr id="13" name="Chart 12"/>
          <p:cNvGraphicFramePr>
            <a:graphicFrameLocks noGrp="1"/>
          </p:cNvGraphicFramePr>
          <p:nvPr/>
        </p:nvGraphicFramePr>
        <p:xfrm>
          <a:off x="493776" y="3930000"/>
          <a:ext cx="2662850" cy="1750000"/>
        </p:xfrm>
        <a:graphic>
          <a:graphicData uri="http://schemas.openxmlformats.org/drawingml/2006/chart">
            <c:chart xmlns:c="http://schemas.openxmlformats.org/drawingml/2006/chart" xmlns:r="http://schemas.openxmlformats.org/officeDocument/2006/relationships" r:id="rId3"/>
          </a:graphicData>
        </a:graphic>
      </p:graphicFrame>
      <p:sp>
        <p:nvSpPr>
          <p:cNvPr id="14" name="TextBox 13"/>
          <p:cNvSpPr txBox="1"/>
          <p:nvPr/>
        </p:nvSpPr>
        <p:spPr>
          <a:xfrm>
            <a:off x="3306626" y="3720000"/>
            <a:ext cx="2662850" cy="220000"/>
          </a:xfrm>
          <a:prstGeom prst="rect">
            <a:avLst/>
          </a:prstGeom>
          <a:noFill/>
        </p:spPr>
        <p:txBody>
          <a:bodyPr wrap="square" lIns="0" tIns="0" rIns="0" bIns="0" anchor="t">
            <a:spAutoFit/>
          </a:bodyPr>
          <a:lstStyle/>
          <a:p>
            <a:pPr algn="l"/>
            <a:r>
              <a:rPr sz="900" b="1">
                <a:solidFill>
                  <a:srgbClr val="2F3B3A"/>
                </a:solidFill>
                <a:latin typeface="Calibri"/>
              </a:rPr>
              <a:t>TEA promedio ponderado · </a:t>
            </a:r>
            <a:r>
              <a:rPr sz="900" b="1">
                <a:solidFill>
                  <a:srgbClr val="E5173F"/>
                </a:solidFill>
              </a:rPr>
              <a:t>&gt; 250K</a:t>
            </a:r>
          </a:p>
        </p:txBody>
      </p:sp>
      <p:graphicFrame>
        <p:nvGraphicFramePr>
          <p:cNvPr id="15" name="Chart 14"/>
          <p:cNvGraphicFramePr>
            <a:graphicFrameLocks noGrp="1"/>
          </p:cNvGraphicFramePr>
          <p:nvPr/>
        </p:nvGraphicFramePr>
        <p:xfrm>
          <a:off x="3306626" y="3930000"/>
          <a:ext cx="2662850" cy="1750000"/>
        </p:xfrm>
        <a:graphic>
          <a:graphicData uri="http://schemas.openxmlformats.org/drawingml/2006/chart">
            <c:chart xmlns:c="http://schemas.openxmlformats.org/drawingml/2006/chart" xmlns:r="http://schemas.openxmlformats.org/officeDocument/2006/relationships" r:id="rId4"/>
          </a:graphicData>
        </a:graphic>
      </p:graphicFrame>
      <p:sp>
        <p:nvSpPr>
          <p:cNvPr id="17" name="Rectangle 16"/>
          <p:cNvSpPr/>
          <p:nvPr/>
        </p:nvSpPr>
        <p:spPr>
          <a:xfrm>
            <a:off x="6219476" y="4140000"/>
            <a:ext cx="5475700" cy="2340000"/>
          </a:xfrm>
          <a:prstGeom prst="rect">
            <a:avLst/>
          </a:prstGeom>
          <a:solidFill>
            <a:srgbClr val="F1F6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219476" y="4140000"/>
            <a:ext cx="45000" cy="2340000"/>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93776" y="6380000"/>
            <a:ext cx="11201400" cy="300000"/>
          </a:xfrm>
          <a:prstGeom prst="rect">
            <a:avLst/>
          </a:prstGeom>
          <a:noFill/>
        </p:spPr>
        <p:txBody>
          <a:bodyPr wrap="square" lIns="0" tIns="0" rIns="0" bIns="0" anchor="t">
            <a:spAutoFit/>
          </a:bodyPr>
          <a:lstStyle/>
          <a:p>
            <a:pPr algn="l"/>
            <a:r>
              <a:rPr sz="700" b="0">
                <a:solidFill>
                  <a:srgbClr val="6E7E7D"/>
                </a:solidFill>
                <a:latin typeface="Calibri"/>
              </a:rPr>
              <a:t>2T26* = abr–may.</a:t>
            </a:r>
          </a:p>
        </p:txBody>
      </p:sp>
      <p:sp>
        <p:nvSpPr>
          <p:cNvPr id="21" name="TextBox 20"/>
          <p:cNvSpPr txBox="1"/>
          <p:nvPr/>
        </p:nvSpPr>
        <p:spPr>
          <a:xfrm>
            <a:off x="6219476" y="1120000"/>
            <a:ext cx="5475700" cy="200000"/>
          </a:xfrm>
          <a:prstGeom prst="rect">
            <a:avLst/>
          </a:prstGeom>
          <a:noFill/>
        </p:spPr>
        <p:txBody>
          <a:bodyPr wrap="square" lIns="0" tIns="0" rIns="0" bIns="0">
            <a:spAutoFit/>
          </a:bodyPr>
          <a:lstStyle/>
          <a:p>
            <a:pPr algn="l"/>
            <a:r>
              <a:rPr sz="1000" b="1">
                <a:solidFill>
                  <a:srgbClr val="2F3B3A"/>
                </a:solidFill>
                <a:latin typeface="Lato"/>
              </a:rPr>
              <a:t>TEA mediana ponderada por apertura · </a:t>
            </a:r>
            <a:r>
              <a:rPr sz="1000" b="1">
                <a:solidFill>
                  <a:srgbClr val="6E7E7D"/>
                </a:solidFill>
                <a:latin typeface="Lato"/>
              </a:rPr>
              <a:t>jul–dic 2025</a:t>
            </a:r>
          </a:p>
        </p:txBody>
      </p:sp>
      <p:graphicFrame>
        <p:nvGraphicFramePr>
          <p:cNvPr id="22" name="Chart 21"/>
          <p:cNvGraphicFramePr>
            <a:graphicFrameLocks noGrp="1"/>
          </p:cNvGraphicFramePr>
          <p:nvPr/>
        </p:nvGraphicFramePr>
        <p:xfrm>
          <a:off x="6219476" y="1265449"/>
          <a:ext cx="5475700" cy="1171679"/>
        </p:xfrm>
        <a:graphic>
          <a:graphicData uri="http://schemas.openxmlformats.org/drawingml/2006/chart">
            <c:chart xmlns:c="http://schemas.openxmlformats.org/drawingml/2006/chart" xmlns:r="http://schemas.openxmlformats.org/officeDocument/2006/relationships" r:id="rId5"/>
          </a:graphicData>
        </a:graphic>
      </p:graphicFrame>
      <p:sp>
        <p:nvSpPr>
          <p:cNvPr id="23" name="TextBox 22"/>
          <p:cNvSpPr txBox="1"/>
          <p:nvPr/>
        </p:nvSpPr>
        <p:spPr>
          <a:xfrm>
            <a:off x="6743158" y="2309052"/>
            <a:ext cx="1800000" cy="180000"/>
          </a:xfrm>
          <a:prstGeom prst="rect">
            <a:avLst/>
          </a:prstGeom>
          <a:noFill/>
        </p:spPr>
        <p:txBody>
          <a:bodyPr wrap="square" lIns="0" tIns="0" rIns="0" bIns="0">
            <a:spAutoFit/>
          </a:bodyPr>
          <a:lstStyle/>
          <a:p>
            <a:pPr algn="ctr"/>
            <a:r>
              <a:rPr sz="900" b="1">
                <a:solidFill>
                  <a:srgbClr val="13807B"/>
                </a:solidFill>
                <a:latin typeface="Lato"/>
              </a:rPr>
              <a:t>≤ 170K</a:t>
            </a:r>
          </a:p>
        </p:txBody>
      </p:sp>
      <p:sp>
        <p:nvSpPr>
          <p:cNvPr id="24" name="TextBox 23"/>
          <p:cNvSpPr txBox="1"/>
          <p:nvPr/>
        </p:nvSpPr>
        <p:spPr>
          <a:xfrm>
            <a:off x="8022806" y="1832300"/>
            <a:ext cx="700889" cy="452510"/>
          </a:xfrm>
          <a:prstGeom prst="rect">
            <a:avLst/>
          </a:prstGeom>
          <a:noFill/>
          <a:ln w="9525">
            <a:solidFill>
              <a:srgbClr val="F28C28"/>
            </a:solidFill>
            <a:prstDash val="dash"/>
          </a:ln>
        </p:spPr>
        <p:txBody>
          <a:bodyPr wrap="square" lIns="0" tIns="0" rIns="0" bIns="0" anchor="ctr">
            <a:spAutoFit/>
          </a:bodyPr>
          <a:lstStyle/>
          <a:p>
            <a:pPr algn="ctr"/>
            <a:r>
              <a:rPr sz="650" b="0">
                <a:solidFill>
                  <a:srgbClr val="F28C28"/>
                </a:solidFill>
                <a:latin typeface="Lato"/>
              </a:rPr>
              <a:t>Insuficiente materialidad para la tasa de la competencia</a:t>
            </a:r>
          </a:p>
        </p:txBody>
      </p:sp>
      <p:sp>
        <p:nvSpPr>
          <p:cNvPr id="25" name="TextBox 24"/>
          <p:cNvSpPr txBox="1"/>
          <p:nvPr/>
        </p:nvSpPr>
        <p:spPr>
          <a:xfrm>
            <a:off x="9371494" y="2309052"/>
            <a:ext cx="1800000" cy="180000"/>
          </a:xfrm>
          <a:prstGeom prst="rect">
            <a:avLst/>
          </a:prstGeom>
          <a:noFill/>
        </p:spPr>
        <p:txBody>
          <a:bodyPr wrap="square" lIns="0" tIns="0" rIns="0" bIns="0">
            <a:spAutoFit/>
          </a:bodyPr>
          <a:lstStyle/>
          <a:p>
            <a:pPr algn="ctr"/>
            <a:r>
              <a:rPr sz="900" b="1">
                <a:solidFill>
                  <a:srgbClr val="E5173F"/>
                </a:solidFill>
                <a:latin typeface="Lato"/>
              </a:rPr>
              <a:t>&gt; 250K</a:t>
            </a:r>
          </a:p>
        </p:txBody>
      </p:sp>
      <p:sp>
        <p:nvSpPr>
          <p:cNvPr id="26" name="TextBox 25"/>
          <p:cNvSpPr txBox="1"/>
          <p:nvPr/>
        </p:nvSpPr>
        <p:spPr>
          <a:xfrm>
            <a:off x="10651142" y="1832300"/>
            <a:ext cx="700889" cy="452510"/>
          </a:xfrm>
          <a:prstGeom prst="rect">
            <a:avLst/>
          </a:prstGeom>
          <a:noFill/>
          <a:ln w="9525">
            <a:solidFill>
              <a:srgbClr val="F28C28"/>
            </a:solidFill>
            <a:prstDash val="dash"/>
          </a:ln>
        </p:spPr>
        <p:txBody>
          <a:bodyPr wrap="square" lIns="0" tIns="0" rIns="0" bIns="0" anchor="ctr">
            <a:spAutoFit/>
          </a:bodyPr>
          <a:lstStyle/>
          <a:p>
            <a:pPr algn="ctr"/>
            <a:r>
              <a:rPr sz="650" b="0">
                <a:solidFill>
                  <a:srgbClr val="F28C28"/>
                </a:solidFill>
                <a:latin typeface="Lato"/>
              </a:rPr>
              <a:t>Insuficiente materialidad para la tasa de la competencia</a:t>
            </a:r>
          </a:p>
        </p:txBody>
      </p:sp>
      <p:sp>
        <p:nvSpPr>
          <p:cNvPr id="27" name="TextBox 26"/>
          <p:cNvSpPr txBox="1"/>
          <p:nvPr/>
        </p:nvSpPr>
        <p:spPr>
          <a:xfrm>
            <a:off x="6219476" y="2606820"/>
            <a:ext cx="5475700" cy="200000"/>
          </a:xfrm>
          <a:prstGeom prst="rect">
            <a:avLst/>
          </a:prstGeom>
          <a:noFill/>
        </p:spPr>
        <p:txBody>
          <a:bodyPr wrap="square" lIns="0" tIns="0" rIns="0" bIns="0">
            <a:spAutoFit/>
          </a:bodyPr>
          <a:lstStyle/>
          <a:p>
            <a:pPr algn="l"/>
            <a:r>
              <a:rPr sz="1000" b="1">
                <a:solidFill>
                  <a:srgbClr val="2F3B3A"/>
                </a:solidFill>
                <a:latin typeface="Lato"/>
              </a:rPr>
              <a:t>TEA mediana ponderada por apertura · </a:t>
            </a:r>
            <a:r>
              <a:rPr sz="1000" b="1">
                <a:solidFill>
                  <a:srgbClr val="13807B"/>
                </a:solidFill>
                <a:latin typeface="Lato"/>
              </a:rPr>
              <a:t>ene–may 2026</a:t>
            </a:r>
          </a:p>
        </p:txBody>
      </p:sp>
      <p:graphicFrame>
        <p:nvGraphicFramePr>
          <p:cNvPr id="28" name="Chart 27"/>
          <p:cNvGraphicFramePr>
            <a:graphicFrameLocks noGrp="1"/>
          </p:cNvGraphicFramePr>
          <p:nvPr/>
        </p:nvGraphicFramePr>
        <p:xfrm>
          <a:off x="6219476" y="2752271"/>
          <a:ext cx="5475700" cy="969665"/>
        </p:xfrm>
        <a:graphic>
          <a:graphicData uri="http://schemas.openxmlformats.org/drawingml/2006/chart">
            <c:chart xmlns:c="http://schemas.openxmlformats.org/drawingml/2006/chart" xmlns:r="http://schemas.openxmlformats.org/officeDocument/2006/relationships" r:id="rId6"/>
          </a:graphicData>
        </a:graphic>
      </p:graphicFrame>
      <p:sp>
        <p:nvSpPr>
          <p:cNvPr id="29" name="TextBox 28"/>
          <p:cNvSpPr txBox="1"/>
          <p:nvPr/>
        </p:nvSpPr>
        <p:spPr>
          <a:xfrm>
            <a:off x="6743158" y="3610425"/>
            <a:ext cx="1800000" cy="180000"/>
          </a:xfrm>
          <a:prstGeom prst="rect">
            <a:avLst/>
          </a:prstGeom>
          <a:noFill/>
        </p:spPr>
        <p:txBody>
          <a:bodyPr wrap="square" lIns="0" tIns="0" rIns="0" bIns="0">
            <a:spAutoFit/>
          </a:bodyPr>
          <a:lstStyle/>
          <a:p>
            <a:pPr algn="ctr"/>
            <a:r>
              <a:rPr sz="900" b="1">
                <a:solidFill>
                  <a:srgbClr val="13807B"/>
                </a:solidFill>
                <a:latin typeface="Lato"/>
              </a:rPr>
              <a:t>≤ 170K</a:t>
            </a:r>
          </a:p>
        </p:txBody>
      </p:sp>
      <p:sp>
        <p:nvSpPr>
          <p:cNvPr id="30" name="TextBox 29"/>
          <p:cNvSpPr txBox="1"/>
          <p:nvPr/>
        </p:nvSpPr>
        <p:spPr>
          <a:xfrm>
            <a:off x="8022806" y="3133672"/>
            <a:ext cx="700889" cy="452510"/>
          </a:xfrm>
          <a:prstGeom prst="rect">
            <a:avLst/>
          </a:prstGeom>
          <a:noFill/>
          <a:ln w="9525">
            <a:solidFill>
              <a:srgbClr val="F28C28"/>
            </a:solidFill>
            <a:prstDash val="dash"/>
          </a:ln>
        </p:spPr>
        <p:txBody>
          <a:bodyPr wrap="square" lIns="0" tIns="0" rIns="0" bIns="0" anchor="ctr">
            <a:spAutoFit/>
          </a:bodyPr>
          <a:lstStyle/>
          <a:p>
            <a:pPr algn="ctr"/>
            <a:r>
              <a:rPr sz="650" b="0">
                <a:solidFill>
                  <a:srgbClr val="F28C28"/>
                </a:solidFill>
                <a:latin typeface="Lato"/>
              </a:rPr>
              <a:t>Insuficiente materialidad para la tasa de la competencia</a:t>
            </a:r>
          </a:p>
        </p:txBody>
      </p:sp>
      <p:sp>
        <p:nvSpPr>
          <p:cNvPr id="31" name="TextBox 30"/>
          <p:cNvSpPr txBox="1"/>
          <p:nvPr/>
        </p:nvSpPr>
        <p:spPr>
          <a:xfrm>
            <a:off x="9371494" y="3610425"/>
            <a:ext cx="1800000" cy="180000"/>
          </a:xfrm>
          <a:prstGeom prst="rect">
            <a:avLst/>
          </a:prstGeom>
          <a:noFill/>
        </p:spPr>
        <p:txBody>
          <a:bodyPr wrap="square" lIns="0" tIns="0" rIns="0" bIns="0">
            <a:spAutoFit/>
          </a:bodyPr>
          <a:lstStyle/>
          <a:p>
            <a:pPr algn="ctr"/>
            <a:r>
              <a:rPr sz="900" b="1">
                <a:solidFill>
                  <a:srgbClr val="E5173F"/>
                </a:solidFill>
                <a:latin typeface="Lato"/>
              </a:rPr>
              <a:t>&gt; 250K</a:t>
            </a:r>
          </a:p>
        </p:txBody>
      </p:sp>
      <p:sp>
        <p:nvSpPr>
          <p:cNvPr id="32" name="TextBox 31"/>
          <p:cNvSpPr txBox="1"/>
          <p:nvPr/>
        </p:nvSpPr>
        <p:spPr>
          <a:xfrm>
            <a:off x="10651142" y="3133672"/>
            <a:ext cx="700889" cy="452510"/>
          </a:xfrm>
          <a:prstGeom prst="rect">
            <a:avLst/>
          </a:prstGeom>
          <a:noFill/>
          <a:ln w="9525">
            <a:solidFill>
              <a:srgbClr val="F28C28"/>
            </a:solidFill>
            <a:prstDash val="dash"/>
          </a:ln>
        </p:spPr>
        <p:txBody>
          <a:bodyPr wrap="square" lIns="0" tIns="0" rIns="0" bIns="0" anchor="ctr">
            <a:spAutoFit/>
          </a:bodyPr>
          <a:lstStyle/>
          <a:p>
            <a:pPr algn="ctr"/>
            <a:r>
              <a:rPr sz="650" b="0">
                <a:solidFill>
                  <a:srgbClr val="F28C28"/>
                </a:solidFill>
                <a:latin typeface="Lato"/>
              </a:rPr>
              <a:t>Insuficiente materialidad para la tasa de la competencia</a:t>
            </a:r>
          </a:p>
        </p:txBody>
      </p:sp>
      <p:sp>
        <p:nvSpPr>
          <p:cNvPr id="33" name="TextBox 32"/>
          <p:cNvSpPr txBox="1"/>
          <p:nvPr/>
        </p:nvSpPr>
        <p:spPr>
          <a:xfrm>
            <a:off x="6219476" y="3950000"/>
            <a:ext cx="5475700" cy="200000"/>
          </a:xfrm>
          <a:prstGeom prst="rect">
            <a:avLst/>
          </a:prstGeom>
          <a:noFill/>
        </p:spPr>
        <p:txBody>
          <a:bodyPr wrap="square" lIns="0" tIns="0" rIns="0" bIns="0">
            <a:spAutoFit/>
          </a:bodyPr>
          <a:lstStyle/>
          <a:p>
            <a:pPr algn="l"/>
            <a:r>
              <a:rPr sz="1000" b="1">
                <a:solidFill>
                  <a:srgbClr val="2F3B3A"/>
                </a:solidFill>
                <a:latin typeface="Lato"/>
              </a:rPr>
              <a:t>Insights</a:t>
            </a:r>
          </a:p>
        </p:txBody>
      </p:sp>
      <p:sp>
        <p:nvSpPr>
          <p:cNvPr id="34" name="TextBox 33"/>
          <p:cNvSpPr txBox="1"/>
          <p:nvPr/>
        </p:nvSpPr>
        <p:spPr>
          <a:xfrm>
            <a:off x="6369476" y="4190000"/>
            <a:ext cx="5225700" cy="2250000"/>
          </a:xfrm>
          <a:prstGeom prst="rect">
            <a:avLst/>
          </a:prstGeom>
          <a:noFill/>
        </p:spPr>
        <p:txBody>
          <a:bodyPr wrap="square" lIns="0" tIns="0" rIns="0" bIns="0">
            <a:spAutoFit/>
          </a:bodyPr>
          <a:lstStyle/>
          <a:p>
            <a:pPr algn="l"/>
            <a:r>
              <a:rPr sz="1000" b="1" dirty="0">
                <a:solidFill>
                  <a:srgbClr val="13807B"/>
                </a:solidFill>
                <a:latin typeface="Calibri"/>
              </a:rPr>
              <a:t>≤ 170K</a:t>
            </a:r>
            <a:r>
              <a:rPr sz="750" b="0" dirty="0">
                <a:solidFill>
                  <a:srgbClr val="6E7E7D"/>
                </a:solidFill>
                <a:latin typeface="Calibri"/>
              </a:rPr>
              <a:t>   share 73 → 94</a:t>
            </a:r>
          </a:p>
          <a:p>
            <a:pPr algn="l">
              <a:spcBef>
                <a:spcPts val="300"/>
              </a:spcBef>
            </a:pPr>
            <a:r>
              <a:rPr sz="750" b="1" dirty="0">
                <a:solidFill>
                  <a:srgbClr val="13807B"/>
                </a:solidFill>
                <a:latin typeface="Calibri"/>
              </a:rPr>
              <a:t>• </a:t>
            </a:r>
            <a:r>
              <a:rPr sz="750" b="0" dirty="0">
                <a:solidFill>
                  <a:srgbClr val="2F3B3A"/>
                </a:solidFill>
                <a:latin typeface="Calibri"/>
              </a:rPr>
              <a:t>Alza </a:t>
            </a:r>
            <a:r>
              <a:rPr sz="750" b="0" dirty="0" err="1">
                <a:solidFill>
                  <a:srgbClr val="2F3B3A"/>
                </a:solidFill>
                <a:latin typeface="Calibri"/>
              </a:rPr>
              <a:t>fuerte</a:t>
            </a:r>
            <a:r>
              <a:rPr sz="750" b="0" dirty="0">
                <a:solidFill>
                  <a:srgbClr val="2F3B3A"/>
                </a:solidFill>
                <a:latin typeface="Calibri"/>
              </a:rPr>
              <a:t> del share el </a:t>
            </a:r>
            <a:r>
              <a:rPr sz="750" b="0" dirty="0" err="1">
                <a:solidFill>
                  <a:srgbClr val="2F3B3A"/>
                </a:solidFill>
                <a:latin typeface="Calibri"/>
              </a:rPr>
              <a:t>último</a:t>
            </a:r>
            <a:r>
              <a:rPr sz="750" b="0" dirty="0">
                <a:solidFill>
                  <a:srgbClr val="2F3B3A"/>
                </a:solidFill>
                <a:latin typeface="Calibri"/>
              </a:rPr>
              <a:t> </a:t>
            </a:r>
            <a:r>
              <a:rPr sz="750" b="0" dirty="0" err="1">
                <a:solidFill>
                  <a:srgbClr val="2F3B3A"/>
                </a:solidFill>
                <a:latin typeface="Calibri"/>
              </a:rPr>
              <a:t>trimestre</a:t>
            </a:r>
            <a:endParaRPr sz="850" b="0" dirty="0">
              <a:solidFill>
                <a:srgbClr val="2F3B3A"/>
              </a:solidFill>
              <a:latin typeface="Calibri"/>
            </a:endParaRPr>
          </a:p>
          <a:p>
            <a:pPr algn="l">
              <a:spcBef>
                <a:spcPts val="300"/>
              </a:spcBef>
            </a:pPr>
            <a:r>
              <a:rPr sz="750" b="1" dirty="0">
                <a:solidFill>
                  <a:srgbClr val="13807B"/>
                </a:solidFill>
                <a:latin typeface="Calibri"/>
              </a:rPr>
              <a:t>• </a:t>
            </a:r>
            <a:r>
              <a:rPr sz="750" b="0" dirty="0">
                <a:solidFill>
                  <a:srgbClr val="2F3B3A"/>
                </a:solidFill>
                <a:latin typeface="Calibri"/>
              </a:rPr>
              <a:t>La </a:t>
            </a:r>
            <a:r>
              <a:rPr sz="750" b="0" dirty="0" err="1">
                <a:solidFill>
                  <a:srgbClr val="2F3B3A"/>
                </a:solidFill>
                <a:latin typeface="Calibri"/>
              </a:rPr>
              <a:t>oferta</a:t>
            </a:r>
            <a:r>
              <a:rPr sz="750" b="0" dirty="0">
                <a:solidFill>
                  <a:srgbClr val="2F3B3A"/>
                </a:solidFill>
                <a:latin typeface="Calibri"/>
              </a:rPr>
              <a:t> se </a:t>
            </a:r>
            <a:r>
              <a:rPr sz="750" b="0" dirty="0" err="1">
                <a:solidFill>
                  <a:srgbClr val="2F3B3A"/>
                </a:solidFill>
                <a:latin typeface="Calibri"/>
              </a:rPr>
              <a:t>mantuvo</a:t>
            </a:r>
            <a:r>
              <a:rPr sz="750" b="0" dirty="0">
                <a:solidFill>
                  <a:srgbClr val="2F3B3A"/>
                </a:solidFill>
                <a:latin typeface="Calibri"/>
              </a:rPr>
              <a:t> </a:t>
            </a:r>
            <a:r>
              <a:rPr sz="750" b="0" dirty="0" err="1">
                <a:solidFill>
                  <a:srgbClr val="2F3B3A"/>
                </a:solidFill>
                <a:latin typeface="Calibri"/>
              </a:rPr>
              <a:t>alta</a:t>
            </a:r>
            <a:r>
              <a:rPr sz="750" b="0" dirty="0">
                <a:solidFill>
                  <a:srgbClr val="2F3B3A"/>
                </a:solidFill>
                <a:latin typeface="Calibri"/>
              </a:rPr>
              <a:t> y </a:t>
            </a:r>
            <a:r>
              <a:rPr sz="750" b="0" dirty="0" err="1">
                <a:solidFill>
                  <a:srgbClr val="2F3B3A"/>
                </a:solidFill>
                <a:latin typeface="Calibri"/>
              </a:rPr>
              <a:t>amplió</a:t>
            </a:r>
            <a:r>
              <a:rPr sz="750" b="0" dirty="0">
                <a:solidFill>
                  <a:srgbClr val="2F3B3A"/>
                </a:solidFill>
                <a:latin typeface="Calibri"/>
              </a:rPr>
              <a:t> la </a:t>
            </a:r>
            <a:r>
              <a:rPr sz="750" b="0" dirty="0" err="1">
                <a:solidFill>
                  <a:srgbClr val="2F3B3A"/>
                </a:solidFill>
                <a:latin typeface="Calibri"/>
              </a:rPr>
              <a:t>brecha</a:t>
            </a:r>
            <a:r>
              <a:rPr sz="750" b="0" dirty="0">
                <a:solidFill>
                  <a:srgbClr val="2F3B3A"/>
                </a:solidFill>
                <a:latin typeface="Calibri"/>
              </a:rPr>
              <a:t> con el </a:t>
            </a:r>
            <a:r>
              <a:rPr sz="750" b="0" dirty="0" err="1">
                <a:solidFill>
                  <a:srgbClr val="2F3B3A"/>
                </a:solidFill>
                <a:latin typeface="Calibri"/>
              </a:rPr>
              <a:t>desembolso</a:t>
            </a:r>
            <a:r>
              <a:rPr sz="750" b="0" dirty="0">
                <a:solidFill>
                  <a:srgbClr val="2F3B3A"/>
                </a:solidFill>
                <a:latin typeface="Calibri"/>
              </a:rPr>
              <a:t> hasta 1T26. El </a:t>
            </a:r>
            <a:r>
              <a:rPr sz="750" b="0" dirty="0" err="1">
                <a:solidFill>
                  <a:srgbClr val="2F3B3A"/>
                </a:solidFill>
                <a:latin typeface="Calibri"/>
              </a:rPr>
              <a:t>último</a:t>
            </a:r>
            <a:r>
              <a:rPr sz="750" b="0" dirty="0">
                <a:solidFill>
                  <a:srgbClr val="2F3B3A"/>
                </a:solidFill>
                <a:latin typeface="Calibri"/>
              </a:rPr>
              <a:t> </a:t>
            </a:r>
            <a:r>
              <a:rPr sz="750" b="0" dirty="0" err="1">
                <a:solidFill>
                  <a:srgbClr val="2F3B3A"/>
                </a:solidFill>
                <a:latin typeface="Calibri"/>
              </a:rPr>
              <a:t>trimestre</a:t>
            </a:r>
            <a:r>
              <a:rPr sz="750" b="0" dirty="0">
                <a:solidFill>
                  <a:srgbClr val="2F3B3A"/>
                </a:solidFill>
                <a:latin typeface="Calibri"/>
              </a:rPr>
              <a:t> la </a:t>
            </a:r>
            <a:r>
              <a:rPr sz="750" b="0" dirty="0" err="1">
                <a:solidFill>
                  <a:srgbClr val="2F3B3A"/>
                </a:solidFill>
                <a:latin typeface="Calibri"/>
              </a:rPr>
              <a:t>oferta</a:t>
            </a:r>
            <a:r>
              <a:rPr sz="750" b="0" dirty="0">
                <a:solidFill>
                  <a:srgbClr val="2F3B3A"/>
                </a:solidFill>
                <a:latin typeface="Calibri"/>
              </a:rPr>
              <a:t> </a:t>
            </a:r>
            <a:r>
              <a:rPr sz="750" b="0" dirty="0" err="1">
                <a:solidFill>
                  <a:srgbClr val="2F3B3A"/>
                </a:solidFill>
                <a:latin typeface="Calibri"/>
              </a:rPr>
              <a:t>bajó</a:t>
            </a:r>
            <a:r>
              <a:rPr sz="750" b="0" dirty="0">
                <a:solidFill>
                  <a:srgbClr val="2F3B3A"/>
                </a:solidFill>
                <a:latin typeface="Calibri"/>
              </a:rPr>
              <a:t> y el </a:t>
            </a:r>
            <a:r>
              <a:rPr sz="750" b="0" dirty="0" err="1">
                <a:solidFill>
                  <a:srgbClr val="2F3B3A"/>
                </a:solidFill>
                <a:latin typeface="Calibri"/>
              </a:rPr>
              <a:t>desembolso</a:t>
            </a:r>
            <a:r>
              <a:rPr sz="750" b="0" dirty="0">
                <a:solidFill>
                  <a:srgbClr val="2F3B3A"/>
                </a:solidFill>
                <a:latin typeface="Calibri"/>
              </a:rPr>
              <a:t> </a:t>
            </a:r>
            <a:r>
              <a:rPr sz="750" b="0" dirty="0" err="1">
                <a:solidFill>
                  <a:srgbClr val="2F3B3A"/>
                </a:solidFill>
                <a:latin typeface="Calibri"/>
              </a:rPr>
              <a:t>subió</a:t>
            </a:r>
            <a:r>
              <a:rPr sz="750" b="0" dirty="0">
                <a:solidFill>
                  <a:srgbClr val="2F3B3A"/>
                </a:solidFill>
                <a:latin typeface="Calibri"/>
              </a:rPr>
              <a:t>, </a:t>
            </a:r>
            <a:r>
              <a:rPr sz="750" b="0" dirty="0" err="1">
                <a:solidFill>
                  <a:srgbClr val="2F3B3A"/>
                </a:solidFill>
                <a:latin typeface="Calibri"/>
              </a:rPr>
              <a:t>aunque</a:t>
            </a:r>
            <a:r>
              <a:rPr sz="750" b="0" dirty="0">
                <a:solidFill>
                  <a:srgbClr val="2F3B3A"/>
                </a:solidFill>
                <a:latin typeface="Calibri"/>
              </a:rPr>
              <a:t> </a:t>
            </a:r>
            <a:r>
              <a:rPr sz="750" b="0" dirty="0" err="1">
                <a:solidFill>
                  <a:srgbClr val="2F3B3A"/>
                </a:solidFill>
                <a:latin typeface="Calibri"/>
              </a:rPr>
              <a:t>cerca</a:t>
            </a:r>
            <a:r>
              <a:rPr sz="750" b="0" dirty="0">
                <a:solidFill>
                  <a:srgbClr val="2F3B3A"/>
                </a:solidFill>
                <a:latin typeface="Calibri"/>
              </a:rPr>
              <a:t> de sus </a:t>
            </a:r>
            <a:r>
              <a:rPr sz="750" b="0" dirty="0" err="1">
                <a:solidFill>
                  <a:srgbClr val="2F3B3A"/>
                </a:solidFill>
                <a:latin typeface="Calibri"/>
              </a:rPr>
              <a:t>niveles</a:t>
            </a:r>
            <a:r>
              <a:rPr sz="750" b="0" dirty="0">
                <a:solidFill>
                  <a:srgbClr val="2F3B3A"/>
                </a:solidFill>
                <a:latin typeface="Calibri"/>
              </a:rPr>
              <a:t> </a:t>
            </a:r>
            <a:r>
              <a:rPr sz="750" b="0" dirty="0" err="1">
                <a:solidFill>
                  <a:srgbClr val="2F3B3A"/>
                </a:solidFill>
                <a:latin typeface="Calibri"/>
              </a:rPr>
              <a:t>previos</a:t>
            </a:r>
            <a:r>
              <a:rPr sz="750" b="0" dirty="0">
                <a:solidFill>
                  <a:srgbClr val="2F3B3A"/>
                </a:solidFill>
                <a:latin typeface="Calibri"/>
              </a:rPr>
              <a:t>, y el share </a:t>
            </a:r>
            <a:r>
              <a:rPr sz="750" b="0" dirty="0" err="1">
                <a:solidFill>
                  <a:srgbClr val="2F3B3A"/>
                </a:solidFill>
                <a:latin typeface="Calibri"/>
              </a:rPr>
              <a:t>respondió</a:t>
            </a:r>
            <a:r>
              <a:rPr sz="750" b="0" dirty="0">
                <a:solidFill>
                  <a:srgbClr val="2F3B3A"/>
                </a:solidFill>
                <a:latin typeface="Calibri"/>
              </a:rPr>
              <a:t> con </a:t>
            </a:r>
            <a:r>
              <a:rPr sz="750" b="0" dirty="0" err="1">
                <a:solidFill>
                  <a:srgbClr val="2F3B3A"/>
                </a:solidFill>
                <a:latin typeface="Calibri"/>
              </a:rPr>
              <a:t>fuerza</a:t>
            </a:r>
            <a:endParaRPr sz="850" b="0" dirty="0">
              <a:solidFill>
                <a:srgbClr val="2F3B3A"/>
              </a:solidFill>
              <a:latin typeface="Calibri"/>
            </a:endParaRPr>
          </a:p>
          <a:p>
            <a:pPr algn="l">
              <a:spcBef>
                <a:spcPts val="300"/>
              </a:spcBef>
            </a:pPr>
            <a:r>
              <a:rPr sz="750" b="1" dirty="0" err="1">
                <a:solidFill>
                  <a:srgbClr val="13807B"/>
                </a:solidFill>
                <a:latin typeface="Calibri"/>
              </a:rPr>
              <a:t>Estrategia</a:t>
            </a:r>
            <a:r>
              <a:rPr sz="750" b="1" dirty="0">
                <a:solidFill>
                  <a:srgbClr val="13807B"/>
                </a:solidFill>
                <a:latin typeface="Calibri"/>
              </a:rPr>
              <a:t> de </a:t>
            </a:r>
            <a:r>
              <a:rPr sz="750" b="1" dirty="0" err="1">
                <a:solidFill>
                  <a:srgbClr val="13807B"/>
                </a:solidFill>
                <a:latin typeface="Calibri"/>
              </a:rPr>
              <a:t>pilotos</a:t>
            </a:r>
            <a:r>
              <a:rPr sz="750" b="1" dirty="0">
                <a:solidFill>
                  <a:srgbClr val="13807B"/>
                </a:solidFill>
                <a:latin typeface="Calibri"/>
              </a:rPr>
              <a:t>: </a:t>
            </a:r>
            <a:r>
              <a:rPr sz="750" b="1" dirty="0" err="1">
                <a:solidFill>
                  <a:srgbClr val="2F3B3A"/>
                </a:solidFill>
                <a:latin typeface="Calibri"/>
              </a:rPr>
              <a:t>Mantener</a:t>
            </a:r>
            <a:r>
              <a:rPr lang="es-ES" sz="750" b="1" dirty="0">
                <a:solidFill>
                  <a:srgbClr val="2F3B3A"/>
                </a:solidFill>
                <a:latin typeface="Calibri"/>
              </a:rPr>
              <a:t> precio</a:t>
            </a:r>
            <a:endParaRPr sz="850" b="1" dirty="0">
              <a:solidFill>
                <a:srgbClr val="2F3B3A"/>
              </a:solidFill>
              <a:latin typeface="Calibri"/>
            </a:endParaRPr>
          </a:p>
          <a:p>
            <a:pPr algn="l">
              <a:spcBef>
                <a:spcPts val="300"/>
              </a:spcBef>
            </a:pPr>
            <a:r>
              <a:rPr sz="400" b="0" dirty="0">
                <a:solidFill>
                  <a:srgbClr val="2F3B3A"/>
                </a:solidFill>
                <a:latin typeface="Calibri"/>
              </a:rPr>
              <a:t> </a:t>
            </a:r>
          </a:p>
          <a:p>
            <a:pPr algn="l">
              <a:spcBef>
                <a:spcPts val="300"/>
              </a:spcBef>
            </a:pPr>
            <a:r>
              <a:rPr sz="1000" b="1" dirty="0">
                <a:solidFill>
                  <a:srgbClr val="E5173F"/>
                </a:solidFill>
                <a:latin typeface="Calibri"/>
              </a:rPr>
              <a:t>&gt; 250K</a:t>
            </a:r>
            <a:r>
              <a:rPr sz="750" b="0" dirty="0">
                <a:solidFill>
                  <a:srgbClr val="6E7E7D"/>
                </a:solidFill>
                <a:latin typeface="Calibri"/>
              </a:rPr>
              <a:t>   share 53 → 34</a:t>
            </a:r>
          </a:p>
          <a:p>
            <a:pPr algn="l">
              <a:spcBef>
                <a:spcPts val="300"/>
              </a:spcBef>
            </a:pPr>
            <a:r>
              <a:rPr sz="750" b="1" dirty="0">
                <a:solidFill>
                  <a:srgbClr val="13807B"/>
                </a:solidFill>
                <a:latin typeface="Calibri"/>
              </a:rPr>
              <a:t>• </a:t>
            </a:r>
            <a:r>
              <a:rPr sz="750" b="0" dirty="0">
                <a:solidFill>
                  <a:srgbClr val="2F3B3A"/>
                </a:solidFill>
                <a:latin typeface="Calibri"/>
              </a:rPr>
              <a:t>Share bajo y </a:t>
            </a:r>
            <a:r>
              <a:rPr sz="750" b="0" dirty="0" err="1">
                <a:solidFill>
                  <a:srgbClr val="2F3B3A"/>
                </a:solidFill>
                <a:latin typeface="Calibri"/>
              </a:rPr>
              <a:t>volátil</a:t>
            </a:r>
            <a:r>
              <a:rPr sz="750" b="0" dirty="0">
                <a:solidFill>
                  <a:srgbClr val="2F3B3A"/>
                </a:solidFill>
                <a:latin typeface="Calibri"/>
              </a:rPr>
              <a:t>, con </a:t>
            </a:r>
            <a:r>
              <a:rPr sz="750" b="0" dirty="0" err="1">
                <a:solidFill>
                  <a:srgbClr val="2F3B3A"/>
                </a:solidFill>
                <a:latin typeface="Calibri"/>
              </a:rPr>
              <a:t>una</a:t>
            </a:r>
            <a:r>
              <a:rPr sz="750" b="0" dirty="0">
                <a:solidFill>
                  <a:srgbClr val="2F3B3A"/>
                </a:solidFill>
                <a:latin typeface="Calibri"/>
              </a:rPr>
              <a:t> </a:t>
            </a:r>
            <a:r>
              <a:rPr sz="750" b="0" dirty="0" err="1">
                <a:solidFill>
                  <a:srgbClr val="2F3B3A"/>
                </a:solidFill>
                <a:latin typeface="Calibri"/>
              </a:rPr>
              <a:t>caída</a:t>
            </a:r>
            <a:r>
              <a:rPr sz="750" b="0" dirty="0">
                <a:solidFill>
                  <a:srgbClr val="2F3B3A"/>
                </a:solidFill>
                <a:latin typeface="Calibri"/>
              </a:rPr>
              <a:t> el </a:t>
            </a:r>
            <a:r>
              <a:rPr sz="750" b="0" dirty="0" err="1">
                <a:solidFill>
                  <a:srgbClr val="2F3B3A"/>
                </a:solidFill>
                <a:latin typeface="Calibri"/>
              </a:rPr>
              <a:t>último</a:t>
            </a:r>
            <a:r>
              <a:rPr sz="750" b="0" dirty="0">
                <a:solidFill>
                  <a:srgbClr val="2F3B3A"/>
                </a:solidFill>
                <a:latin typeface="Calibri"/>
              </a:rPr>
              <a:t> </a:t>
            </a:r>
            <a:r>
              <a:rPr sz="750" b="0" dirty="0" err="1">
                <a:solidFill>
                  <a:srgbClr val="2F3B3A"/>
                </a:solidFill>
                <a:latin typeface="Calibri"/>
              </a:rPr>
              <a:t>trimestre</a:t>
            </a:r>
            <a:endParaRPr sz="850" b="0" dirty="0">
              <a:solidFill>
                <a:srgbClr val="2F3B3A"/>
              </a:solidFill>
              <a:latin typeface="Calibri"/>
            </a:endParaRPr>
          </a:p>
          <a:p>
            <a:pPr algn="l">
              <a:spcBef>
                <a:spcPts val="300"/>
              </a:spcBef>
            </a:pPr>
            <a:r>
              <a:rPr sz="750" b="1" dirty="0">
                <a:solidFill>
                  <a:srgbClr val="13807B"/>
                </a:solidFill>
                <a:latin typeface="Calibri"/>
              </a:rPr>
              <a:t>• </a:t>
            </a:r>
            <a:r>
              <a:rPr sz="750" b="0" dirty="0">
                <a:solidFill>
                  <a:srgbClr val="2F3B3A"/>
                </a:solidFill>
                <a:latin typeface="Calibri"/>
              </a:rPr>
              <a:t>La brecha entre la tasa ofertada y la desembolsada es volátil, entre 110 y 400 pbs. El último trimestre el desembolso subió 130 pbs, lo que coincide con la caída del share</a:t>
            </a:r>
          </a:p>
          <a:p>
            <a:pPr algn="l">
              <a:spcBef>
                <a:spcPts val="300"/>
              </a:spcBef>
            </a:pPr>
            <a:r>
              <a:rPr sz="750" b="1" dirty="0" err="1">
                <a:solidFill>
                  <a:srgbClr val="13807B"/>
                </a:solidFill>
                <a:latin typeface="Calibri"/>
              </a:rPr>
              <a:t>Estrategia</a:t>
            </a:r>
            <a:r>
              <a:rPr sz="750" b="1" dirty="0">
                <a:solidFill>
                  <a:srgbClr val="13807B"/>
                </a:solidFill>
                <a:latin typeface="Calibri"/>
              </a:rPr>
              <a:t> de </a:t>
            </a:r>
            <a:r>
              <a:rPr sz="750" b="1" dirty="0" err="1">
                <a:solidFill>
                  <a:srgbClr val="13807B"/>
                </a:solidFill>
                <a:latin typeface="Calibri"/>
              </a:rPr>
              <a:t>pilotos</a:t>
            </a:r>
            <a:r>
              <a:rPr sz="750" b="1" dirty="0">
                <a:solidFill>
                  <a:srgbClr val="13807B"/>
                </a:solidFill>
                <a:latin typeface="Calibri"/>
              </a:rPr>
              <a:t>: </a:t>
            </a:r>
            <a:r>
              <a:rPr sz="750" b="1" dirty="0">
                <a:solidFill>
                  <a:srgbClr val="2F3B3A"/>
                </a:solidFill>
                <a:latin typeface="Calibri"/>
              </a:rPr>
              <a:t>Bajar</a:t>
            </a:r>
            <a:r>
              <a:rPr lang="es-ES" sz="750" b="1" dirty="0">
                <a:solidFill>
                  <a:srgbClr val="2F3B3A"/>
                </a:solidFill>
                <a:latin typeface="Calibri"/>
              </a:rPr>
              <a:t> precio</a:t>
            </a:r>
            <a:endParaRPr sz="850" b="1" dirty="0">
              <a:solidFill>
                <a:srgbClr val="2F3B3A"/>
              </a:solidFill>
              <a:latin typeface="Calibri"/>
            </a:endParaRPr>
          </a:p>
        </p:txBody>
      </p:sp>
      <p:sp>
        <p:nvSpPr>
          <p:cNvPr id="35" name="Rectangle 34"/>
          <p:cNvSpPr/>
          <p:nvPr/>
        </p:nvSpPr>
        <p:spPr>
          <a:xfrm>
            <a:off x="493776" y="5720000"/>
            <a:ext cx="5475700" cy="620000"/>
          </a:xfrm>
          <a:prstGeom prst="rect">
            <a:avLst/>
          </a:prstGeom>
          <a:solidFill>
            <a:srgbClr val="E8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493776" y="5720000"/>
            <a:ext cx="45000" cy="620000"/>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43776" y="5770000"/>
            <a:ext cx="5255700" cy="540000"/>
          </a:xfrm>
          <a:prstGeom prst="rect">
            <a:avLst/>
          </a:prstGeom>
          <a:noFill/>
        </p:spPr>
        <p:txBody>
          <a:bodyPr wrap="square" lIns="0" tIns="0" rIns="0" bIns="0" anchor="ctr">
            <a:spAutoFit/>
          </a:bodyPr>
          <a:lstStyle/>
          <a:p>
            <a:r>
              <a:rPr sz="800" b="1">
                <a:solidFill>
                  <a:srgbClr val="13807B"/>
                </a:solidFill>
                <a:latin typeface="Lato"/>
              </a:rPr>
              <a:t>El precio de lista importa. </a:t>
            </a:r>
            <a:r>
              <a:rPr sz="800" b="0">
                <a:solidFill>
                  <a:srgbClr val="2F3B3A"/>
                </a:solidFill>
                <a:latin typeface="Lato"/>
              </a:rPr>
              <a:t>Los clientes sin historial crediticio esperan poca negociación y toman la oferta como referencia, así que su share responde más a la tasa ofertada que al desembolso. En tickets hasta S/ 170K, cuando bajamos la oferta de 26,6% a 22,0% el último trimestre, el share repuntó de 66 a 94.</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93777" y="246888"/>
            <a:ext cx="8963570" cy="109710"/>
          </a:xfrm>
          <a:prstGeom prst="rect">
            <a:avLst/>
          </a:prstGeom>
          <a:noFill/>
        </p:spPr>
        <p:txBody>
          <a:bodyPr wrap="square" lIns="0" tIns="0" rIns="0" bIns="0" anchor="t">
            <a:spAutoFit/>
          </a:bodyPr>
          <a:lstStyle/>
          <a:p>
            <a:pPr algn="l"/>
            <a:r>
              <a:rPr sz="800" b="1">
                <a:solidFill>
                  <a:srgbClr val="6E7E7D"/>
                </a:solidFill>
                <a:latin typeface="Calibri"/>
              </a:rPr>
              <a:t>SHARE Y TASA POR SEGMENTO · NUEVO EN EXPANSIÓN · SIN HISTORIAL CREDITICIO</a:t>
            </a:r>
          </a:p>
        </p:txBody>
      </p:sp>
      <p:sp>
        <p:nvSpPr>
          <p:cNvPr id="3" name="TextBox 2"/>
          <p:cNvSpPr txBox="1"/>
          <p:nvPr/>
        </p:nvSpPr>
        <p:spPr>
          <a:xfrm>
            <a:off x="493776" y="425196"/>
            <a:ext cx="10312923" cy="482568"/>
          </a:xfrm>
          <a:prstGeom prst="rect">
            <a:avLst/>
          </a:prstGeom>
          <a:noFill/>
        </p:spPr>
        <p:txBody>
          <a:bodyPr wrap="square" lIns="0" tIns="0" rIns="0" bIns="0" anchor="t">
            <a:spAutoFit/>
          </a:bodyPr>
          <a:lstStyle/>
          <a:p>
            <a:pPr algn="l"/>
            <a:r>
              <a:rPr sz="1600" b="1">
                <a:solidFill>
                  <a:srgbClr val="13807B"/>
                </a:solidFill>
                <a:latin typeface="Poppins"/>
              </a:rPr>
              <a:t>Nuevo en Expansión debe mantener el precio en tickets chicos y bajarlo en tickets mayores a S/ 250K</a:t>
            </a:r>
          </a:p>
        </p:txBody>
      </p:sp>
      <p:cxnSp>
        <p:nvCxnSpPr>
          <p:cNvPr id="4" name="Connector 3"/>
          <p:cNvCxnSpPr/>
          <p:nvPr/>
        </p:nvCxnSpPr>
        <p:spPr>
          <a:xfrm>
            <a:off x="493776" y="1049274"/>
            <a:ext cx="11204463" cy="0"/>
          </a:xfrm>
          <a:prstGeom prst="line">
            <a:avLst/>
          </a:prstGeom>
          <a:ln w="12700">
            <a:solidFill>
              <a:srgbClr val="D5DFDE"/>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93776" y="1120000"/>
            <a:ext cx="5475700" cy="220000"/>
          </a:xfrm>
          <a:prstGeom prst="rect">
            <a:avLst/>
          </a:prstGeom>
          <a:noFill/>
        </p:spPr>
        <p:txBody>
          <a:bodyPr wrap="square" lIns="0" tIns="0" rIns="0" bIns="0" anchor="t">
            <a:spAutoFit/>
          </a:bodyPr>
          <a:lstStyle/>
          <a:p>
            <a:pPr algn="l"/>
            <a:r>
              <a:rPr sz="1000" b="1">
                <a:solidFill>
                  <a:srgbClr val="2F3B3A"/>
                </a:solidFill>
                <a:latin typeface="Calibri"/>
              </a:rPr>
              <a:t>Share relevante por trimestre (%) · </a:t>
            </a:r>
            <a:r>
              <a:rPr sz="1000" b="1">
                <a:solidFill>
                  <a:srgbClr val="13807B"/>
                </a:solidFill>
              </a:rPr>
              <a:t>tramos por monto ofertado</a:t>
            </a:r>
          </a:p>
        </p:txBody>
      </p:sp>
      <p:graphicFrame>
        <p:nvGraphicFramePr>
          <p:cNvPr id="7" name="Chart 6"/>
          <p:cNvGraphicFramePr>
            <a:graphicFrameLocks noGrp="1"/>
          </p:cNvGraphicFramePr>
          <p:nvPr/>
        </p:nvGraphicFramePr>
        <p:xfrm>
          <a:off x="493776" y="1330000"/>
          <a:ext cx="5475700" cy="2250000"/>
        </p:xfrm>
        <a:graphic>
          <a:graphicData uri="http://schemas.openxmlformats.org/drawingml/2006/chart">
            <c:chart xmlns:c="http://schemas.openxmlformats.org/drawingml/2006/chart" xmlns:r="http://schemas.openxmlformats.org/officeDocument/2006/relationships" r:id="rId2"/>
          </a:graphicData>
        </a:graphic>
      </p:graphicFrame>
      <p:sp>
        <p:nvSpPr>
          <p:cNvPr id="11" name="TextBox 10"/>
          <p:cNvSpPr txBox="1"/>
          <p:nvPr/>
        </p:nvSpPr>
        <p:spPr>
          <a:xfrm>
            <a:off x="493776" y="3720000"/>
            <a:ext cx="2662850" cy="220000"/>
          </a:xfrm>
          <a:prstGeom prst="rect">
            <a:avLst/>
          </a:prstGeom>
          <a:noFill/>
        </p:spPr>
        <p:txBody>
          <a:bodyPr wrap="square" lIns="0" tIns="0" rIns="0" bIns="0" anchor="t">
            <a:spAutoFit/>
          </a:bodyPr>
          <a:lstStyle/>
          <a:p>
            <a:pPr algn="l"/>
            <a:r>
              <a:rPr sz="900" b="1">
                <a:solidFill>
                  <a:srgbClr val="2F3B3A"/>
                </a:solidFill>
                <a:latin typeface="Calibri"/>
              </a:rPr>
              <a:t>TEA promedio ponderado · </a:t>
            </a:r>
            <a:r>
              <a:rPr sz="900" b="1">
                <a:solidFill>
                  <a:srgbClr val="13807B"/>
                </a:solidFill>
              </a:rPr>
              <a:t>≤ 170K</a:t>
            </a:r>
          </a:p>
        </p:txBody>
      </p:sp>
      <p:graphicFrame>
        <p:nvGraphicFramePr>
          <p:cNvPr id="12" name="Chart 11"/>
          <p:cNvGraphicFramePr>
            <a:graphicFrameLocks noGrp="1"/>
          </p:cNvGraphicFramePr>
          <p:nvPr/>
        </p:nvGraphicFramePr>
        <p:xfrm>
          <a:off x="493776" y="3930000"/>
          <a:ext cx="2662850" cy="1750000"/>
        </p:xfrm>
        <a:graphic>
          <a:graphicData uri="http://schemas.openxmlformats.org/drawingml/2006/chart">
            <c:chart xmlns:c="http://schemas.openxmlformats.org/drawingml/2006/chart" xmlns:r="http://schemas.openxmlformats.org/officeDocument/2006/relationships" r:id="rId3"/>
          </a:graphicData>
        </a:graphic>
      </p:graphicFrame>
      <p:sp>
        <p:nvSpPr>
          <p:cNvPr id="13" name="TextBox 12"/>
          <p:cNvSpPr txBox="1"/>
          <p:nvPr/>
        </p:nvSpPr>
        <p:spPr>
          <a:xfrm>
            <a:off x="3306626" y="3720000"/>
            <a:ext cx="2662850" cy="220000"/>
          </a:xfrm>
          <a:prstGeom prst="rect">
            <a:avLst/>
          </a:prstGeom>
          <a:noFill/>
        </p:spPr>
        <p:txBody>
          <a:bodyPr wrap="square" lIns="0" tIns="0" rIns="0" bIns="0" anchor="t">
            <a:spAutoFit/>
          </a:bodyPr>
          <a:lstStyle/>
          <a:p>
            <a:pPr algn="l"/>
            <a:r>
              <a:rPr sz="900" b="1">
                <a:solidFill>
                  <a:srgbClr val="2F3B3A"/>
                </a:solidFill>
                <a:latin typeface="Calibri"/>
              </a:rPr>
              <a:t>TEA promedio ponderado · </a:t>
            </a:r>
            <a:r>
              <a:rPr sz="900" b="1">
                <a:solidFill>
                  <a:srgbClr val="E5173F"/>
                </a:solidFill>
              </a:rPr>
              <a:t>&gt; 250K</a:t>
            </a:r>
          </a:p>
        </p:txBody>
      </p:sp>
      <p:graphicFrame>
        <p:nvGraphicFramePr>
          <p:cNvPr id="14" name="Chart 13"/>
          <p:cNvGraphicFramePr>
            <a:graphicFrameLocks noGrp="1"/>
          </p:cNvGraphicFramePr>
          <p:nvPr/>
        </p:nvGraphicFramePr>
        <p:xfrm>
          <a:off x="3306626" y="3930000"/>
          <a:ext cx="2662850" cy="1750000"/>
        </p:xfrm>
        <a:graphic>
          <a:graphicData uri="http://schemas.openxmlformats.org/drawingml/2006/chart">
            <c:chart xmlns:c="http://schemas.openxmlformats.org/drawingml/2006/chart" xmlns:r="http://schemas.openxmlformats.org/officeDocument/2006/relationships" r:id="rId4"/>
          </a:graphicData>
        </a:graphic>
      </p:graphicFrame>
      <p:sp>
        <p:nvSpPr>
          <p:cNvPr id="16" name="Rectangle 15"/>
          <p:cNvSpPr/>
          <p:nvPr/>
        </p:nvSpPr>
        <p:spPr>
          <a:xfrm>
            <a:off x="6219476" y="4140000"/>
            <a:ext cx="5475700" cy="2340000"/>
          </a:xfrm>
          <a:prstGeom prst="rect">
            <a:avLst/>
          </a:prstGeom>
          <a:solidFill>
            <a:srgbClr val="F1F6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219476" y="4140000"/>
            <a:ext cx="45000" cy="2340000"/>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93776" y="6380000"/>
            <a:ext cx="11201400" cy="300000"/>
          </a:xfrm>
          <a:prstGeom prst="rect">
            <a:avLst/>
          </a:prstGeom>
          <a:noFill/>
        </p:spPr>
        <p:txBody>
          <a:bodyPr wrap="square" lIns="0" tIns="0" rIns="0" bIns="0" anchor="t">
            <a:spAutoFit/>
          </a:bodyPr>
          <a:lstStyle/>
          <a:p>
            <a:pPr algn="l"/>
            <a:r>
              <a:rPr sz="700" b="0">
                <a:solidFill>
                  <a:srgbClr val="6E7E7D"/>
                </a:solidFill>
                <a:latin typeface="Calibri"/>
              </a:rPr>
              <a:t>2T26* = abr–may.</a:t>
            </a:r>
          </a:p>
        </p:txBody>
      </p:sp>
      <p:sp>
        <p:nvSpPr>
          <p:cNvPr id="20" name="TextBox 19"/>
          <p:cNvSpPr txBox="1"/>
          <p:nvPr/>
        </p:nvSpPr>
        <p:spPr>
          <a:xfrm>
            <a:off x="6219476" y="1120000"/>
            <a:ext cx="5475700" cy="200000"/>
          </a:xfrm>
          <a:prstGeom prst="rect">
            <a:avLst/>
          </a:prstGeom>
          <a:noFill/>
        </p:spPr>
        <p:txBody>
          <a:bodyPr wrap="square" lIns="0" tIns="0" rIns="0" bIns="0">
            <a:spAutoFit/>
          </a:bodyPr>
          <a:lstStyle/>
          <a:p>
            <a:pPr algn="l"/>
            <a:r>
              <a:rPr sz="1000" b="1">
                <a:solidFill>
                  <a:srgbClr val="2F3B3A"/>
                </a:solidFill>
                <a:latin typeface="Lato"/>
              </a:rPr>
              <a:t>TEA mediana ponderada por apertura · </a:t>
            </a:r>
            <a:r>
              <a:rPr sz="1000" b="1">
                <a:solidFill>
                  <a:srgbClr val="6E7E7D"/>
                </a:solidFill>
                <a:latin typeface="Lato"/>
              </a:rPr>
              <a:t>jul–dic 2025</a:t>
            </a:r>
          </a:p>
        </p:txBody>
      </p:sp>
      <p:graphicFrame>
        <p:nvGraphicFramePr>
          <p:cNvPr id="21" name="Chart 20"/>
          <p:cNvGraphicFramePr>
            <a:graphicFrameLocks noGrp="1"/>
          </p:cNvGraphicFramePr>
          <p:nvPr/>
        </p:nvGraphicFramePr>
        <p:xfrm>
          <a:off x="6219476" y="1265449"/>
          <a:ext cx="5475700" cy="1171679"/>
        </p:xfrm>
        <a:graphic>
          <a:graphicData uri="http://schemas.openxmlformats.org/drawingml/2006/chart">
            <c:chart xmlns:c="http://schemas.openxmlformats.org/drawingml/2006/chart" xmlns:r="http://schemas.openxmlformats.org/officeDocument/2006/relationships" r:id="rId5"/>
          </a:graphicData>
        </a:graphic>
      </p:graphicFrame>
      <p:sp>
        <p:nvSpPr>
          <p:cNvPr id="22" name="TextBox 21"/>
          <p:cNvSpPr txBox="1"/>
          <p:nvPr/>
        </p:nvSpPr>
        <p:spPr>
          <a:xfrm>
            <a:off x="6743158" y="2309052"/>
            <a:ext cx="1800000" cy="180000"/>
          </a:xfrm>
          <a:prstGeom prst="rect">
            <a:avLst/>
          </a:prstGeom>
          <a:noFill/>
        </p:spPr>
        <p:txBody>
          <a:bodyPr wrap="square" lIns="0" tIns="0" rIns="0" bIns="0">
            <a:spAutoFit/>
          </a:bodyPr>
          <a:lstStyle/>
          <a:p>
            <a:pPr algn="ctr"/>
            <a:r>
              <a:rPr sz="900" b="1">
                <a:solidFill>
                  <a:srgbClr val="13807B"/>
                </a:solidFill>
                <a:latin typeface="Lato"/>
              </a:rPr>
              <a:t>≤ 170K</a:t>
            </a:r>
          </a:p>
        </p:txBody>
      </p:sp>
      <p:sp>
        <p:nvSpPr>
          <p:cNvPr id="23" name="TextBox 22"/>
          <p:cNvSpPr txBox="1"/>
          <p:nvPr/>
        </p:nvSpPr>
        <p:spPr>
          <a:xfrm>
            <a:off x="8022806" y="1738027"/>
            <a:ext cx="700889" cy="546782"/>
          </a:xfrm>
          <a:prstGeom prst="rect">
            <a:avLst/>
          </a:prstGeom>
          <a:noFill/>
          <a:ln w="9525">
            <a:solidFill>
              <a:srgbClr val="F28C28"/>
            </a:solidFill>
            <a:prstDash val="dash"/>
          </a:ln>
        </p:spPr>
        <p:txBody>
          <a:bodyPr wrap="square" lIns="0" tIns="0" rIns="0" bIns="0" anchor="ctr">
            <a:spAutoFit/>
          </a:bodyPr>
          <a:lstStyle/>
          <a:p>
            <a:pPr algn="ctr"/>
            <a:r>
              <a:rPr sz="650" b="0">
                <a:solidFill>
                  <a:srgbClr val="F28C28"/>
                </a:solidFill>
                <a:latin typeface="Lato"/>
              </a:rPr>
              <a:t>Insuficiente materialidad para la tasa de la competencia</a:t>
            </a:r>
          </a:p>
        </p:txBody>
      </p:sp>
      <p:sp>
        <p:nvSpPr>
          <p:cNvPr id="24" name="TextBox 23"/>
          <p:cNvSpPr txBox="1"/>
          <p:nvPr/>
        </p:nvSpPr>
        <p:spPr>
          <a:xfrm>
            <a:off x="9371494" y="2309052"/>
            <a:ext cx="1800000" cy="180000"/>
          </a:xfrm>
          <a:prstGeom prst="rect">
            <a:avLst/>
          </a:prstGeom>
          <a:noFill/>
        </p:spPr>
        <p:txBody>
          <a:bodyPr wrap="square" lIns="0" tIns="0" rIns="0" bIns="0">
            <a:spAutoFit/>
          </a:bodyPr>
          <a:lstStyle/>
          <a:p>
            <a:pPr algn="ctr"/>
            <a:r>
              <a:rPr sz="900" b="1">
                <a:solidFill>
                  <a:srgbClr val="E5173F"/>
                </a:solidFill>
                <a:latin typeface="Lato"/>
              </a:rPr>
              <a:t>&gt; 250K</a:t>
            </a:r>
          </a:p>
        </p:txBody>
      </p:sp>
      <p:sp>
        <p:nvSpPr>
          <p:cNvPr id="26" name="TextBox 25"/>
          <p:cNvSpPr txBox="1"/>
          <p:nvPr/>
        </p:nvSpPr>
        <p:spPr>
          <a:xfrm>
            <a:off x="6219476" y="2606820"/>
            <a:ext cx="5475700" cy="200000"/>
          </a:xfrm>
          <a:prstGeom prst="rect">
            <a:avLst/>
          </a:prstGeom>
          <a:noFill/>
        </p:spPr>
        <p:txBody>
          <a:bodyPr wrap="square" lIns="0" tIns="0" rIns="0" bIns="0">
            <a:spAutoFit/>
          </a:bodyPr>
          <a:lstStyle/>
          <a:p>
            <a:pPr algn="l"/>
            <a:r>
              <a:rPr sz="1000" b="1">
                <a:solidFill>
                  <a:srgbClr val="2F3B3A"/>
                </a:solidFill>
                <a:latin typeface="Lato"/>
              </a:rPr>
              <a:t>TEA mediana ponderada por apertura · </a:t>
            </a:r>
            <a:r>
              <a:rPr sz="1000" b="1">
                <a:solidFill>
                  <a:srgbClr val="13807B"/>
                </a:solidFill>
                <a:latin typeface="Lato"/>
              </a:rPr>
              <a:t>ene–may 2026</a:t>
            </a:r>
          </a:p>
        </p:txBody>
      </p:sp>
      <p:graphicFrame>
        <p:nvGraphicFramePr>
          <p:cNvPr id="27" name="Chart 26"/>
          <p:cNvGraphicFramePr>
            <a:graphicFrameLocks noGrp="1"/>
          </p:cNvGraphicFramePr>
          <p:nvPr/>
        </p:nvGraphicFramePr>
        <p:xfrm>
          <a:off x="6219476" y="2752271"/>
          <a:ext cx="5475700" cy="969665"/>
        </p:xfrm>
        <a:graphic>
          <a:graphicData uri="http://schemas.openxmlformats.org/drawingml/2006/chart">
            <c:chart xmlns:c="http://schemas.openxmlformats.org/drawingml/2006/chart" xmlns:r="http://schemas.openxmlformats.org/officeDocument/2006/relationships" r:id="rId6"/>
          </a:graphicData>
        </a:graphic>
      </p:graphicFrame>
      <p:sp>
        <p:nvSpPr>
          <p:cNvPr id="28" name="TextBox 27"/>
          <p:cNvSpPr txBox="1"/>
          <p:nvPr/>
        </p:nvSpPr>
        <p:spPr>
          <a:xfrm>
            <a:off x="6743158" y="3610425"/>
            <a:ext cx="1800000" cy="180000"/>
          </a:xfrm>
          <a:prstGeom prst="rect">
            <a:avLst/>
          </a:prstGeom>
          <a:noFill/>
        </p:spPr>
        <p:txBody>
          <a:bodyPr wrap="square" lIns="0" tIns="0" rIns="0" bIns="0">
            <a:spAutoFit/>
          </a:bodyPr>
          <a:lstStyle/>
          <a:p>
            <a:pPr algn="ctr"/>
            <a:r>
              <a:rPr sz="900" b="1">
                <a:solidFill>
                  <a:srgbClr val="13807B"/>
                </a:solidFill>
                <a:latin typeface="Lato"/>
              </a:rPr>
              <a:t>≤ 170K</a:t>
            </a:r>
          </a:p>
        </p:txBody>
      </p:sp>
      <p:sp>
        <p:nvSpPr>
          <p:cNvPr id="29" name="TextBox 28"/>
          <p:cNvSpPr txBox="1"/>
          <p:nvPr/>
        </p:nvSpPr>
        <p:spPr>
          <a:xfrm>
            <a:off x="8022806" y="3133672"/>
            <a:ext cx="700889" cy="452510"/>
          </a:xfrm>
          <a:prstGeom prst="rect">
            <a:avLst/>
          </a:prstGeom>
          <a:noFill/>
          <a:ln w="9525">
            <a:solidFill>
              <a:srgbClr val="F28C28"/>
            </a:solidFill>
            <a:prstDash val="dash"/>
          </a:ln>
        </p:spPr>
        <p:txBody>
          <a:bodyPr wrap="square" lIns="0" tIns="0" rIns="0" bIns="0" anchor="ctr">
            <a:spAutoFit/>
          </a:bodyPr>
          <a:lstStyle/>
          <a:p>
            <a:pPr algn="ctr"/>
            <a:r>
              <a:rPr sz="650" b="0">
                <a:solidFill>
                  <a:srgbClr val="F28C28"/>
                </a:solidFill>
                <a:latin typeface="Lato"/>
              </a:rPr>
              <a:t>Insuficiente materialidad para la tasa de la competencia</a:t>
            </a:r>
          </a:p>
        </p:txBody>
      </p:sp>
      <p:sp>
        <p:nvSpPr>
          <p:cNvPr id="30" name="TextBox 29"/>
          <p:cNvSpPr txBox="1"/>
          <p:nvPr/>
        </p:nvSpPr>
        <p:spPr>
          <a:xfrm>
            <a:off x="9371494" y="3610425"/>
            <a:ext cx="1800000" cy="180000"/>
          </a:xfrm>
          <a:prstGeom prst="rect">
            <a:avLst/>
          </a:prstGeom>
          <a:noFill/>
        </p:spPr>
        <p:txBody>
          <a:bodyPr wrap="square" lIns="0" tIns="0" rIns="0" bIns="0">
            <a:spAutoFit/>
          </a:bodyPr>
          <a:lstStyle/>
          <a:p>
            <a:pPr algn="ctr"/>
            <a:r>
              <a:rPr sz="900" b="1">
                <a:solidFill>
                  <a:srgbClr val="E5173F"/>
                </a:solidFill>
                <a:latin typeface="Lato"/>
              </a:rPr>
              <a:t>&gt; 250K</a:t>
            </a:r>
          </a:p>
        </p:txBody>
      </p:sp>
      <p:sp>
        <p:nvSpPr>
          <p:cNvPr id="32" name="TextBox 31"/>
          <p:cNvSpPr txBox="1"/>
          <p:nvPr/>
        </p:nvSpPr>
        <p:spPr>
          <a:xfrm>
            <a:off x="6219476" y="3950000"/>
            <a:ext cx="5475700" cy="200000"/>
          </a:xfrm>
          <a:prstGeom prst="rect">
            <a:avLst/>
          </a:prstGeom>
          <a:noFill/>
        </p:spPr>
        <p:txBody>
          <a:bodyPr wrap="square" lIns="0" tIns="0" rIns="0" bIns="0">
            <a:spAutoFit/>
          </a:bodyPr>
          <a:lstStyle/>
          <a:p>
            <a:pPr algn="l"/>
            <a:r>
              <a:rPr sz="1000" b="1">
                <a:solidFill>
                  <a:srgbClr val="2F3B3A"/>
                </a:solidFill>
                <a:latin typeface="Lato"/>
              </a:rPr>
              <a:t>Insights</a:t>
            </a:r>
          </a:p>
        </p:txBody>
      </p:sp>
      <p:sp>
        <p:nvSpPr>
          <p:cNvPr id="33" name="TextBox 32"/>
          <p:cNvSpPr txBox="1"/>
          <p:nvPr/>
        </p:nvSpPr>
        <p:spPr>
          <a:xfrm>
            <a:off x="6369476" y="4190000"/>
            <a:ext cx="5225700" cy="2250000"/>
          </a:xfrm>
          <a:prstGeom prst="rect">
            <a:avLst/>
          </a:prstGeom>
          <a:noFill/>
        </p:spPr>
        <p:txBody>
          <a:bodyPr wrap="square" lIns="0" tIns="0" rIns="0" bIns="0">
            <a:spAutoFit/>
          </a:bodyPr>
          <a:lstStyle/>
          <a:p>
            <a:pPr algn="l"/>
            <a:r>
              <a:rPr sz="1000" b="1" dirty="0">
                <a:solidFill>
                  <a:srgbClr val="13807B"/>
                </a:solidFill>
                <a:latin typeface="Calibri"/>
              </a:rPr>
              <a:t>≤ 170K</a:t>
            </a:r>
            <a:r>
              <a:rPr sz="750" b="0" dirty="0">
                <a:solidFill>
                  <a:srgbClr val="6E7E7D"/>
                </a:solidFill>
                <a:latin typeface="Calibri"/>
              </a:rPr>
              <a:t>   share 70 → 84</a:t>
            </a:r>
          </a:p>
          <a:p>
            <a:pPr algn="l">
              <a:spcBef>
                <a:spcPts val="300"/>
              </a:spcBef>
            </a:pPr>
            <a:r>
              <a:rPr sz="750" b="1" dirty="0">
                <a:solidFill>
                  <a:srgbClr val="13807B"/>
                </a:solidFill>
                <a:latin typeface="Calibri"/>
              </a:rPr>
              <a:t>• </a:t>
            </a:r>
            <a:r>
              <a:rPr sz="750" b="0" dirty="0">
                <a:solidFill>
                  <a:srgbClr val="2F3B3A"/>
                </a:solidFill>
                <a:latin typeface="Calibri"/>
              </a:rPr>
              <a:t>Alza </a:t>
            </a:r>
            <a:r>
              <a:rPr sz="750" b="0" dirty="0" err="1">
                <a:solidFill>
                  <a:srgbClr val="2F3B3A"/>
                </a:solidFill>
                <a:latin typeface="Calibri"/>
              </a:rPr>
              <a:t>fuerte</a:t>
            </a:r>
            <a:r>
              <a:rPr sz="750" b="0" dirty="0">
                <a:solidFill>
                  <a:srgbClr val="2F3B3A"/>
                </a:solidFill>
                <a:latin typeface="Calibri"/>
              </a:rPr>
              <a:t> del share el </a:t>
            </a:r>
            <a:r>
              <a:rPr sz="750" b="0" dirty="0" err="1">
                <a:solidFill>
                  <a:srgbClr val="2F3B3A"/>
                </a:solidFill>
                <a:latin typeface="Calibri"/>
              </a:rPr>
              <a:t>último</a:t>
            </a:r>
            <a:r>
              <a:rPr sz="750" b="0" dirty="0">
                <a:solidFill>
                  <a:srgbClr val="2F3B3A"/>
                </a:solidFill>
                <a:latin typeface="Calibri"/>
              </a:rPr>
              <a:t> </a:t>
            </a:r>
            <a:r>
              <a:rPr sz="750" b="0" dirty="0" err="1">
                <a:solidFill>
                  <a:srgbClr val="2F3B3A"/>
                </a:solidFill>
                <a:latin typeface="Calibri"/>
              </a:rPr>
              <a:t>trimestre</a:t>
            </a:r>
            <a:endParaRPr sz="850" b="0" dirty="0">
              <a:solidFill>
                <a:srgbClr val="2F3B3A"/>
              </a:solidFill>
              <a:latin typeface="Calibri"/>
            </a:endParaRPr>
          </a:p>
          <a:p>
            <a:pPr algn="l">
              <a:spcBef>
                <a:spcPts val="300"/>
              </a:spcBef>
            </a:pPr>
            <a:r>
              <a:rPr sz="750" b="1" dirty="0">
                <a:solidFill>
                  <a:srgbClr val="13807B"/>
                </a:solidFill>
                <a:latin typeface="Calibri"/>
              </a:rPr>
              <a:t>• </a:t>
            </a:r>
            <a:r>
              <a:rPr sz="750" b="0" dirty="0">
                <a:solidFill>
                  <a:srgbClr val="2F3B3A"/>
                </a:solidFill>
                <a:latin typeface="Calibri"/>
              </a:rPr>
              <a:t>En 4T25 subió el desembolso y el share se desplomó. El último trimestre bajaron la oferta y el desembolso y el share alcanzó su mejor nivel</a:t>
            </a:r>
          </a:p>
          <a:p>
            <a:pPr algn="l">
              <a:spcBef>
                <a:spcPts val="300"/>
              </a:spcBef>
            </a:pPr>
            <a:r>
              <a:rPr sz="750" b="1" dirty="0" err="1">
                <a:solidFill>
                  <a:srgbClr val="13807B"/>
                </a:solidFill>
                <a:latin typeface="Calibri"/>
              </a:rPr>
              <a:t>Estrategia</a:t>
            </a:r>
            <a:r>
              <a:rPr sz="750" b="1" dirty="0">
                <a:solidFill>
                  <a:srgbClr val="13807B"/>
                </a:solidFill>
                <a:latin typeface="Calibri"/>
              </a:rPr>
              <a:t> de </a:t>
            </a:r>
            <a:r>
              <a:rPr sz="750" b="1" dirty="0" err="1">
                <a:solidFill>
                  <a:srgbClr val="13807B"/>
                </a:solidFill>
                <a:latin typeface="Calibri"/>
              </a:rPr>
              <a:t>pilotos</a:t>
            </a:r>
            <a:r>
              <a:rPr sz="750" b="1" dirty="0">
                <a:solidFill>
                  <a:srgbClr val="13807B"/>
                </a:solidFill>
                <a:latin typeface="Calibri"/>
              </a:rPr>
              <a:t>: </a:t>
            </a:r>
            <a:r>
              <a:rPr sz="750" b="1" dirty="0" err="1">
                <a:solidFill>
                  <a:srgbClr val="2F3B3A"/>
                </a:solidFill>
                <a:latin typeface="Calibri"/>
              </a:rPr>
              <a:t>Mantener</a:t>
            </a:r>
            <a:r>
              <a:rPr lang="es-ES" sz="750" b="1" dirty="0">
                <a:solidFill>
                  <a:srgbClr val="2F3B3A"/>
                </a:solidFill>
                <a:latin typeface="Calibri"/>
              </a:rPr>
              <a:t> precio</a:t>
            </a:r>
            <a:endParaRPr sz="850" b="1" dirty="0">
              <a:solidFill>
                <a:srgbClr val="2F3B3A"/>
              </a:solidFill>
              <a:latin typeface="Calibri"/>
            </a:endParaRPr>
          </a:p>
          <a:p>
            <a:pPr algn="l">
              <a:spcBef>
                <a:spcPts val="300"/>
              </a:spcBef>
            </a:pPr>
            <a:r>
              <a:rPr sz="400" b="0" dirty="0">
                <a:solidFill>
                  <a:srgbClr val="2F3B3A"/>
                </a:solidFill>
                <a:latin typeface="Calibri"/>
              </a:rPr>
              <a:t> </a:t>
            </a:r>
          </a:p>
          <a:p>
            <a:pPr algn="l">
              <a:spcBef>
                <a:spcPts val="300"/>
              </a:spcBef>
            </a:pPr>
            <a:r>
              <a:rPr sz="1000" b="1" dirty="0">
                <a:solidFill>
                  <a:srgbClr val="E5173F"/>
                </a:solidFill>
                <a:latin typeface="Calibri"/>
              </a:rPr>
              <a:t>&gt; 250K</a:t>
            </a:r>
            <a:r>
              <a:rPr sz="750" b="0" dirty="0">
                <a:solidFill>
                  <a:srgbClr val="6E7E7D"/>
                </a:solidFill>
                <a:latin typeface="Calibri"/>
              </a:rPr>
              <a:t>   share 28 → 32</a:t>
            </a:r>
          </a:p>
          <a:p>
            <a:pPr algn="l">
              <a:spcBef>
                <a:spcPts val="300"/>
              </a:spcBef>
            </a:pPr>
            <a:r>
              <a:rPr sz="750" b="1" dirty="0">
                <a:solidFill>
                  <a:srgbClr val="13807B"/>
                </a:solidFill>
                <a:latin typeface="Calibri"/>
              </a:rPr>
              <a:t>• </a:t>
            </a:r>
            <a:r>
              <a:rPr sz="750" b="0" dirty="0">
                <a:solidFill>
                  <a:srgbClr val="2F3B3A"/>
                </a:solidFill>
                <a:latin typeface="Calibri"/>
              </a:rPr>
              <a:t>Share bajo, con </a:t>
            </a:r>
            <a:r>
              <a:rPr sz="750" b="0" dirty="0" err="1">
                <a:solidFill>
                  <a:srgbClr val="2F3B3A"/>
                </a:solidFill>
                <a:latin typeface="Calibri"/>
              </a:rPr>
              <a:t>una</a:t>
            </a:r>
            <a:r>
              <a:rPr sz="750" b="0" dirty="0">
                <a:solidFill>
                  <a:srgbClr val="2F3B3A"/>
                </a:solidFill>
                <a:latin typeface="Calibri"/>
              </a:rPr>
              <a:t> </a:t>
            </a:r>
            <a:r>
              <a:rPr sz="750" b="0" dirty="0" err="1">
                <a:solidFill>
                  <a:srgbClr val="2F3B3A"/>
                </a:solidFill>
                <a:latin typeface="Calibri"/>
              </a:rPr>
              <a:t>mejora</a:t>
            </a:r>
            <a:r>
              <a:rPr sz="750" b="0" dirty="0">
                <a:solidFill>
                  <a:srgbClr val="2F3B3A"/>
                </a:solidFill>
                <a:latin typeface="Calibri"/>
              </a:rPr>
              <a:t> </a:t>
            </a:r>
            <a:r>
              <a:rPr sz="750" b="0" dirty="0" err="1">
                <a:solidFill>
                  <a:srgbClr val="2F3B3A"/>
                </a:solidFill>
                <a:latin typeface="Calibri"/>
              </a:rPr>
              <a:t>en</a:t>
            </a:r>
            <a:r>
              <a:rPr sz="750" b="0" dirty="0">
                <a:solidFill>
                  <a:srgbClr val="2F3B3A"/>
                </a:solidFill>
                <a:latin typeface="Calibri"/>
              </a:rPr>
              <a:t> 2026</a:t>
            </a:r>
          </a:p>
          <a:p>
            <a:pPr algn="l">
              <a:spcBef>
                <a:spcPts val="300"/>
              </a:spcBef>
            </a:pPr>
            <a:r>
              <a:rPr sz="750" b="1" dirty="0">
                <a:solidFill>
                  <a:srgbClr val="13807B"/>
                </a:solidFill>
                <a:latin typeface="Calibri"/>
              </a:rPr>
              <a:t>• </a:t>
            </a:r>
            <a:r>
              <a:rPr sz="750" b="0" dirty="0">
                <a:solidFill>
                  <a:srgbClr val="2F3B3A"/>
                </a:solidFill>
                <a:latin typeface="Calibri"/>
              </a:rPr>
              <a:t>La brecha entre la tasa ofertada y la desembolsada se movió entre 300 y 450 pbs y bajó a unos 280 pbs el último trimestre, cuando bajó la oferta</a:t>
            </a:r>
          </a:p>
          <a:p>
            <a:pPr algn="l">
              <a:spcBef>
                <a:spcPts val="300"/>
              </a:spcBef>
            </a:pPr>
            <a:r>
              <a:rPr sz="750" b="1" dirty="0">
                <a:solidFill>
                  <a:srgbClr val="13807B"/>
                </a:solidFill>
                <a:latin typeface="Calibri"/>
              </a:rPr>
              <a:t>• </a:t>
            </a:r>
            <a:r>
              <a:rPr sz="750" b="0" dirty="0">
                <a:solidFill>
                  <a:srgbClr val="2F3B3A"/>
                </a:solidFill>
                <a:latin typeface="Calibri"/>
              </a:rPr>
              <a:t>En 2025 la competencia cobraba más que nuestro desembolso y en 2026 en línea, mientras el share mejoró. La desventaja no está en el desembolso sino en el precio de lista</a:t>
            </a:r>
            <a:endParaRPr sz="850" b="0" dirty="0">
              <a:solidFill>
                <a:srgbClr val="2F3B3A"/>
              </a:solidFill>
              <a:latin typeface="Calibri"/>
            </a:endParaRPr>
          </a:p>
          <a:p>
            <a:pPr algn="l">
              <a:spcBef>
                <a:spcPts val="300"/>
              </a:spcBef>
            </a:pPr>
            <a:r>
              <a:rPr sz="750" b="1" dirty="0" err="1">
                <a:solidFill>
                  <a:srgbClr val="13807B"/>
                </a:solidFill>
                <a:latin typeface="Calibri"/>
              </a:rPr>
              <a:t>Estrategia</a:t>
            </a:r>
            <a:r>
              <a:rPr sz="750" b="1" dirty="0">
                <a:solidFill>
                  <a:srgbClr val="13807B"/>
                </a:solidFill>
                <a:latin typeface="Calibri"/>
              </a:rPr>
              <a:t> de </a:t>
            </a:r>
            <a:r>
              <a:rPr sz="750" b="1" dirty="0" err="1">
                <a:solidFill>
                  <a:srgbClr val="13807B"/>
                </a:solidFill>
                <a:latin typeface="Calibri"/>
              </a:rPr>
              <a:t>pilotos</a:t>
            </a:r>
            <a:r>
              <a:rPr sz="750" b="1" dirty="0">
                <a:solidFill>
                  <a:srgbClr val="13807B"/>
                </a:solidFill>
                <a:latin typeface="Calibri"/>
              </a:rPr>
              <a:t>: </a:t>
            </a:r>
            <a:r>
              <a:rPr sz="750" b="1" dirty="0">
                <a:solidFill>
                  <a:srgbClr val="2F3B3A"/>
                </a:solidFill>
                <a:latin typeface="Calibri"/>
              </a:rPr>
              <a:t>Bajar</a:t>
            </a:r>
            <a:r>
              <a:rPr lang="es-ES" sz="750" b="1" dirty="0">
                <a:solidFill>
                  <a:srgbClr val="2F3B3A"/>
                </a:solidFill>
                <a:latin typeface="Calibri"/>
              </a:rPr>
              <a:t> precio</a:t>
            </a:r>
            <a:endParaRPr sz="850" b="1" dirty="0">
              <a:solidFill>
                <a:srgbClr val="2F3B3A"/>
              </a:solidFill>
              <a:latin typeface="Calibri"/>
            </a:endParaRPr>
          </a:p>
        </p:txBody>
      </p:sp>
      <p:sp>
        <p:nvSpPr>
          <p:cNvPr id="34" name="Rectangle 33"/>
          <p:cNvSpPr/>
          <p:nvPr/>
        </p:nvSpPr>
        <p:spPr>
          <a:xfrm>
            <a:off x="493776" y="5720000"/>
            <a:ext cx="5475700" cy="620000"/>
          </a:xfrm>
          <a:prstGeom prst="rect">
            <a:avLst/>
          </a:prstGeom>
          <a:solidFill>
            <a:srgbClr val="E8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493776" y="5720000"/>
            <a:ext cx="45000" cy="620000"/>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43776" y="5770000"/>
            <a:ext cx="5255700" cy="540000"/>
          </a:xfrm>
          <a:prstGeom prst="rect">
            <a:avLst/>
          </a:prstGeom>
          <a:noFill/>
        </p:spPr>
        <p:txBody>
          <a:bodyPr wrap="square" lIns="0" tIns="0" rIns="0" bIns="0" anchor="ctr">
            <a:spAutoFit/>
          </a:bodyPr>
          <a:lstStyle/>
          <a:p>
            <a:r>
              <a:rPr sz="800" b="1">
                <a:solidFill>
                  <a:srgbClr val="13807B"/>
                </a:solidFill>
                <a:latin typeface="Lato"/>
              </a:rPr>
              <a:t>El precio de lista importa. </a:t>
            </a:r>
            <a:r>
              <a:rPr sz="800" b="0">
                <a:solidFill>
                  <a:srgbClr val="2F3B3A"/>
                </a:solidFill>
                <a:latin typeface="Lato"/>
              </a:rPr>
              <a:t>Los clientes sin historial crediticio esperan poca negociación y toman la oferta como referencia, así que su share responde más a la tasa ofertada que al desembolso. En tickets hasta S/ 170K, cuando bajamos la oferta de 27,0% a 21,9% el último trimestre, el share repuntó de 51 a 84.</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93777" y="246888"/>
            <a:ext cx="8963570" cy="109710"/>
          </a:xfrm>
          <a:prstGeom prst="rect">
            <a:avLst/>
          </a:prstGeom>
          <a:noFill/>
        </p:spPr>
        <p:txBody>
          <a:bodyPr wrap="square" lIns="0" tIns="0" rIns="0" bIns="0" anchor="t">
            <a:spAutoFit/>
          </a:bodyPr>
          <a:lstStyle/>
          <a:p>
            <a:pPr algn="l"/>
            <a:r>
              <a:rPr sz="800" b="1">
                <a:solidFill>
                  <a:srgbClr val="6E7E7D"/>
                </a:solidFill>
                <a:latin typeface="Calibri"/>
              </a:rPr>
              <a:t>SHARE Y TASA POR SEGMENTO · EMPRENDEDOR IZIPAY · SIN HISTORIAL CREDITICIO</a:t>
            </a:r>
          </a:p>
        </p:txBody>
      </p:sp>
      <p:sp>
        <p:nvSpPr>
          <p:cNvPr id="3" name="TextBox 2"/>
          <p:cNvSpPr txBox="1"/>
          <p:nvPr/>
        </p:nvSpPr>
        <p:spPr>
          <a:xfrm>
            <a:off x="493776" y="425196"/>
            <a:ext cx="10312923" cy="482568"/>
          </a:xfrm>
          <a:prstGeom prst="rect">
            <a:avLst/>
          </a:prstGeom>
          <a:noFill/>
        </p:spPr>
        <p:txBody>
          <a:bodyPr wrap="square" lIns="0" tIns="0" rIns="0" bIns="0" anchor="t">
            <a:spAutoFit/>
          </a:bodyPr>
          <a:lstStyle/>
          <a:p>
            <a:pPr algn="l"/>
            <a:r>
              <a:rPr sz="1600" b="1">
                <a:solidFill>
                  <a:srgbClr val="13807B"/>
                </a:solidFill>
                <a:latin typeface="Poppins"/>
              </a:rPr>
              <a:t>Emprendedor Izipay debe mantener su tasa, porque la oferta más baja llevó a su mejor share en pasivos S/ 1–20K</a:t>
            </a:r>
          </a:p>
        </p:txBody>
      </p:sp>
      <p:cxnSp>
        <p:nvCxnSpPr>
          <p:cNvPr id="4" name="Connector 3"/>
          <p:cNvCxnSpPr/>
          <p:nvPr/>
        </p:nvCxnSpPr>
        <p:spPr>
          <a:xfrm>
            <a:off x="493776" y="1049274"/>
            <a:ext cx="11204463" cy="0"/>
          </a:xfrm>
          <a:prstGeom prst="line">
            <a:avLst/>
          </a:prstGeom>
          <a:ln w="12700">
            <a:solidFill>
              <a:srgbClr val="D5DFDE"/>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93776" y="1120000"/>
            <a:ext cx="5475700" cy="220000"/>
          </a:xfrm>
          <a:prstGeom prst="rect">
            <a:avLst/>
          </a:prstGeom>
          <a:noFill/>
        </p:spPr>
        <p:txBody>
          <a:bodyPr wrap="square" lIns="0" tIns="0" rIns="0" bIns="0" anchor="t">
            <a:spAutoFit/>
          </a:bodyPr>
          <a:lstStyle/>
          <a:p>
            <a:pPr algn="l"/>
            <a:r>
              <a:rPr sz="1000" b="1">
                <a:solidFill>
                  <a:srgbClr val="2F3B3A"/>
                </a:solidFill>
                <a:latin typeface="Calibri"/>
              </a:rPr>
              <a:t>Share relevante por trimestre (%) · </a:t>
            </a:r>
            <a:r>
              <a:rPr sz="1000" b="1">
                <a:solidFill>
                  <a:srgbClr val="13807B"/>
                </a:solidFill>
              </a:rPr>
              <a:t>tramos por pasivos promedio 12m</a:t>
            </a:r>
          </a:p>
        </p:txBody>
      </p:sp>
      <p:graphicFrame>
        <p:nvGraphicFramePr>
          <p:cNvPr id="7" name="Chart 6"/>
          <p:cNvGraphicFramePr>
            <a:graphicFrameLocks noGrp="1"/>
          </p:cNvGraphicFramePr>
          <p:nvPr/>
        </p:nvGraphicFramePr>
        <p:xfrm>
          <a:off x="493776" y="1330000"/>
          <a:ext cx="5475700" cy="2250000"/>
        </p:xfrm>
        <a:graphic>
          <a:graphicData uri="http://schemas.openxmlformats.org/drawingml/2006/chart">
            <c:chart xmlns:c="http://schemas.openxmlformats.org/drawingml/2006/chart" xmlns:r="http://schemas.openxmlformats.org/officeDocument/2006/relationships" r:id="rId2"/>
          </a:graphicData>
        </a:graphic>
      </p:graphicFrame>
      <p:sp>
        <p:nvSpPr>
          <p:cNvPr id="12" name="TextBox 11"/>
          <p:cNvSpPr txBox="1"/>
          <p:nvPr/>
        </p:nvSpPr>
        <p:spPr>
          <a:xfrm>
            <a:off x="3306626" y="3720000"/>
            <a:ext cx="2662850" cy="220000"/>
          </a:xfrm>
          <a:prstGeom prst="rect">
            <a:avLst/>
          </a:prstGeom>
          <a:noFill/>
        </p:spPr>
        <p:txBody>
          <a:bodyPr wrap="square" lIns="0" tIns="0" rIns="0" bIns="0" anchor="t">
            <a:spAutoFit/>
          </a:bodyPr>
          <a:lstStyle/>
          <a:p>
            <a:pPr algn="l"/>
            <a:r>
              <a:rPr sz="900" b="1">
                <a:solidFill>
                  <a:srgbClr val="2F3B3A"/>
                </a:solidFill>
                <a:latin typeface="Calibri"/>
              </a:rPr>
              <a:t>TEA promedio ponderado · </a:t>
            </a:r>
            <a:r>
              <a:rPr sz="900" b="1">
                <a:solidFill>
                  <a:srgbClr val="E5173F"/>
                </a:solidFill>
              </a:rPr>
              <a:t>Pasivos 1–20K</a:t>
            </a:r>
          </a:p>
        </p:txBody>
      </p:sp>
      <p:graphicFrame>
        <p:nvGraphicFramePr>
          <p:cNvPr id="13" name="Chart 12"/>
          <p:cNvGraphicFramePr>
            <a:graphicFrameLocks noGrp="1"/>
          </p:cNvGraphicFramePr>
          <p:nvPr/>
        </p:nvGraphicFramePr>
        <p:xfrm>
          <a:off x="3306626" y="3930000"/>
          <a:ext cx="2662850" cy="1750000"/>
        </p:xfrm>
        <a:graphic>
          <a:graphicData uri="http://schemas.openxmlformats.org/drawingml/2006/chart">
            <c:chart xmlns:c="http://schemas.openxmlformats.org/drawingml/2006/chart" xmlns:r="http://schemas.openxmlformats.org/officeDocument/2006/relationships" r:id="rId3"/>
          </a:graphicData>
        </a:graphic>
      </p:graphicFrame>
      <p:sp>
        <p:nvSpPr>
          <p:cNvPr id="14" name="TextBox 13"/>
          <p:cNvSpPr txBox="1"/>
          <p:nvPr/>
        </p:nvSpPr>
        <p:spPr>
          <a:xfrm>
            <a:off x="493776" y="3720000"/>
            <a:ext cx="2662850" cy="220000"/>
          </a:xfrm>
          <a:prstGeom prst="rect">
            <a:avLst/>
          </a:prstGeom>
          <a:noFill/>
        </p:spPr>
        <p:txBody>
          <a:bodyPr wrap="square" lIns="0" tIns="0" rIns="0" bIns="0" anchor="t">
            <a:spAutoFit/>
          </a:bodyPr>
          <a:lstStyle/>
          <a:p>
            <a:pPr algn="l"/>
            <a:r>
              <a:rPr sz="900" b="1">
                <a:solidFill>
                  <a:srgbClr val="2F3B3A"/>
                </a:solidFill>
                <a:latin typeface="Calibri"/>
              </a:rPr>
              <a:t>TEA promedio ponderado · </a:t>
            </a:r>
            <a:r>
              <a:rPr sz="900" b="1">
                <a:solidFill>
                  <a:srgbClr val="13807B"/>
                </a:solidFill>
              </a:rPr>
              <a:t>Pasivos &lt; 1K</a:t>
            </a:r>
          </a:p>
        </p:txBody>
      </p:sp>
      <p:graphicFrame>
        <p:nvGraphicFramePr>
          <p:cNvPr id="15" name="Chart 14"/>
          <p:cNvGraphicFramePr>
            <a:graphicFrameLocks noGrp="1"/>
          </p:cNvGraphicFramePr>
          <p:nvPr/>
        </p:nvGraphicFramePr>
        <p:xfrm>
          <a:off x="493776" y="3930000"/>
          <a:ext cx="2662850" cy="1750000"/>
        </p:xfrm>
        <a:graphic>
          <a:graphicData uri="http://schemas.openxmlformats.org/drawingml/2006/chart">
            <c:chart xmlns:c="http://schemas.openxmlformats.org/drawingml/2006/chart" xmlns:r="http://schemas.openxmlformats.org/officeDocument/2006/relationships" r:id="rId4"/>
          </a:graphicData>
        </a:graphic>
      </p:graphicFrame>
      <p:sp>
        <p:nvSpPr>
          <p:cNvPr id="17" name="Rectangle 16"/>
          <p:cNvSpPr/>
          <p:nvPr/>
        </p:nvSpPr>
        <p:spPr>
          <a:xfrm>
            <a:off x="6219476" y="4140000"/>
            <a:ext cx="5475700" cy="2340000"/>
          </a:xfrm>
          <a:prstGeom prst="rect">
            <a:avLst/>
          </a:prstGeom>
          <a:solidFill>
            <a:srgbClr val="F1F6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219476" y="4140000"/>
            <a:ext cx="45000" cy="2340000"/>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93776" y="6380000"/>
            <a:ext cx="11201400" cy="300000"/>
          </a:xfrm>
          <a:prstGeom prst="rect">
            <a:avLst/>
          </a:prstGeom>
          <a:noFill/>
        </p:spPr>
        <p:txBody>
          <a:bodyPr wrap="square" lIns="0" tIns="0" rIns="0" bIns="0" anchor="t">
            <a:spAutoFit/>
          </a:bodyPr>
          <a:lstStyle/>
          <a:p>
            <a:pPr algn="l"/>
            <a:r>
              <a:rPr sz="700" b="0">
                <a:solidFill>
                  <a:srgbClr val="6E7E7D"/>
                </a:solidFill>
                <a:latin typeface="Calibri"/>
              </a:rPr>
              <a:t>2T26* = abr–may.</a:t>
            </a:r>
          </a:p>
        </p:txBody>
      </p:sp>
      <p:sp>
        <p:nvSpPr>
          <p:cNvPr id="21" name="TextBox 20"/>
          <p:cNvSpPr txBox="1"/>
          <p:nvPr/>
        </p:nvSpPr>
        <p:spPr>
          <a:xfrm>
            <a:off x="6219476" y="1120000"/>
            <a:ext cx="5475700" cy="200000"/>
          </a:xfrm>
          <a:prstGeom prst="rect">
            <a:avLst/>
          </a:prstGeom>
          <a:noFill/>
        </p:spPr>
        <p:txBody>
          <a:bodyPr wrap="square" lIns="0" tIns="0" rIns="0" bIns="0">
            <a:spAutoFit/>
          </a:bodyPr>
          <a:lstStyle/>
          <a:p>
            <a:pPr algn="l"/>
            <a:r>
              <a:rPr sz="1000" b="1">
                <a:solidFill>
                  <a:srgbClr val="2F3B3A"/>
                </a:solidFill>
                <a:latin typeface="Lato"/>
              </a:rPr>
              <a:t>TEA mediana ponderada por apertura · </a:t>
            </a:r>
            <a:r>
              <a:rPr sz="1000" b="1">
                <a:solidFill>
                  <a:srgbClr val="6E7E7D"/>
                </a:solidFill>
                <a:latin typeface="Lato"/>
              </a:rPr>
              <a:t>jul–dic 2025</a:t>
            </a:r>
          </a:p>
        </p:txBody>
      </p:sp>
      <p:graphicFrame>
        <p:nvGraphicFramePr>
          <p:cNvPr id="22" name="Chart 21"/>
          <p:cNvGraphicFramePr>
            <a:graphicFrameLocks noGrp="1"/>
          </p:cNvGraphicFramePr>
          <p:nvPr/>
        </p:nvGraphicFramePr>
        <p:xfrm>
          <a:off x="6219476" y="1265449"/>
          <a:ext cx="5475700" cy="1171679"/>
        </p:xfrm>
        <a:graphic>
          <a:graphicData uri="http://schemas.openxmlformats.org/drawingml/2006/chart">
            <c:chart xmlns:c="http://schemas.openxmlformats.org/drawingml/2006/chart" xmlns:r="http://schemas.openxmlformats.org/officeDocument/2006/relationships" r:id="rId5"/>
          </a:graphicData>
        </a:graphic>
      </p:graphicFrame>
      <p:sp>
        <p:nvSpPr>
          <p:cNvPr id="23" name="TextBox 22"/>
          <p:cNvSpPr txBox="1"/>
          <p:nvPr/>
        </p:nvSpPr>
        <p:spPr>
          <a:xfrm>
            <a:off x="6743158" y="2309052"/>
            <a:ext cx="1800000" cy="180000"/>
          </a:xfrm>
          <a:prstGeom prst="rect">
            <a:avLst/>
          </a:prstGeom>
          <a:noFill/>
        </p:spPr>
        <p:txBody>
          <a:bodyPr wrap="square" lIns="0" tIns="0" rIns="0" bIns="0">
            <a:spAutoFit/>
          </a:bodyPr>
          <a:lstStyle/>
          <a:p>
            <a:pPr algn="ctr"/>
            <a:r>
              <a:rPr sz="900" b="1">
                <a:solidFill>
                  <a:srgbClr val="13807B"/>
                </a:solidFill>
                <a:latin typeface="Lato"/>
              </a:rPr>
              <a:t>Pasivos &lt; 1K</a:t>
            </a:r>
          </a:p>
        </p:txBody>
      </p:sp>
      <p:sp>
        <p:nvSpPr>
          <p:cNvPr id="24" name="TextBox 23"/>
          <p:cNvSpPr txBox="1"/>
          <p:nvPr/>
        </p:nvSpPr>
        <p:spPr>
          <a:xfrm>
            <a:off x="8022806" y="1832300"/>
            <a:ext cx="700889" cy="452510"/>
          </a:xfrm>
          <a:prstGeom prst="rect">
            <a:avLst/>
          </a:prstGeom>
          <a:noFill/>
          <a:ln w="9525">
            <a:solidFill>
              <a:srgbClr val="F28C28"/>
            </a:solidFill>
            <a:prstDash val="dash"/>
          </a:ln>
        </p:spPr>
        <p:txBody>
          <a:bodyPr wrap="square" lIns="0" tIns="0" rIns="0" bIns="0" anchor="ctr">
            <a:spAutoFit/>
          </a:bodyPr>
          <a:lstStyle/>
          <a:p>
            <a:pPr algn="ctr"/>
            <a:r>
              <a:rPr sz="650" b="0">
                <a:solidFill>
                  <a:srgbClr val="F28C28"/>
                </a:solidFill>
                <a:latin typeface="Lato"/>
              </a:rPr>
              <a:t>Insuficiente materialidad para la tasa de la competencia</a:t>
            </a:r>
          </a:p>
        </p:txBody>
      </p:sp>
      <p:sp>
        <p:nvSpPr>
          <p:cNvPr id="25" name="TextBox 24"/>
          <p:cNvSpPr txBox="1"/>
          <p:nvPr/>
        </p:nvSpPr>
        <p:spPr>
          <a:xfrm>
            <a:off x="9371494" y="2309052"/>
            <a:ext cx="1800000" cy="180000"/>
          </a:xfrm>
          <a:prstGeom prst="rect">
            <a:avLst/>
          </a:prstGeom>
          <a:noFill/>
        </p:spPr>
        <p:txBody>
          <a:bodyPr wrap="square" lIns="0" tIns="0" rIns="0" bIns="0">
            <a:spAutoFit/>
          </a:bodyPr>
          <a:lstStyle/>
          <a:p>
            <a:pPr algn="ctr"/>
            <a:r>
              <a:rPr sz="900" b="1">
                <a:solidFill>
                  <a:srgbClr val="E5173F"/>
                </a:solidFill>
                <a:latin typeface="Lato"/>
              </a:rPr>
              <a:t>Pasivos 1–20K</a:t>
            </a:r>
          </a:p>
        </p:txBody>
      </p:sp>
      <p:sp>
        <p:nvSpPr>
          <p:cNvPr id="26" name="TextBox 25"/>
          <p:cNvSpPr txBox="1"/>
          <p:nvPr/>
        </p:nvSpPr>
        <p:spPr>
          <a:xfrm>
            <a:off x="10651142" y="1832300"/>
            <a:ext cx="700889" cy="452510"/>
          </a:xfrm>
          <a:prstGeom prst="rect">
            <a:avLst/>
          </a:prstGeom>
          <a:noFill/>
          <a:ln w="9525">
            <a:solidFill>
              <a:srgbClr val="F28C28"/>
            </a:solidFill>
            <a:prstDash val="dash"/>
          </a:ln>
        </p:spPr>
        <p:txBody>
          <a:bodyPr wrap="square" lIns="0" tIns="0" rIns="0" bIns="0" anchor="ctr">
            <a:spAutoFit/>
          </a:bodyPr>
          <a:lstStyle/>
          <a:p>
            <a:pPr algn="ctr"/>
            <a:r>
              <a:rPr sz="650" b="0">
                <a:solidFill>
                  <a:srgbClr val="F28C28"/>
                </a:solidFill>
                <a:latin typeface="Lato"/>
              </a:rPr>
              <a:t>Insuficiente materialidad para la tasa de la competencia</a:t>
            </a:r>
          </a:p>
        </p:txBody>
      </p:sp>
      <p:sp>
        <p:nvSpPr>
          <p:cNvPr id="27" name="TextBox 26"/>
          <p:cNvSpPr txBox="1"/>
          <p:nvPr/>
        </p:nvSpPr>
        <p:spPr>
          <a:xfrm>
            <a:off x="6219476" y="2606820"/>
            <a:ext cx="5475700" cy="200000"/>
          </a:xfrm>
          <a:prstGeom prst="rect">
            <a:avLst/>
          </a:prstGeom>
          <a:noFill/>
        </p:spPr>
        <p:txBody>
          <a:bodyPr wrap="square" lIns="0" tIns="0" rIns="0" bIns="0">
            <a:spAutoFit/>
          </a:bodyPr>
          <a:lstStyle/>
          <a:p>
            <a:pPr algn="l"/>
            <a:r>
              <a:rPr sz="1000" b="1">
                <a:solidFill>
                  <a:srgbClr val="2F3B3A"/>
                </a:solidFill>
                <a:latin typeface="Lato"/>
              </a:rPr>
              <a:t>TEA mediana ponderada por apertura · </a:t>
            </a:r>
            <a:r>
              <a:rPr sz="1000" b="1">
                <a:solidFill>
                  <a:srgbClr val="13807B"/>
                </a:solidFill>
                <a:latin typeface="Lato"/>
              </a:rPr>
              <a:t>ene–may 2026</a:t>
            </a:r>
          </a:p>
        </p:txBody>
      </p:sp>
      <p:graphicFrame>
        <p:nvGraphicFramePr>
          <p:cNvPr id="28" name="Chart 27"/>
          <p:cNvGraphicFramePr>
            <a:graphicFrameLocks noGrp="1"/>
          </p:cNvGraphicFramePr>
          <p:nvPr/>
        </p:nvGraphicFramePr>
        <p:xfrm>
          <a:off x="6219476" y="2752271"/>
          <a:ext cx="5475700" cy="969665"/>
        </p:xfrm>
        <a:graphic>
          <a:graphicData uri="http://schemas.openxmlformats.org/drawingml/2006/chart">
            <c:chart xmlns:c="http://schemas.openxmlformats.org/drawingml/2006/chart" xmlns:r="http://schemas.openxmlformats.org/officeDocument/2006/relationships" r:id="rId6"/>
          </a:graphicData>
        </a:graphic>
      </p:graphicFrame>
      <p:sp>
        <p:nvSpPr>
          <p:cNvPr id="29" name="TextBox 28"/>
          <p:cNvSpPr txBox="1"/>
          <p:nvPr/>
        </p:nvSpPr>
        <p:spPr>
          <a:xfrm>
            <a:off x="6743158" y="3610425"/>
            <a:ext cx="1800000" cy="180000"/>
          </a:xfrm>
          <a:prstGeom prst="rect">
            <a:avLst/>
          </a:prstGeom>
          <a:noFill/>
        </p:spPr>
        <p:txBody>
          <a:bodyPr wrap="square" lIns="0" tIns="0" rIns="0" bIns="0">
            <a:spAutoFit/>
          </a:bodyPr>
          <a:lstStyle/>
          <a:p>
            <a:pPr algn="ctr"/>
            <a:r>
              <a:rPr sz="900" b="1">
                <a:solidFill>
                  <a:srgbClr val="13807B"/>
                </a:solidFill>
                <a:latin typeface="Lato"/>
              </a:rPr>
              <a:t>Pasivos &lt; 1K</a:t>
            </a:r>
          </a:p>
        </p:txBody>
      </p:sp>
      <p:sp>
        <p:nvSpPr>
          <p:cNvPr id="30" name="TextBox 29"/>
          <p:cNvSpPr txBox="1"/>
          <p:nvPr/>
        </p:nvSpPr>
        <p:spPr>
          <a:xfrm>
            <a:off x="8022806" y="3133672"/>
            <a:ext cx="700889" cy="452510"/>
          </a:xfrm>
          <a:prstGeom prst="rect">
            <a:avLst/>
          </a:prstGeom>
          <a:noFill/>
          <a:ln w="9525">
            <a:solidFill>
              <a:srgbClr val="F28C28"/>
            </a:solidFill>
            <a:prstDash val="dash"/>
          </a:ln>
        </p:spPr>
        <p:txBody>
          <a:bodyPr wrap="square" lIns="0" tIns="0" rIns="0" bIns="0" anchor="ctr">
            <a:spAutoFit/>
          </a:bodyPr>
          <a:lstStyle/>
          <a:p>
            <a:pPr algn="ctr"/>
            <a:r>
              <a:rPr sz="650" b="0">
                <a:solidFill>
                  <a:srgbClr val="F28C28"/>
                </a:solidFill>
                <a:latin typeface="Lato"/>
              </a:rPr>
              <a:t>Insuficiente materialidad para la tasa de la competencia</a:t>
            </a:r>
          </a:p>
        </p:txBody>
      </p:sp>
      <p:sp>
        <p:nvSpPr>
          <p:cNvPr id="31" name="TextBox 30"/>
          <p:cNvSpPr txBox="1"/>
          <p:nvPr/>
        </p:nvSpPr>
        <p:spPr>
          <a:xfrm>
            <a:off x="9371494" y="3610425"/>
            <a:ext cx="1800000" cy="180000"/>
          </a:xfrm>
          <a:prstGeom prst="rect">
            <a:avLst/>
          </a:prstGeom>
          <a:noFill/>
        </p:spPr>
        <p:txBody>
          <a:bodyPr wrap="square" lIns="0" tIns="0" rIns="0" bIns="0">
            <a:spAutoFit/>
          </a:bodyPr>
          <a:lstStyle/>
          <a:p>
            <a:pPr algn="ctr"/>
            <a:r>
              <a:rPr sz="900" b="1">
                <a:solidFill>
                  <a:srgbClr val="E5173F"/>
                </a:solidFill>
                <a:latin typeface="Lato"/>
              </a:rPr>
              <a:t>Pasivos 1–20K</a:t>
            </a:r>
          </a:p>
        </p:txBody>
      </p:sp>
      <p:sp>
        <p:nvSpPr>
          <p:cNvPr id="32" name="TextBox 31"/>
          <p:cNvSpPr txBox="1"/>
          <p:nvPr/>
        </p:nvSpPr>
        <p:spPr>
          <a:xfrm>
            <a:off x="10651142" y="3133672"/>
            <a:ext cx="700889" cy="452510"/>
          </a:xfrm>
          <a:prstGeom prst="rect">
            <a:avLst/>
          </a:prstGeom>
          <a:noFill/>
          <a:ln w="9525">
            <a:solidFill>
              <a:srgbClr val="F28C28"/>
            </a:solidFill>
            <a:prstDash val="dash"/>
          </a:ln>
        </p:spPr>
        <p:txBody>
          <a:bodyPr wrap="square" lIns="0" tIns="0" rIns="0" bIns="0" anchor="ctr">
            <a:spAutoFit/>
          </a:bodyPr>
          <a:lstStyle/>
          <a:p>
            <a:pPr algn="ctr"/>
            <a:r>
              <a:rPr sz="650" b="0">
                <a:solidFill>
                  <a:srgbClr val="F28C28"/>
                </a:solidFill>
                <a:latin typeface="Lato"/>
              </a:rPr>
              <a:t>Insuficiente materialidad para la tasa de la competencia</a:t>
            </a:r>
          </a:p>
        </p:txBody>
      </p:sp>
      <p:sp>
        <p:nvSpPr>
          <p:cNvPr id="33" name="TextBox 32"/>
          <p:cNvSpPr txBox="1"/>
          <p:nvPr/>
        </p:nvSpPr>
        <p:spPr>
          <a:xfrm>
            <a:off x="6219476" y="3950000"/>
            <a:ext cx="5475700" cy="200000"/>
          </a:xfrm>
          <a:prstGeom prst="rect">
            <a:avLst/>
          </a:prstGeom>
          <a:noFill/>
        </p:spPr>
        <p:txBody>
          <a:bodyPr wrap="square" lIns="0" tIns="0" rIns="0" bIns="0">
            <a:spAutoFit/>
          </a:bodyPr>
          <a:lstStyle/>
          <a:p>
            <a:pPr algn="l"/>
            <a:r>
              <a:rPr sz="1000" b="1">
                <a:solidFill>
                  <a:srgbClr val="2F3B3A"/>
                </a:solidFill>
                <a:latin typeface="Lato"/>
              </a:rPr>
              <a:t>Insights</a:t>
            </a:r>
          </a:p>
        </p:txBody>
      </p:sp>
      <p:sp>
        <p:nvSpPr>
          <p:cNvPr id="34" name="TextBox 33"/>
          <p:cNvSpPr txBox="1"/>
          <p:nvPr/>
        </p:nvSpPr>
        <p:spPr>
          <a:xfrm>
            <a:off x="6369476" y="4190000"/>
            <a:ext cx="5225700" cy="2250000"/>
          </a:xfrm>
          <a:prstGeom prst="rect">
            <a:avLst/>
          </a:prstGeom>
          <a:noFill/>
        </p:spPr>
        <p:txBody>
          <a:bodyPr wrap="square" lIns="0" tIns="0" rIns="0" bIns="0">
            <a:spAutoFit/>
          </a:bodyPr>
          <a:lstStyle/>
          <a:p>
            <a:pPr algn="l">
              <a:spcBef>
                <a:spcPts val="300"/>
              </a:spcBef>
            </a:pPr>
            <a:r>
              <a:rPr sz="1000" b="1" dirty="0" err="1">
                <a:solidFill>
                  <a:srgbClr val="13807B"/>
                </a:solidFill>
                <a:latin typeface="Calibri"/>
              </a:rPr>
              <a:t>Pasivos</a:t>
            </a:r>
            <a:r>
              <a:rPr sz="1000" b="1" dirty="0">
                <a:solidFill>
                  <a:srgbClr val="13807B"/>
                </a:solidFill>
                <a:latin typeface="Calibri"/>
              </a:rPr>
              <a:t> &lt; 1K</a:t>
            </a:r>
            <a:r>
              <a:rPr sz="750" b="0" dirty="0">
                <a:solidFill>
                  <a:srgbClr val="6E7E7D"/>
                </a:solidFill>
                <a:latin typeface="Calibri"/>
              </a:rPr>
              <a:t>   share 43 → 63</a:t>
            </a:r>
          </a:p>
          <a:p>
            <a:pPr algn="l">
              <a:spcBef>
                <a:spcPts val="300"/>
              </a:spcBef>
            </a:pPr>
            <a:r>
              <a:rPr sz="750" b="1" dirty="0">
                <a:solidFill>
                  <a:srgbClr val="13807B"/>
                </a:solidFill>
                <a:latin typeface="Calibri"/>
              </a:rPr>
              <a:t>• </a:t>
            </a:r>
            <a:r>
              <a:rPr sz="750" b="0" dirty="0">
                <a:solidFill>
                  <a:srgbClr val="2F3B3A"/>
                </a:solidFill>
                <a:latin typeface="Calibri"/>
              </a:rPr>
              <a:t>Share </a:t>
            </a:r>
            <a:r>
              <a:rPr sz="750" b="0" dirty="0" err="1">
                <a:solidFill>
                  <a:srgbClr val="2F3B3A"/>
                </a:solidFill>
                <a:latin typeface="Calibri"/>
              </a:rPr>
              <a:t>volátil</a:t>
            </a:r>
            <a:r>
              <a:rPr sz="750" b="0" dirty="0">
                <a:solidFill>
                  <a:srgbClr val="2F3B3A"/>
                </a:solidFill>
                <a:latin typeface="Calibri"/>
              </a:rPr>
              <a:t>, con </a:t>
            </a:r>
            <a:r>
              <a:rPr sz="750" b="0" dirty="0" err="1">
                <a:solidFill>
                  <a:srgbClr val="2F3B3A"/>
                </a:solidFill>
                <a:latin typeface="Calibri"/>
              </a:rPr>
              <a:t>pocos</a:t>
            </a:r>
            <a:r>
              <a:rPr sz="750" b="0" dirty="0">
                <a:solidFill>
                  <a:srgbClr val="2F3B3A"/>
                </a:solidFill>
                <a:latin typeface="Calibri"/>
              </a:rPr>
              <a:t> </a:t>
            </a:r>
            <a:r>
              <a:rPr sz="750" b="0" dirty="0" err="1">
                <a:solidFill>
                  <a:srgbClr val="2F3B3A"/>
                </a:solidFill>
                <a:latin typeface="Calibri"/>
              </a:rPr>
              <a:t>casos</a:t>
            </a:r>
            <a:endParaRPr sz="850" b="0" dirty="0">
              <a:solidFill>
                <a:srgbClr val="2F3B3A"/>
              </a:solidFill>
              <a:latin typeface="Calibri"/>
            </a:endParaRPr>
          </a:p>
          <a:p>
            <a:pPr algn="l">
              <a:spcBef>
                <a:spcPts val="300"/>
              </a:spcBef>
            </a:pPr>
            <a:r>
              <a:rPr sz="750" b="1" dirty="0">
                <a:solidFill>
                  <a:srgbClr val="13807B"/>
                </a:solidFill>
                <a:latin typeface="Calibri"/>
              </a:rPr>
              <a:t>• </a:t>
            </a:r>
            <a:r>
              <a:rPr sz="750" b="0" dirty="0">
                <a:solidFill>
                  <a:srgbClr val="2F3B3A"/>
                </a:solidFill>
                <a:latin typeface="Calibri"/>
              </a:rPr>
              <a:t>El share </a:t>
            </a:r>
            <a:r>
              <a:rPr sz="750" b="0" dirty="0" err="1">
                <a:solidFill>
                  <a:srgbClr val="2F3B3A"/>
                </a:solidFill>
                <a:latin typeface="Calibri"/>
              </a:rPr>
              <a:t>responde</a:t>
            </a:r>
            <a:r>
              <a:rPr sz="750" b="0" dirty="0">
                <a:solidFill>
                  <a:srgbClr val="2F3B3A"/>
                </a:solidFill>
                <a:latin typeface="Calibri"/>
              </a:rPr>
              <a:t> a la </a:t>
            </a:r>
            <a:r>
              <a:rPr sz="750" b="0" dirty="0" err="1">
                <a:solidFill>
                  <a:srgbClr val="2F3B3A"/>
                </a:solidFill>
                <a:latin typeface="Calibri"/>
              </a:rPr>
              <a:t>tasa</a:t>
            </a:r>
            <a:r>
              <a:rPr sz="750" b="0" dirty="0">
                <a:solidFill>
                  <a:srgbClr val="2F3B3A"/>
                </a:solidFill>
                <a:latin typeface="Calibri"/>
              </a:rPr>
              <a:t>: </a:t>
            </a:r>
            <a:r>
              <a:rPr sz="750" b="0" dirty="0" err="1">
                <a:solidFill>
                  <a:srgbClr val="2F3B3A"/>
                </a:solidFill>
                <a:latin typeface="Calibri"/>
              </a:rPr>
              <a:t>sube</a:t>
            </a:r>
            <a:r>
              <a:rPr sz="750" b="0" dirty="0">
                <a:solidFill>
                  <a:srgbClr val="2F3B3A"/>
                </a:solidFill>
                <a:latin typeface="Calibri"/>
              </a:rPr>
              <a:t> </a:t>
            </a:r>
            <a:r>
              <a:rPr sz="750" b="0" dirty="0" err="1">
                <a:solidFill>
                  <a:srgbClr val="2F3B3A"/>
                </a:solidFill>
                <a:latin typeface="Calibri"/>
              </a:rPr>
              <a:t>en</a:t>
            </a:r>
            <a:r>
              <a:rPr sz="750" b="0" dirty="0">
                <a:solidFill>
                  <a:srgbClr val="2F3B3A"/>
                </a:solidFill>
                <a:latin typeface="Calibri"/>
              </a:rPr>
              <a:t> 4T25 </a:t>
            </a:r>
            <a:r>
              <a:rPr sz="750" b="0" dirty="0" err="1">
                <a:solidFill>
                  <a:srgbClr val="2F3B3A"/>
                </a:solidFill>
                <a:latin typeface="Calibri"/>
              </a:rPr>
              <a:t>cuando</a:t>
            </a:r>
            <a:r>
              <a:rPr sz="750" b="0" dirty="0">
                <a:solidFill>
                  <a:srgbClr val="2F3B3A"/>
                </a:solidFill>
                <a:latin typeface="Calibri"/>
              </a:rPr>
              <a:t> </a:t>
            </a:r>
            <a:r>
              <a:rPr sz="750" b="0" dirty="0" err="1">
                <a:solidFill>
                  <a:srgbClr val="2F3B3A"/>
                </a:solidFill>
                <a:latin typeface="Calibri"/>
              </a:rPr>
              <a:t>bajan</a:t>
            </a:r>
            <a:r>
              <a:rPr sz="750" b="0" dirty="0">
                <a:solidFill>
                  <a:srgbClr val="2F3B3A"/>
                </a:solidFill>
                <a:latin typeface="Calibri"/>
              </a:rPr>
              <a:t> la </a:t>
            </a:r>
            <a:r>
              <a:rPr sz="750" b="0" dirty="0" err="1">
                <a:solidFill>
                  <a:srgbClr val="2F3B3A"/>
                </a:solidFill>
                <a:latin typeface="Calibri"/>
              </a:rPr>
              <a:t>oferta</a:t>
            </a:r>
            <a:r>
              <a:rPr sz="750" b="0" dirty="0">
                <a:solidFill>
                  <a:srgbClr val="2F3B3A"/>
                </a:solidFill>
                <a:latin typeface="Calibri"/>
              </a:rPr>
              <a:t> y el </a:t>
            </a:r>
            <a:r>
              <a:rPr sz="750" b="0" dirty="0" err="1">
                <a:solidFill>
                  <a:srgbClr val="2F3B3A"/>
                </a:solidFill>
                <a:latin typeface="Calibri"/>
              </a:rPr>
              <a:t>desembolso</a:t>
            </a:r>
            <a:r>
              <a:rPr sz="750" b="0" dirty="0">
                <a:solidFill>
                  <a:srgbClr val="2F3B3A"/>
                </a:solidFill>
                <a:latin typeface="Calibri"/>
              </a:rPr>
              <a:t>, </a:t>
            </a:r>
            <a:r>
              <a:rPr sz="750" b="0" dirty="0" err="1">
                <a:solidFill>
                  <a:srgbClr val="2F3B3A"/>
                </a:solidFill>
                <a:latin typeface="Calibri"/>
              </a:rPr>
              <a:t>cae</a:t>
            </a:r>
            <a:r>
              <a:rPr sz="750" b="0" dirty="0">
                <a:solidFill>
                  <a:srgbClr val="2F3B3A"/>
                </a:solidFill>
                <a:latin typeface="Calibri"/>
              </a:rPr>
              <a:t> </a:t>
            </a:r>
            <a:r>
              <a:rPr sz="750" b="0" dirty="0" err="1">
                <a:solidFill>
                  <a:srgbClr val="2F3B3A"/>
                </a:solidFill>
                <a:latin typeface="Calibri"/>
              </a:rPr>
              <a:t>en</a:t>
            </a:r>
            <a:r>
              <a:rPr sz="750" b="0" dirty="0">
                <a:solidFill>
                  <a:srgbClr val="2F3B3A"/>
                </a:solidFill>
                <a:latin typeface="Calibri"/>
              </a:rPr>
              <a:t> 1T26 </a:t>
            </a:r>
            <a:r>
              <a:rPr sz="750" b="0" dirty="0" err="1">
                <a:solidFill>
                  <a:srgbClr val="2F3B3A"/>
                </a:solidFill>
                <a:latin typeface="Calibri"/>
              </a:rPr>
              <a:t>cuando</a:t>
            </a:r>
            <a:r>
              <a:rPr sz="750" b="0" dirty="0">
                <a:solidFill>
                  <a:srgbClr val="2F3B3A"/>
                </a:solidFill>
                <a:latin typeface="Calibri"/>
              </a:rPr>
              <a:t> ambas </a:t>
            </a:r>
            <a:r>
              <a:rPr sz="750" b="0" dirty="0" err="1">
                <a:solidFill>
                  <a:srgbClr val="2F3B3A"/>
                </a:solidFill>
                <a:latin typeface="Calibri"/>
              </a:rPr>
              <a:t>suben</a:t>
            </a:r>
            <a:r>
              <a:rPr sz="750" b="0" dirty="0">
                <a:solidFill>
                  <a:srgbClr val="2F3B3A"/>
                </a:solidFill>
                <a:latin typeface="Calibri"/>
              </a:rPr>
              <a:t> y se </a:t>
            </a:r>
            <a:r>
              <a:rPr sz="750" b="0" dirty="0" err="1">
                <a:solidFill>
                  <a:srgbClr val="2F3B3A"/>
                </a:solidFill>
                <a:latin typeface="Calibri"/>
              </a:rPr>
              <a:t>recupera</a:t>
            </a:r>
            <a:r>
              <a:rPr sz="750" b="0" dirty="0">
                <a:solidFill>
                  <a:srgbClr val="2F3B3A"/>
                </a:solidFill>
                <a:latin typeface="Calibri"/>
              </a:rPr>
              <a:t> el </a:t>
            </a:r>
            <a:r>
              <a:rPr sz="750" b="0" dirty="0" err="1">
                <a:solidFill>
                  <a:srgbClr val="2F3B3A"/>
                </a:solidFill>
                <a:latin typeface="Calibri"/>
              </a:rPr>
              <a:t>último</a:t>
            </a:r>
            <a:r>
              <a:rPr sz="750" b="0" dirty="0">
                <a:solidFill>
                  <a:srgbClr val="2F3B3A"/>
                </a:solidFill>
                <a:latin typeface="Calibri"/>
              </a:rPr>
              <a:t> </a:t>
            </a:r>
            <a:r>
              <a:rPr sz="750" b="0" dirty="0" err="1">
                <a:solidFill>
                  <a:srgbClr val="2F3B3A"/>
                </a:solidFill>
                <a:latin typeface="Calibri"/>
              </a:rPr>
              <a:t>trimestre</a:t>
            </a:r>
            <a:r>
              <a:rPr sz="750" b="0" dirty="0">
                <a:solidFill>
                  <a:srgbClr val="2F3B3A"/>
                </a:solidFill>
                <a:latin typeface="Calibri"/>
              </a:rPr>
              <a:t> con </a:t>
            </a:r>
            <a:r>
              <a:rPr sz="750" b="0" dirty="0" err="1">
                <a:solidFill>
                  <a:srgbClr val="2F3B3A"/>
                </a:solidFill>
                <a:latin typeface="Calibri"/>
              </a:rPr>
              <a:t>una</a:t>
            </a:r>
            <a:r>
              <a:rPr sz="750" b="0" dirty="0">
                <a:solidFill>
                  <a:srgbClr val="2F3B3A"/>
                </a:solidFill>
                <a:latin typeface="Calibri"/>
              </a:rPr>
              <a:t> </a:t>
            </a:r>
            <a:r>
              <a:rPr sz="750" b="0" dirty="0" err="1">
                <a:solidFill>
                  <a:srgbClr val="2F3B3A"/>
                </a:solidFill>
                <a:latin typeface="Calibri"/>
              </a:rPr>
              <a:t>oferta</a:t>
            </a:r>
            <a:r>
              <a:rPr sz="750" b="0" dirty="0">
                <a:solidFill>
                  <a:srgbClr val="2F3B3A"/>
                </a:solidFill>
                <a:latin typeface="Calibri"/>
              </a:rPr>
              <a:t> </a:t>
            </a:r>
            <a:r>
              <a:rPr sz="750" b="0" dirty="0" err="1">
                <a:solidFill>
                  <a:srgbClr val="2F3B3A"/>
                </a:solidFill>
                <a:latin typeface="Calibri"/>
              </a:rPr>
              <a:t>más</a:t>
            </a:r>
            <a:r>
              <a:rPr sz="750" b="0" dirty="0">
                <a:solidFill>
                  <a:srgbClr val="2F3B3A"/>
                </a:solidFill>
                <a:latin typeface="Calibri"/>
              </a:rPr>
              <a:t> baja</a:t>
            </a:r>
          </a:p>
          <a:p>
            <a:pPr algn="l">
              <a:spcBef>
                <a:spcPts val="300"/>
              </a:spcBef>
            </a:pPr>
            <a:r>
              <a:rPr sz="750" b="1" dirty="0" err="1">
                <a:solidFill>
                  <a:srgbClr val="13807B"/>
                </a:solidFill>
                <a:latin typeface="Calibri"/>
              </a:rPr>
              <a:t>Estrategia</a:t>
            </a:r>
            <a:r>
              <a:rPr sz="750" b="1" dirty="0">
                <a:solidFill>
                  <a:srgbClr val="13807B"/>
                </a:solidFill>
                <a:latin typeface="Calibri"/>
              </a:rPr>
              <a:t> de </a:t>
            </a:r>
            <a:r>
              <a:rPr sz="750" b="1" dirty="0" err="1">
                <a:solidFill>
                  <a:srgbClr val="13807B"/>
                </a:solidFill>
                <a:latin typeface="Calibri"/>
              </a:rPr>
              <a:t>pilotos</a:t>
            </a:r>
            <a:r>
              <a:rPr sz="750" b="1" dirty="0">
                <a:solidFill>
                  <a:srgbClr val="13807B"/>
                </a:solidFill>
                <a:latin typeface="Calibri"/>
              </a:rPr>
              <a:t>: </a:t>
            </a:r>
            <a:r>
              <a:rPr sz="750" b="1" dirty="0" err="1">
                <a:solidFill>
                  <a:srgbClr val="2F3B3A"/>
                </a:solidFill>
                <a:latin typeface="Calibri"/>
              </a:rPr>
              <a:t>Mantener</a:t>
            </a:r>
            <a:r>
              <a:rPr lang="es-ES" sz="750" b="1" dirty="0">
                <a:solidFill>
                  <a:srgbClr val="2F3B3A"/>
                </a:solidFill>
                <a:latin typeface="Calibri"/>
              </a:rPr>
              <a:t> precio</a:t>
            </a:r>
            <a:endParaRPr sz="850" b="1" dirty="0">
              <a:solidFill>
                <a:srgbClr val="2F3B3A"/>
              </a:solidFill>
              <a:latin typeface="Calibri"/>
            </a:endParaRPr>
          </a:p>
          <a:p>
            <a:pPr algn="l">
              <a:spcBef>
                <a:spcPts val="300"/>
              </a:spcBef>
            </a:pPr>
            <a:r>
              <a:rPr sz="400" b="0" dirty="0">
                <a:solidFill>
                  <a:srgbClr val="2F3B3A"/>
                </a:solidFill>
                <a:latin typeface="Calibri"/>
              </a:rPr>
              <a:t> </a:t>
            </a:r>
          </a:p>
          <a:p>
            <a:pPr algn="l"/>
            <a:r>
              <a:rPr sz="1000" b="1" dirty="0" err="1">
                <a:solidFill>
                  <a:srgbClr val="E5173F"/>
                </a:solidFill>
                <a:latin typeface="Calibri"/>
              </a:rPr>
              <a:t>Pasivos</a:t>
            </a:r>
            <a:r>
              <a:rPr sz="1000" b="1" dirty="0">
                <a:solidFill>
                  <a:srgbClr val="E5173F"/>
                </a:solidFill>
                <a:latin typeface="Calibri"/>
              </a:rPr>
              <a:t> 1–20K</a:t>
            </a:r>
            <a:r>
              <a:rPr sz="750" b="0" dirty="0">
                <a:solidFill>
                  <a:srgbClr val="6E7E7D"/>
                </a:solidFill>
                <a:latin typeface="Calibri"/>
              </a:rPr>
              <a:t>   share 51 → 86</a:t>
            </a:r>
          </a:p>
          <a:p>
            <a:pPr algn="l">
              <a:spcBef>
                <a:spcPts val="300"/>
              </a:spcBef>
            </a:pPr>
            <a:r>
              <a:rPr sz="750" b="1" dirty="0">
                <a:solidFill>
                  <a:srgbClr val="13807B"/>
                </a:solidFill>
                <a:latin typeface="Calibri"/>
              </a:rPr>
              <a:t>• </a:t>
            </a:r>
            <a:r>
              <a:rPr sz="750" b="0" dirty="0">
                <a:solidFill>
                  <a:srgbClr val="2F3B3A"/>
                </a:solidFill>
                <a:latin typeface="Calibri"/>
              </a:rPr>
              <a:t>Alza </a:t>
            </a:r>
            <a:r>
              <a:rPr sz="750" b="0" dirty="0" err="1">
                <a:solidFill>
                  <a:srgbClr val="2F3B3A"/>
                </a:solidFill>
                <a:latin typeface="Calibri"/>
              </a:rPr>
              <a:t>fuerte</a:t>
            </a:r>
            <a:r>
              <a:rPr sz="750" b="0" dirty="0">
                <a:solidFill>
                  <a:srgbClr val="2F3B3A"/>
                </a:solidFill>
                <a:latin typeface="Calibri"/>
              </a:rPr>
              <a:t> del share el </a:t>
            </a:r>
            <a:r>
              <a:rPr sz="750" b="0" dirty="0" err="1">
                <a:solidFill>
                  <a:srgbClr val="2F3B3A"/>
                </a:solidFill>
                <a:latin typeface="Calibri"/>
              </a:rPr>
              <a:t>último</a:t>
            </a:r>
            <a:r>
              <a:rPr sz="750" b="0" dirty="0">
                <a:solidFill>
                  <a:srgbClr val="2F3B3A"/>
                </a:solidFill>
                <a:latin typeface="Calibri"/>
              </a:rPr>
              <a:t> </a:t>
            </a:r>
            <a:r>
              <a:rPr sz="750" b="0" dirty="0" err="1">
                <a:solidFill>
                  <a:srgbClr val="2F3B3A"/>
                </a:solidFill>
                <a:latin typeface="Calibri"/>
              </a:rPr>
              <a:t>trimestre</a:t>
            </a:r>
            <a:endParaRPr sz="850" b="0" dirty="0">
              <a:solidFill>
                <a:srgbClr val="2F3B3A"/>
              </a:solidFill>
              <a:latin typeface="Calibri"/>
            </a:endParaRPr>
          </a:p>
          <a:p>
            <a:pPr algn="l">
              <a:spcBef>
                <a:spcPts val="300"/>
              </a:spcBef>
            </a:pPr>
            <a:r>
              <a:rPr sz="750" b="1" dirty="0">
                <a:solidFill>
                  <a:srgbClr val="13807B"/>
                </a:solidFill>
                <a:latin typeface="Calibri"/>
              </a:rPr>
              <a:t>• </a:t>
            </a:r>
            <a:r>
              <a:rPr sz="750" b="0" dirty="0">
                <a:solidFill>
                  <a:srgbClr val="2F3B3A"/>
                </a:solidFill>
                <a:latin typeface="Calibri"/>
              </a:rPr>
              <a:t>La brecha entre la tasa ofertada y la desembolsada se mueve entre 200 y 300 pbs y se cierra el último trimestre</a:t>
            </a:r>
          </a:p>
          <a:p>
            <a:pPr algn="l">
              <a:spcBef>
                <a:spcPts val="300"/>
              </a:spcBef>
            </a:pPr>
            <a:r>
              <a:rPr sz="750" b="1" dirty="0" err="1">
                <a:solidFill>
                  <a:srgbClr val="13807B"/>
                </a:solidFill>
                <a:latin typeface="Calibri"/>
              </a:rPr>
              <a:t>Estrategia</a:t>
            </a:r>
            <a:r>
              <a:rPr sz="750" b="1" dirty="0">
                <a:solidFill>
                  <a:srgbClr val="13807B"/>
                </a:solidFill>
                <a:latin typeface="Calibri"/>
              </a:rPr>
              <a:t> de </a:t>
            </a:r>
            <a:r>
              <a:rPr sz="750" b="1" dirty="0" err="1">
                <a:solidFill>
                  <a:srgbClr val="13807B"/>
                </a:solidFill>
                <a:latin typeface="Calibri"/>
              </a:rPr>
              <a:t>pilotos</a:t>
            </a:r>
            <a:r>
              <a:rPr sz="750" b="1" dirty="0">
                <a:solidFill>
                  <a:srgbClr val="13807B"/>
                </a:solidFill>
                <a:latin typeface="Calibri"/>
              </a:rPr>
              <a:t>: </a:t>
            </a:r>
            <a:r>
              <a:rPr sz="750" b="1" dirty="0" err="1">
                <a:solidFill>
                  <a:srgbClr val="2F3B3A"/>
                </a:solidFill>
                <a:latin typeface="Calibri"/>
              </a:rPr>
              <a:t>Mantener</a:t>
            </a:r>
            <a:r>
              <a:rPr lang="es-ES" sz="750" b="1" dirty="0">
                <a:solidFill>
                  <a:srgbClr val="2F3B3A"/>
                </a:solidFill>
                <a:latin typeface="Calibri"/>
              </a:rPr>
              <a:t> precio</a:t>
            </a:r>
            <a:endParaRPr sz="850" b="1" dirty="0">
              <a:solidFill>
                <a:srgbClr val="2F3B3A"/>
              </a:solidFill>
              <a:latin typeface="Calibri"/>
            </a:endParaRPr>
          </a:p>
        </p:txBody>
      </p:sp>
      <p:sp>
        <p:nvSpPr>
          <p:cNvPr id="35" name="Rectangle 34"/>
          <p:cNvSpPr/>
          <p:nvPr/>
        </p:nvSpPr>
        <p:spPr>
          <a:xfrm>
            <a:off x="493776" y="5720000"/>
            <a:ext cx="5475700" cy="620000"/>
          </a:xfrm>
          <a:prstGeom prst="rect">
            <a:avLst/>
          </a:prstGeom>
          <a:solidFill>
            <a:srgbClr val="E8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493776" y="5720000"/>
            <a:ext cx="45000" cy="620000"/>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43776" y="5770000"/>
            <a:ext cx="5255700" cy="540000"/>
          </a:xfrm>
          <a:prstGeom prst="rect">
            <a:avLst/>
          </a:prstGeom>
          <a:noFill/>
        </p:spPr>
        <p:txBody>
          <a:bodyPr wrap="square" lIns="0" tIns="0" rIns="0" bIns="0" anchor="ctr">
            <a:spAutoFit/>
          </a:bodyPr>
          <a:lstStyle/>
          <a:p>
            <a:r>
              <a:rPr sz="800" b="1">
                <a:solidFill>
                  <a:srgbClr val="13807B"/>
                </a:solidFill>
                <a:latin typeface="Lato"/>
              </a:rPr>
              <a:t>El precio de lista importa. </a:t>
            </a:r>
            <a:r>
              <a:rPr sz="800" b="0">
                <a:solidFill>
                  <a:srgbClr val="2F3B3A"/>
                </a:solidFill>
                <a:latin typeface="Lato"/>
              </a:rPr>
              <a:t>Los clientes sin historial crediticio esperan poca negociación y toman la oferta como referencia, así que su share responde más a la tasa ofertada que al desembolso. En pasivos menores a S/ 1K el share cae a 20 cuando la oferta sube a 24,4% en 1T26 y repunta a 63 cuando baja a 22,8%. En pasivos de S/ 1–20K la oferta bajó de 26,5% a 21,1% desde 3T25 y el share subió de 63 a 86.</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93777" y="246888"/>
            <a:ext cx="8963570" cy="109710"/>
          </a:xfrm>
          <a:prstGeom prst="rect">
            <a:avLst/>
          </a:prstGeom>
          <a:noFill/>
        </p:spPr>
        <p:txBody>
          <a:bodyPr wrap="square" lIns="0" tIns="0" rIns="0" bIns="0" anchor="t">
            <a:spAutoFit/>
          </a:bodyPr>
          <a:lstStyle/>
          <a:p>
            <a:pPr algn="l"/>
            <a:r>
              <a:rPr sz="800" b="1">
                <a:solidFill>
                  <a:srgbClr val="6E7E7D"/>
                </a:solidFill>
                <a:latin typeface="Calibri"/>
              </a:rPr>
              <a:t>PRÓXIMOS PASOS</a:t>
            </a:r>
          </a:p>
        </p:txBody>
      </p:sp>
      <p:sp>
        <p:nvSpPr>
          <p:cNvPr id="3" name="TextBox 2"/>
          <p:cNvSpPr txBox="1"/>
          <p:nvPr/>
        </p:nvSpPr>
        <p:spPr>
          <a:xfrm>
            <a:off x="493776" y="425196"/>
            <a:ext cx="10312923" cy="482568"/>
          </a:xfrm>
          <a:prstGeom prst="rect">
            <a:avLst/>
          </a:prstGeom>
          <a:noFill/>
        </p:spPr>
        <p:txBody>
          <a:bodyPr wrap="square" lIns="0" tIns="0" rIns="0" bIns="0" anchor="t">
            <a:spAutoFit/>
          </a:bodyPr>
          <a:lstStyle/>
          <a:p>
            <a:pPr algn="l"/>
            <a:r>
              <a:rPr sz="1600" b="1">
                <a:solidFill>
                  <a:srgbClr val="13807B"/>
                </a:solidFill>
                <a:latin typeface="Poppins"/>
              </a:rPr>
              <a:t>Próximos pasos: el modelo de sensibilidad convierte el diagnóstico en propuestas de tasa por apertura</a:t>
            </a:r>
          </a:p>
        </p:txBody>
      </p:sp>
      <p:cxnSp>
        <p:nvCxnSpPr>
          <p:cNvPr id="4" name="Connector 3"/>
          <p:cNvCxnSpPr/>
          <p:nvPr/>
        </p:nvCxnSpPr>
        <p:spPr>
          <a:xfrm>
            <a:off x="493776" y="1049274"/>
            <a:ext cx="11204463" cy="0"/>
          </a:xfrm>
          <a:prstGeom prst="line">
            <a:avLst/>
          </a:prstGeom>
          <a:ln w="12700">
            <a:solidFill>
              <a:srgbClr val="D5DFDE"/>
            </a:solidFill>
          </a:ln>
        </p:spPr>
        <p:style>
          <a:lnRef idx="2">
            <a:schemeClr val="accent1"/>
          </a:lnRef>
          <a:fillRef idx="0">
            <a:schemeClr val="accent1"/>
          </a:fillRef>
          <a:effectRef idx="1">
            <a:schemeClr val="accent1"/>
          </a:effectRef>
          <a:fontRef idx="minor">
            <a:schemeClr val="tx1"/>
          </a:fontRef>
        </p:style>
      </p:cxnSp>
      <p:pic>
        <p:nvPicPr>
          <p:cNvPr id="5" name="Picture 4" descr="logo.png"/>
          <p:cNvPicPr>
            <a:picLocks noChangeAspect="1"/>
          </p:cNvPicPr>
          <p:nvPr/>
        </p:nvPicPr>
        <p:blipFill>
          <a:blip r:embed="rId2"/>
          <a:stretch>
            <a:fillRect/>
          </a:stretch>
        </p:blipFill>
        <p:spPr>
          <a:xfrm>
            <a:off x="11081186" y="82166"/>
            <a:ext cx="916962" cy="343030"/>
          </a:xfrm>
          <a:prstGeom prst="rect">
            <a:avLst/>
          </a:prstGeom>
        </p:spPr>
      </p:pic>
      <p:sp>
        <p:nvSpPr>
          <p:cNvPr id="6" name="Rectangle 5"/>
          <p:cNvSpPr/>
          <p:nvPr/>
        </p:nvSpPr>
        <p:spPr>
          <a:xfrm>
            <a:off x="493776" y="1250000"/>
            <a:ext cx="3600000" cy="2250000"/>
          </a:xfrm>
          <a:prstGeom prst="rect">
            <a:avLst/>
          </a:prstGeom>
          <a:solidFill>
            <a:srgbClr val="F0F5F5"/>
          </a:solidFill>
          <a:ln>
            <a:solidFill>
              <a:srgbClr val="C9D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93776" y="1250000"/>
            <a:ext cx="3600000" cy="60000"/>
          </a:xfrm>
          <a:prstGeom prst="rect">
            <a:avLst/>
          </a:prstGeom>
          <a:solidFill>
            <a:srgbClr val="1380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33776" y="1380000"/>
            <a:ext cx="3300000" cy="230000"/>
          </a:xfrm>
          <a:prstGeom prst="rect">
            <a:avLst/>
          </a:prstGeom>
          <a:noFill/>
        </p:spPr>
        <p:txBody>
          <a:bodyPr wrap="square" lIns="0" tIns="0" rIns="0" bIns="0" anchor="t">
            <a:spAutoFit/>
          </a:bodyPr>
          <a:lstStyle/>
          <a:p>
            <a:pPr algn="l"/>
            <a:r>
              <a:rPr sz="800" b="1">
                <a:solidFill>
                  <a:srgbClr val="13807B"/>
                </a:solidFill>
                <a:latin typeface="Calibri"/>
              </a:rPr>
              <a:t>PASO 1 · LISTO</a:t>
            </a:r>
          </a:p>
        </p:txBody>
      </p:sp>
      <p:sp>
        <p:nvSpPr>
          <p:cNvPr id="9" name="TextBox 8"/>
          <p:cNvSpPr txBox="1"/>
          <p:nvPr/>
        </p:nvSpPr>
        <p:spPr>
          <a:xfrm>
            <a:off x="633776" y="1650000"/>
            <a:ext cx="3300000" cy="400000"/>
          </a:xfrm>
          <a:prstGeom prst="rect">
            <a:avLst/>
          </a:prstGeom>
          <a:noFill/>
        </p:spPr>
        <p:txBody>
          <a:bodyPr wrap="square" lIns="0" tIns="0" rIns="0" bIns="0" anchor="t">
            <a:spAutoFit/>
          </a:bodyPr>
          <a:lstStyle/>
          <a:p>
            <a:pPr algn="l"/>
            <a:r>
              <a:rPr sz="1300" b="1">
                <a:solidFill>
                  <a:srgbClr val="2F3B3A"/>
                </a:solidFill>
                <a:latin typeface="Calibri"/>
              </a:rPr>
              <a:t>Diagnóstico por apertura</a:t>
            </a:r>
          </a:p>
        </p:txBody>
      </p:sp>
      <p:sp>
        <p:nvSpPr>
          <p:cNvPr id="10" name="TextBox 9"/>
          <p:cNvSpPr txBox="1"/>
          <p:nvPr/>
        </p:nvSpPr>
        <p:spPr>
          <a:xfrm>
            <a:off x="633776" y="2150000"/>
            <a:ext cx="3300000" cy="1300000"/>
          </a:xfrm>
          <a:prstGeom prst="rect">
            <a:avLst/>
          </a:prstGeom>
          <a:noFill/>
        </p:spPr>
        <p:txBody>
          <a:bodyPr wrap="square" lIns="0" tIns="0" rIns="0" bIns="0" anchor="t">
            <a:spAutoFit/>
          </a:bodyPr>
          <a:lstStyle/>
          <a:p>
            <a:pPr algn="l"/>
            <a:r>
              <a:rPr sz="1000" b="0">
                <a:solidFill>
                  <a:srgbClr val="2F3B3A"/>
                </a:solidFill>
                <a:latin typeface="Calibri"/>
              </a:rPr>
              <a:t>Share relevante, TEA de oferta, de desembolso y de la competencia por apertura, con una propuesta de piloto para cada una.</a:t>
            </a:r>
          </a:p>
        </p:txBody>
      </p:sp>
      <p:sp>
        <p:nvSpPr>
          <p:cNvPr id="11" name="TextBox 10"/>
          <p:cNvSpPr txBox="1"/>
          <p:nvPr/>
        </p:nvSpPr>
        <p:spPr>
          <a:xfrm>
            <a:off x="4093776" y="2150000"/>
            <a:ext cx="200000" cy="300000"/>
          </a:xfrm>
          <a:prstGeom prst="rect">
            <a:avLst/>
          </a:prstGeom>
          <a:noFill/>
        </p:spPr>
        <p:txBody>
          <a:bodyPr wrap="square" lIns="0" tIns="0" rIns="0" bIns="0" anchor="t">
            <a:spAutoFit/>
          </a:bodyPr>
          <a:lstStyle/>
          <a:p>
            <a:pPr algn="l"/>
            <a:r>
              <a:rPr sz="1600" b="1">
                <a:solidFill>
                  <a:srgbClr val="13807B"/>
                </a:solidFill>
                <a:latin typeface="Calibri"/>
              </a:rPr>
              <a:t>›</a:t>
            </a:r>
          </a:p>
        </p:txBody>
      </p:sp>
      <p:sp>
        <p:nvSpPr>
          <p:cNvPr id="12" name="Rectangle 11"/>
          <p:cNvSpPr/>
          <p:nvPr/>
        </p:nvSpPr>
        <p:spPr>
          <a:xfrm>
            <a:off x="4293776" y="1250000"/>
            <a:ext cx="3600000" cy="2250000"/>
          </a:xfrm>
          <a:prstGeom prst="rect">
            <a:avLst/>
          </a:prstGeom>
          <a:solidFill>
            <a:srgbClr val="F0F5F5"/>
          </a:solidFill>
          <a:ln>
            <a:solidFill>
              <a:srgbClr val="C9D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293776" y="1250000"/>
            <a:ext cx="3600000" cy="60000"/>
          </a:xfrm>
          <a:prstGeom prst="rect">
            <a:avLst/>
          </a:prstGeom>
          <a:solidFill>
            <a:srgbClr val="4A65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433776" y="1380000"/>
            <a:ext cx="3300000" cy="230000"/>
          </a:xfrm>
          <a:prstGeom prst="rect">
            <a:avLst/>
          </a:prstGeom>
          <a:noFill/>
        </p:spPr>
        <p:txBody>
          <a:bodyPr wrap="square" lIns="0" tIns="0" rIns="0" bIns="0" anchor="t">
            <a:spAutoFit/>
          </a:bodyPr>
          <a:lstStyle/>
          <a:p>
            <a:pPr algn="l"/>
            <a:r>
              <a:rPr sz="800" b="1">
                <a:solidFill>
                  <a:srgbClr val="4A6572"/>
                </a:solidFill>
                <a:latin typeface="Calibri"/>
              </a:rPr>
              <a:t>PASO 2 · SIGUIENTE</a:t>
            </a:r>
          </a:p>
        </p:txBody>
      </p:sp>
      <p:sp>
        <p:nvSpPr>
          <p:cNvPr id="15" name="TextBox 14"/>
          <p:cNvSpPr txBox="1"/>
          <p:nvPr/>
        </p:nvSpPr>
        <p:spPr>
          <a:xfrm>
            <a:off x="4433776" y="1650000"/>
            <a:ext cx="3300000" cy="400000"/>
          </a:xfrm>
          <a:prstGeom prst="rect">
            <a:avLst/>
          </a:prstGeom>
          <a:noFill/>
        </p:spPr>
        <p:txBody>
          <a:bodyPr wrap="square" lIns="0" tIns="0" rIns="0" bIns="0" anchor="t">
            <a:spAutoFit/>
          </a:bodyPr>
          <a:lstStyle/>
          <a:p>
            <a:pPr algn="l"/>
            <a:r>
              <a:rPr sz="1300" b="1">
                <a:solidFill>
                  <a:srgbClr val="2F3B3A"/>
                </a:solidFill>
                <a:latin typeface="Calibri"/>
              </a:rPr>
              <a:t>Modelo de sensibilidad</a:t>
            </a:r>
          </a:p>
        </p:txBody>
      </p:sp>
      <p:sp>
        <p:nvSpPr>
          <p:cNvPr id="16" name="TextBox 15"/>
          <p:cNvSpPr txBox="1"/>
          <p:nvPr/>
        </p:nvSpPr>
        <p:spPr>
          <a:xfrm>
            <a:off x="4433776" y="2150000"/>
            <a:ext cx="3300000" cy="1300000"/>
          </a:xfrm>
          <a:prstGeom prst="rect">
            <a:avLst/>
          </a:prstGeom>
          <a:noFill/>
        </p:spPr>
        <p:txBody>
          <a:bodyPr wrap="square" lIns="0" tIns="0" rIns="0" bIns="0" anchor="t">
            <a:spAutoFit/>
          </a:bodyPr>
          <a:lstStyle/>
          <a:p>
            <a:pPr algn="l"/>
            <a:r>
              <a:rPr sz="1000" b="0">
                <a:solidFill>
                  <a:srgbClr val="2F3B3A"/>
                </a:solidFill>
                <a:latin typeface="Calibri"/>
              </a:rPr>
              <a:t>Estimar cuánto cambia la probabilidad de desembolsar con IBK ante cambios de tasa y de monto, por apertura, usando la tasa de la competencia como referencia.</a:t>
            </a:r>
          </a:p>
        </p:txBody>
      </p:sp>
      <p:sp>
        <p:nvSpPr>
          <p:cNvPr id="17" name="TextBox 16"/>
          <p:cNvSpPr txBox="1"/>
          <p:nvPr/>
        </p:nvSpPr>
        <p:spPr>
          <a:xfrm>
            <a:off x="7893776" y="2150000"/>
            <a:ext cx="200000" cy="300000"/>
          </a:xfrm>
          <a:prstGeom prst="rect">
            <a:avLst/>
          </a:prstGeom>
          <a:noFill/>
        </p:spPr>
        <p:txBody>
          <a:bodyPr wrap="square" lIns="0" tIns="0" rIns="0" bIns="0" anchor="t">
            <a:spAutoFit/>
          </a:bodyPr>
          <a:lstStyle/>
          <a:p>
            <a:pPr algn="l"/>
            <a:r>
              <a:rPr sz="1600" b="1">
                <a:solidFill>
                  <a:srgbClr val="13807B"/>
                </a:solidFill>
                <a:latin typeface="Calibri"/>
              </a:rPr>
              <a:t>›</a:t>
            </a:r>
          </a:p>
        </p:txBody>
      </p:sp>
      <p:sp>
        <p:nvSpPr>
          <p:cNvPr id="18" name="Rectangle 17"/>
          <p:cNvSpPr/>
          <p:nvPr/>
        </p:nvSpPr>
        <p:spPr>
          <a:xfrm>
            <a:off x="8093776" y="1250000"/>
            <a:ext cx="3600000" cy="2250000"/>
          </a:xfrm>
          <a:prstGeom prst="rect">
            <a:avLst/>
          </a:prstGeom>
          <a:solidFill>
            <a:srgbClr val="F0F5F5"/>
          </a:solidFill>
          <a:ln>
            <a:solidFill>
              <a:srgbClr val="C9D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093776" y="1250000"/>
            <a:ext cx="3600000" cy="60000"/>
          </a:xfrm>
          <a:prstGeom prst="rect">
            <a:avLst/>
          </a:prstGeom>
          <a:solidFill>
            <a:srgbClr val="E517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233776" y="1380000"/>
            <a:ext cx="3300000" cy="230000"/>
          </a:xfrm>
          <a:prstGeom prst="rect">
            <a:avLst/>
          </a:prstGeom>
          <a:noFill/>
        </p:spPr>
        <p:txBody>
          <a:bodyPr wrap="square" lIns="0" tIns="0" rIns="0" bIns="0" anchor="t">
            <a:spAutoFit/>
          </a:bodyPr>
          <a:lstStyle/>
          <a:p>
            <a:pPr algn="l"/>
            <a:r>
              <a:rPr sz="800" b="1">
                <a:solidFill>
                  <a:srgbClr val="E5173F"/>
                </a:solidFill>
                <a:latin typeface="Calibri"/>
              </a:rPr>
              <a:t>PASO 3 · RESULTADO</a:t>
            </a:r>
          </a:p>
        </p:txBody>
      </p:sp>
      <p:sp>
        <p:nvSpPr>
          <p:cNvPr id="21" name="TextBox 20"/>
          <p:cNvSpPr txBox="1"/>
          <p:nvPr/>
        </p:nvSpPr>
        <p:spPr>
          <a:xfrm>
            <a:off x="8233776" y="1650000"/>
            <a:ext cx="3300000" cy="400000"/>
          </a:xfrm>
          <a:prstGeom prst="rect">
            <a:avLst/>
          </a:prstGeom>
          <a:noFill/>
        </p:spPr>
        <p:txBody>
          <a:bodyPr wrap="square" lIns="0" tIns="0" rIns="0" bIns="0" anchor="t">
            <a:spAutoFit/>
          </a:bodyPr>
          <a:lstStyle/>
          <a:p>
            <a:pPr algn="l"/>
            <a:r>
              <a:rPr sz="1300" b="1">
                <a:solidFill>
                  <a:srgbClr val="2F3B3A"/>
                </a:solidFill>
                <a:latin typeface="Calibri"/>
              </a:rPr>
              <a:t>Propuestas</a:t>
            </a:r>
          </a:p>
        </p:txBody>
      </p:sp>
      <p:sp>
        <p:nvSpPr>
          <p:cNvPr id="22" name="TextBox 21"/>
          <p:cNvSpPr txBox="1"/>
          <p:nvPr/>
        </p:nvSpPr>
        <p:spPr>
          <a:xfrm>
            <a:off x="8233776" y="2150000"/>
            <a:ext cx="3300000" cy="1300000"/>
          </a:xfrm>
          <a:prstGeom prst="rect">
            <a:avLst/>
          </a:prstGeom>
          <a:noFill/>
        </p:spPr>
        <p:txBody>
          <a:bodyPr wrap="square" lIns="0" tIns="0" rIns="0" bIns="0" anchor="t">
            <a:spAutoFit/>
          </a:bodyPr>
          <a:lstStyle/>
          <a:p>
            <a:pPr algn="l"/>
            <a:r>
              <a:rPr sz="1000" b="0">
                <a:solidFill>
                  <a:srgbClr val="2F3B3A"/>
                </a:solidFill>
                <a:latin typeface="Calibri"/>
              </a:rPr>
              <a:t>Pilotos de tasa y de monto priorizados por apertura, respetando el piso de margen definido con Pricing y Riesgos y medidos contra un grupo de control.</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93777" y="246888"/>
            <a:ext cx="8963570" cy="109710"/>
          </a:xfrm>
          <a:prstGeom prst="rect">
            <a:avLst/>
          </a:prstGeom>
          <a:noFill/>
        </p:spPr>
        <p:txBody>
          <a:bodyPr wrap="square" lIns="0" tIns="0" rIns="0" bIns="0" anchor="t">
            <a:spAutoFit/>
          </a:bodyPr>
          <a:lstStyle/>
          <a:p>
            <a:pPr algn="l"/>
            <a:r>
              <a:rPr sz="800" b="1">
                <a:solidFill>
                  <a:srgbClr val="6E7E7D"/>
                </a:solidFill>
                <a:latin typeface="Calibri"/>
              </a:rPr>
              <a:t>MODELO DE SENSIBILIDAD · MACROPERFILES</a:t>
            </a:r>
          </a:p>
        </p:txBody>
      </p:sp>
      <p:sp>
        <p:nvSpPr>
          <p:cNvPr id="3" name="TextBox 2"/>
          <p:cNvSpPr txBox="1"/>
          <p:nvPr/>
        </p:nvSpPr>
        <p:spPr>
          <a:xfrm>
            <a:off x="493776" y="425196"/>
            <a:ext cx="10312923" cy="482568"/>
          </a:xfrm>
          <a:prstGeom prst="rect">
            <a:avLst/>
          </a:prstGeom>
          <a:noFill/>
        </p:spPr>
        <p:txBody>
          <a:bodyPr wrap="square" lIns="0" tIns="0" rIns="0" bIns="0" anchor="t">
            <a:spAutoFit/>
          </a:bodyPr>
          <a:lstStyle/>
          <a:p>
            <a:pPr algn="l"/>
            <a:r>
              <a:rPr sz="1600" b="1">
                <a:solidFill>
                  <a:srgbClr val="13807B"/>
                </a:solidFill>
                <a:latin typeface="Poppins"/>
              </a:rPr>
              <a:t>Para medir la sensibilidad al precio agrupamos los 9 segmentos en 4 macroperfiles, según deuda en el SSFF, tamaño y profundidad de relación</a:t>
            </a:r>
          </a:p>
        </p:txBody>
      </p:sp>
      <p:cxnSp>
        <p:nvCxnSpPr>
          <p:cNvPr id="4" name="Connector 3"/>
          <p:cNvCxnSpPr/>
          <p:nvPr/>
        </p:nvCxnSpPr>
        <p:spPr>
          <a:xfrm>
            <a:off x="493776" y="1049274"/>
            <a:ext cx="11204463" cy="0"/>
          </a:xfrm>
          <a:prstGeom prst="line">
            <a:avLst/>
          </a:prstGeom>
          <a:ln w="12700">
            <a:solidFill>
              <a:srgbClr val="D5DFDE"/>
            </a:solidFill>
          </a:ln>
        </p:spPr>
        <p:style>
          <a:lnRef idx="2">
            <a:schemeClr val="accent1"/>
          </a:lnRef>
          <a:fillRef idx="0">
            <a:schemeClr val="accent1"/>
          </a:fillRef>
          <a:effectRef idx="1">
            <a:schemeClr val="accent1"/>
          </a:effectRef>
          <a:fontRef idx="minor">
            <a:schemeClr val="tx1"/>
          </a:fontRef>
        </p:style>
      </p:cxnSp>
      <p:pic>
        <p:nvPicPr>
          <p:cNvPr id="5" name="Picture 4" descr="logo.png"/>
          <p:cNvPicPr>
            <a:picLocks noChangeAspect="1"/>
          </p:cNvPicPr>
          <p:nvPr/>
        </p:nvPicPr>
        <p:blipFill>
          <a:blip r:embed="rId2"/>
          <a:stretch>
            <a:fillRect/>
          </a:stretch>
        </p:blipFill>
        <p:spPr>
          <a:xfrm>
            <a:off x="11081186" y="82166"/>
            <a:ext cx="916962" cy="343030"/>
          </a:xfrm>
          <a:prstGeom prst="rect">
            <a:avLst/>
          </a:prstGeom>
        </p:spPr>
      </p:pic>
      <p:sp>
        <p:nvSpPr>
          <p:cNvPr id="6" name="Rectangle 5"/>
          <p:cNvSpPr/>
          <p:nvPr/>
        </p:nvSpPr>
        <p:spPr>
          <a:xfrm>
            <a:off x="493776" y="1250000"/>
            <a:ext cx="2687850" cy="4300000"/>
          </a:xfrm>
          <a:prstGeom prst="rect">
            <a:avLst/>
          </a:prstGeom>
          <a:solidFill>
            <a:srgbClr val="F7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93776" y="1250000"/>
            <a:ext cx="2687850" cy="60000"/>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13776" y="1400000"/>
            <a:ext cx="2447850" cy="520000"/>
          </a:xfrm>
          <a:prstGeom prst="rect">
            <a:avLst/>
          </a:prstGeom>
          <a:noFill/>
        </p:spPr>
        <p:txBody>
          <a:bodyPr wrap="square" lIns="0" tIns="0" rIns="0" bIns="0" anchor="t">
            <a:spAutoFit/>
          </a:bodyPr>
          <a:lstStyle/>
          <a:p>
            <a:pPr algn="l"/>
            <a:r>
              <a:rPr sz="1300" b="1">
                <a:solidFill>
                  <a:srgbClr val="13807B"/>
                </a:solidFill>
                <a:latin typeface="Calibri"/>
              </a:rPr>
              <a:t>Fidelizados</a:t>
            </a:r>
          </a:p>
        </p:txBody>
      </p:sp>
      <p:sp>
        <p:nvSpPr>
          <p:cNvPr id="9" name="TextBox 8"/>
          <p:cNvSpPr txBox="1"/>
          <p:nvPr/>
        </p:nvSpPr>
        <p:spPr>
          <a:xfrm>
            <a:off x="613776" y="1950000"/>
            <a:ext cx="2447850" cy="700000"/>
          </a:xfrm>
          <a:prstGeom prst="rect">
            <a:avLst/>
          </a:prstGeom>
          <a:noFill/>
        </p:spPr>
        <p:txBody>
          <a:bodyPr wrap="square" lIns="0" tIns="0" rIns="0" bIns="0" anchor="t">
            <a:spAutoFit/>
          </a:bodyPr>
          <a:lstStyle/>
          <a:p>
            <a:pPr algn="l"/>
            <a:r>
              <a:rPr sz="900" b="0">
                <a:solidFill>
                  <a:srgbClr val="2F3B3A"/>
                </a:solidFill>
                <a:latin typeface="Calibri"/>
              </a:rPr>
              <a:t>Con deuda en el SSFF y SOW de deuda de 50% o más: ya nos prefieren</a:t>
            </a:r>
          </a:p>
        </p:txBody>
      </p:sp>
      <p:sp>
        <p:nvSpPr>
          <p:cNvPr id="10" name="TextBox 9"/>
          <p:cNvSpPr txBox="1"/>
          <p:nvPr/>
        </p:nvSpPr>
        <p:spPr>
          <a:xfrm>
            <a:off x="613776" y="2700000"/>
            <a:ext cx="2447850" cy="220000"/>
          </a:xfrm>
          <a:prstGeom prst="rect">
            <a:avLst/>
          </a:prstGeom>
          <a:noFill/>
        </p:spPr>
        <p:txBody>
          <a:bodyPr wrap="square" lIns="0" tIns="0" rIns="0" bIns="0" anchor="t">
            <a:spAutoFit/>
          </a:bodyPr>
          <a:lstStyle/>
          <a:p>
            <a:pPr algn="l"/>
            <a:r>
              <a:rPr sz="800" b="1">
                <a:solidFill>
                  <a:srgbClr val="6E7E7D"/>
                </a:solidFill>
                <a:latin typeface="Calibri"/>
              </a:rPr>
              <a:t>Segmentos</a:t>
            </a:r>
          </a:p>
        </p:txBody>
      </p:sp>
      <p:sp>
        <p:nvSpPr>
          <p:cNvPr id="11" name="Rectangle 10"/>
          <p:cNvSpPr/>
          <p:nvPr/>
        </p:nvSpPr>
        <p:spPr>
          <a:xfrm>
            <a:off x="613776" y="2950000"/>
            <a:ext cx="2447850" cy="330000"/>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lIns="70000" tIns="35000" rIns="70000" bIns="35000" rtlCol="0" anchor="ctr"/>
          <a:lstStyle/>
          <a:p>
            <a:pPr algn="l"/>
            <a:r>
              <a:rPr sz="950" b="1">
                <a:solidFill>
                  <a:srgbClr val="FFFFFF"/>
                </a:solidFill>
                <a:latin typeface="Calibri"/>
              </a:rPr>
              <a:t>Cliente Ancla</a:t>
            </a:r>
          </a:p>
        </p:txBody>
      </p:sp>
      <p:sp>
        <p:nvSpPr>
          <p:cNvPr id="12" name="Rectangle 11"/>
          <p:cNvSpPr/>
          <p:nvPr/>
        </p:nvSpPr>
        <p:spPr>
          <a:xfrm>
            <a:off x="613776" y="3350000"/>
            <a:ext cx="2447850" cy="330000"/>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wrap="square" lIns="70000" tIns="35000" rIns="70000" bIns="35000" rtlCol="0" anchor="ctr"/>
          <a:lstStyle/>
          <a:p>
            <a:pPr algn="l"/>
            <a:r>
              <a:rPr sz="950" b="1">
                <a:solidFill>
                  <a:srgbClr val="FFFFFF"/>
                </a:solidFill>
                <a:latin typeface="Calibri"/>
              </a:rPr>
              <a:t>Socio en Crecimiento</a:t>
            </a:r>
          </a:p>
        </p:txBody>
      </p:sp>
      <p:sp>
        <p:nvSpPr>
          <p:cNvPr id="13" name="TextBox 12"/>
          <p:cNvSpPr txBox="1"/>
          <p:nvPr/>
        </p:nvSpPr>
        <p:spPr>
          <a:xfrm>
            <a:off x="613776" y="4500000"/>
            <a:ext cx="2447850" cy="641201"/>
          </a:xfrm>
          <a:prstGeom prst="rect">
            <a:avLst/>
          </a:prstGeom>
          <a:noFill/>
        </p:spPr>
        <p:txBody>
          <a:bodyPr wrap="square" lIns="0" tIns="0" rIns="0" bIns="0" anchor="t">
            <a:spAutoFit/>
          </a:bodyPr>
          <a:lstStyle/>
          <a:p>
            <a:pPr algn="l"/>
            <a:r>
              <a:rPr sz="800" b="1" dirty="0">
                <a:solidFill>
                  <a:srgbClr val="6E7E7D"/>
                </a:solidFill>
                <a:latin typeface="Calibri"/>
              </a:rPr>
              <a:t>Peso </a:t>
            </a:r>
            <a:r>
              <a:rPr sz="800" b="1" dirty="0" err="1">
                <a:solidFill>
                  <a:srgbClr val="6E7E7D"/>
                </a:solidFill>
                <a:latin typeface="Calibri"/>
              </a:rPr>
              <a:t>en</a:t>
            </a:r>
            <a:r>
              <a:rPr sz="800" b="1" dirty="0">
                <a:solidFill>
                  <a:srgbClr val="6E7E7D"/>
                </a:solidFill>
                <a:latin typeface="Calibri"/>
              </a:rPr>
              <a:t> el </a:t>
            </a:r>
            <a:r>
              <a:rPr sz="800" b="1" dirty="0" err="1">
                <a:solidFill>
                  <a:srgbClr val="6E7E7D"/>
                </a:solidFill>
                <a:latin typeface="Calibri"/>
              </a:rPr>
              <a:t>modelo</a:t>
            </a:r>
            <a:endParaRPr sz="800" b="1" dirty="0">
              <a:solidFill>
                <a:srgbClr val="6E7E7D"/>
              </a:solidFill>
              <a:latin typeface="Calibri"/>
            </a:endParaRPr>
          </a:p>
          <a:p>
            <a:pPr algn="l">
              <a:spcBef>
                <a:spcPts val="100"/>
              </a:spcBef>
            </a:pPr>
            <a:r>
              <a:rPr sz="1600" b="1" dirty="0">
                <a:solidFill>
                  <a:srgbClr val="13807B"/>
                </a:solidFill>
                <a:latin typeface="Calibri"/>
              </a:rPr>
              <a:t>25%</a:t>
            </a:r>
            <a:r>
              <a:rPr sz="850" b="0" dirty="0">
                <a:solidFill>
                  <a:srgbClr val="6E7E7D"/>
                </a:solidFill>
                <a:latin typeface="Calibri"/>
              </a:rPr>
              <a:t>  del </a:t>
            </a:r>
            <a:r>
              <a:rPr sz="850" b="0" dirty="0" err="1">
                <a:solidFill>
                  <a:srgbClr val="6E7E7D"/>
                </a:solidFill>
                <a:latin typeface="Calibri"/>
              </a:rPr>
              <a:t>monto</a:t>
            </a:r>
            <a:r>
              <a:rPr lang="es-EC" sz="850" b="0" dirty="0">
                <a:solidFill>
                  <a:srgbClr val="6E7E7D"/>
                </a:solidFill>
                <a:latin typeface="Calibri"/>
              </a:rPr>
              <a:t> desembolsado</a:t>
            </a:r>
            <a:endParaRPr sz="850" b="0" dirty="0">
              <a:solidFill>
                <a:srgbClr val="6E7E7D"/>
              </a:solidFill>
              <a:latin typeface="Calibri"/>
            </a:endParaRPr>
          </a:p>
          <a:p>
            <a:pPr algn="l">
              <a:spcBef>
                <a:spcPts val="100"/>
              </a:spcBef>
            </a:pPr>
            <a:r>
              <a:rPr sz="1600" b="1" dirty="0">
                <a:solidFill>
                  <a:srgbClr val="13807B"/>
                </a:solidFill>
                <a:latin typeface="Calibri"/>
              </a:rPr>
              <a:t>28%</a:t>
            </a:r>
            <a:r>
              <a:rPr sz="850" b="0" dirty="0">
                <a:solidFill>
                  <a:srgbClr val="6E7E7D"/>
                </a:solidFill>
                <a:latin typeface="Calibri"/>
              </a:rPr>
              <a:t>  de </a:t>
            </a:r>
            <a:r>
              <a:rPr sz="850" b="0" dirty="0" err="1">
                <a:solidFill>
                  <a:srgbClr val="6E7E7D"/>
                </a:solidFill>
                <a:latin typeface="Calibri"/>
              </a:rPr>
              <a:t>los</a:t>
            </a:r>
            <a:r>
              <a:rPr sz="850" b="0" dirty="0">
                <a:solidFill>
                  <a:srgbClr val="6E7E7D"/>
                </a:solidFill>
                <a:latin typeface="Calibri"/>
              </a:rPr>
              <a:t> </a:t>
            </a:r>
            <a:r>
              <a:rPr sz="850" b="0" dirty="0" err="1">
                <a:solidFill>
                  <a:srgbClr val="6E7E7D"/>
                </a:solidFill>
                <a:latin typeface="Calibri"/>
              </a:rPr>
              <a:t>desembolsos</a:t>
            </a:r>
            <a:endParaRPr sz="850" b="0" dirty="0">
              <a:solidFill>
                <a:srgbClr val="6E7E7D"/>
              </a:solidFill>
              <a:latin typeface="Calibri"/>
            </a:endParaRPr>
          </a:p>
        </p:txBody>
      </p:sp>
      <p:sp>
        <p:nvSpPr>
          <p:cNvPr id="14" name="Rectangle 13"/>
          <p:cNvSpPr/>
          <p:nvPr/>
        </p:nvSpPr>
        <p:spPr>
          <a:xfrm>
            <a:off x="3331626" y="1250000"/>
            <a:ext cx="2687850" cy="4300000"/>
          </a:xfrm>
          <a:prstGeom prst="rect">
            <a:avLst/>
          </a:prstGeom>
          <a:solidFill>
            <a:srgbClr val="F7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3331626" y="1250000"/>
            <a:ext cx="2687850" cy="600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451626" y="1400000"/>
            <a:ext cx="2447850" cy="520000"/>
          </a:xfrm>
          <a:prstGeom prst="rect">
            <a:avLst/>
          </a:prstGeom>
          <a:noFill/>
        </p:spPr>
        <p:txBody>
          <a:bodyPr wrap="square" lIns="0" tIns="0" rIns="0" bIns="0" anchor="t">
            <a:spAutoFit/>
          </a:bodyPr>
          <a:lstStyle/>
          <a:p>
            <a:pPr algn="l"/>
            <a:r>
              <a:rPr sz="1300" b="1" dirty="0">
                <a:solidFill>
                  <a:srgbClr val="C2410C"/>
                </a:solidFill>
                <a:latin typeface="Calibri"/>
              </a:rPr>
              <a:t>Grandes </a:t>
            </a:r>
            <a:r>
              <a:rPr sz="1300" b="1" dirty="0" err="1">
                <a:solidFill>
                  <a:srgbClr val="C2410C"/>
                </a:solidFill>
                <a:latin typeface="Calibri"/>
              </a:rPr>
              <a:t>por</a:t>
            </a:r>
            <a:r>
              <a:rPr sz="1300" b="1" dirty="0">
                <a:solidFill>
                  <a:srgbClr val="C2410C"/>
                </a:solidFill>
                <a:latin typeface="Calibri"/>
              </a:rPr>
              <a:t> </a:t>
            </a:r>
            <a:r>
              <a:rPr sz="1300" b="1" dirty="0" err="1">
                <a:solidFill>
                  <a:srgbClr val="C2410C"/>
                </a:solidFill>
                <a:latin typeface="Calibri"/>
              </a:rPr>
              <a:t>fidelizar</a:t>
            </a:r>
            <a:endParaRPr sz="1300" b="1" dirty="0">
              <a:solidFill>
                <a:srgbClr val="C2410C"/>
              </a:solidFill>
              <a:latin typeface="Calibri"/>
            </a:endParaRPr>
          </a:p>
        </p:txBody>
      </p:sp>
      <p:sp>
        <p:nvSpPr>
          <p:cNvPr id="17" name="TextBox 16"/>
          <p:cNvSpPr txBox="1"/>
          <p:nvPr/>
        </p:nvSpPr>
        <p:spPr>
          <a:xfrm>
            <a:off x="3451626" y="1950000"/>
            <a:ext cx="2447850" cy="700000"/>
          </a:xfrm>
          <a:prstGeom prst="rect">
            <a:avLst/>
          </a:prstGeom>
          <a:noFill/>
        </p:spPr>
        <p:txBody>
          <a:bodyPr wrap="square" lIns="0" tIns="0" rIns="0" bIns="0" anchor="t">
            <a:spAutoFit/>
          </a:bodyPr>
          <a:lstStyle/>
          <a:p>
            <a:pPr algn="l"/>
            <a:r>
              <a:rPr sz="900" b="0">
                <a:solidFill>
                  <a:srgbClr val="2F3B3A"/>
                </a:solidFill>
                <a:latin typeface="Calibri"/>
              </a:rPr>
              <a:t>Con deuda, SOW menor a 50% y ventas cercanas a S/ 2,8MM: el mayor valor por capturar</a:t>
            </a:r>
          </a:p>
        </p:txBody>
      </p:sp>
      <p:sp>
        <p:nvSpPr>
          <p:cNvPr id="18" name="TextBox 17"/>
          <p:cNvSpPr txBox="1"/>
          <p:nvPr/>
        </p:nvSpPr>
        <p:spPr>
          <a:xfrm>
            <a:off x="3451626" y="2700000"/>
            <a:ext cx="2447850" cy="220000"/>
          </a:xfrm>
          <a:prstGeom prst="rect">
            <a:avLst/>
          </a:prstGeom>
          <a:noFill/>
        </p:spPr>
        <p:txBody>
          <a:bodyPr wrap="square" lIns="0" tIns="0" rIns="0" bIns="0" anchor="t">
            <a:spAutoFit/>
          </a:bodyPr>
          <a:lstStyle/>
          <a:p>
            <a:pPr algn="l"/>
            <a:r>
              <a:rPr sz="800" b="1">
                <a:solidFill>
                  <a:srgbClr val="6E7E7D"/>
                </a:solidFill>
                <a:latin typeface="Calibri"/>
              </a:rPr>
              <a:t>Segmentos</a:t>
            </a:r>
          </a:p>
        </p:txBody>
      </p:sp>
      <p:sp>
        <p:nvSpPr>
          <p:cNvPr id="19" name="Rectangle 18"/>
          <p:cNvSpPr/>
          <p:nvPr/>
        </p:nvSpPr>
        <p:spPr>
          <a:xfrm>
            <a:off x="3451626" y="2950000"/>
            <a:ext cx="2447850" cy="3300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wrap="square" lIns="70000" tIns="35000" rIns="70000" bIns="35000" rtlCol="0" anchor="ctr"/>
          <a:lstStyle/>
          <a:p>
            <a:pPr algn="l"/>
            <a:r>
              <a:rPr sz="950" b="1">
                <a:solidFill>
                  <a:srgbClr val="FFFFFF"/>
                </a:solidFill>
                <a:latin typeface="Calibri"/>
              </a:rPr>
              <a:t>Cuenta Estratégica</a:t>
            </a:r>
          </a:p>
        </p:txBody>
      </p:sp>
      <p:sp>
        <p:nvSpPr>
          <p:cNvPr id="20" name="Rectangle 19"/>
          <p:cNvSpPr/>
          <p:nvPr/>
        </p:nvSpPr>
        <p:spPr>
          <a:xfrm>
            <a:off x="3451626" y="3350000"/>
            <a:ext cx="2447850" cy="330000"/>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wrap="square" lIns="70000" tIns="35000" rIns="70000" bIns="35000" rtlCol="0" anchor="ctr"/>
          <a:lstStyle/>
          <a:p>
            <a:pPr algn="l"/>
            <a:r>
              <a:rPr sz="950" b="1">
                <a:solidFill>
                  <a:srgbClr val="FFFFFF"/>
                </a:solidFill>
                <a:latin typeface="Calibri"/>
              </a:rPr>
              <a:t>Gran Cuenta por Conquistar</a:t>
            </a:r>
          </a:p>
        </p:txBody>
      </p:sp>
      <p:sp>
        <p:nvSpPr>
          <p:cNvPr id="21" name="TextBox 20"/>
          <p:cNvSpPr txBox="1"/>
          <p:nvPr/>
        </p:nvSpPr>
        <p:spPr>
          <a:xfrm>
            <a:off x="3451626" y="4500000"/>
            <a:ext cx="2447850" cy="641201"/>
          </a:xfrm>
          <a:prstGeom prst="rect">
            <a:avLst/>
          </a:prstGeom>
          <a:noFill/>
        </p:spPr>
        <p:txBody>
          <a:bodyPr wrap="square" lIns="0" tIns="0" rIns="0" bIns="0" anchor="t">
            <a:spAutoFit/>
          </a:bodyPr>
          <a:lstStyle/>
          <a:p>
            <a:pPr algn="l"/>
            <a:r>
              <a:rPr sz="800" b="1" dirty="0">
                <a:solidFill>
                  <a:srgbClr val="6E7E7D"/>
                </a:solidFill>
                <a:latin typeface="Calibri"/>
              </a:rPr>
              <a:t>Peso </a:t>
            </a:r>
            <a:r>
              <a:rPr sz="800" b="1" dirty="0" err="1">
                <a:solidFill>
                  <a:srgbClr val="6E7E7D"/>
                </a:solidFill>
                <a:latin typeface="Calibri"/>
              </a:rPr>
              <a:t>en</a:t>
            </a:r>
            <a:r>
              <a:rPr sz="800" b="1" dirty="0">
                <a:solidFill>
                  <a:srgbClr val="6E7E7D"/>
                </a:solidFill>
                <a:latin typeface="Calibri"/>
              </a:rPr>
              <a:t> el </a:t>
            </a:r>
            <a:r>
              <a:rPr sz="800" b="1" dirty="0" err="1">
                <a:solidFill>
                  <a:srgbClr val="6E7E7D"/>
                </a:solidFill>
                <a:latin typeface="Calibri"/>
              </a:rPr>
              <a:t>modelo</a:t>
            </a:r>
            <a:endParaRPr sz="800" b="1" dirty="0">
              <a:solidFill>
                <a:srgbClr val="6E7E7D"/>
              </a:solidFill>
              <a:latin typeface="Calibri"/>
            </a:endParaRPr>
          </a:p>
          <a:p>
            <a:pPr>
              <a:spcBef>
                <a:spcPts val="100"/>
              </a:spcBef>
            </a:pPr>
            <a:r>
              <a:rPr sz="1600" b="1" dirty="0">
                <a:solidFill>
                  <a:srgbClr val="C2410C"/>
                </a:solidFill>
                <a:latin typeface="Calibri"/>
              </a:rPr>
              <a:t>36%</a:t>
            </a:r>
            <a:r>
              <a:rPr sz="850" b="0" dirty="0">
                <a:solidFill>
                  <a:srgbClr val="6E7E7D"/>
                </a:solidFill>
                <a:latin typeface="Calibri"/>
              </a:rPr>
              <a:t>  del </a:t>
            </a:r>
            <a:r>
              <a:rPr sz="850" b="0" dirty="0" err="1">
                <a:solidFill>
                  <a:srgbClr val="6E7E7D"/>
                </a:solidFill>
                <a:latin typeface="Calibri"/>
              </a:rPr>
              <a:t>monto</a:t>
            </a:r>
            <a:r>
              <a:rPr lang="es-EC" sz="850" dirty="0">
                <a:solidFill>
                  <a:srgbClr val="6E7E7D"/>
                </a:solidFill>
              </a:rPr>
              <a:t> desembolsado</a:t>
            </a:r>
            <a:endParaRPr sz="850" b="0" dirty="0">
              <a:solidFill>
                <a:srgbClr val="6E7E7D"/>
              </a:solidFill>
              <a:latin typeface="Calibri"/>
            </a:endParaRPr>
          </a:p>
          <a:p>
            <a:pPr algn="l">
              <a:spcBef>
                <a:spcPts val="100"/>
              </a:spcBef>
            </a:pPr>
            <a:r>
              <a:rPr sz="1600" b="1" dirty="0">
                <a:solidFill>
                  <a:srgbClr val="C2410C"/>
                </a:solidFill>
                <a:latin typeface="Calibri"/>
              </a:rPr>
              <a:t>29%</a:t>
            </a:r>
            <a:r>
              <a:rPr sz="850" b="0" dirty="0">
                <a:solidFill>
                  <a:srgbClr val="6E7E7D"/>
                </a:solidFill>
                <a:latin typeface="Calibri"/>
              </a:rPr>
              <a:t>  de </a:t>
            </a:r>
            <a:r>
              <a:rPr sz="850" b="0" dirty="0" err="1">
                <a:solidFill>
                  <a:srgbClr val="6E7E7D"/>
                </a:solidFill>
                <a:latin typeface="Calibri"/>
              </a:rPr>
              <a:t>los</a:t>
            </a:r>
            <a:r>
              <a:rPr sz="850" b="0" dirty="0">
                <a:solidFill>
                  <a:srgbClr val="6E7E7D"/>
                </a:solidFill>
                <a:latin typeface="Calibri"/>
              </a:rPr>
              <a:t> </a:t>
            </a:r>
            <a:r>
              <a:rPr sz="850" b="0" dirty="0" err="1">
                <a:solidFill>
                  <a:srgbClr val="6E7E7D"/>
                </a:solidFill>
                <a:latin typeface="Calibri"/>
              </a:rPr>
              <a:t>desembolsos</a:t>
            </a:r>
            <a:endParaRPr sz="850" b="0" dirty="0">
              <a:solidFill>
                <a:srgbClr val="6E7E7D"/>
              </a:solidFill>
              <a:latin typeface="Calibri"/>
            </a:endParaRPr>
          </a:p>
        </p:txBody>
      </p:sp>
      <p:sp>
        <p:nvSpPr>
          <p:cNvPr id="22" name="Rectangle 21"/>
          <p:cNvSpPr/>
          <p:nvPr/>
        </p:nvSpPr>
        <p:spPr>
          <a:xfrm>
            <a:off x="6169476" y="1250000"/>
            <a:ext cx="2687850" cy="4300000"/>
          </a:xfrm>
          <a:prstGeom prst="rect">
            <a:avLst/>
          </a:prstGeom>
          <a:solidFill>
            <a:srgbClr val="F7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6169476" y="1250000"/>
            <a:ext cx="2687850" cy="60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289476" y="1400000"/>
            <a:ext cx="2447850" cy="520000"/>
          </a:xfrm>
          <a:prstGeom prst="rect">
            <a:avLst/>
          </a:prstGeom>
          <a:noFill/>
        </p:spPr>
        <p:txBody>
          <a:bodyPr wrap="square" lIns="0" tIns="0" rIns="0" bIns="0" anchor="t">
            <a:spAutoFit/>
          </a:bodyPr>
          <a:lstStyle/>
          <a:p>
            <a:pPr algn="l"/>
            <a:r>
              <a:rPr sz="1300" b="1" dirty="0" err="1">
                <a:solidFill>
                  <a:srgbClr val="1F3A5F"/>
                </a:solidFill>
                <a:latin typeface="Calibri"/>
              </a:rPr>
              <a:t>Medianos</a:t>
            </a:r>
            <a:r>
              <a:rPr sz="1300" b="1" dirty="0">
                <a:solidFill>
                  <a:srgbClr val="1F3A5F"/>
                </a:solidFill>
                <a:latin typeface="Calibri"/>
              </a:rPr>
              <a:t> </a:t>
            </a:r>
            <a:r>
              <a:rPr sz="1300" b="1" dirty="0" err="1">
                <a:solidFill>
                  <a:srgbClr val="1F3A5F"/>
                </a:solidFill>
                <a:latin typeface="Calibri"/>
              </a:rPr>
              <a:t>por</a:t>
            </a:r>
            <a:r>
              <a:rPr sz="1300" b="1" dirty="0">
                <a:solidFill>
                  <a:srgbClr val="1F3A5F"/>
                </a:solidFill>
                <a:latin typeface="Calibri"/>
              </a:rPr>
              <a:t> </a:t>
            </a:r>
            <a:r>
              <a:rPr sz="1300" b="1" dirty="0" err="1">
                <a:solidFill>
                  <a:srgbClr val="1F3A5F"/>
                </a:solidFill>
                <a:latin typeface="Calibri"/>
              </a:rPr>
              <a:t>fidelizar</a:t>
            </a:r>
            <a:endParaRPr sz="1300" b="1" dirty="0">
              <a:solidFill>
                <a:srgbClr val="1F3A5F"/>
              </a:solidFill>
              <a:latin typeface="Calibri"/>
            </a:endParaRPr>
          </a:p>
        </p:txBody>
      </p:sp>
      <p:sp>
        <p:nvSpPr>
          <p:cNvPr id="25" name="TextBox 24"/>
          <p:cNvSpPr txBox="1"/>
          <p:nvPr/>
        </p:nvSpPr>
        <p:spPr>
          <a:xfrm>
            <a:off x="6289476" y="1950000"/>
            <a:ext cx="2447850" cy="700000"/>
          </a:xfrm>
          <a:prstGeom prst="rect">
            <a:avLst/>
          </a:prstGeom>
          <a:noFill/>
        </p:spPr>
        <p:txBody>
          <a:bodyPr wrap="square" lIns="0" tIns="0" rIns="0" bIns="0" anchor="t">
            <a:spAutoFit/>
          </a:bodyPr>
          <a:lstStyle/>
          <a:p>
            <a:pPr algn="l"/>
            <a:r>
              <a:rPr sz="900" b="0">
                <a:solidFill>
                  <a:srgbClr val="2F3B3A"/>
                </a:solidFill>
                <a:latin typeface="Calibri"/>
              </a:rPr>
              <a:t>Con deuda, SOW menor a 50% y ventas entre S/ 0,5 y 0,7MM</a:t>
            </a:r>
          </a:p>
        </p:txBody>
      </p:sp>
      <p:sp>
        <p:nvSpPr>
          <p:cNvPr id="26" name="TextBox 25"/>
          <p:cNvSpPr txBox="1"/>
          <p:nvPr/>
        </p:nvSpPr>
        <p:spPr>
          <a:xfrm>
            <a:off x="6289476" y="2700000"/>
            <a:ext cx="2447850" cy="220000"/>
          </a:xfrm>
          <a:prstGeom prst="rect">
            <a:avLst/>
          </a:prstGeom>
          <a:noFill/>
        </p:spPr>
        <p:txBody>
          <a:bodyPr wrap="square" lIns="0" tIns="0" rIns="0" bIns="0" anchor="t">
            <a:spAutoFit/>
          </a:bodyPr>
          <a:lstStyle/>
          <a:p>
            <a:pPr algn="l"/>
            <a:r>
              <a:rPr sz="800" b="1">
                <a:solidFill>
                  <a:srgbClr val="6E7E7D"/>
                </a:solidFill>
                <a:latin typeface="Calibri"/>
              </a:rPr>
              <a:t>Segmentos</a:t>
            </a:r>
          </a:p>
        </p:txBody>
      </p:sp>
      <p:sp>
        <p:nvSpPr>
          <p:cNvPr id="27" name="Rectangle 26"/>
          <p:cNvSpPr/>
          <p:nvPr/>
        </p:nvSpPr>
        <p:spPr>
          <a:xfrm>
            <a:off x="6289476" y="2950000"/>
            <a:ext cx="2447850" cy="330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70000" tIns="35000" rIns="70000" bIns="35000" rtlCol="0" anchor="ctr"/>
          <a:lstStyle/>
          <a:p>
            <a:pPr algn="l"/>
            <a:r>
              <a:rPr sz="950" b="1">
                <a:solidFill>
                  <a:srgbClr val="FFFFFF"/>
                </a:solidFill>
                <a:latin typeface="Calibri"/>
              </a:rPr>
              <a:t>Maduro Multibanco</a:t>
            </a:r>
          </a:p>
        </p:txBody>
      </p:sp>
      <p:sp>
        <p:nvSpPr>
          <p:cNvPr id="28" name="Rectangle 27"/>
          <p:cNvSpPr/>
          <p:nvPr/>
        </p:nvSpPr>
        <p:spPr>
          <a:xfrm>
            <a:off x="6289476" y="3350000"/>
            <a:ext cx="2447850" cy="330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70000" tIns="35000" rIns="70000" bIns="35000" rtlCol="0" anchor="ctr"/>
          <a:lstStyle/>
          <a:p>
            <a:pPr algn="l"/>
            <a:r>
              <a:rPr sz="950" b="1">
                <a:solidFill>
                  <a:srgbClr val="FFFFFF"/>
                </a:solidFill>
                <a:latin typeface="Calibri"/>
              </a:rPr>
              <a:t>Cliente por Reactivar</a:t>
            </a:r>
          </a:p>
        </p:txBody>
      </p:sp>
      <p:sp>
        <p:nvSpPr>
          <p:cNvPr id="29" name="TextBox 28"/>
          <p:cNvSpPr txBox="1"/>
          <p:nvPr/>
        </p:nvSpPr>
        <p:spPr>
          <a:xfrm>
            <a:off x="6289476" y="4500000"/>
            <a:ext cx="2447850" cy="641201"/>
          </a:xfrm>
          <a:prstGeom prst="rect">
            <a:avLst/>
          </a:prstGeom>
          <a:noFill/>
        </p:spPr>
        <p:txBody>
          <a:bodyPr wrap="square" lIns="0" tIns="0" rIns="0" bIns="0" anchor="t">
            <a:spAutoFit/>
          </a:bodyPr>
          <a:lstStyle/>
          <a:p>
            <a:pPr algn="l"/>
            <a:r>
              <a:rPr sz="800" b="1" dirty="0">
                <a:solidFill>
                  <a:srgbClr val="6E7E7D"/>
                </a:solidFill>
                <a:latin typeface="Calibri"/>
              </a:rPr>
              <a:t>Peso </a:t>
            </a:r>
            <a:r>
              <a:rPr sz="800" b="1" dirty="0" err="1">
                <a:solidFill>
                  <a:srgbClr val="6E7E7D"/>
                </a:solidFill>
                <a:latin typeface="Calibri"/>
              </a:rPr>
              <a:t>en</a:t>
            </a:r>
            <a:r>
              <a:rPr sz="800" b="1" dirty="0">
                <a:solidFill>
                  <a:srgbClr val="6E7E7D"/>
                </a:solidFill>
                <a:latin typeface="Calibri"/>
              </a:rPr>
              <a:t> el </a:t>
            </a:r>
            <a:r>
              <a:rPr sz="800" b="1" dirty="0" err="1">
                <a:solidFill>
                  <a:srgbClr val="6E7E7D"/>
                </a:solidFill>
                <a:latin typeface="Calibri"/>
              </a:rPr>
              <a:t>modelo</a:t>
            </a:r>
            <a:endParaRPr sz="800" b="1" dirty="0">
              <a:solidFill>
                <a:srgbClr val="6E7E7D"/>
              </a:solidFill>
              <a:latin typeface="Calibri"/>
            </a:endParaRPr>
          </a:p>
          <a:p>
            <a:pPr>
              <a:spcBef>
                <a:spcPts val="100"/>
              </a:spcBef>
            </a:pPr>
            <a:r>
              <a:rPr sz="1600" b="1" dirty="0">
                <a:solidFill>
                  <a:srgbClr val="1F3A5F"/>
                </a:solidFill>
                <a:latin typeface="Calibri"/>
              </a:rPr>
              <a:t>33%</a:t>
            </a:r>
            <a:r>
              <a:rPr sz="850" b="0" dirty="0">
                <a:solidFill>
                  <a:srgbClr val="6E7E7D"/>
                </a:solidFill>
                <a:latin typeface="Calibri"/>
              </a:rPr>
              <a:t>  del </a:t>
            </a:r>
            <a:r>
              <a:rPr sz="850" b="0" dirty="0" err="1">
                <a:solidFill>
                  <a:srgbClr val="6E7E7D"/>
                </a:solidFill>
                <a:latin typeface="Calibri"/>
              </a:rPr>
              <a:t>monto</a:t>
            </a:r>
            <a:r>
              <a:rPr lang="es-EC" sz="850" dirty="0">
                <a:solidFill>
                  <a:srgbClr val="6E7E7D"/>
                </a:solidFill>
              </a:rPr>
              <a:t> desembolsado</a:t>
            </a:r>
            <a:endParaRPr sz="850" b="0" dirty="0">
              <a:solidFill>
                <a:srgbClr val="6E7E7D"/>
              </a:solidFill>
              <a:latin typeface="Calibri"/>
            </a:endParaRPr>
          </a:p>
          <a:p>
            <a:pPr algn="l">
              <a:spcBef>
                <a:spcPts val="100"/>
              </a:spcBef>
            </a:pPr>
            <a:r>
              <a:rPr sz="1600" b="1" dirty="0">
                <a:solidFill>
                  <a:srgbClr val="1F3A5F"/>
                </a:solidFill>
                <a:latin typeface="Calibri"/>
              </a:rPr>
              <a:t>31%</a:t>
            </a:r>
            <a:r>
              <a:rPr sz="850" b="0" dirty="0">
                <a:solidFill>
                  <a:srgbClr val="6E7E7D"/>
                </a:solidFill>
                <a:latin typeface="Calibri"/>
              </a:rPr>
              <a:t>  de </a:t>
            </a:r>
            <a:r>
              <a:rPr sz="850" b="0" dirty="0" err="1">
                <a:solidFill>
                  <a:srgbClr val="6E7E7D"/>
                </a:solidFill>
                <a:latin typeface="Calibri"/>
              </a:rPr>
              <a:t>los</a:t>
            </a:r>
            <a:r>
              <a:rPr sz="850" b="0" dirty="0">
                <a:solidFill>
                  <a:srgbClr val="6E7E7D"/>
                </a:solidFill>
                <a:latin typeface="Calibri"/>
              </a:rPr>
              <a:t> </a:t>
            </a:r>
            <a:r>
              <a:rPr sz="850" b="0" dirty="0" err="1">
                <a:solidFill>
                  <a:srgbClr val="6E7E7D"/>
                </a:solidFill>
                <a:latin typeface="Calibri"/>
              </a:rPr>
              <a:t>desembolsos</a:t>
            </a:r>
            <a:endParaRPr sz="850" b="0" dirty="0">
              <a:solidFill>
                <a:srgbClr val="6E7E7D"/>
              </a:solidFill>
              <a:latin typeface="Calibri"/>
            </a:endParaRPr>
          </a:p>
        </p:txBody>
      </p:sp>
      <p:sp>
        <p:nvSpPr>
          <p:cNvPr id="30" name="Rectangle 29"/>
          <p:cNvSpPr/>
          <p:nvPr/>
        </p:nvSpPr>
        <p:spPr>
          <a:xfrm>
            <a:off x="9007326" y="1250000"/>
            <a:ext cx="2687850" cy="4300000"/>
          </a:xfrm>
          <a:prstGeom prst="rect">
            <a:avLst/>
          </a:prstGeom>
          <a:solidFill>
            <a:srgbClr val="F7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9007326" y="1250000"/>
            <a:ext cx="2687850" cy="60000"/>
          </a:xfrm>
          <a:prstGeom prst="rect">
            <a:avLst/>
          </a:prstGeom>
          <a:solidFill>
            <a:srgbClr val="4A65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9127326" y="1400000"/>
            <a:ext cx="2447850" cy="520000"/>
          </a:xfrm>
          <a:prstGeom prst="rect">
            <a:avLst/>
          </a:prstGeom>
          <a:noFill/>
        </p:spPr>
        <p:txBody>
          <a:bodyPr wrap="square" lIns="0" tIns="0" rIns="0" bIns="0" anchor="t">
            <a:spAutoFit/>
          </a:bodyPr>
          <a:lstStyle/>
          <a:p>
            <a:pPr algn="l"/>
            <a:r>
              <a:rPr sz="1300" b="1" dirty="0">
                <a:solidFill>
                  <a:srgbClr val="4A6572"/>
                </a:solidFill>
                <a:latin typeface="Calibri"/>
              </a:rPr>
              <a:t>Sin </a:t>
            </a:r>
            <a:r>
              <a:rPr sz="1300" b="1" dirty="0" err="1">
                <a:solidFill>
                  <a:srgbClr val="4A6572"/>
                </a:solidFill>
                <a:latin typeface="Calibri"/>
              </a:rPr>
              <a:t>historial</a:t>
            </a:r>
            <a:r>
              <a:rPr sz="1300" b="1" dirty="0">
                <a:solidFill>
                  <a:srgbClr val="4A6572"/>
                </a:solidFill>
                <a:latin typeface="Calibri"/>
              </a:rPr>
              <a:t> </a:t>
            </a:r>
            <a:r>
              <a:rPr sz="1300" b="1" dirty="0" err="1">
                <a:solidFill>
                  <a:srgbClr val="4A6572"/>
                </a:solidFill>
                <a:latin typeface="Calibri"/>
              </a:rPr>
              <a:t>crediticio</a:t>
            </a:r>
            <a:endParaRPr sz="1300" b="1" dirty="0">
              <a:solidFill>
                <a:srgbClr val="4A6572"/>
              </a:solidFill>
              <a:latin typeface="Calibri"/>
            </a:endParaRPr>
          </a:p>
        </p:txBody>
      </p:sp>
      <p:sp>
        <p:nvSpPr>
          <p:cNvPr id="33" name="TextBox 32"/>
          <p:cNvSpPr txBox="1"/>
          <p:nvPr/>
        </p:nvSpPr>
        <p:spPr>
          <a:xfrm>
            <a:off x="9127326" y="1950000"/>
            <a:ext cx="2447850" cy="700000"/>
          </a:xfrm>
          <a:prstGeom prst="rect">
            <a:avLst/>
          </a:prstGeom>
          <a:noFill/>
        </p:spPr>
        <p:txBody>
          <a:bodyPr wrap="square" lIns="0" tIns="0" rIns="0" bIns="0" anchor="t">
            <a:spAutoFit/>
          </a:bodyPr>
          <a:lstStyle/>
          <a:p>
            <a:pPr algn="l"/>
            <a:r>
              <a:rPr sz="900" b="0">
                <a:solidFill>
                  <a:srgbClr val="2F3B3A"/>
                </a:solidFill>
                <a:latin typeface="Calibri"/>
              </a:rPr>
              <a:t>Sin historial en el SSFF en los últimos 12 meses</a:t>
            </a:r>
          </a:p>
        </p:txBody>
      </p:sp>
      <p:sp>
        <p:nvSpPr>
          <p:cNvPr id="34" name="TextBox 33"/>
          <p:cNvSpPr txBox="1"/>
          <p:nvPr/>
        </p:nvSpPr>
        <p:spPr>
          <a:xfrm>
            <a:off x="9127326" y="2700000"/>
            <a:ext cx="2447850" cy="220000"/>
          </a:xfrm>
          <a:prstGeom prst="rect">
            <a:avLst/>
          </a:prstGeom>
          <a:noFill/>
        </p:spPr>
        <p:txBody>
          <a:bodyPr wrap="square" lIns="0" tIns="0" rIns="0" bIns="0" anchor="t">
            <a:spAutoFit/>
          </a:bodyPr>
          <a:lstStyle/>
          <a:p>
            <a:pPr algn="l"/>
            <a:r>
              <a:rPr sz="800" b="1">
                <a:solidFill>
                  <a:srgbClr val="6E7E7D"/>
                </a:solidFill>
                <a:latin typeface="Calibri"/>
              </a:rPr>
              <a:t>Segmentos</a:t>
            </a:r>
          </a:p>
        </p:txBody>
      </p:sp>
      <p:sp>
        <p:nvSpPr>
          <p:cNvPr id="35" name="Rectangle 34"/>
          <p:cNvSpPr/>
          <p:nvPr/>
        </p:nvSpPr>
        <p:spPr>
          <a:xfrm>
            <a:off x="9127326" y="2950000"/>
            <a:ext cx="2447850" cy="330000"/>
          </a:xfrm>
          <a:prstGeom prst="rect">
            <a:avLst/>
          </a:prstGeom>
          <a:solidFill>
            <a:srgbClr val="4A6572"/>
          </a:solidFill>
          <a:ln>
            <a:noFill/>
          </a:ln>
          <a:effectLst/>
        </p:spPr>
        <p:style>
          <a:lnRef idx="1">
            <a:schemeClr val="accent1"/>
          </a:lnRef>
          <a:fillRef idx="3">
            <a:schemeClr val="accent1"/>
          </a:fillRef>
          <a:effectRef idx="2">
            <a:schemeClr val="accent1"/>
          </a:effectRef>
          <a:fontRef idx="minor">
            <a:schemeClr val="lt1"/>
          </a:fontRef>
        </p:style>
        <p:txBody>
          <a:bodyPr wrap="square" lIns="70000" tIns="35000" rIns="70000" bIns="35000" rtlCol="0" anchor="ctr"/>
          <a:lstStyle/>
          <a:p>
            <a:pPr algn="l"/>
            <a:r>
              <a:rPr sz="950" b="1">
                <a:solidFill>
                  <a:srgbClr val="FFFFFF"/>
                </a:solidFill>
                <a:latin typeface="Calibri"/>
              </a:rPr>
              <a:t>Próximo Recurrente</a:t>
            </a:r>
          </a:p>
        </p:txBody>
      </p:sp>
      <p:sp>
        <p:nvSpPr>
          <p:cNvPr id="36" name="Rectangle 35"/>
          <p:cNvSpPr/>
          <p:nvPr/>
        </p:nvSpPr>
        <p:spPr>
          <a:xfrm>
            <a:off x="9127326" y="3350000"/>
            <a:ext cx="2447850" cy="330000"/>
          </a:xfrm>
          <a:prstGeom prst="rect">
            <a:avLst/>
          </a:prstGeom>
          <a:solidFill>
            <a:srgbClr val="4A6572"/>
          </a:solidFill>
          <a:ln>
            <a:noFill/>
          </a:ln>
          <a:effectLst/>
        </p:spPr>
        <p:style>
          <a:lnRef idx="1">
            <a:schemeClr val="accent1"/>
          </a:lnRef>
          <a:fillRef idx="3">
            <a:schemeClr val="accent1"/>
          </a:fillRef>
          <a:effectRef idx="2">
            <a:schemeClr val="accent1"/>
          </a:effectRef>
          <a:fontRef idx="minor">
            <a:schemeClr val="lt1"/>
          </a:fontRef>
        </p:style>
        <p:txBody>
          <a:bodyPr wrap="square" lIns="70000" tIns="35000" rIns="70000" bIns="35000" rtlCol="0" anchor="ctr"/>
          <a:lstStyle/>
          <a:p>
            <a:pPr algn="l"/>
            <a:r>
              <a:rPr sz="950" b="1">
                <a:solidFill>
                  <a:srgbClr val="FFFFFF"/>
                </a:solidFill>
                <a:latin typeface="Calibri"/>
              </a:rPr>
              <a:t>Nuevo en Expansión</a:t>
            </a:r>
          </a:p>
        </p:txBody>
      </p:sp>
      <p:sp>
        <p:nvSpPr>
          <p:cNvPr id="37" name="Rectangle 36"/>
          <p:cNvSpPr/>
          <p:nvPr/>
        </p:nvSpPr>
        <p:spPr>
          <a:xfrm>
            <a:off x="9127326" y="3750000"/>
            <a:ext cx="2447850" cy="330000"/>
          </a:xfrm>
          <a:prstGeom prst="rect">
            <a:avLst/>
          </a:prstGeom>
          <a:solidFill>
            <a:srgbClr val="4A6572"/>
          </a:solidFill>
          <a:ln>
            <a:noFill/>
          </a:ln>
          <a:effectLst/>
        </p:spPr>
        <p:style>
          <a:lnRef idx="1">
            <a:schemeClr val="accent1"/>
          </a:lnRef>
          <a:fillRef idx="3">
            <a:schemeClr val="accent1"/>
          </a:fillRef>
          <a:effectRef idx="2">
            <a:schemeClr val="accent1"/>
          </a:effectRef>
          <a:fontRef idx="minor">
            <a:schemeClr val="lt1"/>
          </a:fontRef>
        </p:style>
        <p:txBody>
          <a:bodyPr wrap="square" lIns="70000" tIns="35000" rIns="70000" bIns="35000" rtlCol="0" anchor="ctr"/>
          <a:lstStyle/>
          <a:p>
            <a:pPr algn="l"/>
            <a:r>
              <a:rPr sz="950" b="1">
                <a:solidFill>
                  <a:srgbClr val="FFFFFF"/>
                </a:solidFill>
                <a:latin typeface="Calibri"/>
              </a:rPr>
              <a:t>Emprendedor Izipay</a:t>
            </a:r>
          </a:p>
        </p:txBody>
      </p:sp>
      <p:sp>
        <p:nvSpPr>
          <p:cNvPr id="38" name="TextBox 37"/>
          <p:cNvSpPr txBox="1"/>
          <p:nvPr/>
        </p:nvSpPr>
        <p:spPr>
          <a:xfrm>
            <a:off x="9127326" y="4500000"/>
            <a:ext cx="2447850" cy="641201"/>
          </a:xfrm>
          <a:prstGeom prst="rect">
            <a:avLst/>
          </a:prstGeom>
          <a:noFill/>
        </p:spPr>
        <p:txBody>
          <a:bodyPr wrap="square" lIns="0" tIns="0" rIns="0" bIns="0" anchor="t">
            <a:spAutoFit/>
          </a:bodyPr>
          <a:lstStyle/>
          <a:p>
            <a:pPr algn="l"/>
            <a:r>
              <a:rPr sz="800" b="1" dirty="0">
                <a:solidFill>
                  <a:srgbClr val="6E7E7D"/>
                </a:solidFill>
                <a:latin typeface="Calibri"/>
              </a:rPr>
              <a:t>Peso </a:t>
            </a:r>
            <a:r>
              <a:rPr sz="800" b="1" dirty="0" err="1">
                <a:solidFill>
                  <a:srgbClr val="6E7E7D"/>
                </a:solidFill>
                <a:latin typeface="Calibri"/>
              </a:rPr>
              <a:t>en</a:t>
            </a:r>
            <a:r>
              <a:rPr sz="800" b="1" dirty="0">
                <a:solidFill>
                  <a:srgbClr val="6E7E7D"/>
                </a:solidFill>
                <a:latin typeface="Calibri"/>
              </a:rPr>
              <a:t> el </a:t>
            </a:r>
            <a:r>
              <a:rPr sz="800" b="1" dirty="0" err="1">
                <a:solidFill>
                  <a:srgbClr val="6E7E7D"/>
                </a:solidFill>
                <a:latin typeface="Calibri"/>
              </a:rPr>
              <a:t>modelo</a:t>
            </a:r>
            <a:endParaRPr sz="800" b="1" dirty="0">
              <a:solidFill>
                <a:srgbClr val="6E7E7D"/>
              </a:solidFill>
              <a:latin typeface="Calibri"/>
            </a:endParaRPr>
          </a:p>
          <a:p>
            <a:pPr>
              <a:spcBef>
                <a:spcPts val="100"/>
              </a:spcBef>
            </a:pPr>
            <a:r>
              <a:rPr sz="1600" b="1" dirty="0">
                <a:solidFill>
                  <a:srgbClr val="4A6572"/>
                </a:solidFill>
                <a:latin typeface="Calibri"/>
              </a:rPr>
              <a:t>6%</a:t>
            </a:r>
            <a:r>
              <a:rPr sz="850" b="0" dirty="0">
                <a:solidFill>
                  <a:srgbClr val="6E7E7D"/>
                </a:solidFill>
                <a:latin typeface="Calibri"/>
              </a:rPr>
              <a:t>  del </a:t>
            </a:r>
            <a:r>
              <a:rPr sz="850" b="0" dirty="0" err="1">
                <a:solidFill>
                  <a:srgbClr val="6E7E7D"/>
                </a:solidFill>
                <a:latin typeface="Calibri"/>
              </a:rPr>
              <a:t>monto</a:t>
            </a:r>
            <a:r>
              <a:rPr lang="es-EC" sz="850" dirty="0">
                <a:solidFill>
                  <a:srgbClr val="6E7E7D"/>
                </a:solidFill>
              </a:rPr>
              <a:t> desembolsado</a:t>
            </a:r>
            <a:endParaRPr sz="850" b="0" dirty="0">
              <a:solidFill>
                <a:srgbClr val="6E7E7D"/>
              </a:solidFill>
              <a:latin typeface="Calibri"/>
            </a:endParaRPr>
          </a:p>
          <a:p>
            <a:pPr algn="l">
              <a:spcBef>
                <a:spcPts val="100"/>
              </a:spcBef>
            </a:pPr>
            <a:r>
              <a:rPr sz="1600" b="1" dirty="0">
                <a:solidFill>
                  <a:srgbClr val="4A6572"/>
                </a:solidFill>
                <a:latin typeface="Calibri"/>
              </a:rPr>
              <a:t>11%</a:t>
            </a:r>
            <a:r>
              <a:rPr sz="850" b="0" dirty="0">
                <a:solidFill>
                  <a:srgbClr val="6E7E7D"/>
                </a:solidFill>
                <a:latin typeface="Calibri"/>
              </a:rPr>
              <a:t>  de </a:t>
            </a:r>
            <a:r>
              <a:rPr sz="850" b="0" dirty="0" err="1">
                <a:solidFill>
                  <a:srgbClr val="6E7E7D"/>
                </a:solidFill>
                <a:latin typeface="Calibri"/>
              </a:rPr>
              <a:t>los</a:t>
            </a:r>
            <a:r>
              <a:rPr sz="850" b="0" dirty="0">
                <a:solidFill>
                  <a:srgbClr val="6E7E7D"/>
                </a:solidFill>
                <a:latin typeface="Calibri"/>
              </a:rPr>
              <a:t> </a:t>
            </a:r>
            <a:r>
              <a:rPr sz="850" b="0" dirty="0" err="1">
                <a:solidFill>
                  <a:srgbClr val="6E7E7D"/>
                </a:solidFill>
                <a:latin typeface="Calibri"/>
              </a:rPr>
              <a:t>desembolsos</a:t>
            </a:r>
            <a:endParaRPr sz="850" b="0" dirty="0">
              <a:solidFill>
                <a:srgbClr val="6E7E7D"/>
              </a:solidFill>
              <a:latin typeface="Calibri"/>
            </a:endParaRPr>
          </a:p>
        </p:txBody>
      </p:sp>
      <p:sp>
        <p:nvSpPr>
          <p:cNvPr id="39" name="Rectangle 38"/>
          <p:cNvSpPr/>
          <p:nvPr/>
        </p:nvSpPr>
        <p:spPr>
          <a:xfrm>
            <a:off x="493776" y="5750000"/>
            <a:ext cx="11201400" cy="500000"/>
          </a:xfrm>
          <a:prstGeom prst="rect">
            <a:avLst/>
          </a:prstGeom>
          <a:solidFill>
            <a:srgbClr val="F1F6F5"/>
          </a:solidFill>
          <a:ln>
            <a:noFill/>
          </a:ln>
          <a:effectLst/>
        </p:spPr>
        <p:style>
          <a:lnRef idx="1">
            <a:schemeClr val="accent1"/>
          </a:lnRef>
          <a:fillRef idx="3">
            <a:schemeClr val="accent1"/>
          </a:fillRef>
          <a:effectRef idx="2">
            <a:schemeClr val="accent1"/>
          </a:effectRef>
          <a:fontRef idx="minor">
            <a:schemeClr val="lt1"/>
          </a:fontRef>
        </p:style>
        <p:txBody>
          <a:bodyPr wrap="square" lIns="150000" tIns="75000" rIns="150000" bIns="75000" rtlCol="0" anchor="ctr"/>
          <a:lstStyle/>
          <a:p>
            <a:pPr algn="l"/>
            <a:r>
              <a:rPr sz="1000" b="1">
                <a:solidFill>
                  <a:srgbClr val="2F3B3A"/>
                </a:solidFill>
                <a:latin typeface="Calibri"/>
              </a:rPr>
              <a:t>Consolidamos los segmentos en 4 macroperfiles para tener casos suficientes y capturar mejor la sensibilidad al precio. Cada apertura del diagnóstico se lee con la sensibilidad de su macroperfil.</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93777" y="246888"/>
            <a:ext cx="8963570" cy="109710"/>
          </a:xfrm>
          <a:prstGeom prst="rect">
            <a:avLst/>
          </a:prstGeom>
          <a:noFill/>
        </p:spPr>
        <p:txBody>
          <a:bodyPr wrap="square" lIns="0" tIns="0" rIns="0" bIns="0" anchor="t">
            <a:spAutoFit/>
          </a:bodyPr>
          <a:lstStyle/>
          <a:p>
            <a:pPr algn="l"/>
            <a:r>
              <a:rPr sz="800" b="1">
                <a:solidFill>
                  <a:srgbClr val="6E7E7D"/>
                </a:solidFill>
                <a:latin typeface="Calibri"/>
              </a:rPr>
              <a:t>MODELO DE SENSIBILIDAD · RESULTADOS</a:t>
            </a:r>
          </a:p>
        </p:txBody>
      </p:sp>
      <p:sp>
        <p:nvSpPr>
          <p:cNvPr id="3" name="TextBox 2"/>
          <p:cNvSpPr txBox="1"/>
          <p:nvPr/>
        </p:nvSpPr>
        <p:spPr>
          <a:xfrm>
            <a:off x="493776" y="425196"/>
            <a:ext cx="10312923" cy="482568"/>
          </a:xfrm>
          <a:prstGeom prst="rect">
            <a:avLst/>
          </a:prstGeom>
          <a:noFill/>
        </p:spPr>
        <p:txBody>
          <a:bodyPr wrap="square" lIns="0" tIns="0" rIns="0" bIns="0" anchor="t">
            <a:spAutoFit/>
          </a:bodyPr>
          <a:lstStyle/>
          <a:p>
            <a:pPr algn="l"/>
            <a:r>
              <a:rPr sz="1600" b="1">
                <a:solidFill>
                  <a:srgbClr val="13807B"/>
                </a:solidFill>
                <a:latin typeface="Poppins"/>
              </a:rPr>
              <a:t>Los clientes sin historial crediticio y los por fidelizar son sensibles a la tasa ofertada. En Fidelizados el modelo no detecta sensibilidad y se propone siembra de precios</a:t>
            </a:r>
          </a:p>
        </p:txBody>
      </p:sp>
      <p:cxnSp>
        <p:nvCxnSpPr>
          <p:cNvPr id="4" name="Connector 3"/>
          <p:cNvCxnSpPr/>
          <p:nvPr/>
        </p:nvCxnSpPr>
        <p:spPr>
          <a:xfrm>
            <a:off x="493776" y="1049274"/>
            <a:ext cx="11204463" cy="0"/>
          </a:xfrm>
          <a:prstGeom prst="line">
            <a:avLst/>
          </a:prstGeom>
          <a:ln w="12700">
            <a:solidFill>
              <a:srgbClr val="D5DFDE"/>
            </a:solidFill>
          </a:ln>
        </p:spPr>
        <p:style>
          <a:lnRef idx="2">
            <a:schemeClr val="accent1"/>
          </a:lnRef>
          <a:fillRef idx="0">
            <a:schemeClr val="accent1"/>
          </a:fillRef>
          <a:effectRef idx="1">
            <a:schemeClr val="accent1"/>
          </a:effectRef>
          <a:fontRef idx="minor">
            <a:schemeClr val="tx1"/>
          </a:fontRef>
        </p:style>
      </p:cxnSp>
      <p:pic>
        <p:nvPicPr>
          <p:cNvPr id="5" name="Picture 4" descr="logo.png"/>
          <p:cNvPicPr>
            <a:picLocks noChangeAspect="1"/>
          </p:cNvPicPr>
          <p:nvPr/>
        </p:nvPicPr>
        <p:blipFill>
          <a:blip r:embed="rId2"/>
          <a:stretch>
            <a:fillRect/>
          </a:stretch>
        </p:blipFill>
        <p:spPr>
          <a:xfrm>
            <a:off x="11081186" y="82166"/>
            <a:ext cx="916962" cy="343030"/>
          </a:xfrm>
          <a:prstGeom prst="rect">
            <a:avLst/>
          </a:prstGeom>
        </p:spPr>
      </p:pic>
      <p:sp>
        <p:nvSpPr>
          <p:cNvPr id="6" name="Rectangle 5"/>
          <p:cNvSpPr/>
          <p:nvPr/>
        </p:nvSpPr>
        <p:spPr>
          <a:xfrm>
            <a:off x="493776" y="1180000"/>
            <a:ext cx="3633800" cy="760000"/>
          </a:xfrm>
          <a:prstGeom prst="rect">
            <a:avLst/>
          </a:prstGeom>
          <a:solidFill>
            <a:srgbClr val="F7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93776" y="1180000"/>
            <a:ext cx="45000" cy="760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23776" y="1230000"/>
            <a:ext cx="3433800" cy="220000"/>
          </a:xfrm>
          <a:prstGeom prst="rect">
            <a:avLst/>
          </a:prstGeom>
          <a:noFill/>
        </p:spPr>
        <p:txBody>
          <a:bodyPr wrap="square" lIns="0" tIns="0" rIns="0" bIns="0" anchor="t">
            <a:spAutoFit/>
          </a:bodyPr>
          <a:lstStyle/>
          <a:p>
            <a:pPr algn="l"/>
            <a:r>
              <a:rPr sz="950" b="1">
                <a:solidFill>
                  <a:srgbClr val="1F3A5F"/>
                </a:solidFill>
                <a:latin typeface="Calibri"/>
              </a:rPr>
              <a:t>Periodo</a:t>
            </a:r>
          </a:p>
        </p:txBody>
      </p:sp>
      <p:sp>
        <p:nvSpPr>
          <p:cNvPr id="9" name="TextBox 8"/>
          <p:cNvSpPr txBox="1"/>
          <p:nvPr/>
        </p:nvSpPr>
        <p:spPr>
          <a:xfrm>
            <a:off x="623776" y="1460000"/>
            <a:ext cx="3433800" cy="130805"/>
          </a:xfrm>
          <a:prstGeom prst="rect">
            <a:avLst/>
          </a:prstGeom>
          <a:noFill/>
        </p:spPr>
        <p:txBody>
          <a:bodyPr wrap="square" lIns="0" tIns="0" rIns="0" bIns="0" anchor="t">
            <a:spAutoFit/>
          </a:bodyPr>
          <a:lstStyle/>
          <a:p>
            <a:pPr algn="l"/>
            <a:r>
              <a:rPr sz="850" b="0" dirty="0" err="1">
                <a:solidFill>
                  <a:srgbClr val="2F3B3A"/>
                </a:solidFill>
                <a:latin typeface="Calibri"/>
              </a:rPr>
              <a:t>Abr</a:t>
            </a:r>
            <a:r>
              <a:rPr sz="850" b="0" dirty="0">
                <a:solidFill>
                  <a:srgbClr val="2F3B3A"/>
                </a:solidFill>
                <a:latin typeface="Calibri"/>
              </a:rPr>
              <a:t> 25 – </a:t>
            </a:r>
            <a:r>
              <a:rPr sz="850" b="0" dirty="0" err="1">
                <a:solidFill>
                  <a:srgbClr val="2F3B3A"/>
                </a:solidFill>
                <a:latin typeface="Calibri"/>
              </a:rPr>
              <a:t>abr</a:t>
            </a:r>
            <a:r>
              <a:rPr sz="850" b="0" dirty="0">
                <a:solidFill>
                  <a:srgbClr val="2F3B3A"/>
                </a:solidFill>
                <a:latin typeface="Calibri"/>
              </a:rPr>
              <a:t> 26 (13 meses), para </a:t>
            </a:r>
            <a:r>
              <a:rPr sz="850" b="0" dirty="0" err="1">
                <a:solidFill>
                  <a:srgbClr val="2F3B3A"/>
                </a:solidFill>
                <a:latin typeface="Calibri"/>
              </a:rPr>
              <a:t>capturar</a:t>
            </a:r>
            <a:r>
              <a:rPr sz="850" b="0" dirty="0">
                <a:solidFill>
                  <a:srgbClr val="2F3B3A"/>
                </a:solidFill>
                <a:latin typeface="Calibri"/>
              </a:rPr>
              <a:t> </a:t>
            </a:r>
            <a:r>
              <a:rPr lang="es-EC" sz="850" b="0" dirty="0">
                <a:solidFill>
                  <a:srgbClr val="2F3B3A"/>
                </a:solidFill>
                <a:latin typeface="Calibri"/>
              </a:rPr>
              <a:t>un ciclo económico anual</a:t>
            </a:r>
            <a:endParaRPr sz="850" b="0" dirty="0">
              <a:solidFill>
                <a:srgbClr val="2F3B3A"/>
              </a:solidFill>
              <a:latin typeface="Calibri"/>
            </a:endParaRPr>
          </a:p>
        </p:txBody>
      </p:sp>
      <p:sp>
        <p:nvSpPr>
          <p:cNvPr id="10" name="Rectangle 9"/>
          <p:cNvSpPr/>
          <p:nvPr/>
        </p:nvSpPr>
        <p:spPr>
          <a:xfrm>
            <a:off x="4277576" y="1180000"/>
            <a:ext cx="3633800" cy="760000"/>
          </a:xfrm>
          <a:prstGeom prst="rect">
            <a:avLst/>
          </a:prstGeom>
          <a:solidFill>
            <a:srgbClr val="F7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277576" y="1180000"/>
            <a:ext cx="45000" cy="760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407576" y="1230000"/>
            <a:ext cx="3433800" cy="220000"/>
          </a:xfrm>
          <a:prstGeom prst="rect">
            <a:avLst/>
          </a:prstGeom>
          <a:noFill/>
        </p:spPr>
        <p:txBody>
          <a:bodyPr wrap="square" lIns="0" tIns="0" rIns="0" bIns="0" anchor="t">
            <a:spAutoFit/>
          </a:bodyPr>
          <a:lstStyle/>
          <a:p>
            <a:pPr algn="l"/>
            <a:r>
              <a:rPr sz="950" b="1">
                <a:solidFill>
                  <a:srgbClr val="1F3A5F"/>
                </a:solidFill>
                <a:latin typeface="Calibri"/>
              </a:rPr>
              <a:t>Metodología</a:t>
            </a:r>
          </a:p>
        </p:txBody>
      </p:sp>
      <p:sp>
        <p:nvSpPr>
          <p:cNvPr id="13" name="TextBox 12"/>
          <p:cNvSpPr txBox="1"/>
          <p:nvPr/>
        </p:nvSpPr>
        <p:spPr>
          <a:xfrm>
            <a:off x="4407576" y="1460000"/>
            <a:ext cx="3433800" cy="460000"/>
          </a:xfrm>
          <a:prstGeom prst="rect">
            <a:avLst/>
          </a:prstGeom>
          <a:noFill/>
        </p:spPr>
        <p:txBody>
          <a:bodyPr wrap="square" lIns="0" tIns="0" rIns="0" bIns="0" anchor="t">
            <a:spAutoFit/>
          </a:bodyPr>
          <a:lstStyle/>
          <a:p>
            <a:pPr algn="l"/>
            <a:r>
              <a:rPr sz="850" b="0">
                <a:solidFill>
                  <a:srgbClr val="2F3B3A"/>
                </a:solidFill>
                <a:latin typeface="Calibri"/>
              </a:rPr>
              <a:t>Modelo de datos panel: efectividad frente a la tasa ofertada, con efectos fijos por bucket y por mes</a:t>
            </a:r>
          </a:p>
        </p:txBody>
      </p:sp>
      <p:sp>
        <p:nvSpPr>
          <p:cNvPr id="14" name="Rectangle 13"/>
          <p:cNvSpPr/>
          <p:nvPr/>
        </p:nvSpPr>
        <p:spPr>
          <a:xfrm>
            <a:off x="8061376" y="1180000"/>
            <a:ext cx="3633800" cy="760000"/>
          </a:xfrm>
          <a:prstGeom prst="rect">
            <a:avLst/>
          </a:prstGeom>
          <a:solidFill>
            <a:srgbClr val="F7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061376" y="1180000"/>
            <a:ext cx="45000" cy="760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191376" y="1230000"/>
            <a:ext cx="3433800" cy="220000"/>
          </a:xfrm>
          <a:prstGeom prst="rect">
            <a:avLst/>
          </a:prstGeom>
          <a:noFill/>
        </p:spPr>
        <p:txBody>
          <a:bodyPr wrap="square" lIns="0" tIns="0" rIns="0" bIns="0" anchor="t">
            <a:spAutoFit/>
          </a:bodyPr>
          <a:lstStyle/>
          <a:p>
            <a:pPr algn="l"/>
            <a:r>
              <a:rPr sz="950" b="1">
                <a:solidFill>
                  <a:srgbClr val="1F3A5F"/>
                </a:solidFill>
                <a:latin typeface="Calibri"/>
              </a:rPr>
              <a:t>Población</a:t>
            </a:r>
          </a:p>
        </p:txBody>
      </p:sp>
      <p:sp>
        <p:nvSpPr>
          <p:cNvPr id="17" name="TextBox 16"/>
          <p:cNvSpPr txBox="1"/>
          <p:nvPr/>
        </p:nvSpPr>
        <p:spPr>
          <a:xfrm>
            <a:off x="8191376" y="1460000"/>
            <a:ext cx="3433800" cy="460000"/>
          </a:xfrm>
          <a:prstGeom prst="rect">
            <a:avLst/>
          </a:prstGeom>
          <a:noFill/>
        </p:spPr>
        <p:txBody>
          <a:bodyPr wrap="square" lIns="0" tIns="0" rIns="0" bIns="0" anchor="t">
            <a:spAutoFit/>
          </a:bodyPr>
          <a:lstStyle/>
          <a:p>
            <a:pPr algn="l"/>
            <a:r>
              <a:rPr sz="850" b="0">
                <a:solidFill>
                  <a:srgbClr val="2F3B3A"/>
                </a:solidFill>
                <a:latin typeface="Calibri"/>
              </a:rPr>
              <a:t>Éxitos: desembolsos en Interbank. Fracasos: desembolsos en la competencia por monto similar y con gestión, la misma base del share relevante</a:t>
            </a:r>
          </a:p>
        </p:txBody>
      </p:sp>
      <p:sp>
        <p:nvSpPr>
          <p:cNvPr id="18" name="TextBox 17"/>
          <p:cNvSpPr txBox="1"/>
          <p:nvPr/>
        </p:nvSpPr>
        <p:spPr>
          <a:xfrm>
            <a:off x="493776" y="2060000"/>
            <a:ext cx="4000000" cy="220000"/>
          </a:xfrm>
          <a:prstGeom prst="rect">
            <a:avLst/>
          </a:prstGeom>
          <a:noFill/>
        </p:spPr>
        <p:txBody>
          <a:bodyPr wrap="square" lIns="0" tIns="0" rIns="0" bIns="0" anchor="t">
            <a:spAutoFit/>
          </a:bodyPr>
          <a:lstStyle/>
          <a:p>
            <a:pPr algn="l"/>
            <a:r>
              <a:rPr sz="1000" b="1">
                <a:solidFill>
                  <a:srgbClr val="2F3B3A"/>
                </a:solidFill>
                <a:latin typeface="Calibri"/>
              </a:rPr>
              <a:t>Modelo estimado</a:t>
            </a:r>
          </a:p>
        </p:txBody>
      </p:sp>
      <p:pic>
        <p:nvPicPr>
          <p:cNvPr id="19" name="Picture 18" descr="ecuacion_modelo.png"/>
          <p:cNvPicPr>
            <a:picLocks noChangeAspect="1"/>
          </p:cNvPicPr>
          <p:nvPr/>
        </p:nvPicPr>
        <p:blipFill>
          <a:blip r:embed="rId3"/>
          <a:stretch>
            <a:fillRect/>
          </a:stretch>
        </p:blipFill>
        <p:spPr>
          <a:xfrm>
            <a:off x="493776" y="2340000"/>
            <a:ext cx="5600000" cy="605782"/>
          </a:xfrm>
          <a:prstGeom prst="rect">
            <a:avLst/>
          </a:prstGeom>
        </p:spPr>
      </p:pic>
      <p:sp>
        <p:nvSpPr>
          <p:cNvPr id="20" name="TextBox 19"/>
          <p:cNvSpPr txBox="1"/>
          <p:nvPr/>
        </p:nvSpPr>
        <p:spPr>
          <a:xfrm>
            <a:off x="6343776" y="2290000"/>
            <a:ext cx="5351400" cy="600164"/>
          </a:xfrm>
          <a:prstGeom prst="rect">
            <a:avLst/>
          </a:prstGeom>
          <a:noFill/>
        </p:spPr>
        <p:txBody>
          <a:bodyPr wrap="square" lIns="0" tIns="0" rIns="0" bIns="0" anchor="t">
            <a:spAutoFit/>
          </a:bodyPr>
          <a:lstStyle/>
          <a:p>
            <a:pPr algn="l"/>
            <a:r>
              <a:rPr sz="850" b="1" dirty="0">
                <a:solidFill>
                  <a:srgbClr val="2F3B3A"/>
                </a:solidFill>
                <a:latin typeface="Calibri"/>
              </a:rPr>
              <a:t>E</a:t>
            </a:r>
            <a:r>
              <a:rPr sz="850" b="0" dirty="0">
                <a:solidFill>
                  <a:srgbClr val="2F3B3A"/>
                </a:solidFill>
                <a:latin typeface="Calibri"/>
              </a:rPr>
              <a:t>: </a:t>
            </a:r>
            <a:r>
              <a:rPr sz="850" b="0" dirty="0" err="1">
                <a:solidFill>
                  <a:srgbClr val="2F3B3A"/>
                </a:solidFill>
                <a:latin typeface="Calibri"/>
              </a:rPr>
              <a:t>efectividad</a:t>
            </a:r>
            <a:r>
              <a:rPr sz="850" b="0" dirty="0">
                <a:solidFill>
                  <a:srgbClr val="2F3B3A"/>
                </a:solidFill>
                <a:latin typeface="Calibri"/>
              </a:rPr>
              <a:t> (</a:t>
            </a:r>
            <a:r>
              <a:rPr sz="850" b="0" dirty="0" err="1">
                <a:solidFill>
                  <a:srgbClr val="2F3B3A"/>
                </a:solidFill>
                <a:latin typeface="Calibri"/>
              </a:rPr>
              <a:t>monto</a:t>
            </a:r>
            <a:r>
              <a:rPr sz="850" b="0" dirty="0">
                <a:solidFill>
                  <a:srgbClr val="2F3B3A"/>
                </a:solidFill>
                <a:latin typeface="Calibri"/>
              </a:rPr>
              <a:t> </a:t>
            </a:r>
            <a:r>
              <a:rPr sz="850" b="0" dirty="0" err="1">
                <a:solidFill>
                  <a:srgbClr val="2F3B3A"/>
                </a:solidFill>
                <a:latin typeface="Calibri"/>
              </a:rPr>
              <a:t>desembolsado</a:t>
            </a:r>
            <a:r>
              <a:rPr sz="850" b="0" dirty="0">
                <a:solidFill>
                  <a:srgbClr val="2F3B3A"/>
                </a:solidFill>
                <a:latin typeface="Calibri"/>
              </a:rPr>
              <a:t> / </a:t>
            </a:r>
            <a:r>
              <a:rPr sz="850" b="0" dirty="0" err="1">
                <a:solidFill>
                  <a:srgbClr val="2F3B3A"/>
                </a:solidFill>
                <a:latin typeface="Calibri"/>
              </a:rPr>
              <a:t>monto</a:t>
            </a:r>
            <a:r>
              <a:rPr sz="850" b="0" dirty="0">
                <a:solidFill>
                  <a:srgbClr val="2F3B3A"/>
                </a:solidFill>
                <a:latin typeface="Calibri"/>
              </a:rPr>
              <a:t> </a:t>
            </a:r>
            <a:r>
              <a:rPr sz="850" b="0" dirty="0" err="1">
                <a:solidFill>
                  <a:srgbClr val="2F3B3A"/>
                </a:solidFill>
                <a:latin typeface="Calibri"/>
              </a:rPr>
              <a:t>ofertado</a:t>
            </a:r>
            <a:r>
              <a:rPr sz="850" b="0" dirty="0">
                <a:solidFill>
                  <a:srgbClr val="2F3B3A"/>
                </a:solidFill>
                <a:latin typeface="Calibri"/>
              </a:rPr>
              <a:t>) del bucket b </a:t>
            </a:r>
            <a:r>
              <a:rPr sz="850" b="0" dirty="0" err="1">
                <a:solidFill>
                  <a:srgbClr val="2F3B3A"/>
                </a:solidFill>
                <a:latin typeface="Calibri"/>
              </a:rPr>
              <a:t>en</a:t>
            </a:r>
            <a:r>
              <a:rPr sz="850" b="0" dirty="0">
                <a:solidFill>
                  <a:srgbClr val="2F3B3A"/>
                </a:solidFill>
                <a:latin typeface="Calibri"/>
              </a:rPr>
              <a:t> el </a:t>
            </a:r>
            <a:r>
              <a:rPr sz="850" b="0" dirty="0" err="1">
                <a:solidFill>
                  <a:srgbClr val="2F3B3A"/>
                </a:solidFill>
                <a:latin typeface="Calibri"/>
              </a:rPr>
              <a:t>mes</a:t>
            </a:r>
            <a:r>
              <a:rPr sz="850" b="0" dirty="0">
                <a:solidFill>
                  <a:srgbClr val="2F3B3A"/>
                </a:solidFill>
                <a:latin typeface="Calibri"/>
              </a:rPr>
              <a:t> t</a:t>
            </a:r>
          </a:p>
          <a:p>
            <a:pPr algn="l">
              <a:spcBef>
                <a:spcPts val="200"/>
              </a:spcBef>
            </a:pPr>
            <a:r>
              <a:rPr sz="850" b="1" dirty="0">
                <a:solidFill>
                  <a:srgbClr val="2F3B3A"/>
                </a:solidFill>
                <a:latin typeface="Calibri"/>
              </a:rPr>
              <a:t>r IBK</a:t>
            </a:r>
            <a:r>
              <a:rPr sz="850" b="0" dirty="0">
                <a:solidFill>
                  <a:srgbClr val="2F3B3A"/>
                </a:solidFill>
                <a:latin typeface="Calibri"/>
              </a:rPr>
              <a:t>: </a:t>
            </a:r>
            <a:r>
              <a:rPr sz="850" b="0" dirty="0" err="1">
                <a:solidFill>
                  <a:srgbClr val="2F3B3A"/>
                </a:solidFill>
                <a:latin typeface="Calibri"/>
              </a:rPr>
              <a:t>tasa</a:t>
            </a:r>
            <a:r>
              <a:rPr sz="850" b="0" dirty="0">
                <a:solidFill>
                  <a:srgbClr val="2F3B3A"/>
                </a:solidFill>
                <a:latin typeface="Calibri"/>
              </a:rPr>
              <a:t> </a:t>
            </a:r>
            <a:r>
              <a:rPr sz="850" b="0" dirty="0" err="1">
                <a:solidFill>
                  <a:srgbClr val="2F3B3A"/>
                </a:solidFill>
                <a:latin typeface="Calibri"/>
              </a:rPr>
              <a:t>ofertada</a:t>
            </a:r>
            <a:r>
              <a:rPr sz="850" b="0" dirty="0">
                <a:solidFill>
                  <a:srgbClr val="2F3B3A"/>
                </a:solidFill>
                <a:latin typeface="Calibri"/>
              </a:rPr>
              <a:t> </a:t>
            </a:r>
            <a:r>
              <a:rPr sz="850" b="0" dirty="0" err="1">
                <a:solidFill>
                  <a:srgbClr val="2F3B3A"/>
                </a:solidFill>
                <a:latin typeface="Calibri"/>
              </a:rPr>
              <a:t>por</a:t>
            </a:r>
            <a:r>
              <a:rPr sz="850" b="0" dirty="0">
                <a:solidFill>
                  <a:srgbClr val="2F3B3A"/>
                </a:solidFill>
                <a:latin typeface="Calibri"/>
              </a:rPr>
              <a:t> Interbank</a:t>
            </a:r>
          </a:p>
          <a:p>
            <a:pPr algn="l">
              <a:spcBef>
                <a:spcPts val="200"/>
              </a:spcBef>
            </a:pPr>
            <a:r>
              <a:rPr sz="850" b="1" dirty="0">
                <a:solidFill>
                  <a:srgbClr val="2F3B3A"/>
                </a:solidFill>
                <a:latin typeface="Calibri"/>
              </a:rPr>
              <a:t>α</a:t>
            </a:r>
            <a:r>
              <a:rPr sz="850" b="0" dirty="0">
                <a:solidFill>
                  <a:srgbClr val="2F3B3A"/>
                </a:solidFill>
                <a:latin typeface="Calibri"/>
              </a:rPr>
              <a:t> y </a:t>
            </a:r>
            <a:r>
              <a:rPr sz="850" b="1" dirty="0">
                <a:solidFill>
                  <a:srgbClr val="2F3B3A"/>
                </a:solidFill>
                <a:latin typeface="Calibri"/>
              </a:rPr>
              <a:t>γ</a:t>
            </a:r>
            <a:r>
              <a:rPr sz="850" b="0" dirty="0">
                <a:solidFill>
                  <a:srgbClr val="2F3B3A"/>
                </a:solidFill>
                <a:latin typeface="Calibri"/>
              </a:rPr>
              <a:t>: </a:t>
            </a:r>
            <a:r>
              <a:rPr sz="850" b="0" dirty="0" err="1">
                <a:solidFill>
                  <a:srgbClr val="2F3B3A"/>
                </a:solidFill>
                <a:latin typeface="Calibri"/>
              </a:rPr>
              <a:t>efectos</a:t>
            </a:r>
            <a:r>
              <a:rPr sz="850" b="0" dirty="0">
                <a:solidFill>
                  <a:srgbClr val="2F3B3A"/>
                </a:solidFill>
                <a:latin typeface="Calibri"/>
              </a:rPr>
              <a:t> </a:t>
            </a:r>
            <a:r>
              <a:rPr sz="850" b="0" dirty="0" err="1">
                <a:solidFill>
                  <a:srgbClr val="2F3B3A"/>
                </a:solidFill>
                <a:latin typeface="Calibri"/>
              </a:rPr>
              <a:t>fijos</a:t>
            </a:r>
            <a:r>
              <a:rPr sz="850" b="0" dirty="0">
                <a:solidFill>
                  <a:srgbClr val="2F3B3A"/>
                </a:solidFill>
                <a:latin typeface="Calibri"/>
              </a:rPr>
              <a:t> </a:t>
            </a:r>
            <a:r>
              <a:rPr sz="850" b="0" dirty="0" err="1">
                <a:solidFill>
                  <a:srgbClr val="2F3B3A"/>
                </a:solidFill>
                <a:latin typeface="Calibri"/>
              </a:rPr>
              <a:t>por</a:t>
            </a:r>
            <a:r>
              <a:rPr sz="850" b="0" dirty="0">
                <a:solidFill>
                  <a:srgbClr val="2F3B3A"/>
                </a:solidFill>
                <a:latin typeface="Calibri"/>
              </a:rPr>
              <a:t> bucket y </a:t>
            </a:r>
            <a:r>
              <a:rPr sz="850" b="0" dirty="0" err="1">
                <a:solidFill>
                  <a:srgbClr val="2F3B3A"/>
                </a:solidFill>
                <a:latin typeface="Calibri"/>
              </a:rPr>
              <a:t>por</a:t>
            </a:r>
            <a:r>
              <a:rPr sz="850" b="0" dirty="0">
                <a:solidFill>
                  <a:srgbClr val="2F3B3A"/>
                </a:solidFill>
                <a:latin typeface="Calibri"/>
              </a:rPr>
              <a:t> </a:t>
            </a:r>
            <a:r>
              <a:rPr sz="850" b="0" dirty="0" err="1">
                <a:solidFill>
                  <a:srgbClr val="2F3B3A"/>
                </a:solidFill>
                <a:latin typeface="Calibri"/>
              </a:rPr>
              <a:t>mes</a:t>
            </a:r>
            <a:r>
              <a:rPr sz="850" b="0" dirty="0">
                <a:solidFill>
                  <a:srgbClr val="2F3B3A"/>
                </a:solidFill>
                <a:latin typeface="Calibri"/>
              </a:rPr>
              <a:t> (</a:t>
            </a:r>
            <a:r>
              <a:rPr sz="850" b="0" dirty="0" err="1">
                <a:solidFill>
                  <a:srgbClr val="2F3B3A"/>
                </a:solidFill>
                <a:latin typeface="Calibri"/>
              </a:rPr>
              <a:t>estructura</a:t>
            </a:r>
            <a:r>
              <a:rPr sz="850" b="0" dirty="0">
                <a:solidFill>
                  <a:srgbClr val="2F3B3A"/>
                </a:solidFill>
                <a:latin typeface="Calibri"/>
              </a:rPr>
              <a:t> y </a:t>
            </a:r>
            <a:r>
              <a:rPr sz="850" b="0" dirty="0" err="1">
                <a:solidFill>
                  <a:srgbClr val="2F3B3A"/>
                </a:solidFill>
                <a:latin typeface="Calibri"/>
              </a:rPr>
              <a:t>estacionalidad</a:t>
            </a:r>
            <a:r>
              <a:rPr sz="850" b="0" dirty="0">
                <a:solidFill>
                  <a:srgbClr val="2F3B3A"/>
                </a:solidFill>
                <a:latin typeface="Calibri"/>
              </a:rPr>
              <a:t>)</a:t>
            </a:r>
          </a:p>
          <a:p>
            <a:pPr algn="l">
              <a:spcBef>
                <a:spcPts val="200"/>
              </a:spcBef>
            </a:pPr>
            <a:r>
              <a:rPr sz="850" b="1" dirty="0">
                <a:solidFill>
                  <a:srgbClr val="13807B"/>
                </a:solidFill>
                <a:latin typeface="Calibri"/>
              </a:rPr>
              <a:t>β₁</a:t>
            </a:r>
            <a:r>
              <a:rPr sz="850" b="0" dirty="0">
                <a:solidFill>
                  <a:srgbClr val="2F3B3A"/>
                </a:solidFill>
                <a:latin typeface="Calibri"/>
              </a:rPr>
              <a:t>: </a:t>
            </a:r>
            <a:r>
              <a:rPr sz="850" b="0" dirty="0" err="1">
                <a:solidFill>
                  <a:srgbClr val="2F3B3A"/>
                </a:solidFill>
                <a:latin typeface="Calibri"/>
              </a:rPr>
              <a:t>elasticidad</a:t>
            </a:r>
            <a:r>
              <a:rPr sz="850" b="0" dirty="0">
                <a:solidFill>
                  <a:srgbClr val="2F3B3A"/>
                </a:solidFill>
                <a:latin typeface="Calibri"/>
              </a:rPr>
              <a:t>. </a:t>
            </a:r>
            <a:r>
              <a:rPr sz="850" b="0" dirty="0" err="1">
                <a:solidFill>
                  <a:srgbClr val="2F3B3A"/>
                </a:solidFill>
                <a:latin typeface="Calibri"/>
              </a:rPr>
              <a:t>Cuánto</a:t>
            </a:r>
            <a:r>
              <a:rPr sz="850" b="0" dirty="0">
                <a:solidFill>
                  <a:srgbClr val="2F3B3A"/>
                </a:solidFill>
                <a:latin typeface="Calibri"/>
              </a:rPr>
              <a:t> cambia la </a:t>
            </a:r>
            <a:r>
              <a:rPr sz="850" b="0" dirty="0" err="1">
                <a:solidFill>
                  <a:srgbClr val="2F3B3A"/>
                </a:solidFill>
                <a:latin typeface="Calibri"/>
              </a:rPr>
              <a:t>efectividad</a:t>
            </a:r>
            <a:r>
              <a:rPr sz="850" b="0" dirty="0">
                <a:solidFill>
                  <a:srgbClr val="2F3B3A"/>
                </a:solidFill>
                <a:latin typeface="Calibri"/>
              </a:rPr>
              <a:t> (%) ante un </a:t>
            </a:r>
            <a:r>
              <a:rPr sz="850" b="0" dirty="0" err="1">
                <a:solidFill>
                  <a:srgbClr val="2F3B3A"/>
                </a:solidFill>
                <a:latin typeface="Calibri"/>
              </a:rPr>
              <a:t>cambio</a:t>
            </a:r>
            <a:r>
              <a:rPr sz="850" b="0" dirty="0">
                <a:solidFill>
                  <a:srgbClr val="2F3B3A"/>
                </a:solidFill>
                <a:latin typeface="Calibri"/>
              </a:rPr>
              <a:t> de 1%</a:t>
            </a:r>
            <a:r>
              <a:rPr lang="es-EC" sz="850" b="0" dirty="0">
                <a:solidFill>
                  <a:srgbClr val="2F3B3A"/>
                </a:solidFill>
                <a:latin typeface="Calibri"/>
              </a:rPr>
              <a:t> </a:t>
            </a:r>
            <a:r>
              <a:rPr sz="850" b="0" dirty="0" err="1">
                <a:solidFill>
                  <a:srgbClr val="2F3B3A"/>
                </a:solidFill>
                <a:latin typeface="Calibri"/>
              </a:rPr>
              <a:t>en</a:t>
            </a:r>
            <a:r>
              <a:rPr sz="850" b="0" dirty="0">
                <a:solidFill>
                  <a:srgbClr val="2F3B3A"/>
                </a:solidFill>
                <a:latin typeface="Calibri"/>
              </a:rPr>
              <a:t> la </a:t>
            </a:r>
            <a:r>
              <a:rPr sz="850" b="0" dirty="0" err="1">
                <a:solidFill>
                  <a:srgbClr val="2F3B3A"/>
                </a:solidFill>
                <a:latin typeface="Calibri"/>
              </a:rPr>
              <a:t>tasa</a:t>
            </a:r>
            <a:r>
              <a:rPr sz="850" b="0" dirty="0">
                <a:solidFill>
                  <a:srgbClr val="2F3B3A"/>
                </a:solidFill>
                <a:latin typeface="Calibri"/>
              </a:rPr>
              <a:t> </a:t>
            </a:r>
            <a:r>
              <a:rPr sz="850" b="0" dirty="0" err="1">
                <a:solidFill>
                  <a:srgbClr val="2F3B3A"/>
                </a:solidFill>
                <a:latin typeface="Calibri"/>
              </a:rPr>
              <a:t>ofertada</a:t>
            </a:r>
            <a:endParaRPr sz="850" b="0" dirty="0">
              <a:solidFill>
                <a:srgbClr val="2F3B3A"/>
              </a:solidFill>
              <a:latin typeface="Calibri"/>
            </a:endParaRPr>
          </a:p>
        </p:txBody>
      </p:sp>
      <p:sp>
        <p:nvSpPr>
          <p:cNvPr id="21" name="TextBox 20"/>
          <p:cNvSpPr txBox="1"/>
          <p:nvPr/>
        </p:nvSpPr>
        <p:spPr>
          <a:xfrm>
            <a:off x="493776" y="3150000"/>
            <a:ext cx="7000000" cy="220000"/>
          </a:xfrm>
          <a:prstGeom prst="rect">
            <a:avLst/>
          </a:prstGeom>
          <a:noFill/>
        </p:spPr>
        <p:txBody>
          <a:bodyPr wrap="square" lIns="0" tIns="0" rIns="0" bIns="0" anchor="t">
            <a:spAutoFit/>
          </a:bodyPr>
          <a:lstStyle/>
          <a:p>
            <a:pPr algn="l"/>
            <a:r>
              <a:rPr sz="1000" b="1">
                <a:solidFill>
                  <a:srgbClr val="2F3B3A"/>
                </a:solidFill>
                <a:latin typeface="Calibri"/>
              </a:rPr>
              <a:t>Macroperfiles con sensibilidad significativa</a:t>
            </a:r>
          </a:p>
        </p:txBody>
      </p:sp>
      <p:graphicFrame>
        <p:nvGraphicFramePr>
          <p:cNvPr id="22" name="Table 21"/>
          <p:cNvGraphicFramePr>
            <a:graphicFrameLocks noGrp="1"/>
          </p:cNvGraphicFramePr>
          <p:nvPr/>
        </p:nvGraphicFramePr>
        <p:xfrm>
          <a:off x="493776" y="3410000"/>
          <a:ext cx="7000000" cy="1480000"/>
        </p:xfrm>
        <a:graphic>
          <a:graphicData uri="http://schemas.openxmlformats.org/drawingml/2006/table">
            <a:tbl>
              <a:tblPr>
                <a:tableStyleId>{5C22544A-7EE6-4342-B048-85BDC9FD1C3A}</a:tableStyleId>
              </a:tblPr>
              <a:tblGrid>
                <a:gridCol w="1900000">
                  <a:extLst>
                    <a:ext uri="{9D8B030D-6E8A-4147-A177-3AD203B41FA5}">
                      <a16:colId xmlns:a16="http://schemas.microsoft.com/office/drawing/2014/main" val="20000"/>
                    </a:ext>
                  </a:extLst>
                </a:gridCol>
                <a:gridCol w="850000">
                  <a:extLst>
                    <a:ext uri="{9D8B030D-6E8A-4147-A177-3AD203B41FA5}">
                      <a16:colId xmlns:a16="http://schemas.microsoft.com/office/drawing/2014/main" val="20001"/>
                    </a:ext>
                  </a:extLst>
                </a:gridCol>
                <a:gridCol w="750000">
                  <a:extLst>
                    <a:ext uri="{9D8B030D-6E8A-4147-A177-3AD203B41FA5}">
                      <a16:colId xmlns:a16="http://schemas.microsoft.com/office/drawing/2014/main" val="20002"/>
                    </a:ext>
                  </a:extLst>
                </a:gridCol>
                <a:gridCol w="850000">
                  <a:extLst>
                    <a:ext uri="{9D8B030D-6E8A-4147-A177-3AD203B41FA5}">
                      <a16:colId xmlns:a16="http://schemas.microsoft.com/office/drawing/2014/main" val="20003"/>
                    </a:ext>
                  </a:extLst>
                </a:gridCol>
                <a:gridCol w="850000">
                  <a:extLst>
                    <a:ext uri="{9D8B030D-6E8A-4147-A177-3AD203B41FA5}">
                      <a16:colId xmlns:a16="http://schemas.microsoft.com/office/drawing/2014/main" val="20004"/>
                    </a:ext>
                  </a:extLst>
                </a:gridCol>
                <a:gridCol w="1800000">
                  <a:extLst>
                    <a:ext uri="{9D8B030D-6E8A-4147-A177-3AD203B41FA5}">
                      <a16:colId xmlns:a16="http://schemas.microsoft.com/office/drawing/2014/main" val="20005"/>
                    </a:ext>
                  </a:extLst>
                </a:gridCol>
              </a:tblGrid>
              <a:tr h="370000">
                <a:tc>
                  <a:txBody>
                    <a:bodyPr/>
                    <a:lstStyle/>
                    <a:p>
                      <a:pPr algn="l"/>
                      <a:r>
                        <a:rPr sz="850" b="1">
                          <a:solidFill>
                            <a:srgbClr val="FFFFFF"/>
                          </a:solidFill>
                          <a:latin typeface="Calibri"/>
                        </a:rPr>
                        <a:t>Macroperfil</a:t>
                      </a:r>
                    </a:p>
                  </a:txBody>
                  <a:tcPr marL="45000" marR="45000" marT="12000" marB="12000" anchor="ctr">
                    <a:solidFill>
                      <a:srgbClr val="1F3A5F"/>
                    </a:solidFill>
                  </a:tcPr>
                </a:tc>
                <a:tc>
                  <a:txBody>
                    <a:bodyPr/>
                    <a:lstStyle/>
                    <a:p>
                      <a:pPr algn="ctr"/>
                      <a:r>
                        <a:rPr sz="850" b="1">
                          <a:solidFill>
                            <a:srgbClr val="FFFFFF"/>
                          </a:solidFill>
                          <a:latin typeface="Calibri"/>
                        </a:rPr>
                        <a:t>Elasticidad (β₁)</a:t>
                      </a:r>
                    </a:p>
                  </a:txBody>
                  <a:tcPr marL="45000" marR="45000" marT="12000" marB="12000" anchor="ctr">
                    <a:solidFill>
                      <a:srgbClr val="1F3A5F"/>
                    </a:solidFill>
                  </a:tcPr>
                </a:tc>
                <a:tc>
                  <a:txBody>
                    <a:bodyPr/>
                    <a:lstStyle/>
                    <a:p>
                      <a:pPr algn="ctr"/>
                      <a:r>
                        <a:rPr sz="850" b="1">
                          <a:solidFill>
                            <a:srgbClr val="FFFFFF"/>
                          </a:solidFill>
                          <a:latin typeface="Calibri"/>
                        </a:rPr>
                        <a:t>p-valor</a:t>
                      </a:r>
                    </a:p>
                  </a:txBody>
                  <a:tcPr marL="45000" marR="45000" marT="12000" marB="12000" anchor="ctr">
                    <a:solidFill>
                      <a:srgbClr val="1F3A5F"/>
                    </a:solidFill>
                  </a:tcPr>
                </a:tc>
                <a:tc>
                  <a:txBody>
                    <a:bodyPr/>
                    <a:lstStyle/>
                    <a:p>
                      <a:pPr algn="ctr"/>
                      <a:r>
                        <a:rPr sz="850" b="1">
                          <a:solidFill>
                            <a:srgbClr val="FFFFFF"/>
                          </a:solidFill>
                          <a:latin typeface="Calibri"/>
                        </a:rPr>
                        <a:t>Peso en monto</a:t>
                      </a:r>
                    </a:p>
                  </a:txBody>
                  <a:tcPr marL="45000" marR="45000" marT="12000" marB="12000" anchor="ctr">
                    <a:solidFill>
                      <a:srgbClr val="1F3A5F"/>
                    </a:solidFill>
                  </a:tcPr>
                </a:tc>
                <a:tc>
                  <a:txBody>
                    <a:bodyPr/>
                    <a:lstStyle/>
                    <a:p>
                      <a:pPr algn="ctr"/>
                      <a:r>
                        <a:rPr sz="850" b="1">
                          <a:solidFill>
                            <a:srgbClr val="FFFFFF"/>
                          </a:solidFill>
                          <a:latin typeface="Calibri"/>
                        </a:rPr>
                        <a:t>Peso en desembolsos</a:t>
                      </a:r>
                    </a:p>
                  </a:txBody>
                  <a:tcPr marL="45000" marR="45000" marT="12000" marB="12000" anchor="ctr">
                    <a:solidFill>
                      <a:srgbClr val="1F3A5F"/>
                    </a:solidFill>
                  </a:tcPr>
                </a:tc>
                <a:tc>
                  <a:txBody>
                    <a:bodyPr/>
                    <a:lstStyle/>
                    <a:p>
                      <a:pPr algn="l"/>
                      <a:r>
                        <a:rPr sz="850" b="1">
                          <a:solidFill>
                            <a:srgbClr val="FFFFFF"/>
                          </a:solidFill>
                          <a:latin typeface="Calibri"/>
                        </a:rPr>
                        <a:t>Lectura</a:t>
                      </a:r>
                    </a:p>
                  </a:txBody>
                  <a:tcPr marL="45000" marR="45000" marT="12000" marB="12000" anchor="ctr">
                    <a:solidFill>
                      <a:srgbClr val="1F3A5F"/>
                    </a:solidFill>
                  </a:tcPr>
                </a:tc>
                <a:extLst>
                  <a:ext uri="{0D108BD9-81ED-4DB2-BD59-A6C34878D82A}">
                    <a16:rowId xmlns:a16="http://schemas.microsoft.com/office/drawing/2014/main" val="10000"/>
                  </a:ext>
                </a:extLst>
              </a:tr>
              <a:tr h="370000">
                <a:tc>
                  <a:txBody>
                    <a:bodyPr/>
                    <a:lstStyle/>
                    <a:p>
                      <a:pPr algn="l"/>
                      <a:r>
                        <a:rPr sz="900" b="1">
                          <a:solidFill>
                            <a:srgbClr val="4A6572"/>
                          </a:solidFill>
                          <a:latin typeface="Calibri"/>
                        </a:rPr>
                        <a:t>Sin historial crediticio</a:t>
                      </a:r>
                    </a:p>
                  </a:txBody>
                  <a:tcPr marL="45000" marR="45000" marT="12000" marB="12000" anchor="ctr">
                    <a:solidFill>
                      <a:srgbClr val="FFFFFF"/>
                    </a:solidFill>
                  </a:tcPr>
                </a:tc>
                <a:tc>
                  <a:txBody>
                    <a:bodyPr/>
                    <a:lstStyle/>
                    <a:p>
                      <a:pPr algn="ctr"/>
                      <a:r>
                        <a:rPr sz="900" b="1">
                          <a:solidFill>
                            <a:srgbClr val="2F3B3A"/>
                          </a:solidFill>
                          <a:latin typeface="Calibri"/>
                        </a:rPr>
                        <a:t>-4,77</a:t>
                      </a:r>
                    </a:p>
                  </a:txBody>
                  <a:tcPr marL="45000" marR="45000" marT="12000" marB="12000" anchor="ctr">
                    <a:solidFill>
                      <a:srgbClr val="FFFFFF"/>
                    </a:solidFill>
                  </a:tcPr>
                </a:tc>
                <a:tc>
                  <a:txBody>
                    <a:bodyPr/>
                    <a:lstStyle/>
                    <a:p>
                      <a:pPr algn="ctr"/>
                      <a:r>
                        <a:rPr sz="900" b="0">
                          <a:solidFill>
                            <a:srgbClr val="2F3B3A"/>
                          </a:solidFill>
                          <a:latin typeface="Calibri"/>
                        </a:rPr>
                        <a:t>0,00</a:t>
                      </a:r>
                    </a:p>
                  </a:txBody>
                  <a:tcPr marL="45000" marR="45000" marT="12000" marB="12000" anchor="ctr">
                    <a:solidFill>
                      <a:srgbClr val="FFFFFF"/>
                    </a:solidFill>
                  </a:tcPr>
                </a:tc>
                <a:tc>
                  <a:txBody>
                    <a:bodyPr/>
                    <a:lstStyle/>
                    <a:p>
                      <a:pPr algn="ctr"/>
                      <a:r>
                        <a:rPr sz="900" b="0">
                          <a:solidFill>
                            <a:srgbClr val="2F3B3A"/>
                          </a:solidFill>
                          <a:latin typeface="Calibri"/>
                        </a:rPr>
                        <a:t>6%</a:t>
                      </a:r>
                    </a:p>
                  </a:txBody>
                  <a:tcPr marL="45000" marR="45000" marT="12000" marB="12000" anchor="ctr">
                    <a:solidFill>
                      <a:srgbClr val="FFFFFF"/>
                    </a:solidFill>
                  </a:tcPr>
                </a:tc>
                <a:tc>
                  <a:txBody>
                    <a:bodyPr/>
                    <a:lstStyle/>
                    <a:p>
                      <a:pPr algn="ctr"/>
                      <a:r>
                        <a:rPr sz="900" b="0">
                          <a:solidFill>
                            <a:srgbClr val="2F3B3A"/>
                          </a:solidFill>
                          <a:latin typeface="Calibri"/>
                        </a:rPr>
                        <a:t>11%</a:t>
                      </a:r>
                    </a:p>
                  </a:txBody>
                  <a:tcPr marL="45000" marR="45000" marT="12000" marB="12000" anchor="ctr">
                    <a:solidFill>
                      <a:srgbClr val="FFFFFF"/>
                    </a:solidFill>
                  </a:tcPr>
                </a:tc>
                <a:tc>
                  <a:txBody>
                    <a:bodyPr/>
                    <a:lstStyle/>
                    <a:p>
                      <a:pPr algn="l"/>
                      <a:r>
                        <a:rPr sz="800" b="0">
                          <a:solidFill>
                            <a:srgbClr val="2F3B3A"/>
                          </a:solidFill>
                          <a:latin typeface="Calibri"/>
                        </a:rPr>
                        <a:t>Si la tasa ofertada sube 1%, la efectividad cae 4,77% en términos relativos</a:t>
                      </a:r>
                    </a:p>
                  </a:txBody>
                  <a:tcPr marL="45000" marR="45000" marT="12000" marB="12000" anchor="ctr">
                    <a:solidFill>
                      <a:srgbClr val="FFFFFF"/>
                    </a:solidFill>
                  </a:tcPr>
                </a:tc>
                <a:extLst>
                  <a:ext uri="{0D108BD9-81ED-4DB2-BD59-A6C34878D82A}">
                    <a16:rowId xmlns:a16="http://schemas.microsoft.com/office/drawing/2014/main" val="10001"/>
                  </a:ext>
                </a:extLst>
              </a:tr>
              <a:tr h="370000">
                <a:tc>
                  <a:txBody>
                    <a:bodyPr/>
                    <a:lstStyle/>
                    <a:p>
                      <a:pPr algn="l"/>
                      <a:r>
                        <a:rPr sz="900" b="1">
                          <a:solidFill>
                            <a:srgbClr val="1F3A5F"/>
                          </a:solidFill>
                          <a:latin typeface="Calibri"/>
                        </a:rPr>
                        <a:t>Medianos por fidelizar</a:t>
                      </a:r>
                    </a:p>
                  </a:txBody>
                  <a:tcPr marL="45000" marR="45000" marT="12000" marB="12000" anchor="ctr">
                    <a:solidFill>
                      <a:srgbClr val="F7F9F9"/>
                    </a:solidFill>
                  </a:tcPr>
                </a:tc>
                <a:tc>
                  <a:txBody>
                    <a:bodyPr/>
                    <a:lstStyle/>
                    <a:p>
                      <a:pPr algn="ctr"/>
                      <a:r>
                        <a:rPr sz="900" b="1">
                          <a:solidFill>
                            <a:srgbClr val="2F3B3A"/>
                          </a:solidFill>
                          <a:latin typeface="Calibri"/>
                        </a:rPr>
                        <a:t>-3,82</a:t>
                      </a:r>
                    </a:p>
                  </a:txBody>
                  <a:tcPr marL="45000" marR="45000" marT="12000" marB="12000" anchor="ctr">
                    <a:solidFill>
                      <a:srgbClr val="F7F9F9"/>
                    </a:solidFill>
                  </a:tcPr>
                </a:tc>
                <a:tc>
                  <a:txBody>
                    <a:bodyPr/>
                    <a:lstStyle/>
                    <a:p>
                      <a:pPr algn="ctr"/>
                      <a:r>
                        <a:rPr sz="900" b="0">
                          <a:solidFill>
                            <a:srgbClr val="2F3B3A"/>
                          </a:solidFill>
                          <a:latin typeface="Calibri"/>
                        </a:rPr>
                        <a:t>0,09</a:t>
                      </a:r>
                    </a:p>
                  </a:txBody>
                  <a:tcPr marL="45000" marR="45000" marT="12000" marB="12000" anchor="ctr">
                    <a:solidFill>
                      <a:srgbClr val="F7F9F9"/>
                    </a:solidFill>
                  </a:tcPr>
                </a:tc>
                <a:tc>
                  <a:txBody>
                    <a:bodyPr/>
                    <a:lstStyle/>
                    <a:p>
                      <a:pPr algn="ctr"/>
                      <a:r>
                        <a:rPr sz="900" b="0">
                          <a:solidFill>
                            <a:srgbClr val="2F3B3A"/>
                          </a:solidFill>
                          <a:latin typeface="Calibri"/>
                        </a:rPr>
                        <a:t>33%</a:t>
                      </a:r>
                    </a:p>
                  </a:txBody>
                  <a:tcPr marL="45000" marR="45000" marT="12000" marB="12000" anchor="ctr">
                    <a:solidFill>
                      <a:srgbClr val="F7F9F9"/>
                    </a:solidFill>
                  </a:tcPr>
                </a:tc>
                <a:tc>
                  <a:txBody>
                    <a:bodyPr/>
                    <a:lstStyle/>
                    <a:p>
                      <a:pPr algn="ctr"/>
                      <a:r>
                        <a:rPr sz="900" b="0">
                          <a:solidFill>
                            <a:srgbClr val="2F3B3A"/>
                          </a:solidFill>
                          <a:latin typeface="Calibri"/>
                        </a:rPr>
                        <a:t>31%</a:t>
                      </a:r>
                    </a:p>
                  </a:txBody>
                  <a:tcPr marL="45000" marR="45000" marT="12000" marB="12000" anchor="ctr">
                    <a:solidFill>
                      <a:srgbClr val="F7F9F9"/>
                    </a:solidFill>
                  </a:tcPr>
                </a:tc>
                <a:tc>
                  <a:txBody>
                    <a:bodyPr/>
                    <a:lstStyle/>
                    <a:p>
                      <a:pPr algn="l"/>
                      <a:r>
                        <a:rPr sz="800" b="0">
                          <a:solidFill>
                            <a:srgbClr val="2F3B3A"/>
                          </a:solidFill>
                          <a:latin typeface="Calibri"/>
                        </a:rPr>
                        <a:t>Si la tasa ofertada sube 1%, la efectividad cae 3,82% en términos relativos</a:t>
                      </a:r>
                    </a:p>
                  </a:txBody>
                  <a:tcPr marL="45000" marR="45000" marT="12000" marB="12000" anchor="ctr">
                    <a:solidFill>
                      <a:srgbClr val="F7F9F9"/>
                    </a:solidFill>
                  </a:tcPr>
                </a:tc>
                <a:extLst>
                  <a:ext uri="{0D108BD9-81ED-4DB2-BD59-A6C34878D82A}">
                    <a16:rowId xmlns:a16="http://schemas.microsoft.com/office/drawing/2014/main" val="10002"/>
                  </a:ext>
                </a:extLst>
              </a:tr>
              <a:tr h="370000">
                <a:tc>
                  <a:txBody>
                    <a:bodyPr/>
                    <a:lstStyle/>
                    <a:p>
                      <a:pPr algn="l"/>
                      <a:r>
                        <a:rPr sz="900" b="1">
                          <a:solidFill>
                            <a:srgbClr val="C2410C"/>
                          </a:solidFill>
                          <a:latin typeface="Calibri"/>
                        </a:rPr>
                        <a:t>Grandes por fidelizar</a:t>
                      </a:r>
                    </a:p>
                  </a:txBody>
                  <a:tcPr marL="45000" marR="45000" marT="12000" marB="12000" anchor="ctr">
                    <a:solidFill>
                      <a:srgbClr val="FFFFFF"/>
                    </a:solidFill>
                  </a:tcPr>
                </a:tc>
                <a:tc>
                  <a:txBody>
                    <a:bodyPr/>
                    <a:lstStyle/>
                    <a:p>
                      <a:pPr algn="ctr"/>
                      <a:r>
                        <a:rPr sz="900" b="1">
                          <a:solidFill>
                            <a:srgbClr val="2F3B3A"/>
                          </a:solidFill>
                          <a:latin typeface="Calibri"/>
                        </a:rPr>
                        <a:t>-2,60</a:t>
                      </a:r>
                    </a:p>
                  </a:txBody>
                  <a:tcPr marL="45000" marR="45000" marT="12000" marB="12000" anchor="ctr">
                    <a:solidFill>
                      <a:srgbClr val="FFFFFF"/>
                    </a:solidFill>
                  </a:tcPr>
                </a:tc>
                <a:tc>
                  <a:txBody>
                    <a:bodyPr/>
                    <a:lstStyle/>
                    <a:p>
                      <a:pPr algn="ctr"/>
                      <a:r>
                        <a:rPr sz="900" b="0">
                          <a:solidFill>
                            <a:srgbClr val="2F3B3A"/>
                          </a:solidFill>
                          <a:latin typeface="Calibri"/>
                        </a:rPr>
                        <a:t>0,03</a:t>
                      </a:r>
                    </a:p>
                  </a:txBody>
                  <a:tcPr marL="45000" marR="45000" marT="12000" marB="12000" anchor="ctr">
                    <a:solidFill>
                      <a:srgbClr val="FFFFFF"/>
                    </a:solidFill>
                  </a:tcPr>
                </a:tc>
                <a:tc>
                  <a:txBody>
                    <a:bodyPr/>
                    <a:lstStyle/>
                    <a:p>
                      <a:pPr algn="ctr"/>
                      <a:r>
                        <a:rPr sz="900" b="0">
                          <a:solidFill>
                            <a:srgbClr val="2F3B3A"/>
                          </a:solidFill>
                          <a:latin typeface="Calibri"/>
                        </a:rPr>
                        <a:t>36%</a:t>
                      </a:r>
                    </a:p>
                  </a:txBody>
                  <a:tcPr marL="45000" marR="45000" marT="12000" marB="12000" anchor="ctr">
                    <a:solidFill>
                      <a:srgbClr val="FFFFFF"/>
                    </a:solidFill>
                  </a:tcPr>
                </a:tc>
                <a:tc>
                  <a:txBody>
                    <a:bodyPr/>
                    <a:lstStyle/>
                    <a:p>
                      <a:pPr algn="ctr"/>
                      <a:r>
                        <a:rPr sz="900" b="0">
                          <a:solidFill>
                            <a:srgbClr val="2F3B3A"/>
                          </a:solidFill>
                          <a:latin typeface="Calibri"/>
                        </a:rPr>
                        <a:t>29%</a:t>
                      </a:r>
                    </a:p>
                  </a:txBody>
                  <a:tcPr marL="45000" marR="45000" marT="12000" marB="12000" anchor="ctr">
                    <a:solidFill>
                      <a:srgbClr val="FFFFFF"/>
                    </a:solidFill>
                  </a:tcPr>
                </a:tc>
                <a:tc>
                  <a:txBody>
                    <a:bodyPr/>
                    <a:lstStyle/>
                    <a:p>
                      <a:pPr algn="l"/>
                      <a:r>
                        <a:rPr sz="800" b="0">
                          <a:solidFill>
                            <a:srgbClr val="2F3B3A"/>
                          </a:solidFill>
                          <a:latin typeface="Calibri"/>
                        </a:rPr>
                        <a:t>Si la tasa ofertada sube 1%, la efectividad cae 2,60% en términos relativos</a:t>
                      </a:r>
                    </a:p>
                  </a:txBody>
                  <a:tcPr marL="45000" marR="45000" marT="12000" marB="12000" anchor="ctr">
                    <a:solidFill>
                      <a:srgbClr val="FFFFFF"/>
                    </a:solidFill>
                  </a:tcPr>
                </a:tc>
                <a:extLst>
                  <a:ext uri="{0D108BD9-81ED-4DB2-BD59-A6C34878D82A}">
                    <a16:rowId xmlns:a16="http://schemas.microsoft.com/office/drawing/2014/main" val="10003"/>
                  </a:ext>
                </a:extLst>
              </a:tr>
            </a:tbl>
          </a:graphicData>
        </a:graphic>
      </p:graphicFrame>
      <p:sp>
        <p:nvSpPr>
          <p:cNvPr id="23" name="TextBox 22"/>
          <p:cNvSpPr txBox="1"/>
          <p:nvPr/>
        </p:nvSpPr>
        <p:spPr>
          <a:xfrm>
            <a:off x="493776" y="4950000"/>
            <a:ext cx="7000000" cy="220000"/>
          </a:xfrm>
          <a:prstGeom prst="rect">
            <a:avLst/>
          </a:prstGeom>
          <a:noFill/>
        </p:spPr>
        <p:txBody>
          <a:bodyPr wrap="square" lIns="0" tIns="0" rIns="0" bIns="0" anchor="t">
            <a:spAutoFit/>
          </a:bodyPr>
          <a:lstStyle/>
          <a:p>
            <a:pPr algn="l"/>
            <a:r>
              <a:rPr sz="750" b="0">
                <a:solidFill>
                  <a:srgbClr val="6E7E7D"/>
                </a:solidFill>
                <a:latin typeface="Calibri"/>
              </a:rPr>
              <a:t>▲ Más elástico arriba. Significativo al 5% (al 10% en Medianos por fidelizar).</a:t>
            </a:r>
          </a:p>
        </p:txBody>
      </p:sp>
      <p:sp>
        <p:nvSpPr>
          <p:cNvPr id="24" name="Rectangle 23"/>
          <p:cNvSpPr/>
          <p:nvPr/>
        </p:nvSpPr>
        <p:spPr>
          <a:xfrm>
            <a:off x="7743776" y="3150000"/>
            <a:ext cx="3951400" cy="2000000"/>
          </a:xfrm>
          <a:prstGeom prst="rect">
            <a:avLst/>
          </a:prstGeom>
          <a:solidFill>
            <a:srgbClr val="FFFFFF"/>
          </a:solidFill>
          <a:ln w="9525">
            <a:solidFill>
              <a:srgbClr val="9AA5A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7743776" y="3150000"/>
            <a:ext cx="3951400" cy="60000"/>
          </a:xfrm>
          <a:prstGeom prst="rect">
            <a:avLst/>
          </a:prstGeom>
          <a:solidFill>
            <a:srgbClr val="6E7E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893776" y="3260000"/>
            <a:ext cx="3651400" cy="300000"/>
          </a:xfrm>
          <a:prstGeom prst="rect">
            <a:avLst/>
          </a:prstGeom>
          <a:noFill/>
        </p:spPr>
        <p:txBody>
          <a:bodyPr wrap="square" lIns="0" tIns="0" rIns="0" bIns="0" anchor="t">
            <a:spAutoFit/>
          </a:bodyPr>
          <a:lstStyle/>
          <a:p>
            <a:pPr algn="l"/>
            <a:r>
              <a:rPr sz="1300" b="1">
                <a:solidFill>
                  <a:srgbClr val="13807B"/>
                </a:solidFill>
                <a:latin typeface="Calibri"/>
              </a:rPr>
              <a:t>Fidelizados</a:t>
            </a:r>
            <a:r>
              <a:rPr sz="900" b="0">
                <a:solidFill>
                  <a:srgbClr val="6E7E7D"/>
                </a:solidFill>
                <a:latin typeface="Calibri"/>
              </a:rPr>
              <a:t>   aparte</a:t>
            </a:r>
          </a:p>
        </p:txBody>
      </p:sp>
      <p:sp>
        <p:nvSpPr>
          <p:cNvPr id="27" name="TextBox 26"/>
          <p:cNvSpPr txBox="1"/>
          <p:nvPr/>
        </p:nvSpPr>
        <p:spPr>
          <a:xfrm>
            <a:off x="7893776" y="3580000"/>
            <a:ext cx="3651400" cy="1500000"/>
          </a:xfrm>
          <a:prstGeom prst="rect">
            <a:avLst/>
          </a:prstGeom>
          <a:noFill/>
        </p:spPr>
        <p:txBody>
          <a:bodyPr wrap="square" lIns="0" tIns="0" rIns="0" bIns="0" anchor="t">
            <a:spAutoFit/>
          </a:bodyPr>
          <a:lstStyle/>
          <a:p>
            <a:pPr algn="l"/>
            <a:r>
              <a:rPr sz="900" b="1">
                <a:solidFill>
                  <a:srgbClr val="2F3B3A"/>
                </a:solidFill>
                <a:latin typeface="Calibri"/>
              </a:rPr>
              <a:t>Elasticidad −1,02 con p-valor 0,66: </a:t>
            </a:r>
            <a:r>
              <a:rPr sz="900" b="0">
                <a:solidFill>
                  <a:srgbClr val="2F3B3A"/>
                </a:solidFill>
                <a:latin typeface="Calibri"/>
              </a:rPr>
              <a:t>no es significativa. El modelo no detecta sensibilidad, lo que no significa que no exista.</a:t>
            </a:r>
          </a:p>
          <a:p>
            <a:pPr algn="l">
              <a:spcBef>
                <a:spcPts val="600"/>
              </a:spcBef>
            </a:pPr>
            <a:r>
              <a:rPr sz="900" b="0">
                <a:solidFill>
                  <a:srgbClr val="2F3B3A"/>
                </a:solidFill>
                <a:latin typeface="Calibri"/>
              </a:rPr>
              <a:t>Pesa 25% del monto y 28% de los desembolsos, así que no se puede dejar sin estrategia.</a:t>
            </a:r>
          </a:p>
          <a:p>
            <a:pPr algn="l">
              <a:spcBef>
                <a:spcPts val="600"/>
              </a:spcBef>
            </a:pPr>
            <a:r>
              <a:rPr sz="900" b="1">
                <a:solidFill>
                  <a:srgbClr val="13807B"/>
                </a:solidFill>
                <a:latin typeface="Calibri"/>
              </a:rPr>
              <a:t>Propuesta: </a:t>
            </a:r>
            <a:r>
              <a:rPr sz="900" b="0">
                <a:solidFill>
                  <a:srgbClr val="2F3B3A"/>
                </a:solidFill>
                <a:latin typeface="Calibri"/>
              </a:rPr>
              <a:t>siembra de precios para medir su respuesta a la tasa y diseñar pricing a medida.</a:t>
            </a:r>
          </a:p>
        </p:txBody>
      </p:sp>
      <p:sp>
        <p:nvSpPr>
          <p:cNvPr id="28" name="Rectangle 27"/>
          <p:cNvSpPr/>
          <p:nvPr/>
        </p:nvSpPr>
        <p:spPr>
          <a:xfrm>
            <a:off x="493776" y="5780000"/>
            <a:ext cx="11201400" cy="480000"/>
          </a:xfrm>
          <a:prstGeom prst="rect">
            <a:avLst/>
          </a:prstGeom>
          <a:solidFill>
            <a:srgbClr val="F1F6F5"/>
          </a:solidFill>
          <a:ln>
            <a:noFill/>
          </a:ln>
          <a:effectLst/>
        </p:spPr>
        <p:style>
          <a:lnRef idx="1">
            <a:schemeClr val="accent1"/>
          </a:lnRef>
          <a:fillRef idx="3">
            <a:schemeClr val="accent1"/>
          </a:fillRef>
          <a:effectRef idx="2">
            <a:schemeClr val="accent1"/>
          </a:effectRef>
          <a:fontRef idx="minor">
            <a:schemeClr val="lt1"/>
          </a:fontRef>
        </p:style>
        <p:txBody>
          <a:bodyPr wrap="square" lIns="150000" tIns="75000" rIns="150000" bIns="75000" rtlCol="0" anchor="ctr"/>
          <a:lstStyle/>
          <a:p>
            <a:pPr algn="l"/>
            <a:r>
              <a:rPr sz="1000" b="1">
                <a:solidFill>
                  <a:srgbClr val="2F3B3A"/>
                </a:solidFill>
                <a:latin typeface="Calibri"/>
              </a:rPr>
              <a:t>El modelo cubre 75% del monto y 72% de los desembolsos. La elasticidad indica cuánto mover la tasa y la tasa inferida de la competencia indica hacia dónde.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93777" y="246888"/>
            <a:ext cx="8963570" cy="109710"/>
          </a:xfrm>
          <a:prstGeom prst="rect">
            <a:avLst/>
          </a:prstGeom>
          <a:noFill/>
        </p:spPr>
        <p:txBody>
          <a:bodyPr wrap="square" lIns="0" tIns="0" rIns="0" bIns="0" anchor="t">
            <a:spAutoFit/>
          </a:bodyPr>
          <a:lstStyle/>
          <a:p>
            <a:pPr algn="l"/>
            <a:r>
              <a:rPr sz="800" b="1">
                <a:solidFill>
                  <a:srgbClr val="6E7E7D"/>
                </a:solidFill>
                <a:latin typeface="Calibri"/>
              </a:rPr>
              <a:t>MODELO DE SENSIBILIDAD · APLICACIÓN A LAS APERTURAS</a:t>
            </a:r>
          </a:p>
        </p:txBody>
      </p:sp>
      <p:sp>
        <p:nvSpPr>
          <p:cNvPr id="3" name="TextBox 2"/>
          <p:cNvSpPr txBox="1"/>
          <p:nvPr/>
        </p:nvSpPr>
        <p:spPr>
          <a:xfrm>
            <a:off x="493776" y="425196"/>
            <a:ext cx="10312923" cy="482568"/>
          </a:xfrm>
          <a:prstGeom prst="rect">
            <a:avLst/>
          </a:prstGeom>
          <a:noFill/>
        </p:spPr>
        <p:txBody>
          <a:bodyPr wrap="square" lIns="0" tIns="0" rIns="0" bIns="0" anchor="t">
            <a:spAutoFit/>
          </a:bodyPr>
          <a:lstStyle/>
          <a:p>
            <a:pPr algn="l"/>
            <a:r>
              <a:rPr sz="1600" b="1">
                <a:solidFill>
                  <a:srgbClr val="13807B"/>
                </a:solidFill>
                <a:latin typeface="Poppins"/>
              </a:rPr>
              <a:t>La sensibilidad del macroperfil y la tasa de la competencia definen el piloto de cada apertura</a:t>
            </a:r>
          </a:p>
        </p:txBody>
      </p:sp>
      <p:cxnSp>
        <p:nvCxnSpPr>
          <p:cNvPr id="4" name="Connector 3"/>
          <p:cNvCxnSpPr/>
          <p:nvPr/>
        </p:nvCxnSpPr>
        <p:spPr>
          <a:xfrm>
            <a:off x="493776" y="1049274"/>
            <a:ext cx="11204463" cy="0"/>
          </a:xfrm>
          <a:prstGeom prst="line">
            <a:avLst/>
          </a:prstGeom>
          <a:ln w="12700">
            <a:solidFill>
              <a:srgbClr val="D5DFDE"/>
            </a:solidFill>
          </a:ln>
        </p:spPr>
        <p:style>
          <a:lnRef idx="2">
            <a:schemeClr val="accent1"/>
          </a:lnRef>
          <a:fillRef idx="0">
            <a:schemeClr val="accent1"/>
          </a:fillRef>
          <a:effectRef idx="1">
            <a:schemeClr val="accent1"/>
          </a:effectRef>
          <a:fontRef idx="minor">
            <a:schemeClr val="tx1"/>
          </a:fontRef>
        </p:style>
      </p:cxnSp>
      <p:pic>
        <p:nvPicPr>
          <p:cNvPr id="5" name="Picture 4" descr="logo.png"/>
          <p:cNvPicPr>
            <a:picLocks noChangeAspect="1"/>
          </p:cNvPicPr>
          <p:nvPr/>
        </p:nvPicPr>
        <p:blipFill>
          <a:blip r:embed="rId2"/>
          <a:stretch>
            <a:fillRect/>
          </a:stretch>
        </p:blipFill>
        <p:spPr>
          <a:xfrm>
            <a:off x="11081186" y="82166"/>
            <a:ext cx="916962" cy="343030"/>
          </a:xfrm>
          <a:prstGeom prst="rect">
            <a:avLst/>
          </a:prstGeom>
        </p:spPr>
      </p:pic>
      <p:sp>
        <p:nvSpPr>
          <p:cNvPr id="6" name="TextBox 5"/>
          <p:cNvSpPr txBox="1"/>
          <p:nvPr/>
        </p:nvSpPr>
        <p:spPr>
          <a:xfrm>
            <a:off x="493776" y="1200000"/>
            <a:ext cx="3300000" cy="220000"/>
          </a:xfrm>
          <a:prstGeom prst="rect">
            <a:avLst/>
          </a:prstGeom>
          <a:noFill/>
        </p:spPr>
        <p:txBody>
          <a:bodyPr wrap="square" lIns="0" tIns="0" rIns="0" bIns="0" anchor="t">
            <a:spAutoFit/>
          </a:bodyPr>
          <a:lstStyle/>
          <a:p>
            <a:pPr algn="l"/>
            <a:r>
              <a:rPr sz="1000" b="1">
                <a:solidFill>
                  <a:srgbClr val="2F3B3A"/>
                </a:solidFill>
                <a:latin typeface="Calibri"/>
              </a:rPr>
              <a:t>Regla de decisión</a:t>
            </a:r>
          </a:p>
        </p:txBody>
      </p:sp>
      <p:sp>
        <p:nvSpPr>
          <p:cNvPr id="7" name="TextBox 6"/>
          <p:cNvSpPr txBox="1"/>
          <p:nvPr/>
        </p:nvSpPr>
        <p:spPr>
          <a:xfrm>
            <a:off x="493776" y="1500000"/>
            <a:ext cx="3300000" cy="200000"/>
          </a:xfrm>
          <a:prstGeom prst="rect">
            <a:avLst/>
          </a:prstGeom>
          <a:noFill/>
        </p:spPr>
        <p:txBody>
          <a:bodyPr wrap="square" lIns="0" tIns="0" rIns="0" bIns="0" anchor="t">
            <a:spAutoFit/>
          </a:bodyPr>
          <a:lstStyle/>
          <a:p>
            <a:pPr algn="ctr"/>
            <a:r>
              <a:rPr sz="750" b="0">
                <a:solidFill>
                  <a:srgbClr val="6E7E7D"/>
                </a:solidFill>
                <a:latin typeface="Calibri"/>
              </a:rPr>
              <a:t>Tasa de la competencia frente a nuestro desembolso</a:t>
            </a:r>
          </a:p>
        </p:txBody>
      </p:sp>
      <p:sp>
        <p:nvSpPr>
          <p:cNvPr id="8" name="Rectangle 7"/>
          <p:cNvSpPr/>
          <p:nvPr/>
        </p:nvSpPr>
        <p:spPr>
          <a:xfrm>
            <a:off x="1193776" y="1760000"/>
            <a:ext cx="1270000" cy="380000"/>
          </a:xfrm>
          <a:prstGeom prst="rect">
            <a:avLst/>
          </a:prstGeom>
          <a:solidFill>
            <a:srgbClr val="FADBD8"/>
          </a:solidFill>
          <a:ln>
            <a:noFill/>
          </a:ln>
          <a:effectLst/>
        </p:spPr>
        <p:style>
          <a:lnRef idx="1">
            <a:schemeClr val="accent1"/>
          </a:lnRef>
          <a:fillRef idx="3">
            <a:schemeClr val="accent1"/>
          </a:fillRef>
          <a:effectRef idx="2">
            <a:schemeClr val="accent1"/>
          </a:effectRef>
          <a:fontRef idx="minor">
            <a:schemeClr val="lt1"/>
          </a:fontRef>
        </p:style>
        <p:txBody>
          <a:bodyPr wrap="square" lIns="30000" tIns="15000" rIns="30000" bIns="15000" rtlCol="0" anchor="ctr"/>
          <a:lstStyle/>
          <a:p>
            <a:pPr algn="ctr"/>
            <a:r>
              <a:rPr sz="1000" b="1">
                <a:solidFill>
                  <a:srgbClr val="E5173F"/>
                </a:solidFill>
                <a:latin typeface="Calibri"/>
              </a:rPr>
              <a:t>Por debajo o en línea</a:t>
            </a:r>
          </a:p>
        </p:txBody>
      </p:sp>
      <p:sp>
        <p:nvSpPr>
          <p:cNvPr id="9" name="Rectangle 8"/>
          <p:cNvSpPr/>
          <p:nvPr/>
        </p:nvSpPr>
        <p:spPr>
          <a:xfrm>
            <a:off x="2523776" y="1760000"/>
            <a:ext cx="1270000" cy="380000"/>
          </a:xfrm>
          <a:prstGeom prst="rect">
            <a:avLst/>
          </a:prstGeom>
          <a:solidFill>
            <a:srgbClr val="D5EBE8"/>
          </a:solidFill>
          <a:ln>
            <a:noFill/>
          </a:ln>
          <a:effectLst/>
        </p:spPr>
        <p:style>
          <a:lnRef idx="1">
            <a:schemeClr val="accent1"/>
          </a:lnRef>
          <a:fillRef idx="3">
            <a:schemeClr val="accent1"/>
          </a:fillRef>
          <a:effectRef idx="2">
            <a:schemeClr val="accent1"/>
          </a:effectRef>
          <a:fontRef idx="minor">
            <a:schemeClr val="lt1"/>
          </a:fontRef>
        </p:style>
        <p:txBody>
          <a:bodyPr wrap="square" lIns="30000" tIns="15000" rIns="30000" bIns="15000" rtlCol="0" anchor="ctr"/>
          <a:lstStyle/>
          <a:p>
            <a:pPr algn="ctr"/>
            <a:r>
              <a:rPr sz="1000" b="1">
                <a:solidFill>
                  <a:srgbClr val="13807B"/>
                </a:solidFill>
                <a:latin typeface="Calibri"/>
              </a:rPr>
              <a:t>Por encima</a:t>
            </a:r>
          </a:p>
        </p:txBody>
      </p:sp>
      <p:sp>
        <p:nvSpPr>
          <p:cNvPr id="10" name="Rectangle 9"/>
          <p:cNvSpPr/>
          <p:nvPr/>
        </p:nvSpPr>
        <p:spPr>
          <a:xfrm>
            <a:off x="493776" y="2956250"/>
            <a:ext cx="620000" cy="400000"/>
          </a:xfrm>
          <a:prstGeom prst="rect">
            <a:avLst/>
          </a:prstGeom>
          <a:solidFill>
            <a:srgbClr val="9FB0C7"/>
          </a:solidFill>
          <a:ln>
            <a:noFill/>
          </a:ln>
          <a:effectLst/>
        </p:spPr>
        <p:style>
          <a:lnRef idx="1">
            <a:schemeClr val="accent1"/>
          </a:lnRef>
          <a:fillRef idx="3">
            <a:schemeClr val="accent1"/>
          </a:fillRef>
          <a:effectRef idx="2">
            <a:schemeClr val="accent1"/>
          </a:effectRef>
          <a:fontRef idx="minor">
            <a:schemeClr val="lt1"/>
          </a:fontRef>
        </p:style>
        <p:txBody>
          <a:bodyPr wrap="square" lIns="20000" tIns="10000" rIns="20000" bIns="10000" rtlCol="0" anchor="ctr"/>
          <a:lstStyle/>
          <a:p>
            <a:pPr algn="ctr"/>
            <a:r>
              <a:rPr sz="1100" b="1">
                <a:solidFill>
                  <a:srgbClr val="FFFFFF"/>
                </a:solidFill>
                <a:latin typeface="Calibri"/>
              </a:rPr>
              <a:t>Media</a:t>
            </a:r>
          </a:p>
        </p:txBody>
      </p:sp>
      <p:sp>
        <p:nvSpPr>
          <p:cNvPr id="11" name="Rectangle 10"/>
          <p:cNvSpPr/>
          <p:nvPr/>
        </p:nvSpPr>
        <p:spPr>
          <a:xfrm>
            <a:off x="1193776" y="2220000"/>
            <a:ext cx="1270000" cy="1872500"/>
          </a:xfrm>
          <a:prstGeom prst="rect">
            <a:avLst/>
          </a:prstGeom>
          <a:solidFill>
            <a:srgbClr val="FADBD8"/>
          </a:solidFill>
          <a:ln>
            <a:noFill/>
          </a:ln>
          <a:effectLst/>
        </p:spPr>
        <p:style>
          <a:lnRef idx="1">
            <a:schemeClr val="accent1"/>
          </a:lnRef>
          <a:fillRef idx="3">
            <a:schemeClr val="accent1"/>
          </a:fillRef>
          <a:effectRef idx="2">
            <a:schemeClr val="accent1"/>
          </a:effectRef>
          <a:fontRef idx="minor">
            <a:schemeClr val="lt1"/>
          </a:fontRef>
        </p:style>
        <p:txBody>
          <a:bodyPr wrap="square" lIns="40000" tIns="20000" rIns="40000" bIns="20000" rtlCol="0" anchor="ctr"/>
          <a:lstStyle/>
          <a:p>
            <a:pPr algn="ctr"/>
            <a:r>
              <a:rPr sz="1300" b="1">
                <a:solidFill>
                  <a:srgbClr val="E5173F"/>
                </a:solidFill>
                <a:latin typeface="Calibri"/>
              </a:rPr>
              <a:t>Bajar de forma acotada</a:t>
            </a:r>
          </a:p>
        </p:txBody>
      </p:sp>
      <p:sp>
        <p:nvSpPr>
          <p:cNvPr id="12" name="Rectangle 11"/>
          <p:cNvSpPr/>
          <p:nvPr/>
        </p:nvSpPr>
        <p:spPr>
          <a:xfrm>
            <a:off x="2523776" y="2220000"/>
            <a:ext cx="1270000" cy="1872500"/>
          </a:xfrm>
          <a:prstGeom prst="rect">
            <a:avLst/>
          </a:prstGeom>
          <a:solidFill>
            <a:srgbClr val="D5EBE8"/>
          </a:solidFill>
          <a:ln>
            <a:noFill/>
          </a:ln>
          <a:effectLst/>
        </p:spPr>
        <p:style>
          <a:lnRef idx="1">
            <a:schemeClr val="accent1"/>
          </a:lnRef>
          <a:fillRef idx="3">
            <a:schemeClr val="accent1"/>
          </a:fillRef>
          <a:effectRef idx="2">
            <a:schemeClr val="accent1"/>
          </a:effectRef>
          <a:fontRef idx="minor">
            <a:schemeClr val="lt1"/>
          </a:fontRef>
        </p:style>
        <p:txBody>
          <a:bodyPr wrap="square" lIns="40000" tIns="20000" rIns="40000" bIns="20000" rtlCol="0" anchor="ctr"/>
          <a:lstStyle/>
          <a:p>
            <a:pPr algn="ctr"/>
            <a:r>
              <a:rPr sz="1300" b="1">
                <a:solidFill>
                  <a:srgbClr val="13807B"/>
                </a:solidFill>
                <a:latin typeface="Calibri"/>
              </a:rPr>
              <a:t>Subir de forma acotada</a:t>
            </a:r>
          </a:p>
        </p:txBody>
      </p:sp>
      <p:sp>
        <p:nvSpPr>
          <p:cNvPr id="13" name="Rectangle 12"/>
          <p:cNvSpPr/>
          <p:nvPr/>
        </p:nvSpPr>
        <p:spPr>
          <a:xfrm>
            <a:off x="493776" y="4908750"/>
            <a:ext cx="620000" cy="400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20000" tIns="10000" rIns="20000" bIns="10000" rtlCol="0" anchor="ctr"/>
          <a:lstStyle/>
          <a:p>
            <a:pPr algn="ctr"/>
            <a:r>
              <a:rPr sz="1100" b="1">
                <a:solidFill>
                  <a:srgbClr val="FFFFFF"/>
                </a:solidFill>
                <a:latin typeface="Calibri"/>
              </a:rPr>
              <a:t>Alta</a:t>
            </a:r>
          </a:p>
        </p:txBody>
      </p:sp>
      <p:sp>
        <p:nvSpPr>
          <p:cNvPr id="14" name="Rectangle 13"/>
          <p:cNvSpPr/>
          <p:nvPr/>
        </p:nvSpPr>
        <p:spPr>
          <a:xfrm>
            <a:off x="1193776" y="4172500"/>
            <a:ext cx="1270000" cy="1872500"/>
          </a:xfrm>
          <a:prstGeom prst="rect">
            <a:avLst/>
          </a:prstGeom>
          <a:solidFill>
            <a:srgbClr val="E5173F"/>
          </a:solidFill>
          <a:ln>
            <a:noFill/>
          </a:ln>
          <a:effectLst/>
        </p:spPr>
        <p:style>
          <a:lnRef idx="1">
            <a:schemeClr val="accent1"/>
          </a:lnRef>
          <a:fillRef idx="3">
            <a:schemeClr val="accent1"/>
          </a:fillRef>
          <a:effectRef idx="2">
            <a:schemeClr val="accent1"/>
          </a:effectRef>
          <a:fontRef idx="minor">
            <a:schemeClr val="lt1"/>
          </a:fontRef>
        </p:style>
        <p:txBody>
          <a:bodyPr wrap="square" lIns="40000" tIns="20000" rIns="40000" bIns="20000" rtlCol="0" anchor="ctr"/>
          <a:lstStyle/>
          <a:p>
            <a:pPr algn="ctr"/>
            <a:r>
              <a:rPr sz="1400" b="1">
                <a:solidFill>
                  <a:srgbClr val="FFFFFF"/>
                </a:solidFill>
                <a:latin typeface="Calibri"/>
              </a:rPr>
              <a:t>Bajar</a:t>
            </a:r>
          </a:p>
        </p:txBody>
      </p:sp>
      <p:sp>
        <p:nvSpPr>
          <p:cNvPr id="15" name="Rectangle 14"/>
          <p:cNvSpPr/>
          <p:nvPr/>
        </p:nvSpPr>
        <p:spPr>
          <a:xfrm>
            <a:off x="2523776" y="4172500"/>
            <a:ext cx="1270000" cy="1872500"/>
          </a:xfrm>
          <a:prstGeom prst="rect">
            <a:avLst/>
          </a:prstGeom>
          <a:solidFill>
            <a:srgbClr val="ECEFEF"/>
          </a:solidFill>
          <a:ln>
            <a:noFill/>
          </a:ln>
          <a:effectLst/>
        </p:spPr>
        <p:style>
          <a:lnRef idx="1">
            <a:schemeClr val="accent1"/>
          </a:lnRef>
          <a:fillRef idx="3">
            <a:schemeClr val="accent1"/>
          </a:fillRef>
          <a:effectRef idx="2">
            <a:schemeClr val="accent1"/>
          </a:effectRef>
          <a:fontRef idx="minor">
            <a:schemeClr val="lt1"/>
          </a:fontRef>
        </p:style>
        <p:txBody>
          <a:bodyPr wrap="square" lIns="40000" tIns="20000" rIns="40000" bIns="20000" rtlCol="0" anchor="ctr"/>
          <a:lstStyle/>
          <a:p>
            <a:pPr algn="ctr"/>
            <a:r>
              <a:rPr sz="1400" b="1">
                <a:solidFill>
                  <a:srgbClr val="2F3B3A"/>
                </a:solidFill>
                <a:latin typeface="Calibri"/>
              </a:rPr>
              <a:t>Mantener</a:t>
            </a:r>
          </a:p>
        </p:txBody>
      </p:sp>
      <p:graphicFrame>
        <p:nvGraphicFramePr>
          <p:cNvPr id="18" name="Table 17"/>
          <p:cNvGraphicFramePr>
            <a:graphicFrameLocks noGrp="1"/>
          </p:cNvGraphicFramePr>
          <p:nvPr>
            <p:extLst>
              <p:ext uri="{D42A27DB-BD31-4B8C-83A1-F6EECF244321}">
                <p14:modId xmlns:p14="http://schemas.microsoft.com/office/powerpoint/2010/main" val="2127301779"/>
              </p:ext>
            </p:extLst>
          </p:nvPr>
        </p:nvGraphicFramePr>
        <p:xfrm>
          <a:off x="4043776" y="1200000"/>
          <a:ext cx="5951400" cy="4845000"/>
        </p:xfrm>
        <a:graphic>
          <a:graphicData uri="http://schemas.openxmlformats.org/drawingml/2006/table">
            <a:tbl>
              <a:tblPr>
                <a:tableStyleId>{5C22544A-7EE6-4342-B048-85BDC9FD1C3A}</a:tableStyleId>
              </a:tblPr>
              <a:tblGrid>
                <a:gridCol w="800000">
                  <a:extLst>
                    <a:ext uri="{9D8B030D-6E8A-4147-A177-3AD203B41FA5}">
                      <a16:colId xmlns:a16="http://schemas.microsoft.com/office/drawing/2014/main" val="20000"/>
                    </a:ext>
                  </a:extLst>
                </a:gridCol>
                <a:gridCol w="900000">
                  <a:extLst>
                    <a:ext uri="{9D8B030D-6E8A-4147-A177-3AD203B41FA5}">
                      <a16:colId xmlns:a16="http://schemas.microsoft.com/office/drawing/2014/main" val="20001"/>
                    </a:ext>
                  </a:extLst>
                </a:gridCol>
                <a:gridCol w="950000">
                  <a:extLst>
                    <a:ext uri="{9D8B030D-6E8A-4147-A177-3AD203B41FA5}">
                      <a16:colId xmlns:a16="http://schemas.microsoft.com/office/drawing/2014/main" val="20002"/>
                    </a:ext>
                  </a:extLst>
                </a:gridCol>
                <a:gridCol w="950000">
                  <a:extLst>
                    <a:ext uri="{9D8B030D-6E8A-4147-A177-3AD203B41FA5}">
                      <a16:colId xmlns:a16="http://schemas.microsoft.com/office/drawing/2014/main" val="20003"/>
                    </a:ext>
                  </a:extLst>
                </a:gridCol>
                <a:gridCol w="2351400">
                  <a:extLst>
                    <a:ext uri="{9D8B030D-6E8A-4147-A177-3AD203B41FA5}">
                      <a16:colId xmlns:a16="http://schemas.microsoft.com/office/drawing/2014/main" val="20004"/>
                    </a:ext>
                  </a:extLst>
                </a:gridCol>
              </a:tblGrid>
              <a:tr h="255000">
                <a:tc>
                  <a:txBody>
                    <a:bodyPr/>
                    <a:lstStyle/>
                    <a:p>
                      <a:pPr algn="l"/>
                      <a:r>
                        <a:rPr sz="750" b="1">
                          <a:solidFill>
                            <a:srgbClr val="FFFFFF"/>
                          </a:solidFill>
                          <a:latin typeface="Calibri"/>
                        </a:rPr>
                        <a:t>Segmento</a:t>
                      </a:r>
                    </a:p>
                  </a:txBody>
                  <a:tcPr marL="45000" marR="45000" marT="12000" marB="12000" anchor="ctr">
                    <a:solidFill>
                      <a:srgbClr val="1F3A5F"/>
                    </a:solidFill>
                  </a:tcPr>
                </a:tc>
                <a:tc>
                  <a:txBody>
                    <a:bodyPr/>
                    <a:lstStyle/>
                    <a:p>
                      <a:pPr algn="l"/>
                      <a:r>
                        <a:rPr sz="750" b="1">
                          <a:solidFill>
                            <a:srgbClr val="FFFFFF"/>
                          </a:solidFill>
                          <a:latin typeface="Calibri"/>
                        </a:rPr>
                        <a:t>Apertura</a:t>
                      </a:r>
                    </a:p>
                  </a:txBody>
                  <a:tcPr marL="45000" marR="45000" marT="12000" marB="12000" anchor="ctr">
                    <a:solidFill>
                      <a:srgbClr val="1F3A5F"/>
                    </a:solidFill>
                  </a:tcPr>
                </a:tc>
                <a:tc>
                  <a:txBody>
                    <a:bodyPr/>
                    <a:lstStyle/>
                    <a:p>
                      <a:pPr algn="ctr"/>
                      <a:r>
                        <a:rPr sz="750" b="1">
                          <a:solidFill>
                            <a:srgbClr val="FFFFFF"/>
                          </a:solidFill>
                          <a:latin typeface="Calibri"/>
                        </a:rPr>
                        <a:t>Sensibilidad</a:t>
                      </a:r>
                    </a:p>
                  </a:txBody>
                  <a:tcPr marL="45000" marR="45000" marT="12000" marB="12000" anchor="ctr">
                    <a:solidFill>
                      <a:srgbClr val="1F3A5F"/>
                    </a:solidFill>
                  </a:tcPr>
                </a:tc>
                <a:tc>
                  <a:txBody>
                    <a:bodyPr/>
                    <a:lstStyle/>
                    <a:p>
                      <a:pPr algn="ctr"/>
                      <a:r>
                        <a:rPr sz="750" b="1">
                          <a:solidFill>
                            <a:srgbClr val="FFFFFF"/>
                          </a:solidFill>
                          <a:latin typeface="Calibri"/>
                        </a:rPr>
                        <a:t>Competencia</a:t>
                      </a:r>
                    </a:p>
                  </a:txBody>
                  <a:tcPr marL="45000" marR="45000" marT="12000" marB="12000" anchor="ctr">
                    <a:solidFill>
                      <a:srgbClr val="1F3A5F"/>
                    </a:solidFill>
                  </a:tcPr>
                </a:tc>
                <a:tc>
                  <a:txBody>
                    <a:bodyPr/>
                    <a:lstStyle/>
                    <a:p>
                      <a:pPr algn="l"/>
                      <a:r>
                        <a:rPr sz="750" b="1">
                          <a:solidFill>
                            <a:srgbClr val="FFFFFF"/>
                          </a:solidFill>
                          <a:latin typeface="Calibri"/>
                        </a:rPr>
                        <a:t>Piloto propuesto</a:t>
                      </a:r>
                    </a:p>
                  </a:txBody>
                  <a:tcPr marL="45000" marR="45000" marT="12000" marB="12000" anchor="ctr">
                    <a:solidFill>
                      <a:srgbClr val="1F3A5F"/>
                    </a:solidFill>
                  </a:tcPr>
                </a:tc>
                <a:extLst>
                  <a:ext uri="{0D108BD9-81ED-4DB2-BD59-A6C34878D82A}">
                    <a16:rowId xmlns:a16="http://schemas.microsoft.com/office/drawing/2014/main" val="10000"/>
                  </a:ext>
                </a:extLst>
              </a:tr>
              <a:tr h="255000">
                <a:tc>
                  <a:txBody>
                    <a:bodyPr/>
                    <a:lstStyle/>
                    <a:p>
                      <a:pPr algn="l"/>
                      <a:r>
                        <a:rPr sz="750" b="1">
                          <a:solidFill>
                            <a:srgbClr val="13807B"/>
                          </a:solidFill>
                          <a:latin typeface="Calibri"/>
                        </a:rPr>
                        <a:t>Ancla</a:t>
                      </a:r>
                    </a:p>
                  </a:txBody>
                  <a:tcPr marL="45000" marR="45000" marT="12000" marB="12000" anchor="ctr">
                    <a:solidFill>
                      <a:srgbClr val="FFFFFF"/>
                    </a:solidFill>
                  </a:tcPr>
                </a:tc>
                <a:tc>
                  <a:txBody>
                    <a:bodyPr/>
                    <a:lstStyle/>
                    <a:p>
                      <a:pPr algn="l"/>
                      <a:r>
                        <a:rPr sz="750" b="0">
                          <a:solidFill>
                            <a:srgbClr val="2F3B3A"/>
                          </a:solidFill>
                          <a:latin typeface="Calibri"/>
                        </a:rPr>
                        <a:t>≤ 170K</a:t>
                      </a:r>
                    </a:p>
                  </a:txBody>
                  <a:tcPr marL="45000" marR="45000" marT="12000" marB="12000" anchor="ctr">
                    <a:solidFill>
                      <a:srgbClr val="FFFFFF"/>
                    </a:solidFill>
                  </a:tcPr>
                </a:tc>
                <a:tc>
                  <a:txBody>
                    <a:bodyPr/>
                    <a:lstStyle/>
                    <a:p>
                      <a:pPr algn="ctr"/>
                      <a:r>
                        <a:rPr sz="750" b="1">
                          <a:solidFill>
                            <a:srgbClr val="6E7E7D"/>
                          </a:solidFill>
                          <a:latin typeface="Calibri"/>
                        </a:rPr>
                        <a:t>No significativa</a:t>
                      </a:r>
                    </a:p>
                  </a:txBody>
                  <a:tcPr marL="45000" marR="45000" marT="12000" marB="12000" anchor="ctr">
                    <a:solidFill>
                      <a:srgbClr val="F2F4F4"/>
                    </a:solidFill>
                  </a:tcPr>
                </a:tc>
                <a:tc>
                  <a:txBody>
                    <a:bodyPr/>
                    <a:lstStyle/>
                    <a:p>
                      <a:pPr algn="ctr"/>
                      <a:r>
                        <a:rPr sz="750" b="0">
                          <a:solidFill>
                            <a:srgbClr val="6E7E7D"/>
                          </a:solidFill>
                          <a:latin typeface="Calibri"/>
                        </a:rPr>
                        <a:t>Sin materialidad</a:t>
                      </a:r>
                    </a:p>
                  </a:txBody>
                  <a:tcPr marL="45000" marR="45000" marT="12000" marB="12000" anchor="ctr">
                    <a:solidFill>
                      <a:srgbClr val="F2F4F4"/>
                    </a:solidFill>
                  </a:tcPr>
                </a:tc>
                <a:tc>
                  <a:txBody>
                    <a:bodyPr/>
                    <a:lstStyle/>
                    <a:p>
                      <a:pPr algn="l"/>
                      <a:r>
                        <a:rPr sz="750" b="1">
                          <a:solidFill>
                            <a:srgbClr val="13807B"/>
                          </a:solidFill>
                          <a:latin typeface="Calibri"/>
                        </a:rPr>
                        <a:t>Siembra de precios: subir</a:t>
                      </a:r>
                    </a:p>
                  </a:txBody>
                  <a:tcPr marL="45000" marR="45000" marT="12000" marB="12000" anchor="ctr">
                    <a:solidFill>
                      <a:srgbClr val="D5EBE8"/>
                    </a:solidFill>
                  </a:tcPr>
                </a:tc>
                <a:extLst>
                  <a:ext uri="{0D108BD9-81ED-4DB2-BD59-A6C34878D82A}">
                    <a16:rowId xmlns:a16="http://schemas.microsoft.com/office/drawing/2014/main" val="10001"/>
                  </a:ext>
                </a:extLst>
              </a:tr>
              <a:tr h="255000">
                <a:tc>
                  <a:txBody>
                    <a:bodyPr/>
                    <a:lstStyle/>
                    <a:p>
                      <a:pPr algn="l"/>
                      <a:r>
                        <a:rPr sz="750" b="1">
                          <a:solidFill>
                            <a:srgbClr val="13807B"/>
                          </a:solidFill>
                          <a:latin typeface="Calibri"/>
                        </a:rPr>
                        <a:t>Ancla</a:t>
                      </a:r>
                    </a:p>
                  </a:txBody>
                  <a:tcPr marL="45000" marR="45000" marT="12000" marB="12000" anchor="ctr">
                    <a:solidFill>
                      <a:srgbClr val="F7F9F9"/>
                    </a:solidFill>
                  </a:tcPr>
                </a:tc>
                <a:tc>
                  <a:txBody>
                    <a:bodyPr/>
                    <a:lstStyle/>
                    <a:p>
                      <a:pPr algn="l"/>
                      <a:r>
                        <a:rPr sz="750" b="0">
                          <a:solidFill>
                            <a:srgbClr val="2F3B3A"/>
                          </a:solidFill>
                          <a:latin typeface="Calibri"/>
                        </a:rPr>
                        <a:t>&gt; 350K</a:t>
                      </a:r>
                    </a:p>
                  </a:txBody>
                  <a:tcPr marL="45000" marR="45000" marT="12000" marB="12000" anchor="ctr">
                    <a:solidFill>
                      <a:srgbClr val="F7F9F9"/>
                    </a:solidFill>
                  </a:tcPr>
                </a:tc>
                <a:tc>
                  <a:txBody>
                    <a:bodyPr/>
                    <a:lstStyle/>
                    <a:p>
                      <a:pPr algn="ctr"/>
                      <a:r>
                        <a:rPr sz="750" b="1">
                          <a:solidFill>
                            <a:srgbClr val="6E7E7D"/>
                          </a:solidFill>
                          <a:latin typeface="Calibri"/>
                        </a:rPr>
                        <a:t>No significativa</a:t>
                      </a:r>
                    </a:p>
                  </a:txBody>
                  <a:tcPr marL="45000" marR="45000" marT="12000" marB="12000" anchor="ctr">
                    <a:solidFill>
                      <a:srgbClr val="F2F4F4"/>
                    </a:solidFill>
                  </a:tcPr>
                </a:tc>
                <a:tc>
                  <a:txBody>
                    <a:bodyPr/>
                    <a:lstStyle/>
                    <a:p>
                      <a:pPr algn="ctr"/>
                      <a:r>
                        <a:rPr sz="750" b="1">
                          <a:solidFill>
                            <a:srgbClr val="E5173F"/>
                          </a:solidFill>
                          <a:latin typeface="Calibri"/>
                        </a:rPr>
                        <a:t>Por debajo</a:t>
                      </a:r>
                    </a:p>
                  </a:txBody>
                  <a:tcPr marL="45000" marR="45000" marT="12000" marB="12000" anchor="ctr">
                    <a:solidFill>
                      <a:srgbClr val="FADBD8"/>
                    </a:solidFill>
                  </a:tcPr>
                </a:tc>
                <a:tc>
                  <a:txBody>
                    <a:bodyPr/>
                    <a:lstStyle/>
                    <a:p>
                      <a:pPr algn="l"/>
                      <a:r>
                        <a:rPr sz="750" b="1">
                          <a:solidFill>
                            <a:srgbClr val="E5173F"/>
                          </a:solidFill>
                          <a:latin typeface="Calibri"/>
                        </a:rPr>
                        <a:t>Siembra de precios: bajar</a:t>
                      </a:r>
                    </a:p>
                  </a:txBody>
                  <a:tcPr marL="45000" marR="45000" marT="12000" marB="12000" anchor="ctr">
                    <a:solidFill>
                      <a:srgbClr val="FADBD8"/>
                    </a:solidFill>
                  </a:tcPr>
                </a:tc>
                <a:extLst>
                  <a:ext uri="{0D108BD9-81ED-4DB2-BD59-A6C34878D82A}">
                    <a16:rowId xmlns:a16="http://schemas.microsoft.com/office/drawing/2014/main" val="10002"/>
                  </a:ext>
                </a:extLst>
              </a:tr>
              <a:tr h="255000">
                <a:tc>
                  <a:txBody>
                    <a:bodyPr/>
                    <a:lstStyle/>
                    <a:p>
                      <a:pPr algn="l"/>
                      <a:r>
                        <a:rPr sz="750" b="1">
                          <a:solidFill>
                            <a:srgbClr val="C2410C"/>
                          </a:solidFill>
                          <a:latin typeface="Calibri"/>
                        </a:rPr>
                        <a:t>Estratégica</a:t>
                      </a:r>
                    </a:p>
                  </a:txBody>
                  <a:tcPr marL="45000" marR="45000" marT="12000" marB="12000" anchor="ctr">
                    <a:solidFill>
                      <a:srgbClr val="FFFFFF"/>
                    </a:solidFill>
                  </a:tcPr>
                </a:tc>
                <a:tc>
                  <a:txBody>
                    <a:bodyPr/>
                    <a:lstStyle/>
                    <a:p>
                      <a:pPr algn="l"/>
                      <a:r>
                        <a:rPr sz="750" b="0">
                          <a:solidFill>
                            <a:srgbClr val="2F3B3A"/>
                          </a:solidFill>
                          <a:latin typeface="Calibri"/>
                        </a:rPr>
                        <a:t>≤ 170K</a:t>
                      </a:r>
                    </a:p>
                  </a:txBody>
                  <a:tcPr marL="45000" marR="45000" marT="12000" marB="12000" anchor="ctr">
                    <a:solidFill>
                      <a:srgbClr val="FFFFFF"/>
                    </a:solidFill>
                  </a:tcPr>
                </a:tc>
                <a:tc>
                  <a:txBody>
                    <a:bodyPr/>
                    <a:lstStyle/>
                    <a:p>
                      <a:pPr algn="ctr"/>
                      <a:r>
                        <a:rPr sz="750" b="1">
                          <a:solidFill>
                            <a:srgbClr val="FFFFFF"/>
                          </a:solidFill>
                          <a:latin typeface="Calibri"/>
                        </a:rPr>
                        <a:t>Media</a:t>
                      </a:r>
                    </a:p>
                  </a:txBody>
                  <a:tcPr marL="45000" marR="45000" marT="12000" marB="12000" anchor="ctr">
                    <a:solidFill>
                      <a:srgbClr val="9FB0C7"/>
                    </a:solidFill>
                  </a:tcPr>
                </a:tc>
                <a:tc>
                  <a:txBody>
                    <a:bodyPr/>
                    <a:lstStyle/>
                    <a:p>
                      <a:pPr algn="ctr"/>
                      <a:r>
                        <a:rPr sz="750" b="0">
                          <a:solidFill>
                            <a:srgbClr val="6E7E7D"/>
                          </a:solidFill>
                          <a:latin typeface="Calibri"/>
                        </a:rPr>
                        <a:t>Sin materialidad</a:t>
                      </a:r>
                    </a:p>
                  </a:txBody>
                  <a:tcPr marL="45000" marR="45000" marT="12000" marB="12000" anchor="ctr">
                    <a:solidFill>
                      <a:srgbClr val="F2F4F4"/>
                    </a:solidFill>
                  </a:tcPr>
                </a:tc>
                <a:tc>
                  <a:txBody>
                    <a:bodyPr/>
                    <a:lstStyle/>
                    <a:p>
                      <a:pPr algn="l"/>
                      <a:r>
                        <a:rPr sz="750" b="1" dirty="0">
                          <a:solidFill>
                            <a:srgbClr val="13807B"/>
                          </a:solidFill>
                          <a:latin typeface="Calibri"/>
                        </a:rPr>
                        <a:t>Subir de forma </a:t>
                      </a:r>
                      <a:r>
                        <a:rPr sz="750" b="1" dirty="0" err="1">
                          <a:solidFill>
                            <a:srgbClr val="13807B"/>
                          </a:solidFill>
                          <a:latin typeface="Calibri"/>
                        </a:rPr>
                        <a:t>acotada</a:t>
                      </a:r>
                      <a:endParaRPr sz="750" b="1" dirty="0">
                        <a:solidFill>
                          <a:srgbClr val="13807B"/>
                        </a:solidFill>
                        <a:latin typeface="Calibri"/>
                      </a:endParaRPr>
                    </a:p>
                  </a:txBody>
                  <a:tcPr marL="45000" marR="45000" marT="12000" marB="12000" anchor="ctr">
                    <a:solidFill>
                      <a:srgbClr val="D5EBE8"/>
                    </a:solidFill>
                  </a:tcPr>
                </a:tc>
                <a:extLst>
                  <a:ext uri="{0D108BD9-81ED-4DB2-BD59-A6C34878D82A}">
                    <a16:rowId xmlns:a16="http://schemas.microsoft.com/office/drawing/2014/main" val="10003"/>
                  </a:ext>
                </a:extLst>
              </a:tr>
              <a:tr h="255000">
                <a:tc>
                  <a:txBody>
                    <a:bodyPr/>
                    <a:lstStyle/>
                    <a:p>
                      <a:pPr algn="l"/>
                      <a:r>
                        <a:rPr sz="750" b="1">
                          <a:solidFill>
                            <a:srgbClr val="C2410C"/>
                          </a:solidFill>
                          <a:latin typeface="Calibri"/>
                        </a:rPr>
                        <a:t>Estratégica</a:t>
                      </a:r>
                    </a:p>
                  </a:txBody>
                  <a:tcPr marL="45000" marR="45000" marT="12000" marB="12000" anchor="ctr">
                    <a:solidFill>
                      <a:srgbClr val="F7F9F9"/>
                    </a:solidFill>
                  </a:tcPr>
                </a:tc>
                <a:tc>
                  <a:txBody>
                    <a:bodyPr/>
                    <a:lstStyle/>
                    <a:p>
                      <a:pPr algn="l"/>
                      <a:r>
                        <a:rPr sz="750" b="0">
                          <a:solidFill>
                            <a:srgbClr val="2F3B3A"/>
                          </a:solidFill>
                          <a:latin typeface="Calibri"/>
                        </a:rPr>
                        <a:t>&gt; 350K</a:t>
                      </a:r>
                    </a:p>
                  </a:txBody>
                  <a:tcPr marL="45000" marR="45000" marT="12000" marB="12000" anchor="ctr">
                    <a:solidFill>
                      <a:srgbClr val="F7F9F9"/>
                    </a:solidFill>
                  </a:tcPr>
                </a:tc>
                <a:tc>
                  <a:txBody>
                    <a:bodyPr/>
                    <a:lstStyle/>
                    <a:p>
                      <a:pPr algn="ctr"/>
                      <a:r>
                        <a:rPr sz="750" b="1">
                          <a:solidFill>
                            <a:srgbClr val="FFFFFF"/>
                          </a:solidFill>
                          <a:latin typeface="Calibri"/>
                        </a:rPr>
                        <a:t>Media</a:t>
                      </a:r>
                    </a:p>
                  </a:txBody>
                  <a:tcPr marL="45000" marR="45000" marT="12000" marB="12000" anchor="ctr">
                    <a:solidFill>
                      <a:srgbClr val="9FB0C7"/>
                    </a:solidFill>
                  </a:tcPr>
                </a:tc>
                <a:tc>
                  <a:txBody>
                    <a:bodyPr/>
                    <a:lstStyle/>
                    <a:p>
                      <a:pPr algn="ctr"/>
                      <a:r>
                        <a:rPr sz="750" b="1">
                          <a:solidFill>
                            <a:srgbClr val="E5173F"/>
                          </a:solidFill>
                          <a:latin typeface="Calibri"/>
                        </a:rPr>
                        <a:t>Por debajo</a:t>
                      </a:r>
                    </a:p>
                  </a:txBody>
                  <a:tcPr marL="45000" marR="45000" marT="12000" marB="12000" anchor="ctr">
                    <a:solidFill>
                      <a:srgbClr val="FADBD8"/>
                    </a:solidFill>
                  </a:tcPr>
                </a:tc>
                <a:tc>
                  <a:txBody>
                    <a:bodyPr/>
                    <a:lstStyle/>
                    <a:p>
                      <a:pPr algn="l"/>
                      <a:r>
                        <a:rPr sz="750" b="1">
                          <a:solidFill>
                            <a:srgbClr val="E5173F"/>
                          </a:solidFill>
                          <a:latin typeface="Calibri"/>
                        </a:rPr>
                        <a:t>Bajar de forma acotada</a:t>
                      </a:r>
                    </a:p>
                  </a:txBody>
                  <a:tcPr marL="45000" marR="45000" marT="12000" marB="12000" anchor="ctr">
                    <a:solidFill>
                      <a:srgbClr val="FADBD8"/>
                    </a:solidFill>
                  </a:tcPr>
                </a:tc>
                <a:extLst>
                  <a:ext uri="{0D108BD9-81ED-4DB2-BD59-A6C34878D82A}">
                    <a16:rowId xmlns:a16="http://schemas.microsoft.com/office/drawing/2014/main" val="10004"/>
                  </a:ext>
                </a:extLst>
              </a:tr>
              <a:tr h="255000">
                <a:tc>
                  <a:txBody>
                    <a:bodyPr/>
                    <a:lstStyle/>
                    <a:p>
                      <a:pPr algn="l"/>
                      <a:r>
                        <a:rPr sz="750" b="1">
                          <a:solidFill>
                            <a:srgbClr val="1F3A5F"/>
                          </a:solidFill>
                          <a:latin typeface="Calibri"/>
                        </a:rPr>
                        <a:t>Maduro</a:t>
                      </a:r>
                    </a:p>
                  </a:txBody>
                  <a:tcPr marL="45000" marR="45000" marT="12000" marB="12000" anchor="ctr">
                    <a:solidFill>
                      <a:srgbClr val="F7F9F9"/>
                    </a:solidFill>
                  </a:tcPr>
                </a:tc>
                <a:tc>
                  <a:txBody>
                    <a:bodyPr/>
                    <a:lstStyle/>
                    <a:p>
                      <a:pPr algn="l"/>
                      <a:r>
                        <a:rPr sz="750" b="0">
                          <a:solidFill>
                            <a:srgbClr val="2F3B3A"/>
                          </a:solidFill>
                          <a:latin typeface="Calibri"/>
                        </a:rPr>
                        <a:t>250–350K</a:t>
                      </a:r>
                    </a:p>
                  </a:txBody>
                  <a:tcPr marL="45000" marR="45000" marT="12000" marB="12000" anchor="ctr">
                    <a:solidFill>
                      <a:srgbClr val="F7F9F9"/>
                    </a:solidFill>
                  </a:tcPr>
                </a:tc>
                <a:tc>
                  <a:txBody>
                    <a:bodyPr/>
                    <a:lstStyle/>
                    <a:p>
                      <a:pPr algn="ctr"/>
                      <a:r>
                        <a:rPr sz="750" b="1">
                          <a:solidFill>
                            <a:srgbClr val="FFFFFF"/>
                          </a:solidFill>
                          <a:latin typeface="Calibri"/>
                        </a:rPr>
                        <a:t>Alta</a:t>
                      </a:r>
                    </a:p>
                  </a:txBody>
                  <a:tcPr marL="45000" marR="45000" marT="12000" marB="12000" anchor="ctr">
                    <a:solidFill>
                      <a:srgbClr val="1F3A5F"/>
                    </a:solidFill>
                  </a:tcPr>
                </a:tc>
                <a:tc>
                  <a:txBody>
                    <a:bodyPr/>
                    <a:lstStyle/>
                    <a:p>
                      <a:pPr algn="ctr"/>
                      <a:r>
                        <a:rPr sz="750" b="1">
                          <a:solidFill>
                            <a:srgbClr val="E5173F"/>
                          </a:solidFill>
                          <a:latin typeface="Calibri"/>
                        </a:rPr>
                        <a:t>Por debajo</a:t>
                      </a:r>
                    </a:p>
                  </a:txBody>
                  <a:tcPr marL="45000" marR="45000" marT="12000" marB="12000" anchor="ctr">
                    <a:solidFill>
                      <a:srgbClr val="FADBD8"/>
                    </a:solidFill>
                  </a:tcPr>
                </a:tc>
                <a:tc>
                  <a:txBody>
                    <a:bodyPr/>
                    <a:lstStyle/>
                    <a:p>
                      <a:pPr algn="l"/>
                      <a:r>
                        <a:rPr sz="750" b="1">
                          <a:solidFill>
                            <a:srgbClr val="FFFFFF"/>
                          </a:solidFill>
                          <a:latin typeface="Calibri"/>
                        </a:rPr>
                        <a:t>Bajar</a:t>
                      </a:r>
                    </a:p>
                  </a:txBody>
                  <a:tcPr marL="45000" marR="45000" marT="12000" marB="12000" anchor="ctr">
                    <a:solidFill>
                      <a:srgbClr val="E5173F"/>
                    </a:solidFill>
                  </a:tcPr>
                </a:tc>
                <a:extLst>
                  <a:ext uri="{0D108BD9-81ED-4DB2-BD59-A6C34878D82A}">
                    <a16:rowId xmlns:a16="http://schemas.microsoft.com/office/drawing/2014/main" val="10006"/>
                  </a:ext>
                </a:extLst>
              </a:tr>
              <a:tr h="255000">
                <a:tc>
                  <a:txBody>
                    <a:bodyPr/>
                    <a:lstStyle/>
                    <a:p>
                      <a:pPr algn="l"/>
                      <a:r>
                        <a:rPr sz="750" b="1">
                          <a:solidFill>
                            <a:srgbClr val="1F3A5F"/>
                          </a:solidFill>
                          <a:latin typeface="Calibri"/>
                        </a:rPr>
                        <a:t>Maduro</a:t>
                      </a:r>
                    </a:p>
                  </a:txBody>
                  <a:tcPr marL="45000" marR="45000" marT="12000" marB="12000" anchor="ctr">
                    <a:solidFill>
                      <a:srgbClr val="FFFFFF"/>
                    </a:solidFill>
                  </a:tcPr>
                </a:tc>
                <a:tc>
                  <a:txBody>
                    <a:bodyPr/>
                    <a:lstStyle/>
                    <a:p>
                      <a:pPr algn="l"/>
                      <a:r>
                        <a:rPr sz="750" b="0">
                          <a:solidFill>
                            <a:srgbClr val="2F3B3A"/>
                          </a:solidFill>
                          <a:latin typeface="Calibri"/>
                        </a:rPr>
                        <a:t>&gt; 350K</a:t>
                      </a:r>
                    </a:p>
                  </a:txBody>
                  <a:tcPr marL="45000" marR="45000" marT="12000" marB="12000" anchor="ctr">
                    <a:solidFill>
                      <a:srgbClr val="FFFFFF"/>
                    </a:solidFill>
                  </a:tcPr>
                </a:tc>
                <a:tc>
                  <a:txBody>
                    <a:bodyPr/>
                    <a:lstStyle/>
                    <a:p>
                      <a:pPr algn="ctr"/>
                      <a:r>
                        <a:rPr sz="750" b="1">
                          <a:solidFill>
                            <a:srgbClr val="FFFFFF"/>
                          </a:solidFill>
                          <a:latin typeface="Calibri"/>
                        </a:rPr>
                        <a:t>Alta</a:t>
                      </a:r>
                    </a:p>
                  </a:txBody>
                  <a:tcPr marL="45000" marR="45000" marT="12000" marB="12000" anchor="ctr">
                    <a:solidFill>
                      <a:srgbClr val="1F3A5F"/>
                    </a:solidFill>
                  </a:tcPr>
                </a:tc>
                <a:tc>
                  <a:txBody>
                    <a:bodyPr/>
                    <a:lstStyle/>
                    <a:p>
                      <a:pPr algn="ctr"/>
                      <a:r>
                        <a:rPr sz="750" b="1">
                          <a:solidFill>
                            <a:srgbClr val="E5173F"/>
                          </a:solidFill>
                          <a:latin typeface="Calibri"/>
                        </a:rPr>
                        <a:t>En línea</a:t>
                      </a:r>
                    </a:p>
                  </a:txBody>
                  <a:tcPr marL="45000" marR="45000" marT="12000" marB="12000" anchor="ctr">
                    <a:solidFill>
                      <a:srgbClr val="FCE9E7"/>
                    </a:solidFill>
                  </a:tcPr>
                </a:tc>
                <a:tc>
                  <a:txBody>
                    <a:bodyPr/>
                    <a:lstStyle/>
                    <a:p>
                      <a:pPr algn="l"/>
                      <a:r>
                        <a:rPr sz="750" b="1">
                          <a:solidFill>
                            <a:srgbClr val="FFFFFF"/>
                          </a:solidFill>
                          <a:latin typeface="Calibri"/>
                        </a:rPr>
                        <a:t>Bajar</a:t>
                      </a:r>
                    </a:p>
                  </a:txBody>
                  <a:tcPr marL="45000" marR="45000" marT="12000" marB="12000" anchor="ctr">
                    <a:solidFill>
                      <a:srgbClr val="E5173F"/>
                    </a:solidFill>
                  </a:tcPr>
                </a:tc>
                <a:extLst>
                  <a:ext uri="{0D108BD9-81ED-4DB2-BD59-A6C34878D82A}">
                    <a16:rowId xmlns:a16="http://schemas.microsoft.com/office/drawing/2014/main" val="10005"/>
                  </a:ext>
                </a:extLst>
              </a:tr>
              <a:tr h="255000">
                <a:tc>
                  <a:txBody>
                    <a:bodyPr/>
                    <a:lstStyle/>
                    <a:p>
                      <a:pPr algn="l"/>
                      <a:r>
                        <a:rPr sz="750" b="1">
                          <a:solidFill>
                            <a:srgbClr val="13807B"/>
                          </a:solidFill>
                          <a:latin typeface="Calibri"/>
                        </a:rPr>
                        <a:t>Socio</a:t>
                      </a:r>
                    </a:p>
                  </a:txBody>
                  <a:tcPr marL="45000" marR="45000" marT="12000" marB="12000" anchor="ctr">
                    <a:solidFill>
                      <a:srgbClr val="F7F9F9"/>
                    </a:solidFill>
                  </a:tcPr>
                </a:tc>
                <a:tc>
                  <a:txBody>
                    <a:bodyPr/>
                    <a:lstStyle/>
                    <a:p>
                      <a:pPr algn="l"/>
                      <a:r>
                        <a:rPr sz="750" b="0">
                          <a:solidFill>
                            <a:srgbClr val="2F3B3A"/>
                          </a:solidFill>
                          <a:latin typeface="Calibri"/>
                        </a:rPr>
                        <a:t>Pasivos &lt; 1K</a:t>
                      </a:r>
                    </a:p>
                  </a:txBody>
                  <a:tcPr marL="45000" marR="45000" marT="12000" marB="12000" anchor="ctr">
                    <a:solidFill>
                      <a:srgbClr val="F7F9F9"/>
                    </a:solidFill>
                  </a:tcPr>
                </a:tc>
                <a:tc>
                  <a:txBody>
                    <a:bodyPr/>
                    <a:lstStyle/>
                    <a:p>
                      <a:pPr algn="ctr"/>
                      <a:r>
                        <a:rPr sz="750" b="1">
                          <a:solidFill>
                            <a:srgbClr val="6E7E7D"/>
                          </a:solidFill>
                          <a:latin typeface="Calibri"/>
                        </a:rPr>
                        <a:t>No significativa</a:t>
                      </a:r>
                    </a:p>
                  </a:txBody>
                  <a:tcPr marL="45000" marR="45000" marT="12000" marB="12000" anchor="ctr">
                    <a:solidFill>
                      <a:srgbClr val="F2F4F4"/>
                    </a:solidFill>
                  </a:tcPr>
                </a:tc>
                <a:tc>
                  <a:txBody>
                    <a:bodyPr/>
                    <a:lstStyle/>
                    <a:p>
                      <a:pPr algn="ctr"/>
                      <a:r>
                        <a:rPr sz="750" b="1">
                          <a:solidFill>
                            <a:srgbClr val="E5173F"/>
                          </a:solidFill>
                          <a:latin typeface="Calibri"/>
                        </a:rPr>
                        <a:t>En línea</a:t>
                      </a:r>
                    </a:p>
                  </a:txBody>
                  <a:tcPr marL="45000" marR="45000" marT="12000" marB="12000" anchor="ctr">
                    <a:solidFill>
                      <a:srgbClr val="FCE9E7"/>
                    </a:solidFill>
                  </a:tcPr>
                </a:tc>
                <a:tc>
                  <a:txBody>
                    <a:bodyPr/>
                    <a:lstStyle/>
                    <a:p>
                      <a:pPr algn="l"/>
                      <a:r>
                        <a:rPr sz="750" b="1">
                          <a:solidFill>
                            <a:srgbClr val="E5173F"/>
                          </a:solidFill>
                          <a:latin typeface="Calibri"/>
                        </a:rPr>
                        <a:t>Siembra de precios: bajar</a:t>
                      </a:r>
                    </a:p>
                  </a:txBody>
                  <a:tcPr marL="45000" marR="45000" marT="12000" marB="12000" anchor="ctr">
                    <a:solidFill>
                      <a:srgbClr val="FADBD8"/>
                    </a:solidFill>
                  </a:tcPr>
                </a:tc>
                <a:extLst>
                  <a:ext uri="{0D108BD9-81ED-4DB2-BD59-A6C34878D82A}">
                    <a16:rowId xmlns:a16="http://schemas.microsoft.com/office/drawing/2014/main" val="10008"/>
                  </a:ext>
                </a:extLst>
              </a:tr>
              <a:tr h="255000">
                <a:tc>
                  <a:txBody>
                    <a:bodyPr/>
                    <a:lstStyle/>
                    <a:p>
                      <a:pPr algn="l"/>
                      <a:r>
                        <a:rPr sz="750" b="1">
                          <a:solidFill>
                            <a:srgbClr val="13807B"/>
                          </a:solidFill>
                          <a:latin typeface="Calibri"/>
                        </a:rPr>
                        <a:t>Socio</a:t>
                      </a:r>
                    </a:p>
                  </a:txBody>
                  <a:tcPr marL="45000" marR="45000" marT="12000" marB="12000" anchor="ctr">
                    <a:solidFill>
                      <a:srgbClr val="FFFFFF"/>
                    </a:solidFill>
                  </a:tcPr>
                </a:tc>
                <a:tc>
                  <a:txBody>
                    <a:bodyPr/>
                    <a:lstStyle/>
                    <a:p>
                      <a:pPr algn="l"/>
                      <a:r>
                        <a:rPr sz="750" b="0">
                          <a:solidFill>
                            <a:srgbClr val="2F3B3A"/>
                          </a:solidFill>
                          <a:latin typeface="Calibri"/>
                        </a:rPr>
                        <a:t>Pasivos ≥ 5K</a:t>
                      </a:r>
                    </a:p>
                  </a:txBody>
                  <a:tcPr marL="45000" marR="45000" marT="12000" marB="12000" anchor="ctr">
                    <a:solidFill>
                      <a:srgbClr val="FFFFFF"/>
                    </a:solidFill>
                  </a:tcPr>
                </a:tc>
                <a:tc>
                  <a:txBody>
                    <a:bodyPr/>
                    <a:lstStyle/>
                    <a:p>
                      <a:pPr algn="ctr"/>
                      <a:r>
                        <a:rPr sz="750" b="1">
                          <a:solidFill>
                            <a:srgbClr val="6E7E7D"/>
                          </a:solidFill>
                          <a:latin typeface="Calibri"/>
                        </a:rPr>
                        <a:t>No significativa</a:t>
                      </a:r>
                    </a:p>
                  </a:txBody>
                  <a:tcPr marL="45000" marR="45000" marT="12000" marB="12000" anchor="ctr">
                    <a:solidFill>
                      <a:srgbClr val="F2F4F4"/>
                    </a:solidFill>
                  </a:tcPr>
                </a:tc>
                <a:tc>
                  <a:txBody>
                    <a:bodyPr/>
                    <a:lstStyle/>
                    <a:p>
                      <a:pPr algn="ctr"/>
                      <a:r>
                        <a:rPr sz="750" b="1">
                          <a:solidFill>
                            <a:srgbClr val="E5173F"/>
                          </a:solidFill>
                          <a:latin typeface="Calibri"/>
                        </a:rPr>
                        <a:t>En línea</a:t>
                      </a:r>
                    </a:p>
                  </a:txBody>
                  <a:tcPr marL="45000" marR="45000" marT="12000" marB="12000" anchor="ctr">
                    <a:solidFill>
                      <a:srgbClr val="FCE9E7"/>
                    </a:solidFill>
                  </a:tcPr>
                </a:tc>
                <a:tc>
                  <a:txBody>
                    <a:bodyPr/>
                    <a:lstStyle/>
                    <a:p>
                      <a:pPr algn="l"/>
                      <a:r>
                        <a:rPr sz="750" b="1">
                          <a:solidFill>
                            <a:srgbClr val="E5173F"/>
                          </a:solidFill>
                          <a:latin typeface="Calibri"/>
                        </a:rPr>
                        <a:t>Siembra de precios: bajar</a:t>
                      </a:r>
                    </a:p>
                  </a:txBody>
                  <a:tcPr marL="45000" marR="45000" marT="12000" marB="12000" anchor="ctr">
                    <a:solidFill>
                      <a:srgbClr val="FADBD8"/>
                    </a:solidFill>
                  </a:tcPr>
                </a:tc>
                <a:extLst>
                  <a:ext uri="{0D108BD9-81ED-4DB2-BD59-A6C34878D82A}">
                    <a16:rowId xmlns:a16="http://schemas.microsoft.com/office/drawing/2014/main" val="10007"/>
                  </a:ext>
                </a:extLst>
              </a:tr>
              <a:tr h="255000">
                <a:tc>
                  <a:txBody>
                    <a:bodyPr/>
                    <a:lstStyle/>
                    <a:p>
                      <a:pPr algn="l"/>
                      <a:r>
                        <a:rPr sz="750" b="1">
                          <a:solidFill>
                            <a:srgbClr val="C2410C"/>
                          </a:solidFill>
                          <a:latin typeface="Calibri"/>
                        </a:rPr>
                        <a:t>Gran Cuenta</a:t>
                      </a:r>
                    </a:p>
                  </a:txBody>
                  <a:tcPr marL="45000" marR="45000" marT="12000" marB="12000" anchor="ctr">
                    <a:solidFill>
                      <a:srgbClr val="FFFFFF"/>
                    </a:solidFill>
                  </a:tcPr>
                </a:tc>
                <a:tc>
                  <a:txBody>
                    <a:bodyPr/>
                    <a:lstStyle/>
                    <a:p>
                      <a:pPr algn="l"/>
                      <a:r>
                        <a:rPr sz="750" b="0">
                          <a:solidFill>
                            <a:srgbClr val="2F3B3A"/>
                          </a:solidFill>
                          <a:latin typeface="Calibri"/>
                        </a:rPr>
                        <a:t>SSFF ≤ 1,5MM</a:t>
                      </a:r>
                    </a:p>
                  </a:txBody>
                  <a:tcPr marL="45000" marR="45000" marT="12000" marB="12000" anchor="ctr">
                    <a:solidFill>
                      <a:srgbClr val="FFFFFF"/>
                    </a:solidFill>
                  </a:tcPr>
                </a:tc>
                <a:tc>
                  <a:txBody>
                    <a:bodyPr/>
                    <a:lstStyle/>
                    <a:p>
                      <a:pPr algn="ctr"/>
                      <a:r>
                        <a:rPr sz="750" b="1">
                          <a:solidFill>
                            <a:srgbClr val="FFFFFF"/>
                          </a:solidFill>
                          <a:latin typeface="Calibri"/>
                        </a:rPr>
                        <a:t>Media</a:t>
                      </a:r>
                    </a:p>
                  </a:txBody>
                  <a:tcPr marL="45000" marR="45000" marT="12000" marB="12000" anchor="ctr">
                    <a:solidFill>
                      <a:srgbClr val="9FB0C7"/>
                    </a:solidFill>
                  </a:tcPr>
                </a:tc>
                <a:tc>
                  <a:txBody>
                    <a:bodyPr/>
                    <a:lstStyle/>
                    <a:p>
                      <a:pPr algn="ctr"/>
                      <a:r>
                        <a:rPr sz="750" b="1">
                          <a:solidFill>
                            <a:srgbClr val="13807B"/>
                          </a:solidFill>
                          <a:latin typeface="Calibri"/>
                        </a:rPr>
                        <a:t>Por encima</a:t>
                      </a:r>
                    </a:p>
                  </a:txBody>
                  <a:tcPr marL="45000" marR="45000" marT="12000" marB="12000" anchor="ctr">
                    <a:solidFill>
                      <a:srgbClr val="D5EBE8"/>
                    </a:solidFill>
                  </a:tcPr>
                </a:tc>
                <a:tc>
                  <a:txBody>
                    <a:bodyPr/>
                    <a:lstStyle/>
                    <a:p>
                      <a:pPr algn="l"/>
                      <a:r>
                        <a:rPr sz="750" b="1">
                          <a:solidFill>
                            <a:srgbClr val="13807B"/>
                          </a:solidFill>
                          <a:latin typeface="Calibri"/>
                        </a:rPr>
                        <a:t>Subir de forma acotada, monitoreando el share</a:t>
                      </a:r>
                    </a:p>
                  </a:txBody>
                  <a:tcPr marL="45000" marR="45000" marT="12000" marB="12000" anchor="ctr">
                    <a:solidFill>
                      <a:srgbClr val="D5EBE8"/>
                    </a:solidFill>
                  </a:tcPr>
                </a:tc>
                <a:extLst>
                  <a:ext uri="{0D108BD9-81ED-4DB2-BD59-A6C34878D82A}">
                    <a16:rowId xmlns:a16="http://schemas.microsoft.com/office/drawing/2014/main" val="10009"/>
                  </a:ext>
                </a:extLst>
              </a:tr>
              <a:tr h="255000">
                <a:tc>
                  <a:txBody>
                    <a:bodyPr/>
                    <a:lstStyle/>
                    <a:p>
                      <a:pPr algn="l"/>
                      <a:r>
                        <a:rPr sz="750" b="1">
                          <a:solidFill>
                            <a:srgbClr val="C2410C"/>
                          </a:solidFill>
                          <a:latin typeface="Calibri"/>
                        </a:rPr>
                        <a:t>Gran Cuenta</a:t>
                      </a:r>
                    </a:p>
                  </a:txBody>
                  <a:tcPr marL="45000" marR="45000" marT="12000" marB="12000" anchor="ctr">
                    <a:solidFill>
                      <a:srgbClr val="F7F9F9"/>
                    </a:solidFill>
                  </a:tcPr>
                </a:tc>
                <a:tc>
                  <a:txBody>
                    <a:bodyPr/>
                    <a:lstStyle/>
                    <a:p>
                      <a:pPr algn="l"/>
                      <a:r>
                        <a:rPr sz="750" b="0">
                          <a:solidFill>
                            <a:srgbClr val="2F3B3A"/>
                          </a:solidFill>
                          <a:latin typeface="Calibri"/>
                        </a:rPr>
                        <a:t>SSFF 1,5–3,8MM</a:t>
                      </a:r>
                    </a:p>
                  </a:txBody>
                  <a:tcPr marL="45000" marR="45000" marT="12000" marB="12000" anchor="ctr">
                    <a:solidFill>
                      <a:srgbClr val="F7F9F9"/>
                    </a:solidFill>
                  </a:tcPr>
                </a:tc>
                <a:tc>
                  <a:txBody>
                    <a:bodyPr/>
                    <a:lstStyle/>
                    <a:p>
                      <a:pPr algn="ctr"/>
                      <a:r>
                        <a:rPr sz="750" b="1">
                          <a:solidFill>
                            <a:srgbClr val="FFFFFF"/>
                          </a:solidFill>
                          <a:latin typeface="Calibri"/>
                        </a:rPr>
                        <a:t>Media</a:t>
                      </a:r>
                    </a:p>
                  </a:txBody>
                  <a:tcPr marL="45000" marR="45000" marT="12000" marB="12000" anchor="ctr">
                    <a:solidFill>
                      <a:srgbClr val="9FB0C7"/>
                    </a:solidFill>
                  </a:tcPr>
                </a:tc>
                <a:tc>
                  <a:txBody>
                    <a:bodyPr/>
                    <a:lstStyle/>
                    <a:p>
                      <a:pPr algn="ctr"/>
                      <a:r>
                        <a:rPr sz="750" b="0">
                          <a:solidFill>
                            <a:srgbClr val="E5173F"/>
                          </a:solidFill>
                          <a:latin typeface="Calibri"/>
                        </a:rPr>
                        <a:t>Por encima · inconsistente</a:t>
                      </a:r>
                    </a:p>
                  </a:txBody>
                  <a:tcPr marL="45000" marR="45000" marT="12000" marB="12000" anchor="ctr">
                    <a:solidFill>
                      <a:srgbClr val="FBE3E8"/>
                    </a:solidFill>
                  </a:tcPr>
                </a:tc>
                <a:tc>
                  <a:txBody>
                    <a:bodyPr/>
                    <a:lstStyle/>
                    <a:p>
                      <a:pPr algn="l"/>
                      <a:r>
                        <a:rPr sz="750" b="1">
                          <a:solidFill>
                            <a:srgbClr val="2F3B3A"/>
                          </a:solidFill>
                          <a:latin typeface="Calibri"/>
                        </a:rPr>
                        <a:t>Mantener y probar otras palancas</a:t>
                      </a:r>
                    </a:p>
                  </a:txBody>
                  <a:tcPr marL="45000" marR="45000" marT="12000" marB="12000" anchor="ctr">
                    <a:solidFill>
                      <a:srgbClr val="ECEFEF"/>
                    </a:solidFill>
                  </a:tcPr>
                </a:tc>
                <a:extLst>
                  <a:ext uri="{0D108BD9-81ED-4DB2-BD59-A6C34878D82A}">
                    <a16:rowId xmlns:a16="http://schemas.microsoft.com/office/drawing/2014/main" val="10010"/>
                  </a:ext>
                </a:extLst>
              </a:tr>
              <a:tr h="255000">
                <a:tc>
                  <a:txBody>
                    <a:bodyPr/>
                    <a:lstStyle/>
                    <a:p>
                      <a:pPr algn="l"/>
                      <a:r>
                        <a:rPr sz="750" b="1">
                          <a:solidFill>
                            <a:srgbClr val="1F3A5F"/>
                          </a:solidFill>
                          <a:latin typeface="Calibri"/>
                        </a:rPr>
                        <a:t>Reactivar</a:t>
                      </a:r>
                    </a:p>
                  </a:txBody>
                  <a:tcPr marL="45000" marR="45000" marT="12000" marB="12000" anchor="ctr">
                    <a:solidFill>
                      <a:srgbClr val="F7F9F9"/>
                    </a:solidFill>
                  </a:tcPr>
                </a:tc>
                <a:tc>
                  <a:txBody>
                    <a:bodyPr/>
                    <a:lstStyle/>
                    <a:p>
                      <a:pPr algn="l"/>
                      <a:r>
                        <a:rPr sz="750" b="0">
                          <a:solidFill>
                            <a:srgbClr val="2F3B3A"/>
                          </a:solidFill>
                          <a:latin typeface="Calibri"/>
                        </a:rPr>
                        <a:t>Pasivos &lt; 1K</a:t>
                      </a:r>
                    </a:p>
                  </a:txBody>
                  <a:tcPr marL="45000" marR="45000" marT="12000" marB="12000" anchor="ctr">
                    <a:solidFill>
                      <a:srgbClr val="F7F9F9"/>
                    </a:solidFill>
                  </a:tcPr>
                </a:tc>
                <a:tc>
                  <a:txBody>
                    <a:bodyPr/>
                    <a:lstStyle/>
                    <a:p>
                      <a:pPr algn="ctr"/>
                      <a:r>
                        <a:rPr sz="750" b="1">
                          <a:solidFill>
                            <a:srgbClr val="FFFFFF"/>
                          </a:solidFill>
                          <a:latin typeface="Calibri"/>
                        </a:rPr>
                        <a:t>Alta</a:t>
                      </a:r>
                    </a:p>
                  </a:txBody>
                  <a:tcPr marL="45000" marR="45000" marT="12000" marB="12000" anchor="ctr">
                    <a:solidFill>
                      <a:srgbClr val="1F3A5F"/>
                    </a:solidFill>
                  </a:tcPr>
                </a:tc>
                <a:tc>
                  <a:txBody>
                    <a:bodyPr/>
                    <a:lstStyle/>
                    <a:p>
                      <a:pPr algn="ctr"/>
                      <a:r>
                        <a:rPr sz="750" b="1">
                          <a:solidFill>
                            <a:srgbClr val="E5173F"/>
                          </a:solidFill>
                          <a:latin typeface="Calibri"/>
                        </a:rPr>
                        <a:t>Por debajo</a:t>
                      </a:r>
                    </a:p>
                  </a:txBody>
                  <a:tcPr marL="45000" marR="45000" marT="12000" marB="12000" anchor="ctr">
                    <a:solidFill>
                      <a:srgbClr val="FADBD8"/>
                    </a:solidFill>
                  </a:tcPr>
                </a:tc>
                <a:tc>
                  <a:txBody>
                    <a:bodyPr/>
                    <a:lstStyle/>
                    <a:p>
                      <a:pPr algn="l"/>
                      <a:r>
                        <a:rPr sz="750" b="1">
                          <a:solidFill>
                            <a:srgbClr val="FFFFFF"/>
                          </a:solidFill>
                          <a:latin typeface="Calibri"/>
                        </a:rPr>
                        <a:t>Bajar</a:t>
                      </a:r>
                    </a:p>
                  </a:txBody>
                  <a:tcPr marL="45000" marR="45000" marT="12000" marB="12000" anchor="ctr">
                    <a:solidFill>
                      <a:srgbClr val="E5173F"/>
                    </a:solidFill>
                  </a:tcPr>
                </a:tc>
                <a:extLst>
                  <a:ext uri="{0D108BD9-81ED-4DB2-BD59-A6C34878D82A}">
                    <a16:rowId xmlns:a16="http://schemas.microsoft.com/office/drawing/2014/main" val="10012"/>
                  </a:ext>
                </a:extLst>
              </a:tr>
              <a:tr h="255000">
                <a:tc>
                  <a:txBody>
                    <a:bodyPr/>
                    <a:lstStyle/>
                    <a:p>
                      <a:pPr algn="l"/>
                      <a:r>
                        <a:rPr sz="750" b="1">
                          <a:solidFill>
                            <a:srgbClr val="1F3A5F"/>
                          </a:solidFill>
                          <a:latin typeface="Calibri"/>
                        </a:rPr>
                        <a:t>Reactivar</a:t>
                      </a:r>
                    </a:p>
                  </a:txBody>
                  <a:tcPr marL="45000" marR="45000" marT="12000" marB="12000" anchor="ctr">
                    <a:solidFill>
                      <a:srgbClr val="FFFFFF"/>
                    </a:solidFill>
                  </a:tcPr>
                </a:tc>
                <a:tc>
                  <a:txBody>
                    <a:bodyPr/>
                    <a:lstStyle/>
                    <a:p>
                      <a:pPr algn="l"/>
                      <a:r>
                        <a:rPr sz="750" b="0">
                          <a:solidFill>
                            <a:srgbClr val="2F3B3A"/>
                          </a:solidFill>
                          <a:latin typeface="Calibri"/>
                        </a:rPr>
                        <a:t>Pasivos ≥ 5K</a:t>
                      </a:r>
                    </a:p>
                  </a:txBody>
                  <a:tcPr marL="45000" marR="45000" marT="12000" marB="12000" anchor="ctr">
                    <a:solidFill>
                      <a:srgbClr val="FFFFFF"/>
                    </a:solidFill>
                  </a:tcPr>
                </a:tc>
                <a:tc>
                  <a:txBody>
                    <a:bodyPr/>
                    <a:lstStyle/>
                    <a:p>
                      <a:pPr algn="ctr"/>
                      <a:r>
                        <a:rPr sz="750" b="1">
                          <a:solidFill>
                            <a:srgbClr val="FFFFFF"/>
                          </a:solidFill>
                          <a:latin typeface="Calibri"/>
                        </a:rPr>
                        <a:t>Alta</a:t>
                      </a:r>
                    </a:p>
                  </a:txBody>
                  <a:tcPr marL="45000" marR="45000" marT="12000" marB="12000" anchor="ctr">
                    <a:solidFill>
                      <a:srgbClr val="1F3A5F"/>
                    </a:solidFill>
                  </a:tcPr>
                </a:tc>
                <a:tc>
                  <a:txBody>
                    <a:bodyPr/>
                    <a:lstStyle/>
                    <a:p>
                      <a:pPr algn="ctr"/>
                      <a:r>
                        <a:rPr sz="750" b="0">
                          <a:solidFill>
                            <a:srgbClr val="6E7E7D"/>
                          </a:solidFill>
                          <a:latin typeface="Calibri"/>
                        </a:rPr>
                        <a:t>Sin materialidad</a:t>
                      </a:r>
                    </a:p>
                  </a:txBody>
                  <a:tcPr marL="45000" marR="45000" marT="12000" marB="12000" anchor="ctr">
                    <a:solidFill>
                      <a:srgbClr val="F2F4F4"/>
                    </a:solidFill>
                  </a:tcPr>
                </a:tc>
                <a:tc>
                  <a:txBody>
                    <a:bodyPr/>
                    <a:lstStyle/>
                    <a:p>
                      <a:pPr algn="l"/>
                      <a:r>
                        <a:rPr sz="750" b="1">
                          <a:solidFill>
                            <a:srgbClr val="13807B"/>
                          </a:solidFill>
                          <a:latin typeface="Calibri"/>
                        </a:rPr>
                        <a:t>Subir de forma acotada, monitoreando el share*</a:t>
                      </a:r>
                    </a:p>
                  </a:txBody>
                  <a:tcPr marL="45000" marR="45000" marT="12000" marB="12000" anchor="ctr">
                    <a:solidFill>
                      <a:srgbClr val="D5EBE8"/>
                    </a:solidFill>
                  </a:tcPr>
                </a:tc>
                <a:extLst>
                  <a:ext uri="{0D108BD9-81ED-4DB2-BD59-A6C34878D82A}">
                    <a16:rowId xmlns:a16="http://schemas.microsoft.com/office/drawing/2014/main" val="10011"/>
                  </a:ext>
                </a:extLst>
              </a:tr>
              <a:tr h="255000">
                <a:tc>
                  <a:txBody>
                    <a:bodyPr/>
                    <a:lstStyle/>
                    <a:p>
                      <a:pPr algn="l"/>
                      <a:r>
                        <a:rPr sz="750" b="1">
                          <a:solidFill>
                            <a:srgbClr val="4A6572"/>
                          </a:solidFill>
                          <a:latin typeface="Calibri"/>
                        </a:rPr>
                        <a:t>Próximo</a:t>
                      </a:r>
                    </a:p>
                  </a:txBody>
                  <a:tcPr marL="45000" marR="45000" marT="12000" marB="12000" anchor="ctr">
                    <a:solidFill>
                      <a:srgbClr val="FFFFFF"/>
                    </a:solidFill>
                  </a:tcPr>
                </a:tc>
                <a:tc>
                  <a:txBody>
                    <a:bodyPr/>
                    <a:lstStyle/>
                    <a:p>
                      <a:pPr algn="l"/>
                      <a:r>
                        <a:rPr sz="750" b="0">
                          <a:solidFill>
                            <a:srgbClr val="2F3B3A"/>
                          </a:solidFill>
                          <a:latin typeface="Calibri"/>
                        </a:rPr>
                        <a:t>≤ 170K</a:t>
                      </a:r>
                    </a:p>
                  </a:txBody>
                  <a:tcPr marL="45000" marR="45000" marT="12000" marB="12000" anchor="ctr">
                    <a:solidFill>
                      <a:srgbClr val="FFFFFF"/>
                    </a:solidFill>
                  </a:tcPr>
                </a:tc>
                <a:tc>
                  <a:txBody>
                    <a:bodyPr/>
                    <a:lstStyle/>
                    <a:p>
                      <a:pPr algn="ctr"/>
                      <a:r>
                        <a:rPr sz="750" b="1">
                          <a:solidFill>
                            <a:srgbClr val="FFFFFF"/>
                          </a:solidFill>
                          <a:latin typeface="Calibri"/>
                        </a:rPr>
                        <a:t>Alta</a:t>
                      </a:r>
                    </a:p>
                  </a:txBody>
                  <a:tcPr marL="45000" marR="45000" marT="12000" marB="12000" anchor="ctr">
                    <a:solidFill>
                      <a:srgbClr val="1F3A5F"/>
                    </a:solidFill>
                  </a:tcPr>
                </a:tc>
                <a:tc>
                  <a:txBody>
                    <a:bodyPr/>
                    <a:lstStyle/>
                    <a:p>
                      <a:pPr algn="ctr"/>
                      <a:r>
                        <a:rPr sz="750" b="0">
                          <a:solidFill>
                            <a:srgbClr val="6E7E7D"/>
                          </a:solidFill>
                          <a:latin typeface="Calibri"/>
                        </a:rPr>
                        <a:t>Sin materialidad</a:t>
                      </a:r>
                    </a:p>
                  </a:txBody>
                  <a:tcPr marL="45000" marR="45000" marT="12000" marB="12000" anchor="ctr">
                    <a:solidFill>
                      <a:srgbClr val="F2F4F4"/>
                    </a:solidFill>
                  </a:tcPr>
                </a:tc>
                <a:tc>
                  <a:txBody>
                    <a:bodyPr/>
                    <a:lstStyle/>
                    <a:p>
                      <a:pPr algn="l"/>
                      <a:r>
                        <a:rPr sz="750" b="1">
                          <a:solidFill>
                            <a:srgbClr val="2F3B3A"/>
                          </a:solidFill>
                          <a:latin typeface="Calibri"/>
                        </a:rPr>
                        <a:t>Mantener</a:t>
                      </a:r>
                    </a:p>
                  </a:txBody>
                  <a:tcPr marL="45000" marR="45000" marT="12000" marB="12000" anchor="ctr">
                    <a:solidFill>
                      <a:srgbClr val="ECEFEF"/>
                    </a:solidFill>
                  </a:tcPr>
                </a:tc>
                <a:extLst>
                  <a:ext uri="{0D108BD9-81ED-4DB2-BD59-A6C34878D82A}">
                    <a16:rowId xmlns:a16="http://schemas.microsoft.com/office/drawing/2014/main" val="10013"/>
                  </a:ext>
                </a:extLst>
              </a:tr>
              <a:tr h="255000">
                <a:tc>
                  <a:txBody>
                    <a:bodyPr/>
                    <a:lstStyle/>
                    <a:p>
                      <a:pPr algn="l"/>
                      <a:r>
                        <a:rPr sz="750" b="1">
                          <a:solidFill>
                            <a:srgbClr val="4A6572"/>
                          </a:solidFill>
                          <a:latin typeface="Calibri"/>
                        </a:rPr>
                        <a:t>Próximo</a:t>
                      </a:r>
                    </a:p>
                  </a:txBody>
                  <a:tcPr marL="45000" marR="45000" marT="12000" marB="12000" anchor="ctr">
                    <a:solidFill>
                      <a:srgbClr val="F7F9F9"/>
                    </a:solidFill>
                  </a:tcPr>
                </a:tc>
                <a:tc>
                  <a:txBody>
                    <a:bodyPr/>
                    <a:lstStyle/>
                    <a:p>
                      <a:pPr algn="l"/>
                      <a:r>
                        <a:rPr sz="750" b="0">
                          <a:solidFill>
                            <a:srgbClr val="2F3B3A"/>
                          </a:solidFill>
                          <a:latin typeface="Calibri"/>
                        </a:rPr>
                        <a:t>&gt; 250K</a:t>
                      </a:r>
                    </a:p>
                  </a:txBody>
                  <a:tcPr marL="45000" marR="45000" marT="12000" marB="12000" anchor="ctr">
                    <a:solidFill>
                      <a:srgbClr val="F7F9F9"/>
                    </a:solidFill>
                  </a:tcPr>
                </a:tc>
                <a:tc>
                  <a:txBody>
                    <a:bodyPr/>
                    <a:lstStyle/>
                    <a:p>
                      <a:pPr algn="ctr"/>
                      <a:r>
                        <a:rPr sz="750" b="1">
                          <a:solidFill>
                            <a:srgbClr val="FFFFFF"/>
                          </a:solidFill>
                          <a:latin typeface="Calibri"/>
                        </a:rPr>
                        <a:t>Alta</a:t>
                      </a:r>
                    </a:p>
                  </a:txBody>
                  <a:tcPr marL="45000" marR="45000" marT="12000" marB="12000" anchor="ctr">
                    <a:solidFill>
                      <a:srgbClr val="1F3A5F"/>
                    </a:solidFill>
                  </a:tcPr>
                </a:tc>
                <a:tc>
                  <a:txBody>
                    <a:bodyPr/>
                    <a:lstStyle/>
                    <a:p>
                      <a:pPr algn="ctr"/>
                      <a:r>
                        <a:rPr sz="750" b="0">
                          <a:solidFill>
                            <a:srgbClr val="6E7E7D"/>
                          </a:solidFill>
                          <a:latin typeface="Calibri"/>
                        </a:rPr>
                        <a:t>Sin materialidad</a:t>
                      </a:r>
                    </a:p>
                  </a:txBody>
                  <a:tcPr marL="45000" marR="45000" marT="12000" marB="12000" anchor="ctr">
                    <a:solidFill>
                      <a:srgbClr val="F2F4F4"/>
                    </a:solidFill>
                  </a:tcPr>
                </a:tc>
                <a:tc>
                  <a:txBody>
                    <a:bodyPr/>
                    <a:lstStyle/>
                    <a:p>
                      <a:pPr algn="l"/>
                      <a:r>
                        <a:rPr sz="750" b="1">
                          <a:solidFill>
                            <a:srgbClr val="FFFFFF"/>
                          </a:solidFill>
                          <a:latin typeface="Calibri"/>
                        </a:rPr>
                        <a:t>Bajar</a:t>
                      </a:r>
                    </a:p>
                  </a:txBody>
                  <a:tcPr marL="45000" marR="45000" marT="12000" marB="12000" anchor="ctr">
                    <a:solidFill>
                      <a:srgbClr val="E5173F"/>
                    </a:solidFill>
                  </a:tcPr>
                </a:tc>
                <a:extLst>
                  <a:ext uri="{0D108BD9-81ED-4DB2-BD59-A6C34878D82A}">
                    <a16:rowId xmlns:a16="http://schemas.microsoft.com/office/drawing/2014/main" val="10014"/>
                  </a:ext>
                </a:extLst>
              </a:tr>
              <a:tr h="255000">
                <a:tc>
                  <a:txBody>
                    <a:bodyPr/>
                    <a:lstStyle/>
                    <a:p>
                      <a:pPr algn="l"/>
                      <a:r>
                        <a:rPr sz="750" b="1">
                          <a:solidFill>
                            <a:srgbClr val="4A6572"/>
                          </a:solidFill>
                          <a:latin typeface="Calibri"/>
                        </a:rPr>
                        <a:t>Nuevo</a:t>
                      </a:r>
                    </a:p>
                  </a:txBody>
                  <a:tcPr marL="45000" marR="45000" marT="12000" marB="12000" anchor="ctr">
                    <a:solidFill>
                      <a:srgbClr val="FFFFFF"/>
                    </a:solidFill>
                  </a:tcPr>
                </a:tc>
                <a:tc>
                  <a:txBody>
                    <a:bodyPr/>
                    <a:lstStyle/>
                    <a:p>
                      <a:pPr algn="l"/>
                      <a:r>
                        <a:rPr sz="750" b="0">
                          <a:solidFill>
                            <a:srgbClr val="2F3B3A"/>
                          </a:solidFill>
                          <a:latin typeface="Calibri"/>
                        </a:rPr>
                        <a:t>≤ 170K</a:t>
                      </a:r>
                    </a:p>
                  </a:txBody>
                  <a:tcPr marL="45000" marR="45000" marT="12000" marB="12000" anchor="ctr">
                    <a:solidFill>
                      <a:srgbClr val="FFFFFF"/>
                    </a:solidFill>
                  </a:tcPr>
                </a:tc>
                <a:tc>
                  <a:txBody>
                    <a:bodyPr/>
                    <a:lstStyle/>
                    <a:p>
                      <a:pPr algn="ctr"/>
                      <a:r>
                        <a:rPr sz="750" b="1">
                          <a:solidFill>
                            <a:srgbClr val="FFFFFF"/>
                          </a:solidFill>
                          <a:latin typeface="Calibri"/>
                        </a:rPr>
                        <a:t>Alta</a:t>
                      </a:r>
                    </a:p>
                  </a:txBody>
                  <a:tcPr marL="45000" marR="45000" marT="12000" marB="12000" anchor="ctr">
                    <a:solidFill>
                      <a:srgbClr val="1F3A5F"/>
                    </a:solidFill>
                  </a:tcPr>
                </a:tc>
                <a:tc>
                  <a:txBody>
                    <a:bodyPr/>
                    <a:lstStyle/>
                    <a:p>
                      <a:pPr algn="ctr"/>
                      <a:r>
                        <a:rPr sz="750" b="0">
                          <a:solidFill>
                            <a:srgbClr val="6E7E7D"/>
                          </a:solidFill>
                          <a:latin typeface="Calibri"/>
                        </a:rPr>
                        <a:t>Sin materialidad</a:t>
                      </a:r>
                    </a:p>
                  </a:txBody>
                  <a:tcPr marL="45000" marR="45000" marT="12000" marB="12000" anchor="ctr">
                    <a:solidFill>
                      <a:srgbClr val="F2F4F4"/>
                    </a:solidFill>
                  </a:tcPr>
                </a:tc>
                <a:tc>
                  <a:txBody>
                    <a:bodyPr/>
                    <a:lstStyle/>
                    <a:p>
                      <a:pPr algn="l"/>
                      <a:r>
                        <a:rPr sz="750" b="1">
                          <a:solidFill>
                            <a:srgbClr val="2F3B3A"/>
                          </a:solidFill>
                          <a:latin typeface="Calibri"/>
                        </a:rPr>
                        <a:t>Mantener</a:t>
                      </a:r>
                    </a:p>
                  </a:txBody>
                  <a:tcPr marL="45000" marR="45000" marT="12000" marB="12000" anchor="ctr">
                    <a:solidFill>
                      <a:srgbClr val="ECEFEF"/>
                    </a:solidFill>
                  </a:tcPr>
                </a:tc>
                <a:extLst>
                  <a:ext uri="{0D108BD9-81ED-4DB2-BD59-A6C34878D82A}">
                    <a16:rowId xmlns:a16="http://schemas.microsoft.com/office/drawing/2014/main" val="10015"/>
                  </a:ext>
                </a:extLst>
              </a:tr>
              <a:tr h="255000">
                <a:tc>
                  <a:txBody>
                    <a:bodyPr/>
                    <a:lstStyle/>
                    <a:p>
                      <a:pPr algn="l"/>
                      <a:r>
                        <a:rPr sz="750" b="1">
                          <a:solidFill>
                            <a:srgbClr val="4A6572"/>
                          </a:solidFill>
                          <a:latin typeface="Calibri"/>
                        </a:rPr>
                        <a:t>Nuevo</a:t>
                      </a:r>
                    </a:p>
                  </a:txBody>
                  <a:tcPr marL="45000" marR="45000" marT="12000" marB="12000" anchor="ctr">
                    <a:solidFill>
                      <a:srgbClr val="F7F9F9"/>
                    </a:solidFill>
                  </a:tcPr>
                </a:tc>
                <a:tc>
                  <a:txBody>
                    <a:bodyPr/>
                    <a:lstStyle/>
                    <a:p>
                      <a:pPr algn="l"/>
                      <a:r>
                        <a:rPr sz="750" b="0">
                          <a:solidFill>
                            <a:srgbClr val="2F3B3A"/>
                          </a:solidFill>
                          <a:latin typeface="Calibri"/>
                        </a:rPr>
                        <a:t>&gt; 250K</a:t>
                      </a:r>
                    </a:p>
                  </a:txBody>
                  <a:tcPr marL="45000" marR="45000" marT="12000" marB="12000" anchor="ctr">
                    <a:solidFill>
                      <a:srgbClr val="F7F9F9"/>
                    </a:solidFill>
                  </a:tcPr>
                </a:tc>
                <a:tc>
                  <a:txBody>
                    <a:bodyPr/>
                    <a:lstStyle/>
                    <a:p>
                      <a:pPr algn="ctr"/>
                      <a:r>
                        <a:rPr sz="750" b="1">
                          <a:solidFill>
                            <a:srgbClr val="FFFFFF"/>
                          </a:solidFill>
                          <a:latin typeface="Calibri"/>
                        </a:rPr>
                        <a:t>Alta</a:t>
                      </a:r>
                    </a:p>
                  </a:txBody>
                  <a:tcPr marL="45000" marR="45000" marT="12000" marB="12000" anchor="ctr">
                    <a:solidFill>
                      <a:srgbClr val="1F3A5F"/>
                    </a:solidFill>
                  </a:tcPr>
                </a:tc>
                <a:tc>
                  <a:txBody>
                    <a:bodyPr/>
                    <a:lstStyle/>
                    <a:p>
                      <a:pPr algn="ctr"/>
                      <a:r>
                        <a:rPr sz="750" b="1">
                          <a:solidFill>
                            <a:srgbClr val="E5173F"/>
                          </a:solidFill>
                          <a:latin typeface="Calibri"/>
                        </a:rPr>
                        <a:t>En línea</a:t>
                      </a:r>
                    </a:p>
                  </a:txBody>
                  <a:tcPr marL="45000" marR="45000" marT="12000" marB="12000" anchor="ctr">
                    <a:solidFill>
                      <a:srgbClr val="FCE9E7"/>
                    </a:solidFill>
                  </a:tcPr>
                </a:tc>
                <a:tc>
                  <a:txBody>
                    <a:bodyPr/>
                    <a:lstStyle/>
                    <a:p>
                      <a:pPr algn="l"/>
                      <a:r>
                        <a:rPr sz="750" b="1">
                          <a:solidFill>
                            <a:srgbClr val="FFFFFF"/>
                          </a:solidFill>
                          <a:latin typeface="Calibri"/>
                        </a:rPr>
                        <a:t>Bajar</a:t>
                      </a:r>
                    </a:p>
                  </a:txBody>
                  <a:tcPr marL="45000" marR="45000" marT="12000" marB="12000" anchor="ctr">
                    <a:solidFill>
                      <a:srgbClr val="E5173F"/>
                    </a:solidFill>
                  </a:tcPr>
                </a:tc>
                <a:extLst>
                  <a:ext uri="{0D108BD9-81ED-4DB2-BD59-A6C34878D82A}">
                    <a16:rowId xmlns:a16="http://schemas.microsoft.com/office/drawing/2014/main" val="10016"/>
                  </a:ext>
                </a:extLst>
              </a:tr>
              <a:tr h="255000">
                <a:tc>
                  <a:txBody>
                    <a:bodyPr/>
                    <a:lstStyle/>
                    <a:p>
                      <a:pPr algn="l"/>
                      <a:r>
                        <a:rPr sz="750" b="1">
                          <a:solidFill>
                            <a:srgbClr val="4A6572"/>
                          </a:solidFill>
                          <a:latin typeface="Calibri"/>
                        </a:rPr>
                        <a:t>Izipay</a:t>
                      </a:r>
                    </a:p>
                  </a:txBody>
                  <a:tcPr marL="45000" marR="45000" marT="12000" marB="12000" anchor="ctr">
                    <a:solidFill>
                      <a:srgbClr val="F7F9F9"/>
                    </a:solidFill>
                  </a:tcPr>
                </a:tc>
                <a:tc>
                  <a:txBody>
                    <a:bodyPr/>
                    <a:lstStyle/>
                    <a:p>
                      <a:pPr algn="l"/>
                      <a:r>
                        <a:rPr sz="750" b="0">
                          <a:solidFill>
                            <a:srgbClr val="2F3B3A"/>
                          </a:solidFill>
                          <a:latin typeface="Calibri"/>
                        </a:rPr>
                        <a:t>Pasivos &lt; 1K</a:t>
                      </a:r>
                    </a:p>
                  </a:txBody>
                  <a:tcPr marL="45000" marR="45000" marT="12000" marB="12000" anchor="ctr">
                    <a:solidFill>
                      <a:srgbClr val="F7F9F9"/>
                    </a:solidFill>
                  </a:tcPr>
                </a:tc>
                <a:tc>
                  <a:txBody>
                    <a:bodyPr/>
                    <a:lstStyle/>
                    <a:p>
                      <a:pPr algn="ctr"/>
                      <a:r>
                        <a:rPr sz="750" b="1">
                          <a:solidFill>
                            <a:srgbClr val="FFFFFF"/>
                          </a:solidFill>
                          <a:latin typeface="Calibri"/>
                        </a:rPr>
                        <a:t>Alta</a:t>
                      </a:r>
                    </a:p>
                  </a:txBody>
                  <a:tcPr marL="45000" marR="45000" marT="12000" marB="12000" anchor="ctr">
                    <a:solidFill>
                      <a:srgbClr val="1F3A5F"/>
                    </a:solidFill>
                  </a:tcPr>
                </a:tc>
                <a:tc>
                  <a:txBody>
                    <a:bodyPr/>
                    <a:lstStyle/>
                    <a:p>
                      <a:pPr algn="ctr"/>
                      <a:r>
                        <a:rPr sz="750" b="0">
                          <a:solidFill>
                            <a:srgbClr val="6E7E7D"/>
                          </a:solidFill>
                          <a:latin typeface="Calibri"/>
                        </a:rPr>
                        <a:t>Sin materialidad</a:t>
                      </a:r>
                    </a:p>
                  </a:txBody>
                  <a:tcPr marL="45000" marR="45000" marT="12000" marB="12000" anchor="ctr">
                    <a:solidFill>
                      <a:srgbClr val="F2F4F4"/>
                    </a:solidFill>
                  </a:tcPr>
                </a:tc>
                <a:tc>
                  <a:txBody>
                    <a:bodyPr/>
                    <a:lstStyle/>
                    <a:p>
                      <a:pPr algn="l"/>
                      <a:r>
                        <a:rPr sz="750" b="1" dirty="0" err="1">
                          <a:solidFill>
                            <a:srgbClr val="2F3B3A"/>
                          </a:solidFill>
                          <a:latin typeface="Calibri"/>
                        </a:rPr>
                        <a:t>Mantener</a:t>
                      </a:r>
                      <a:endParaRPr sz="750" b="1" dirty="0">
                        <a:solidFill>
                          <a:srgbClr val="2F3B3A"/>
                        </a:solidFill>
                        <a:latin typeface="Calibri"/>
                      </a:endParaRPr>
                    </a:p>
                  </a:txBody>
                  <a:tcPr marL="45000" marR="45000" marT="12000" marB="12000" anchor="ctr">
                    <a:solidFill>
                      <a:srgbClr val="ECEFEF"/>
                    </a:solidFill>
                  </a:tcPr>
                </a:tc>
                <a:extLst>
                  <a:ext uri="{0D108BD9-81ED-4DB2-BD59-A6C34878D82A}">
                    <a16:rowId xmlns:a16="http://schemas.microsoft.com/office/drawing/2014/main" val="10018"/>
                  </a:ext>
                </a:extLst>
              </a:tr>
              <a:tr h="255000">
                <a:tc>
                  <a:txBody>
                    <a:bodyPr/>
                    <a:lstStyle/>
                    <a:p>
                      <a:pPr algn="l"/>
                      <a:r>
                        <a:rPr sz="750" b="1">
                          <a:solidFill>
                            <a:srgbClr val="4A6572"/>
                          </a:solidFill>
                          <a:latin typeface="Calibri"/>
                        </a:rPr>
                        <a:t>Izipay</a:t>
                      </a:r>
                    </a:p>
                  </a:txBody>
                  <a:tcPr marL="45000" marR="45000" marT="12000" marB="12000" anchor="ctr">
                    <a:solidFill>
                      <a:srgbClr val="FFFFFF"/>
                    </a:solidFill>
                  </a:tcPr>
                </a:tc>
                <a:tc>
                  <a:txBody>
                    <a:bodyPr/>
                    <a:lstStyle/>
                    <a:p>
                      <a:pPr algn="l"/>
                      <a:r>
                        <a:rPr sz="750" b="0">
                          <a:solidFill>
                            <a:srgbClr val="2F3B3A"/>
                          </a:solidFill>
                          <a:latin typeface="Calibri"/>
                        </a:rPr>
                        <a:t>Pasivos 1–20K</a:t>
                      </a:r>
                    </a:p>
                  </a:txBody>
                  <a:tcPr marL="45000" marR="45000" marT="12000" marB="12000" anchor="ctr">
                    <a:solidFill>
                      <a:srgbClr val="FFFFFF"/>
                    </a:solidFill>
                  </a:tcPr>
                </a:tc>
                <a:tc>
                  <a:txBody>
                    <a:bodyPr/>
                    <a:lstStyle/>
                    <a:p>
                      <a:pPr algn="ctr"/>
                      <a:r>
                        <a:rPr sz="750" b="1">
                          <a:solidFill>
                            <a:srgbClr val="FFFFFF"/>
                          </a:solidFill>
                          <a:latin typeface="Calibri"/>
                        </a:rPr>
                        <a:t>Alta</a:t>
                      </a:r>
                    </a:p>
                  </a:txBody>
                  <a:tcPr marL="45000" marR="45000" marT="12000" marB="12000" anchor="ctr">
                    <a:solidFill>
                      <a:srgbClr val="1F3A5F"/>
                    </a:solidFill>
                  </a:tcPr>
                </a:tc>
                <a:tc>
                  <a:txBody>
                    <a:bodyPr/>
                    <a:lstStyle/>
                    <a:p>
                      <a:pPr algn="ctr"/>
                      <a:r>
                        <a:rPr sz="750" b="0">
                          <a:solidFill>
                            <a:srgbClr val="6E7E7D"/>
                          </a:solidFill>
                          <a:latin typeface="Calibri"/>
                        </a:rPr>
                        <a:t>Sin materialidad</a:t>
                      </a:r>
                    </a:p>
                  </a:txBody>
                  <a:tcPr marL="45000" marR="45000" marT="12000" marB="12000" anchor="ctr">
                    <a:solidFill>
                      <a:srgbClr val="F2F4F4"/>
                    </a:solidFill>
                  </a:tcPr>
                </a:tc>
                <a:tc>
                  <a:txBody>
                    <a:bodyPr/>
                    <a:lstStyle/>
                    <a:p>
                      <a:pPr algn="l"/>
                      <a:r>
                        <a:rPr sz="750" b="1">
                          <a:solidFill>
                            <a:srgbClr val="2F3B3A"/>
                          </a:solidFill>
                          <a:latin typeface="Calibri"/>
                        </a:rPr>
                        <a:t>Mantener</a:t>
                      </a:r>
                    </a:p>
                  </a:txBody>
                  <a:tcPr marL="45000" marR="45000" marT="12000" marB="12000" anchor="ctr">
                    <a:solidFill>
                      <a:srgbClr val="ECEFEF"/>
                    </a:solidFill>
                  </a:tcPr>
                </a:tc>
                <a:extLst>
                  <a:ext uri="{0D108BD9-81ED-4DB2-BD59-A6C34878D82A}">
                    <a16:rowId xmlns:a16="http://schemas.microsoft.com/office/drawing/2014/main" val="10017"/>
                  </a:ext>
                </a:extLst>
              </a:tr>
            </a:tbl>
          </a:graphicData>
        </a:graphic>
      </p:graphicFrame>
      <p:sp>
        <p:nvSpPr>
          <p:cNvPr id="19" name="TextBox 18"/>
          <p:cNvSpPr txBox="1"/>
          <p:nvPr/>
        </p:nvSpPr>
        <p:spPr>
          <a:xfrm>
            <a:off x="4043776" y="6105000"/>
            <a:ext cx="5951400" cy="300000"/>
          </a:xfrm>
          <a:prstGeom prst="rect">
            <a:avLst/>
          </a:prstGeom>
          <a:noFill/>
        </p:spPr>
        <p:txBody>
          <a:bodyPr wrap="square">
            <a:spAutoFit/>
          </a:bodyPr>
          <a:lstStyle/>
          <a:p>
            <a:r>
              <a:rPr sz="750" dirty="0">
                <a:solidFill>
                  <a:srgbClr val="6E7E7D"/>
                </a:solidFill>
                <a:latin typeface="Lato"/>
              </a:rPr>
              <a:t>* </a:t>
            </a:r>
            <a:r>
              <a:rPr sz="750" dirty="0" err="1">
                <a:solidFill>
                  <a:srgbClr val="6E7E7D"/>
                </a:solidFill>
                <a:latin typeface="Lato"/>
              </a:rPr>
              <a:t>Excepción</a:t>
            </a:r>
            <a:r>
              <a:rPr sz="750" dirty="0">
                <a:solidFill>
                  <a:srgbClr val="6E7E7D"/>
                </a:solidFill>
                <a:latin typeface="Lato"/>
              </a:rPr>
              <a:t> a la </a:t>
            </a:r>
            <a:r>
              <a:rPr sz="750" dirty="0" err="1">
                <a:solidFill>
                  <a:srgbClr val="6E7E7D"/>
                </a:solidFill>
                <a:latin typeface="Lato"/>
              </a:rPr>
              <a:t>regla</a:t>
            </a:r>
            <a:r>
              <a:rPr sz="750" dirty="0">
                <a:solidFill>
                  <a:srgbClr val="6E7E7D"/>
                </a:solidFill>
                <a:latin typeface="Lato"/>
              </a:rPr>
              <a:t>: con </a:t>
            </a:r>
            <a:r>
              <a:rPr sz="750" dirty="0" err="1">
                <a:solidFill>
                  <a:srgbClr val="6E7E7D"/>
                </a:solidFill>
                <a:latin typeface="Lato"/>
              </a:rPr>
              <a:t>sensibilidad</a:t>
            </a:r>
            <a:r>
              <a:rPr sz="750" dirty="0">
                <a:solidFill>
                  <a:srgbClr val="6E7E7D"/>
                </a:solidFill>
                <a:latin typeface="Lato"/>
              </a:rPr>
              <a:t> </a:t>
            </a:r>
            <a:r>
              <a:rPr sz="750" dirty="0" err="1">
                <a:solidFill>
                  <a:srgbClr val="6E7E7D"/>
                </a:solidFill>
                <a:latin typeface="Lato"/>
              </a:rPr>
              <a:t>alta</a:t>
            </a:r>
            <a:r>
              <a:rPr sz="750" dirty="0">
                <a:solidFill>
                  <a:srgbClr val="6E7E7D"/>
                </a:solidFill>
                <a:latin typeface="Lato"/>
              </a:rPr>
              <a:t> la </a:t>
            </a:r>
            <a:r>
              <a:rPr sz="750" dirty="0" err="1">
                <a:solidFill>
                  <a:srgbClr val="6E7E7D"/>
                </a:solidFill>
                <a:latin typeface="Lato"/>
              </a:rPr>
              <a:t>matriz</a:t>
            </a:r>
            <a:r>
              <a:rPr sz="750" dirty="0">
                <a:solidFill>
                  <a:srgbClr val="6E7E7D"/>
                </a:solidFill>
                <a:latin typeface="Lato"/>
              </a:rPr>
              <a:t> indica </a:t>
            </a:r>
            <a:r>
              <a:rPr sz="750" dirty="0" err="1">
                <a:solidFill>
                  <a:srgbClr val="6E7E7D"/>
                </a:solidFill>
                <a:latin typeface="Lato"/>
              </a:rPr>
              <a:t>mantener</a:t>
            </a:r>
            <a:r>
              <a:rPr sz="750" dirty="0">
                <a:solidFill>
                  <a:srgbClr val="6E7E7D"/>
                </a:solidFill>
                <a:latin typeface="Lato"/>
              </a:rPr>
              <a:t>, </a:t>
            </a:r>
            <a:r>
              <a:rPr sz="750" dirty="0" err="1">
                <a:solidFill>
                  <a:srgbClr val="6E7E7D"/>
                </a:solidFill>
                <a:latin typeface="Lato"/>
              </a:rPr>
              <a:t>pero</a:t>
            </a:r>
            <a:r>
              <a:rPr sz="750" dirty="0">
                <a:solidFill>
                  <a:srgbClr val="6E7E7D"/>
                </a:solidFill>
                <a:latin typeface="Lato"/>
              </a:rPr>
              <a:t> </a:t>
            </a:r>
            <a:r>
              <a:rPr sz="750" dirty="0" err="1">
                <a:solidFill>
                  <a:srgbClr val="6E7E7D"/>
                </a:solidFill>
                <a:latin typeface="Lato"/>
              </a:rPr>
              <a:t>en</a:t>
            </a:r>
            <a:r>
              <a:rPr sz="750" dirty="0">
                <a:solidFill>
                  <a:srgbClr val="6E7E7D"/>
                </a:solidFill>
                <a:latin typeface="Lato"/>
              </a:rPr>
              <a:t> </a:t>
            </a:r>
            <a:r>
              <a:rPr sz="750" dirty="0" err="1">
                <a:solidFill>
                  <a:srgbClr val="6E7E7D"/>
                </a:solidFill>
                <a:latin typeface="Lato"/>
              </a:rPr>
              <a:t>Reactivar</a:t>
            </a:r>
            <a:r>
              <a:rPr sz="750" dirty="0">
                <a:solidFill>
                  <a:srgbClr val="6E7E7D"/>
                </a:solidFill>
                <a:latin typeface="Lato"/>
              </a:rPr>
              <a:t> con </a:t>
            </a:r>
            <a:r>
              <a:rPr sz="750" dirty="0" err="1">
                <a:solidFill>
                  <a:srgbClr val="6E7E7D"/>
                </a:solidFill>
                <a:latin typeface="Lato"/>
              </a:rPr>
              <a:t>pasivos</a:t>
            </a:r>
            <a:r>
              <a:rPr sz="750" dirty="0">
                <a:solidFill>
                  <a:srgbClr val="6E7E7D"/>
                </a:solidFill>
                <a:latin typeface="Lato"/>
              </a:rPr>
              <a:t> de S/ 5K o </a:t>
            </a:r>
            <a:r>
              <a:rPr sz="750" dirty="0" err="1">
                <a:solidFill>
                  <a:srgbClr val="6E7E7D"/>
                </a:solidFill>
                <a:latin typeface="Lato"/>
              </a:rPr>
              <a:t>más</a:t>
            </a:r>
            <a:r>
              <a:rPr sz="750" dirty="0">
                <a:solidFill>
                  <a:srgbClr val="6E7E7D"/>
                </a:solidFill>
                <a:latin typeface="Lato"/>
              </a:rPr>
              <a:t> el share no </a:t>
            </a:r>
            <a:r>
              <a:rPr sz="750" dirty="0" err="1">
                <a:solidFill>
                  <a:srgbClr val="6E7E7D"/>
                </a:solidFill>
                <a:latin typeface="Lato"/>
              </a:rPr>
              <a:t>reaccionó</a:t>
            </a:r>
            <a:r>
              <a:rPr sz="750" dirty="0">
                <a:solidFill>
                  <a:srgbClr val="6E7E7D"/>
                </a:solidFill>
                <a:latin typeface="Lato"/>
              </a:rPr>
              <a:t> a las </a:t>
            </a:r>
            <a:r>
              <a:rPr sz="750" dirty="0" err="1">
                <a:solidFill>
                  <a:srgbClr val="6E7E7D"/>
                </a:solidFill>
                <a:latin typeface="Lato"/>
              </a:rPr>
              <a:t>subidas</a:t>
            </a:r>
            <a:r>
              <a:rPr sz="750" dirty="0">
                <a:solidFill>
                  <a:srgbClr val="6E7E7D"/>
                </a:solidFill>
                <a:latin typeface="Lato"/>
              </a:rPr>
              <a:t> de </a:t>
            </a:r>
            <a:r>
              <a:rPr sz="750" dirty="0" err="1">
                <a:solidFill>
                  <a:srgbClr val="6E7E7D"/>
                </a:solidFill>
                <a:latin typeface="Lato"/>
              </a:rPr>
              <a:t>oferta</a:t>
            </a:r>
            <a:r>
              <a:rPr sz="750" dirty="0">
                <a:solidFill>
                  <a:srgbClr val="6E7E7D"/>
                </a:solidFill>
                <a:latin typeface="Lato"/>
              </a:rPr>
              <a:t> del </a:t>
            </a:r>
            <a:r>
              <a:rPr sz="750" dirty="0" err="1">
                <a:solidFill>
                  <a:srgbClr val="6E7E7D"/>
                </a:solidFill>
                <a:latin typeface="Lato"/>
              </a:rPr>
              <a:t>último</a:t>
            </a:r>
            <a:r>
              <a:rPr sz="750" dirty="0">
                <a:solidFill>
                  <a:srgbClr val="6E7E7D"/>
                </a:solidFill>
                <a:latin typeface="Lato"/>
              </a:rPr>
              <a:t> </a:t>
            </a:r>
            <a:r>
              <a:rPr sz="750" dirty="0" err="1">
                <a:solidFill>
                  <a:srgbClr val="6E7E7D"/>
                </a:solidFill>
                <a:latin typeface="Lato"/>
              </a:rPr>
              <a:t>año</a:t>
            </a:r>
            <a:r>
              <a:rPr sz="750" dirty="0">
                <a:solidFill>
                  <a:srgbClr val="6E7E7D"/>
                </a:solidFill>
                <a:latin typeface="Lato"/>
              </a:rPr>
              <a: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93777" y="246888"/>
            <a:ext cx="8963570" cy="109710"/>
          </a:xfrm>
          <a:prstGeom prst="rect">
            <a:avLst/>
          </a:prstGeom>
          <a:noFill/>
        </p:spPr>
        <p:txBody>
          <a:bodyPr wrap="square" lIns="0" tIns="0" rIns="0" bIns="0" anchor="t">
            <a:spAutoFit/>
          </a:bodyPr>
          <a:lstStyle/>
          <a:p>
            <a:pPr algn="l"/>
            <a:r>
              <a:rPr sz="800" b="1">
                <a:solidFill>
                  <a:srgbClr val="6E7E7D"/>
                </a:solidFill>
                <a:latin typeface="Calibri"/>
              </a:rPr>
              <a:t>OTRAS OPCIONES · MODELOS DE PROPENSIÓN</a:t>
            </a:r>
          </a:p>
        </p:txBody>
      </p:sp>
      <p:sp>
        <p:nvSpPr>
          <p:cNvPr id="3" name="TextBox 2"/>
          <p:cNvSpPr txBox="1"/>
          <p:nvPr/>
        </p:nvSpPr>
        <p:spPr>
          <a:xfrm>
            <a:off x="493776" y="425196"/>
            <a:ext cx="10312923" cy="482568"/>
          </a:xfrm>
          <a:prstGeom prst="rect">
            <a:avLst/>
          </a:prstGeom>
          <a:noFill/>
        </p:spPr>
        <p:txBody>
          <a:bodyPr wrap="square" lIns="0" tIns="0" rIns="0" bIns="0" anchor="t">
            <a:spAutoFit/>
          </a:bodyPr>
          <a:lstStyle/>
          <a:p>
            <a:pPr algn="l"/>
            <a:r>
              <a:rPr sz="1600" b="1">
                <a:solidFill>
                  <a:srgbClr val="13807B"/>
                </a:solidFill>
                <a:latin typeface="Poppins"/>
              </a:rPr>
              <a:t>Como alternativa al modelo de elasticidad, dos modelos de propensión estiman la aceptación de cada cliente según su tasa, lo que permitiría medir su disposición a pagar</a:t>
            </a:r>
          </a:p>
        </p:txBody>
      </p:sp>
      <p:cxnSp>
        <p:nvCxnSpPr>
          <p:cNvPr id="4" name="Connector 3"/>
          <p:cNvCxnSpPr/>
          <p:nvPr/>
        </p:nvCxnSpPr>
        <p:spPr>
          <a:xfrm>
            <a:off x="493776" y="1049274"/>
            <a:ext cx="11204463" cy="0"/>
          </a:xfrm>
          <a:prstGeom prst="line">
            <a:avLst/>
          </a:prstGeom>
          <a:ln w="12700">
            <a:solidFill>
              <a:srgbClr val="D5DFDE"/>
            </a:solidFill>
          </a:ln>
        </p:spPr>
        <p:style>
          <a:lnRef idx="2">
            <a:schemeClr val="accent1"/>
          </a:lnRef>
          <a:fillRef idx="0">
            <a:schemeClr val="accent1"/>
          </a:fillRef>
          <a:effectRef idx="1">
            <a:schemeClr val="accent1"/>
          </a:effectRef>
          <a:fontRef idx="minor">
            <a:schemeClr val="tx1"/>
          </a:fontRef>
        </p:style>
      </p:cxnSp>
      <p:pic>
        <p:nvPicPr>
          <p:cNvPr id="5" name="Picture 4" descr="logo.png"/>
          <p:cNvPicPr>
            <a:picLocks noChangeAspect="1"/>
          </p:cNvPicPr>
          <p:nvPr/>
        </p:nvPicPr>
        <p:blipFill>
          <a:blip r:embed="rId2"/>
          <a:stretch>
            <a:fillRect/>
          </a:stretch>
        </p:blipFill>
        <p:spPr>
          <a:xfrm>
            <a:off x="11081186" y="82166"/>
            <a:ext cx="916962" cy="343030"/>
          </a:xfrm>
          <a:prstGeom prst="rect">
            <a:avLst/>
          </a:prstGeom>
        </p:spPr>
      </p:pic>
      <p:graphicFrame>
        <p:nvGraphicFramePr>
          <p:cNvPr id="6" name="Table 5"/>
          <p:cNvGraphicFramePr>
            <a:graphicFrameLocks noGrp="1"/>
          </p:cNvGraphicFramePr>
          <p:nvPr/>
        </p:nvGraphicFramePr>
        <p:xfrm>
          <a:off x="493776" y="1300000"/>
          <a:ext cx="11200000" cy="3780000"/>
        </p:xfrm>
        <a:graphic>
          <a:graphicData uri="http://schemas.openxmlformats.org/drawingml/2006/table">
            <a:tbl>
              <a:tblPr>
                <a:tableStyleId>{5C22544A-7EE6-4342-B048-85BDC9FD1C3A}</a:tableStyleId>
              </a:tblPr>
              <a:tblGrid>
                <a:gridCol w="1900000">
                  <a:extLst>
                    <a:ext uri="{9D8B030D-6E8A-4147-A177-3AD203B41FA5}">
                      <a16:colId xmlns:a16="http://schemas.microsoft.com/office/drawing/2014/main" val="20000"/>
                    </a:ext>
                  </a:extLst>
                </a:gridCol>
                <a:gridCol w="3100000">
                  <a:extLst>
                    <a:ext uri="{9D8B030D-6E8A-4147-A177-3AD203B41FA5}">
                      <a16:colId xmlns:a16="http://schemas.microsoft.com/office/drawing/2014/main" val="20001"/>
                    </a:ext>
                  </a:extLst>
                </a:gridCol>
                <a:gridCol w="3100000">
                  <a:extLst>
                    <a:ext uri="{9D8B030D-6E8A-4147-A177-3AD203B41FA5}">
                      <a16:colId xmlns:a16="http://schemas.microsoft.com/office/drawing/2014/main" val="20002"/>
                    </a:ext>
                  </a:extLst>
                </a:gridCol>
                <a:gridCol w="3100000">
                  <a:extLst>
                    <a:ext uri="{9D8B030D-6E8A-4147-A177-3AD203B41FA5}">
                      <a16:colId xmlns:a16="http://schemas.microsoft.com/office/drawing/2014/main" val="20003"/>
                    </a:ext>
                  </a:extLst>
                </a:gridCol>
              </a:tblGrid>
              <a:tr h="420000">
                <a:tc>
                  <a:txBody>
                    <a:bodyPr/>
                    <a:lstStyle/>
                    <a:p>
                      <a:pPr algn="ctr"/>
                      <a:endParaRPr/>
                    </a:p>
                  </a:txBody>
                  <a:tcPr marL="80000" marR="80000" anchor="ctr">
                    <a:solidFill>
                      <a:srgbClr val="FFFFFF"/>
                    </a:solidFill>
                  </a:tcPr>
                </a:tc>
                <a:tc>
                  <a:txBody>
                    <a:bodyPr/>
                    <a:lstStyle/>
                    <a:p>
                      <a:pPr algn="ctr"/>
                      <a:r>
                        <a:rPr sz="950" b="1">
                          <a:solidFill>
                            <a:srgbClr val="FFFFFF"/>
                          </a:solidFill>
                          <a:latin typeface="Calibri"/>
                        </a:rPr>
                        <a:t>Modelo de sensibilidad actual</a:t>
                      </a:r>
                    </a:p>
                  </a:txBody>
                  <a:tcPr marL="80000" marR="80000" anchor="ctr">
                    <a:solidFill>
                      <a:srgbClr val="1F3A5F"/>
                    </a:solidFill>
                  </a:tcPr>
                </a:tc>
                <a:tc>
                  <a:txBody>
                    <a:bodyPr/>
                    <a:lstStyle/>
                    <a:p>
                      <a:pPr algn="ctr"/>
                      <a:r>
                        <a:rPr sz="950" b="1">
                          <a:solidFill>
                            <a:srgbClr val="FFFFFF"/>
                          </a:solidFill>
                          <a:latin typeface="Calibri"/>
                        </a:rPr>
                        <a:t>Propuesta A</a:t>
                      </a:r>
                    </a:p>
                  </a:txBody>
                  <a:tcPr marL="80000" marR="80000" anchor="ctr">
                    <a:solidFill>
                      <a:srgbClr val="1F3A5F"/>
                    </a:solidFill>
                  </a:tcPr>
                </a:tc>
                <a:tc>
                  <a:txBody>
                    <a:bodyPr/>
                    <a:lstStyle/>
                    <a:p>
                      <a:pPr algn="ctr"/>
                      <a:r>
                        <a:rPr sz="950" b="1">
                          <a:solidFill>
                            <a:srgbClr val="FFFFFF"/>
                          </a:solidFill>
                          <a:latin typeface="Calibri"/>
                        </a:rPr>
                        <a:t>Propuesta B</a:t>
                      </a:r>
                    </a:p>
                  </a:txBody>
                  <a:tcPr marL="80000" marR="80000" anchor="ctr">
                    <a:solidFill>
                      <a:srgbClr val="1F3A5F"/>
                    </a:solidFill>
                  </a:tcPr>
                </a:tc>
                <a:extLst>
                  <a:ext uri="{0D108BD9-81ED-4DB2-BD59-A6C34878D82A}">
                    <a16:rowId xmlns:a16="http://schemas.microsoft.com/office/drawing/2014/main" val="10000"/>
                  </a:ext>
                </a:extLst>
              </a:tr>
              <a:tr h="560000">
                <a:tc>
                  <a:txBody>
                    <a:bodyPr/>
                    <a:lstStyle/>
                    <a:p>
                      <a:pPr algn="l"/>
                      <a:r>
                        <a:rPr sz="900" b="1">
                          <a:solidFill>
                            <a:srgbClr val="2F3B3A"/>
                          </a:solidFill>
                          <a:latin typeface="Calibri"/>
                        </a:rPr>
                        <a:t>Metodología</a:t>
                      </a:r>
                    </a:p>
                  </a:txBody>
                  <a:tcPr marL="80000" marR="80000" anchor="ctr">
                    <a:noFill/>
                  </a:tcPr>
                </a:tc>
                <a:tc>
                  <a:txBody>
                    <a:bodyPr/>
                    <a:lstStyle/>
                    <a:p>
                      <a:pPr algn="ctr"/>
                      <a:r>
                        <a:rPr sz="900" b="0">
                          <a:solidFill>
                            <a:srgbClr val="2F3B3A"/>
                          </a:solidFill>
                          <a:latin typeface="Calibri"/>
                        </a:rPr>
                        <a:t>Datos panel con efectos fijos por bucket y por mes</a:t>
                      </a:r>
                    </a:p>
                  </a:txBody>
                  <a:tcPr marL="80000" marR="80000" anchor="ctr">
                    <a:noFill/>
                  </a:tcPr>
                </a:tc>
                <a:tc>
                  <a:txBody>
                    <a:bodyPr/>
                    <a:lstStyle/>
                    <a:p>
                      <a:pPr algn="ctr"/>
                      <a:r>
                        <a:rPr sz="900" b="0">
                          <a:solidFill>
                            <a:srgbClr val="2F3B3A"/>
                          </a:solidFill>
                          <a:latin typeface="Calibri"/>
                        </a:rPr>
                        <a:t>Regresión logística</a:t>
                      </a:r>
                    </a:p>
                  </a:txBody>
                  <a:tcPr marL="80000" marR="80000" anchor="ctr">
                    <a:noFill/>
                  </a:tcPr>
                </a:tc>
                <a:tc>
                  <a:txBody>
                    <a:bodyPr/>
                    <a:lstStyle/>
                    <a:p>
                      <a:pPr algn="ctr"/>
                      <a:r>
                        <a:rPr sz="900" b="0">
                          <a:solidFill>
                            <a:srgbClr val="2F3B3A"/>
                          </a:solidFill>
                          <a:latin typeface="Calibri"/>
                        </a:rPr>
                        <a:t>Regresión logística</a:t>
                      </a:r>
                    </a:p>
                  </a:txBody>
                  <a:tcPr marL="80000" marR="80000" anchor="ctr">
                    <a:noFill/>
                  </a:tcPr>
                </a:tc>
                <a:extLst>
                  <a:ext uri="{0D108BD9-81ED-4DB2-BD59-A6C34878D82A}">
                    <a16:rowId xmlns:a16="http://schemas.microsoft.com/office/drawing/2014/main" val="10001"/>
                  </a:ext>
                </a:extLst>
              </a:tr>
              <a:tr h="560000">
                <a:tc>
                  <a:txBody>
                    <a:bodyPr/>
                    <a:lstStyle/>
                    <a:p>
                      <a:pPr algn="l"/>
                      <a:r>
                        <a:rPr sz="900" b="1">
                          <a:solidFill>
                            <a:srgbClr val="2F3B3A"/>
                          </a:solidFill>
                          <a:latin typeface="Calibri"/>
                        </a:rPr>
                        <a:t>Variable objetivo</a:t>
                      </a:r>
                    </a:p>
                  </a:txBody>
                  <a:tcPr marL="80000" marR="80000" anchor="ctr">
                    <a:solidFill>
                      <a:srgbClr val="F3F6F6"/>
                    </a:solidFill>
                  </a:tcPr>
                </a:tc>
                <a:tc>
                  <a:txBody>
                    <a:bodyPr/>
                    <a:lstStyle/>
                    <a:p>
                      <a:pPr algn="ctr"/>
                      <a:r>
                        <a:rPr sz="900" b="0">
                          <a:solidFill>
                            <a:srgbClr val="2F3B3A"/>
                          </a:solidFill>
                          <a:latin typeface="Calibri"/>
                        </a:rPr>
                        <a:t>Efectividad: monto desembolsado / monto ofertado</a:t>
                      </a:r>
                    </a:p>
                  </a:txBody>
                  <a:tcPr marL="80000" marR="80000" anchor="ctr">
                    <a:solidFill>
                      <a:srgbClr val="F3F6F6"/>
                    </a:solidFill>
                  </a:tcPr>
                </a:tc>
                <a:tc>
                  <a:txBody>
                    <a:bodyPr/>
                    <a:lstStyle/>
                    <a:p>
                      <a:pPr algn="ctr"/>
                      <a:r>
                        <a:rPr sz="900" b="0">
                          <a:solidFill>
                            <a:srgbClr val="2F3B3A"/>
                          </a:solidFill>
                          <a:latin typeface="Calibri"/>
                        </a:rPr>
                        <a:t>Aceptación del crédito ofertado</a:t>
                      </a:r>
                    </a:p>
                  </a:txBody>
                  <a:tcPr marL="80000" marR="80000" anchor="ctr">
                    <a:solidFill>
                      <a:srgbClr val="F3F6F6"/>
                    </a:solidFill>
                  </a:tcPr>
                </a:tc>
                <a:tc>
                  <a:txBody>
                    <a:bodyPr/>
                    <a:lstStyle/>
                    <a:p>
                      <a:pPr algn="ctr"/>
                      <a:r>
                        <a:rPr sz="900" b="0">
                          <a:solidFill>
                            <a:srgbClr val="2F3B3A"/>
                          </a:solidFill>
                          <a:latin typeface="Calibri"/>
                        </a:rPr>
                        <a:t>Aceptación del crédito ofertado</a:t>
                      </a:r>
                    </a:p>
                  </a:txBody>
                  <a:tcPr marL="80000" marR="80000" anchor="ctr">
                    <a:solidFill>
                      <a:srgbClr val="F3F6F6"/>
                    </a:solidFill>
                  </a:tcPr>
                </a:tc>
                <a:extLst>
                  <a:ext uri="{0D108BD9-81ED-4DB2-BD59-A6C34878D82A}">
                    <a16:rowId xmlns:a16="http://schemas.microsoft.com/office/drawing/2014/main" val="10002"/>
                  </a:ext>
                </a:extLst>
              </a:tr>
              <a:tr h="560000">
                <a:tc>
                  <a:txBody>
                    <a:bodyPr/>
                    <a:lstStyle/>
                    <a:p>
                      <a:pPr algn="l"/>
                      <a:r>
                        <a:rPr sz="900" b="1">
                          <a:solidFill>
                            <a:srgbClr val="2F3B3A"/>
                          </a:solidFill>
                          <a:latin typeface="Calibri"/>
                        </a:rPr>
                        <a:t>Periodo</a:t>
                      </a:r>
                    </a:p>
                  </a:txBody>
                  <a:tcPr marL="80000" marR="80000" anchor="ctr">
                    <a:noFill/>
                  </a:tcPr>
                </a:tc>
                <a:tc>
                  <a:txBody>
                    <a:bodyPr/>
                    <a:lstStyle/>
                    <a:p>
                      <a:pPr algn="ctr"/>
                      <a:r>
                        <a:rPr sz="900" b="0">
                          <a:solidFill>
                            <a:srgbClr val="2F3B3A"/>
                          </a:solidFill>
                          <a:latin typeface="Calibri"/>
                        </a:rPr>
                        <a:t>Abr 25 – abr 26</a:t>
                      </a:r>
                    </a:p>
                  </a:txBody>
                  <a:tcPr marL="80000" marR="80000" anchor="ctr">
                    <a:noFill/>
                  </a:tcPr>
                </a:tc>
                <a:tc>
                  <a:txBody>
                    <a:bodyPr/>
                    <a:lstStyle/>
                    <a:p>
                      <a:pPr algn="ctr"/>
                      <a:r>
                        <a:rPr sz="900" b="0">
                          <a:solidFill>
                            <a:srgbClr val="2F3B3A"/>
                          </a:solidFill>
                          <a:latin typeface="Calibri"/>
                        </a:rPr>
                        <a:t>Entrenamiento abr 25 – ene 26 y validación fuera de tiempo feb – abr 26</a:t>
                      </a:r>
                    </a:p>
                  </a:txBody>
                  <a:tcPr marL="80000" marR="80000" anchor="ctr">
                    <a:noFill/>
                  </a:tcPr>
                </a:tc>
                <a:tc>
                  <a:txBody>
                    <a:bodyPr/>
                    <a:lstStyle/>
                    <a:p>
                      <a:pPr algn="ctr"/>
                      <a:r>
                        <a:rPr sz="900" b="0">
                          <a:solidFill>
                            <a:srgbClr val="2F3B3A"/>
                          </a:solidFill>
                          <a:latin typeface="Calibri"/>
                        </a:rPr>
                        <a:t>Entrenamiento abr 25 – ene 26 y validación fuera de tiempo feb – abr 26</a:t>
                      </a:r>
                    </a:p>
                  </a:txBody>
                  <a:tcPr marL="80000" marR="80000" anchor="ctr">
                    <a:noFill/>
                  </a:tcPr>
                </a:tc>
                <a:extLst>
                  <a:ext uri="{0D108BD9-81ED-4DB2-BD59-A6C34878D82A}">
                    <a16:rowId xmlns:a16="http://schemas.microsoft.com/office/drawing/2014/main" val="10003"/>
                  </a:ext>
                </a:extLst>
              </a:tr>
              <a:tr h="560000">
                <a:tc>
                  <a:txBody>
                    <a:bodyPr/>
                    <a:lstStyle/>
                    <a:p>
                      <a:pPr algn="l"/>
                      <a:r>
                        <a:rPr sz="900" b="1">
                          <a:solidFill>
                            <a:srgbClr val="2F3B3A"/>
                          </a:solidFill>
                          <a:latin typeface="Calibri"/>
                        </a:rPr>
                        <a:t>Poder de ordenamiento</a:t>
                      </a:r>
                    </a:p>
                  </a:txBody>
                  <a:tcPr marL="80000" marR="80000" anchor="ctr">
                    <a:solidFill>
                      <a:srgbClr val="F3F6F6"/>
                    </a:solidFill>
                  </a:tcPr>
                </a:tc>
                <a:tc>
                  <a:txBody>
                    <a:bodyPr/>
                    <a:lstStyle/>
                    <a:p>
                      <a:pPr algn="ctr"/>
                      <a:r>
                        <a:rPr sz="900" b="0">
                          <a:solidFill>
                            <a:srgbClr val="2F3B3A"/>
                          </a:solidFill>
                          <a:latin typeface="Calibri"/>
                        </a:rPr>
                        <a:t>No aplica: mide sensibilidad, no ordena clientes</a:t>
                      </a:r>
                    </a:p>
                  </a:txBody>
                  <a:tcPr marL="80000" marR="80000" anchor="ctr">
                    <a:solidFill>
                      <a:srgbClr val="F3F6F6"/>
                    </a:solidFill>
                  </a:tcPr>
                </a:tc>
                <a:tc>
                  <a:txBody>
                    <a:bodyPr/>
                    <a:lstStyle/>
                    <a:p>
                      <a:pPr algn="ctr"/>
                      <a:r>
                        <a:rPr sz="900" b="0">
                          <a:solidFill>
                            <a:srgbClr val="2F3B3A"/>
                          </a:solidFill>
                          <a:latin typeface="Calibri"/>
                        </a:rPr>
                        <a:t>Gini de 65,7% fuera de tiempo, estable</a:t>
                      </a:r>
                    </a:p>
                  </a:txBody>
                  <a:tcPr marL="80000" marR="80000" anchor="ctr">
                    <a:solidFill>
                      <a:srgbClr val="F3F6F6"/>
                    </a:solidFill>
                  </a:tcPr>
                </a:tc>
                <a:tc>
                  <a:txBody>
                    <a:bodyPr/>
                    <a:lstStyle/>
                    <a:p>
                      <a:pPr algn="ctr"/>
                      <a:r>
                        <a:rPr sz="900" b="0">
                          <a:solidFill>
                            <a:srgbClr val="2F3B3A"/>
                          </a:solidFill>
                          <a:latin typeface="Calibri"/>
                        </a:rPr>
                        <a:t>Gini de 83,1% fuera de tiempo, estable</a:t>
                      </a:r>
                    </a:p>
                  </a:txBody>
                  <a:tcPr marL="80000" marR="80000" anchor="ctr">
                    <a:solidFill>
                      <a:srgbClr val="F3F6F6"/>
                    </a:solidFill>
                  </a:tcPr>
                </a:tc>
                <a:extLst>
                  <a:ext uri="{0D108BD9-81ED-4DB2-BD59-A6C34878D82A}">
                    <a16:rowId xmlns:a16="http://schemas.microsoft.com/office/drawing/2014/main" val="10004"/>
                  </a:ext>
                </a:extLst>
              </a:tr>
              <a:tr h="560000">
                <a:tc>
                  <a:txBody>
                    <a:bodyPr/>
                    <a:lstStyle/>
                    <a:p>
                      <a:pPr algn="l"/>
                      <a:r>
                        <a:rPr sz="900" b="1">
                          <a:solidFill>
                            <a:srgbClr val="2F3B3A"/>
                          </a:solidFill>
                          <a:latin typeface="Calibri"/>
                        </a:rPr>
                        <a:t>Variables con más peso</a:t>
                      </a:r>
                    </a:p>
                  </a:txBody>
                  <a:tcPr marL="80000" marR="80000" anchor="ctr">
                    <a:noFill/>
                  </a:tcPr>
                </a:tc>
                <a:tc>
                  <a:txBody>
                    <a:bodyPr/>
                    <a:lstStyle/>
                    <a:p>
                      <a:pPr algn="ctr"/>
                      <a:r>
                        <a:rPr sz="900" b="0">
                          <a:solidFill>
                            <a:srgbClr val="2F3B3A"/>
                          </a:solidFill>
                          <a:latin typeface="Calibri"/>
                        </a:rPr>
                        <a:t>Tasa ofertada</a:t>
                      </a:r>
                    </a:p>
                  </a:txBody>
                  <a:tcPr marL="80000" marR="80000" anchor="ctr">
                    <a:noFill/>
                  </a:tcPr>
                </a:tc>
                <a:tc>
                  <a:txBody>
                    <a:bodyPr/>
                    <a:lstStyle/>
                    <a:p>
                      <a:pPr algn="ctr"/>
                      <a:r>
                        <a:rPr sz="900" b="0">
                          <a:solidFill>
                            <a:srgbClr val="2F3B3A"/>
                          </a:solidFill>
                          <a:latin typeface="Calibri"/>
                        </a:rPr>
                        <a:t>Tasa del cliente (39,5%) y monto ofertado (26,7%)</a:t>
                      </a:r>
                    </a:p>
                  </a:txBody>
                  <a:tcPr marL="80000" marR="80000" anchor="ctr">
                    <a:noFill/>
                  </a:tcPr>
                </a:tc>
                <a:tc>
                  <a:txBody>
                    <a:bodyPr/>
                    <a:lstStyle/>
                    <a:p>
                      <a:pPr algn="ctr"/>
                      <a:r>
                        <a:rPr sz="900" b="0">
                          <a:solidFill>
                            <a:srgbClr val="2F3B3A"/>
                          </a:solidFill>
                          <a:latin typeface="Calibri"/>
                        </a:rPr>
                        <a:t>Monto del cliente (37,7%) y tasa del cliente (36,1%)</a:t>
                      </a:r>
                    </a:p>
                  </a:txBody>
                  <a:tcPr marL="80000" marR="80000" anchor="ctr">
                    <a:noFill/>
                  </a:tcPr>
                </a:tc>
                <a:extLst>
                  <a:ext uri="{0D108BD9-81ED-4DB2-BD59-A6C34878D82A}">
                    <a16:rowId xmlns:a16="http://schemas.microsoft.com/office/drawing/2014/main" val="10005"/>
                  </a:ext>
                </a:extLst>
              </a:tr>
              <a:tr h="560000">
                <a:tc>
                  <a:txBody>
                    <a:bodyPr/>
                    <a:lstStyle/>
                    <a:p>
                      <a:pPr algn="l"/>
                      <a:r>
                        <a:rPr sz="900" b="1">
                          <a:solidFill>
                            <a:srgbClr val="2F3B3A"/>
                          </a:solidFill>
                          <a:latin typeface="Calibri"/>
                        </a:rPr>
                        <a:t>Qué entrega</a:t>
                      </a:r>
                    </a:p>
                  </a:txBody>
                  <a:tcPr marL="80000" marR="80000" anchor="ctr">
                    <a:solidFill>
                      <a:srgbClr val="F3F6F6"/>
                    </a:solidFill>
                  </a:tcPr>
                </a:tc>
                <a:tc>
                  <a:txBody>
                    <a:bodyPr/>
                    <a:lstStyle/>
                    <a:p>
                      <a:pPr algn="ctr"/>
                      <a:r>
                        <a:rPr sz="900" b="0">
                          <a:solidFill>
                            <a:srgbClr val="2F3B3A"/>
                          </a:solidFill>
                          <a:latin typeface="Calibri"/>
                        </a:rPr>
                        <a:t>Elasticidad por macroperfil (4 grupos)</a:t>
                      </a:r>
                    </a:p>
                  </a:txBody>
                  <a:tcPr marL="80000" marR="80000" anchor="ctr">
                    <a:solidFill>
                      <a:srgbClr val="F3F6F6"/>
                    </a:solidFill>
                  </a:tcPr>
                </a:tc>
                <a:tc>
                  <a:txBody>
                    <a:bodyPr/>
                    <a:lstStyle/>
                    <a:p>
                      <a:pPr algn="ctr"/>
                      <a:r>
                        <a:rPr sz="900" b="0">
                          <a:solidFill>
                            <a:srgbClr val="2F3B3A"/>
                          </a:solidFill>
                          <a:latin typeface="Calibri"/>
                        </a:rPr>
                        <a:t>Probabilidad de aceptación por cliente a distintas tasas</a:t>
                      </a:r>
                    </a:p>
                  </a:txBody>
                  <a:tcPr marL="80000" marR="80000" anchor="ctr">
                    <a:solidFill>
                      <a:srgbClr val="F3F6F6"/>
                    </a:solidFill>
                  </a:tcPr>
                </a:tc>
                <a:tc>
                  <a:txBody>
                    <a:bodyPr/>
                    <a:lstStyle/>
                    <a:p>
                      <a:pPr algn="ctr"/>
                      <a:r>
                        <a:rPr sz="900" b="0">
                          <a:solidFill>
                            <a:srgbClr val="2F3B3A"/>
                          </a:solidFill>
                          <a:latin typeface="Calibri"/>
                        </a:rPr>
                        <a:t>Probabilidad de aceptación por cliente a distintas tasas</a:t>
                      </a:r>
                    </a:p>
                  </a:txBody>
                  <a:tcPr marL="80000" marR="80000" anchor="ctr">
                    <a:solidFill>
                      <a:srgbClr val="F3F6F6"/>
                    </a:solidFill>
                  </a:tcPr>
                </a:tc>
                <a:extLst>
                  <a:ext uri="{0D108BD9-81ED-4DB2-BD59-A6C34878D82A}">
                    <a16:rowId xmlns:a16="http://schemas.microsoft.com/office/drawing/2014/main" val="10006"/>
                  </a:ext>
                </a:extLst>
              </a:tr>
            </a:tbl>
          </a:graphicData>
        </a:graphic>
      </p:graphicFrame>
      <p:sp>
        <p:nvSpPr>
          <p:cNvPr id="7" name="TextBox 6"/>
          <p:cNvSpPr txBox="1"/>
          <p:nvPr/>
        </p:nvSpPr>
        <p:spPr>
          <a:xfrm>
            <a:off x="493776" y="5230000"/>
            <a:ext cx="11200000" cy="400000"/>
          </a:xfrm>
          <a:prstGeom prst="rect">
            <a:avLst/>
          </a:prstGeom>
          <a:noFill/>
        </p:spPr>
        <p:txBody>
          <a:bodyPr wrap="square">
            <a:spAutoFit/>
          </a:bodyPr>
          <a:lstStyle/>
          <a:p>
            <a:r>
              <a:rPr sz="800">
                <a:solidFill>
                  <a:srgbClr val="6E7E7D"/>
                </a:solidFill>
                <a:latin typeface="Calibri"/>
              </a:rPr>
              <a:t>Los tres modelos usan la misma población: éxitos son desembolsos en Interbank y fracasos son desembolsos en la competencia por monto similar y con gestión, la misma base del share relevante.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93777" y="246888"/>
            <a:ext cx="8963570" cy="109710"/>
          </a:xfrm>
          <a:prstGeom prst="rect">
            <a:avLst/>
          </a:prstGeom>
          <a:noFill/>
        </p:spPr>
        <p:txBody>
          <a:bodyPr wrap="square" lIns="0" tIns="0" rIns="0" bIns="0" anchor="t">
            <a:spAutoFit/>
          </a:bodyPr>
          <a:lstStyle/>
          <a:p>
            <a:pPr algn="l"/>
            <a:r>
              <a:rPr sz="800" b="1">
                <a:solidFill>
                  <a:srgbClr val="6E7E7D"/>
                </a:solidFill>
                <a:latin typeface="Calibri"/>
              </a:rPr>
              <a:t>OTRAS OPCIONES · PROPUESTA A</a:t>
            </a:r>
          </a:p>
        </p:txBody>
      </p:sp>
      <p:sp>
        <p:nvSpPr>
          <p:cNvPr id="3" name="TextBox 2"/>
          <p:cNvSpPr txBox="1"/>
          <p:nvPr/>
        </p:nvSpPr>
        <p:spPr>
          <a:xfrm>
            <a:off x="493776" y="425196"/>
            <a:ext cx="10312923" cy="482568"/>
          </a:xfrm>
          <a:prstGeom prst="rect">
            <a:avLst/>
          </a:prstGeom>
          <a:noFill/>
        </p:spPr>
        <p:txBody>
          <a:bodyPr wrap="square" lIns="0" tIns="0" rIns="0" bIns="0" anchor="t">
            <a:spAutoFit/>
          </a:bodyPr>
          <a:lstStyle/>
          <a:p>
            <a:pPr algn="l"/>
            <a:r>
              <a:rPr sz="1600" b="1">
                <a:solidFill>
                  <a:srgbClr val="13807B"/>
                </a:solidFill>
                <a:latin typeface="Poppins"/>
              </a:rPr>
              <a:t>Propuesta A: el modelo de aceptación del crédito ofertado ordena bien a los clientes, con un Gini estable cercano a 65%</a:t>
            </a:r>
          </a:p>
        </p:txBody>
      </p:sp>
      <p:cxnSp>
        <p:nvCxnSpPr>
          <p:cNvPr id="4" name="Connector 3"/>
          <p:cNvCxnSpPr/>
          <p:nvPr/>
        </p:nvCxnSpPr>
        <p:spPr>
          <a:xfrm>
            <a:off x="493776" y="1049274"/>
            <a:ext cx="11204463" cy="0"/>
          </a:xfrm>
          <a:prstGeom prst="line">
            <a:avLst/>
          </a:prstGeom>
          <a:ln w="12700">
            <a:solidFill>
              <a:srgbClr val="D5DFDE"/>
            </a:solidFill>
          </a:ln>
        </p:spPr>
        <p:style>
          <a:lnRef idx="2">
            <a:schemeClr val="accent1"/>
          </a:lnRef>
          <a:fillRef idx="0">
            <a:schemeClr val="accent1"/>
          </a:fillRef>
          <a:effectRef idx="1">
            <a:schemeClr val="accent1"/>
          </a:effectRef>
          <a:fontRef idx="minor">
            <a:schemeClr val="tx1"/>
          </a:fontRef>
        </p:style>
      </p:cxnSp>
      <p:pic>
        <p:nvPicPr>
          <p:cNvPr id="5" name="Picture 4" descr="logo.png"/>
          <p:cNvPicPr>
            <a:picLocks noChangeAspect="1"/>
          </p:cNvPicPr>
          <p:nvPr/>
        </p:nvPicPr>
        <p:blipFill>
          <a:blip r:embed="rId2"/>
          <a:stretch>
            <a:fillRect/>
          </a:stretch>
        </p:blipFill>
        <p:spPr>
          <a:xfrm>
            <a:off x="11081186" y="82166"/>
            <a:ext cx="916962" cy="343030"/>
          </a:xfrm>
          <a:prstGeom prst="rect">
            <a:avLst/>
          </a:prstGeom>
        </p:spPr>
      </p:pic>
      <p:sp>
        <p:nvSpPr>
          <p:cNvPr id="6" name="Rectangle 5"/>
          <p:cNvSpPr/>
          <p:nvPr/>
        </p:nvSpPr>
        <p:spPr>
          <a:xfrm>
            <a:off x="493776" y="1180000"/>
            <a:ext cx="2687850" cy="900000"/>
          </a:xfrm>
          <a:prstGeom prst="rect">
            <a:avLst/>
          </a:prstGeom>
          <a:solidFill>
            <a:srgbClr val="F7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93776" y="1180000"/>
            <a:ext cx="45000" cy="900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23776" y="1230000"/>
            <a:ext cx="2487850" cy="220000"/>
          </a:xfrm>
          <a:prstGeom prst="rect">
            <a:avLst/>
          </a:prstGeom>
          <a:noFill/>
        </p:spPr>
        <p:txBody>
          <a:bodyPr wrap="square" lIns="0" tIns="0" rIns="0" bIns="0" anchor="t">
            <a:spAutoFit/>
          </a:bodyPr>
          <a:lstStyle/>
          <a:p>
            <a:pPr algn="l"/>
            <a:r>
              <a:rPr sz="950" b="1">
                <a:solidFill>
                  <a:srgbClr val="1F3A5F"/>
                </a:solidFill>
                <a:latin typeface="Calibri"/>
              </a:rPr>
              <a:t>Población</a:t>
            </a:r>
          </a:p>
        </p:txBody>
      </p:sp>
      <p:sp>
        <p:nvSpPr>
          <p:cNvPr id="9" name="TextBox 8"/>
          <p:cNvSpPr txBox="1"/>
          <p:nvPr/>
        </p:nvSpPr>
        <p:spPr>
          <a:xfrm>
            <a:off x="623776" y="1460000"/>
            <a:ext cx="2487850" cy="600000"/>
          </a:xfrm>
          <a:prstGeom prst="rect">
            <a:avLst/>
          </a:prstGeom>
          <a:noFill/>
        </p:spPr>
        <p:txBody>
          <a:bodyPr wrap="square" lIns="0" tIns="0" rIns="0" bIns="0" anchor="t">
            <a:spAutoFit/>
          </a:bodyPr>
          <a:lstStyle/>
          <a:p>
            <a:pPr algn="l"/>
            <a:r>
              <a:rPr sz="850" b="0">
                <a:solidFill>
                  <a:srgbClr val="2F3B3A"/>
                </a:solidFill>
                <a:latin typeface="Calibri"/>
              </a:rPr>
              <a:t>Éxitos: desembolsos en Interbank. Fracasos: desembolsos en la competencia por monto similar y con gestión, la misma base del share relevante</a:t>
            </a:r>
          </a:p>
        </p:txBody>
      </p:sp>
      <p:sp>
        <p:nvSpPr>
          <p:cNvPr id="10" name="Rectangle 9"/>
          <p:cNvSpPr/>
          <p:nvPr/>
        </p:nvSpPr>
        <p:spPr>
          <a:xfrm>
            <a:off x="3331626" y="1180000"/>
            <a:ext cx="2687850" cy="900000"/>
          </a:xfrm>
          <a:prstGeom prst="rect">
            <a:avLst/>
          </a:prstGeom>
          <a:solidFill>
            <a:srgbClr val="F7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331626" y="1180000"/>
            <a:ext cx="45000" cy="900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61626" y="1230000"/>
            <a:ext cx="2487850" cy="220000"/>
          </a:xfrm>
          <a:prstGeom prst="rect">
            <a:avLst/>
          </a:prstGeom>
          <a:noFill/>
        </p:spPr>
        <p:txBody>
          <a:bodyPr wrap="square" lIns="0" tIns="0" rIns="0" bIns="0" anchor="t">
            <a:spAutoFit/>
          </a:bodyPr>
          <a:lstStyle/>
          <a:p>
            <a:pPr algn="l"/>
            <a:r>
              <a:rPr sz="950" b="1">
                <a:solidFill>
                  <a:srgbClr val="1F3A5F"/>
                </a:solidFill>
                <a:latin typeface="Calibri"/>
              </a:rPr>
              <a:t>Variable objetivo</a:t>
            </a:r>
          </a:p>
        </p:txBody>
      </p:sp>
      <p:sp>
        <p:nvSpPr>
          <p:cNvPr id="13" name="TextBox 12"/>
          <p:cNvSpPr txBox="1"/>
          <p:nvPr/>
        </p:nvSpPr>
        <p:spPr>
          <a:xfrm>
            <a:off x="3461626" y="1460000"/>
            <a:ext cx="2487850" cy="600000"/>
          </a:xfrm>
          <a:prstGeom prst="rect">
            <a:avLst/>
          </a:prstGeom>
          <a:noFill/>
        </p:spPr>
        <p:txBody>
          <a:bodyPr wrap="square" lIns="0" tIns="0" rIns="0" bIns="0" anchor="t">
            <a:spAutoFit/>
          </a:bodyPr>
          <a:lstStyle/>
          <a:p>
            <a:pPr algn="l"/>
            <a:r>
              <a:rPr sz="850" b="0">
                <a:solidFill>
                  <a:srgbClr val="2F3B3A"/>
                </a:solidFill>
                <a:latin typeface="Calibri"/>
              </a:rPr>
              <a:t>Aceptación del crédito ofertado</a:t>
            </a:r>
          </a:p>
        </p:txBody>
      </p:sp>
      <p:sp>
        <p:nvSpPr>
          <p:cNvPr id="14" name="Rectangle 13"/>
          <p:cNvSpPr/>
          <p:nvPr/>
        </p:nvSpPr>
        <p:spPr>
          <a:xfrm>
            <a:off x="6169476" y="1180000"/>
            <a:ext cx="2687850" cy="900000"/>
          </a:xfrm>
          <a:prstGeom prst="rect">
            <a:avLst/>
          </a:prstGeom>
          <a:solidFill>
            <a:srgbClr val="F7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169476" y="1180000"/>
            <a:ext cx="45000" cy="900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299476" y="1230000"/>
            <a:ext cx="2487850" cy="220000"/>
          </a:xfrm>
          <a:prstGeom prst="rect">
            <a:avLst/>
          </a:prstGeom>
          <a:noFill/>
        </p:spPr>
        <p:txBody>
          <a:bodyPr wrap="square" lIns="0" tIns="0" rIns="0" bIns="0" anchor="t">
            <a:spAutoFit/>
          </a:bodyPr>
          <a:lstStyle/>
          <a:p>
            <a:pPr algn="l"/>
            <a:r>
              <a:rPr sz="950" b="1">
                <a:solidFill>
                  <a:srgbClr val="1F3A5F"/>
                </a:solidFill>
                <a:latin typeface="Calibri"/>
              </a:rPr>
              <a:t>Periodos</a:t>
            </a:r>
          </a:p>
        </p:txBody>
      </p:sp>
      <p:sp>
        <p:nvSpPr>
          <p:cNvPr id="17" name="TextBox 16"/>
          <p:cNvSpPr txBox="1"/>
          <p:nvPr/>
        </p:nvSpPr>
        <p:spPr>
          <a:xfrm>
            <a:off x="6299476" y="1460000"/>
            <a:ext cx="2487850" cy="600000"/>
          </a:xfrm>
          <a:prstGeom prst="rect">
            <a:avLst/>
          </a:prstGeom>
          <a:noFill/>
        </p:spPr>
        <p:txBody>
          <a:bodyPr wrap="square" lIns="0" tIns="0" rIns="0" bIns="0" anchor="t">
            <a:spAutoFit/>
          </a:bodyPr>
          <a:lstStyle/>
          <a:p>
            <a:pPr algn="l"/>
            <a:r>
              <a:rPr sz="850" b="0">
                <a:solidFill>
                  <a:srgbClr val="2F3B3A"/>
                </a:solidFill>
                <a:latin typeface="Calibri"/>
              </a:rPr>
              <a:t>Entrenamiento y prueba: abr 25 – ene 26 (10 meses). Validación fuera de tiempo: feb – abr 26 (3 meses)</a:t>
            </a:r>
          </a:p>
        </p:txBody>
      </p:sp>
      <p:sp>
        <p:nvSpPr>
          <p:cNvPr id="18" name="Rectangle 17"/>
          <p:cNvSpPr/>
          <p:nvPr/>
        </p:nvSpPr>
        <p:spPr>
          <a:xfrm>
            <a:off x="9007326" y="1180000"/>
            <a:ext cx="2687850" cy="900000"/>
          </a:xfrm>
          <a:prstGeom prst="rect">
            <a:avLst/>
          </a:prstGeom>
          <a:solidFill>
            <a:srgbClr val="F7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9007326" y="1180000"/>
            <a:ext cx="45000" cy="900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137326" y="1230000"/>
            <a:ext cx="2487850" cy="220000"/>
          </a:xfrm>
          <a:prstGeom prst="rect">
            <a:avLst/>
          </a:prstGeom>
          <a:noFill/>
        </p:spPr>
        <p:txBody>
          <a:bodyPr wrap="square" lIns="0" tIns="0" rIns="0" bIns="0" anchor="t">
            <a:spAutoFit/>
          </a:bodyPr>
          <a:lstStyle/>
          <a:p>
            <a:pPr algn="l"/>
            <a:r>
              <a:rPr sz="950" b="1">
                <a:solidFill>
                  <a:srgbClr val="1F3A5F"/>
                </a:solidFill>
                <a:latin typeface="Calibri"/>
              </a:rPr>
              <a:t>Metodología</a:t>
            </a:r>
          </a:p>
        </p:txBody>
      </p:sp>
      <p:sp>
        <p:nvSpPr>
          <p:cNvPr id="21" name="TextBox 20"/>
          <p:cNvSpPr txBox="1"/>
          <p:nvPr/>
        </p:nvSpPr>
        <p:spPr>
          <a:xfrm>
            <a:off x="9137326" y="1460000"/>
            <a:ext cx="2487850" cy="600000"/>
          </a:xfrm>
          <a:prstGeom prst="rect">
            <a:avLst/>
          </a:prstGeom>
          <a:noFill/>
        </p:spPr>
        <p:txBody>
          <a:bodyPr wrap="square" lIns="0" tIns="0" rIns="0" bIns="0" anchor="t">
            <a:spAutoFit/>
          </a:bodyPr>
          <a:lstStyle/>
          <a:p>
            <a:pPr algn="l"/>
            <a:r>
              <a:rPr sz="850" b="0">
                <a:solidFill>
                  <a:srgbClr val="2F3B3A"/>
                </a:solidFill>
                <a:latin typeface="Calibri"/>
              </a:rPr>
              <a:t>Regresión logística</a:t>
            </a:r>
          </a:p>
        </p:txBody>
      </p:sp>
      <p:sp>
        <p:nvSpPr>
          <p:cNvPr id="22" name="TextBox 21"/>
          <p:cNvSpPr txBox="1"/>
          <p:nvPr/>
        </p:nvSpPr>
        <p:spPr>
          <a:xfrm>
            <a:off x="493776" y="2230000"/>
            <a:ext cx="3000000" cy="220000"/>
          </a:xfrm>
          <a:prstGeom prst="rect">
            <a:avLst/>
          </a:prstGeom>
          <a:noFill/>
        </p:spPr>
        <p:txBody>
          <a:bodyPr wrap="square" lIns="0" tIns="0" rIns="0" bIns="0" anchor="t">
            <a:spAutoFit/>
          </a:bodyPr>
          <a:lstStyle/>
          <a:p>
            <a:pPr algn="l"/>
            <a:r>
              <a:rPr sz="1000" b="1">
                <a:solidFill>
                  <a:srgbClr val="2F3B3A"/>
                </a:solidFill>
                <a:latin typeface="Calibri"/>
              </a:rPr>
              <a:t>Poder de ordenamiento (Gini)</a:t>
            </a:r>
          </a:p>
        </p:txBody>
      </p:sp>
      <p:sp>
        <p:nvSpPr>
          <p:cNvPr id="23" name="Rectangle 22"/>
          <p:cNvSpPr/>
          <p:nvPr/>
        </p:nvSpPr>
        <p:spPr>
          <a:xfrm>
            <a:off x="493776" y="2500000"/>
            <a:ext cx="3000000" cy="940000"/>
          </a:xfrm>
          <a:prstGeom prst="rect">
            <a:avLst/>
          </a:prstGeom>
          <a:solidFill>
            <a:srgbClr val="F7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493776" y="2500000"/>
            <a:ext cx="45000" cy="940000"/>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43776" y="2590000"/>
            <a:ext cx="2750000" cy="250000"/>
          </a:xfrm>
          <a:prstGeom prst="rect">
            <a:avLst/>
          </a:prstGeom>
          <a:noFill/>
        </p:spPr>
        <p:txBody>
          <a:bodyPr wrap="square" lIns="0" tIns="0" rIns="0" bIns="0" anchor="t">
            <a:spAutoFit/>
          </a:bodyPr>
          <a:lstStyle/>
          <a:p>
            <a:pPr algn="l"/>
            <a:r>
              <a:rPr sz="950" b="0">
                <a:solidFill>
                  <a:srgbClr val="6E7E7D"/>
                </a:solidFill>
                <a:latin typeface="Calibri"/>
              </a:rPr>
              <a:t>Entrenamiento</a:t>
            </a:r>
          </a:p>
        </p:txBody>
      </p:sp>
      <p:sp>
        <p:nvSpPr>
          <p:cNvPr id="26" name="TextBox 25"/>
          <p:cNvSpPr txBox="1"/>
          <p:nvPr/>
        </p:nvSpPr>
        <p:spPr>
          <a:xfrm>
            <a:off x="643776" y="2860000"/>
            <a:ext cx="2750000" cy="500000"/>
          </a:xfrm>
          <a:prstGeom prst="rect">
            <a:avLst/>
          </a:prstGeom>
          <a:noFill/>
        </p:spPr>
        <p:txBody>
          <a:bodyPr wrap="square" lIns="0" tIns="0" rIns="0" bIns="0" anchor="t">
            <a:spAutoFit/>
          </a:bodyPr>
          <a:lstStyle/>
          <a:p>
            <a:pPr algn="l"/>
            <a:r>
              <a:rPr sz="2200" b="1">
                <a:solidFill>
                  <a:srgbClr val="13807B"/>
                </a:solidFill>
                <a:latin typeface="Calibri"/>
              </a:rPr>
              <a:t>65,36%</a:t>
            </a:r>
          </a:p>
        </p:txBody>
      </p:sp>
      <p:sp>
        <p:nvSpPr>
          <p:cNvPr id="27" name="Rectangle 26"/>
          <p:cNvSpPr/>
          <p:nvPr/>
        </p:nvSpPr>
        <p:spPr>
          <a:xfrm>
            <a:off x="493776" y="3560000"/>
            <a:ext cx="3000000" cy="940000"/>
          </a:xfrm>
          <a:prstGeom prst="rect">
            <a:avLst/>
          </a:prstGeom>
          <a:solidFill>
            <a:srgbClr val="F7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493776" y="3560000"/>
            <a:ext cx="45000" cy="940000"/>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43776" y="3650000"/>
            <a:ext cx="2750000" cy="250000"/>
          </a:xfrm>
          <a:prstGeom prst="rect">
            <a:avLst/>
          </a:prstGeom>
          <a:noFill/>
        </p:spPr>
        <p:txBody>
          <a:bodyPr wrap="square" lIns="0" tIns="0" rIns="0" bIns="0" anchor="t">
            <a:spAutoFit/>
          </a:bodyPr>
          <a:lstStyle/>
          <a:p>
            <a:pPr algn="l"/>
            <a:r>
              <a:rPr sz="950" b="0">
                <a:solidFill>
                  <a:srgbClr val="6E7E7D"/>
                </a:solidFill>
                <a:latin typeface="Calibri"/>
              </a:rPr>
              <a:t>Validación</a:t>
            </a:r>
          </a:p>
        </p:txBody>
      </p:sp>
      <p:sp>
        <p:nvSpPr>
          <p:cNvPr id="30" name="TextBox 29"/>
          <p:cNvSpPr txBox="1"/>
          <p:nvPr/>
        </p:nvSpPr>
        <p:spPr>
          <a:xfrm>
            <a:off x="643776" y="3920000"/>
            <a:ext cx="2750000" cy="500000"/>
          </a:xfrm>
          <a:prstGeom prst="rect">
            <a:avLst/>
          </a:prstGeom>
          <a:noFill/>
        </p:spPr>
        <p:txBody>
          <a:bodyPr wrap="square" lIns="0" tIns="0" rIns="0" bIns="0" anchor="t">
            <a:spAutoFit/>
          </a:bodyPr>
          <a:lstStyle/>
          <a:p>
            <a:pPr algn="l"/>
            <a:r>
              <a:rPr sz="2200" b="1">
                <a:solidFill>
                  <a:srgbClr val="13807B"/>
                </a:solidFill>
                <a:latin typeface="Calibri"/>
              </a:rPr>
              <a:t>64,03%</a:t>
            </a:r>
          </a:p>
        </p:txBody>
      </p:sp>
      <p:sp>
        <p:nvSpPr>
          <p:cNvPr id="31" name="Rectangle 30"/>
          <p:cNvSpPr/>
          <p:nvPr/>
        </p:nvSpPr>
        <p:spPr>
          <a:xfrm>
            <a:off x="493776" y="4620000"/>
            <a:ext cx="3000000" cy="940000"/>
          </a:xfrm>
          <a:prstGeom prst="rect">
            <a:avLst/>
          </a:prstGeom>
          <a:solidFill>
            <a:srgbClr val="F7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493776" y="4620000"/>
            <a:ext cx="45000" cy="940000"/>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43776" y="4710000"/>
            <a:ext cx="2750000" cy="250000"/>
          </a:xfrm>
          <a:prstGeom prst="rect">
            <a:avLst/>
          </a:prstGeom>
          <a:noFill/>
        </p:spPr>
        <p:txBody>
          <a:bodyPr wrap="square" lIns="0" tIns="0" rIns="0" bIns="0" anchor="t">
            <a:spAutoFit/>
          </a:bodyPr>
          <a:lstStyle/>
          <a:p>
            <a:pPr algn="l"/>
            <a:r>
              <a:rPr sz="950" b="0">
                <a:solidFill>
                  <a:srgbClr val="6E7E7D"/>
                </a:solidFill>
                <a:latin typeface="Calibri"/>
              </a:rPr>
              <a:t>Fuera de tiempo (OOT)</a:t>
            </a:r>
          </a:p>
        </p:txBody>
      </p:sp>
      <p:sp>
        <p:nvSpPr>
          <p:cNvPr id="34" name="TextBox 33"/>
          <p:cNvSpPr txBox="1"/>
          <p:nvPr/>
        </p:nvSpPr>
        <p:spPr>
          <a:xfrm>
            <a:off x="643776" y="4980000"/>
            <a:ext cx="2750000" cy="500000"/>
          </a:xfrm>
          <a:prstGeom prst="rect">
            <a:avLst/>
          </a:prstGeom>
          <a:noFill/>
        </p:spPr>
        <p:txBody>
          <a:bodyPr wrap="square" lIns="0" tIns="0" rIns="0" bIns="0" anchor="t">
            <a:spAutoFit/>
          </a:bodyPr>
          <a:lstStyle/>
          <a:p>
            <a:pPr algn="l"/>
            <a:r>
              <a:rPr sz="2200" b="1">
                <a:solidFill>
                  <a:srgbClr val="13807B"/>
                </a:solidFill>
                <a:latin typeface="Calibri"/>
              </a:rPr>
              <a:t>65,73%</a:t>
            </a:r>
          </a:p>
        </p:txBody>
      </p:sp>
      <p:sp>
        <p:nvSpPr>
          <p:cNvPr id="35" name="TextBox 34"/>
          <p:cNvSpPr txBox="1"/>
          <p:nvPr/>
        </p:nvSpPr>
        <p:spPr>
          <a:xfrm>
            <a:off x="3743776" y="2230000"/>
            <a:ext cx="7951400" cy="220000"/>
          </a:xfrm>
          <a:prstGeom prst="rect">
            <a:avLst/>
          </a:prstGeom>
          <a:noFill/>
        </p:spPr>
        <p:txBody>
          <a:bodyPr wrap="square" lIns="0" tIns="0" rIns="0" bIns="0" anchor="t">
            <a:spAutoFit/>
          </a:bodyPr>
          <a:lstStyle/>
          <a:p>
            <a:pPr algn="l"/>
            <a:r>
              <a:rPr sz="1000" b="1">
                <a:solidFill>
                  <a:srgbClr val="2F3B3A"/>
                </a:solidFill>
                <a:latin typeface="Calibri"/>
              </a:rPr>
              <a:t>Conversión de la oferta relevante · predicha vs observada por mes</a:t>
            </a:r>
          </a:p>
        </p:txBody>
      </p:sp>
      <p:pic>
        <p:nvPicPr>
          <p:cNvPr id="36" name="Picture 35" descr="evol_A.png"/>
          <p:cNvPicPr>
            <a:picLocks noChangeAspect="1"/>
          </p:cNvPicPr>
          <p:nvPr/>
        </p:nvPicPr>
        <p:blipFill>
          <a:blip r:embed="rId3"/>
          <a:stretch>
            <a:fillRect/>
          </a:stretch>
        </p:blipFill>
        <p:spPr>
          <a:xfrm>
            <a:off x="4173076" y="2500000"/>
            <a:ext cx="7092800" cy="3200000"/>
          </a:xfrm>
          <a:prstGeom prst="rect">
            <a:avLst/>
          </a:prstGeom>
        </p:spPr>
      </p:pic>
      <p:sp>
        <p:nvSpPr>
          <p:cNvPr id="37" name="Rectangle 36"/>
          <p:cNvSpPr/>
          <p:nvPr/>
        </p:nvSpPr>
        <p:spPr>
          <a:xfrm>
            <a:off x="493776" y="5780000"/>
            <a:ext cx="11201400" cy="480000"/>
          </a:xfrm>
          <a:prstGeom prst="rect">
            <a:avLst/>
          </a:prstGeom>
          <a:solidFill>
            <a:srgbClr val="F1F6F5"/>
          </a:solidFill>
          <a:ln>
            <a:noFill/>
          </a:ln>
          <a:effectLst/>
        </p:spPr>
        <p:style>
          <a:lnRef idx="1">
            <a:schemeClr val="accent1"/>
          </a:lnRef>
          <a:fillRef idx="3">
            <a:schemeClr val="accent1"/>
          </a:fillRef>
          <a:effectRef idx="2">
            <a:schemeClr val="accent1"/>
          </a:effectRef>
          <a:fontRef idx="minor">
            <a:schemeClr val="lt1"/>
          </a:fontRef>
        </p:style>
        <p:txBody>
          <a:bodyPr lIns="150000" rtlCol="0" anchor="ctr"/>
          <a:lstStyle/>
          <a:p>
            <a:pPr algn="ctr"/>
            <a:r>
              <a:rPr sz="1000" b="1">
                <a:solidFill>
                  <a:srgbClr val="2F3B3A"/>
                </a:solidFill>
                <a:latin typeface="Calibri"/>
              </a:rPr>
              <a:t>Métricas de desempeño estables: el Gini se mantiene cerca de 65% en entrenamiento, validación y fuera de tiempo</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93777" y="246888"/>
            <a:ext cx="8963570" cy="109710"/>
          </a:xfrm>
          <a:prstGeom prst="rect">
            <a:avLst/>
          </a:prstGeom>
          <a:noFill/>
        </p:spPr>
        <p:txBody>
          <a:bodyPr wrap="square" lIns="0" tIns="0" rIns="0" bIns="0" anchor="t">
            <a:spAutoFit/>
          </a:bodyPr>
          <a:lstStyle/>
          <a:p>
            <a:pPr algn="l"/>
            <a:r>
              <a:rPr sz="800" b="1">
                <a:solidFill>
                  <a:srgbClr val="6E7E7D"/>
                </a:solidFill>
                <a:latin typeface="Calibri"/>
              </a:rPr>
              <a:t>OTRAS OPCIONES · PROPUESTA A</a:t>
            </a:r>
          </a:p>
        </p:txBody>
      </p:sp>
      <p:sp>
        <p:nvSpPr>
          <p:cNvPr id="3" name="TextBox 2"/>
          <p:cNvSpPr txBox="1"/>
          <p:nvPr/>
        </p:nvSpPr>
        <p:spPr>
          <a:xfrm>
            <a:off x="493776" y="425196"/>
            <a:ext cx="10312923" cy="482568"/>
          </a:xfrm>
          <a:prstGeom prst="rect">
            <a:avLst/>
          </a:prstGeom>
          <a:noFill/>
        </p:spPr>
        <p:txBody>
          <a:bodyPr wrap="square" lIns="0" tIns="0" rIns="0" bIns="0" anchor="t">
            <a:spAutoFit/>
          </a:bodyPr>
          <a:lstStyle/>
          <a:p>
            <a:pPr algn="l"/>
            <a:r>
              <a:rPr sz="1600" b="1">
                <a:solidFill>
                  <a:srgbClr val="13807B"/>
                </a:solidFill>
                <a:latin typeface="Poppins"/>
              </a:rPr>
              <a:t>En la propuesta A la tasa del cliente y el monto ofertado explican dos tercios del modelo, y a mayor tasa o monto, menor aceptación</a:t>
            </a:r>
          </a:p>
        </p:txBody>
      </p:sp>
      <p:cxnSp>
        <p:nvCxnSpPr>
          <p:cNvPr id="4" name="Connector 3"/>
          <p:cNvCxnSpPr/>
          <p:nvPr/>
        </p:nvCxnSpPr>
        <p:spPr>
          <a:xfrm>
            <a:off x="493776" y="1049274"/>
            <a:ext cx="11204463" cy="0"/>
          </a:xfrm>
          <a:prstGeom prst="line">
            <a:avLst/>
          </a:prstGeom>
          <a:ln w="12700">
            <a:solidFill>
              <a:srgbClr val="D5DFDE"/>
            </a:solidFill>
          </a:ln>
        </p:spPr>
        <p:style>
          <a:lnRef idx="2">
            <a:schemeClr val="accent1"/>
          </a:lnRef>
          <a:fillRef idx="0">
            <a:schemeClr val="accent1"/>
          </a:fillRef>
          <a:effectRef idx="1">
            <a:schemeClr val="accent1"/>
          </a:effectRef>
          <a:fontRef idx="minor">
            <a:schemeClr val="tx1"/>
          </a:fontRef>
        </p:style>
      </p:cxnSp>
      <p:pic>
        <p:nvPicPr>
          <p:cNvPr id="5" name="Picture 4" descr="logo.png"/>
          <p:cNvPicPr>
            <a:picLocks noChangeAspect="1"/>
          </p:cNvPicPr>
          <p:nvPr/>
        </p:nvPicPr>
        <p:blipFill>
          <a:blip r:embed="rId2"/>
          <a:stretch>
            <a:fillRect/>
          </a:stretch>
        </p:blipFill>
        <p:spPr>
          <a:xfrm>
            <a:off x="11081186" y="82166"/>
            <a:ext cx="916962" cy="343030"/>
          </a:xfrm>
          <a:prstGeom prst="rect">
            <a:avLst/>
          </a:prstGeom>
        </p:spPr>
      </p:pic>
      <p:sp>
        <p:nvSpPr>
          <p:cNvPr id="6" name="TextBox 5"/>
          <p:cNvSpPr txBox="1"/>
          <p:nvPr/>
        </p:nvSpPr>
        <p:spPr>
          <a:xfrm>
            <a:off x="493776" y="1300000"/>
            <a:ext cx="3300000" cy="220000"/>
          </a:xfrm>
          <a:prstGeom prst="rect">
            <a:avLst/>
          </a:prstGeom>
          <a:noFill/>
        </p:spPr>
        <p:txBody>
          <a:bodyPr wrap="square" lIns="0" tIns="0" rIns="0" bIns="0" anchor="t">
            <a:spAutoFit/>
          </a:bodyPr>
          <a:lstStyle/>
          <a:p>
            <a:pPr algn="r"/>
            <a:r>
              <a:rPr sz="950" b="1">
                <a:solidFill>
                  <a:srgbClr val="1F3A5F"/>
                </a:solidFill>
                <a:latin typeface="Calibri"/>
              </a:rPr>
              <a:t>Variable</a:t>
            </a:r>
          </a:p>
        </p:txBody>
      </p:sp>
      <p:sp>
        <p:nvSpPr>
          <p:cNvPr id="7" name="TextBox 6"/>
          <p:cNvSpPr txBox="1"/>
          <p:nvPr/>
        </p:nvSpPr>
        <p:spPr>
          <a:xfrm>
            <a:off x="3993776" y="1300000"/>
            <a:ext cx="5300000" cy="220000"/>
          </a:xfrm>
          <a:prstGeom prst="rect">
            <a:avLst/>
          </a:prstGeom>
          <a:noFill/>
        </p:spPr>
        <p:txBody>
          <a:bodyPr wrap="square" lIns="0" tIns="0" rIns="0" bIns="0" anchor="t">
            <a:spAutoFit/>
          </a:bodyPr>
          <a:lstStyle/>
          <a:p>
            <a:pPr algn="l"/>
            <a:r>
              <a:rPr sz="950" b="1">
                <a:solidFill>
                  <a:srgbClr val="1F3A5F"/>
                </a:solidFill>
                <a:latin typeface="Calibri"/>
              </a:rPr>
              <a:t>Importancia en el modelo (%)</a:t>
            </a:r>
          </a:p>
        </p:txBody>
      </p:sp>
      <p:sp>
        <p:nvSpPr>
          <p:cNvPr id="8" name="TextBox 7"/>
          <p:cNvSpPr txBox="1"/>
          <p:nvPr/>
        </p:nvSpPr>
        <p:spPr>
          <a:xfrm>
            <a:off x="9643776" y="1300000"/>
            <a:ext cx="2051400" cy="220000"/>
          </a:xfrm>
          <a:prstGeom prst="rect">
            <a:avLst/>
          </a:prstGeom>
          <a:noFill/>
        </p:spPr>
        <p:txBody>
          <a:bodyPr wrap="square" lIns="0" tIns="0" rIns="0" bIns="0" anchor="t">
            <a:spAutoFit/>
          </a:bodyPr>
          <a:lstStyle/>
          <a:p>
            <a:pPr algn="ctr"/>
            <a:r>
              <a:rPr sz="950" b="1">
                <a:solidFill>
                  <a:srgbClr val="1F3A5F"/>
                </a:solidFill>
                <a:latin typeface="Calibri"/>
              </a:rPr>
              <a:t>Efecto en la probabilidad de aceptación</a:t>
            </a:r>
          </a:p>
        </p:txBody>
      </p:sp>
      <p:sp>
        <p:nvSpPr>
          <p:cNvPr id="9" name="Rectangle 8"/>
          <p:cNvSpPr/>
          <p:nvPr/>
        </p:nvSpPr>
        <p:spPr>
          <a:xfrm>
            <a:off x="493776" y="1650000"/>
            <a:ext cx="11201400" cy="460000"/>
          </a:xfrm>
          <a:prstGeom prst="rect">
            <a:avLst/>
          </a:prstGeom>
          <a:solidFill>
            <a:srgbClr val="F7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93776" y="1650000"/>
            <a:ext cx="3300000" cy="460000"/>
          </a:xfrm>
          <a:prstGeom prst="rect">
            <a:avLst/>
          </a:prstGeom>
          <a:noFill/>
        </p:spPr>
        <p:txBody>
          <a:bodyPr wrap="square" lIns="0" tIns="0" rIns="0" bIns="0" anchor="ctr">
            <a:spAutoFit/>
          </a:bodyPr>
          <a:lstStyle/>
          <a:p>
            <a:pPr algn="r"/>
            <a:r>
              <a:rPr sz="950" b="0">
                <a:solidFill>
                  <a:srgbClr val="2F3B3A"/>
                </a:solidFill>
                <a:latin typeface="Calibri"/>
              </a:rPr>
              <a:t>Tasa del cliente</a:t>
            </a:r>
          </a:p>
        </p:txBody>
      </p:sp>
      <p:sp>
        <p:nvSpPr>
          <p:cNvPr id="11" name="Rectangle 10"/>
          <p:cNvSpPr/>
          <p:nvPr/>
        </p:nvSpPr>
        <p:spPr>
          <a:xfrm>
            <a:off x="3993776" y="1760000"/>
            <a:ext cx="4664000" cy="240000"/>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737776" y="1650000"/>
            <a:ext cx="600000" cy="460000"/>
          </a:xfrm>
          <a:prstGeom prst="rect">
            <a:avLst/>
          </a:prstGeom>
          <a:noFill/>
        </p:spPr>
        <p:txBody>
          <a:bodyPr wrap="square" lIns="0" tIns="0" rIns="0" bIns="0" anchor="ctr">
            <a:spAutoFit/>
          </a:bodyPr>
          <a:lstStyle/>
          <a:p>
            <a:pPr algn="l"/>
            <a:r>
              <a:rPr sz="950" b="1">
                <a:solidFill>
                  <a:srgbClr val="13807B"/>
                </a:solidFill>
                <a:latin typeface="Calibri"/>
              </a:rPr>
              <a:t>39,5%</a:t>
            </a:r>
          </a:p>
        </p:txBody>
      </p:sp>
      <p:sp>
        <p:nvSpPr>
          <p:cNvPr id="13" name="TextBox 12"/>
          <p:cNvSpPr txBox="1"/>
          <p:nvPr/>
        </p:nvSpPr>
        <p:spPr>
          <a:xfrm>
            <a:off x="9643776" y="1650000"/>
            <a:ext cx="2051400" cy="460000"/>
          </a:xfrm>
          <a:prstGeom prst="rect">
            <a:avLst/>
          </a:prstGeom>
          <a:noFill/>
        </p:spPr>
        <p:txBody>
          <a:bodyPr wrap="square" lIns="0" tIns="0" rIns="0" bIns="0" anchor="ctr">
            <a:spAutoFit/>
          </a:bodyPr>
          <a:lstStyle/>
          <a:p>
            <a:pPr algn="ctr"/>
            <a:r>
              <a:rPr sz="950" b="1">
                <a:solidFill>
                  <a:srgbClr val="E5173F"/>
                </a:solidFill>
                <a:latin typeface="Calibri"/>
              </a:rPr>
              <a:t>▼ Disminuye</a:t>
            </a:r>
          </a:p>
        </p:txBody>
      </p:sp>
      <p:sp>
        <p:nvSpPr>
          <p:cNvPr id="14" name="Rectangle 13"/>
          <p:cNvSpPr/>
          <p:nvPr/>
        </p:nvSpPr>
        <p:spPr>
          <a:xfrm>
            <a:off x="493776" y="2150000"/>
            <a:ext cx="11201400" cy="46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93776" y="2150000"/>
            <a:ext cx="3300000" cy="460000"/>
          </a:xfrm>
          <a:prstGeom prst="rect">
            <a:avLst/>
          </a:prstGeom>
          <a:noFill/>
        </p:spPr>
        <p:txBody>
          <a:bodyPr wrap="square" lIns="0" tIns="0" rIns="0" bIns="0" anchor="ctr">
            <a:spAutoFit/>
          </a:bodyPr>
          <a:lstStyle/>
          <a:p>
            <a:pPr algn="r"/>
            <a:r>
              <a:rPr sz="950" b="0">
                <a:solidFill>
                  <a:srgbClr val="2F3B3A"/>
                </a:solidFill>
                <a:latin typeface="Calibri"/>
              </a:rPr>
              <a:t>Monto ofertado</a:t>
            </a:r>
          </a:p>
        </p:txBody>
      </p:sp>
      <p:sp>
        <p:nvSpPr>
          <p:cNvPr id="16" name="Rectangle 15"/>
          <p:cNvSpPr/>
          <p:nvPr/>
        </p:nvSpPr>
        <p:spPr>
          <a:xfrm>
            <a:off x="3993776" y="2260000"/>
            <a:ext cx="3152627" cy="240000"/>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226403" y="2150000"/>
            <a:ext cx="600000" cy="460000"/>
          </a:xfrm>
          <a:prstGeom prst="rect">
            <a:avLst/>
          </a:prstGeom>
          <a:noFill/>
        </p:spPr>
        <p:txBody>
          <a:bodyPr wrap="square" lIns="0" tIns="0" rIns="0" bIns="0" anchor="ctr">
            <a:spAutoFit/>
          </a:bodyPr>
          <a:lstStyle/>
          <a:p>
            <a:pPr algn="l"/>
            <a:r>
              <a:rPr sz="950" b="1">
                <a:solidFill>
                  <a:srgbClr val="13807B"/>
                </a:solidFill>
                <a:latin typeface="Calibri"/>
              </a:rPr>
              <a:t>26,7%</a:t>
            </a:r>
          </a:p>
        </p:txBody>
      </p:sp>
      <p:sp>
        <p:nvSpPr>
          <p:cNvPr id="18" name="TextBox 17"/>
          <p:cNvSpPr txBox="1"/>
          <p:nvPr/>
        </p:nvSpPr>
        <p:spPr>
          <a:xfrm>
            <a:off x="9643776" y="2150000"/>
            <a:ext cx="2051400" cy="460000"/>
          </a:xfrm>
          <a:prstGeom prst="rect">
            <a:avLst/>
          </a:prstGeom>
          <a:noFill/>
        </p:spPr>
        <p:txBody>
          <a:bodyPr wrap="square" lIns="0" tIns="0" rIns="0" bIns="0" anchor="ctr">
            <a:spAutoFit/>
          </a:bodyPr>
          <a:lstStyle/>
          <a:p>
            <a:pPr algn="ctr"/>
            <a:r>
              <a:rPr sz="950" b="1">
                <a:solidFill>
                  <a:srgbClr val="E5173F"/>
                </a:solidFill>
                <a:latin typeface="Calibri"/>
              </a:rPr>
              <a:t>▼ Disminuye</a:t>
            </a:r>
          </a:p>
        </p:txBody>
      </p:sp>
      <p:sp>
        <p:nvSpPr>
          <p:cNvPr id="19" name="Rectangle 18"/>
          <p:cNvSpPr/>
          <p:nvPr/>
        </p:nvSpPr>
        <p:spPr>
          <a:xfrm>
            <a:off x="493776" y="2650000"/>
            <a:ext cx="11201400" cy="460000"/>
          </a:xfrm>
          <a:prstGeom prst="rect">
            <a:avLst/>
          </a:prstGeom>
          <a:solidFill>
            <a:srgbClr val="F7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93776" y="2650000"/>
            <a:ext cx="3300000" cy="460000"/>
          </a:xfrm>
          <a:prstGeom prst="rect">
            <a:avLst/>
          </a:prstGeom>
          <a:noFill/>
        </p:spPr>
        <p:txBody>
          <a:bodyPr wrap="square" lIns="0" tIns="0" rIns="0" bIns="0" anchor="ctr">
            <a:spAutoFit/>
          </a:bodyPr>
          <a:lstStyle/>
          <a:p>
            <a:pPr algn="r"/>
            <a:r>
              <a:rPr sz="950" b="0">
                <a:solidFill>
                  <a:srgbClr val="2F3B3A"/>
                </a:solidFill>
                <a:latin typeface="Calibri"/>
              </a:rPr>
              <a:t>Sector económico (comercio)</a:t>
            </a:r>
          </a:p>
        </p:txBody>
      </p:sp>
      <p:sp>
        <p:nvSpPr>
          <p:cNvPr id="21" name="Rectangle 20"/>
          <p:cNvSpPr/>
          <p:nvPr/>
        </p:nvSpPr>
        <p:spPr>
          <a:xfrm>
            <a:off x="3993776" y="2760000"/>
            <a:ext cx="1168951" cy="240000"/>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242727" y="2650000"/>
            <a:ext cx="600000" cy="460000"/>
          </a:xfrm>
          <a:prstGeom prst="rect">
            <a:avLst/>
          </a:prstGeom>
          <a:noFill/>
        </p:spPr>
        <p:txBody>
          <a:bodyPr wrap="square" lIns="0" tIns="0" rIns="0" bIns="0" anchor="ctr">
            <a:spAutoFit/>
          </a:bodyPr>
          <a:lstStyle/>
          <a:p>
            <a:pPr algn="l"/>
            <a:r>
              <a:rPr sz="950" b="1">
                <a:solidFill>
                  <a:srgbClr val="13807B"/>
                </a:solidFill>
                <a:latin typeface="Calibri"/>
              </a:rPr>
              <a:t>9,9%</a:t>
            </a:r>
          </a:p>
        </p:txBody>
      </p:sp>
      <p:sp>
        <p:nvSpPr>
          <p:cNvPr id="23" name="TextBox 22"/>
          <p:cNvSpPr txBox="1"/>
          <p:nvPr/>
        </p:nvSpPr>
        <p:spPr>
          <a:xfrm>
            <a:off x="9643776" y="2650000"/>
            <a:ext cx="2051400" cy="460000"/>
          </a:xfrm>
          <a:prstGeom prst="rect">
            <a:avLst/>
          </a:prstGeom>
          <a:noFill/>
        </p:spPr>
        <p:txBody>
          <a:bodyPr wrap="square" lIns="0" tIns="0" rIns="0" bIns="0" anchor="ctr">
            <a:spAutoFit/>
          </a:bodyPr>
          <a:lstStyle/>
          <a:p>
            <a:pPr algn="ctr"/>
            <a:r>
              <a:rPr sz="950" b="1">
                <a:solidFill>
                  <a:srgbClr val="E5173F"/>
                </a:solidFill>
                <a:latin typeface="Calibri"/>
              </a:rPr>
              <a:t>▼ Disminuye</a:t>
            </a:r>
          </a:p>
        </p:txBody>
      </p:sp>
      <p:sp>
        <p:nvSpPr>
          <p:cNvPr id="24" name="Rectangle 23"/>
          <p:cNvSpPr/>
          <p:nvPr/>
        </p:nvSpPr>
        <p:spPr>
          <a:xfrm>
            <a:off x="493776" y="3150000"/>
            <a:ext cx="11201400" cy="46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93776" y="3150000"/>
            <a:ext cx="3300000" cy="460000"/>
          </a:xfrm>
          <a:prstGeom prst="rect">
            <a:avLst/>
          </a:prstGeom>
          <a:noFill/>
        </p:spPr>
        <p:txBody>
          <a:bodyPr wrap="square" lIns="0" tIns="0" rIns="0" bIns="0" anchor="ctr">
            <a:spAutoFit/>
          </a:bodyPr>
          <a:lstStyle/>
          <a:p>
            <a:pPr algn="r"/>
            <a:r>
              <a:rPr sz="950" b="0">
                <a:solidFill>
                  <a:srgbClr val="2F3B3A"/>
                </a:solidFill>
                <a:latin typeface="Calibri"/>
              </a:rPr>
              <a:t>Antigüedad de la empresa</a:t>
            </a:r>
          </a:p>
        </p:txBody>
      </p:sp>
      <p:sp>
        <p:nvSpPr>
          <p:cNvPr id="26" name="Rectangle 25"/>
          <p:cNvSpPr/>
          <p:nvPr/>
        </p:nvSpPr>
        <p:spPr>
          <a:xfrm>
            <a:off x="3993776" y="3260000"/>
            <a:ext cx="1039068" cy="240000"/>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112844" y="3150000"/>
            <a:ext cx="600000" cy="460000"/>
          </a:xfrm>
          <a:prstGeom prst="rect">
            <a:avLst/>
          </a:prstGeom>
          <a:noFill/>
        </p:spPr>
        <p:txBody>
          <a:bodyPr wrap="square" lIns="0" tIns="0" rIns="0" bIns="0" anchor="ctr">
            <a:spAutoFit/>
          </a:bodyPr>
          <a:lstStyle/>
          <a:p>
            <a:pPr algn="l"/>
            <a:r>
              <a:rPr sz="950" b="1">
                <a:solidFill>
                  <a:srgbClr val="13807B"/>
                </a:solidFill>
                <a:latin typeface="Calibri"/>
              </a:rPr>
              <a:t>8,8%</a:t>
            </a:r>
          </a:p>
        </p:txBody>
      </p:sp>
      <p:sp>
        <p:nvSpPr>
          <p:cNvPr id="28" name="TextBox 27"/>
          <p:cNvSpPr txBox="1"/>
          <p:nvPr/>
        </p:nvSpPr>
        <p:spPr>
          <a:xfrm>
            <a:off x="9643776" y="3150000"/>
            <a:ext cx="2051400" cy="460000"/>
          </a:xfrm>
          <a:prstGeom prst="rect">
            <a:avLst/>
          </a:prstGeom>
          <a:noFill/>
        </p:spPr>
        <p:txBody>
          <a:bodyPr wrap="square" lIns="0" tIns="0" rIns="0" bIns="0" anchor="ctr">
            <a:spAutoFit/>
          </a:bodyPr>
          <a:lstStyle/>
          <a:p>
            <a:pPr algn="ctr"/>
            <a:r>
              <a:rPr sz="950" b="1">
                <a:solidFill>
                  <a:srgbClr val="E5173F"/>
                </a:solidFill>
                <a:latin typeface="Calibri"/>
              </a:rPr>
              <a:t>▼ Disminuye</a:t>
            </a:r>
          </a:p>
        </p:txBody>
      </p:sp>
      <p:sp>
        <p:nvSpPr>
          <p:cNvPr id="29" name="Rectangle 28"/>
          <p:cNvSpPr/>
          <p:nvPr/>
        </p:nvSpPr>
        <p:spPr>
          <a:xfrm>
            <a:off x="493776" y="3650000"/>
            <a:ext cx="11201400" cy="460000"/>
          </a:xfrm>
          <a:prstGeom prst="rect">
            <a:avLst/>
          </a:prstGeom>
          <a:solidFill>
            <a:srgbClr val="F7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93776" y="3650000"/>
            <a:ext cx="3300000" cy="460000"/>
          </a:xfrm>
          <a:prstGeom prst="rect">
            <a:avLst/>
          </a:prstGeom>
          <a:noFill/>
        </p:spPr>
        <p:txBody>
          <a:bodyPr wrap="square" lIns="0" tIns="0" rIns="0" bIns="0" anchor="ctr">
            <a:spAutoFit/>
          </a:bodyPr>
          <a:lstStyle/>
          <a:p>
            <a:pPr algn="r"/>
            <a:r>
              <a:rPr sz="950" b="0">
                <a:solidFill>
                  <a:srgbClr val="2F3B3A"/>
                </a:solidFill>
                <a:latin typeface="Calibri"/>
              </a:rPr>
              <a:t>Departamento (Lima)</a:t>
            </a:r>
          </a:p>
        </p:txBody>
      </p:sp>
      <p:sp>
        <p:nvSpPr>
          <p:cNvPr id="31" name="Rectangle 30"/>
          <p:cNvSpPr/>
          <p:nvPr/>
        </p:nvSpPr>
        <p:spPr>
          <a:xfrm>
            <a:off x="3993776" y="3760000"/>
            <a:ext cx="802916" cy="240000"/>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876692" y="3650000"/>
            <a:ext cx="600000" cy="460000"/>
          </a:xfrm>
          <a:prstGeom prst="rect">
            <a:avLst/>
          </a:prstGeom>
          <a:noFill/>
        </p:spPr>
        <p:txBody>
          <a:bodyPr wrap="square" lIns="0" tIns="0" rIns="0" bIns="0" anchor="ctr">
            <a:spAutoFit/>
          </a:bodyPr>
          <a:lstStyle/>
          <a:p>
            <a:pPr algn="l"/>
            <a:r>
              <a:rPr sz="950" b="1">
                <a:solidFill>
                  <a:srgbClr val="13807B"/>
                </a:solidFill>
                <a:latin typeface="Calibri"/>
              </a:rPr>
              <a:t>6,8%</a:t>
            </a:r>
          </a:p>
        </p:txBody>
      </p:sp>
      <p:sp>
        <p:nvSpPr>
          <p:cNvPr id="33" name="TextBox 32"/>
          <p:cNvSpPr txBox="1"/>
          <p:nvPr/>
        </p:nvSpPr>
        <p:spPr>
          <a:xfrm>
            <a:off x="9643776" y="3650000"/>
            <a:ext cx="2051400" cy="460000"/>
          </a:xfrm>
          <a:prstGeom prst="rect">
            <a:avLst/>
          </a:prstGeom>
          <a:noFill/>
        </p:spPr>
        <p:txBody>
          <a:bodyPr wrap="square" lIns="0" tIns="0" rIns="0" bIns="0" anchor="ctr">
            <a:spAutoFit/>
          </a:bodyPr>
          <a:lstStyle/>
          <a:p>
            <a:pPr algn="ctr"/>
            <a:r>
              <a:rPr sz="950" b="1">
                <a:solidFill>
                  <a:srgbClr val="13807B"/>
                </a:solidFill>
                <a:latin typeface="Calibri"/>
              </a:rPr>
              <a:t>▲ Aumenta</a:t>
            </a:r>
          </a:p>
        </p:txBody>
      </p:sp>
      <p:sp>
        <p:nvSpPr>
          <p:cNvPr id="34" name="Rectangle 33"/>
          <p:cNvSpPr/>
          <p:nvPr/>
        </p:nvSpPr>
        <p:spPr>
          <a:xfrm>
            <a:off x="493776" y="4150000"/>
            <a:ext cx="11201400" cy="46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93776" y="4150000"/>
            <a:ext cx="3300000" cy="460000"/>
          </a:xfrm>
          <a:prstGeom prst="rect">
            <a:avLst/>
          </a:prstGeom>
          <a:noFill/>
        </p:spPr>
        <p:txBody>
          <a:bodyPr wrap="square" lIns="0" tIns="0" rIns="0" bIns="0" anchor="ctr">
            <a:spAutoFit/>
          </a:bodyPr>
          <a:lstStyle/>
          <a:p>
            <a:pPr algn="r"/>
            <a:r>
              <a:rPr sz="950" b="0">
                <a:solidFill>
                  <a:srgbClr val="2F3B3A"/>
                </a:solidFill>
                <a:latin typeface="Calibri"/>
              </a:rPr>
              <a:t>Macroperfil comercial</a:t>
            </a:r>
          </a:p>
        </p:txBody>
      </p:sp>
      <p:sp>
        <p:nvSpPr>
          <p:cNvPr id="36" name="Rectangle 35"/>
          <p:cNvSpPr/>
          <p:nvPr/>
        </p:nvSpPr>
        <p:spPr>
          <a:xfrm>
            <a:off x="3993776" y="4260000"/>
            <a:ext cx="613994" cy="240000"/>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687770" y="4150000"/>
            <a:ext cx="600000" cy="460000"/>
          </a:xfrm>
          <a:prstGeom prst="rect">
            <a:avLst/>
          </a:prstGeom>
          <a:noFill/>
        </p:spPr>
        <p:txBody>
          <a:bodyPr wrap="square" lIns="0" tIns="0" rIns="0" bIns="0" anchor="ctr">
            <a:spAutoFit/>
          </a:bodyPr>
          <a:lstStyle/>
          <a:p>
            <a:pPr algn="l"/>
            <a:r>
              <a:rPr sz="950" b="1">
                <a:solidFill>
                  <a:srgbClr val="13807B"/>
                </a:solidFill>
                <a:latin typeface="Calibri"/>
              </a:rPr>
              <a:t>5,2%</a:t>
            </a:r>
          </a:p>
        </p:txBody>
      </p:sp>
      <p:sp>
        <p:nvSpPr>
          <p:cNvPr id="38" name="TextBox 37"/>
          <p:cNvSpPr txBox="1"/>
          <p:nvPr/>
        </p:nvSpPr>
        <p:spPr>
          <a:xfrm>
            <a:off x="9643776" y="4150000"/>
            <a:ext cx="2051400" cy="460000"/>
          </a:xfrm>
          <a:prstGeom prst="rect">
            <a:avLst/>
          </a:prstGeom>
          <a:noFill/>
        </p:spPr>
        <p:txBody>
          <a:bodyPr wrap="square" lIns="0" tIns="0" rIns="0" bIns="0" anchor="ctr">
            <a:spAutoFit/>
          </a:bodyPr>
          <a:lstStyle/>
          <a:p>
            <a:pPr algn="ctr"/>
            <a:r>
              <a:rPr sz="950" b="1">
                <a:solidFill>
                  <a:srgbClr val="E5173F"/>
                </a:solidFill>
                <a:latin typeface="Calibri"/>
              </a:rPr>
              <a:t>▼ Disminuye</a:t>
            </a:r>
          </a:p>
        </p:txBody>
      </p:sp>
      <p:sp>
        <p:nvSpPr>
          <p:cNvPr id="39" name="Rectangle 38"/>
          <p:cNvSpPr/>
          <p:nvPr/>
        </p:nvSpPr>
        <p:spPr>
          <a:xfrm>
            <a:off x="493776" y="4650000"/>
            <a:ext cx="11201400" cy="460000"/>
          </a:xfrm>
          <a:prstGeom prst="rect">
            <a:avLst/>
          </a:prstGeom>
          <a:solidFill>
            <a:srgbClr val="F7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493776" y="4650000"/>
            <a:ext cx="3300000" cy="460000"/>
          </a:xfrm>
          <a:prstGeom prst="rect">
            <a:avLst/>
          </a:prstGeom>
          <a:noFill/>
        </p:spPr>
        <p:txBody>
          <a:bodyPr wrap="square" lIns="0" tIns="0" rIns="0" bIns="0" anchor="ctr">
            <a:spAutoFit/>
          </a:bodyPr>
          <a:lstStyle/>
          <a:p>
            <a:pPr algn="r"/>
            <a:r>
              <a:rPr sz="950" b="0">
                <a:solidFill>
                  <a:srgbClr val="2F3B3A"/>
                </a:solidFill>
                <a:latin typeface="Calibri"/>
              </a:rPr>
              <a:t>Volumen transaccional en Izipay (últimos 3 meses)</a:t>
            </a:r>
          </a:p>
        </p:txBody>
      </p:sp>
      <p:sp>
        <p:nvSpPr>
          <p:cNvPr id="41" name="Rectangle 40"/>
          <p:cNvSpPr/>
          <p:nvPr/>
        </p:nvSpPr>
        <p:spPr>
          <a:xfrm>
            <a:off x="3993776" y="4760000"/>
            <a:ext cx="366035" cy="240000"/>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4439811" y="4650000"/>
            <a:ext cx="600000" cy="460000"/>
          </a:xfrm>
          <a:prstGeom prst="rect">
            <a:avLst/>
          </a:prstGeom>
          <a:noFill/>
        </p:spPr>
        <p:txBody>
          <a:bodyPr wrap="square" lIns="0" tIns="0" rIns="0" bIns="0" anchor="ctr">
            <a:spAutoFit/>
          </a:bodyPr>
          <a:lstStyle/>
          <a:p>
            <a:pPr algn="l"/>
            <a:r>
              <a:rPr sz="950" b="1">
                <a:solidFill>
                  <a:srgbClr val="13807B"/>
                </a:solidFill>
                <a:latin typeface="Calibri"/>
              </a:rPr>
              <a:t>3,1%</a:t>
            </a:r>
          </a:p>
        </p:txBody>
      </p:sp>
      <p:sp>
        <p:nvSpPr>
          <p:cNvPr id="43" name="TextBox 42"/>
          <p:cNvSpPr txBox="1"/>
          <p:nvPr/>
        </p:nvSpPr>
        <p:spPr>
          <a:xfrm>
            <a:off x="9643776" y="4650000"/>
            <a:ext cx="2051400" cy="460000"/>
          </a:xfrm>
          <a:prstGeom prst="rect">
            <a:avLst/>
          </a:prstGeom>
          <a:noFill/>
        </p:spPr>
        <p:txBody>
          <a:bodyPr wrap="square" lIns="0" tIns="0" rIns="0" bIns="0" anchor="ctr">
            <a:spAutoFit/>
          </a:bodyPr>
          <a:lstStyle/>
          <a:p>
            <a:pPr algn="ctr"/>
            <a:r>
              <a:rPr sz="950" b="1">
                <a:solidFill>
                  <a:srgbClr val="13807B"/>
                </a:solidFill>
                <a:latin typeface="Calibri"/>
              </a:rPr>
              <a:t>▲ Aumenta</a:t>
            </a:r>
          </a:p>
        </p:txBody>
      </p:sp>
      <p:sp>
        <p:nvSpPr>
          <p:cNvPr id="44" name="Rectangle 43"/>
          <p:cNvSpPr/>
          <p:nvPr/>
        </p:nvSpPr>
        <p:spPr>
          <a:xfrm>
            <a:off x="493776" y="5780000"/>
            <a:ext cx="11201400" cy="480000"/>
          </a:xfrm>
          <a:prstGeom prst="rect">
            <a:avLst/>
          </a:prstGeom>
          <a:solidFill>
            <a:srgbClr val="F1F6F5"/>
          </a:solidFill>
          <a:ln>
            <a:noFill/>
          </a:ln>
          <a:effectLst/>
        </p:spPr>
        <p:style>
          <a:lnRef idx="1">
            <a:schemeClr val="accent1"/>
          </a:lnRef>
          <a:fillRef idx="3">
            <a:schemeClr val="accent1"/>
          </a:fillRef>
          <a:effectRef idx="2">
            <a:schemeClr val="accent1"/>
          </a:effectRef>
          <a:fontRef idx="minor">
            <a:schemeClr val="lt1"/>
          </a:fontRef>
        </p:style>
        <p:txBody>
          <a:bodyPr lIns="150000" rtlCol="0" anchor="ctr"/>
          <a:lstStyle/>
          <a:p>
            <a:pPr algn="ctr"/>
            <a:r>
              <a:rPr sz="1000" b="1">
                <a:solidFill>
                  <a:srgbClr val="2F3B3A"/>
                </a:solidFill>
                <a:latin typeface="Calibri"/>
              </a:rPr>
              <a:t>La tasa y el monto explican 66% del modelo: a mayor tasa o monto ofertado, menor probabilidad de aceptación</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93777" y="246888"/>
            <a:ext cx="8963570" cy="109710"/>
          </a:xfrm>
          <a:prstGeom prst="rect">
            <a:avLst/>
          </a:prstGeom>
          <a:noFill/>
        </p:spPr>
        <p:txBody>
          <a:bodyPr wrap="square" lIns="0" tIns="0" rIns="0" bIns="0" anchor="t">
            <a:spAutoFit/>
          </a:bodyPr>
          <a:lstStyle/>
          <a:p>
            <a:pPr algn="l"/>
            <a:r>
              <a:rPr sz="800" b="1">
                <a:solidFill>
                  <a:srgbClr val="6E7E7D"/>
                </a:solidFill>
                <a:latin typeface="Calibri"/>
              </a:rPr>
              <a:t>OTRAS OPCIONES · PROPUESTA B</a:t>
            </a:r>
          </a:p>
        </p:txBody>
      </p:sp>
      <p:sp>
        <p:nvSpPr>
          <p:cNvPr id="3" name="TextBox 2"/>
          <p:cNvSpPr txBox="1"/>
          <p:nvPr/>
        </p:nvSpPr>
        <p:spPr>
          <a:xfrm>
            <a:off x="493776" y="425196"/>
            <a:ext cx="10312923" cy="482568"/>
          </a:xfrm>
          <a:prstGeom prst="rect">
            <a:avLst/>
          </a:prstGeom>
          <a:noFill/>
        </p:spPr>
        <p:txBody>
          <a:bodyPr wrap="square" lIns="0" tIns="0" rIns="0" bIns="0" anchor="t">
            <a:spAutoFit/>
          </a:bodyPr>
          <a:lstStyle/>
          <a:p>
            <a:pPr algn="l"/>
            <a:r>
              <a:rPr sz="1600" b="1">
                <a:solidFill>
                  <a:srgbClr val="13807B"/>
                </a:solidFill>
                <a:latin typeface="Poppins"/>
              </a:rPr>
              <a:t>Propuesta B: con el monto y la tasa del cliente como variables principales, el Gini sube a 83% y se mantiene estable fuera de tiempo</a:t>
            </a:r>
          </a:p>
        </p:txBody>
      </p:sp>
      <p:cxnSp>
        <p:nvCxnSpPr>
          <p:cNvPr id="4" name="Connector 3"/>
          <p:cNvCxnSpPr/>
          <p:nvPr/>
        </p:nvCxnSpPr>
        <p:spPr>
          <a:xfrm>
            <a:off x="493776" y="1049274"/>
            <a:ext cx="11204463" cy="0"/>
          </a:xfrm>
          <a:prstGeom prst="line">
            <a:avLst/>
          </a:prstGeom>
          <a:ln w="12700">
            <a:solidFill>
              <a:srgbClr val="D5DFDE"/>
            </a:solidFill>
          </a:ln>
        </p:spPr>
        <p:style>
          <a:lnRef idx="2">
            <a:schemeClr val="accent1"/>
          </a:lnRef>
          <a:fillRef idx="0">
            <a:schemeClr val="accent1"/>
          </a:fillRef>
          <a:effectRef idx="1">
            <a:schemeClr val="accent1"/>
          </a:effectRef>
          <a:fontRef idx="minor">
            <a:schemeClr val="tx1"/>
          </a:fontRef>
        </p:style>
      </p:cxnSp>
      <p:pic>
        <p:nvPicPr>
          <p:cNvPr id="5" name="Picture 4" descr="logo.png"/>
          <p:cNvPicPr>
            <a:picLocks noChangeAspect="1"/>
          </p:cNvPicPr>
          <p:nvPr/>
        </p:nvPicPr>
        <p:blipFill>
          <a:blip r:embed="rId2"/>
          <a:stretch>
            <a:fillRect/>
          </a:stretch>
        </p:blipFill>
        <p:spPr>
          <a:xfrm>
            <a:off x="11081186" y="82166"/>
            <a:ext cx="916962" cy="343030"/>
          </a:xfrm>
          <a:prstGeom prst="rect">
            <a:avLst/>
          </a:prstGeom>
        </p:spPr>
      </p:pic>
      <p:sp>
        <p:nvSpPr>
          <p:cNvPr id="6" name="Rectangle 5"/>
          <p:cNvSpPr/>
          <p:nvPr/>
        </p:nvSpPr>
        <p:spPr>
          <a:xfrm>
            <a:off x="493776" y="1180000"/>
            <a:ext cx="2687850" cy="900000"/>
          </a:xfrm>
          <a:prstGeom prst="rect">
            <a:avLst/>
          </a:prstGeom>
          <a:solidFill>
            <a:srgbClr val="F7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93776" y="1180000"/>
            <a:ext cx="45000" cy="900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23776" y="1230000"/>
            <a:ext cx="2487850" cy="220000"/>
          </a:xfrm>
          <a:prstGeom prst="rect">
            <a:avLst/>
          </a:prstGeom>
          <a:noFill/>
        </p:spPr>
        <p:txBody>
          <a:bodyPr wrap="square" lIns="0" tIns="0" rIns="0" bIns="0" anchor="t">
            <a:spAutoFit/>
          </a:bodyPr>
          <a:lstStyle/>
          <a:p>
            <a:pPr algn="l"/>
            <a:r>
              <a:rPr sz="950" b="1">
                <a:solidFill>
                  <a:srgbClr val="1F3A5F"/>
                </a:solidFill>
                <a:latin typeface="Calibri"/>
              </a:rPr>
              <a:t>Población</a:t>
            </a:r>
          </a:p>
        </p:txBody>
      </p:sp>
      <p:sp>
        <p:nvSpPr>
          <p:cNvPr id="9" name="TextBox 8"/>
          <p:cNvSpPr txBox="1"/>
          <p:nvPr/>
        </p:nvSpPr>
        <p:spPr>
          <a:xfrm>
            <a:off x="623776" y="1460000"/>
            <a:ext cx="2487850" cy="600000"/>
          </a:xfrm>
          <a:prstGeom prst="rect">
            <a:avLst/>
          </a:prstGeom>
          <a:noFill/>
        </p:spPr>
        <p:txBody>
          <a:bodyPr wrap="square" lIns="0" tIns="0" rIns="0" bIns="0" anchor="t">
            <a:spAutoFit/>
          </a:bodyPr>
          <a:lstStyle/>
          <a:p>
            <a:pPr algn="l"/>
            <a:r>
              <a:rPr sz="850" b="0">
                <a:solidFill>
                  <a:srgbClr val="2F3B3A"/>
                </a:solidFill>
                <a:latin typeface="Calibri"/>
              </a:rPr>
              <a:t>Éxitos: desembolsos en Interbank. Fracasos: desembolsos en la competencia por monto similar y con gestión, la misma base del share relevante</a:t>
            </a:r>
          </a:p>
        </p:txBody>
      </p:sp>
      <p:sp>
        <p:nvSpPr>
          <p:cNvPr id="10" name="Rectangle 9"/>
          <p:cNvSpPr/>
          <p:nvPr/>
        </p:nvSpPr>
        <p:spPr>
          <a:xfrm>
            <a:off x="3331626" y="1180000"/>
            <a:ext cx="2687850" cy="900000"/>
          </a:xfrm>
          <a:prstGeom prst="rect">
            <a:avLst/>
          </a:prstGeom>
          <a:solidFill>
            <a:srgbClr val="F7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331626" y="1180000"/>
            <a:ext cx="45000" cy="900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61626" y="1230000"/>
            <a:ext cx="2487850" cy="220000"/>
          </a:xfrm>
          <a:prstGeom prst="rect">
            <a:avLst/>
          </a:prstGeom>
          <a:noFill/>
        </p:spPr>
        <p:txBody>
          <a:bodyPr wrap="square" lIns="0" tIns="0" rIns="0" bIns="0" anchor="t">
            <a:spAutoFit/>
          </a:bodyPr>
          <a:lstStyle/>
          <a:p>
            <a:pPr algn="l"/>
            <a:r>
              <a:rPr sz="950" b="1">
                <a:solidFill>
                  <a:srgbClr val="1F3A5F"/>
                </a:solidFill>
                <a:latin typeface="Calibri"/>
              </a:rPr>
              <a:t>Variable objetivo</a:t>
            </a:r>
          </a:p>
        </p:txBody>
      </p:sp>
      <p:sp>
        <p:nvSpPr>
          <p:cNvPr id="13" name="TextBox 12"/>
          <p:cNvSpPr txBox="1"/>
          <p:nvPr/>
        </p:nvSpPr>
        <p:spPr>
          <a:xfrm>
            <a:off x="3461626" y="1460000"/>
            <a:ext cx="2487850" cy="600000"/>
          </a:xfrm>
          <a:prstGeom prst="rect">
            <a:avLst/>
          </a:prstGeom>
          <a:noFill/>
        </p:spPr>
        <p:txBody>
          <a:bodyPr wrap="square" lIns="0" tIns="0" rIns="0" bIns="0" anchor="t">
            <a:spAutoFit/>
          </a:bodyPr>
          <a:lstStyle/>
          <a:p>
            <a:pPr algn="l"/>
            <a:r>
              <a:rPr sz="850" b="0">
                <a:solidFill>
                  <a:srgbClr val="2F3B3A"/>
                </a:solidFill>
                <a:latin typeface="Calibri"/>
              </a:rPr>
              <a:t>Aceptación del crédito ofertado</a:t>
            </a:r>
          </a:p>
        </p:txBody>
      </p:sp>
      <p:sp>
        <p:nvSpPr>
          <p:cNvPr id="14" name="Rectangle 13"/>
          <p:cNvSpPr/>
          <p:nvPr/>
        </p:nvSpPr>
        <p:spPr>
          <a:xfrm>
            <a:off x="6169476" y="1180000"/>
            <a:ext cx="2687850" cy="900000"/>
          </a:xfrm>
          <a:prstGeom prst="rect">
            <a:avLst/>
          </a:prstGeom>
          <a:solidFill>
            <a:srgbClr val="F7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169476" y="1180000"/>
            <a:ext cx="45000" cy="900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299476" y="1230000"/>
            <a:ext cx="2487850" cy="220000"/>
          </a:xfrm>
          <a:prstGeom prst="rect">
            <a:avLst/>
          </a:prstGeom>
          <a:noFill/>
        </p:spPr>
        <p:txBody>
          <a:bodyPr wrap="square" lIns="0" tIns="0" rIns="0" bIns="0" anchor="t">
            <a:spAutoFit/>
          </a:bodyPr>
          <a:lstStyle/>
          <a:p>
            <a:pPr algn="l"/>
            <a:r>
              <a:rPr sz="950" b="1">
                <a:solidFill>
                  <a:srgbClr val="1F3A5F"/>
                </a:solidFill>
                <a:latin typeface="Calibri"/>
              </a:rPr>
              <a:t>Periodos</a:t>
            </a:r>
          </a:p>
        </p:txBody>
      </p:sp>
      <p:sp>
        <p:nvSpPr>
          <p:cNvPr id="17" name="TextBox 16"/>
          <p:cNvSpPr txBox="1"/>
          <p:nvPr/>
        </p:nvSpPr>
        <p:spPr>
          <a:xfrm>
            <a:off x="6299476" y="1460000"/>
            <a:ext cx="2487850" cy="600000"/>
          </a:xfrm>
          <a:prstGeom prst="rect">
            <a:avLst/>
          </a:prstGeom>
          <a:noFill/>
        </p:spPr>
        <p:txBody>
          <a:bodyPr wrap="square" lIns="0" tIns="0" rIns="0" bIns="0" anchor="t">
            <a:spAutoFit/>
          </a:bodyPr>
          <a:lstStyle/>
          <a:p>
            <a:pPr algn="l"/>
            <a:r>
              <a:rPr sz="850" b="0">
                <a:solidFill>
                  <a:srgbClr val="2F3B3A"/>
                </a:solidFill>
                <a:latin typeface="Calibri"/>
              </a:rPr>
              <a:t>Entrenamiento y prueba: abr 25 – ene 26 (10 meses). Validación fuera de tiempo: feb – abr 26 (3 meses)</a:t>
            </a:r>
          </a:p>
        </p:txBody>
      </p:sp>
      <p:sp>
        <p:nvSpPr>
          <p:cNvPr id="18" name="Rectangle 17"/>
          <p:cNvSpPr/>
          <p:nvPr/>
        </p:nvSpPr>
        <p:spPr>
          <a:xfrm>
            <a:off x="9007326" y="1180000"/>
            <a:ext cx="2687850" cy="900000"/>
          </a:xfrm>
          <a:prstGeom prst="rect">
            <a:avLst/>
          </a:prstGeom>
          <a:solidFill>
            <a:srgbClr val="F7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9007326" y="1180000"/>
            <a:ext cx="45000" cy="900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137326" y="1230000"/>
            <a:ext cx="2487850" cy="220000"/>
          </a:xfrm>
          <a:prstGeom prst="rect">
            <a:avLst/>
          </a:prstGeom>
          <a:noFill/>
        </p:spPr>
        <p:txBody>
          <a:bodyPr wrap="square" lIns="0" tIns="0" rIns="0" bIns="0" anchor="t">
            <a:spAutoFit/>
          </a:bodyPr>
          <a:lstStyle/>
          <a:p>
            <a:pPr algn="l"/>
            <a:r>
              <a:rPr sz="950" b="1">
                <a:solidFill>
                  <a:srgbClr val="1F3A5F"/>
                </a:solidFill>
                <a:latin typeface="Calibri"/>
              </a:rPr>
              <a:t>Metodología</a:t>
            </a:r>
          </a:p>
        </p:txBody>
      </p:sp>
      <p:sp>
        <p:nvSpPr>
          <p:cNvPr id="21" name="TextBox 20"/>
          <p:cNvSpPr txBox="1"/>
          <p:nvPr/>
        </p:nvSpPr>
        <p:spPr>
          <a:xfrm>
            <a:off x="9137326" y="1460000"/>
            <a:ext cx="2487850" cy="600000"/>
          </a:xfrm>
          <a:prstGeom prst="rect">
            <a:avLst/>
          </a:prstGeom>
          <a:noFill/>
        </p:spPr>
        <p:txBody>
          <a:bodyPr wrap="square" lIns="0" tIns="0" rIns="0" bIns="0" anchor="t">
            <a:spAutoFit/>
          </a:bodyPr>
          <a:lstStyle/>
          <a:p>
            <a:pPr algn="l"/>
            <a:r>
              <a:rPr sz="850" b="0">
                <a:solidFill>
                  <a:srgbClr val="2F3B3A"/>
                </a:solidFill>
                <a:latin typeface="Calibri"/>
              </a:rPr>
              <a:t>Regresión logística</a:t>
            </a:r>
          </a:p>
        </p:txBody>
      </p:sp>
      <p:sp>
        <p:nvSpPr>
          <p:cNvPr id="22" name="TextBox 21"/>
          <p:cNvSpPr txBox="1"/>
          <p:nvPr/>
        </p:nvSpPr>
        <p:spPr>
          <a:xfrm>
            <a:off x="493776" y="2230000"/>
            <a:ext cx="3000000" cy="220000"/>
          </a:xfrm>
          <a:prstGeom prst="rect">
            <a:avLst/>
          </a:prstGeom>
          <a:noFill/>
        </p:spPr>
        <p:txBody>
          <a:bodyPr wrap="square" lIns="0" tIns="0" rIns="0" bIns="0" anchor="t">
            <a:spAutoFit/>
          </a:bodyPr>
          <a:lstStyle/>
          <a:p>
            <a:pPr algn="l"/>
            <a:r>
              <a:rPr sz="1000" b="1">
                <a:solidFill>
                  <a:srgbClr val="2F3B3A"/>
                </a:solidFill>
                <a:latin typeface="Calibri"/>
              </a:rPr>
              <a:t>Poder de ordenamiento (Gini)</a:t>
            </a:r>
          </a:p>
        </p:txBody>
      </p:sp>
      <p:sp>
        <p:nvSpPr>
          <p:cNvPr id="23" name="Rectangle 22"/>
          <p:cNvSpPr/>
          <p:nvPr/>
        </p:nvSpPr>
        <p:spPr>
          <a:xfrm>
            <a:off x="493776" y="2500000"/>
            <a:ext cx="3000000" cy="940000"/>
          </a:xfrm>
          <a:prstGeom prst="rect">
            <a:avLst/>
          </a:prstGeom>
          <a:solidFill>
            <a:srgbClr val="F7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493776" y="2500000"/>
            <a:ext cx="45000" cy="940000"/>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43776" y="2590000"/>
            <a:ext cx="2750000" cy="250000"/>
          </a:xfrm>
          <a:prstGeom prst="rect">
            <a:avLst/>
          </a:prstGeom>
          <a:noFill/>
        </p:spPr>
        <p:txBody>
          <a:bodyPr wrap="square" lIns="0" tIns="0" rIns="0" bIns="0" anchor="t">
            <a:spAutoFit/>
          </a:bodyPr>
          <a:lstStyle/>
          <a:p>
            <a:pPr algn="l"/>
            <a:r>
              <a:rPr sz="950" b="0">
                <a:solidFill>
                  <a:srgbClr val="6E7E7D"/>
                </a:solidFill>
                <a:latin typeface="Calibri"/>
              </a:rPr>
              <a:t>Entrenamiento</a:t>
            </a:r>
          </a:p>
        </p:txBody>
      </p:sp>
      <p:sp>
        <p:nvSpPr>
          <p:cNvPr id="26" name="TextBox 25"/>
          <p:cNvSpPr txBox="1"/>
          <p:nvPr/>
        </p:nvSpPr>
        <p:spPr>
          <a:xfrm>
            <a:off x="643776" y="2860000"/>
            <a:ext cx="2750000" cy="500000"/>
          </a:xfrm>
          <a:prstGeom prst="rect">
            <a:avLst/>
          </a:prstGeom>
          <a:noFill/>
        </p:spPr>
        <p:txBody>
          <a:bodyPr wrap="square" lIns="0" tIns="0" rIns="0" bIns="0" anchor="t">
            <a:spAutoFit/>
          </a:bodyPr>
          <a:lstStyle/>
          <a:p>
            <a:pPr algn="l"/>
            <a:r>
              <a:rPr sz="2200" b="1">
                <a:solidFill>
                  <a:srgbClr val="13807B"/>
                </a:solidFill>
                <a:latin typeface="Calibri"/>
              </a:rPr>
              <a:t>84,08%</a:t>
            </a:r>
          </a:p>
        </p:txBody>
      </p:sp>
      <p:sp>
        <p:nvSpPr>
          <p:cNvPr id="27" name="Rectangle 26"/>
          <p:cNvSpPr/>
          <p:nvPr/>
        </p:nvSpPr>
        <p:spPr>
          <a:xfrm>
            <a:off x="493776" y="3560000"/>
            <a:ext cx="3000000" cy="940000"/>
          </a:xfrm>
          <a:prstGeom prst="rect">
            <a:avLst/>
          </a:prstGeom>
          <a:solidFill>
            <a:srgbClr val="F7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493776" y="3560000"/>
            <a:ext cx="45000" cy="940000"/>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43776" y="3650000"/>
            <a:ext cx="2750000" cy="250000"/>
          </a:xfrm>
          <a:prstGeom prst="rect">
            <a:avLst/>
          </a:prstGeom>
          <a:noFill/>
        </p:spPr>
        <p:txBody>
          <a:bodyPr wrap="square" lIns="0" tIns="0" rIns="0" bIns="0" anchor="t">
            <a:spAutoFit/>
          </a:bodyPr>
          <a:lstStyle/>
          <a:p>
            <a:pPr algn="l"/>
            <a:r>
              <a:rPr sz="950" b="0">
                <a:solidFill>
                  <a:srgbClr val="6E7E7D"/>
                </a:solidFill>
                <a:latin typeface="Calibri"/>
              </a:rPr>
              <a:t>Validación</a:t>
            </a:r>
          </a:p>
        </p:txBody>
      </p:sp>
      <p:sp>
        <p:nvSpPr>
          <p:cNvPr id="30" name="TextBox 29"/>
          <p:cNvSpPr txBox="1"/>
          <p:nvPr/>
        </p:nvSpPr>
        <p:spPr>
          <a:xfrm>
            <a:off x="643776" y="3920000"/>
            <a:ext cx="2750000" cy="500000"/>
          </a:xfrm>
          <a:prstGeom prst="rect">
            <a:avLst/>
          </a:prstGeom>
          <a:noFill/>
        </p:spPr>
        <p:txBody>
          <a:bodyPr wrap="square" lIns="0" tIns="0" rIns="0" bIns="0" anchor="t">
            <a:spAutoFit/>
          </a:bodyPr>
          <a:lstStyle/>
          <a:p>
            <a:pPr algn="l"/>
            <a:r>
              <a:rPr sz="2200" b="1">
                <a:solidFill>
                  <a:srgbClr val="13807B"/>
                </a:solidFill>
                <a:latin typeface="Calibri"/>
              </a:rPr>
              <a:t>82,68%</a:t>
            </a:r>
          </a:p>
        </p:txBody>
      </p:sp>
      <p:sp>
        <p:nvSpPr>
          <p:cNvPr id="31" name="Rectangle 30"/>
          <p:cNvSpPr/>
          <p:nvPr/>
        </p:nvSpPr>
        <p:spPr>
          <a:xfrm>
            <a:off x="493776" y="4620000"/>
            <a:ext cx="3000000" cy="940000"/>
          </a:xfrm>
          <a:prstGeom prst="rect">
            <a:avLst/>
          </a:prstGeom>
          <a:solidFill>
            <a:srgbClr val="F7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493776" y="4620000"/>
            <a:ext cx="45000" cy="940000"/>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43776" y="4710000"/>
            <a:ext cx="2750000" cy="250000"/>
          </a:xfrm>
          <a:prstGeom prst="rect">
            <a:avLst/>
          </a:prstGeom>
          <a:noFill/>
        </p:spPr>
        <p:txBody>
          <a:bodyPr wrap="square" lIns="0" tIns="0" rIns="0" bIns="0" anchor="t">
            <a:spAutoFit/>
          </a:bodyPr>
          <a:lstStyle/>
          <a:p>
            <a:pPr algn="l"/>
            <a:r>
              <a:rPr sz="950" b="0">
                <a:solidFill>
                  <a:srgbClr val="6E7E7D"/>
                </a:solidFill>
                <a:latin typeface="Calibri"/>
              </a:rPr>
              <a:t>Fuera de tiempo (OOT)</a:t>
            </a:r>
          </a:p>
        </p:txBody>
      </p:sp>
      <p:sp>
        <p:nvSpPr>
          <p:cNvPr id="34" name="TextBox 33"/>
          <p:cNvSpPr txBox="1"/>
          <p:nvPr/>
        </p:nvSpPr>
        <p:spPr>
          <a:xfrm>
            <a:off x="643776" y="4980000"/>
            <a:ext cx="2750000" cy="500000"/>
          </a:xfrm>
          <a:prstGeom prst="rect">
            <a:avLst/>
          </a:prstGeom>
          <a:noFill/>
        </p:spPr>
        <p:txBody>
          <a:bodyPr wrap="square" lIns="0" tIns="0" rIns="0" bIns="0" anchor="t">
            <a:spAutoFit/>
          </a:bodyPr>
          <a:lstStyle/>
          <a:p>
            <a:pPr algn="l"/>
            <a:r>
              <a:rPr sz="2200" b="1">
                <a:solidFill>
                  <a:srgbClr val="13807B"/>
                </a:solidFill>
                <a:latin typeface="Calibri"/>
              </a:rPr>
              <a:t>83,07%</a:t>
            </a:r>
          </a:p>
        </p:txBody>
      </p:sp>
      <p:sp>
        <p:nvSpPr>
          <p:cNvPr id="35" name="TextBox 34"/>
          <p:cNvSpPr txBox="1"/>
          <p:nvPr/>
        </p:nvSpPr>
        <p:spPr>
          <a:xfrm>
            <a:off x="3743776" y="2230000"/>
            <a:ext cx="7951400" cy="220000"/>
          </a:xfrm>
          <a:prstGeom prst="rect">
            <a:avLst/>
          </a:prstGeom>
          <a:noFill/>
        </p:spPr>
        <p:txBody>
          <a:bodyPr wrap="square" lIns="0" tIns="0" rIns="0" bIns="0" anchor="t">
            <a:spAutoFit/>
          </a:bodyPr>
          <a:lstStyle/>
          <a:p>
            <a:pPr algn="l"/>
            <a:r>
              <a:rPr sz="1000" b="1">
                <a:solidFill>
                  <a:srgbClr val="2F3B3A"/>
                </a:solidFill>
                <a:latin typeface="Calibri"/>
              </a:rPr>
              <a:t>Conversión de la oferta relevante · predicha vs observada por mes</a:t>
            </a:r>
          </a:p>
        </p:txBody>
      </p:sp>
      <p:pic>
        <p:nvPicPr>
          <p:cNvPr id="36" name="Picture 35" descr="evol_B.png"/>
          <p:cNvPicPr>
            <a:picLocks noChangeAspect="1"/>
          </p:cNvPicPr>
          <p:nvPr/>
        </p:nvPicPr>
        <p:blipFill>
          <a:blip r:embed="rId3"/>
          <a:stretch>
            <a:fillRect/>
          </a:stretch>
        </p:blipFill>
        <p:spPr>
          <a:xfrm>
            <a:off x="4173076" y="2500000"/>
            <a:ext cx="7092800" cy="3200000"/>
          </a:xfrm>
          <a:prstGeom prst="rect">
            <a:avLst/>
          </a:prstGeom>
        </p:spPr>
      </p:pic>
      <p:sp>
        <p:nvSpPr>
          <p:cNvPr id="37" name="Rectangle 36"/>
          <p:cNvSpPr/>
          <p:nvPr/>
        </p:nvSpPr>
        <p:spPr>
          <a:xfrm>
            <a:off x="493776" y="5780000"/>
            <a:ext cx="11201400" cy="480000"/>
          </a:xfrm>
          <a:prstGeom prst="rect">
            <a:avLst/>
          </a:prstGeom>
          <a:solidFill>
            <a:srgbClr val="F1F6F5"/>
          </a:solidFill>
          <a:ln>
            <a:noFill/>
          </a:ln>
          <a:effectLst/>
        </p:spPr>
        <p:style>
          <a:lnRef idx="1">
            <a:schemeClr val="accent1"/>
          </a:lnRef>
          <a:fillRef idx="3">
            <a:schemeClr val="accent1"/>
          </a:fillRef>
          <a:effectRef idx="2">
            <a:schemeClr val="accent1"/>
          </a:effectRef>
          <a:fontRef idx="minor">
            <a:schemeClr val="lt1"/>
          </a:fontRef>
        </p:style>
        <p:txBody>
          <a:bodyPr lIns="150000" rtlCol="0" anchor="ctr"/>
          <a:lstStyle/>
          <a:p>
            <a:pPr algn="ctr"/>
            <a:r>
              <a:rPr sz="1000" b="1">
                <a:solidFill>
                  <a:srgbClr val="2F3B3A"/>
                </a:solidFill>
                <a:latin typeface="Calibri"/>
              </a:rPr>
              <a:t>Métricas de desempeño estables: el Gini se mantiene cerca de 83% en entrenamiento, validación y fuera de tiempo</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93777" y="246888"/>
            <a:ext cx="8963570" cy="109710"/>
          </a:xfrm>
          <a:prstGeom prst="rect">
            <a:avLst/>
          </a:prstGeom>
          <a:noFill/>
        </p:spPr>
        <p:txBody>
          <a:bodyPr wrap="square" lIns="0" tIns="0" rIns="0" bIns="0" anchor="t">
            <a:spAutoFit/>
          </a:bodyPr>
          <a:lstStyle/>
          <a:p>
            <a:pPr algn="l"/>
            <a:r>
              <a:rPr sz="800" b="1">
                <a:solidFill>
                  <a:srgbClr val="6E7E7D"/>
                </a:solidFill>
                <a:latin typeface="Calibri"/>
              </a:rPr>
              <a:t>OTRAS OPCIONES · PROPUESTA B</a:t>
            </a:r>
          </a:p>
        </p:txBody>
      </p:sp>
      <p:sp>
        <p:nvSpPr>
          <p:cNvPr id="3" name="TextBox 2"/>
          <p:cNvSpPr txBox="1"/>
          <p:nvPr/>
        </p:nvSpPr>
        <p:spPr>
          <a:xfrm>
            <a:off x="493776" y="425196"/>
            <a:ext cx="10312923" cy="482568"/>
          </a:xfrm>
          <a:prstGeom prst="rect">
            <a:avLst/>
          </a:prstGeom>
          <a:noFill/>
        </p:spPr>
        <p:txBody>
          <a:bodyPr wrap="square" lIns="0" tIns="0" rIns="0" bIns="0" anchor="t">
            <a:spAutoFit/>
          </a:bodyPr>
          <a:lstStyle/>
          <a:p>
            <a:pPr algn="l"/>
            <a:r>
              <a:rPr sz="1600" b="1">
                <a:solidFill>
                  <a:srgbClr val="13807B"/>
                </a:solidFill>
                <a:latin typeface="Poppins"/>
              </a:rPr>
              <a:t>En la propuesta B el monto y la tasa del cliente pesan casi lo mismo y explican tres cuartos del modelo, y ambos disminuyen la aceptación</a:t>
            </a:r>
          </a:p>
        </p:txBody>
      </p:sp>
      <p:cxnSp>
        <p:nvCxnSpPr>
          <p:cNvPr id="4" name="Connector 3"/>
          <p:cNvCxnSpPr/>
          <p:nvPr/>
        </p:nvCxnSpPr>
        <p:spPr>
          <a:xfrm>
            <a:off x="493776" y="1049274"/>
            <a:ext cx="11204463" cy="0"/>
          </a:xfrm>
          <a:prstGeom prst="line">
            <a:avLst/>
          </a:prstGeom>
          <a:ln w="12700">
            <a:solidFill>
              <a:srgbClr val="D5DFDE"/>
            </a:solidFill>
          </a:ln>
        </p:spPr>
        <p:style>
          <a:lnRef idx="2">
            <a:schemeClr val="accent1"/>
          </a:lnRef>
          <a:fillRef idx="0">
            <a:schemeClr val="accent1"/>
          </a:fillRef>
          <a:effectRef idx="1">
            <a:schemeClr val="accent1"/>
          </a:effectRef>
          <a:fontRef idx="minor">
            <a:schemeClr val="tx1"/>
          </a:fontRef>
        </p:style>
      </p:cxnSp>
      <p:pic>
        <p:nvPicPr>
          <p:cNvPr id="5" name="Picture 4" descr="logo.png"/>
          <p:cNvPicPr>
            <a:picLocks noChangeAspect="1"/>
          </p:cNvPicPr>
          <p:nvPr/>
        </p:nvPicPr>
        <p:blipFill>
          <a:blip r:embed="rId2"/>
          <a:stretch>
            <a:fillRect/>
          </a:stretch>
        </p:blipFill>
        <p:spPr>
          <a:xfrm>
            <a:off x="11081186" y="82166"/>
            <a:ext cx="916962" cy="343030"/>
          </a:xfrm>
          <a:prstGeom prst="rect">
            <a:avLst/>
          </a:prstGeom>
        </p:spPr>
      </p:pic>
      <p:sp>
        <p:nvSpPr>
          <p:cNvPr id="6" name="TextBox 5"/>
          <p:cNvSpPr txBox="1"/>
          <p:nvPr/>
        </p:nvSpPr>
        <p:spPr>
          <a:xfrm>
            <a:off x="493776" y="1300000"/>
            <a:ext cx="3300000" cy="220000"/>
          </a:xfrm>
          <a:prstGeom prst="rect">
            <a:avLst/>
          </a:prstGeom>
          <a:noFill/>
        </p:spPr>
        <p:txBody>
          <a:bodyPr wrap="square" lIns="0" tIns="0" rIns="0" bIns="0" anchor="t">
            <a:spAutoFit/>
          </a:bodyPr>
          <a:lstStyle/>
          <a:p>
            <a:pPr algn="r"/>
            <a:r>
              <a:rPr sz="950" b="1">
                <a:solidFill>
                  <a:srgbClr val="1F3A5F"/>
                </a:solidFill>
                <a:latin typeface="Calibri"/>
              </a:rPr>
              <a:t>Variable</a:t>
            </a:r>
          </a:p>
        </p:txBody>
      </p:sp>
      <p:sp>
        <p:nvSpPr>
          <p:cNvPr id="7" name="TextBox 6"/>
          <p:cNvSpPr txBox="1"/>
          <p:nvPr/>
        </p:nvSpPr>
        <p:spPr>
          <a:xfrm>
            <a:off x="3993776" y="1300000"/>
            <a:ext cx="5300000" cy="220000"/>
          </a:xfrm>
          <a:prstGeom prst="rect">
            <a:avLst/>
          </a:prstGeom>
          <a:noFill/>
        </p:spPr>
        <p:txBody>
          <a:bodyPr wrap="square" lIns="0" tIns="0" rIns="0" bIns="0" anchor="t">
            <a:spAutoFit/>
          </a:bodyPr>
          <a:lstStyle/>
          <a:p>
            <a:pPr algn="l"/>
            <a:r>
              <a:rPr sz="950" b="1">
                <a:solidFill>
                  <a:srgbClr val="1F3A5F"/>
                </a:solidFill>
                <a:latin typeface="Calibri"/>
              </a:rPr>
              <a:t>Importancia en el modelo (%)</a:t>
            </a:r>
          </a:p>
        </p:txBody>
      </p:sp>
      <p:sp>
        <p:nvSpPr>
          <p:cNvPr id="8" name="TextBox 7"/>
          <p:cNvSpPr txBox="1"/>
          <p:nvPr/>
        </p:nvSpPr>
        <p:spPr>
          <a:xfrm>
            <a:off x="9643776" y="1300000"/>
            <a:ext cx="2051400" cy="220000"/>
          </a:xfrm>
          <a:prstGeom prst="rect">
            <a:avLst/>
          </a:prstGeom>
          <a:noFill/>
        </p:spPr>
        <p:txBody>
          <a:bodyPr wrap="square" lIns="0" tIns="0" rIns="0" bIns="0" anchor="t">
            <a:spAutoFit/>
          </a:bodyPr>
          <a:lstStyle/>
          <a:p>
            <a:pPr algn="ctr"/>
            <a:r>
              <a:rPr sz="950" b="1">
                <a:solidFill>
                  <a:srgbClr val="1F3A5F"/>
                </a:solidFill>
                <a:latin typeface="Calibri"/>
              </a:rPr>
              <a:t>Efecto en la probabilidad de aceptación</a:t>
            </a:r>
          </a:p>
        </p:txBody>
      </p:sp>
      <p:sp>
        <p:nvSpPr>
          <p:cNvPr id="9" name="Rectangle 8"/>
          <p:cNvSpPr/>
          <p:nvPr/>
        </p:nvSpPr>
        <p:spPr>
          <a:xfrm>
            <a:off x="493776" y="1650000"/>
            <a:ext cx="11201400" cy="460000"/>
          </a:xfrm>
          <a:prstGeom prst="rect">
            <a:avLst/>
          </a:prstGeom>
          <a:solidFill>
            <a:srgbClr val="F7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93776" y="1650000"/>
            <a:ext cx="3300000" cy="460000"/>
          </a:xfrm>
          <a:prstGeom prst="rect">
            <a:avLst/>
          </a:prstGeom>
          <a:noFill/>
        </p:spPr>
        <p:txBody>
          <a:bodyPr wrap="square" lIns="0" tIns="0" rIns="0" bIns="0" anchor="ctr">
            <a:spAutoFit/>
          </a:bodyPr>
          <a:lstStyle/>
          <a:p>
            <a:pPr algn="r"/>
            <a:r>
              <a:rPr sz="950" b="0">
                <a:solidFill>
                  <a:srgbClr val="2F3B3A"/>
                </a:solidFill>
                <a:latin typeface="Calibri"/>
              </a:rPr>
              <a:t>Monto del cliente</a:t>
            </a:r>
          </a:p>
        </p:txBody>
      </p:sp>
      <p:sp>
        <p:nvSpPr>
          <p:cNvPr id="11" name="Rectangle 10"/>
          <p:cNvSpPr/>
          <p:nvPr/>
        </p:nvSpPr>
        <p:spPr>
          <a:xfrm>
            <a:off x="3993776" y="1760000"/>
            <a:ext cx="4664000" cy="240000"/>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737776" y="1650000"/>
            <a:ext cx="600000" cy="460000"/>
          </a:xfrm>
          <a:prstGeom prst="rect">
            <a:avLst/>
          </a:prstGeom>
          <a:noFill/>
        </p:spPr>
        <p:txBody>
          <a:bodyPr wrap="square" lIns="0" tIns="0" rIns="0" bIns="0" anchor="ctr">
            <a:spAutoFit/>
          </a:bodyPr>
          <a:lstStyle/>
          <a:p>
            <a:pPr algn="l"/>
            <a:r>
              <a:rPr sz="950" b="1">
                <a:solidFill>
                  <a:srgbClr val="13807B"/>
                </a:solidFill>
                <a:latin typeface="Calibri"/>
              </a:rPr>
              <a:t>37,7%</a:t>
            </a:r>
          </a:p>
        </p:txBody>
      </p:sp>
      <p:sp>
        <p:nvSpPr>
          <p:cNvPr id="13" name="TextBox 12"/>
          <p:cNvSpPr txBox="1"/>
          <p:nvPr/>
        </p:nvSpPr>
        <p:spPr>
          <a:xfrm>
            <a:off x="9643776" y="1650000"/>
            <a:ext cx="2051400" cy="460000"/>
          </a:xfrm>
          <a:prstGeom prst="rect">
            <a:avLst/>
          </a:prstGeom>
          <a:noFill/>
        </p:spPr>
        <p:txBody>
          <a:bodyPr wrap="square" lIns="0" tIns="0" rIns="0" bIns="0" anchor="ctr">
            <a:spAutoFit/>
          </a:bodyPr>
          <a:lstStyle/>
          <a:p>
            <a:pPr algn="ctr"/>
            <a:r>
              <a:rPr sz="950" b="1">
                <a:solidFill>
                  <a:srgbClr val="E5173F"/>
                </a:solidFill>
                <a:latin typeface="Calibri"/>
              </a:rPr>
              <a:t>▼ Disminuye</a:t>
            </a:r>
          </a:p>
        </p:txBody>
      </p:sp>
      <p:sp>
        <p:nvSpPr>
          <p:cNvPr id="14" name="Rectangle 13"/>
          <p:cNvSpPr/>
          <p:nvPr/>
        </p:nvSpPr>
        <p:spPr>
          <a:xfrm>
            <a:off x="493776" y="2150000"/>
            <a:ext cx="11201400" cy="46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93776" y="2150000"/>
            <a:ext cx="3300000" cy="460000"/>
          </a:xfrm>
          <a:prstGeom prst="rect">
            <a:avLst/>
          </a:prstGeom>
          <a:noFill/>
        </p:spPr>
        <p:txBody>
          <a:bodyPr wrap="square" lIns="0" tIns="0" rIns="0" bIns="0" anchor="ctr">
            <a:spAutoFit/>
          </a:bodyPr>
          <a:lstStyle/>
          <a:p>
            <a:pPr algn="r"/>
            <a:r>
              <a:rPr sz="950" b="0">
                <a:solidFill>
                  <a:srgbClr val="2F3B3A"/>
                </a:solidFill>
                <a:latin typeface="Calibri"/>
              </a:rPr>
              <a:t>Tasa del cliente</a:t>
            </a:r>
          </a:p>
        </p:txBody>
      </p:sp>
      <p:sp>
        <p:nvSpPr>
          <p:cNvPr id="16" name="Rectangle 15"/>
          <p:cNvSpPr/>
          <p:nvPr/>
        </p:nvSpPr>
        <p:spPr>
          <a:xfrm>
            <a:off x="3993776" y="2260000"/>
            <a:ext cx="4466058" cy="240000"/>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539834" y="2150000"/>
            <a:ext cx="600000" cy="460000"/>
          </a:xfrm>
          <a:prstGeom prst="rect">
            <a:avLst/>
          </a:prstGeom>
          <a:noFill/>
        </p:spPr>
        <p:txBody>
          <a:bodyPr wrap="square" lIns="0" tIns="0" rIns="0" bIns="0" anchor="ctr">
            <a:spAutoFit/>
          </a:bodyPr>
          <a:lstStyle/>
          <a:p>
            <a:pPr algn="l"/>
            <a:r>
              <a:rPr sz="950" b="1">
                <a:solidFill>
                  <a:srgbClr val="13807B"/>
                </a:solidFill>
                <a:latin typeface="Calibri"/>
              </a:rPr>
              <a:t>36,1%</a:t>
            </a:r>
          </a:p>
        </p:txBody>
      </p:sp>
      <p:sp>
        <p:nvSpPr>
          <p:cNvPr id="18" name="TextBox 17"/>
          <p:cNvSpPr txBox="1"/>
          <p:nvPr/>
        </p:nvSpPr>
        <p:spPr>
          <a:xfrm>
            <a:off x="9643776" y="2150000"/>
            <a:ext cx="2051400" cy="460000"/>
          </a:xfrm>
          <a:prstGeom prst="rect">
            <a:avLst/>
          </a:prstGeom>
          <a:noFill/>
        </p:spPr>
        <p:txBody>
          <a:bodyPr wrap="square" lIns="0" tIns="0" rIns="0" bIns="0" anchor="ctr">
            <a:spAutoFit/>
          </a:bodyPr>
          <a:lstStyle/>
          <a:p>
            <a:pPr algn="ctr"/>
            <a:r>
              <a:rPr sz="950" b="1">
                <a:solidFill>
                  <a:srgbClr val="E5173F"/>
                </a:solidFill>
                <a:latin typeface="Calibri"/>
              </a:rPr>
              <a:t>▼ Disminuye</a:t>
            </a:r>
          </a:p>
        </p:txBody>
      </p:sp>
      <p:sp>
        <p:nvSpPr>
          <p:cNvPr id="19" name="Rectangle 18"/>
          <p:cNvSpPr/>
          <p:nvPr/>
        </p:nvSpPr>
        <p:spPr>
          <a:xfrm>
            <a:off x="493776" y="2650000"/>
            <a:ext cx="11201400" cy="460000"/>
          </a:xfrm>
          <a:prstGeom prst="rect">
            <a:avLst/>
          </a:prstGeom>
          <a:solidFill>
            <a:srgbClr val="F7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93776" y="2650000"/>
            <a:ext cx="3300000" cy="460000"/>
          </a:xfrm>
          <a:prstGeom prst="rect">
            <a:avLst/>
          </a:prstGeom>
          <a:noFill/>
        </p:spPr>
        <p:txBody>
          <a:bodyPr wrap="square" lIns="0" tIns="0" rIns="0" bIns="0" anchor="ctr">
            <a:spAutoFit/>
          </a:bodyPr>
          <a:lstStyle/>
          <a:p>
            <a:pPr algn="r"/>
            <a:r>
              <a:rPr sz="950" b="0">
                <a:solidFill>
                  <a:srgbClr val="2F3B3A"/>
                </a:solidFill>
                <a:latin typeface="Calibri"/>
              </a:rPr>
              <a:t>Macroperfil comercial</a:t>
            </a:r>
          </a:p>
        </p:txBody>
      </p:sp>
      <p:sp>
        <p:nvSpPr>
          <p:cNvPr id="21" name="Rectangle 20"/>
          <p:cNvSpPr/>
          <p:nvPr/>
        </p:nvSpPr>
        <p:spPr>
          <a:xfrm>
            <a:off x="3993776" y="2760000"/>
            <a:ext cx="1138164" cy="240000"/>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211940" y="2650000"/>
            <a:ext cx="600000" cy="460000"/>
          </a:xfrm>
          <a:prstGeom prst="rect">
            <a:avLst/>
          </a:prstGeom>
          <a:noFill/>
        </p:spPr>
        <p:txBody>
          <a:bodyPr wrap="square" lIns="0" tIns="0" rIns="0" bIns="0" anchor="ctr">
            <a:spAutoFit/>
          </a:bodyPr>
          <a:lstStyle/>
          <a:p>
            <a:pPr algn="l"/>
            <a:r>
              <a:rPr sz="950" b="1">
                <a:solidFill>
                  <a:srgbClr val="13807B"/>
                </a:solidFill>
                <a:latin typeface="Calibri"/>
              </a:rPr>
              <a:t>9,2%</a:t>
            </a:r>
          </a:p>
        </p:txBody>
      </p:sp>
      <p:sp>
        <p:nvSpPr>
          <p:cNvPr id="23" name="TextBox 22"/>
          <p:cNvSpPr txBox="1"/>
          <p:nvPr/>
        </p:nvSpPr>
        <p:spPr>
          <a:xfrm>
            <a:off x="9643776" y="2650000"/>
            <a:ext cx="2051400" cy="460000"/>
          </a:xfrm>
          <a:prstGeom prst="rect">
            <a:avLst/>
          </a:prstGeom>
          <a:noFill/>
        </p:spPr>
        <p:txBody>
          <a:bodyPr wrap="square" lIns="0" tIns="0" rIns="0" bIns="0" anchor="ctr">
            <a:spAutoFit/>
          </a:bodyPr>
          <a:lstStyle/>
          <a:p>
            <a:pPr algn="ctr"/>
            <a:r>
              <a:rPr sz="950" b="1">
                <a:solidFill>
                  <a:srgbClr val="E5173F"/>
                </a:solidFill>
                <a:latin typeface="Calibri"/>
              </a:rPr>
              <a:t>▼ Disminuye</a:t>
            </a:r>
          </a:p>
        </p:txBody>
      </p:sp>
      <p:sp>
        <p:nvSpPr>
          <p:cNvPr id="24" name="Rectangle 23"/>
          <p:cNvSpPr/>
          <p:nvPr/>
        </p:nvSpPr>
        <p:spPr>
          <a:xfrm>
            <a:off x="493776" y="3150000"/>
            <a:ext cx="11201400" cy="46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93776" y="3150000"/>
            <a:ext cx="3300000" cy="460000"/>
          </a:xfrm>
          <a:prstGeom prst="rect">
            <a:avLst/>
          </a:prstGeom>
          <a:noFill/>
        </p:spPr>
        <p:txBody>
          <a:bodyPr wrap="square" lIns="0" tIns="0" rIns="0" bIns="0" anchor="ctr">
            <a:spAutoFit/>
          </a:bodyPr>
          <a:lstStyle/>
          <a:p>
            <a:pPr algn="r"/>
            <a:r>
              <a:rPr sz="950" b="0">
                <a:solidFill>
                  <a:srgbClr val="2F3B3A"/>
                </a:solidFill>
                <a:latin typeface="Calibri"/>
              </a:rPr>
              <a:t>Sector económico (comercio)</a:t>
            </a:r>
          </a:p>
        </p:txBody>
      </p:sp>
      <p:sp>
        <p:nvSpPr>
          <p:cNvPr id="26" name="Rectangle 25"/>
          <p:cNvSpPr/>
          <p:nvPr/>
        </p:nvSpPr>
        <p:spPr>
          <a:xfrm>
            <a:off x="3993776" y="3260000"/>
            <a:ext cx="791766" cy="240000"/>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865542" y="3150000"/>
            <a:ext cx="600000" cy="460000"/>
          </a:xfrm>
          <a:prstGeom prst="rect">
            <a:avLst/>
          </a:prstGeom>
          <a:noFill/>
        </p:spPr>
        <p:txBody>
          <a:bodyPr wrap="square" lIns="0" tIns="0" rIns="0" bIns="0" anchor="ctr">
            <a:spAutoFit/>
          </a:bodyPr>
          <a:lstStyle/>
          <a:p>
            <a:pPr algn="l"/>
            <a:r>
              <a:rPr sz="950" b="1">
                <a:solidFill>
                  <a:srgbClr val="13807B"/>
                </a:solidFill>
                <a:latin typeface="Calibri"/>
              </a:rPr>
              <a:t>6,4%</a:t>
            </a:r>
          </a:p>
        </p:txBody>
      </p:sp>
      <p:sp>
        <p:nvSpPr>
          <p:cNvPr id="28" name="TextBox 27"/>
          <p:cNvSpPr txBox="1"/>
          <p:nvPr/>
        </p:nvSpPr>
        <p:spPr>
          <a:xfrm>
            <a:off x="9643776" y="3150000"/>
            <a:ext cx="2051400" cy="460000"/>
          </a:xfrm>
          <a:prstGeom prst="rect">
            <a:avLst/>
          </a:prstGeom>
          <a:noFill/>
        </p:spPr>
        <p:txBody>
          <a:bodyPr wrap="square" lIns="0" tIns="0" rIns="0" bIns="0" anchor="ctr">
            <a:spAutoFit/>
          </a:bodyPr>
          <a:lstStyle/>
          <a:p>
            <a:pPr algn="ctr"/>
            <a:r>
              <a:rPr sz="950" b="1">
                <a:solidFill>
                  <a:srgbClr val="E5173F"/>
                </a:solidFill>
                <a:latin typeface="Calibri"/>
              </a:rPr>
              <a:t>▼ Disminuye</a:t>
            </a:r>
          </a:p>
        </p:txBody>
      </p:sp>
      <p:sp>
        <p:nvSpPr>
          <p:cNvPr id="29" name="Rectangle 28"/>
          <p:cNvSpPr/>
          <p:nvPr/>
        </p:nvSpPr>
        <p:spPr>
          <a:xfrm>
            <a:off x="493776" y="3650000"/>
            <a:ext cx="11201400" cy="460000"/>
          </a:xfrm>
          <a:prstGeom prst="rect">
            <a:avLst/>
          </a:prstGeom>
          <a:solidFill>
            <a:srgbClr val="F7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93776" y="3650000"/>
            <a:ext cx="3300000" cy="460000"/>
          </a:xfrm>
          <a:prstGeom prst="rect">
            <a:avLst/>
          </a:prstGeom>
          <a:noFill/>
        </p:spPr>
        <p:txBody>
          <a:bodyPr wrap="square" lIns="0" tIns="0" rIns="0" bIns="0" anchor="ctr">
            <a:spAutoFit/>
          </a:bodyPr>
          <a:lstStyle/>
          <a:p>
            <a:pPr algn="r"/>
            <a:r>
              <a:rPr sz="950" b="0">
                <a:solidFill>
                  <a:srgbClr val="2F3B3A"/>
                </a:solidFill>
                <a:latin typeface="Calibri"/>
              </a:rPr>
              <a:t>Departamento (Lima)</a:t>
            </a:r>
          </a:p>
        </p:txBody>
      </p:sp>
      <p:sp>
        <p:nvSpPr>
          <p:cNvPr id="31" name="Rectangle 30"/>
          <p:cNvSpPr/>
          <p:nvPr/>
        </p:nvSpPr>
        <p:spPr>
          <a:xfrm>
            <a:off x="3993776" y="3760000"/>
            <a:ext cx="742281" cy="240000"/>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816057" y="3650000"/>
            <a:ext cx="600000" cy="460000"/>
          </a:xfrm>
          <a:prstGeom prst="rect">
            <a:avLst/>
          </a:prstGeom>
          <a:noFill/>
        </p:spPr>
        <p:txBody>
          <a:bodyPr wrap="square" lIns="0" tIns="0" rIns="0" bIns="0" anchor="ctr">
            <a:spAutoFit/>
          </a:bodyPr>
          <a:lstStyle/>
          <a:p>
            <a:pPr algn="l"/>
            <a:r>
              <a:rPr sz="950" b="1">
                <a:solidFill>
                  <a:srgbClr val="13807B"/>
                </a:solidFill>
                <a:latin typeface="Calibri"/>
              </a:rPr>
              <a:t>6,0%</a:t>
            </a:r>
          </a:p>
        </p:txBody>
      </p:sp>
      <p:sp>
        <p:nvSpPr>
          <p:cNvPr id="33" name="TextBox 32"/>
          <p:cNvSpPr txBox="1"/>
          <p:nvPr/>
        </p:nvSpPr>
        <p:spPr>
          <a:xfrm>
            <a:off x="9643776" y="3650000"/>
            <a:ext cx="2051400" cy="460000"/>
          </a:xfrm>
          <a:prstGeom prst="rect">
            <a:avLst/>
          </a:prstGeom>
          <a:noFill/>
        </p:spPr>
        <p:txBody>
          <a:bodyPr wrap="square" lIns="0" tIns="0" rIns="0" bIns="0" anchor="ctr">
            <a:spAutoFit/>
          </a:bodyPr>
          <a:lstStyle/>
          <a:p>
            <a:pPr algn="ctr"/>
            <a:r>
              <a:rPr sz="950" b="1">
                <a:solidFill>
                  <a:srgbClr val="13807B"/>
                </a:solidFill>
                <a:latin typeface="Calibri"/>
              </a:rPr>
              <a:t>▲ Aumenta</a:t>
            </a:r>
          </a:p>
        </p:txBody>
      </p:sp>
      <p:sp>
        <p:nvSpPr>
          <p:cNvPr id="34" name="Rectangle 33"/>
          <p:cNvSpPr/>
          <p:nvPr/>
        </p:nvSpPr>
        <p:spPr>
          <a:xfrm>
            <a:off x="493776" y="4150000"/>
            <a:ext cx="11201400" cy="46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93776" y="4150000"/>
            <a:ext cx="3300000" cy="460000"/>
          </a:xfrm>
          <a:prstGeom prst="rect">
            <a:avLst/>
          </a:prstGeom>
          <a:noFill/>
        </p:spPr>
        <p:txBody>
          <a:bodyPr wrap="square" lIns="0" tIns="0" rIns="0" bIns="0" anchor="ctr">
            <a:spAutoFit/>
          </a:bodyPr>
          <a:lstStyle/>
          <a:p>
            <a:pPr algn="r"/>
            <a:r>
              <a:rPr sz="950" b="0">
                <a:solidFill>
                  <a:srgbClr val="2F3B3A"/>
                </a:solidFill>
                <a:latin typeface="Calibri"/>
              </a:rPr>
              <a:t>Antigüedad de la empresa</a:t>
            </a:r>
          </a:p>
        </p:txBody>
      </p:sp>
      <p:sp>
        <p:nvSpPr>
          <p:cNvPr id="36" name="Rectangle 35"/>
          <p:cNvSpPr/>
          <p:nvPr/>
        </p:nvSpPr>
        <p:spPr>
          <a:xfrm>
            <a:off x="3993776" y="4260000"/>
            <a:ext cx="581453" cy="240000"/>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655229" y="4150000"/>
            <a:ext cx="600000" cy="460000"/>
          </a:xfrm>
          <a:prstGeom prst="rect">
            <a:avLst/>
          </a:prstGeom>
          <a:noFill/>
        </p:spPr>
        <p:txBody>
          <a:bodyPr wrap="square" lIns="0" tIns="0" rIns="0" bIns="0" anchor="ctr">
            <a:spAutoFit/>
          </a:bodyPr>
          <a:lstStyle/>
          <a:p>
            <a:pPr algn="l"/>
            <a:r>
              <a:rPr sz="950" b="1">
                <a:solidFill>
                  <a:srgbClr val="13807B"/>
                </a:solidFill>
                <a:latin typeface="Calibri"/>
              </a:rPr>
              <a:t>4,7%</a:t>
            </a:r>
          </a:p>
        </p:txBody>
      </p:sp>
      <p:sp>
        <p:nvSpPr>
          <p:cNvPr id="38" name="TextBox 37"/>
          <p:cNvSpPr txBox="1"/>
          <p:nvPr/>
        </p:nvSpPr>
        <p:spPr>
          <a:xfrm>
            <a:off x="9643776" y="4150000"/>
            <a:ext cx="2051400" cy="460000"/>
          </a:xfrm>
          <a:prstGeom prst="rect">
            <a:avLst/>
          </a:prstGeom>
          <a:noFill/>
        </p:spPr>
        <p:txBody>
          <a:bodyPr wrap="square" lIns="0" tIns="0" rIns="0" bIns="0" anchor="ctr">
            <a:spAutoFit/>
          </a:bodyPr>
          <a:lstStyle/>
          <a:p>
            <a:pPr algn="ctr"/>
            <a:r>
              <a:rPr sz="950" b="1">
                <a:solidFill>
                  <a:srgbClr val="E5173F"/>
                </a:solidFill>
                <a:latin typeface="Calibri"/>
              </a:rPr>
              <a:t>▼ Disminuye</a:t>
            </a:r>
          </a:p>
        </p:txBody>
      </p:sp>
      <p:sp>
        <p:nvSpPr>
          <p:cNvPr id="39" name="Rectangle 38"/>
          <p:cNvSpPr/>
          <p:nvPr/>
        </p:nvSpPr>
        <p:spPr>
          <a:xfrm>
            <a:off x="493776" y="5780000"/>
            <a:ext cx="11201400" cy="480000"/>
          </a:xfrm>
          <a:prstGeom prst="rect">
            <a:avLst/>
          </a:prstGeom>
          <a:solidFill>
            <a:srgbClr val="F1F6F5"/>
          </a:solidFill>
          <a:ln>
            <a:noFill/>
          </a:ln>
          <a:effectLst/>
        </p:spPr>
        <p:style>
          <a:lnRef idx="1">
            <a:schemeClr val="accent1"/>
          </a:lnRef>
          <a:fillRef idx="3">
            <a:schemeClr val="accent1"/>
          </a:fillRef>
          <a:effectRef idx="2">
            <a:schemeClr val="accent1"/>
          </a:effectRef>
          <a:fontRef idx="minor">
            <a:schemeClr val="lt1"/>
          </a:fontRef>
        </p:style>
        <p:txBody>
          <a:bodyPr lIns="150000" rtlCol="0" anchor="ctr"/>
          <a:lstStyle/>
          <a:p>
            <a:pPr algn="ctr"/>
            <a:r>
              <a:rPr sz="1000" b="1">
                <a:solidFill>
                  <a:srgbClr val="2F3B3A"/>
                </a:solidFill>
                <a:latin typeface="Calibri"/>
              </a:rPr>
              <a:t>El monto y la tasa explican 74% del modelo: a mayor monto o tasa del cliente, menor probabilidad de aceptación</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493777" y="246888"/>
            <a:ext cx="8963570" cy="109710"/>
          </a:xfrm>
          <a:prstGeom prst="rect">
            <a:avLst/>
          </a:prstGeom>
          <a:noFill/>
        </p:spPr>
        <p:txBody>
          <a:bodyPr wrap="square" lIns="0" tIns="0" rIns="0" bIns="0" anchor="t">
            <a:spAutoFit/>
          </a:bodyPr>
          <a:lstStyle/>
          <a:p>
            <a:pPr algn="l"/>
            <a:r>
              <a:rPr sz="800" b="1">
                <a:solidFill>
                  <a:srgbClr val="6E7E7D"/>
                </a:solidFill>
                <a:latin typeface="Calibri"/>
              </a:rPr>
              <a:t>OTRAS OPCIONES · ANEXO PROPUESTA A</a:t>
            </a:r>
          </a:p>
        </p:txBody>
      </p:sp>
      <p:sp>
        <p:nvSpPr>
          <p:cNvPr id="3" name="TextBox 2"/>
          <p:cNvSpPr txBox="1"/>
          <p:nvPr/>
        </p:nvSpPr>
        <p:spPr>
          <a:xfrm>
            <a:off x="493776" y="425196"/>
            <a:ext cx="10312923" cy="482568"/>
          </a:xfrm>
          <a:prstGeom prst="rect">
            <a:avLst/>
          </a:prstGeom>
          <a:noFill/>
        </p:spPr>
        <p:txBody>
          <a:bodyPr wrap="square" lIns="0" tIns="0" rIns="0" bIns="0" anchor="t">
            <a:spAutoFit/>
          </a:bodyPr>
          <a:lstStyle/>
          <a:p>
            <a:pPr algn="l"/>
            <a:r>
              <a:rPr sz="1600" b="1">
                <a:solidFill>
                  <a:srgbClr val="13807B"/>
                </a:solidFill>
                <a:latin typeface="Poppins"/>
              </a:rPr>
              <a:t>Anexo · Propuesta A: conversión predicha y observada por macroperfil</a:t>
            </a:r>
          </a:p>
        </p:txBody>
      </p:sp>
      <p:cxnSp>
        <p:nvCxnSpPr>
          <p:cNvPr id="4" name="Connector 3"/>
          <p:cNvCxnSpPr/>
          <p:nvPr/>
        </p:nvCxnSpPr>
        <p:spPr>
          <a:xfrm>
            <a:off x="493776" y="1049274"/>
            <a:ext cx="11204463" cy="0"/>
          </a:xfrm>
          <a:prstGeom prst="line">
            <a:avLst/>
          </a:prstGeom>
          <a:ln w="12700">
            <a:solidFill>
              <a:srgbClr val="D5DFDE"/>
            </a:solidFill>
          </a:ln>
        </p:spPr>
        <p:style>
          <a:lnRef idx="2">
            <a:schemeClr val="accent1"/>
          </a:lnRef>
          <a:fillRef idx="0">
            <a:schemeClr val="accent1"/>
          </a:fillRef>
          <a:effectRef idx="1">
            <a:schemeClr val="accent1"/>
          </a:effectRef>
          <a:fontRef idx="minor">
            <a:schemeClr val="tx1"/>
          </a:fontRef>
        </p:style>
      </p:cxnSp>
      <p:pic>
        <p:nvPicPr>
          <p:cNvPr id="5" name="Picture 4" descr="logo.png"/>
          <p:cNvPicPr>
            <a:picLocks noChangeAspect="1"/>
          </p:cNvPicPr>
          <p:nvPr/>
        </p:nvPicPr>
        <p:blipFill>
          <a:blip r:embed="rId2"/>
          <a:stretch>
            <a:fillRect/>
          </a:stretch>
        </p:blipFill>
        <p:spPr>
          <a:xfrm>
            <a:off x="11081186" y="82166"/>
            <a:ext cx="916962" cy="343030"/>
          </a:xfrm>
          <a:prstGeom prst="rect">
            <a:avLst/>
          </a:prstGeom>
        </p:spPr>
      </p:pic>
      <p:sp>
        <p:nvSpPr>
          <p:cNvPr id="6" name="TextBox 5"/>
          <p:cNvSpPr txBox="1"/>
          <p:nvPr/>
        </p:nvSpPr>
        <p:spPr>
          <a:xfrm>
            <a:off x="493776" y="1250000"/>
            <a:ext cx="11201400" cy="220000"/>
          </a:xfrm>
          <a:prstGeom prst="rect">
            <a:avLst/>
          </a:prstGeom>
          <a:noFill/>
        </p:spPr>
        <p:txBody>
          <a:bodyPr wrap="square" lIns="0" tIns="0" rIns="0" bIns="0" anchor="t">
            <a:spAutoFit/>
          </a:bodyPr>
          <a:lstStyle/>
          <a:p>
            <a:pPr algn="l"/>
            <a:r>
              <a:rPr sz="1000" b="1">
                <a:solidFill>
                  <a:srgbClr val="2F3B3A"/>
                </a:solidFill>
                <a:latin typeface="Calibri"/>
              </a:rPr>
              <a:t>Conversión de la oferta relevante predicha y observada, por macroperfil comercial</a:t>
            </a:r>
          </a:p>
        </p:txBody>
      </p:sp>
      <p:pic>
        <p:nvPicPr>
          <p:cNvPr id="11" name="Imagen 10">
            <a:extLst>
              <a:ext uri="{FF2B5EF4-FFF2-40B4-BE49-F238E27FC236}">
                <a16:creationId xmlns:a16="http://schemas.microsoft.com/office/drawing/2014/main" id="{B4924BD9-D933-3E69-6175-E396E839C644}"/>
              </a:ext>
            </a:extLst>
          </p:cNvPr>
          <p:cNvPicPr>
            <a:picLocks noChangeAspect="1"/>
          </p:cNvPicPr>
          <p:nvPr/>
        </p:nvPicPr>
        <p:blipFill>
          <a:blip r:embed="rId3"/>
          <a:stretch>
            <a:fillRect/>
          </a:stretch>
        </p:blipFill>
        <p:spPr>
          <a:xfrm>
            <a:off x="493776" y="1764000"/>
            <a:ext cx="5503039" cy="3330000"/>
          </a:xfrm>
          <a:prstGeom prst="rect">
            <a:avLst/>
          </a:prstGeom>
        </p:spPr>
      </p:pic>
      <p:pic>
        <p:nvPicPr>
          <p:cNvPr id="13" name="Imagen 12">
            <a:extLst>
              <a:ext uri="{FF2B5EF4-FFF2-40B4-BE49-F238E27FC236}">
                <a16:creationId xmlns:a16="http://schemas.microsoft.com/office/drawing/2014/main" id="{26A46EAD-2152-DEC2-6957-23655C4168EA}"/>
              </a:ext>
            </a:extLst>
          </p:cNvPr>
          <p:cNvPicPr>
            <a:picLocks noChangeAspect="1"/>
          </p:cNvPicPr>
          <p:nvPr/>
        </p:nvPicPr>
        <p:blipFill>
          <a:blip r:embed="rId4"/>
          <a:stretch>
            <a:fillRect/>
          </a:stretch>
        </p:blipFill>
        <p:spPr>
          <a:xfrm>
            <a:off x="6195187" y="1764000"/>
            <a:ext cx="5503039" cy="33300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493777" y="246888"/>
            <a:ext cx="8963570" cy="109710"/>
          </a:xfrm>
          <a:prstGeom prst="rect">
            <a:avLst/>
          </a:prstGeom>
          <a:noFill/>
        </p:spPr>
        <p:txBody>
          <a:bodyPr wrap="square" lIns="0" tIns="0" rIns="0" bIns="0" anchor="t">
            <a:spAutoFit/>
          </a:bodyPr>
          <a:lstStyle/>
          <a:p>
            <a:pPr algn="l"/>
            <a:r>
              <a:rPr sz="800" b="1">
                <a:solidFill>
                  <a:srgbClr val="6E7E7D"/>
                </a:solidFill>
                <a:latin typeface="Calibri"/>
              </a:rPr>
              <a:t>OTRAS OPCIONES · ANEXO PROPUESTA B</a:t>
            </a:r>
          </a:p>
        </p:txBody>
      </p:sp>
      <p:sp>
        <p:nvSpPr>
          <p:cNvPr id="3" name="TextBox 2"/>
          <p:cNvSpPr txBox="1"/>
          <p:nvPr/>
        </p:nvSpPr>
        <p:spPr>
          <a:xfrm>
            <a:off x="493776" y="425196"/>
            <a:ext cx="10312923" cy="482568"/>
          </a:xfrm>
          <a:prstGeom prst="rect">
            <a:avLst/>
          </a:prstGeom>
          <a:noFill/>
        </p:spPr>
        <p:txBody>
          <a:bodyPr wrap="square" lIns="0" tIns="0" rIns="0" bIns="0" anchor="t">
            <a:spAutoFit/>
          </a:bodyPr>
          <a:lstStyle/>
          <a:p>
            <a:pPr algn="l"/>
            <a:r>
              <a:rPr sz="1600" b="1">
                <a:solidFill>
                  <a:srgbClr val="13807B"/>
                </a:solidFill>
                <a:latin typeface="Poppins"/>
              </a:rPr>
              <a:t>Anexo · Propuesta B: conversión predicha y observada por macroperfil</a:t>
            </a:r>
          </a:p>
        </p:txBody>
      </p:sp>
      <p:cxnSp>
        <p:nvCxnSpPr>
          <p:cNvPr id="4" name="Connector 3"/>
          <p:cNvCxnSpPr/>
          <p:nvPr/>
        </p:nvCxnSpPr>
        <p:spPr>
          <a:xfrm>
            <a:off x="493776" y="1049274"/>
            <a:ext cx="11204463" cy="0"/>
          </a:xfrm>
          <a:prstGeom prst="line">
            <a:avLst/>
          </a:prstGeom>
          <a:ln w="12700">
            <a:solidFill>
              <a:srgbClr val="D5DFDE"/>
            </a:solidFill>
          </a:ln>
        </p:spPr>
        <p:style>
          <a:lnRef idx="2">
            <a:schemeClr val="accent1"/>
          </a:lnRef>
          <a:fillRef idx="0">
            <a:schemeClr val="accent1"/>
          </a:fillRef>
          <a:effectRef idx="1">
            <a:schemeClr val="accent1"/>
          </a:effectRef>
          <a:fontRef idx="minor">
            <a:schemeClr val="tx1"/>
          </a:fontRef>
        </p:style>
      </p:cxnSp>
      <p:pic>
        <p:nvPicPr>
          <p:cNvPr id="5" name="Picture 4" descr="logo.png"/>
          <p:cNvPicPr>
            <a:picLocks noChangeAspect="1"/>
          </p:cNvPicPr>
          <p:nvPr/>
        </p:nvPicPr>
        <p:blipFill>
          <a:blip r:embed="rId2"/>
          <a:stretch>
            <a:fillRect/>
          </a:stretch>
        </p:blipFill>
        <p:spPr>
          <a:xfrm>
            <a:off x="11081186" y="82166"/>
            <a:ext cx="916962" cy="343030"/>
          </a:xfrm>
          <a:prstGeom prst="rect">
            <a:avLst/>
          </a:prstGeom>
        </p:spPr>
      </p:pic>
      <p:sp>
        <p:nvSpPr>
          <p:cNvPr id="6" name="TextBox 5"/>
          <p:cNvSpPr txBox="1"/>
          <p:nvPr/>
        </p:nvSpPr>
        <p:spPr>
          <a:xfrm>
            <a:off x="493776" y="1250000"/>
            <a:ext cx="11201400" cy="220000"/>
          </a:xfrm>
          <a:prstGeom prst="rect">
            <a:avLst/>
          </a:prstGeom>
          <a:noFill/>
        </p:spPr>
        <p:txBody>
          <a:bodyPr wrap="square" lIns="0" tIns="0" rIns="0" bIns="0" anchor="t">
            <a:spAutoFit/>
          </a:bodyPr>
          <a:lstStyle/>
          <a:p>
            <a:pPr algn="l"/>
            <a:r>
              <a:rPr sz="1000" b="1">
                <a:solidFill>
                  <a:srgbClr val="2F3B3A"/>
                </a:solidFill>
                <a:latin typeface="Calibri"/>
              </a:rPr>
              <a:t>Conversión de la oferta relevante predicha y observada, por macroperfil comercial</a:t>
            </a:r>
          </a:p>
        </p:txBody>
      </p:sp>
      <p:pic>
        <p:nvPicPr>
          <p:cNvPr id="11" name="Imagen 10">
            <a:extLst>
              <a:ext uri="{FF2B5EF4-FFF2-40B4-BE49-F238E27FC236}">
                <a16:creationId xmlns:a16="http://schemas.microsoft.com/office/drawing/2014/main" id="{9236E483-C7AE-E2A4-C630-1E32177BBB9D}"/>
              </a:ext>
            </a:extLst>
          </p:cNvPr>
          <p:cNvPicPr>
            <a:picLocks noChangeAspect="1"/>
          </p:cNvPicPr>
          <p:nvPr/>
        </p:nvPicPr>
        <p:blipFill>
          <a:blip r:embed="rId3"/>
          <a:stretch>
            <a:fillRect/>
          </a:stretch>
        </p:blipFill>
        <p:spPr>
          <a:xfrm>
            <a:off x="493776" y="1764000"/>
            <a:ext cx="5503039" cy="3330000"/>
          </a:xfrm>
          <a:prstGeom prst="rect">
            <a:avLst/>
          </a:prstGeom>
        </p:spPr>
      </p:pic>
      <p:pic>
        <p:nvPicPr>
          <p:cNvPr id="13" name="Imagen 12">
            <a:extLst>
              <a:ext uri="{FF2B5EF4-FFF2-40B4-BE49-F238E27FC236}">
                <a16:creationId xmlns:a16="http://schemas.microsoft.com/office/drawing/2014/main" id="{5EF22ECC-1B87-41BA-FC34-0A92846B8C39}"/>
              </a:ext>
            </a:extLst>
          </p:cNvPr>
          <p:cNvPicPr>
            <a:picLocks noChangeAspect="1"/>
          </p:cNvPicPr>
          <p:nvPr/>
        </p:nvPicPr>
        <p:blipFill>
          <a:blip r:embed="rId4"/>
          <a:stretch>
            <a:fillRect/>
          </a:stretch>
        </p:blipFill>
        <p:spPr>
          <a:xfrm>
            <a:off x="6202915" y="1764000"/>
            <a:ext cx="5503039" cy="33300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584A0C6-EE60-24B3-622B-1F7E792CE1E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294B236-B205-4BF6-2645-8FFE8BAC37C5}"/>
              </a:ext>
            </a:extLst>
          </p:cNvPr>
          <p:cNvSpPr txBox="1"/>
          <p:nvPr/>
        </p:nvSpPr>
        <p:spPr>
          <a:xfrm>
            <a:off x="493777" y="246888"/>
            <a:ext cx="8963570" cy="109710"/>
          </a:xfrm>
          <a:prstGeom prst="rect">
            <a:avLst/>
          </a:prstGeom>
          <a:noFill/>
        </p:spPr>
        <p:txBody>
          <a:bodyPr wrap="square" lIns="0" tIns="0" rIns="0" bIns="0" anchor="t">
            <a:spAutoFit/>
          </a:bodyPr>
          <a:lstStyle/>
          <a:p>
            <a:pPr algn="l"/>
            <a:r>
              <a:rPr sz="800" b="1">
                <a:solidFill>
                  <a:srgbClr val="6E7E7D"/>
                </a:solidFill>
                <a:latin typeface="Calibri"/>
              </a:rPr>
              <a:t>MODELO DE SENSIBILIDAD · APLICACIÓN A LAS APERTURAS</a:t>
            </a:r>
          </a:p>
        </p:txBody>
      </p:sp>
      <p:sp>
        <p:nvSpPr>
          <p:cNvPr id="3" name="TextBox 2">
            <a:extLst>
              <a:ext uri="{FF2B5EF4-FFF2-40B4-BE49-F238E27FC236}">
                <a16:creationId xmlns:a16="http://schemas.microsoft.com/office/drawing/2014/main" id="{9BF341A1-EA74-8645-136F-FCEC30D2E5DC}"/>
              </a:ext>
            </a:extLst>
          </p:cNvPr>
          <p:cNvSpPr txBox="1"/>
          <p:nvPr/>
        </p:nvSpPr>
        <p:spPr>
          <a:xfrm>
            <a:off x="493776" y="425196"/>
            <a:ext cx="10312923" cy="482568"/>
          </a:xfrm>
          <a:prstGeom prst="rect">
            <a:avLst/>
          </a:prstGeom>
          <a:noFill/>
        </p:spPr>
        <p:txBody>
          <a:bodyPr wrap="square" lIns="0" tIns="0" rIns="0" bIns="0" anchor="t">
            <a:spAutoFit/>
          </a:bodyPr>
          <a:lstStyle/>
          <a:p>
            <a:pPr algn="l"/>
            <a:r>
              <a:rPr sz="1600" b="1">
                <a:solidFill>
                  <a:srgbClr val="13807B"/>
                </a:solidFill>
                <a:latin typeface="Poppins"/>
              </a:rPr>
              <a:t>La sensibilidad del macroperfil y la tasa de la competencia definen el piloto de cada apertura</a:t>
            </a:r>
          </a:p>
        </p:txBody>
      </p:sp>
      <p:cxnSp>
        <p:nvCxnSpPr>
          <p:cNvPr id="4" name="Connector 3">
            <a:extLst>
              <a:ext uri="{FF2B5EF4-FFF2-40B4-BE49-F238E27FC236}">
                <a16:creationId xmlns:a16="http://schemas.microsoft.com/office/drawing/2014/main" id="{C675907F-FD4F-0595-FC26-A8A21AC299D1}"/>
              </a:ext>
            </a:extLst>
          </p:cNvPr>
          <p:cNvCxnSpPr/>
          <p:nvPr/>
        </p:nvCxnSpPr>
        <p:spPr>
          <a:xfrm>
            <a:off x="493776" y="1049274"/>
            <a:ext cx="11204463" cy="0"/>
          </a:xfrm>
          <a:prstGeom prst="line">
            <a:avLst/>
          </a:prstGeom>
          <a:ln w="12700">
            <a:solidFill>
              <a:srgbClr val="D5DFDE"/>
            </a:solidFill>
          </a:ln>
        </p:spPr>
        <p:style>
          <a:lnRef idx="2">
            <a:schemeClr val="accent1"/>
          </a:lnRef>
          <a:fillRef idx="0">
            <a:schemeClr val="accent1"/>
          </a:fillRef>
          <a:effectRef idx="1">
            <a:schemeClr val="accent1"/>
          </a:effectRef>
          <a:fontRef idx="minor">
            <a:schemeClr val="tx1"/>
          </a:fontRef>
        </p:style>
      </p:cxnSp>
      <p:pic>
        <p:nvPicPr>
          <p:cNvPr id="5" name="Picture 4" descr="logo.png">
            <a:extLst>
              <a:ext uri="{FF2B5EF4-FFF2-40B4-BE49-F238E27FC236}">
                <a16:creationId xmlns:a16="http://schemas.microsoft.com/office/drawing/2014/main" id="{3747D7C9-1173-B3E8-37C3-0B62A0E11D37}"/>
              </a:ext>
            </a:extLst>
          </p:cNvPr>
          <p:cNvPicPr>
            <a:picLocks noChangeAspect="1"/>
          </p:cNvPicPr>
          <p:nvPr/>
        </p:nvPicPr>
        <p:blipFill>
          <a:blip r:embed="rId2"/>
          <a:stretch>
            <a:fillRect/>
          </a:stretch>
        </p:blipFill>
        <p:spPr>
          <a:xfrm>
            <a:off x="11081186" y="82166"/>
            <a:ext cx="916962" cy="343030"/>
          </a:xfrm>
          <a:prstGeom prst="rect">
            <a:avLst/>
          </a:prstGeom>
        </p:spPr>
      </p:pic>
      <p:sp>
        <p:nvSpPr>
          <p:cNvPr id="6" name="TextBox 5">
            <a:extLst>
              <a:ext uri="{FF2B5EF4-FFF2-40B4-BE49-F238E27FC236}">
                <a16:creationId xmlns:a16="http://schemas.microsoft.com/office/drawing/2014/main" id="{78251842-5354-F484-D01F-C704E1949EBD}"/>
              </a:ext>
            </a:extLst>
          </p:cNvPr>
          <p:cNvSpPr txBox="1"/>
          <p:nvPr/>
        </p:nvSpPr>
        <p:spPr>
          <a:xfrm>
            <a:off x="493776" y="1200000"/>
            <a:ext cx="3300000" cy="220000"/>
          </a:xfrm>
          <a:prstGeom prst="rect">
            <a:avLst/>
          </a:prstGeom>
          <a:noFill/>
        </p:spPr>
        <p:txBody>
          <a:bodyPr wrap="square" lIns="0" tIns="0" rIns="0" bIns="0" anchor="t">
            <a:spAutoFit/>
          </a:bodyPr>
          <a:lstStyle/>
          <a:p>
            <a:pPr algn="l"/>
            <a:r>
              <a:rPr sz="1000" b="1">
                <a:solidFill>
                  <a:srgbClr val="2F3B3A"/>
                </a:solidFill>
                <a:latin typeface="Calibri"/>
              </a:rPr>
              <a:t>Regla de decisión</a:t>
            </a:r>
          </a:p>
        </p:txBody>
      </p:sp>
      <p:sp>
        <p:nvSpPr>
          <p:cNvPr id="7" name="TextBox 6">
            <a:extLst>
              <a:ext uri="{FF2B5EF4-FFF2-40B4-BE49-F238E27FC236}">
                <a16:creationId xmlns:a16="http://schemas.microsoft.com/office/drawing/2014/main" id="{DF949B94-C370-A97C-9759-CAA066D91F06}"/>
              </a:ext>
            </a:extLst>
          </p:cNvPr>
          <p:cNvSpPr txBox="1"/>
          <p:nvPr/>
        </p:nvSpPr>
        <p:spPr>
          <a:xfrm>
            <a:off x="493776" y="1500000"/>
            <a:ext cx="3300000" cy="200000"/>
          </a:xfrm>
          <a:prstGeom prst="rect">
            <a:avLst/>
          </a:prstGeom>
          <a:noFill/>
        </p:spPr>
        <p:txBody>
          <a:bodyPr wrap="square" lIns="0" tIns="0" rIns="0" bIns="0" anchor="t">
            <a:spAutoFit/>
          </a:bodyPr>
          <a:lstStyle/>
          <a:p>
            <a:pPr algn="ctr"/>
            <a:r>
              <a:rPr sz="750" b="0">
                <a:solidFill>
                  <a:srgbClr val="6E7E7D"/>
                </a:solidFill>
                <a:latin typeface="Calibri"/>
              </a:rPr>
              <a:t>Tasa de la competencia frente a nuestro desembolso</a:t>
            </a:r>
          </a:p>
        </p:txBody>
      </p:sp>
      <p:sp>
        <p:nvSpPr>
          <p:cNvPr id="8" name="Rectangle 7">
            <a:extLst>
              <a:ext uri="{FF2B5EF4-FFF2-40B4-BE49-F238E27FC236}">
                <a16:creationId xmlns:a16="http://schemas.microsoft.com/office/drawing/2014/main" id="{157D9102-1B1B-B619-04EA-A80E19871F7F}"/>
              </a:ext>
            </a:extLst>
          </p:cNvPr>
          <p:cNvSpPr/>
          <p:nvPr/>
        </p:nvSpPr>
        <p:spPr>
          <a:xfrm>
            <a:off x="1193776" y="1760000"/>
            <a:ext cx="1270000" cy="380000"/>
          </a:xfrm>
          <a:prstGeom prst="rect">
            <a:avLst/>
          </a:prstGeom>
          <a:solidFill>
            <a:srgbClr val="FADBD8"/>
          </a:solidFill>
          <a:ln>
            <a:noFill/>
          </a:ln>
          <a:effectLst/>
        </p:spPr>
        <p:style>
          <a:lnRef idx="1">
            <a:schemeClr val="accent1"/>
          </a:lnRef>
          <a:fillRef idx="3">
            <a:schemeClr val="accent1"/>
          </a:fillRef>
          <a:effectRef idx="2">
            <a:schemeClr val="accent1"/>
          </a:effectRef>
          <a:fontRef idx="minor">
            <a:schemeClr val="lt1"/>
          </a:fontRef>
        </p:style>
        <p:txBody>
          <a:bodyPr wrap="square" lIns="30000" tIns="15000" rIns="30000" bIns="15000" rtlCol="0" anchor="ctr"/>
          <a:lstStyle/>
          <a:p>
            <a:pPr algn="ctr"/>
            <a:r>
              <a:rPr sz="1000" b="1">
                <a:solidFill>
                  <a:srgbClr val="E5173F"/>
                </a:solidFill>
                <a:latin typeface="Calibri"/>
              </a:rPr>
              <a:t>Por debajo o en línea</a:t>
            </a:r>
          </a:p>
        </p:txBody>
      </p:sp>
      <p:sp>
        <p:nvSpPr>
          <p:cNvPr id="9" name="Rectangle 8">
            <a:extLst>
              <a:ext uri="{FF2B5EF4-FFF2-40B4-BE49-F238E27FC236}">
                <a16:creationId xmlns:a16="http://schemas.microsoft.com/office/drawing/2014/main" id="{970D3C1B-8388-7F2C-CA7B-3A537EAB9728}"/>
              </a:ext>
            </a:extLst>
          </p:cNvPr>
          <p:cNvSpPr/>
          <p:nvPr/>
        </p:nvSpPr>
        <p:spPr>
          <a:xfrm>
            <a:off x="2523776" y="1760000"/>
            <a:ext cx="1270000" cy="380000"/>
          </a:xfrm>
          <a:prstGeom prst="rect">
            <a:avLst/>
          </a:prstGeom>
          <a:solidFill>
            <a:srgbClr val="D5EBE8"/>
          </a:solidFill>
          <a:ln>
            <a:noFill/>
          </a:ln>
          <a:effectLst/>
        </p:spPr>
        <p:style>
          <a:lnRef idx="1">
            <a:schemeClr val="accent1"/>
          </a:lnRef>
          <a:fillRef idx="3">
            <a:schemeClr val="accent1"/>
          </a:fillRef>
          <a:effectRef idx="2">
            <a:schemeClr val="accent1"/>
          </a:effectRef>
          <a:fontRef idx="minor">
            <a:schemeClr val="lt1"/>
          </a:fontRef>
        </p:style>
        <p:txBody>
          <a:bodyPr wrap="square" lIns="30000" tIns="15000" rIns="30000" bIns="15000" rtlCol="0" anchor="ctr"/>
          <a:lstStyle/>
          <a:p>
            <a:pPr algn="ctr"/>
            <a:r>
              <a:rPr sz="1000" b="1">
                <a:solidFill>
                  <a:srgbClr val="13807B"/>
                </a:solidFill>
                <a:latin typeface="Calibri"/>
              </a:rPr>
              <a:t>Por encima</a:t>
            </a:r>
          </a:p>
        </p:txBody>
      </p:sp>
      <p:sp>
        <p:nvSpPr>
          <p:cNvPr id="10" name="Rectangle 9">
            <a:extLst>
              <a:ext uri="{FF2B5EF4-FFF2-40B4-BE49-F238E27FC236}">
                <a16:creationId xmlns:a16="http://schemas.microsoft.com/office/drawing/2014/main" id="{033FB6BB-2DA5-4679-FF11-44D9090CF132}"/>
              </a:ext>
            </a:extLst>
          </p:cNvPr>
          <p:cNvSpPr/>
          <p:nvPr/>
        </p:nvSpPr>
        <p:spPr>
          <a:xfrm>
            <a:off x="493776" y="2956250"/>
            <a:ext cx="620000" cy="400000"/>
          </a:xfrm>
          <a:prstGeom prst="rect">
            <a:avLst/>
          </a:prstGeom>
          <a:solidFill>
            <a:srgbClr val="9FB0C7"/>
          </a:solidFill>
          <a:ln>
            <a:noFill/>
          </a:ln>
          <a:effectLst/>
        </p:spPr>
        <p:style>
          <a:lnRef idx="1">
            <a:schemeClr val="accent1"/>
          </a:lnRef>
          <a:fillRef idx="3">
            <a:schemeClr val="accent1"/>
          </a:fillRef>
          <a:effectRef idx="2">
            <a:schemeClr val="accent1"/>
          </a:effectRef>
          <a:fontRef idx="minor">
            <a:schemeClr val="lt1"/>
          </a:fontRef>
        </p:style>
        <p:txBody>
          <a:bodyPr wrap="square" lIns="20000" tIns="10000" rIns="20000" bIns="10000" rtlCol="0" anchor="ctr"/>
          <a:lstStyle/>
          <a:p>
            <a:pPr algn="ctr"/>
            <a:r>
              <a:rPr sz="1100" b="1">
                <a:solidFill>
                  <a:srgbClr val="FFFFFF"/>
                </a:solidFill>
                <a:latin typeface="Calibri"/>
              </a:rPr>
              <a:t>Media</a:t>
            </a:r>
          </a:p>
        </p:txBody>
      </p:sp>
      <p:sp>
        <p:nvSpPr>
          <p:cNvPr id="11" name="Rectangle 10">
            <a:extLst>
              <a:ext uri="{FF2B5EF4-FFF2-40B4-BE49-F238E27FC236}">
                <a16:creationId xmlns:a16="http://schemas.microsoft.com/office/drawing/2014/main" id="{2D6461F6-DFD1-2549-5386-354BE2483B3F}"/>
              </a:ext>
            </a:extLst>
          </p:cNvPr>
          <p:cNvSpPr/>
          <p:nvPr/>
        </p:nvSpPr>
        <p:spPr>
          <a:xfrm>
            <a:off x="1193776" y="2220000"/>
            <a:ext cx="1270000" cy="1872500"/>
          </a:xfrm>
          <a:prstGeom prst="rect">
            <a:avLst/>
          </a:prstGeom>
          <a:solidFill>
            <a:srgbClr val="FADBD8"/>
          </a:solidFill>
          <a:ln>
            <a:noFill/>
          </a:ln>
          <a:effectLst/>
        </p:spPr>
        <p:style>
          <a:lnRef idx="1">
            <a:schemeClr val="accent1"/>
          </a:lnRef>
          <a:fillRef idx="3">
            <a:schemeClr val="accent1"/>
          </a:fillRef>
          <a:effectRef idx="2">
            <a:schemeClr val="accent1"/>
          </a:effectRef>
          <a:fontRef idx="minor">
            <a:schemeClr val="lt1"/>
          </a:fontRef>
        </p:style>
        <p:txBody>
          <a:bodyPr wrap="square" lIns="40000" tIns="20000" rIns="40000" bIns="20000" rtlCol="0" anchor="ctr"/>
          <a:lstStyle/>
          <a:p>
            <a:pPr algn="ctr"/>
            <a:r>
              <a:rPr sz="1300" b="1">
                <a:solidFill>
                  <a:srgbClr val="E5173F"/>
                </a:solidFill>
                <a:latin typeface="Calibri"/>
              </a:rPr>
              <a:t>Bajar de forma acotada</a:t>
            </a:r>
          </a:p>
        </p:txBody>
      </p:sp>
      <p:sp>
        <p:nvSpPr>
          <p:cNvPr id="12" name="Rectangle 11">
            <a:extLst>
              <a:ext uri="{FF2B5EF4-FFF2-40B4-BE49-F238E27FC236}">
                <a16:creationId xmlns:a16="http://schemas.microsoft.com/office/drawing/2014/main" id="{48287ED1-1989-987F-31C6-D73AD30549FD}"/>
              </a:ext>
            </a:extLst>
          </p:cNvPr>
          <p:cNvSpPr/>
          <p:nvPr/>
        </p:nvSpPr>
        <p:spPr>
          <a:xfrm>
            <a:off x="2523776" y="2220000"/>
            <a:ext cx="1270000" cy="1872500"/>
          </a:xfrm>
          <a:prstGeom prst="rect">
            <a:avLst/>
          </a:prstGeom>
          <a:solidFill>
            <a:srgbClr val="D5EBE8"/>
          </a:solidFill>
          <a:ln>
            <a:noFill/>
          </a:ln>
          <a:effectLst/>
        </p:spPr>
        <p:style>
          <a:lnRef idx="1">
            <a:schemeClr val="accent1"/>
          </a:lnRef>
          <a:fillRef idx="3">
            <a:schemeClr val="accent1"/>
          </a:fillRef>
          <a:effectRef idx="2">
            <a:schemeClr val="accent1"/>
          </a:effectRef>
          <a:fontRef idx="minor">
            <a:schemeClr val="lt1"/>
          </a:fontRef>
        </p:style>
        <p:txBody>
          <a:bodyPr wrap="square" lIns="40000" tIns="20000" rIns="40000" bIns="20000" rtlCol="0" anchor="ctr"/>
          <a:lstStyle/>
          <a:p>
            <a:pPr algn="ctr"/>
            <a:r>
              <a:rPr sz="1300" b="1">
                <a:solidFill>
                  <a:srgbClr val="13807B"/>
                </a:solidFill>
                <a:latin typeface="Calibri"/>
              </a:rPr>
              <a:t>Subir de forma acotada</a:t>
            </a:r>
          </a:p>
        </p:txBody>
      </p:sp>
      <p:sp>
        <p:nvSpPr>
          <p:cNvPr id="13" name="Rectangle 12">
            <a:extLst>
              <a:ext uri="{FF2B5EF4-FFF2-40B4-BE49-F238E27FC236}">
                <a16:creationId xmlns:a16="http://schemas.microsoft.com/office/drawing/2014/main" id="{8A27A76E-1548-237A-190E-CF109F361CA9}"/>
              </a:ext>
            </a:extLst>
          </p:cNvPr>
          <p:cNvSpPr/>
          <p:nvPr/>
        </p:nvSpPr>
        <p:spPr>
          <a:xfrm>
            <a:off x="493776" y="4908750"/>
            <a:ext cx="620000" cy="400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wrap="square" lIns="20000" tIns="10000" rIns="20000" bIns="10000" rtlCol="0" anchor="ctr"/>
          <a:lstStyle/>
          <a:p>
            <a:pPr algn="ctr"/>
            <a:r>
              <a:rPr sz="1100" b="1">
                <a:solidFill>
                  <a:srgbClr val="FFFFFF"/>
                </a:solidFill>
                <a:latin typeface="Calibri"/>
              </a:rPr>
              <a:t>Alta</a:t>
            </a:r>
          </a:p>
        </p:txBody>
      </p:sp>
      <p:sp>
        <p:nvSpPr>
          <p:cNvPr id="14" name="Rectangle 13">
            <a:extLst>
              <a:ext uri="{FF2B5EF4-FFF2-40B4-BE49-F238E27FC236}">
                <a16:creationId xmlns:a16="http://schemas.microsoft.com/office/drawing/2014/main" id="{003900FC-D17B-9B5D-793B-E9E9764CEB54}"/>
              </a:ext>
            </a:extLst>
          </p:cNvPr>
          <p:cNvSpPr/>
          <p:nvPr/>
        </p:nvSpPr>
        <p:spPr>
          <a:xfrm>
            <a:off x="1193776" y="4172500"/>
            <a:ext cx="1270000" cy="1872500"/>
          </a:xfrm>
          <a:prstGeom prst="rect">
            <a:avLst/>
          </a:prstGeom>
          <a:solidFill>
            <a:srgbClr val="E5173F"/>
          </a:solidFill>
          <a:ln>
            <a:noFill/>
          </a:ln>
          <a:effectLst/>
        </p:spPr>
        <p:style>
          <a:lnRef idx="1">
            <a:schemeClr val="accent1"/>
          </a:lnRef>
          <a:fillRef idx="3">
            <a:schemeClr val="accent1"/>
          </a:fillRef>
          <a:effectRef idx="2">
            <a:schemeClr val="accent1"/>
          </a:effectRef>
          <a:fontRef idx="minor">
            <a:schemeClr val="lt1"/>
          </a:fontRef>
        </p:style>
        <p:txBody>
          <a:bodyPr wrap="square" lIns="40000" tIns="20000" rIns="40000" bIns="20000" rtlCol="0" anchor="ctr"/>
          <a:lstStyle/>
          <a:p>
            <a:pPr algn="ctr"/>
            <a:r>
              <a:rPr sz="1400" b="1">
                <a:solidFill>
                  <a:srgbClr val="FFFFFF"/>
                </a:solidFill>
                <a:latin typeface="Calibri"/>
              </a:rPr>
              <a:t>Bajar</a:t>
            </a:r>
          </a:p>
        </p:txBody>
      </p:sp>
      <p:sp>
        <p:nvSpPr>
          <p:cNvPr id="15" name="Rectangle 14">
            <a:extLst>
              <a:ext uri="{FF2B5EF4-FFF2-40B4-BE49-F238E27FC236}">
                <a16:creationId xmlns:a16="http://schemas.microsoft.com/office/drawing/2014/main" id="{5CB843B6-B5EB-9BD5-E368-2A791D97A5D3}"/>
              </a:ext>
            </a:extLst>
          </p:cNvPr>
          <p:cNvSpPr/>
          <p:nvPr/>
        </p:nvSpPr>
        <p:spPr>
          <a:xfrm>
            <a:off x="2523776" y="4172500"/>
            <a:ext cx="1270000" cy="1872500"/>
          </a:xfrm>
          <a:prstGeom prst="rect">
            <a:avLst/>
          </a:prstGeom>
          <a:solidFill>
            <a:srgbClr val="ECEFEF"/>
          </a:solidFill>
          <a:ln>
            <a:noFill/>
          </a:ln>
          <a:effectLst/>
        </p:spPr>
        <p:style>
          <a:lnRef idx="1">
            <a:schemeClr val="accent1"/>
          </a:lnRef>
          <a:fillRef idx="3">
            <a:schemeClr val="accent1"/>
          </a:fillRef>
          <a:effectRef idx="2">
            <a:schemeClr val="accent1"/>
          </a:effectRef>
          <a:fontRef idx="minor">
            <a:schemeClr val="lt1"/>
          </a:fontRef>
        </p:style>
        <p:txBody>
          <a:bodyPr wrap="square" lIns="40000" tIns="20000" rIns="40000" bIns="20000" rtlCol="0" anchor="ctr"/>
          <a:lstStyle/>
          <a:p>
            <a:pPr algn="ctr"/>
            <a:r>
              <a:rPr sz="1400" b="1">
                <a:solidFill>
                  <a:srgbClr val="2F3B3A"/>
                </a:solidFill>
                <a:latin typeface="Calibri"/>
              </a:rPr>
              <a:t>Mantener</a:t>
            </a:r>
          </a:p>
        </p:txBody>
      </p:sp>
      <p:graphicFrame>
        <p:nvGraphicFramePr>
          <p:cNvPr id="18" name="Table 17">
            <a:extLst>
              <a:ext uri="{FF2B5EF4-FFF2-40B4-BE49-F238E27FC236}">
                <a16:creationId xmlns:a16="http://schemas.microsoft.com/office/drawing/2014/main" id="{73CAC23A-6DD2-B749-A072-6CD36439B2DF}"/>
              </a:ext>
            </a:extLst>
          </p:cNvPr>
          <p:cNvGraphicFramePr>
            <a:graphicFrameLocks noGrp="1"/>
          </p:cNvGraphicFramePr>
          <p:nvPr/>
        </p:nvGraphicFramePr>
        <p:xfrm>
          <a:off x="4043776" y="1200000"/>
          <a:ext cx="7651400" cy="4845000"/>
        </p:xfrm>
        <a:graphic>
          <a:graphicData uri="http://schemas.openxmlformats.org/drawingml/2006/table">
            <a:tbl>
              <a:tblPr>
                <a:tableStyleId>{5C22544A-7EE6-4342-B048-85BDC9FD1C3A}</a:tableStyleId>
              </a:tblPr>
              <a:tblGrid>
                <a:gridCol w="800000">
                  <a:extLst>
                    <a:ext uri="{9D8B030D-6E8A-4147-A177-3AD203B41FA5}">
                      <a16:colId xmlns:a16="http://schemas.microsoft.com/office/drawing/2014/main" val="20000"/>
                    </a:ext>
                  </a:extLst>
                </a:gridCol>
                <a:gridCol w="900000">
                  <a:extLst>
                    <a:ext uri="{9D8B030D-6E8A-4147-A177-3AD203B41FA5}">
                      <a16:colId xmlns:a16="http://schemas.microsoft.com/office/drawing/2014/main" val="20001"/>
                    </a:ext>
                  </a:extLst>
                </a:gridCol>
                <a:gridCol w="950000">
                  <a:extLst>
                    <a:ext uri="{9D8B030D-6E8A-4147-A177-3AD203B41FA5}">
                      <a16:colId xmlns:a16="http://schemas.microsoft.com/office/drawing/2014/main" val="20002"/>
                    </a:ext>
                  </a:extLst>
                </a:gridCol>
                <a:gridCol w="950000">
                  <a:extLst>
                    <a:ext uri="{9D8B030D-6E8A-4147-A177-3AD203B41FA5}">
                      <a16:colId xmlns:a16="http://schemas.microsoft.com/office/drawing/2014/main" val="20003"/>
                    </a:ext>
                  </a:extLst>
                </a:gridCol>
                <a:gridCol w="2351400">
                  <a:extLst>
                    <a:ext uri="{9D8B030D-6E8A-4147-A177-3AD203B41FA5}">
                      <a16:colId xmlns:a16="http://schemas.microsoft.com/office/drawing/2014/main" val="20004"/>
                    </a:ext>
                  </a:extLst>
                </a:gridCol>
                <a:gridCol w="900000">
                  <a:extLst>
                    <a:ext uri="{9D8B030D-6E8A-4147-A177-3AD203B41FA5}">
                      <a16:colId xmlns:a16="http://schemas.microsoft.com/office/drawing/2014/main" val="20005"/>
                    </a:ext>
                  </a:extLst>
                </a:gridCol>
                <a:gridCol w="800000">
                  <a:extLst>
                    <a:ext uri="{9D8B030D-6E8A-4147-A177-3AD203B41FA5}">
                      <a16:colId xmlns:a16="http://schemas.microsoft.com/office/drawing/2014/main" val="20006"/>
                    </a:ext>
                  </a:extLst>
                </a:gridCol>
              </a:tblGrid>
              <a:tr h="255000">
                <a:tc>
                  <a:txBody>
                    <a:bodyPr/>
                    <a:lstStyle/>
                    <a:p>
                      <a:pPr algn="l"/>
                      <a:r>
                        <a:rPr sz="750" b="1">
                          <a:solidFill>
                            <a:srgbClr val="FFFFFF"/>
                          </a:solidFill>
                          <a:latin typeface="Calibri"/>
                        </a:rPr>
                        <a:t>Segmento</a:t>
                      </a:r>
                    </a:p>
                  </a:txBody>
                  <a:tcPr marL="45000" marR="45000" marT="12000" marB="12000" anchor="ctr">
                    <a:solidFill>
                      <a:srgbClr val="1F3A5F"/>
                    </a:solidFill>
                  </a:tcPr>
                </a:tc>
                <a:tc>
                  <a:txBody>
                    <a:bodyPr/>
                    <a:lstStyle/>
                    <a:p>
                      <a:pPr algn="l"/>
                      <a:r>
                        <a:rPr sz="750" b="1">
                          <a:solidFill>
                            <a:srgbClr val="FFFFFF"/>
                          </a:solidFill>
                          <a:latin typeface="Calibri"/>
                        </a:rPr>
                        <a:t>Apertura</a:t>
                      </a:r>
                    </a:p>
                  </a:txBody>
                  <a:tcPr marL="45000" marR="45000" marT="12000" marB="12000" anchor="ctr">
                    <a:solidFill>
                      <a:srgbClr val="1F3A5F"/>
                    </a:solidFill>
                  </a:tcPr>
                </a:tc>
                <a:tc>
                  <a:txBody>
                    <a:bodyPr/>
                    <a:lstStyle/>
                    <a:p>
                      <a:pPr algn="ctr"/>
                      <a:r>
                        <a:rPr sz="750" b="1">
                          <a:solidFill>
                            <a:srgbClr val="FFFFFF"/>
                          </a:solidFill>
                          <a:latin typeface="Calibri"/>
                        </a:rPr>
                        <a:t>Sensibilidad</a:t>
                      </a:r>
                    </a:p>
                  </a:txBody>
                  <a:tcPr marL="45000" marR="45000" marT="12000" marB="12000" anchor="ctr">
                    <a:solidFill>
                      <a:srgbClr val="1F3A5F"/>
                    </a:solidFill>
                  </a:tcPr>
                </a:tc>
                <a:tc>
                  <a:txBody>
                    <a:bodyPr/>
                    <a:lstStyle/>
                    <a:p>
                      <a:pPr algn="ctr"/>
                      <a:r>
                        <a:rPr sz="750" b="1">
                          <a:solidFill>
                            <a:srgbClr val="FFFFFF"/>
                          </a:solidFill>
                          <a:latin typeface="Calibri"/>
                        </a:rPr>
                        <a:t>Competencia</a:t>
                      </a:r>
                    </a:p>
                  </a:txBody>
                  <a:tcPr marL="45000" marR="45000" marT="12000" marB="12000" anchor="ctr">
                    <a:solidFill>
                      <a:srgbClr val="1F3A5F"/>
                    </a:solidFill>
                  </a:tcPr>
                </a:tc>
                <a:tc>
                  <a:txBody>
                    <a:bodyPr/>
                    <a:lstStyle/>
                    <a:p>
                      <a:pPr algn="l"/>
                      <a:r>
                        <a:rPr sz="750" b="1">
                          <a:solidFill>
                            <a:srgbClr val="FFFFFF"/>
                          </a:solidFill>
                          <a:latin typeface="Calibri"/>
                        </a:rPr>
                        <a:t>Piloto propuesto</a:t>
                      </a:r>
                    </a:p>
                  </a:txBody>
                  <a:tcPr marL="45000" marR="45000" marT="12000" marB="12000" anchor="ctr">
                    <a:solidFill>
                      <a:srgbClr val="1F3A5F"/>
                    </a:solidFill>
                  </a:tcPr>
                </a:tc>
                <a:tc>
                  <a:txBody>
                    <a:bodyPr/>
                    <a:lstStyle/>
                    <a:p>
                      <a:pPr algn="ctr"/>
                      <a:r>
                        <a:rPr sz="750" b="1">
                          <a:solidFill>
                            <a:srgbClr val="FFFFFF"/>
                          </a:solidFill>
                          <a:latin typeface="Calibri"/>
                        </a:rPr>
                        <a:t>Ajuste a probar</a:t>
                      </a:r>
                    </a:p>
                  </a:txBody>
                  <a:tcPr marL="45000" marR="45000" marT="12000" marB="12000" anchor="ctr">
                    <a:solidFill>
                      <a:srgbClr val="1F3A5F"/>
                    </a:solidFill>
                  </a:tcPr>
                </a:tc>
                <a:tc>
                  <a:txBody>
                    <a:bodyPr/>
                    <a:lstStyle/>
                    <a:p>
                      <a:pPr algn="ctr"/>
                      <a:r>
                        <a:rPr sz="750" b="1">
                          <a:solidFill>
                            <a:srgbClr val="FFFFFF"/>
                          </a:solidFill>
                          <a:latin typeface="Calibri"/>
                        </a:rPr>
                        <a:t>Efecto en efectividad</a:t>
                      </a:r>
                    </a:p>
                  </a:txBody>
                  <a:tcPr marL="45000" marR="45000" marT="12000" marB="12000" anchor="ctr">
                    <a:solidFill>
                      <a:srgbClr val="1F3A5F"/>
                    </a:solidFill>
                  </a:tcPr>
                </a:tc>
                <a:extLst>
                  <a:ext uri="{0D108BD9-81ED-4DB2-BD59-A6C34878D82A}">
                    <a16:rowId xmlns:a16="http://schemas.microsoft.com/office/drawing/2014/main" val="10000"/>
                  </a:ext>
                </a:extLst>
              </a:tr>
              <a:tr h="255000">
                <a:tc>
                  <a:txBody>
                    <a:bodyPr/>
                    <a:lstStyle/>
                    <a:p>
                      <a:pPr algn="l"/>
                      <a:r>
                        <a:rPr sz="750" b="1">
                          <a:solidFill>
                            <a:srgbClr val="13807B"/>
                          </a:solidFill>
                          <a:latin typeface="Calibri"/>
                        </a:rPr>
                        <a:t>Ancla</a:t>
                      </a:r>
                    </a:p>
                  </a:txBody>
                  <a:tcPr marL="45000" marR="45000" marT="12000" marB="12000" anchor="ctr">
                    <a:solidFill>
                      <a:srgbClr val="FFFFFF"/>
                    </a:solidFill>
                  </a:tcPr>
                </a:tc>
                <a:tc>
                  <a:txBody>
                    <a:bodyPr/>
                    <a:lstStyle/>
                    <a:p>
                      <a:pPr algn="l"/>
                      <a:r>
                        <a:rPr sz="750" b="0">
                          <a:solidFill>
                            <a:srgbClr val="2F3B3A"/>
                          </a:solidFill>
                          <a:latin typeface="Calibri"/>
                        </a:rPr>
                        <a:t>≤ 170K</a:t>
                      </a:r>
                    </a:p>
                  </a:txBody>
                  <a:tcPr marL="45000" marR="45000" marT="12000" marB="12000" anchor="ctr">
                    <a:solidFill>
                      <a:srgbClr val="FFFFFF"/>
                    </a:solidFill>
                  </a:tcPr>
                </a:tc>
                <a:tc>
                  <a:txBody>
                    <a:bodyPr/>
                    <a:lstStyle/>
                    <a:p>
                      <a:pPr algn="ctr"/>
                      <a:r>
                        <a:rPr sz="750" b="1">
                          <a:solidFill>
                            <a:srgbClr val="6E7E7D"/>
                          </a:solidFill>
                          <a:latin typeface="Calibri"/>
                        </a:rPr>
                        <a:t>No significativa</a:t>
                      </a:r>
                    </a:p>
                  </a:txBody>
                  <a:tcPr marL="45000" marR="45000" marT="12000" marB="12000" anchor="ctr">
                    <a:solidFill>
                      <a:srgbClr val="F2F4F4"/>
                    </a:solidFill>
                  </a:tcPr>
                </a:tc>
                <a:tc>
                  <a:txBody>
                    <a:bodyPr/>
                    <a:lstStyle/>
                    <a:p>
                      <a:pPr algn="ctr"/>
                      <a:r>
                        <a:rPr sz="750" b="0">
                          <a:solidFill>
                            <a:srgbClr val="6E7E7D"/>
                          </a:solidFill>
                          <a:latin typeface="Calibri"/>
                        </a:rPr>
                        <a:t>Sin materialidad</a:t>
                      </a:r>
                    </a:p>
                  </a:txBody>
                  <a:tcPr marL="45000" marR="45000" marT="12000" marB="12000" anchor="ctr">
                    <a:solidFill>
                      <a:srgbClr val="F2F4F4"/>
                    </a:solidFill>
                  </a:tcPr>
                </a:tc>
                <a:tc>
                  <a:txBody>
                    <a:bodyPr/>
                    <a:lstStyle/>
                    <a:p>
                      <a:pPr algn="l"/>
                      <a:r>
                        <a:rPr sz="750" b="1">
                          <a:solidFill>
                            <a:srgbClr val="13807B"/>
                          </a:solidFill>
                          <a:latin typeface="Calibri"/>
                        </a:rPr>
                        <a:t>Siembra de precios: subir</a:t>
                      </a:r>
                    </a:p>
                  </a:txBody>
                  <a:tcPr marL="45000" marR="45000" marT="12000" marB="12000" anchor="ctr">
                    <a:solidFill>
                      <a:srgbClr val="D5EBE8"/>
                    </a:solidFill>
                  </a:tcPr>
                </a:tc>
                <a:tc>
                  <a:txBody>
                    <a:bodyPr/>
                    <a:lstStyle/>
                    <a:p>
                      <a:pPr algn="ctr"/>
                      <a:r>
                        <a:rPr sz="750" b="1">
                          <a:solidFill>
                            <a:srgbClr val="13807B"/>
                          </a:solidFill>
                          <a:latin typeface="Calibri"/>
                        </a:rPr>
                        <a:t>+50 a +100 pbs</a:t>
                      </a:r>
                    </a:p>
                  </a:txBody>
                  <a:tcPr marL="45000" marR="45000" marT="12000" marB="12000" anchor="ctr">
                    <a:solidFill>
                      <a:srgbClr val="FFFFFF"/>
                    </a:solidFill>
                  </a:tcPr>
                </a:tc>
                <a:tc>
                  <a:txBody>
                    <a:bodyPr/>
                    <a:lstStyle/>
                    <a:p>
                      <a:pPr algn="ctr"/>
                      <a:r>
                        <a:rPr sz="750" b="0">
                          <a:solidFill>
                            <a:srgbClr val="6E7E7D"/>
                          </a:solidFill>
                          <a:latin typeface="Calibri"/>
                        </a:rPr>
                        <a:t>Por medir</a:t>
                      </a:r>
                    </a:p>
                  </a:txBody>
                  <a:tcPr marL="45000" marR="45000" marT="12000" marB="12000" anchor="ctr">
                    <a:solidFill>
                      <a:srgbClr val="FFFFFF"/>
                    </a:solidFill>
                  </a:tcPr>
                </a:tc>
                <a:extLst>
                  <a:ext uri="{0D108BD9-81ED-4DB2-BD59-A6C34878D82A}">
                    <a16:rowId xmlns:a16="http://schemas.microsoft.com/office/drawing/2014/main" val="10001"/>
                  </a:ext>
                </a:extLst>
              </a:tr>
              <a:tr h="255000">
                <a:tc>
                  <a:txBody>
                    <a:bodyPr/>
                    <a:lstStyle/>
                    <a:p>
                      <a:pPr algn="l"/>
                      <a:r>
                        <a:rPr sz="750" b="1">
                          <a:solidFill>
                            <a:srgbClr val="13807B"/>
                          </a:solidFill>
                          <a:latin typeface="Calibri"/>
                        </a:rPr>
                        <a:t>Ancla</a:t>
                      </a:r>
                    </a:p>
                  </a:txBody>
                  <a:tcPr marL="45000" marR="45000" marT="12000" marB="12000" anchor="ctr">
                    <a:solidFill>
                      <a:srgbClr val="F7F9F9"/>
                    </a:solidFill>
                  </a:tcPr>
                </a:tc>
                <a:tc>
                  <a:txBody>
                    <a:bodyPr/>
                    <a:lstStyle/>
                    <a:p>
                      <a:pPr algn="l"/>
                      <a:r>
                        <a:rPr sz="750" b="0">
                          <a:solidFill>
                            <a:srgbClr val="2F3B3A"/>
                          </a:solidFill>
                          <a:latin typeface="Calibri"/>
                        </a:rPr>
                        <a:t>&gt; 350K</a:t>
                      </a:r>
                    </a:p>
                  </a:txBody>
                  <a:tcPr marL="45000" marR="45000" marT="12000" marB="12000" anchor="ctr">
                    <a:solidFill>
                      <a:srgbClr val="F7F9F9"/>
                    </a:solidFill>
                  </a:tcPr>
                </a:tc>
                <a:tc>
                  <a:txBody>
                    <a:bodyPr/>
                    <a:lstStyle/>
                    <a:p>
                      <a:pPr algn="ctr"/>
                      <a:r>
                        <a:rPr sz="750" b="1">
                          <a:solidFill>
                            <a:srgbClr val="6E7E7D"/>
                          </a:solidFill>
                          <a:latin typeface="Calibri"/>
                        </a:rPr>
                        <a:t>No significativa</a:t>
                      </a:r>
                    </a:p>
                  </a:txBody>
                  <a:tcPr marL="45000" marR="45000" marT="12000" marB="12000" anchor="ctr">
                    <a:solidFill>
                      <a:srgbClr val="F2F4F4"/>
                    </a:solidFill>
                  </a:tcPr>
                </a:tc>
                <a:tc>
                  <a:txBody>
                    <a:bodyPr/>
                    <a:lstStyle/>
                    <a:p>
                      <a:pPr algn="ctr"/>
                      <a:r>
                        <a:rPr sz="750" b="1">
                          <a:solidFill>
                            <a:srgbClr val="E5173F"/>
                          </a:solidFill>
                          <a:latin typeface="Calibri"/>
                        </a:rPr>
                        <a:t>Por debajo</a:t>
                      </a:r>
                    </a:p>
                  </a:txBody>
                  <a:tcPr marL="45000" marR="45000" marT="12000" marB="12000" anchor="ctr">
                    <a:solidFill>
                      <a:srgbClr val="FADBD8"/>
                    </a:solidFill>
                  </a:tcPr>
                </a:tc>
                <a:tc>
                  <a:txBody>
                    <a:bodyPr/>
                    <a:lstStyle/>
                    <a:p>
                      <a:pPr algn="l"/>
                      <a:r>
                        <a:rPr sz="750" b="1">
                          <a:solidFill>
                            <a:srgbClr val="E5173F"/>
                          </a:solidFill>
                          <a:latin typeface="Calibri"/>
                        </a:rPr>
                        <a:t>Siembra de precios: bajar</a:t>
                      </a:r>
                    </a:p>
                  </a:txBody>
                  <a:tcPr marL="45000" marR="45000" marT="12000" marB="12000" anchor="ctr">
                    <a:solidFill>
                      <a:srgbClr val="FADBD8"/>
                    </a:solidFill>
                  </a:tcPr>
                </a:tc>
                <a:tc>
                  <a:txBody>
                    <a:bodyPr/>
                    <a:lstStyle/>
                    <a:p>
                      <a:pPr algn="ctr"/>
                      <a:r>
                        <a:rPr sz="750" b="1">
                          <a:solidFill>
                            <a:srgbClr val="E5173F"/>
                          </a:solidFill>
                          <a:latin typeface="Calibri"/>
                        </a:rPr>
                        <a:t>−50 a −100 pbs</a:t>
                      </a:r>
                    </a:p>
                  </a:txBody>
                  <a:tcPr marL="45000" marR="45000" marT="12000" marB="12000" anchor="ctr">
                    <a:solidFill>
                      <a:srgbClr val="F7F9F9"/>
                    </a:solidFill>
                  </a:tcPr>
                </a:tc>
                <a:tc>
                  <a:txBody>
                    <a:bodyPr/>
                    <a:lstStyle/>
                    <a:p>
                      <a:pPr algn="ctr"/>
                      <a:r>
                        <a:rPr sz="750" b="0">
                          <a:solidFill>
                            <a:srgbClr val="6E7E7D"/>
                          </a:solidFill>
                          <a:latin typeface="Calibri"/>
                        </a:rPr>
                        <a:t>Por medir</a:t>
                      </a:r>
                    </a:p>
                  </a:txBody>
                  <a:tcPr marL="45000" marR="45000" marT="12000" marB="12000" anchor="ctr">
                    <a:solidFill>
                      <a:srgbClr val="F7F9F9"/>
                    </a:solidFill>
                  </a:tcPr>
                </a:tc>
                <a:extLst>
                  <a:ext uri="{0D108BD9-81ED-4DB2-BD59-A6C34878D82A}">
                    <a16:rowId xmlns:a16="http://schemas.microsoft.com/office/drawing/2014/main" val="10002"/>
                  </a:ext>
                </a:extLst>
              </a:tr>
              <a:tr h="255000">
                <a:tc>
                  <a:txBody>
                    <a:bodyPr/>
                    <a:lstStyle/>
                    <a:p>
                      <a:pPr algn="l"/>
                      <a:r>
                        <a:rPr sz="750" b="1">
                          <a:solidFill>
                            <a:srgbClr val="C2410C"/>
                          </a:solidFill>
                          <a:latin typeface="Calibri"/>
                        </a:rPr>
                        <a:t>Estratégica</a:t>
                      </a:r>
                    </a:p>
                  </a:txBody>
                  <a:tcPr marL="45000" marR="45000" marT="12000" marB="12000" anchor="ctr">
                    <a:solidFill>
                      <a:srgbClr val="FFFFFF"/>
                    </a:solidFill>
                  </a:tcPr>
                </a:tc>
                <a:tc>
                  <a:txBody>
                    <a:bodyPr/>
                    <a:lstStyle/>
                    <a:p>
                      <a:pPr algn="l"/>
                      <a:r>
                        <a:rPr sz="750" b="0">
                          <a:solidFill>
                            <a:srgbClr val="2F3B3A"/>
                          </a:solidFill>
                          <a:latin typeface="Calibri"/>
                        </a:rPr>
                        <a:t>≤ 170K</a:t>
                      </a:r>
                    </a:p>
                  </a:txBody>
                  <a:tcPr marL="45000" marR="45000" marT="12000" marB="12000" anchor="ctr">
                    <a:solidFill>
                      <a:srgbClr val="FFFFFF"/>
                    </a:solidFill>
                  </a:tcPr>
                </a:tc>
                <a:tc>
                  <a:txBody>
                    <a:bodyPr/>
                    <a:lstStyle/>
                    <a:p>
                      <a:pPr algn="ctr"/>
                      <a:r>
                        <a:rPr sz="750" b="1">
                          <a:solidFill>
                            <a:srgbClr val="FFFFFF"/>
                          </a:solidFill>
                          <a:latin typeface="Calibri"/>
                        </a:rPr>
                        <a:t>Media</a:t>
                      </a:r>
                    </a:p>
                  </a:txBody>
                  <a:tcPr marL="45000" marR="45000" marT="12000" marB="12000" anchor="ctr">
                    <a:solidFill>
                      <a:srgbClr val="9FB0C7"/>
                    </a:solidFill>
                  </a:tcPr>
                </a:tc>
                <a:tc>
                  <a:txBody>
                    <a:bodyPr/>
                    <a:lstStyle/>
                    <a:p>
                      <a:pPr algn="ctr"/>
                      <a:r>
                        <a:rPr sz="750" b="0">
                          <a:solidFill>
                            <a:srgbClr val="6E7E7D"/>
                          </a:solidFill>
                          <a:latin typeface="Calibri"/>
                        </a:rPr>
                        <a:t>Sin materialidad</a:t>
                      </a:r>
                    </a:p>
                  </a:txBody>
                  <a:tcPr marL="45000" marR="45000" marT="12000" marB="12000" anchor="ctr">
                    <a:solidFill>
                      <a:srgbClr val="F2F4F4"/>
                    </a:solidFill>
                  </a:tcPr>
                </a:tc>
                <a:tc>
                  <a:txBody>
                    <a:bodyPr/>
                    <a:lstStyle/>
                    <a:p>
                      <a:pPr algn="l"/>
                      <a:r>
                        <a:rPr sz="750" b="1" dirty="0">
                          <a:solidFill>
                            <a:srgbClr val="13807B"/>
                          </a:solidFill>
                          <a:latin typeface="Calibri"/>
                        </a:rPr>
                        <a:t>Subir de forma </a:t>
                      </a:r>
                      <a:r>
                        <a:rPr sz="750" b="1" dirty="0" err="1">
                          <a:solidFill>
                            <a:srgbClr val="13807B"/>
                          </a:solidFill>
                          <a:latin typeface="Calibri"/>
                        </a:rPr>
                        <a:t>acotada</a:t>
                      </a:r>
                      <a:endParaRPr sz="750" b="1" dirty="0">
                        <a:solidFill>
                          <a:srgbClr val="13807B"/>
                        </a:solidFill>
                        <a:latin typeface="Calibri"/>
                      </a:endParaRPr>
                    </a:p>
                  </a:txBody>
                  <a:tcPr marL="45000" marR="45000" marT="12000" marB="12000" anchor="ctr">
                    <a:solidFill>
                      <a:srgbClr val="D5EBE8"/>
                    </a:solidFill>
                  </a:tcPr>
                </a:tc>
                <a:tc>
                  <a:txBody>
                    <a:bodyPr/>
                    <a:lstStyle/>
                    <a:p>
                      <a:pPr algn="ctr"/>
                      <a:r>
                        <a:rPr sz="750" b="1">
                          <a:solidFill>
                            <a:srgbClr val="13807B"/>
                          </a:solidFill>
                          <a:latin typeface="Calibri"/>
                        </a:rPr>
                        <a:t>+25 pbs</a:t>
                      </a:r>
                    </a:p>
                  </a:txBody>
                  <a:tcPr marL="45000" marR="45000" marT="12000" marB="12000" anchor="ctr">
                    <a:solidFill>
                      <a:srgbClr val="FFFFFF"/>
                    </a:solidFill>
                  </a:tcPr>
                </a:tc>
                <a:tc>
                  <a:txBody>
                    <a:bodyPr/>
                    <a:lstStyle/>
                    <a:p>
                      <a:pPr algn="ctr"/>
                      <a:r>
                        <a:rPr sz="750" b="0">
                          <a:solidFill>
                            <a:srgbClr val="2F3B3A"/>
                          </a:solidFill>
                          <a:latin typeface="Calibri"/>
                        </a:rPr>
                        <a:t>−4%</a:t>
                      </a:r>
                    </a:p>
                  </a:txBody>
                  <a:tcPr marL="45000" marR="45000" marT="12000" marB="12000" anchor="ctr">
                    <a:solidFill>
                      <a:srgbClr val="FFFFFF"/>
                    </a:solidFill>
                  </a:tcPr>
                </a:tc>
                <a:extLst>
                  <a:ext uri="{0D108BD9-81ED-4DB2-BD59-A6C34878D82A}">
                    <a16:rowId xmlns:a16="http://schemas.microsoft.com/office/drawing/2014/main" val="10003"/>
                  </a:ext>
                </a:extLst>
              </a:tr>
              <a:tr h="255000">
                <a:tc>
                  <a:txBody>
                    <a:bodyPr/>
                    <a:lstStyle/>
                    <a:p>
                      <a:pPr algn="l"/>
                      <a:r>
                        <a:rPr sz="750" b="1">
                          <a:solidFill>
                            <a:srgbClr val="C2410C"/>
                          </a:solidFill>
                          <a:latin typeface="Calibri"/>
                        </a:rPr>
                        <a:t>Estratégica</a:t>
                      </a:r>
                    </a:p>
                  </a:txBody>
                  <a:tcPr marL="45000" marR="45000" marT="12000" marB="12000" anchor="ctr">
                    <a:solidFill>
                      <a:srgbClr val="F7F9F9"/>
                    </a:solidFill>
                  </a:tcPr>
                </a:tc>
                <a:tc>
                  <a:txBody>
                    <a:bodyPr/>
                    <a:lstStyle/>
                    <a:p>
                      <a:pPr algn="l"/>
                      <a:r>
                        <a:rPr sz="750" b="0">
                          <a:solidFill>
                            <a:srgbClr val="2F3B3A"/>
                          </a:solidFill>
                          <a:latin typeface="Calibri"/>
                        </a:rPr>
                        <a:t>&gt; 350K</a:t>
                      </a:r>
                    </a:p>
                  </a:txBody>
                  <a:tcPr marL="45000" marR="45000" marT="12000" marB="12000" anchor="ctr">
                    <a:solidFill>
                      <a:srgbClr val="F7F9F9"/>
                    </a:solidFill>
                  </a:tcPr>
                </a:tc>
                <a:tc>
                  <a:txBody>
                    <a:bodyPr/>
                    <a:lstStyle/>
                    <a:p>
                      <a:pPr algn="ctr"/>
                      <a:r>
                        <a:rPr sz="750" b="1">
                          <a:solidFill>
                            <a:srgbClr val="FFFFFF"/>
                          </a:solidFill>
                          <a:latin typeface="Calibri"/>
                        </a:rPr>
                        <a:t>Media</a:t>
                      </a:r>
                    </a:p>
                  </a:txBody>
                  <a:tcPr marL="45000" marR="45000" marT="12000" marB="12000" anchor="ctr">
                    <a:solidFill>
                      <a:srgbClr val="9FB0C7"/>
                    </a:solidFill>
                  </a:tcPr>
                </a:tc>
                <a:tc>
                  <a:txBody>
                    <a:bodyPr/>
                    <a:lstStyle/>
                    <a:p>
                      <a:pPr algn="ctr"/>
                      <a:r>
                        <a:rPr sz="750" b="1">
                          <a:solidFill>
                            <a:srgbClr val="E5173F"/>
                          </a:solidFill>
                          <a:latin typeface="Calibri"/>
                        </a:rPr>
                        <a:t>Por debajo</a:t>
                      </a:r>
                    </a:p>
                  </a:txBody>
                  <a:tcPr marL="45000" marR="45000" marT="12000" marB="12000" anchor="ctr">
                    <a:solidFill>
                      <a:srgbClr val="FADBD8"/>
                    </a:solidFill>
                  </a:tcPr>
                </a:tc>
                <a:tc>
                  <a:txBody>
                    <a:bodyPr/>
                    <a:lstStyle/>
                    <a:p>
                      <a:pPr algn="l"/>
                      <a:r>
                        <a:rPr sz="750" b="1">
                          <a:solidFill>
                            <a:srgbClr val="E5173F"/>
                          </a:solidFill>
                          <a:latin typeface="Calibri"/>
                        </a:rPr>
                        <a:t>Bajar de forma acotada</a:t>
                      </a:r>
                    </a:p>
                  </a:txBody>
                  <a:tcPr marL="45000" marR="45000" marT="12000" marB="12000" anchor="ctr">
                    <a:solidFill>
                      <a:srgbClr val="FADBD8"/>
                    </a:solidFill>
                  </a:tcPr>
                </a:tc>
                <a:tc>
                  <a:txBody>
                    <a:bodyPr/>
                    <a:lstStyle/>
                    <a:p>
                      <a:pPr algn="ctr"/>
                      <a:r>
                        <a:rPr sz="750" b="1">
                          <a:solidFill>
                            <a:srgbClr val="E5173F"/>
                          </a:solidFill>
                          <a:latin typeface="Calibri"/>
                        </a:rPr>
                        <a:t>−25 pbs</a:t>
                      </a:r>
                    </a:p>
                  </a:txBody>
                  <a:tcPr marL="45000" marR="45000" marT="12000" marB="12000" anchor="ctr">
                    <a:solidFill>
                      <a:srgbClr val="F7F9F9"/>
                    </a:solidFill>
                  </a:tcPr>
                </a:tc>
                <a:tc>
                  <a:txBody>
                    <a:bodyPr/>
                    <a:lstStyle/>
                    <a:p>
                      <a:pPr algn="ctr"/>
                      <a:r>
                        <a:rPr sz="750" b="0">
                          <a:solidFill>
                            <a:srgbClr val="2F3B3A"/>
                          </a:solidFill>
                          <a:latin typeface="Calibri"/>
                        </a:rPr>
                        <a:t>+4%</a:t>
                      </a:r>
                    </a:p>
                  </a:txBody>
                  <a:tcPr marL="45000" marR="45000" marT="12000" marB="12000" anchor="ctr">
                    <a:solidFill>
                      <a:srgbClr val="F7F9F9"/>
                    </a:solidFill>
                  </a:tcPr>
                </a:tc>
                <a:extLst>
                  <a:ext uri="{0D108BD9-81ED-4DB2-BD59-A6C34878D82A}">
                    <a16:rowId xmlns:a16="http://schemas.microsoft.com/office/drawing/2014/main" val="10004"/>
                  </a:ext>
                </a:extLst>
              </a:tr>
              <a:tr h="255000">
                <a:tc>
                  <a:txBody>
                    <a:bodyPr/>
                    <a:lstStyle/>
                    <a:p>
                      <a:pPr algn="l"/>
                      <a:r>
                        <a:rPr sz="750" b="1">
                          <a:solidFill>
                            <a:srgbClr val="1F3A5F"/>
                          </a:solidFill>
                          <a:latin typeface="Calibri"/>
                        </a:rPr>
                        <a:t>Maduro</a:t>
                      </a:r>
                    </a:p>
                  </a:txBody>
                  <a:tcPr marL="45000" marR="45000" marT="12000" marB="12000" anchor="ctr">
                    <a:solidFill>
                      <a:srgbClr val="F7F9F9"/>
                    </a:solidFill>
                  </a:tcPr>
                </a:tc>
                <a:tc>
                  <a:txBody>
                    <a:bodyPr/>
                    <a:lstStyle/>
                    <a:p>
                      <a:pPr algn="l"/>
                      <a:r>
                        <a:rPr sz="750" b="0">
                          <a:solidFill>
                            <a:srgbClr val="2F3B3A"/>
                          </a:solidFill>
                          <a:latin typeface="Calibri"/>
                        </a:rPr>
                        <a:t>250–350K</a:t>
                      </a:r>
                    </a:p>
                  </a:txBody>
                  <a:tcPr marL="45000" marR="45000" marT="12000" marB="12000" anchor="ctr">
                    <a:solidFill>
                      <a:srgbClr val="F7F9F9"/>
                    </a:solidFill>
                  </a:tcPr>
                </a:tc>
                <a:tc>
                  <a:txBody>
                    <a:bodyPr/>
                    <a:lstStyle/>
                    <a:p>
                      <a:pPr algn="ctr"/>
                      <a:r>
                        <a:rPr sz="750" b="1">
                          <a:solidFill>
                            <a:srgbClr val="FFFFFF"/>
                          </a:solidFill>
                          <a:latin typeface="Calibri"/>
                        </a:rPr>
                        <a:t>Alta</a:t>
                      </a:r>
                    </a:p>
                  </a:txBody>
                  <a:tcPr marL="45000" marR="45000" marT="12000" marB="12000" anchor="ctr">
                    <a:solidFill>
                      <a:srgbClr val="1F3A5F"/>
                    </a:solidFill>
                  </a:tcPr>
                </a:tc>
                <a:tc>
                  <a:txBody>
                    <a:bodyPr/>
                    <a:lstStyle/>
                    <a:p>
                      <a:pPr algn="ctr"/>
                      <a:r>
                        <a:rPr sz="750" b="1">
                          <a:solidFill>
                            <a:srgbClr val="E5173F"/>
                          </a:solidFill>
                          <a:latin typeface="Calibri"/>
                        </a:rPr>
                        <a:t>Por debajo</a:t>
                      </a:r>
                    </a:p>
                  </a:txBody>
                  <a:tcPr marL="45000" marR="45000" marT="12000" marB="12000" anchor="ctr">
                    <a:solidFill>
                      <a:srgbClr val="FADBD8"/>
                    </a:solidFill>
                  </a:tcPr>
                </a:tc>
                <a:tc>
                  <a:txBody>
                    <a:bodyPr/>
                    <a:lstStyle/>
                    <a:p>
                      <a:pPr algn="l"/>
                      <a:r>
                        <a:rPr sz="750" b="1">
                          <a:solidFill>
                            <a:srgbClr val="FFFFFF"/>
                          </a:solidFill>
                          <a:latin typeface="Calibri"/>
                        </a:rPr>
                        <a:t>Bajar</a:t>
                      </a:r>
                    </a:p>
                  </a:txBody>
                  <a:tcPr marL="45000" marR="45000" marT="12000" marB="12000" anchor="ctr">
                    <a:solidFill>
                      <a:srgbClr val="E5173F"/>
                    </a:solidFill>
                  </a:tcPr>
                </a:tc>
                <a:tc>
                  <a:txBody>
                    <a:bodyPr/>
                    <a:lstStyle/>
                    <a:p>
                      <a:pPr algn="ctr"/>
                      <a:r>
                        <a:rPr sz="750" b="1">
                          <a:solidFill>
                            <a:srgbClr val="E5173F"/>
                          </a:solidFill>
                          <a:latin typeface="Calibri"/>
                        </a:rPr>
                        <a:t>−50 pbs</a:t>
                      </a:r>
                    </a:p>
                  </a:txBody>
                  <a:tcPr marL="45000" marR="45000" marT="12000" marB="12000" anchor="ctr">
                    <a:solidFill>
                      <a:srgbClr val="F7F9F9"/>
                    </a:solidFill>
                  </a:tcPr>
                </a:tc>
                <a:tc>
                  <a:txBody>
                    <a:bodyPr/>
                    <a:lstStyle/>
                    <a:p>
                      <a:pPr algn="ctr"/>
                      <a:r>
                        <a:rPr sz="750" b="0">
                          <a:solidFill>
                            <a:srgbClr val="2F3B3A"/>
                          </a:solidFill>
                          <a:latin typeface="Calibri"/>
                        </a:rPr>
                        <a:t>+11%</a:t>
                      </a:r>
                    </a:p>
                  </a:txBody>
                  <a:tcPr marL="45000" marR="45000" marT="12000" marB="12000" anchor="ctr">
                    <a:solidFill>
                      <a:srgbClr val="F7F9F9"/>
                    </a:solidFill>
                  </a:tcPr>
                </a:tc>
                <a:extLst>
                  <a:ext uri="{0D108BD9-81ED-4DB2-BD59-A6C34878D82A}">
                    <a16:rowId xmlns:a16="http://schemas.microsoft.com/office/drawing/2014/main" val="10006"/>
                  </a:ext>
                </a:extLst>
              </a:tr>
              <a:tr h="255000">
                <a:tc>
                  <a:txBody>
                    <a:bodyPr/>
                    <a:lstStyle/>
                    <a:p>
                      <a:pPr algn="l"/>
                      <a:r>
                        <a:rPr sz="750" b="1">
                          <a:solidFill>
                            <a:srgbClr val="1F3A5F"/>
                          </a:solidFill>
                          <a:latin typeface="Calibri"/>
                        </a:rPr>
                        <a:t>Maduro</a:t>
                      </a:r>
                    </a:p>
                  </a:txBody>
                  <a:tcPr marL="45000" marR="45000" marT="12000" marB="12000" anchor="ctr">
                    <a:solidFill>
                      <a:srgbClr val="FFFFFF"/>
                    </a:solidFill>
                  </a:tcPr>
                </a:tc>
                <a:tc>
                  <a:txBody>
                    <a:bodyPr/>
                    <a:lstStyle/>
                    <a:p>
                      <a:pPr algn="l"/>
                      <a:r>
                        <a:rPr sz="750" b="0">
                          <a:solidFill>
                            <a:srgbClr val="2F3B3A"/>
                          </a:solidFill>
                          <a:latin typeface="Calibri"/>
                        </a:rPr>
                        <a:t>&gt; 350K</a:t>
                      </a:r>
                    </a:p>
                  </a:txBody>
                  <a:tcPr marL="45000" marR="45000" marT="12000" marB="12000" anchor="ctr">
                    <a:solidFill>
                      <a:srgbClr val="FFFFFF"/>
                    </a:solidFill>
                  </a:tcPr>
                </a:tc>
                <a:tc>
                  <a:txBody>
                    <a:bodyPr/>
                    <a:lstStyle/>
                    <a:p>
                      <a:pPr algn="ctr"/>
                      <a:r>
                        <a:rPr sz="750" b="1">
                          <a:solidFill>
                            <a:srgbClr val="FFFFFF"/>
                          </a:solidFill>
                          <a:latin typeface="Calibri"/>
                        </a:rPr>
                        <a:t>Alta</a:t>
                      </a:r>
                    </a:p>
                  </a:txBody>
                  <a:tcPr marL="45000" marR="45000" marT="12000" marB="12000" anchor="ctr">
                    <a:solidFill>
                      <a:srgbClr val="1F3A5F"/>
                    </a:solidFill>
                  </a:tcPr>
                </a:tc>
                <a:tc>
                  <a:txBody>
                    <a:bodyPr/>
                    <a:lstStyle/>
                    <a:p>
                      <a:pPr algn="ctr"/>
                      <a:r>
                        <a:rPr sz="750" b="1">
                          <a:solidFill>
                            <a:srgbClr val="E5173F"/>
                          </a:solidFill>
                          <a:latin typeface="Calibri"/>
                        </a:rPr>
                        <a:t>En línea</a:t>
                      </a:r>
                    </a:p>
                  </a:txBody>
                  <a:tcPr marL="45000" marR="45000" marT="12000" marB="12000" anchor="ctr">
                    <a:solidFill>
                      <a:srgbClr val="FCE9E7"/>
                    </a:solidFill>
                  </a:tcPr>
                </a:tc>
                <a:tc>
                  <a:txBody>
                    <a:bodyPr/>
                    <a:lstStyle/>
                    <a:p>
                      <a:pPr algn="l"/>
                      <a:r>
                        <a:rPr sz="750" b="1">
                          <a:solidFill>
                            <a:srgbClr val="FFFFFF"/>
                          </a:solidFill>
                          <a:latin typeface="Calibri"/>
                        </a:rPr>
                        <a:t>Bajar</a:t>
                      </a:r>
                    </a:p>
                  </a:txBody>
                  <a:tcPr marL="45000" marR="45000" marT="12000" marB="12000" anchor="ctr">
                    <a:solidFill>
                      <a:srgbClr val="E5173F"/>
                    </a:solidFill>
                  </a:tcPr>
                </a:tc>
                <a:tc>
                  <a:txBody>
                    <a:bodyPr/>
                    <a:lstStyle/>
                    <a:p>
                      <a:pPr algn="ctr"/>
                      <a:r>
                        <a:rPr sz="750" b="1">
                          <a:solidFill>
                            <a:srgbClr val="E5173F"/>
                          </a:solidFill>
                          <a:latin typeface="Calibri"/>
                        </a:rPr>
                        <a:t>−25 pbs</a:t>
                      </a:r>
                    </a:p>
                  </a:txBody>
                  <a:tcPr marL="45000" marR="45000" marT="12000" marB="12000" anchor="ctr">
                    <a:solidFill>
                      <a:srgbClr val="FFFFFF"/>
                    </a:solidFill>
                  </a:tcPr>
                </a:tc>
                <a:tc>
                  <a:txBody>
                    <a:bodyPr/>
                    <a:lstStyle/>
                    <a:p>
                      <a:pPr algn="ctr"/>
                      <a:r>
                        <a:rPr sz="750" b="0">
                          <a:solidFill>
                            <a:srgbClr val="2F3B3A"/>
                          </a:solidFill>
                          <a:latin typeface="Calibri"/>
                        </a:rPr>
                        <a:t>+6%</a:t>
                      </a:r>
                    </a:p>
                  </a:txBody>
                  <a:tcPr marL="45000" marR="45000" marT="12000" marB="12000" anchor="ctr">
                    <a:solidFill>
                      <a:srgbClr val="FFFFFF"/>
                    </a:solidFill>
                  </a:tcPr>
                </a:tc>
                <a:extLst>
                  <a:ext uri="{0D108BD9-81ED-4DB2-BD59-A6C34878D82A}">
                    <a16:rowId xmlns:a16="http://schemas.microsoft.com/office/drawing/2014/main" val="10005"/>
                  </a:ext>
                </a:extLst>
              </a:tr>
              <a:tr h="255000">
                <a:tc>
                  <a:txBody>
                    <a:bodyPr/>
                    <a:lstStyle/>
                    <a:p>
                      <a:pPr algn="l"/>
                      <a:r>
                        <a:rPr sz="750" b="1">
                          <a:solidFill>
                            <a:srgbClr val="13807B"/>
                          </a:solidFill>
                          <a:latin typeface="Calibri"/>
                        </a:rPr>
                        <a:t>Socio</a:t>
                      </a:r>
                    </a:p>
                  </a:txBody>
                  <a:tcPr marL="45000" marR="45000" marT="12000" marB="12000" anchor="ctr">
                    <a:solidFill>
                      <a:srgbClr val="F7F9F9"/>
                    </a:solidFill>
                  </a:tcPr>
                </a:tc>
                <a:tc>
                  <a:txBody>
                    <a:bodyPr/>
                    <a:lstStyle/>
                    <a:p>
                      <a:pPr algn="l"/>
                      <a:r>
                        <a:rPr sz="750" b="0">
                          <a:solidFill>
                            <a:srgbClr val="2F3B3A"/>
                          </a:solidFill>
                          <a:latin typeface="Calibri"/>
                        </a:rPr>
                        <a:t>Pasivos &lt; 1K</a:t>
                      </a:r>
                    </a:p>
                  </a:txBody>
                  <a:tcPr marL="45000" marR="45000" marT="12000" marB="12000" anchor="ctr">
                    <a:solidFill>
                      <a:srgbClr val="F7F9F9"/>
                    </a:solidFill>
                  </a:tcPr>
                </a:tc>
                <a:tc>
                  <a:txBody>
                    <a:bodyPr/>
                    <a:lstStyle/>
                    <a:p>
                      <a:pPr algn="ctr"/>
                      <a:r>
                        <a:rPr sz="750" b="1">
                          <a:solidFill>
                            <a:srgbClr val="6E7E7D"/>
                          </a:solidFill>
                          <a:latin typeface="Calibri"/>
                        </a:rPr>
                        <a:t>No significativa</a:t>
                      </a:r>
                    </a:p>
                  </a:txBody>
                  <a:tcPr marL="45000" marR="45000" marT="12000" marB="12000" anchor="ctr">
                    <a:solidFill>
                      <a:srgbClr val="F2F4F4"/>
                    </a:solidFill>
                  </a:tcPr>
                </a:tc>
                <a:tc>
                  <a:txBody>
                    <a:bodyPr/>
                    <a:lstStyle/>
                    <a:p>
                      <a:pPr algn="ctr"/>
                      <a:r>
                        <a:rPr sz="750" b="1">
                          <a:solidFill>
                            <a:srgbClr val="E5173F"/>
                          </a:solidFill>
                          <a:latin typeface="Calibri"/>
                        </a:rPr>
                        <a:t>En línea</a:t>
                      </a:r>
                    </a:p>
                  </a:txBody>
                  <a:tcPr marL="45000" marR="45000" marT="12000" marB="12000" anchor="ctr">
                    <a:solidFill>
                      <a:srgbClr val="FCE9E7"/>
                    </a:solidFill>
                  </a:tcPr>
                </a:tc>
                <a:tc>
                  <a:txBody>
                    <a:bodyPr/>
                    <a:lstStyle/>
                    <a:p>
                      <a:pPr algn="l"/>
                      <a:r>
                        <a:rPr sz="750" b="1">
                          <a:solidFill>
                            <a:srgbClr val="E5173F"/>
                          </a:solidFill>
                          <a:latin typeface="Calibri"/>
                        </a:rPr>
                        <a:t>Siembra de precios: bajar</a:t>
                      </a:r>
                    </a:p>
                  </a:txBody>
                  <a:tcPr marL="45000" marR="45000" marT="12000" marB="12000" anchor="ctr">
                    <a:solidFill>
                      <a:srgbClr val="FADBD8"/>
                    </a:solidFill>
                  </a:tcPr>
                </a:tc>
                <a:tc>
                  <a:txBody>
                    <a:bodyPr/>
                    <a:lstStyle/>
                    <a:p>
                      <a:pPr algn="ctr"/>
                      <a:r>
                        <a:rPr sz="750" b="1">
                          <a:solidFill>
                            <a:srgbClr val="E5173F"/>
                          </a:solidFill>
                          <a:latin typeface="Calibri"/>
                        </a:rPr>
                        <a:t>−50 a −100 pbs</a:t>
                      </a:r>
                    </a:p>
                  </a:txBody>
                  <a:tcPr marL="45000" marR="45000" marT="12000" marB="12000" anchor="ctr">
                    <a:solidFill>
                      <a:srgbClr val="F7F9F9"/>
                    </a:solidFill>
                  </a:tcPr>
                </a:tc>
                <a:tc>
                  <a:txBody>
                    <a:bodyPr/>
                    <a:lstStyle/>
                    <a:p>
                      <a:pPr algn="ctr"/>
                      <a:r>
                        <a:rPr sz="750" b="0">
                          <a:solidFill>
                            <a:srgbClr val="6E7E7D"/>
                          </a:solidFill>
                          <a:latin typeface="Calibri"/>
                        </a:rPr>
                        <a:t>Por medir</a:t>
                      </a:r>
                    </a:p>
                  </a:txBody>
                  <a:tcPr marL="45000" marR="45000" marT="12000" marB="12000" anchor="ctr">
                    <a:solidFill>
                      <a:srgbClr val="F7F9F9"/>
                    </a:solidFill>
                  </a:tcPr>
                </a:tc>
                <a:extLst>
                  <a:ext uri="{0D108BD9-81ED-4DB2-BD59-A6C34878D82A}">
                    <a16:rowId xmlns:a16="http://schemas.microsoft.com/office/drawing/2014/main" val="10008"/>
                  </a:ext>
                </a:extLst>
              </a:tr>
              <a:tr h="255000">
                <a:tc>
                  <a:txBody>
                    <a:bodyPr/>
                    <a:lstStyle/>
                    <a:p>
                      <a:pPr algn="l"/>
                      <a:r>
                        <a:rPr sz="750" b="1">
                          <a:solidFill>
                            <a:srgbClr val="13807B"/>
                          </a:solidFill>
                          <a:latin typeface="Calibri"/>
                        </a:rPr>
                        <a:t>Socio</a:t>
                      </a:r>
                    </a:p>
                  </a:txBody>
                  <a:tcPr marL="45000" marR="45000" marT="12000" marB="12000" anchor="ctr">
                    <a:solidFill>
                      <a:srgbClr val="FFFFFF"/>
                    </a:solidFill>
                  </a:tcPr>
                </a:tc>
                <a:tc>
                  <a:txBody>
                    <a:bodyPr/>
                    <a:lstStyle/>
                    <a:p>
                      <a:pPr algn="l"/>
                      <a:r>
                        <a:rPr sz="750" b="0">
                          <a:solidFill>
                            <a:srgbClr val="2F3B3A"/>
                          </a:solidFill>
                          <a:latin typeface="Calibri"/>
                        </a:rPr>
                        <a:t>Pasivos ≥ 5K</a:t>
                      </a:r>
                    </a:p>
                  </a:txBody>
                  <a:tcPr marL="45000" marR="45000" marT="12000" marB="12000" anchor="ctr">
                    <a:solidFill>
                      <a:srgbClr val="FFFFFF"/>
                    </a:solidFill>
                  </a:tcPr>
                </a:tc>
                <a:tc>
                  <a:txBody>
                    <a:bodyPr/>
                    <a:lstStyle/>
                    <a:p>
                      <a:pPr algn="ctr"/>
                      <a:r>
                        <a:rPr sz="750" b="1">
                          <a:solidFill>
                            <a:srgbClr val="6E7E7D"/>
                          </a:solidFill>
                          <a:latin typeface="Calibri"/>
                        </a:rPr>
                        <a:t>No significativa</a:t>
                      </a:r>
                    </a:p>
                  </a:txBody>
                  <a:tcPr marL="45000" marR="45000" marT="12000" marB="12000" anchor="ctr">
                    <a:solidFill>
                      <a:srgbClr val="F2F4F4"/>
                    </a:solidFill>
                  </a:tcPr>
                </a:tc>
                <a:tc>
                  <a:txBody>
                    <a:bodyPr/>
                    <a:lstStyle/>
                    <a:p>
                      <a:pPr algn="ctr"/>
                      <a:r>
                        <a:rPr sz="750" b="1">
                          <a:solidFill>
                            <a:srgbClr val="E5173F"/>
                          </a:solidFill>
                          <a:latin typeface="Calibri"/>
                        </a:rPr>
                        <a:t>En línea</a:t>
                      </a:r>
                    </a:p>
                  </a:txBody>
                  <a:tcPr marL="45000" marR="45000" marT="12000" marB="12000" anchor="ctr">
                    <a:solidFill>
                      <a:srgbClr val="FCE9E7"/>
                    </a:solidFill>
                  </a:tcPr>
                </a:tc>
                <a:tc>
                  <a:txBody>
                    <a:bodyPr/>
                    <a:lstStyle/>
                    <a:p>
                      <a:pPr algn="l"/>
                      <a:r>
                        <a:rPr sz="750" b="1">
                          <a:solidFill>
                            <a:srgbClr val="E5173F"/>
                          </a:solidFill>
                          <a:latin typeface="Calibri"/>
                        </a:rPr>
                        <a:t>Siembra de precios: bajar</a:t>
                      </a:r>
                    </a:p>
                  </a:txBody>
                  <a:tcPr marL="45000" marR="45000" marT="12000" marB="12000" anchor="ctr">
                    <a:solidFill>
                      <a:srgbClr val="FADBD8"/>
                    </a:solidFill>
                  </a:tcPr>
                </a:tc>
                <a:tc>
                  <a:txBody>
                    <a:bodyPr/>
                    <a:lstStyle/>
                    <a:p>
                      <a:pPr algn="ctr"/>
                      <a:r>
                        <a:rPr sz="750" b="1">
                          <a:solidFill>
                            <a:srgbClr val="E5173F"/>
                          </a:solidFill>
                          <a:latin typeface="Calibri"/>
                        </a:rPr>
                        <a:t>−50 a −100 pbs</a:t>
                      </a:r>
                    </a:p>
                  </a:txBody>
                  <a:tcPr marL="45000" marR="45000" marT="12000" marB="12000" anchor="ctr">
                    <a:solidFill>
                      <a:srgbClr val="F7F9F9"/>
                    </a:solidFill>
                  </a:tcPr>
                </a:tc>
                <a:tc>
                  <a:txBody>
                    <a:bodyPr/>
                    <a:lstStyle/>
                    <a:p>
                      <a:pPr algn="ctr"/>
                      <a:r>
                        <a:rPr sz="750" b="0">
                          <a:solidFill>
                            <a:srgbClr val="6E7E7D"/>
                          </a:solidFill>
                          <a:latin typeface="Calibri"/>
                        </a:rPr>
                        <a:t>Por medir</a:t>
                      </a:r>
                    </a:p>
                  </a:txBody>
                  <a:tcPr marL="45000" marR="45000" marT="12000" marB="12000" anchor="ctr">
                    <a:solidFill>
                      <a:srgbClr val="F7F9F9"/>
                    </a:solidFill>
                  </a:tcPr>
                </a:tc>
                <a:extLst>
                  <a:ext uri="{0D108BD9-81ED-4DB2-BD59-A6C34878D82A}">
                    <a16:rowId xmlns:a16="http://schemas.microsoft.com/office/drawing/2014/main" val="10007"/>
                  </a:ext>
                </a:extLst>
              </a:tr>
              <a:tr h="255000">
                <a:tc>
                  <a:txBody>
                    <a:bodyPr/>
                    <a:lstStyle/>
                    <a:p>
                      <a:pPr algn="l"/>
                      <a:r>
                        <a:rPr sz="750" b="1">
                          <a:solidFill>
                            <a:srgbClr val="C2410C"/>
                          </a:solidFill>
                          <a:latin typeface="Calibri"/>
                        </a:rPr>
                        <a:t>Gran Cuenta</a:t>
                      </a:r>
                    </a:p>
                  </a:txBody>
                  <a:tcPr marL="45000" marR="45000" marT="12000" marB="12000" anchor="ctr">
                    <a:solidFill>
                      <a:srgbClr val="FFFFFF"/>
                    </a:solidFill>
                  </a:tcPr>
                </a:tc>
                <a:tc>
                  <a:txBody>
                    <a:bodyPr/>
                    <a:lstStyle/>
                    <a:p>
                      <a:pPr algn="l"/>
                      <a:r>
                        <a:rPr sz="750" b="0">
                          <a:solidFill>
                            <a:srgbClr val="2F3B3A"/>
                          </a:solidFill>
                          <a:latin typeface="Calibri"/>
                        </a:rPr>
                        <a:t>SSFF ≤ 1,5MM</a:t>
                      </a:r>
                    </a:p>
                  </a:txBody>
                  <a:tcPr marL="45000" marR="45000" marT="12000" marB="12000" anchor="ctr">
                    <a:solidFill>
                      <a:srgbClr val="FFFFFF"/>
                    </a:solidFill>
                  </a:tcPr>
                </a:tc>
                <a:tc>
                  <a:txBody>
                    <a:bodyPr/>
                    <a:lstStyle/>
                    <a:p>
                      <a:pPr algn="ctr"/>
                      <a:r>
                        <a:rPr sz="750" b="1">
                          <a:solidFill>
                            <a:srgbClr val="FFFFFF"/>
                          </a:solidFill>
                          <a:latin typeface="Calibri"/>
                        </a:rPr>
                        <a:t>Media</a:t>
                      </a:r>
                    </a:p>
                  </a:txBody>
                  <a:tcPr marL="45000" marR="45000" marT="12000" marB="12000" anchor="ctr">
                    <a:solidFill>
                      <a:srgbClr val="9FB0C7"/>
                    </a:solidFill>
                  </a:tcPr>
                </a:tc>
                <a:tc>
                  <a:txBody>
                    <a:bodyPr/>
                    <a:lstStyle/>
                    <a:p>
                      <a:pPr algn="ctr"/>
                      <a:r>
                        <a:rPr sz="750" b="1">
                          <a:solidFill>
                            <a:srgbClr val="13807B"/>
                          </a:solidFill>
                          <a:latin typeface="Calibri"/>
                        </a:rPr>
                        <a:t>Por encima</a:t>
                      </a:r>
                    </a:p>
                  </a:txBody>
                  <a:tcPr marL="45000" marR="45000" marT="12000" marB="12000" anchor="ctr">
                    <a:solidFill>
                      <a:srgbClr val="D5EBE8"/>
                    </a:solidFill>
                  </a:tcPr>
                </a:tc>
                <a:tc>
                  <a:txBody>
                    <a:bodyPr/>
                    <a:lstStyle/>
                    <a:p>
                      <a:pPr algn="l"/>
                      <a:r>
                        <a:rPr sz="750" b="1">
                          <a:solidFill>
                            <a:srgbClr val="13807B"/>
                          </a:solidFill>
                          <a:latin typeface="Calibri"/>
                        </a:rPr>
                        <a:t>Subir de forma acotada, monitoreando el share</a:t>
                      </a:r>
                    </a:p>
                  </a:txBody>
                  <a:tcPr marL="45000" marR="45000" marT="12000" marB="12000" anchor="ctr">
                    <a:solidFill>
                      <a:srgbClr val="D5EBE8"/>
                    </a:solidFill>
                  </a:tcPr>
                </a:tc>
                <a:tc>
                  <a:txBody>
                    <a:bodyPr/>
                    <a:lstStyle/>
                    <a:p>
                      <a:pPr algn="ctr"/>
                      <a:r>
                        <a:rPr sz="750" b="1">
                          <a:solidFill>
                            <a:srgbClr val="13807B"/>
                          </a:solidFill>
                          <a:latin typeface="Calibri"/>
                        </a:rPr>
                        <a:t>+25 pbs</a:t>
                      </a:r>
                    </a:p>
                  </a:txBody>
                  <a:tcPr marL="45000" marR="45000" marT="12000" marB="12000" anchor="ctr">
                    <a:solidFill>
                      <a:srgbClr val="FFFFFF"/>
                    </a:solidFill>
                  </a:tcPr>
                </a:tc>
                <a:tc>
                  <a:txBody>
                    <a:bodyPr/>
                    <a:lstStyle/>
                    <a:p>
                      <a:pPr algn="ctr"/>
                      <a:r>
                        <a:rPr sz="750" b="0">
                          <a:solidFill>
                            <a:srgbClr val="2F3B3A"/>
                          </a:solidFill>
                          <a:latin typeface="Calibri"/>
                        </a:rPr>
                        <a:t>−4%</a:t>
                      </a:r>
                    </a:p>
                  </a:txBody>
                  <a:tcPr marL="45000" marR="45000" marT="12000" marB="12000" anchor="ctr">
                    <a:solidFill>
                      <a:srgbClr val="FFFFFF"/>
                    </a:solidFill>
                  </a:tcPr>
                </a:tc>
                <a:extLst>
                  <a:ext uri="{0D108BD9-81ED-4DB2-BD59-A6C34878D82A}">
                    <a16:rowId xmlns:a16="http://schemas.microsoft.com/office/drawing/2014/main" val="10009"/>
                  </a:ext>
                </a:extLst>
              </a:tr>
              <a:tr h="255000">
                <a:tc>
                  <a:txBody>
                    <a:bodyPr/>
                    <a:lstStyle/>
                    <a:p>
                      <a:pPr algn="l"/>
                      <a:r>
                        <a:rPr sz="750" b="1">
                          <a:solidFill>
                            <a:srgbClr val="C2410C"/>
                          </a:solidFill>
                          <a:latin typeface="Calibri"/>
                        </a:rPr>
                        <a:t>Gran Cuenta</a:t>
                      </a:r>
                    </a:p>
                  </a:txBody>
                  <a:tcPr marL="45000" marR="45000" marT="12000" marB="12000" anchor="ctr">
                    <a:solidFill>
                      <a:srgbClr val="F7F9F9"/>
                    </a:solidFill>
                  </a:tcPr>
                </a:tc>
                <a:tc>
                  <a:txBody>
                    <a:bodyPr/>
                    <a:lstStyle/>
                    <a:p>
                      <a:pPr algn="l"/>
                      <a:r>
                        <a:rPr sz="750" b="0">
                          <a:solidFill>
                            <a:srgbClr val="2F3B3A"/>
                          </a:solidFill>
                          <a:latin typeface="Calibri"/>
                        </a:rPr>
                        <a:t>SSFF 1,5–3,8MM</a:t>
                      </a:r>
                    </a:p>
                  </a:txBody>
                  <a:tcPr marL="45000" marR="45000" marT="12000" marB="12000" anchor="ctr">
                    <a:solidFill>
                      <a:srgbClr val="F7F9F9"/>
                    </a:solidFill>
                  </a:tcPr>
                </a:tc>
                <a:tc>
                  <a:txBody>
                    <a:bodyPr/>
                    <a:lstStyle/>
                    <a:p>
                      <a:pPr algn="ctr"/>
                      <a:r>
                        <a:rPr sz="750" b="1">
                          <a:solidFill>
                            <a:srgbClr val="FFFFFF"/>
                          </a:solidFill>
                          <a:latin typeface="Calibri"/>
                        </a:rPr>
                        <a:t>Media</a:t>
                      </a:r>
                    </a:p>
                  </a:txBody>
                  <a:tcPr marL="45000" marR="45000" marT="12000" marB="12000" anchor="ctr">
                    <a:solidFill>
                      <a:srgbClr val="9FB0C7"/>
                    </a:solidFill>
                  </a:tcPr>
                </a:tc>
                <a:tc>
                  <a:txBody>
                    <a:bodyPr/>
                    <a:lstStyle/>
                    <a:p>
                      <a:pPr algn="ctr"/>
                      <a:r>
                        <a:rPr sz="750" b="0">
                          <a:solidFill>
                            <a:srgbClr val="E5173F"/>
                          </a:solidFill>
                          <a:latin typeface="Calibri"/>
                        </a:rPr>
                        <a:t>Por encima · inconsistente</a:t>
                      </a:r>
                    </a:p>
                  </a:txBody>
                  <a:tcPr marL="45000" marR="45000" marT="12000" marB="12000" anchor="ctr">
                    <a:solidFill>
                      <a:srgbClr val="FBE3E8"/>
                    </a:solidFill>
                  </a:tcPr>
                </a:tc>
                <a:tc>
                  <a:txBody>
                    <a:bodyPr/>
                    <a:lstStyle/>
                    <a:p>
                      <a:pPr algn="l"/>
                      <a:r>
                        <a:rPr sz="750" b="1">
                          <a:solidFill>
                            <a:srgbClr val="2F3B3A"/>
                          </a:solidFill>
                          <a:latin typeface="Calibri"/>
                        </a:rPr>
                        <a:t>Mantener y probar otras palancas</a:t>
                      </a:r>
                    </a:p>
                  </a:txBody>
                  <a:tcPr marL="45000" marR="45000" marT="12000" marB="12000" anchor="ctr">
                    <a:solidFill>
                      <a:srgbClr val="ECEFEF"/>
                    </a:solidFill>
                  </a:tcPr>
                </a:tc>
                <a:tc>
                  <a:txBody>
                    <a:bodyPr/>
                    <a:lstStyle/>
                    <a:p>
                      <a:pPr algn="ctr"/>
                      <a:r>
                        <a:rPr sz="750" b="1">
                          <a:solidFill>
                            <a:srgbClr val="2F3B3A"/>
                          </a:solidFill>
                          <a:latin typeface="Calibri"/>
                        </a:rPr>
                        <a:t>0</a:t>
                      </a:r>
                    </a:p>
                  </a:txBody>
                  <a:tcPr marL="45000" marR="45000" marT="12000" marB="12000" anchor="ctr">
                    <a:solidFill>
                      <a:srgbClr val="F7F9F9"/>
                    </a:solidFill>
                  </a:tcPr>
                </a:tc>
                <a:tc>
                  <a:txBody>
                    <a:bodyPr/>
                    <a:lstStyle/>
                    <a:p>
                      <a:pPr algn="ctr"/>
                      <a:r>
                        <a:rPr sz="750" b="0">
                          <a:solidFill>
                            <a:srgbClr val="6E7E7D"/>
                          </a:solidFill>
                          <a:latin typeface="Calibri"/>
                        </a:rPr>
                        <a:t>–</a:t>
                      </a:r>
                    </a:p>
                  </a:txBody>
                  <a:tcPr marL="45000" marR="45000" marT="12000" marB="12000" anchor="ctr">
                    <a:solidFill>
                      <a:srgbClr val="F7F9F9"/>
                    </a:solidFill>
                  </a:tcPr>
                </a:tc>
                <a:extLst>
                  <a:ext uri="{0D108BD9-81ED-4DB2-BD59-A6C34878D82A}">
                    <a16:rowId xmlns:a16="http://schemas.microsoft.com/office/drawing/2014/main" val="10010"/>
                  </a:ext>
                </a:extLst>
              </a:tr>
              <a:tr h="255000">
                <a:tc>
                  <a:txBody>
                    <a:bodyPr/>
                    <a:lstStyle/>
                    <a:p>
                      <a:pPr algn="l"/>
                      <a:r>
                        <a:rPr sz="750" b="1">
                          <a:solidFill>
                            <a:srgbClr val="1F3A5F"/>
                          </a:solidFill>
                          <a:latin typeface="Calibri"/>
                        </a:rPr>
                        <a:t>Reactivar</a:t>
                      </a:r>
                    </a:p>
                  </a:txBody>
                  <a:tcPr marL="45000" marR="45000" marT="12000" marB="12000" anchor="ctr">
                    <a:solidFill>
                      <a:srgbClr val="F7F9F9"/>
                    </a:solidFill>
                  </a:tcPr>
                </a:tc>
                <a:tc>
                  <a:txBody>
                    <a:bodyPr/>
                    <a:lstStyle/>
                    <a:p>
                      <a:pPr algn="l"/>
                      <a:r>
                        <a:rPr sz="750" b="0">
                          <a:solidFill>
                            <a:srgbClr val="2F3B3A"/>
                          </a:solidFill>
                          <a:latin typeface="Calibri"/>
                        </a:rPr>
                        <a:t>Pasivos &lt; 1K</a:t>
                      </a:r>
                    </a:p>
                  </a:txBody>
                  <a:tcPr marL="45000" marR="45000" marT="12000" marB="12000" anchor="ctr">
                    <a:solidFill>
                      <a:srgbClr val="F7F9F9"/>
                    </a:solidFill>
                  </a:tcPr>
                </a:tc>
                <a:tc>
                  <a:txBody>
                    <a:bodyPr/>
                    <a:lstStyle/>
                    <a:p>
                      <a:pPr algn="ctr"/>
                      <a:r>
                        <a:rPr sz="750" b="1">
                          <a:solidFill>
                            <a:srgbClr val="FFFFFF"/>
                          </a:solidFill>
                          <a:latin typeface="Calibri"/>
                        </a:rPr>
                        <a:t>Alta</a:t>
                      </a:r>
                    </a:p>
                  </a:txBody>
                  <a:tcPr marL="45000" marR="45000" marT="12000" marB="12000" anchor="ctr">
                    <a:solidFill>
                      <a:srgbClr val="1F3A5F"/>
                    </a:solidFill>
                  </a:tcPr>
                </a:tc>
                <a:tc>
                  <a:txBody>
                    <a:bodyPr/>
                    <a:lstStyle/>
                    <a:p>
                      <a:pPr algn="ctr"/>
                      <a:r>
                        <a:rPr sz="750" b="1">
                          <a:solidFill>
                            <a:srgbClr val="E5173F"/>
                          </a:solidFill>
                          <a:latin typeface="Calibri"/>
                        </a:rPr>
                        <a:t>Por debajo</a:t>
                      </a:r>
                    </a:p>
                  </a:txBody>
                  <a:tcPr marL="45000" marR="45000" marT="12000" marB="12000" anchor="ctr">
                    <a:solidFill>
                      <a:srgbClr val="FADBD8"/>
                    </a:solidFill>
                  </a:tcPr>
                </a:tc>
                <a:tc>
                  <a:txBody>
                    <a:bodyPr/>
                    <a:lstStyle/>
                    <a:p>
                      <a:pPr algn="l"/>
                      <a:r>
                        <a:rPr sz="750" b="1">
                          <a:solidFill>
                            <a:srgbClr val="FFFFFF"/>
                          </a:solidFill>
                          <a:latin typeface="Calibri"/>
                        </a:rPr>
                        <a:t>Bajar</a:t>
                      </a:r>
                    </a:p>
                  </a:txBody>
                  <a:tcPr marL="45000" marR="45000" marT="12000" marB="12000" anchor="ctr">
                    <a:solidFill>
                      <a:srgbClr val="E5173F"/>
                    </a:solidFill>
                  </a:tcPr>
                </a:tc>
                <a:tc>
                  <a:txBody>
                    <a:bodyPr/>
                    <a:lstStyle/>
                    <a:p>
                      <a:pPr algn="ctr"/>
                      <a:r>
                        <a:rPr sz="750" b="1">
                          <a:solidFill>
                            <a:srgbClr val="E5173F"/>
                          </a:solidFill>
                          <a:latin typeface="Calibri"/>
                        </a:rPr>
                        <a:t>−50 pbs</a:t>
                      </a:r>
                    </a:p>
                  </a:txBody>
                  <a:tcPr marL="45000" marR="45000" marT="12000" marB="12000" anchor="ctr">
                    <a:solidFill>
                      <a:srgbClr val="F7F9F9"/>
                    </a:solidFill>
                  </a:tcPr>
                </a:tc>
                <a:tc>
                  <a:txBody>
                    <a:bodyPr/>
                    <a:lstStyle/>
                    <a:p>
                      <a:pPr algn="ctr"/>
                      <a:r>
                        <a:rPr sz="750" b="0">
                          <a:solidFill>
                            <a:srgbClr val="2F3B3A"/>
                          </a:solidFill>
                          <a:latin typeface="Calibri"/>
                        </a:rPr>
                        <a:t>+10%</a:t>
                      </a:r>
                    </a:p>
                  </a:txBody>
                  <a:tcPr marL="45000" marR="45000" marT="12000" marB="12000" anchor="ctr">
                    <a:solidFill>
                      <a:srgbClr val="F7F9F9"/>
                    </a:solidFill>
                  </a:tcPr>
                </a:tc>
                <a:extLst>
                  <a:ext uri="{0D108BD9-81ED-4DB2-BD59-A6C34878D82A}">
                    <a16:rowId xmlns:a16="http://schemas.microsoft.com/office/drawing/2014/main" val="10012"/>
                  </a:ext>
                </a:extLst>
              </a:tr>
              <a:tr h="255000">
                <a:tc>
                  <a:txBody>
                    <a:bodyPr/>
                    <a:lstStyle/>
                    <a:p>
                      <a:pPr algn="l"/>
                      <a:r>
                        <a:rPr sz="750" b="1">
                          <a:solidFill>
                            <a:srgbClr val="1F3A5F"/>
                          </a:solidFill>
                          <a:latin typeface="Calibri"/>
                        </a:rPr>
                        <a:t>Reactivar</a:t>
                      </a:r>
                    </a:p>
                  </a:txBody>
                  <a:tcPr marL="45000" marR="45000" marT="12000" marB="12000" anchor="ctr">
                    <a:solidFill>
                      <a:srgbClr val="FFFFFF"/>
                    </a:solidFill>
                  </a:tcPr>
                </a:tc>
                <a:tc>
                  <a:txBody>
                    <a:bodyPr/>
                    <a:lstStyle/>
                    <a:p>
                      <a:pPr algn="l"/>
                      <a:r>
                        <a:rPr sz="750" b="0">
                          <a:solidFill>
                            <a:srgbClr val="2F3B3A"/>
                          </a:solidFill>
                          <a:latin typeface="Calibri"/>
                        </a:rPr>
                        <a:t>Pasivos ≥ 5K</a:t>
                      </a:r>
                    </a:p>
                  </a:txBody>
                  <a:tcPr marL="45000" marR="45000" marT="12000" marB="12000" anchor="ctr">
                    <a:solidFill>
                      <a:srgbClr val="FFFFFF"/>
                    </a:solidFill>
                  </a:tcPr>
                </a:tc>
                <a:tc>
                  <a:txBody>
                    <a:bodyPr/>
                    <a:lstStyle/>
                    <a:p>
                      <a:pPr algn="ctr"/>
                      <a:r>
                        <a:rPr sz="750" b="1">
                          <a:solidFill>
                            <a:srgbClr val="FFFFFF"/>
                          </a:solidFill>
                          <a:latin typeface="Calibri"/>
                        </a:rPr>
                        <a:t>Alta</a:t>
                      </a:r>
                    </a:p>
                  </a:txBody>
                  <a:tcPr marL="45000" marR="45000" marT="12000" marB="12000" anchor="ctr">
                    <a:solidFill>
                      <a:srgbClr val="1F3A5F"/>
                    </a:solidFill>
                  </a:tcPr>
                </a:tc>
                <a:tc>
                  <a:txBody>
                    <a:bodyPr/>
                    <a:lstStyle/>
                    <a:p>
                      <a:pPr algn="ctr"/>
                      <a:r>
                        <a:rPr sz="750" b="0">
                          <a:solidFill>
                            <a:srgbClr val="6E7E7D"/>
                          </a:solidFill>
                          <a:latin typeface="Calibri"/>
                        </a:rPr>
                        <a:t>Sin materialidad</a:t>
                      </a:r>
                    </a:p>
                  </a:txBody>
                  <a:tcPr marL="45000" marR="45000" marT="12000" marB="12000" anchor="ctr">
                    <a:solidFill>
                      <a:srgbClr val="F2F4F4"/>
                    </a:solidFill>
                  </a:tcPr>
                </a:tc>
                <a:tc>
                  <a:txBody>
                    <a:bodyPr/>
                    <a:lstStyle/>
                    <a:p>
                      <a:pPr algn="l"/>
                      <a:r>
                        <a:rPr sz="750" b="1">
                          <a:solidFill>
                            <a:srgbClr val="13807B"/>
                          </a:solidFill>
                          <a:latin typeface="Calibri"/>
                        </a:rPr>
                        <a:t>Subir de forma acotada, monitoreando el share*</a:t>
                      </a:r>
                    </a:p>
                  </a:txBody>
                  <a:tcPr marL="45000" marR="45000" marT="12000" marB="12000" anchor="ctr">
                    <a:solidFill>
                      <a:srgbClr val="D5EBE8"/>
                    </a:solidFill>
                  </a:tcPr>
                </a:tc>
                <a:tc>
                  <a:txBody>
                    <a:bodyPr/>
                    <a:lstStyle/>
                    <a:p>
                      <a:pPr algn="ctr"/>
                      <a:r>
                        <a:rPr sz="750" b="1">
                          <a:solidFill>
                            <a:srgbClr val="13807B"/>
                          </a:solidFill>
                          <a:latin typeface="Calibri"/>
                        </a:rPr>
                        <a:t>+25 pbs</a:t>
                      </a:r>
                    </a:p>
                  </a:txBody>
                  <a:tcPr marL="45000" marR="45000" marT="12000" marB="12000" anchor="ctr">
                    <a:solidFill>
                      <a:srgbClr val="FFFFFF"/>
                    </a:solidFill>
                  </a:tcPr>
                </a:tc>
                <a:tc>
                  <a:txBody>
                    <a:bodyPr/>
                    <a:lstStyle/>
                    <a:p>
                      <a:pPr algn="ctr"/>
                      <a:r>
                        <a:rPr sz="750" b="0">
                          <a:solidFill>
                            <a:srgbClr val="2F3B3A"/>
                          </a:solidFill>
                          <a:latin typeface="Calibri"/>
                        </a:rPr>
                        <a:t>−5%</a:t>
                      </a:r>
                    </a:p>
                  </a:txBody>
                  <a:tcPr marL="45000" marR="45000" marT="12000" marB="12000" anchor="ctr">
                    <a:solidFill>
                      <a:srgbClr val="FFFFFF"/>
                    </a:solidFill>
                  </a:tcPr>
                </a:tc>
                <a:extLst>
                  <a:ext uri="{0D108BD9-81ED-4DB2-BD59-A6C34878D82A}">
                    <a16:rowId xmlns:a16="http://schemas.microsoft.com/office/drawing/2014/main" val="10011"/>
                  </a:ext>
                </a:extLst>
              </a:tr>
              <a:tr h="255000">
                <a:tc>
                  <a:txBody>
                    <a:bodyPr/>
                    <a:lstStyle/>
                    <a:p>
                      <a:pPr algn="l"/>
                      <a:r>
                        <a:rPr sz="750" b="1">
                          <a:solidFill>
                            <a:srgbClr val="4A6572"/>
                          </a:solidFill>
                          <a:latin typeface="Calibri"/>
                        </a:rPr>
                        <a:t>Próximo</a:t>
                      </a:r>
                    </a:p>
                  </a:txBody>
                  <a:tcPr marL="45000" marR="45000" marT="12000" marB="12000" anchor="ctr">
                    <a:solidFill>
                      <a:srgbClr val="FFFFFF"/>
                    </a:solidFill>
                  </a:tcPr>
                </a:tc>
                <a:tc>
                  <a:txBody>
                    <a:bodyPr/>
                    <a:lstStyle/>
                    <a:p>
                      <a:pPr algn="l"/>
                      <a:r>
                        <a:rPr sz="750" b="0">
                          <a:solidFill>
                            <a:srgbClr val="2F3B3A"/>
                          </a:solidFill>
                          <a:latin typeface="Calibri"/>
                        </a:rPr>
                        <a:t>≤ 170K</a:t>
                      </a:r>
                    </a:p>
                  </a:txBody>
                  <a:tcPr marL="45000" marR="45000" marT="12000" marB="12000" anchor="ctr">
                    <a:solidFill>
                      <a:srgbClr val="FFFFFF"/>
                    </a:solidFill>
                  </a:tcPr>
                </a:tc>
                <a:tc>
                  <a:txBody>
                    <a:bodyPr/>
                    <a:lstStyle/>
                    <a:p>
                      <a:pPr algn="ctr"/>
                      <a:r>
                        <a:rPr sz="750" b="1">
                          <a:solidFill>
                            <a:srgbClr val="FFFFFF"/>
                          </a:solidFill>
                          <a:latin typeface="Calibri"/>
                        </a:rPr>
                        <a:t>Alta</a:t>
                      </a:r>
                    </a:p>
                  </a:txBody>
                  <a:tcPr marL="45000" marR="45000" marT="12000" marB="12000" anchor="ctr">
                    <a:solidFill>
                      <a:srgbClr val="1F3A5F"/>
                    </a:solidFill>
                  </a:tcPr>
                </a:tc>
                <a:tc>
                  <a:txBody>
                    <a:bodyPr/>
                    <a:lstStyle/>
                    <a:p>
                      <a:pPr algn="ctr"/>
                      <a:r>
                        <a:rPr sz="750" b="0">
                          <a:solidFill>
                            <a:srgbClr val="6E7E7D"/>
                          </a:solidFill>
                          <a:latin typeface="Calibri"/>
                        </a:rPr>
                        <a:t>Sin materialidad</a:t>
                      </a:r>
                    </a:p>
                  </a:txBody>
                  <a:tcPr marL="45000" marR="45000" marT="12000" marB="12000" anchor="ctr">
                    <a:solidFill>
                      <a:srgbClr val="F2F4F4"/>
                    </a:solidFill>
                  </a:tcPr>
                </a:tc>
                <a:tc>
                  <a:txBody>
                    <a:bodyPr/>
                    <a:lstStyle/>
                    <a:p>
                      <a:pPr algn="l"/>
                      <a:r>
                        <a:rPr sz="750" b="1">
                          <a:solidFill>
                            <a:srgbClr val="2F3B3A"/>
                          </a:solidFill>
                          <a:latin typeface="Calibri"/>
                        </a:rPr>
                        <a:t>Mantener</a:t>
                      </a:r>
                    </a:p>
                  </a:txBody>
                  <a:tcPr marL="45000" marR="45000" marT="12000" marB="12000" anchor="ctr">
                    <a:solidFill>
                      <a:srgbClr val="ECEFEF"/>
                    </a:solidFill>
                  </a:tcPr>
                </a:tc>
                <a:tc>
                  <a:txBody>
                    <a:bodyPr/>
                    <a:lstStyle/>
                    <a:p>
                      <a:pPr algn="ctr"/>
                      <a:r>
                        <a:rPr sz="750" b="1">
                          <a:solidFill>
                            <a:srgbClr val="2F3B3A"/>
                          </a:solidFill>
                          <a:latin typeface="Calibri"/>
                        </a:rPr>
                        <a:t>0</a:t>
                      </a:r>
                    </a:p>
                  </a:txBody>
                  <a:tcPr marL="45000" marR="45000" marT="12000" marB="12000" anchor="ctr">
                    <a:solidFill>
                      <a:srgbClr val="FFFFFF"/>
                    </a:solidFill>
                  </a:tcPr>
                </a:tc>
                <a:tc>
                  <a:txBody>
                    <a:bodyPr/>
                    <a:lstStyle/>
                    <a:p>
                      <a:pPr algn="ctr"/>
                      <a:r>
                        <a:rPr sz="750" b="0">
                          <a:solidFill>
                            <a:srgbClr val="6E7E7D"/>
                          </a:solidFill>
                          <a:latin typeface="Calibri"/>
                        </a:rPr>
                        <a:t>–</a:t>
                      </a:r>
                    </a:p>
                  </a:txBody>
                  <a:tcPr marL="45000" marR="45000" marT="12000" marB="12000" anchor="ctr">
                    <a:solidFill>
                      <a:srgbClr val="FFFFFF"/>
                    </a:solidFill>
                  </a:tcPr>
                </a:tc>
                <a:extLst>
                  <a:ext uri="{0D108BD9-81ED-4DB2-BD59-A6C34878D82A}">
                    <a16:rowId xmlns:a16="http://schemas.microsoft.com/office/drawing/2014/main" val="10013"/>
                  </a:ext>
                </a:extLst>
              </a:tr>
              <a:tr h="255000">
                <a:tc>
                  <a:txBody>
                    <a:bodyPr/>
                    <a:lstStyle/>
                    <a:p>
                      <a:pPr algn="l"/>
                      <a:r>
                        <a:rPr sz="750" b="1">
                          <a:solidFill>
                            <a:srgbClr val="4A6572"/>
                          </a:solidFill>
                          <a:latin typeface="Calibri"/>
                        </a:rPr>
                        <a:t>Próximo</a:t>
                      </a:r>
                    </a:p>
                  </a:txBody>
                  <a:tcPr marL="45000" marR="45000" marT="12000" marB="12000" anchor="ctr">
                    <a:solidFill>
                      <a:srgbClr val="F7F9F9"/>
                    </a:solidFill>
                  </a:tcPr>
                </a:tc>
                <a:tc>
                  <a:txBody>
                    <a:bodyPr/>
                    <a:lstStyle/>
                    <a:p>
                      <a:pPr algn="l"/>
                      <a:r>
                        <a:rPr sz="750" b="0">
                          <a:solidFill>
                            <a:srgbClr val="2F3B3A"/>
                          </a:solidFill>
                          <a:latin typeface="Calibri"/>
                        </a:rPr>
                        <a:t>&gt; 250K</a:t>
                      </a:r>
                    </a:p>
                  </a:txBody>
                  <a:tcPr marL="45000" marR="45000" marT="12000" marB="12000" anchor="ctr">
                    <a:solidFill>
                      <a:srgbClr val="F7F9F9"/>
                    </a:solidFill>
                  </a:tcPr>
                </a:tc>
                <a:tc>
                  <a:txBody>
                    <a:bodyPr/>
                    <a:lstStyle/>
                    <a:p>
                      <a:pPr algn="ctr"/>
                      <a:r>
                        <a:rPr sz="750" b="1">
                          <a:solidFill>
                            <a:srgbClr val="FFFFFF"/>
                          </a:solidFill>
                          <a:latin typeface="Calibri"/>
                        </a:rPr>
                        <a:t>Alta</a:t>
                      </a:r>
                    </a:p>
                  </a:txBody>
                  <a:tcPr marL="45000" marR="45000" marT="12000" marB="12000" anchor="ctr">
                    <a:solidFill>
                      <a:srgbClr val="1F3A5F"/>
                    </a:solidFill>
                  </a:tcPr>
                </a:tc>
                <a:tc>
                  <a:txBody>
                    <a:bodyPr/>
                    <a:lstStyle/>
                    <a:p>
                      <a:pPr algn="ctr"/>
                      <a:r>
                        <a:rPr sz="750" b="0">
                          <a:solidFill>
                            <a:srgbClr val="6E7E7D"/>
                          </a:solidFill>
                          <a:latin typeface="Calibri"/>
                        </a:rPr>
                        <a:t>Sin materialidad</a:t>
                      </a:r>
                    </a:p>
                  </a:txBody>
                  <a:tcPr marL="45000" marR="45000" marT="12000" marB="12000" anchor="ctr">
                    <a:solidFill>
                      <a:srgbClr val="F2F4F4"/>
                    </a:solidFill>
                  </a:tcPr>
                </a:tc>
                <a:tc>
                  <a:txBody>
                    <a:bodyPr/>
                    <a:lstStyle/>
                    <a:p>
                      <a:pPr algn="l"/>
                      <a:r>
                        <a:rPr sz="750" b="1">
                          <a:solidFill>
                            <a:srgbClr val="FFFFFF"/>
                          </a:solidFill>
                          <a:latin typeface="Calibri"/>
                        </a:rPr>
                        <a:t>Bajar</a:t>
                      </a:r>
                    </a:p>
                  </a:txBody>
                  <a:tcPr marL="45000" marR="45000" marT="12000" marB="12000" anchor="ctr">
                    <a:solidFill>
                      <a:srgbClr val="E5173F"/>
                    </a:solidFill>
                  </a:tcPr>
                </a:tc>
                <a:tc>
                  <a:txBody>
                    <a:bodyPr/>
                    <a:lstStyle/>
                    <a:p>
                      <a:pPr algn="ctr"/>
                      <a:r>
                        <a:rPr sz="750" b="1">
                          <a:solidFill>
                            <a:srgbClr val="E5173F"/>
                          </a:solidFill>
                          <a:latin typeface="Calibri"/>
                        </a:rPr>
                        <a:t>−25 pbs</a:t>
                      </a:r>
                    </a:p>
                  </a:txBody>
                  <a:tcPr marL="45000" marR="45000" marT="12000" marB="12000" anchor="ctr">
                    <a:solidFill>
                      <a:srgbClr val="F7F9F9"/>
                    </a:solidFill>
                  </a:tcPr>
                </a:tc>
                <a:tc>
                  <a:txBody>
                    <a:bodyPr/>
                    <a:lstStyle/>
                    <a:p>
                      <a:pPr algn="ctr"/>
                      <a:r>
                        <a:rPr sz="750" b="0">
                          <a:solidFill>
                            <a:srgbClr val="2F3B3A"/>
                          </a:solidFill>
                          <a:latin typeface="Calibri"/>
                        </a:rPr>
                        <a:t>+7%</a:t>
                      </a:r>
                    </a:p>
                  </a:txBody>
                  <a:tcPr marL="45000" marR="45000" marT="12000" marB="12000" anchor="ctr">
                    <a:solidFill>
                      <a:srgbClr val="F7F9F9"/>
                    </a:solidFill>
                  </a:tcPr>
                </a:tc>
                <a:extLst>
                  <a:ext uri="{0D108BD9-81ED-4DB2-BD59-A6C34878D82A}">
                    <a16:rowId xmlns:a16="http://schemas.microsoft.com/office/drawing/2014/main" val="10014"/>
                  </a:ext>
                </a:extLst>
              </a:tr>
              <a:tr h="255000">
                <a:tc>
                  <a:txBody>
                    <a:bodyPr/>
                    <a:lstStyle/>
                    <a:p>
                      <a:pPr algn="l"/>
                      <a:r>
                        <a:rPr sz="750" b="1">
                          <a:solidFill>
                            <a:srgbClr val="4A6572"/>
                          </a:solidFill>
                          <a:latin typeface="Calibri"/>
                        </a:rPr>
                        <a:t>Nuevo</a:t>
                      </a:r>
                    </a:p>
                  </a:txBody>
                  <a:tcPr marL="45000" marR="45000" marT="12000" marB="12000" anchor="ctr">
                    <a:solidFill>
                      <a:srgbClr val="FFFFFF"/>
                    </a:solidFill>
                  </a:tcPr>
                </a:tc>
                <a:tc>
                  <a:txBody>
                    <a:bodyPr/>
                    <a:lstStyle/>
                    <a:p>
                      <a:pPr algn="l"/>
                      <a:r>
                        <a:rPr sz="750" b="0">
                          <a:solidFill>
                            <a:srgbClr val="2F3B3A"/>
                          </a:solidFill>
                          <a:latin typeface="Calibri"/>
                        </a:rPr>
                        <a:t>≤ 170K</a:t>
                      </a:r>
                    </a:p>
                  </a:txBody>
                  <a:tcPr marL="45000" marR="45000" marT="12000" marB="12000" anchor="ctr">
                    <a:solidFill>
                      <a:srgbClr val="FFFFFF"/>
                    </a:solidFill>
                  </a:tcPr>
                </a:tc>
                <a:tc>
                  <a:txBody>
                    <a:bodyPr/>
                    <a:lstStyle/>
                    <a:p>
                      <a:pPr algn="ctr"/>
                      <a:r>
                        <a:rPr sz="750" b="1">
                          <a:solidFill>
                            <a:srgbClr val="FFFFFF"/>
                          </a:solidFill>
                          <a:latin typeface="Calibri"/>
                        </a:rPr>
                        <a:t>Alta</a:t>
                      </a:r>
                    </a:p>
                  </a:txBody>
                  <a:tcPr marL="45000" marR="45000" marT="12000" marB="12000" anchor="ctr">
                    <a:solidFill>
                      <a:srgbClr val="1F3A5F"/>
                    </a:solidFill>
                  </a:tcPr>
                </a:tc>
                <a:tc>
                  <a:txBody>
                    <a:bodyPr/>
                    <a:lstStyle/>
                    <a:p>
                      <a:pPr algn="ctr"/>
                      <a:r>
                        <a:rPr sz="750" b="0">
                          <a:solidFill>
                            <a:srgbClr val="6E7E7D"/>
                          </a:solidFill>
                          <a:latin typeface="Calibri"/>
                        </a:rPr>
                        <a:t>Sin materialidad</a:t>
                      </a:r>
                    </a:p>
                  </a:txBody>
                  <a:tcPr marL="45000" marR="45000" marT="12000" marB="12000" anchor="ctr">
                    <a:solidFill>
                      <a:srgbClr val="F2F4F4"/>
                    </a:solidFill>
                  </a:tcPr>
                </a:tc>
                <a:tc>
                  <a:txBody>
                    <a:bodyPr/>
                    <a:lstStyle/>
                    <a:p>
                      <a:pPr algn="l"/>
                      <a:r>
                        <a:rPr sz="750" b="1">
                          <a:solidFill>
                            <a:srgbClr val="2F3B3A"/>
                          </a:solidFill>
                          <a:latin typeface="Calibri"/>
                        </a:rPr>
                        <a:t>Mantener</a:t>
                      </a:r>
                    </a:p>
                  </a:txBody>
                  <a:tcPr marL="45000" marR="45000" marT="12000" marB="12000" anchor="ctr">
                    <a:solidFill>
                      <a:srgbClr val="ECEFEF"/>
                    </a:solidFill>
                  </a:tcPr>
                </a:tc>
                <a:tc>
                  <a:txBody>
                    <a:bodyPr/>
                    <a:lstStyle/>
                    <a:p>
                      <a:pPr algn="ctr"/>
                      <a:r>
                        <a:rPr sz="750" b="1">
                          <a:solidFill>
                            <a:srgbClr val="2F3B3A"/>
                          </a:solidFill>
                          <a:latin typeface="Calibri"/>
                        </a:rPr>
                        <a:t>0</a:t>
                      </a:r>
                    </a:p>
                  </a:txBody>
                  <a:tcPr marL="45000" marR="45000" marT="12000" marB="12000" anchor="ctr">
                    <a:solidFill>
                      <a:srgbClr val="FFFFFF"/>
                    </a:solidFill>
                  </a:tcPr>
                </a:tc>
                <a:tc>
                  <a:txBody>
                    <a:bodyPr/>
                    <a:lstStyle/>
                    <a:p>
                      <a:pPr algn="ctr"/>
                      <a:r>
                        <a:rPr sz="750" b="0">
                          <a:solidFill>
                            <a:srgbClr val="6E7E7D"/>
                          </a:solidFill>
                          <a:latin typeface="Calibri"/>
                        </a:rPr>
                        <a:t>–</a:t>
                      </a:r>
                    </a:p>
                  </a:txBody>
                  <a:tcPr marL="45000" marR="45000" marT="12000" marB="12000" anchor="ctr">
                    <a:solidFill>
                      <a:srgbClr val="FFFFFF"/>
                    </a:solidFill>
                  </a:tcPr>
                </a:tc>
                <a:extLst>
                  <a:ext uri="{0D108BD9-81ED-4DB2-BD59-A6C34878D82A}">
                    <a16:rowId xmlns:a16="http://schemas.microsoft.com/office/drawing/2014/main" val="10015"/>
                  </a:ext>
                </a:extLst>
              </a:tr>
              <a:tr h="255000">
                <a:tc>
                  <a:txBody>
                    <a:bodyPr/>
                    <a:lstStyle/>
                    <a:p>
                      <a:pPr algn="l"/>
                      <a:r>
                        <a:rPr sz="750" b="1">
                          <a:solidFill>
                            <a:srgbClr val="4A6572"/>
                          </a:solidFill>
                          <a:latin typeface="Calibri"/>
                        </a:rPr>
                        <a:t>Nuevo</a:t>
                      </a:r>
                    </a:p>
                  </a:txBody>
                  <a:tcPr marL="45000" marR="45000" marT="12000" marB="12000" anchor="ctr">
                    <a:solidFill>
                      <a:srgbClr val="F7F9F9"/>
                    </a:solidFill>
                  </a:tcPr>
                </a:tc>
                <a:tc>
                  <a:txBody>
                    <a:bodyPr/>
                    <a:lstStyle/>
                    <a:p>
                      <a:pPr algn="l"/>
                      <a:r>
                        <a:rPr sz="750" b="0">
                          <a:solidFill>
                            <a:srgbClr val="2F3B3A"/>
                          </a:solidFill>
                          <a:latin typeface="Calibri"/>
                        </a:rPr>
                        <a:t>&gt; 250K</a:t>
                      </a:r>
                    </a:p>
                  </a:txBody>
                  <a:tcPr marL="45000" marR="45000" marT="12000" marB="12000" anchor="ctr">
                    <a:solidFill>
                      <a:srgbClr val="F7F9F9"/>
                    </a:solidFill>
                  </a:tcPr>
                </a:tc>
                <a:tc>
                  <a:txBody>
                    <a:bodyPr/>
                    <a:lstStyle/>
                    <a:p>
                      <a:pPr algn="ctr"/>
                      <a:r>
                        <a:rPr sz="750" b="1">
                          <a:solidFill>
                            <a:srgbClr val="FFFFFF"/>
                          </a:solidFill>
                          <a:latin typeface="Calibri"/>
                        </a:rPr>
                        <a:t>Alta</a:t>
                      </a:r>
                    </a:p>
                  </a:txBody>
                  <a:tcPr marL="45000" marR="45000" marT="12000" marB="12000" anchor="ctr">
                    <a:solidFill>
                      <a:srgbClr val="1F3A5F"/>
                    </a:solidFill>
                  </a:tcPr>
                </a:tc>
                <a:tc>
                  <a:txBody>
                    <a:bodyPr/>
                    <a:lstStyle/>
                    <a:p>
                      <a:pPr algn="ctr"/>
                      <a:r>
                        <a:rPr sz="750" b="1">
                          <a:solidFill>
                            <a:srgbClr val="E5173F"/>
                          </a:solidFill>
                          <a:latin typeface="Calibri"/>
                        </a:rPr>
                        <a:t>En línea</a:t>
                      </a:r>
                    </a:p>
                  </a:txBody>
                  <a:tcPr marL="45000" marR="45000" marT="12000" marB="12000" anchor="ctr">
                    <a:solidFill>
                      <a:srgbClr val="FCE9E7"/>
                    </a:solidFill>
                  </a:tcPr>
                </a:tc>
                <a:tc>
                  <a:txBody>
                    <a:bodyPr/>
                    <a:lstStyle/>
                    <a:p>
                      <a:pPr algn="l"/>
                      <a:r>
                        <a:rPr sz="750" b="1">
                          <a:solidFill>
                            <a:srgbClr val="FFFFFF"/>
                          </a:solidFill>
                          <a:latin typeface="Calibri"/>
                        </a:rPr>
                        <a:t>Bajar</a:t>
                      </a:r>
                    </a:p>
                  </a:txBody>
                  <a:tcPr marL="45000" marR="45000" marT="12000" marB="12000" anchor="ctr">
                    <a:solidFill>
                      <a:srgbClr val="E5173F"/>
                    </a:solidFill>
                  </a:tcPr>
                </a:tc>
                <a:tc>
                  <a:txBody>
                    <a:bodyPr/>
                    <a:lstStyle/>
                    <a:p>
                      <a:pPr algn="ctr"/>
                      <a:r>
                        <a:rPr sz="750" b="1">
                          <a:solidFill>
                            <a:srgbClr val="E5173F"/>
                          </a:solidFill>
                          <a:latin typeface="Calibri"/>
                        </a:rPr>
                        <a:t>−25 pbs</a:t>
                      </a:r>
                    </a:p>
                  </a:txBody>
                  <a:tcPr marL="45000" marR="45000" marT="12000" marB="12000" anchor="ctr">
                    <a:solidFill>
                      <a:srgbClr val="F7F9F9"/>
                    </a:solidFill>
                  </a:tcPr>
                </a:tc>
                <a:tc>
                  <a:txBody>
                    <a:bodyPr/>
                    <a:lstStyle/>
                    <a:p>
                      <a:pPr algn="ctr"/>
                      <a:r>
                        <a:rPr sz="750" b="0">
                          <a:solidFill>
                            <a:srgbClr val="2F3B3A"/>
                          </a:solidFill>
                          <a:latin typeface="Calibri"/>
                        </a:rPr>
                        <a:t>+7%</a:t>
                      </a:r>
                    </a:p>
                  </a:txBody>
                  <a:tcPr marL="45000" marR="45000" marT="12000" marB="12000" anchor="ctr">
                    <a:solidFill>
                      <a:srgbClr val="F7F9F9"/>
                    </a:solidFill>
                  </a:tcPr>
                </a:tc>
                <a:extLst>
                  <a:ext uri="{0D108BD9-81ED-4DB2-BD59-A6C34878D82A}">
                    <a16:rowId xmlns:a16="http://schemas.microsoft.com/office/drawing/2014/main" val="10016"/>
                  </a:ext>
                </a:extLst>
              </a:tr>
              <a:tr h="255000">
                <a:tc>
                  <a:txBody>
                    <a:bodyPr/>
                    <a:lstStyle/>
                    <a:p>
                      <a:pPr algn="l"/>
                      <a:r>
                        <a:rPr sz="750" b="1">
                          <a:solidFill>
                            <a:srgbClr val="4A6572"/>
                          </a:solidFill>
                          <a:latin typeface="Calibri"/>
                        </a:rPr>
                        <a:t>Izipay</a:t>
                      </a:r>
                    </a:p>
                  </a:txBody>
                  <a:tcPr marL="45000" marR="45000" marT="12000" marB="12000" anchor="ctr">
                    <a:solidFill>
                      <a:srgbClr val="F7F9F9"/>
                    </a:solidFill>
                  </a:tcPr>
                </a:tc>
                <a:tc>
                  <a:txBody>
                    <a:bodyPr/>
                    <a:lstStyle/>
                    <a:p>
                      <a:pPr algn="l"/>
                      <a:r>
                        <a:rPr sz="750" b="0">
                          <a:solidFill>
                            <a:srgbClr val="2F3B3A"/>
                          </a:solidFill>
                          <a:latin typeface="Calibri"/>
                        </a:rPr>
                        <a:t>Pasivos &lt; 1K</a:t>
                      </a:r>
                    </a:p>
                  </a:txBody>
                  <a:tcPr marL="45000" marR="45000" marT="12000" marB="12000" anchor="ctr">
                    <a:solidFill>
                      <a:srgbClr val="F7F9F9"/>
                    </a:solidFill>
                  </a:tcPr>
                </a:tc>
                <a:tc>
                  <a:txBody>
                    <a:bodyPr/>
                    <a:lstStyle/>
                    <a:p>
                      <a:pPr algn="ctr"/>
                      <a:r>
                        <a:rPr sz="750" b="1">
                          <a:solidFill>
                            <a:srgbClr val="FFFFFF"/>
                          </a:solidFill>
                          <a:latin typeface="Calibri"/>
                        </a:rPr>
                        <a:t>Alta</a:t>
                      </a:r>
                    </a:p>
                  </a:txBody>
                  <a:tcPr marL="45000" marR="45000" marT="12000" marB="12000" anchor="ctr">
                    <a:solidFill>
                      <a:srgbClr val="1F3A5F"/>
                    </a:solidFill>
                  </a:tcPr>
                </a:tc>
                <a:tc>
                  <a:txBody>
                    <a:bodyPr/>
                    <a:lstStyle/>
                    <a:p>
                      <a:pPr algn="ctr"/>
                      <a:r>
                        <a:rPr sz="750" b="0">
                          <a:solidFill>
                            <a:srgbClr val="6E7E7D"/>
                          </a:solidFill>
                          <a:latin typeface="Calibri"/>
                        </a:rPr>
                        <a:t>Sin materialidad</a:t>
                      </a:r>
                    </a:p>
                  </a:txBody>
                  <a:tcPr marL="45000" marR="45000" marT="12000" marB="12000" anchor="ctr">
                    <a:solidFill>
                      <a:srgbClr val="F2F4F4"/>
                    </a:solidFill>
                  </a:tcPr>
                </a:tc>
                <a:tc>
                  <a:txBody>
                    <a:bodyPr/>
                    <a:lstStyle/>
                    <a:p>
                      <a:pPr algn="l"/>
                      <a:r>
                        <a:rPr sz="750" b="1">
                          <a:solidFill>
                            <a:srgbClr val="2F3B3A"/>
                          </a:solidFill>
                          <a:latin typeface="Calibri"/>
                        </a:rPr>
                        <a:t>Mantener</a:t>
                      </a:r>
                    </a:p>
                  </a:txBody>
                  <a:tcPr marL="45000" marR="45000" marT="12000" marB="12000" anchor="ctr">
                    <a:solidFill>
                      <a:srgbClr val="ECEFEF"/>
                    </a:solidFill>
                  </a:tcPr>
                </a:tc>
                <a:tc>
                  <a:txBody>
                    <a:bodyPr/>
                    <a:lstStyle/>
                    <a:p>
                      <a:pPr algn="ctr"/>
                      <a:r>
                        <a:rPr sz="750" b="1">
                          <a:solidFill>
                            <a:srgbClr val="2F3B3A"/>
                          </a:solidFill>
                          <a:latin typeface="Calibri"/>
                        </a:rPr>
                        <a:t>0</a:t>
                      </a:r>
                    </a:p>
                  </a:txBody>
                  <a:tcPr marL="45000" marR="45000" marT="12000" marB="12000" anchor="ctr">
                    <a:solidFill>
                      <a:srgbClr val="F7F9F9"/>
                    </a:solidFill>
                  </a:tcPr>
                </a:tc>
                <a:tc>
                  <a:txBody>
                    <a:bodyPr/>
                    <a:lstStyle/>
                    <a:p>
                      <a:pPr algn="ctr"/>
                      <a:r>
                        <a:rPr sz="750" b="0" dirty="0">
                          <a:solidFill>
                            <a:srgbClr val="6E7E7D"/>
                          </a:solidFill>
                          <a:latin typeface="Calibri"/>
                        </a:rPr>
                        <a:t>–</a:t>
                      </a:r>
                    </a:p>
                  </a:txBody>
                  <a:tcPr marL="45000" marR="45000" marT="12000" marB="12000" anchor="ctr">
                    <a:solidFill>
                      <a:srgbClr val="F7F9F9"/>
                    </a:solidFill>
                  </a:tcPr>
                </a:tc>
                <a:extLst>
                  <a:ext uri="{0D108BD9-81ED-4DB2-BD59-A6C34878D82A}">
                    <a16:rowId xmlns:a16="http://schemas.microsoft.com/office/drawing/2014/main" val="10018"/>
                  </a:ext>
                </a:extLst>
              </a:tr>
              <a:tr h="255000">
                <a:tc>
                  <a:txBody>
                    <a:bodyPr/>
                    <a:lstStyle/>
                    <a:p>
                      <a:pPr algn="l"/>
                      <a:r>
                        <a:rPr sz="750" b="1">
                          <a:solidFill>
                            <a:srgbClr val="4A6572"/>
                          </a:solidFill>
                          <a:latin typeface="Calibri"/>
                        </a:rPr>
                        <a:t>Izipay</a:t>
                      </a:r>
                    </a:p>
                  </a:txBody>
                  <a:tcPr marL="45000" marR="45000" marT="12000" marB="12000" anchor="ctr">
                    <a:solidFill>
                      <a:srgbClr val="FFFFFF"/>
                    </a:solidFill>
                  </a:tcPr>
                </a:tc>
                <a:tc>
                  <a:txBody>
                    <a:bodyPr/>
                    <a:lstStyle/>
                    <a:p>
                      <a:pPr algn="l"/>
                      <a:r>
                        <a:rPr sz="750" b="0">
                          <a:solidFill>
                            <a:srgbClr val="2F3B3A"/>
                          </a:solidFill>
                          <a:latin typeface="Calibri"/>
                        </a:rPr>
                        <a:t>Pasivos 1–20K</a:t>
                      </a:r>
                    </a:p>
                  </a:txBody>
                  <a:tcPr marL="45000" marR="45000" marT="12000" marB="12000" anchor="ctr">
                    <a:solidFill>
                      <a:srgbClr val="FFFFFF"/>
                    </a:solidFill>
                  </a:tcPr>
                </a:tc>
                <a:tc>
                  <a:txBody>
                    <a:bodyPr/>
                    <a:lstStyle/>
                    <a:p>
                      <a:pPr algn="ctr"/>
                      <a:r>
                        <a:rPr sz="750" b="1">
                          <a:solidFill>
                            <a:srgbClr val="FFFFFF"/>
                          </a:solidFill>
                          <a:latin typeface="Calibri"/>
                        </a:rPr>
                        <a:t>Alta</a:t>
                      </a:r>
                    </a:p>
                  </a:txBody>
                  <a:tcPr marL="45000" marR="45000" marT="12000" marB="12000" anchor="ctr">
                    <a:solidFill>
                      <a:srgbClr val="1F3A5F"/>
                    </a:solidFill>
                  </a:tcPr>
                </a:tc>
                <a:tc>
                  <a:txBody>
                    <a:bodyPr/>
                    <a:lstStyle/>
                    <a:p>
                      <a:pPr algn="ctr"/>
                      <a:r>
                        <a:rPr sz="750" b="0">
                          <a:solidFill>
                            <a:srgbClr val="6E7E7D"/>
                          </a:solidFill>
                          <a:latin typeface="Calibri"/>
                        </a:rPr>
                        <a:t>Sin materialidad</a:t>
                      </a:r>
                    </a:p>
                  </a:txBody>
                  <a:tcPr marL="45000" marR="45000" marT="12000" marB="12000" anchor="ctr">
                    <a:solidFill>
                      <a:srgbClr val="F2F4F4"/>
                    </a:solidFill>
                  </a:tcPr>
                </a:tc>
                <a:tc>
                  <a:txBody>
                    <a:bodyPr/>
                    <a:lstStyle/>
                    <a:p>
                      <a:pPr algn="l"/>
                      <a:r>
                        <a:rPr sz="750" b="1">
                          <a:solidFill>
                            <a:srgbClr val="2F3B3A"/>
                          </a:solidFill>
                          <a:latin typeface="Calibri"/>
                        </a:rPr>
                        <a:t>Mantener</a:t>
                      </a:r>
                    </a:p>
                  </a:txBody>
                  <a:tcPr marL="45000" marR="45000" marT="12000" marB="12000" anchor="ctr">
                    <a:solidFill>
                      <a:srgbClr val="ECEFEF"/>
                    </a:solidFill>
                  </a:tcPr>
                </a:tc>
                <a:tc>
                  <a:txBody>
                    <a:bodyPr/>
                    <a:lstStyle/>
                    <a:p>
                      <a:pPr algn="ctr"/>
                      <a:r>
                        <a:rPr sz="750" b="1">
                          <a:solidFill>
                            <a:srgbClr val="2F3B3A"/>
                          </a:solidFill>
                          <a:latin typeface="Calibri"/>
                        </a:rPr>
                        <a:t>0</a:t>
                      </a:r>
                    </a:p>
                  </a:txBody>
                  <a:tcPr marL="45000" marR="45000" marT="12000" marB="12000" anchor="ctr">
                    <a:solidFill>
                      <a:srgbClr val="FFFFFF"/>
                    </a:solidFill>
                  </a:tcPr>
                </a:tc>
                <a:tc>
                  <a:txBody>
                    <a:bodyPr/>
                    <a:lstStyle/>
                    <a:p>
                      <a:pPr algn="ctr"/>
                      <a:r>
                        <a:rPr sz="750" b="0">
                          <a:solidFill>
                            <a:srgbClr val="6E7E7D"/>
                          </a:solidFill>
                          <a:latin typeface="Calibri"/>
                        </a:rPr>
                        <a:t>–</a:t>
                      </a:r>
                    </a:p>
                  </a:txBody>
                  <a:tcPr marL="45000" marR="45000" marT="12000" marB="12000" anchor="ctr">
                    <a:solidFill>
                      <a:srgbClr val="FFFFFF"/>
                    </a:solidFill>
                  </a:tcPr>
                </a:tc>
                <a:extLst>
                  <a:ext uri="{0D108BD9-81ED-4DB2-BD59-A6C34878D82A}">
                    <a16:rowId xmlns:a16="http://schemas.microsoft.com/office/drawing/2014/main" val="10017"/>
                  </a:ext>
                </a:extLst>
              </a:tr>
            </a:tbl>
          </a:graphicData>
        </a:graphic>
      </p:graphicFrame>
      <p:sp>
        <p:nvSpPr>
          <p:cNvPr id="19" name="TextBox 18"/>
          <p:cNvSpPr txBox="1"/>
          <p:nvPr/>
        </p:nvSpPr>
        <p:spPr>
          <a:xfrm>
            <a:off x="4043776" y="6105000"/>
            <a:ext cx="7651400" cy="300000"/>
          </a:xfrm>
          <a:prstGeom prst="rect">
            <a:avLst/>
          </a:prstGeom>
          <a:noFill/>
        </p:spPr>
        <p:txBody>
          <a:bodyPr wrap="square">
            <a:spAutoFit/>
          </a:bodyPr>
          <a:lstStyle/>
          <a:p>
            <a:r>
              <a:rPr sz="750">
                <a:solidFill>
                  <a:srgbClr val="6E7E7D"/>
                </a:solidFill>
                <a:latin typeface="Lato"/>
              </a:rPr>
              <a:t>* Excepción a la regla: con sensibilidad alta la matriz indica mantener, pero en Reactivar con pasivos de S/ 5K o más el share no reaccionó a las subidas de oferta del último año.</a:t>
            </a:r>
          </a:p>
        </p:txBody>
      </p:sp>
    </p:spTree>
    <p:extLst>
      <p:ext uri="{BB962C8B-B14F-4D97-AF65-F5344CB8AC3E}">
        <p14:creationId xmlns:p14="http://schemas.microsoft.com/office/powerpoint/2010/main" val="90526303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493777" y="246888"/>
            <a:ext cx="8963570" cy="109710"/>
          </a:xfrm>
          <a:prstGeom prst="rect">
            <a:avLst/>
          </a:prstGeom>
          <a:noFill/>
        </p:spPr>
        <p:txBody>
          <a:bodyPr wrap="square" lIns="0" tIns="0" rIns="0" bIns="0" anchor="t">
            <a:spAutoFit/>
          </a:bodyPr>
          <a:lstStyle/>
          <a:p>
            <a:pPr algn="l"/>
            <a:r>
              <a:rPr sz="800" b="1">
                <a:solidFill>
                  <a:srgbClr val="6E7E7D"/>
                </a:solidFill>
                <a:latin typeface="Calibri"/>
              </a:rPr>
              <a:t>ANEXO · PERFILES DE CLIENTES</a:t>
            </a:r>
          </a:p>
        </p:txBody>
      </p:sp>
      <p:sp>
        <p:nvSpPr>
          <p:cNvPr id="3" name="TextBox 2"/>
          <p:cNvSpPr txBox="1"/>
          <p:nvPr/>
        </p:nvSpPr>
        <p:spPr>
          <a:xfrm>
            <a:off x="493776" y="425196"/>
            <a:ext cx="10312923" cy="482568"/>
          </a:xfrm>
          <a:prstGeom prst="rect">
            <a:avLst/>
          </a:prstGeom>
          <a:noFill/>
        </p:spPr>
        <p:txBody>
          <a:bodyPr wrap="square" lIns="0" tIns="0" rIns="0" bIns="0" anchor="t">
            <a:spAutoFit/>
          </a:bodyPr>
          <a:lstStyle/>
          <a:p>
            <a:pPr algn="l"/>
            <a:r>
              <a:rPr sz="1600" b="1">
                <a:solidFill>
                  <a:srgbClr val="13807B"/>
                </a:solidFill>
                <a:latin typeface="Poppins"/>
              </a:rPr>
              <a:t>Anexo · Los 9 perfiles se distinguen por su escala, su relación con Interbank y cuánto negocian la tasa</a:t>
            </a:r>
          </a:p>
        </p:txBody>
      </p:sp>
      <p:cxnSp>
        <p:nvCxnSpPr>
          <p:cNvPr id="4" name="Connector 3"/>
          <p:cNvCxnSpPr/>
          <p:nvPr/>
        </p:nvCxnSpPr>
        <p:spPr>
          <a:xfrm>
            <a:off x="493776" y="1049274"/>
            <a:ext cx="11204463" cy="0"/>
          </a:xfrm>
          <a:prstGeom prst="line">
            <a:avLst/>
          </a:prstGeom>
          <a:ln w="12700">
            <a:solidFill>
              <a:srgbClr val="D5DFDE"/>
            </a:solidFill>
          </a:ln>
        </p:spPr>
        <p:style>
          <a:lnRef idx="2">
            <a:schemeClr val="accent1"/>
          </a:lnRef>
          <a:fillRef idx="0">
            <a:schemeClr val="accent1"/>
          </a:fillRef>
          <a:effectRef idx="1">
            <a:schemeClr val="accent1"/>
          </a:effectRef>
          <a:fontRef idx="minor">
            <a:schemeClr val="tx1"/>
          </a:fontRef>
        </p:style>
      </p:cxnSp>
      <p:pic>
        <p:nvPicPr>
          <p:cNvPr id="5" name="Picture 4" descr="logo.png"/>
          <p:cNvPicPr>
            <a:picLocks noChangeAspect="1"/>
          </p:cNvPicPr>
          <p:nvPr/>
        </p:nvPicPr>
        <p:blipFill>
          <a:blip r:embed="rId2"/>
          <a:stretch>
            <a:fillRect/>
          </a:stretch>
        </p:blipFill>
        <p:spPr>
          <a:xfrm>
            <a:off x="11081186" y="82166"/>
            <a:ext cx="916962" cy="343030"/>
          </a:xfrm>
          <a:prstGeom prst="rect">
            <a:avLst/>
          </a:prstGeom>
        </p:spPr>
      </p:pic>
      <p:sp>
        <p:nvSpPr>
          <p:cNvPr id="6" name="Rectangle 5"/>
          <p:cNvSpPr/>
          <p:nvPr/>
        </p:nvSpPr>
        <p:spPr>
          <a:xfrm>
            <a:off x="493776" y="1180000"/>
            <a:ext cx="3633800" cy="1450000"/>
          </a:xfrm>
          <a:prstGeom prst="rect">
            <a:avLst/>
          </a:prstGeom>
          <a:solidFill>
            <a:srgbClr val="F7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93776" y="1180000"/>
            <a:ext cx="45000" cy="1450000"/>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33776" y="1250000"/>
            <a:ext cx="3413800" cy="1330000"/>
          </a:xfrm>
          <a:prstGeom prst="rect">
            <a:avLst/>
          </a:prstGeom>
          <a:noFill/>
        </p:spPr>
        <p:txBody>
          <a:bodyPr wrap="square" lIns="0" tIns="0" rIns="0" bIns="0" anchor="t">
            <a:spAutoFit/>
          </a:bodyPr>
          <a:lstStyle/>
          <a:p>
            <a:pPr algn="l"/>
            <a:r>
              <a:rPr sz="1050" b="1">
                <a:solidFill>
                  <a:srgbClr val="13807B"/>
                </a:solidFill>
                <a:latin typeface="Calibri"/>
              </a:rPr>
              <a:t>Cliente Ancla</a:t>
            </a:r>
            <a:r>
              <a:rPr sz="800" b="0">
                <a:solidFill>
                  <a:srgbClr val="6E7E7D"/>
                </a:solidFill>
                <a:latin typeface="Calibri"/>
              </a:rPr>
              <a:t>   Fidelizados</a:t>
            </a:r>
          </a:p>
          <a:p>
            <a:pPr algn="l">
              <a:spcBef>
                <a:spcPts val="300"/>
              </a:spcBef>
            </a:pPr>
            <a:r>
              <a:rPr sz="850" b="0">
                <a:solidFill>
                  <a:srgbClr val="2F3B3A"/>
                </a:solidFill>
                <a:latin typeface="Calibri"/>
              </a:rPr>
              <a:t>Cliente consolidado que ya nos prefiere: 69% de su deuda está con nosotros, alta rentabilidad y el mayor retanqueo</a:t>
            </a:r>
          </a:p>
          <a:p>
            <a:pPr algn="l">
              <a:spcBef>
                <a:spcPts val="300"/>
              </a:spcBef>
            </a:pPr>
            <a:r>
              <a:rPr sz="750" b="1">
                <a:solidFill>
                  <a:srgbClr val="2F3B3A"/>
                </a:solidFill>
                <a:latin typeface="Calibri"/>
              </a:rPr>
              <a:t>SOW 69% · Ventas S/ 682K · UAI S/ 888 · Pasivos S/ 18K</a:t>
            </a:r>
          </a:p>
          <a:p>
            <a:pPr algn="l">
              <a:spcBef>
                <a:spcPts val="300"/>
              </a:spcBef>
            </a:pPr>
            <a:r>
              <a:rPr sz="750" b="0">
                <a:solidFill>
                  <a:srgbClr val="6E7E7D"/>
                </a:solidFill>
                <a:latin typeface="Calibri"/>
              </a:rPr>
              <a:t>Ticket S/ 150K · 9 años · TEA oferta 20,0% · desembolso 17,7%</a:t>
            </a:r>
          </a:p>
          <a:p>
            <a:pPr algn="l">
              <a:spcBef>
                <a:spcPts val="300"/>
              </a:spcBef>
            </a:pPr>
            <a:r>
              <a:rPr sz="750" b="0">
                <a:solidFill>
                  <a:srgbClr val="6E7E7D"/>
                </a:solidFill>
                <a:latin typeface="Calibri"/>
              </a:rPr>
              <a:t>Retanqueo 18,7% · 14% de los clientes y 16% del monto · Segmento A 98%</a:t>
            </a:r>
          </a:p>
        </p:txBody>
      </p:sp>
      <p:sp>
        <p:nvSpPr>
          <p:cNvPr id="9" name="Rectangle 8"/>
          <p:cNvSpPr/>
          <p:nvPr/>
        </p:nvSpPr>
        <p:spPr>
          <a:xfrm>
            <a:off x="4277576" y="1180000"/>
            <a:ext cx="3633800" cy="1450000"/>
          </a:xfrm>
          <a:prstGeom prst="rect">
            <a:avLst/>
          </a:prstGeom>
          <a:solidFill>
            <a:srgbClr val="F7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277576" y="1180000"/>
            <a:ext cx="45000" cy="1450000"/>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417576" y="1250000"/>
            <a:ext cx="3413800" cy="1330000"/>
          </a:xfrm>
          <a:prstGeom prst="rect">
            <a:avLst/>
          </a:prstGeom>
          <a:noFill/>
        </p:spPr>
        <p:txBody>
          <a:bodyPr wrap="square" lIns="0" tIns="0" rIns="0" bIns="0" anchor="t">
            <a:spAutoFit/>
          </a:bodyPr>
          <a:lstStyle/>
          <a:p>
            <a:pPr algn="l"/>
            <a:r>
              <a:rPr sz="1050" b="1">
                <a:solidFill>
                  <a:srgbClr val="13807B"/>
                </a:solidFill>
                <a:latin typeface="Calibri"/>
              </a:rPr>
              <a:t>Socio en Crecimiento</a:t>
            </a:r>
            <a:r>
              <a:rPr sz="800" b="0">
                <a:solidFill>
                  <a:srgbClr val="6E7E7D"/>
                </a:solidFill>
                <a:latin typeface="Calibri"/>
              </a:rPr>
              <a:t>   Fidelizados</a:t>
            </a:r>
          </a:p>
          <a:p>
            <a:pPr algn="l">
              <a:spcBef>
                <a:spcPts val="300"/>
              </a:spcBef>
            </a:pPr>
            <a:r>
              <a:rPr sz="850" b="0">
                <a:solidFill>
                  <a:srgbClr val="2F3B3A"/>
                </a:solidFill>
                <a:latin typeface="Calibri"/>
              </a:rPr>
              <a:t>Nos prefiere pero con menos escala y liquidez: pasivos de S/ 3,9K, UAI de S/ 226 y bajo retanqueo</a:t>
            </a:r>
          </a:p>
          <a:p>
            <a:pPr algn="l">
              <a:spcBef>
                <a:spcPts val="300"/>
              </a:spcBef>
            </a:pPr>
            <a:r>
              <a:rPr sz="750" b="1">
                <a:solidFill>
                  <a:srgbClr val="2F3B3A"/>
                </a:solidFill>
                <a:latin typeface="Calibri"/>
              </a:rPr>
              <a:t>SOW 69% · Ventas S/ 444K · UAI S/ 226 · Pasivos S/ 3,9K</a:t>
            </a:r>
          </a:p>
          <a:p>
            <a:pPr algn="l">
              <a:spcBef>
                <a:spcPts val="300"/>
              </a:spcBef>
            </a:pPr>
            <a:r>
              <a:rPr sz="750" b="0">
                <a:solidFill>
                  <a:srgbClr val="6E7E7D"/>
                </a:solidFill>
                <a:latin typeface="Calibri"/>
              </a:rPr>
              <a:t>Ticket S/ 100K · 8 años · TEA oferta 20,6% · desembolso 18,2%</a:t>
            </a:r>
          </a:p>
          <a:p>
            <a:pPr algn="l">
              <a:spcBef>
                <a:spcPts val="300"/>
              </a:spcBef>
            </a:pPr>
            <a:r>
              <a:rPr sz="750" b="0">
                <a:solidFill>
                  <a:srgbClr val="6E7E7D"/>
                </a:solidFill>
                <a:latin typeface="Calibri"/>
              </a:rPr>
              <a:t>Retanqueo 7,5% · 12% de los clientes y 9% del monto · Segmento A 30%</a:t>
            </a:r>
          </a:p>
        </p:txBody>
      </p:sp>
      <p:sp>
        <p:nvSpPr>
          <p:cNvPr id="12" name="Rectangle 11"/>
          <p:cNvSpPr/>
          <p:nvPr/>
        </p:nvSpPr>
        <p:spPr>
          <a:xfrm>
            <a:off x="8061376" y="1180000"/>
            <a:ext cx="3633800" cy="1450000"/>
          </a:xfrm>
          <a:prstGeom prst="rect">
            <a:avLst/>
          </a:prstGeom>
          <a:solidFill>
            <a:srgbClr val="F7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8061376" y="1180000"/>
            <a:ext cx="45000" cy="1450000"/>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201376" y="1250000"/>
            <a:ext cx="3413800" cy="1330000"/>
          </a:xfrm>
          <a:prstGeom prst="rect">
            <a:avLst/>
          </a:prstGeom>
          <a:noFill/>
        </p:spPr>
        <p:txBody>
          <a:bodyPr wrap="square" lIns="0" tIns="0" rIns="0" bIns="0" anchor="t">
            <a:spAutoFit/>
          </a:bodyPr>
          <a:lstStyle/>
          <a:p>
            <a:pPr algn="l"/>
            <a:r>
              <a:rPr sz="1050" b="1">
                <a:solidFill>
                  <a:srgbClr val="13807B"/>
                </a:solidFill>
                <a:latin typeface="Calibri"/>
              </a:rPr>
              <a:t>Cuenta Estratégica</a:t>
            </a:r>
            <a:r>
              <a:rPr sz="800" b="0">
                <a:solidFill>
                  <a:srgbClr val="6E7E7D"/>
                </a:solidFill>
                <a:latin typeface="Calibri"/>
              </a:rPr>
              <a:t>   Grandes por fidelizar</a:t>
            </a:r>
          </a:p>
          <a:p>
            <a:pPr algn="l">
              <a:spcBef>
                <a:spcPts val="300"/>
              </a:spcBef>
            </a:pPr>
            <a:r>
              <a:rPr sz="850" b="0">
                <a:solidFill>
                  <a:srgbClr val="2F3B3A"/>
                </a:solidFill>
                <a:latin typeface="Calibri"/>
              </a:rPr>
              <a:t>La más rentable y con más liquidez: UAI de S/ 1.139 y pasivos de S/ 26K, con ventas de S/ 2,7MM y 38% de su deuda con nosotros</a:t>
            </a:r>
          </a:p>
          <a:p>
            <a:pPr algn="l">
              <a:spcBef>
                <a:spcPts val="300"/>
              </a:spcBef>
            </a:pPr>
            <a:r>
              <a:rPr sz="750" b="1">
                <a:solidFill>
                  <a:srgbClr val="2F3B3A"/>
                </a:solidFill>
                <a:latin typeface="Calibri"/>
              </a:rPr>
              <a:t>SOW 38% · Ventas S/ 2,7MM · UAI S/ 1.139 · Pasivos S/ 26K</a:t>
            </a:r>
          </a:p>
          <a:p>
            <a:pPr algn="l">
              <a:spcBef>
                <a:spcPts val="300"/>
              </a:spcBef>
            </a:pPr>
            <a:r>
              <a:rPr sz="750" b="0">
                <a:solidFill>
                  <a:srgbClr val="6E7E7D"/>
                </a:solidFill>
                <a:latin typeface="Calibri"/>
              </a:rPr>
              <a:t>Ticket S/ 220K · 9 años · TEA oferta 20,0% · desembolso 17,2%</a:t>
            </a:r>
          </a:p>
          <a:p>
            <a:pPr algn="l">
              <a:spcBef>
                <a:spcPts val="300"/>
              </a:spcBef>
            </a:pPr>
            <a:r>
              <a:rPr sz="750" b="0">
                <a:solidFill>
                  <a:srgbClr val="6E7E7D"/>
                </a:solidFill>
                <a:latin typeface="Calibri"/>
              </a:rPr>
              <a:t>Retanqueo 13,1% · 13% de los clientes y 21% del monto · Segmento A 99%</a:t>
            </a:r>
          </a:p>
        </p:txBody>
      </p:sp>
      <p:sp>
        <p:nvSpPr>
          <p:cNvPr id="15" name="Rectangle 14"/>
          <p:cNvSpPr/>
          <p:nvPr/>
        </p:nvSpPr>
        <p:spPr>
          <a:xfrm>
            <a:off x="493776" y="2740000"/>
            <a:ext cx="3633800" cy="1450000"/>
          </a:xfrm>
          <a:prstGeom prst="rect">
            <a:avLst/>
          </a:prstGeom>
          <a:solidFill>
            <a:srgbClr val="F7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493776" y="2740000"/>
            <a:ext cx="45000" cy="1450000"/>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33776" y="2810000"/>
            <a:ext cx="3413800" cy="1330000"/>
          </a:xfrm>
          <a:prstGeom prst="rect">
            <a:avLst/>
          </a:prstGeom>
          <a:noFill/>
        </p:spPr>
        <p:txBody>
          <a:bodyPr wrap="square" lIns="0" tIns="0" rIns="0" bIns="0" anchor="t">
            <a:spAutoFit/>
          </a:bodyPr>
          <a:lstStyle/>
          <a:p>
            <a:pPr algn="l"/>
            <a:r>
              <a:rPr sz="1050" b="1">
                <a:solidFill>
                  <a:srgbClr val="13807B"/>
                </a:solidFill>
                <a:latin typeface="Calibri"/>
              </a:rPr>
              <a:t>Maduro Multibanco</a:t>
            </a:r>
            <a:r>
              <a:rPr sz="800" b="0">
                <a:solidFill>
                  <a:srgbClr val="6E7E7D"/>
                </a:solidFill>
                <a:latin typeface="Calibri"/>
              </a:rPr>
              <a:t>   Medianos por fidelizar</a:t>
            </a:r>
          </a:p>
          <a:p>
            <a:pPr algn="l">
              <a:spcBef>
                <a:spcPts val="300"/>
              </a:spcBef>
            </a:pPr>
            <a:r>
              <a:rPr sz="850" b="0">
                <a:solidFill>
                  <a:srgbClr val="2F3B3A"/>
                </a:solidFill>
                <a:latin typeface="Calibri"/>
              </a:rPr>
              <a:t>Empresa madura que trabaja con varios bancos: solo 25% de su deuda está con nosotros, con pasivos y rentabilidad intermedios</a:t>
            </a:r>
          </a:p>
          <a:p>
            <a:pPr algn="l">
              <a:spcBef>
                <a:spcPts val="300"/>
              </a:spcBef>
            </a:pPr>
            <a:r>
              <a:rPr sz="750" b="1">
                <a:solidFill>
                  <a:srgbClr val="2F3B3A"/>
                </a:solidFill>
                <a:latin typeface="Calibri"/>
              </a:rPr>
              <a:t>SOW 25% · Ventas S/ 726K · UAI S/ 322 · Pasivos S/ 5,7K</a:t>
            </a:r>
          </a:p>
          <a:p>
            <a:pPr algn="l">
              <a:spcBef>
                <a:spcPts val="300"/>
              </a:spcBef>
            </a:pPr>
            <a:r>
              <a:rPr sz="750" b="0">
                <a:solidFill>
                  <a:srgbClr val="6E7E7D"/>
                </a:solidFill>
                <a:latin typeface="Calibri"/>
              </a:rPr>
              <a:t>Ticket S/ 160K · 10 años · TEA oferta 20,2% · desembolso 17,3%</a:t>
            </a:r>
          </a:p>
          <a:p>
            <a:pPr algn="l">
              <a:spcBef>
                <a:spcPts val="300"/>
              </a:spcBef>
            </a:pPr>
            <a:r>
              <a:rPr sz="750" b="0">
                <a:solidFill>
                  <a:srgbClr val="6E7E7D"/>
                </a:solidFill>
                <a:latin typeface="Calibri"/>
              </a:rPr>
              <a:t>Retanqueo 7,1% · 12% de los clientes y 14% del monto · Segmento A 78%</a:t>
            </a:r>
          </a:p>
        </p:txBody>
      </p:sp>
      <p:sp>
        <p:nvSpPr>
          <p:cNvPr id="18" name="Rectangle 17"/>
          <p:cNvSpPr/>
          <p:nvPr/>
        </p:nvSpPr>
        <p:spPr>
          <a:xfrm>
            <a:off x="4277576" y="2740000"/>
            <a:ext cx="3633800" cy="1450000"/>
          </a:xfrm>
          <a:prstGeom prst="rect">
            <a:avLst/>
          </a:prstGeom>
          <a:solidFill>
            <a:srgbClr val="F7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4277576" y="2740000"/>
            <a:ext cx="45000" cy="1450000"/>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417576" y="2810000"/>
            <a:ext cx="3413800" cy="1330000"/>
          </a:xfrm>
          <a:prstGeom prst="rect">
            <a:avLst/>
          </a:prstGeom>
          <a:noFill/>
        </p:spPr>
        <p:txBody>
          <a:bodyPr wrap="square" lIns="0" tIns="0" rIns="0" bIns="0" anchor="t">
            <a:spAutoFit/>
          </a:bodyPr>
          <a:lstStyle/>
          <a:p>
            <a:pPr algn="l"/>
            <a:r>
              <a:rPr sz="1050" b="1">
                <a:solidFill>
                  <a:srgbClr val="13807B"/>
                </a:solidFill>
                <a:latin typeface="Calibri"/>
              </a:rPr>
              <a:t>Gran Cuenta por Conquistar</a:t>
            </a:r>
            <a:r>
              <a:rPr sz="800" b="0">
                <a:solidFill>
                  <a:srgbClr val="6E7E7D"/>
                </a:solidFill>
                <a:latin typeface="Calibri"/>
              </a:rPr>
              <a:t>   Grandes por fidelizar</a:t>
            </a:r>
          </a:p>
          <a:p>
            <a:pPr algn="l">
              <a:spcBef>
                <a:spcPts val="300"/>
              </a:spcBef>
            </a:pPr>
            <a:r>
              <a:rPr sz="850" b="0">
                <a:solidFill>
                  <a:srgbClr val="2F3B3A"/>
                </a:solidFill>
                <a:latin typeface="Calibri"/>
              </a:rPr>
              <a:t>Grande en ventas y ticket, pero con baja rentabilidad (UAI de S/ 227) y solo 12% de su deuda con nosotros</a:t>
            </a:r>
          </a:p>
          <a:p>
            <a:pPr algn="l">
              <a:spcBef>
                <a:spcPts val="300"/>
              </a:spcBef>
            </a:pPr>
            <a:r>
              <a:rPr sz="750" b="1">
                <a:solidFill>
                  <a:srgbClr val="2F3B3A"/>
                </a:solidFill>
                <a:latin typeface="Calibri"/>
              </a:rPr>
              <a:t>SOW 12% · Ventas S/ 2,8MM · UAI S/ 227 · Pasivos S/ 6,8K</a:t>
            </a:r>
          </a:p>
          <a:p>
            <a:pPr algn="l">
              <a:spcBef>
                <a:spcPts val="300"/>
              </a:spcBef>
            </a:pPr>
            <a:r>
              <a:rPr sz="750" b="0">
                <a:solidFill>
                  <a:srgbClr val="6E7E7D"/>
                </a:solidFill>
                <a:latin typeface="Calibri"/>
              </a:rPr>
              <a:t>Ticket S/ 248K · 9 años · TEA oferta 20,3% · desembolso 17,0%</a:t>
            </a:r>
          </a:p>
          <a:p>
            <a:pPr algn="l">
              <a:spcBef>
                <a:spcPts val="300"/>
              </a:spcBef>
            </a:pPr>
            <a:r>
              <a:rPr sz="750" b="0">
                <a:solidFill>
                  <a:srgbClr val="6E7E7D"/>
                </a:solidFill>
                <a:latin typeface="Calibri"/>
              </a:rPr>
              <a:t>Retanqueo 4,6% · 15% de los clientes y 23% del monto · Segmento A 85%</a:t>
            </a:r>
          </a:p>
        </p:txBody>
      </p:sp>
      <p:sp>
        <p:nvSpPr>
          <p:cNvPr id="21" name="Rectangle 20"/>
          <p:cNvSpPr/>
          <p:nvPr/>
        </p:nvSpPr>
        <p:spPr>
          <a:xfrm>
            <a:off x="8061376" y="2740000"/>
            <a:ext cx="3633800" cy="1450000"/>
          </a:xfrm>
          <a:prstGeom prst="rect">
            <a:avLst/>
          </a:prstGeom>
          <a:solidFill>
            <a:srgbClr val="F7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8061376" y="2740000"/>
            <a:ext cx="45000" cy="1450000"/>
          </a:xfrm>
          <a:prstGeom prst="rect">
            <a:avLst/>
          </a:prstGeom>
          <a:solidFill>
            <a:srgbClr val="1380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201376" y="2810000"/>
            <a:ext cx="3413800" cy="1330000"/>
          </a:xfrm>
          <a:prstGeom prst="rect">
            <a:avLst/>
          </a:prstGeom>
          <a:noFill/>
        </p:spPr>
        <p:txBody>
          <a:bodyPr wrap="square" lIns="0" tIns="0" rIns="0" bIns="0" anchor="t">
            <a:spAutoFit/>
          </a:bodyPr>
          <a:lstStyle/>
          <a:p>
            <a:pPr algn="l"/>
            <a:r>
              <a:rPr sz="1050" b="1">
                <a:solidFill>
                  <a:srgbClr val="13807B"/>
                </a:solidFill>
                <a:latin typeface="Calibri"/>
              </a:rPr>
              <a:t>Cliente por Reactivar</a:t>
            </a:r>
            <a:r>
              <a:rPr sz="800" b="0">
                <a:solidFill>
                  <a:srgbClr val="6E7E7D"/>
                </a:solidFill>
                <a:latin typeface="Calibri"/>
              </a:rPr>
              <a:t>   Medianos por fidelizar</a:t>
            </a:r>
          </a:p>
          <a:p>
            <a:pPr algn="l">
              <a:spcBef>
                <a:spcPts val="300"/>
              </a:spcBef>
            </a:pPr>
            <a:r>
              <a:rPr sz="850" b="0">
                <a:solidFill>
                  <a:srgbClr val="2F3B3A"/>
                </a:solidFill>
                <a:latin typeface="Calibri"/>
              </a:rPr>
              <a:t>No renueva y solo paga su deuda: retanqueo de 1,7%, rentabilidad baja y es de los que más descuento negocian</a:t>
            </a:r>
          </a:p>
          <a:p>
            <a:pPr algn="l">
              <a:spcBef>
                <a:spcPts val="300"/>
              </a:spcBef>
            </a:pPr>
            <a:r>
              <a:rPr sz="750" b="1">
                <a:solidFill>
                  <a:srgbClr val="2F3B3A"/>
                </a:solidFill>
                <a:latin typeface="Calibri"/>
              </a:rPr>
              <a:t>SOW 46% · Ventas S/ 485K · UAI S/ 253 · Pasivos S/ 5,4K</a:t>
            </a:r>
          </a:p>
          <a:p>
            <a:pPr algn="l">
              <a:spcBef>
                <a:spcPts val="300"/>
              </a:spcBef>
            </a:pPr>
            <a:r>
              <a:rPr sz="750" b="0">
                <a:solidFill>
                  <a:srgbClr val="6E7E7D"/>
                </a:solidFill>
                <a:latin typeface="Calibri"/>
              </a:rPr>
              <a:t>Ticket S/ 90K · 9 años · TEA oferta 22,7% · desembolso 18,9%</a:t>
            </a:r>
          </a:p>
          <a:p>
            <a:pPr algn="l">
              <a:spcBef>
                <a:spcPts val="300"/>
              </a:spcBef>
            </a:pPr>
            <a:r>
              <a:rPr sz="750" b="0">
                <a:solidFill>
                  <a:srgbClr val="6E7E7D"/>
                </a:solidFill>
                <a:latin typeface="Calibri"/>
              </a:rPr>
              <a:t>Retanqueo 1,7% · 13% de los clientes y 8% del monto · Segmento A 49%</a:t>
            </a:r>
          </a:p>
        </p:txBody>
      </p:sp>
      <p:sp>
        <p:nvSpPr>
          <p:cNvPr id="24" name="Rectangle 23"/>
          <p:cNvSpPr/>
          <p:nvPr/>
        </p:nvSpPr>
        <p:spPr>
          <a:xfrm>
            <a:off x="493776" y="4300000"/>
            <a:ext cx="3633800" cy="1450000"/>
          </a:xfrm>
          <a:prstGeom prst="rect">
            <a:avLst/>
          </a:prstGeom>
          <a:solidFill>
            <a:srgbClr val="F7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493776" y="4300000"/>
            <a:ext cx="45000" cy="1450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33776" y="4370000"/>
            <a:ext cx="3413800" cy="1330000"/>
          </a:xfrm>
          <a:prstGeom prst="rect">
            <a:avLst/>
          </a:prstGeom>
          <a:noFill/>
        </p:spPr>
        <p:txBody>
          <a:bodyPr wrap="square" lIns="0" tIns="0" rIns="0" bIns="0" anchor="t">
            <a:spAutoFit/>
          </a:bodyPr>
          <a:lstStyle/>
          <a:p>
            <a:pPr algn="l"/>
            <a:r>
              <a:rPr sz="1050" b="1">
                <a:solidFill>
                  <a:srgbClr val="13807B"/>
                </a:solidFill>
                <a:latin typeface="Calibri"/>
              </a:rPr>
              <a:t>Emprendedor Izipay</a:t>
            </a:r>
            <a:r>
              <a:rPr sz="800" b="0">
                <a:solidFill>
                  <a:srgbClr val="6E7E7D"/>
                </a:solidFill>
                <a:latin typeface="Calibri"/>
              </a:rPr>
              <a:t>   Sin historial crediticio</a:t>
            </a:r>
          </a:p>
          <a:p>
            <a:pPr algn="l">
              <a:spcBef>
                <a:spcPts val="300"/>
              </a:spcBef>
            </a:pPr>
            <a:r>
              <a:rPr sz="850" b="0">
                <a:solidFill>
                  <a:srgbClr val="2F3B3A"/>
                </a:solidFill>
                <a:latin typeface="Calibri"/>
              </a:rPr>
              <a:t>Microempresa joven del ecosistema Izipay: 54% es cliente Izipay, con la menor rentabilidad (UAI de S/ 24) y los menores pasivos</a:t>
            </a:r>
          </a:p>
          <a:p>
            <a:pPr algn="l">
              <a:spcBef>
                <a:spcPts val="300"/>
              </a:spcBef>
            </a:pPr>
            <a:r>
              <a:rPr sz="750" b="1">
                <a:solidFill>
                  <a:srgbClr val="2F3B3A"/>
                </a:solidFill>
                <a:latin typeface="Calibri"/>
              </a:rPr>
              <a:t>Sin deuda en el SSFF · Ventas S/ 126K · UAI S/ 24 · Pasivos S/ 1,8K</a:t>
            </a:r>
          </a:p>
          <a:p>
            <a:pPr algn="l">
              <a:spcBef>
                <a:spcPts val="300"/>
              </a:spcBef>
            </a:pPr>
            <a:r>
              <a:rPr sz="750" b="0">
                <a:solidFill>
                  <a:srgbClr val="6E7E7D"/>
                </a:solidFill>
                <a:latin typeface="Calibri"/>
              </a:rPr>
              <a:t>Ticket S/ 30K · 3 años · TEA oferta 23,7% · desembolso 21,3%</a:t>
            </a:r>
          </a:p>
          <a:p>
            <a:pPr algn="l">
              <a:spcBef>
                <a:spcPts val="300"/>
              </a:spcBef>
            </a:pPr>
            <a:r>
              <a:rPr sz="750" b="0">
                <a:solidFill>
                  <a:srgbClr val="6E7E7D"/>
                </a:solidFill>
                <a:latin typeface="Calibri"/>
              </a:rPr>
              <a:t>Retanqueo 0,0% · 7% de los clientes y 2% del monto · Segmento A 0% · Cliente Izipay 54%</a:t>
            </a:r>
          </a:p>
        </p:txBody>
      </p:sp>
      <p:sp>
        <p:nvSpPr>
          <p:cNvPr id="27" name="Rectangle 26"/>
          <p:cNvSpPr/>
          <p:nvPr/>
        </p:nvSpPr>
        <p:spPr>
          <a:xfrm>
            <a:off x="4277576" y="4300000"/>
            <a:ext cx="3633800" cy="1450000"/>
          </a:xfrm>
          <a:prstGeom prst="rect">
            <a:avLst/>
          </a:prstGeom>
          <a:solidFill>
            <a:srgbClr val="F7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4277576" y="4300000"/>
            <a:ext cx="45000" cy="1450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417576" y="4370000"/>
            <a:ext cx="3413800" cy="1330000"/>
          </a:xfrm>
          <a:prstGeom prst="rect">
            <a:avLst/>
          </a:prstGeom>
          <a:noFill/>
        </p:spPr>
        <p:txBody>
          <a:bodyPr wrap="square" lIns="0" tIns="0" rIns="0" bIns="0" anchor="t">
            <a:spAutoFit/>
          </a:bodyPr>
          <a:lstStyle/>
          <a:p>
            <a:pPr algn="l"/>
            <a:r>
              <a:rPr sz="1050" b="1">
                <a:solidFill>
                  <a:srgbClr val="13807B"/>
                </a:solidFill>
                <a:latin typeface="Calibri"/>
              </a:rPr>
              <a:t>Nuevo en Expansión</a:t>
            </a:r>
            <a:r>
              <a:rPr sz="800" b="0">
                <a:solidFill>
                  <a:srgbClr val="6E7E7D"/>
                </a:solidFill>
                <a:latin typeface="Calibri"/>
              </a:rPr>
              <a:t>   Sin historial crediticio</a:t>
            </a:r>
          </a:p>
          <a:p>
            <a:pPr algn="l">
              <a:spcBef>
                <a:spcPts val="300"/>
              </a:spcBef>
            </a:pPr>
            <a:r>
              <a:rPr sz="850" b="0">
                <a:solidFill>
                  <a:srgbClr val="2F3B3A"/>
                </a:solidFill>
                <a:latin typeface="Calibri"/>
              </a:rPr>
              <a:t>Empresa joven con ventas de S/ 501K pero muy baja rentabilidad (UAI de S/ 28) y pocos pasivos</a:t>
            </a:r>
          </a:p>
          <a:p>
            <a:pPr algn="l">
              <a:spcBef>
                <a:spcPts val="300"/>
              </a:spcBef>
            </a:pPr>
            <a:r>
              <a:rPr sz="750" b="1">
                <a:solidFill>
                  <a:srgbClr val="2F3B3A"/>
                </a:solidFill>
                <a:latin typeface="Calibri"/>
              </a:rPr>
              <a:t>Sin deuda en el SSFF · Ventas S/ 501K · UAI S/ 28 · Pasivos S/ 2,6K</a:t>
            </a:r>
          </a:p>
          <a:p>
            <a:pPr algn="l">
              <a:spcBef>
                <a:spcPts val="300"/>
              </a:spcBef>
            </a:pPr>
            <a:r>
              <a:rPr sz="750" b="0">
                <a:solidFill>
                  <a:srgbClr val="6E7E7D"/>
                </a:solidFill>
                <a:latin typeface="Calibri"/>
              </a:rPr>
              <a:t>Ticket S/ 50K · 4 años · TEA oferta 23,0% · desembolso 19,9%</a:t>
            </a:r>
          </a:p>
          <a:p>
            <a:pPr algn="l">
              <a:spcBef>
                <a:spcPts val="300"/>
              </a:spcBef>
            </a:pPr>
            <a:r>
              <a:rPr sz="750" b="0">
                <a:solidFill>
                  <a:srgbClr val="6E7E7D"/>
                </a:solidFill>
                <a:latin typeface="Calibri"/>
              </a:rPr>
              <a:t>Retanqueo 0,0% · 7% de los clientes y 3% del monto · Segmento A 8%</a:t>
            </a:r>
          </a:p>
        </p:txBody>
      </p:sp>
      <p:sp>
        <p:nvSpPr>
          <p:cNvPr id="30" name="Rectangle 29"/>
          <p:cNvSpPr/>
          <p:nvPr/>
        </p:nvSpPr>
        <p:spPr>
          <a:xfrm>
            <a:off x="8061376" y="4300000"/>
            <a:ext cx="3633800" cy="1450000"/>
          </a:xfrm>
          <a:prstGeom prst="rect">
            <a:avLst/>
          </a:prstGeom>
          <a:solidFill>
            <a:srgbClr val="F7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8061376" y="4300000"/>
            <a:ext cx="45000" cy="1450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201376" y="4370000"/>
            <a:ext cx="3413800" cy="1330000"/>
          </a:xfrm>
          <a:prstGeom prst="rect">
            <a:avLst/>
          </a:prstGeom>
          <a:noFill/>
        </p:spPr>
        <p:txBody>
          <a:bodyPr wrap="square" lIns="0" tIns="0" rIns="0" bIns="0" anchor="t">
            <a:spAutoFit/>
          </a:bodyPr>
          <a:lstStyle/>
          <a:p>
            <a:pPr algn="l"/>
            <a:r>
              <a:rPr sz="1050" b="1">
                <a:solidFill>
                  <a:srgbClr val="13807B"/>
                </a:solidFill>
                <a:latin typeface="Calibri"/>
              </a:rPr>
              <a:t>Próximo Recurrente</a:t>
            </a:r>
            <a:r>
              <a:rPr sz="800" b="0">
                <a:solidFill>
                  <a:srgbClr val="6E7E7D"/>
                </a:solidFill>
                <a:latin typeface="Calibri"/>
              </a:rPr>
              <a:t>   Sin historial crediticio</a:t>
            </a:r>
          </a:p>
          <a:p>
            <a:pPr algn="l">
              <a:spcBef>
                <a:spcPts val="300"/>
              </a:spcBef>
            </a:pPr>
            <a:r>
              <a:rPr sz="850" b="0">
                <a:solidFill>
                  <a:srgbClr val="2F3B3A"/>
                </a:solidFill>
                <a:latin typeface="Calibri"/>
              </a:rPr>
              <a:t>Empresa joven con alta liquidez (pasivos de S/ 23K) y la que más descuento negocia: 43% recibe más de 400 pbs</a:t>
            </a:r>
          </a:p>
          <a:p>
            <a:pPr algn="l">
              <a:spcBef>
                <a:spcPts val="300"/>
              </a:spcBef>
            </a:pPr>
            <a:r>
              <a:rPr sz="750" b="1">
                <a:solidFill>
                  <a:srgbClr val="2F3B3A"/>
                </a:solidFill>
                <a:latin typeface="Calibri"/>
              </a:rPr>
              <a:t>Sin deuda en el SSFF · Ventas S/ 501K · UAI S/ 145 · Pasivos S/ 23K</a:t>
            </a:r>
          </a:p>
          <a:p>
            <a:pPr algn="l">
              <a:spcBef>
                <a:spcPts val="300"/>
              </a:spcBef>
            </a:pPr>
            <a:r>
              <a:rPr sz="750" b="0">
                <a:solidFill>
                  <a:srgbClr val="6E7E7D"/>
                </a:solidFill>
                <a:latin typeface="Calibri"/>
              </a:rPr>
              <a:t>Ticket S/ 70K · 4 años · TEA oferta 23,2% · desembolso 19,3%</a:t>
            </a:r>
          </a:p>
          <a:p>
            <a:pPr algn="l">
              <a:spcBef>
                <a:spcPts val="300"/>
              </a:spcBef>
            </a:pPr>
            <a:r>
              <a:rPr sz="750" b="0">
                <a:solidFill>
                  <a:srgbClr val="6E7E7D"/>
                </a:solidFill>
                <a:latin typeface="Calibri"/>
              </a:rPr>
              <a:t>Retanqueo 0,3% · 7% de los clientes y 4% del monto · Segmento A 21%</a:t>
            </a:r>
          </a:p>
        </p:txBody>
      </p:sp>
      <p:sp>
        <p:nvSpPr>
          <p:cNvPr id="33" name="TextBox 32"/>
          <p:cNvSpPr txBox="1"/>
          <p:nvPr/>
        </p:nvSpPr>
        <p:spPr>
          <a:xfrm>
            <a:off x="493776" y="6450000"/>
            <a:ext cx="11201400" cy="180000"/>
          </a:xfrm>
          <a:prstGeom prst="rect">
            <a:avLst/>
          </a:prstGeom>
          <a:noFill/>
        </p:spPr>
        <p:txBody>
          <a:bodyPr wrap="square" lIns="0" tIns="0" rIns="0" bIns="0" anchor="t">
            <a:spAutoFit/>
          </a:bodyPr>
          <a:lstStyle/>
          <a:p>
            <a:pPr algn="l"/>
            <a:r>
              <a:rPr sz="700" b="0">
                <a:solidFill>
                  <a:srgbClr val="6E7E7D"/>
                </a:solidFill>
                <a:latin typeface="Calibri"/>
              </a:rPr>
              <a:t>Medianas por cliente, salvo TEA (promedio ponderado) y porcentajes. Ticket: monto desembolsado. SOW: participación de Interbank en la deuda del cliente en el sistema financiero.</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493777" y="246888"/>
            <a:ext cx="8963570" cy="109710"/>
          </a:xfrm>
          <a:prstGeom prst="rect">
            <a:avLst/>
          </a:prstGeom>
          <a:noFill/>
        </p:spPr>
        <p:txBody>
          <a:bodyPr wrap="square" lIns="0" tIns="0" rIns="0" bIns="0" anchor="t">
            <a:spAutoFit/>
          </a:bodyPr>
          <a:lstStyle/>
          <a:p>
            <a:pPr algn="l"/>
            <a:r>
              <a:rPr sz="800" b="1">
                <a:solidFill>
                  <a:srgbClr val="6E7E7D"/>
                </a:solidFill>
                <a:latin typeface="Calibri"/>
              </a:rPr>
              <a:t>ANEXO · PERFILES DE CLIENTES</a:t>
            </a:r>
          </a:p>
        </p:txBody>
      </p:sp>
      <p:sp>
        <p:nvSpPr>
          <p:cNvPr id="3" name="TextBox 2"/>
          <p:cNvSpPr txBox="1"/>
          <p:nvPr/>
        </p:nvSpPr>
        <p:spPr>
          <a:xfrm>
            <a:off x="493776" y="425196"/>
            <a:ext cx="10312923" cy="482568"/>
          </a:xfrm>
          <a:prstGeom prst="rect">
            <a:avLst/>
          </a:prstGeom>
          <a:noFill/>
        </p:spPr>
        <p:txBody>
          <a:bodyPr wrap="square" lIns="0" tIns="0" rIns="0" bIns="0" anchor="t">
            <a:spAutoFit/>
          </a:bodyPr>
          <a:lstStyle/>
          <a:p>
            <a:pPr algn="l"/>
            <a:r>
              <a:rPr sz="1600" b="1">
                <a:solidFill>
                  <a:srgbClr val="13807B"/>
                </a:solidFill>
                <a:latin typeface="Poppins"/>
              </a:rPr>
              <a:t>Anexo · Métricas que caracterizan a cada perfil</a:t>
            </a:r>
          </a:p>
        </p:txBody>
      </p:sp>
      <p:cxnSp>
        <p:nvCxnSpPr>
          <p:cNvPr id="4" name="Connector 3"/>
          <p:cNvCxnSpPr/>
          <p:nvPr/>
        </p:nvCxnSpPr>
        <p:spPr>
          <a:xfrm>
            <a:off x="493776" y="1049274"/>
            <a:ext cx="11204463" cy="0"/>
          </a:xfrm>
          <a:prstGeom prst="line">
            <a:avLst/>
          </a:prstGeom>
          <a:ln w="12700">
            <a:solidFill>
              <a:srgbClr val="D5DFDE"/>
            </a:solidFill>
          </a:ln>
        </p:spPr>
        <p:style>
          <a:lnRef idx="2">
            <a:schemeClr val="accent1"/>
          </a:lnRef>
          <a:fillRef idx="0">
            <a:schemeClr val="accent1"/>
          </a:fillRef>
          <a:effectRef idx="1">
            <a:schemeClr val="accent1"/>
          </a:effectRef>
          <a:fontRef idx="minor">
            <a:schemeClr val="tx1"/>
          </a:fontRef>
        </p:style>
      </p:cxnSp>
      <p:pic>
        <p:nvPicPr>
          <p:cNvPr id="5" name="Picture 4" descr="logo.png"/>
          <p:cNvPicPr>
            <a:picLocks noChangeAspect="1"/>
          </p:cNvPicPr>
          <p:nvPr/>
        </p:nvPicPr>
        <p:blipFill>
          <a:blip r:embed="rId2"/>
          <a:stretch>
            <a:fillRect/>
          </a:stretch>
        </p:blipFill>
        <p:spPr>
          <a:xfrm>
            <a:off x="11081186" y="82166"/>
            <a:ext cx="916962" cy="343030"/>
          </a:xfrm>
          <a:prstGeom prst="rect">
            <a:avLst/>
          </a:prstGeom>
        </p:spPr>
      </p:pic>
      <p:graphicFrame>
        <p:nvGraphicFramePr>
          <p:cNvPr id="6" name="Table 5"/>
          <p:cNvGraphicFramePr>
            <a:graphicFrameLocks noGrp="1"/>
          </p:cNvGraphicFramePr>
          <p:nvPr/>
        </p:nvGraphicFramePr>
        <p:xfrm>
          <a:off x="493776" y="1180000"/>
          <a:ext cx="11201392" cy="4929320"/>
        </p:xfrm>
        <a:graphic>
          <a:graphicData uri="http://schemas.openxmlformats.org/drawingml/2006/table">
            <a:tbl>
              <a:tblPr>
                <a:tableStyleId>{5C22544A-7EE6-4342-B048-85BDC9FD1C3A}</a:tableStyleId>
              </a:tblPr>
              <a:tblGrid>
                <a:gridCol w="1900000">
                  <a:extLst>
                    <a:ext uri="{9D8B030D-6E8A-4147-A177-3AD203B41FA5}">
                      <a16:colId xmlns:a16="http://schemas.microsoft.com/office/drawing/2014/main" val="20000"/>
                    </a:ext>
                  </a:extLst>
                </a:gridCol>
                <a:gridCol w="1033488">
                  <a:extLst>
                    <a:ext uri="{9D8B030D-6E8A-4147-A177-3AD203B41FA5}">
                      <a16:colId xmlns:a16="http://schemas.microsoft.com/office/drawing/2014/main" val="20001"/>
                    </a:ext>
                  </a:extLst>
                </a:gridCol>
                <a:gridCol w="1033488">
                  <a:extLst>
                    <a:ext uri="{9D8B030D-6E8A-4147-A177-3AD203B41FA5}">
                      <a16:colId xmlns:a16="http://schemas.microsoft.com/office/drawing/2014/main" val="20002"/>
                    </a:ext>
                  </a:extLst>
                </a:gridCol>
                <a:gridCol w="1033488">
                  <a:extLst>
                    <a:ext uri="{9D8B030D-6E8A-4147-A177-3AD203B41FA5}">
                      <a16:colId xmlns:a16="http://schemas.microsoft.com/office/drawing/2014/main" val="20003"/>
                    </a:ext>
                  </a:extLst>
                </a:gridCol>
                <a:gridCol w="1033488">
                  <a:extLst>
                    <a:ext uri="{9D8B030D-6E8A-4147-A177-3AD203B41FA5}">
                      <a16:colId xmlns:a16="http://schemas.microsoft.com/office/drawing/2014/main" val="20004"/>
                    </a:ext>
                  </a:extLst>
                </a:gridCol>
                <a:gridCol w="1033488">
                  <a:extLst>
                    <a:ext uri="{9D8B030D-6E8A-4147-A177-3AD203B41FA5}">
                      <a16:colId xmlns:a16="http://schemas.microsoft.com/office/drawing/2014/main" val="20005"/>
                    </a:ext>
                  </a:extLst>
                </a:gridCol>
                <a:gridCol w="1033488">
                  <a:extLst>
                    <a:ext uri="{9D8B030D-6E8A-4147-A177-3AD203B41FA5}">
                      <a16:colId xmlns:a16="http://schemas.microsoft.com/office/drawing/2014/main" val="20006"/>
                    </a:ext>
                  </a:extLst>
                </a:gridCol>
                <a:gridCol w="1033488">
                  <a:extLst>
                    <a:ext uri="{9D8B030D-6E8A-4147-A177-3AD203B41FA5}">
                      <a16:colId xmlns:a16="http://schemas.microsoft.com/office/drawing/2014/main" val="20007"/>
                    </a:ext>
                  </a:extLst>
                </a:gridCol>
                <a:gridCol w="1033488">
                  <a:extLst>
                    <a:ext uri="{9D8B030D-6E8A-4147-A177-3AD203B41FA5}">
                      <a16:colId xmlns:a16="http://schemas.microsoft.com/office/drawing/2014/main" val="20008"/>
                    </a:ext>
                  </a:extLst>
                </a:gridCol>
                <a:gridCol w="1033488">
                  <a:extLst>
                    <a:ext uri="{9D8B030D-6E8A-4147-A177-3AD203B41FA5}">
                      <a16:colId xmlns:a16="http://schemas.microsoft.com/office/drawing/2014/main" val="20009"/>
                    </a:ext>
                  </a:extLst>
                </a:gridCol>
              </a:tblGrid>
              <a:tr h="230000">
                <a:tc>
                  <a:txBody>
                    <a:bodyPr/>
                    <a:lstStyle/>
                    <a:p>
                      <a:pPr algn="ctr"/>
                      <a:endParaRPr/>
                    </a:p>
                  </a:txBody>
                  <a:tcPr marL="40000" marR="40000" marT="10000" marB="10000" anchor="ctr">
                    <a:solidFill>
                      <a:srgbClr val="FFFFFF"/>
                    </a:solidFill>
                  </a:tcPr>
                </a:tc>
                <a:tc>
                  <a:txBody>
                    <a:bodyPr/>
                    <a:lstStyle/>
                    <a:p>
                      <a:pPr algn="ctr"/>
                      <a:r>
                        <a:rPr sz="700" b="0">
                          <a:solidFill>
                            <a:srgbClr val="FFFFFF"/>
                          </a:solidFill>
                          <a:latin typeface="Calibri"/>
                        </a:rPr>
                        <a:t>Fidelizados</a:t>
                      </a:r>
                    </a:p>
                  </a:txBody>
                  <a:tcPr marL="40000" marR="40000" marT="10000" marB="10000" anchor="ctr">
                    <a:solidFill>
                      <a:srgbClr val="4A6A8A"/>
                    </a:solidFill>
                  </a:tcPr>
                </a:tc>
                <a:tc>
                  <a:txBody>
                    <a:bodyPr/>
                    <a:lstStyle/>
                    <a:p>
                      <a:pPr algn="ctr"/>
                      <a:r>
                        <a:rPr sz="700" b="0">
                          <a:solidFill>
                            <a:srgbClr val="FFFFFF"/>
                          </a:solidFill>
                          <a:latin typeface="Calibri"/>
                        </a:rPr>
                        <a:t>Fidelizados</a:t>
                      </a:r>
                    </a:p>
                  </a:txBody>
                  <a:tcPr marL="40000" marR="40000" marT="10000" marB="10000" anchor="ctr">
                    <a:solidFill>
                      <a:srgbClr val="4A6A8A"/>
                    </a:solidFill>
                  </a:tcPr>
                </a:tc>
                <a:tc>
                  <a:txBody>
                    <a:bodyPr/>
                    <a:lstStyle/>
                    <a:p>
                      <a:pPr algn="ctr"/>
                      <a:r>
                        <a:rPr sz="700" b="0">
                          <a:solidFill>
                            <a:srgbClr val="FFFFFF"/>
                          </a:solidFill>
                          <a:latin typeface="Calibri"/>
                        </a:rPr>
                        <a:t>Grandes por fidelizar</a:t>
                      </a:r>
                    </a:p>
                  </a:txBody>
                  <a:tcPr marL="40000" marR="40000" marT="10000" marB="10000" anchor="ctr">
                    <a:solidFill>
                      <a:srgbClr val="4A6A8A"/>
                    </a:solidFill>
                  </a:tcPr>
                </a:tc>
                <a:tc>
                  <a:txBody>
                    <a:bodyPr/>
                    <a:lstStyle/>
                    <a:p>
                      <a:pPr algn="ctr"/>
                      <a:r>
                        <a:rPr sz="700" b="0">
                          <a:solidFill>
                            <a:srgbClr val="FFFFFF"/>
                          </a:solidFill>
                          <a:latin typeface="Calibri"/>
                        </a:rPr>
                        <a:t>Medianos por fidelizar</a:t>
                      </a:r>
                    </a:p>
                  </a:txBody>
                  <a:tcPr marL="40000" marR="40000" marT="10000" marB="10000" anchor="ctr">
                    <a:solidFill>
                      <a:srgbClr val="4A6A8A"/>
                    </a:solidFill>
                  </a:tcPr>
                </a:tc>
                <a:tc>
                  <a:txBody>
                    <a:bodyPr/>
                    <a:lstStyle/>
                    <a:p>
                      <a:pPr algn="ctr"/>
                      <a:r>
                        <a:rPr sz="700" b="0">
                          <a:solidFill>
                            <a:srgbClr val="FFFFFF"/>
                          </a:solidFill>
                          <a:latin typeface="Calibri"/>
                        </a:rPr>
                        <a:t>Grandes por fidelizar</a:t>
                      </a:r>
                    </a:p>
                  </a:txBody>
                  <a:tcPr marL="40000" marR="40000" marT="10000" marB="10000" anchor="ctr">
                    <a:solidFill>
                      <a:srgbClr val="4A6A8A"/>
                    </a:solidFill>
                  </a:tcPr>
                </a:tc>
                <a:tc>
                  <a:txBody>
                    <a:bodyPr/>
                    <a:lstStyle/>
                    <a:p>
                      <a:pPr algn="ctr"/>
                      <a:r>
                        <a:rPr sz="700" b="0">
                          <a:solidFill>
                            <a:srgbClr val="FFFFFF"/>
                          </a:solidFill>
                          <a:latin typeface="Calibri"/>
                        </a:rPr>
                        <a:t>Medianos por fidelizar</a:t>
                      </a:r>
                    </a:p>
                  </a:txBody>
                  <a:tcPr marL="40000" marR="40000" marT="10000" marB="10000" anchor="ctr">
                    <a:solidFill>
                      <a:srgbClr val="4A6A8A"/>
                    </a:solidFill>
                  </a:tcPr>
                </a:tc>
                <a:tc>
                  <a:txBody>
                    <a:bodyPr/>
                    <a:lstStyle/>
                    <a:p>
                      <a:pPr algn="ctr"/>
                      <a:r>
                        <a:rPr sz="700" b="0">
                          <a:solidFill>
                            <a:srgbClr val="FFFFFF"/>
                          </a:solidFill>
                          <a:latin typeface="Calibri"/>
                        </a:rPr>
                        <a:t>Sin historial crediticio</a:t>
                      </a:r>
                    </a:p>
                  </a:txBody>
                  <a:tcPr marL="40000" marR="40000" marT="10000" marB="10000" anchor="ctr">
                    <a:solidFill>
                      <a:srgbClr val="6E7E7D"/>
                    </a:solidFill>
                  </a:tcPr>
                </a:tc>
                <a:tc>
                  <a:txBody>
                    <a:bodyPr/>
                    <a:lstStyle/>
                    <a:p>
                      <a:pPr algn="ctr"/>
                      <a:r>
                        <a:rPr sz="700" b="0">
                          <a:solidFill>
                            <a:srgbClr val="FFFFFF"/>
                          </a:solidFill>
                          <a:latin typeface="Calibri"/>
                        </a:rPr>
                        <a:t>Sin historial crediticio</a:t>
                      </a:r>
                    </a:p>
                  </a:txBody>
                  <a:tcPr marL="40000" marR="40000" marT="10000" marB="10000" anchor="ctr">
                    <a:solidFill>
                      <a:srgbClr val="6E7E7D"/>
                    </a:solidFill>
                  </a:tcPr>
                </a:tc>
                <a:tc>
                  <a:txBody>
                    <a:bodyPr/>
                    <a:lstStyle/>
                    <a:p>
                      <a:pPr algn="ctr"/>
                      <a:r>
                        <a:rPr sz="700" b="0">
                          <a:solidFill>
                            <a:srgbClr val="FFFFFF"/>
                          </a:solidFill>
                          <a:latin typeface="Calibri"/>
                        </a:rPr>
                        <a:t>Sin historial crediticio</a:t>
                      </a:r>
                    </a:p>
                  </a:txBody>
                  <a:tcPr marL="40000" marR="40000" marT="10000" marB="10000" anchor="ctr">
                    <a:solidFill>
                      <a:srgbClr val="6E7E7D"/>
                    </a:solidFill>
                  </a:tcPr>
                </a:tc>
                <a:extLst>
                  <a:ext uri="{0D108BD9-81ED-4DB2-BD59-A6C34878D82A}">
                    <a16:rowId xmlns:a16="http://schemas.microsoft.com/office/drawing/2014/main" val="10000"/>
                  </a:ext>
                </a:extLst>
              </a:tr>
              <a:tr h="330000">
                <a:tc>
                  <a:txBody>
                    <a:bodyPr/>
                    <a:lstStyle/>
                    <a:p>
                      <a:pPr algn="ctr"/>
                      <a:endParaRPr/>
                    </a:p>
                  </a:txBody>
                  <a:tcPr marL="40000" marR="40000" marT="10000" marB="10000" anchor="ctr">
                    <a:solidFill>
                      <a:srgbClr val="FFFFFF"/>
                    </a:solidFill>
                  </a:tcPr>
                </a:tc>
                <a:tc>
                  <a:txBody>
                    <a:bodyPr/>
                    <a:lstStyle/>
                    <a:p>
                      <a:pPr algn="ctr"/>
                      <a:r>
                        <a:rPr sz="750" b="1">
                          <a:solidFill>
                            <a:srgbClr val="FFFFFF"/>
                          </a:solidFill>
                          <a:latin typeface="Calibri"/>
                        </a:rPr>
                        <a:t>Cliente Ancla</a:t>
                      </a:r>
                    </a:p>
                  </a:txBody>
                  <a:tcPr marL="40000" marR="40000" marT="10000" marB="10000" anchor="ctr">
                    <a:solidFill>
                      <a:srgbClr val="1F3A5F"/>
                    </a:solidFill>
                  </a:tcPr>
                </a:tc>
                <a:tc>
                  <a:txBody>
                    <a:bodyPr/>
                    <a:lstStyle/>
                    <a:p>
                      <a:pPr algn="ctr"/>
                      <a:r>
                        <a:rPr sz="750" b="1">
                          <a:solidFill>
                            <a:srgbClr val="FFFFFF"/>
                          </a:solidFill>
                          <a:latin typeface="Calibri"/>
                        </a:rPr>
                        <a:t>Socio en Crecimiento</a:t>
                      </a:r>
                    </a:p>
                  </a:txBody>
                  <a:tcPr marL="40000" marR="40000" marT="10000" marB="10000" anchor="ctr">
                    <a:solidFill>
                      <a:srgbClr val="1F3A5F"/>
                    </a:solidFill>
                  </a:tcPr>
                </a:tc>
                <a:tc>
                  <a:txBody>
                    <a:bodyPr/>
                    <a:lstStyle/>
                    <a:p>
                      <a:pPr algn="ctr"/>
                      <a:r>
                        <a:rPr sz="750" b="1">
                          <a:solidFill>
                            <a:srgbClr val="FFFFFF"/>
                          </a:solidFill>
                          <a:latin typeface="Calibri"/>
                        </a:rPr>
                        <a:t>Cuenta Estratégica</a:t>
                      </a:r>
                    </a:p>
                  </a:txBody>
                  <a:tcPr marL="40000" marR="40000" marT="10000" marB="10000" anchor="ctr">
                    <a:solidFill>
                      <a:srgbClr val="1F3A5F"/>
                    </a:solidFill>
                  </a:tcPr>
                </a:tc>
                <a:tc>
                  <a:txBody>
                    <a:bodyPr/>
                    <a:lstStyle/>
                    <a:p>
                      <a:pPr algn="ctr"/>
                      <a:r>
                        <a:rPr sz="750" b="1">
                          <a:solidFill>
                            <a:srgbClr val="FFFFFF"/>
                          </a:solidFill>
                          <a:latin typeface="Calibri"/>
                        </a:rPr>
                        <a:t>Maduro Multibanco</a:t>
                      </a:r>
                    </a:p>
                  </a:txBody>
                  <a:tcPr marL="40000" marR="40000" marT="10000" marB="10000" anchor="ctr">
                    <a:solidFill>
                      <a:srgbClr val="1F3A5F"/>
                    </a:solidFill>
                  </a:tcPr>
                </a:tc>
                <a:tc>
                  <a:txBody>
                    <a:bodyPr/>
                    <a:lstStyle/>
                    <a:p>
                      <a:pPr algn="ctr"/>
                      <a:r>
                        <a:rPr sz="750" b="1">
                          <a:solidFill>
                            <a:srgbClr val="FFFFFF"/>
                          </a:solidFill>
                          <a:latin typeface="Calibri"/>
                        </a:rPr>
                        <a:t>Gran Cuenta por Conquistar</a:t>
                      </a:r>
                    </a:p>
                  </a:txBody>
                  <a:tcPr marL="40000" marR="40000" marT="10000" marB="10000" anchor="ctr">
                    <a:solidFill>
                      <a:srgbClr val="1F3A5F"/>
                    </a:solidFill>
                  </a:tcPr>
                </a:tc>
                <a:tc>
                  <a:txBody>
                    <a:bodyPr/>
                    <a:lstStyle/>
                    <a:p>
                      <a:pPr algn="ctr"/>
                      <a:r>
                        <a:rPr sz="750" b="1">
                          <a:solidFill>
                            <a:srgbClr val="FFFFFF"/>
                          </a:solidFill>
                          <a:latin typeface="Calibri"/>
                        </a:rPr>
                        <a:t>Cliente por Reactivar</a:t>
                      </a:r>
                    </a:p>
                  </a:txBody>
                  <a:tcPr marL="40000" marR="40000" marT="10000" marB="10000" anchor="ctr">
                    <a:solidFill>
                      <a:srgbClr val="1F3A5F"/>
                    </a:solidFill>
                  </a:tcPr>
                </a:tc>
                <a:tc>
                  <a:txBody>
                    <a:bodyPr/>
                    <a:lstStyle/>
                    <a:p>
                      <a:pPr algn="ctr"/>
                      <a:r>
                        <a:rPr sz="750" b="1">
                          <a:solidFill>
                            <a:srgbClr val="FFFFFF"/>
                          </a:solidFill>
                          <a:latin typeface="Calibri"/>
                        </a:rPr>
                        <a:t>Emprendedor Izipay</a:t>
                      </a:r>
                    </a:p>
                  </a:txBody>
                  <a:tcPr marL="40000" marR="40000" marT="10000" marB="10000" anchor="ctr">
                    <a:solidFill>
                      <a:srgbClr val="1F3A5F"/>
                    </a:solidFill>
                  </a:tcPr>
                </a:tc>
                <a:tc>
                  <a:txBody>
                    <a:bodyPr/>
                    <a:lstStyle/>
                    <a:p>
                      <a:pPr algn="ctr"/>
                      <a:r>
                        <a:rPr sz="750" b="1">
                          <a:solidFill>
                            <a:srgbClr val="FFFFFF"/>
                          </a:solidFill>
                          <a:latin typeface="Calibri"/>
                        </a:rPr>
                        <a:t>Nuevo en Expansión</a:t>
                      </a:r>
                    </a:p>
                  </a:txBody>
                  <a:tcPr marL="40000" marR="40000" marT="10000" marB="10000" anchor="ctr">
                    <a:solidFill>
                      <a:srgbClr val="1F3A5F"/>
                    </a:solidFill>
                  </a:tcPr>
                </a:tc>
                <a:tc>
                  <a:txBody>
                    <a:bodyPr/>
                    <a:lstStyle/>
                    <a:p>
                      <a:pPr algn="ctr"/>
                      <a:r>
                        <a:rPr sz="750" b="1">
                          <a:solidFill>
                            <a:srgbClr val="FFFFFF"/>
                          </a:solidFill>
                          <a:latin typeface="Calibri"/>
                        </a:rPr>
                        <a:t>Próximo Recurrente</a:t>
                      </a:r>
                    </a:p>
                  </a:txBody>
                  <a:tcPr marL="40000" marR="40000" marT="10000" marB="10000" anchor="ctr">
                    <a:solidFill>
                      <a:srgbClr val="1F3A5F"/>
                    </a:solidFill>
                  </a:tcPr>
                </a:tc>
                <a:extLst>
                  <a:ext uri="{0D108BD9-81ED-4DB2-BD59-A6C34878D82A}">
                    <a16:rowId xmlns:a16="http://schemas.microsoft.com/office/drawing/2014/main" val="10001"/>
                  </a:ext>
                </a:extLst>
              </a:tr>
              <a:tr h="210000">
                <a:tc gridSpan="10">
                  <a:txBody>
                    <a:bodyPr/>
                    <a:lstStyle/>
                    <a:p>
                      <a:pPr algn="l"/>
                      <a:r>
                        <a:rPr sz="750" b="1">
                          <a:solidFill>
                            <a:srgbClr val="13807B"/>
                          </a:solidFill>
                          <a:latin typeface="Calibri"/>
                        </a:rPr>
                        <a:t>ESCALA</a:t>
                      </a:r>
                    </a:p>
                  </a:txBody>
                  <a:tcPr marL="40000" marR="40000" marT="10000" marB="10000" anchor="ctr">
                    <a:solidFill>
                      <a:srgbClr val="E8F3F2"/>
                    </a:solidFill>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extLst>
                  <a:ext uri="{0D108BD9-81ED-4DB2-BD59-A6C34878D82A}">
                    <a16:rowId xmlns:a16="http://schemas.microsoft.com/office/drawing/2014/main" val="10002"/>
                  </a:ext>
                </a:extLst>
              </a:tr>
              <a:tr h="245000">
                <a:tc>
                  <a:txBody>
                    <a:bodyPr/>
                    <a:lstStyle/>
                    <a:p>
                      <a:pPr algn="l"/>
                      <a:r>
                        <a:rPr sz="750" b="1">
                          <a:solidFill>
                            <a:srgbClr val="2F3B3A"/>
                          </a:solidFill>
                          <a:latin typeface="Calibri"/>
                        </a:rPr>
                        <a:t>Clientes</a:t>
                      </a:r>
                    </a:p>
                  </a:txBody>
                  <a:tcPr marL="40000" marR="40000" marT="10000" marB="10000" anchor="ctr">
                    <a:noFill/>
                  </a:tcPr>
                </a:tc>
                <a:tc>
                  <a:txBody>
                    <a:bodyPr/>
                    <a:lstStyle/>
                    <a:p>
                      <a:pPr algn="ctr"/>
                      <a:r>
                        <a:rPr sz="750" b="0">
                          <a:solidFill>
                            <a:srgbClr val="2F3B3A"/>
                          </a:solidFill>
                          <a:latin typeface="Calibri"/>
                        </a:rPr>
                        <a:t>702 (14%)</a:t>
                      </a:r>
                    </a:p>
                  </a:txBody>
                  <a:tcPr marL="40000" marR="40000" marT="10000" marB="10000" anchor="ctr">
                    <a:noFill/>
                  </a:tcPr>
                </a:tc>
                <a:tc>
                  <a:txBody>
                    <a:bodyPr/>
                    <a:lstStyle/>
                    <a:p>
                      <a:pPr algn="ctr"/>
                      <a:r>
                        <a:rPr sz="750" b="0">
                          <a:solidFill>
                            <a:srgbClr val="2F3B3A"/>
                          </a:solidFill>
                          <a:latin typeface="Calibri"/>
                        </a:rPr>
                        <a:t>599 (12%)</a:t>
                      </a:r>
                    </a:p>
                  </a:txBody>
                  <a:tcPr marL="40000" marR="40000" marT="10000" marB="10000" anchor="ctr">
                    <a:noFill/>
                  </a:tcPr>
                </a:tc>
                <a:tc>
                  <a:txBody>
                    <a:bodyPr/>
                    <a:lstStyle/>
                    <a:p>
                      <a:pPr algn="ctr"/>
                      <a:r>
                        <a:rPr sz="750" b="0">
                          <a:solidFill>
                            <a:srgbClr val="2F3B3A"/>
                          </a:solidFill>
                          <a:latin typeface="Calibri"/>
                        </a:rPr>
                        <a:t>688 (13%)</a:t>
                      </a:r>
                    </a:p>
                  </a:txBody>
                  <a:tcPr marL="40000" marR="40000" marT="10000" marB="10000" anchor="ctr">
                    <a:noFill/>
                  </a:tcPr>
                </a:tc>
                <a:tc>
                  <a:txBody>
                    <a:bodyPr/>
                    <a:lstStyle/>
                    <a:p>
                      <a:pPr algn="ctr"/>
                      <a:r>
                        <a:rPr sz="750" b="0">
                          <a:solidFill>
                            <a:srgbClr val="2F3B3A"/>
                          </a:solidFill>
                          <a:latin typeface="Calibri"/>
                        </a:rPr>
                        <a:t>593 (12%)</a:t>
                      </a:r>
                    </a:p>
                  </a:txBody>
                  <a:tcPr marL="40000" marR="40000" marT="10000" marB="10000" anchor="ctr">
                    <a:noFill/>
                  </a:tcPr>
                </a:tc>
                <a:tc>
                  <a:txBody>
                    <a:bodyPr/>
                    <a:lstStyle/>
                    <a:p>
                      <a:pPr algn="ctr"/>
                      <a:r>
                        <a:rPr sz="750" b="0">
                          <a:solidFill>
                            <a:srgbClr val="2F3B3A"/>
                          </a:solidFill>
                          <a:latin typeface="Calibri"/>
                        </a:rPr>
                        <a:t>746 (15%)</a:t>
                      </a:r>
                    </a:p>
                  </a:txBody>
                  <a:tcPr marL="40000" marR="40000" marT="10000" marB="10000" anchor="ctr">
                    <a:noFill/>
                  </a:tcPr>
                </a:tc>
                <a:tc>
                  <a:txBody>
                    <a:bodyPr/>
                    <a:lstStyle/>
                    <a:p>
                      <a:pPr algn="ctr"/>
                      <a:r>
                        <a:rPr sz="750" b="0">
                          <a:solidFill>
                            <a:srgbClr val="2F3B3A"/>
                          </a:solidFill>
                          <a:latin typeface="Calibri"/>
                        </a:rPr>
                        <a:t>689 (13%)</a:t>
                      </a:r>
                    </a:p>
                  </a:txBody>
                  <a:tcPr marL="40000" marR="40000" marT="10000" marB="10000" anchor="ctr">
                    <a:noFill/>
                  </a:tcPr>
                </a:tc>
                <a:tc>
                  <a:txBody>
                    <a:bodyPr/>
                    <a:lstStyle/>
                    <a:p>
                      <a:pPr algn="ctr"/>
                      <a:r>
                        <a:rPr sz="750" b="0">
                          <a:solidFill>
                            <a:srgbClr val="2F3B3A"/>
                          </a:solidFill>
                          <a:latin typeface="Calibri"/>
                        </a:rPr>
                        <a:t>371 (7%)</a:t>
                      </a:r>
                    </a:p>
                  </a:txBody>
                  <a:tcPr marL="40000" marR="40000" marT="10000" marB="10000" anchor="ctr">
                    <a:noFill/>
                  </a:tcPr>
                </a:tc>
                <a:tc>
                  <a:txBody>
                    <a:bodyPr/>
                    <a:lstStyle/>
                    <a:p>
                      <a:pPr algn="ctr"/>
                      <a:r>
                        <a:rPr sz="750" b="0">
                          <a:solidFill>
                            <a:srgbClr val="2F3B3A"/>
                          </a:solidFill>
                          <a:latin typeface="Calibri"/>
                        </a:rPr>
                        <a:t>346 (7%)</a:t>
                      </a:r>
                    </a:p>
                  </a:txBody>
                  <a:tcPr marL="40000" marR="40000" marT="10000" marB="10000" anchor="ctr">
                    <a:noFill/>
                  </a:tcPr>
                </a:tc>
                <a:tc>
                  <a:txBody>
                    <a:bodyPr/>
                    <a:lstStyle/>
                    <a:p>
                      <a:pPr algn="ctr"/>
                      <a:r>
                        <a:rPr sz="750" b="0">
                          <a:solidFill>
                            <a:srgbClr val="2F3B3A"/>
                          </a:solidFill>
                          <a:latin typeface="Calibri"/>
                        </a:rPr>
                        <a:t>373 (7%)</a:t>
                      </a:r>
                    </a:p>
                  </a:txBody>
                  <a:tcPr marL="40000" marR="40000" marT="10000" marB="10000" anchor="ctr">
                    <a:noFill/>
                  </a:tcPr>
                </a:tc>
                <a:extLst>
                  <a:ext uri="{0D108BD9-81ED-4DB2-BD59-A6C34878D82A}">
                    <a16:rowId xmlns:a16="http://schemas.microsoft.com/office/drawing/2014/main" val="10003"/>
                  </a:ext>
                </a:extLst>
              </a:tr>
              <a:tr h="245000">
                <a:tc>
                  <a:txBody>
                    <a:bodyPr/>
                    <a:lstStyle/>
                    <a:p>
                      <a:pPr algn="l"/>
                      <a:r>
                        <a:rPr sz="750" b="1">
                          <a:solidFill>
                            <a:srgbClr val="2F3B3A"/>
                          </a:solidFill>
                          <a:latin typeface="Calibri"/>
                        </a:rPr>
                        <a:t>% del monto desembolsado</a:t>
                      </a:r>
                    </a:p>
                  </a:txBody>
                  <a:tcPr marL="40000" marR="40000" marT="10000" marB="10000" anchor="ctr">
                    <a:solidFill>
                      <a:srgbClr val="F7F9F9"/>
                    </a:solidFill>
                  </a:tcPr>
                </a:tc>
                <a:tc>
                  <a:txBody>
                    <a:bodyPr/>
                    <a:lstStyle/>
                    <a:p>
                      <a:pPr algn="ctr"/>
                      <a:r>
                        <a:rPr sz="750" b="0">
                          <a:solidFill>
                            <a:srgbClr val="2F3B3A"/>
                          </a:solidFill>
                          <a:latin typeface="Calibri"/>
                        </a:rPr>
                        <a:t>16%</a:t>
                      </a:r>
                    </a:p>
                  </a:txBody>
                  <a:tcPr marL="40000" marR="40000" marT="10000" marB="10000" anchor="ctr">
                    <a:solidFill>
                      <a:srgbClr val="F7F9F9"/>
                    </a:solidFill>
                  </a:tcPr>
                </a:tc>
                <a:tc>
                  <a:txBody>
                    <a:bodyPr/>
                    <a:lstStyle/>
                    <a:p>
                      <a:pPr algn="ctr"/>
                      <a:r>
                        <a:rPr sz="750" b="0">
                          <a:solidFill>
                            <a:srgbClr val="2F3B3A"/>
                          </a:solidFill>
                          <a:latin typeface="Calibri"/>
                        </a:rPr>
                        <a:t>9%</a:t>
                      </a:r>
                    </a:p>
                  </a:txBody>
                  <a:tcPr marL="40000" marR="40000" marT="10000" marB="10000" anchor="ctr">
                    <a:solidFill>
                      <a:srgbClr val="F7F9F9"/>
                    </a:solidFill>
                  </a:tcPr>
                </a:tc>
                <a:tc>
                  <a:txBody>
                    <a:bodyPr/>
                    <a:lstStyle/>
                    <a:p>
                      <a:pPr algn="ctr"/>
                      <a:r>
                        <a:rPr sz="750" b="0">
                          <a:solidFill>
                            <a:srgbClr val="2F3B3A"/>
                          </a:solidFill>
                          <a:latin typeface="Calibri"/>
                        </a:rPr>
                        <a:t>21%</a:t>
                      </a:r>
                    </a:p>
                  </a:txBody>
                  <a:tcPr marL="40000" marR="40000" marT="10000" marB="10000" anchor="ctr">
                    <a:solidFill>
                      <a:srgbClr val="F7F9F9"/>
                    </a:solidFill>
                  </a:tcPr>
                </a:tc>
                <a:tc>
                  <a:txBody>
                    <a:bodyPr/>
                    <a:lstStyle/>
                    <a:p>
                      <a:pPr algn="ctr"/>
                      <a:r>
                        <a:rPr sz="750" b="0">
                          <a:solidFill>
                            <a:srgbClr val="2F3B3A"/>
                          </a:solidFill>
                          <a:latin typeface="Calibri"/>
                        </a:rPr>
                        <a:t>14%</a:t>
                      </a:r>
                    </a:p>
                  </a:txBody>
                  <a:tcPr marL="40000" marR="40000" marT="10000" marB="10000" anchor="ctr">
                    <a:solidFill>
                      <a:srgbClr val="F7F9F9"/>
                    </a:solidFill>
                  </a:tcPr>
                </a:tc>
                <a:tc>
                  <a:txBody>
                    <a:bodyPr/>
                    <a:lstStyle/>
                    <a:p>
                      <a:pPr algn="ctr"/>
                      <a:r>
                        <a:rPr sz="750" b="0">
                          <a:solidFill>
                            <a:srgbClr val="2F3B3A"/>
                          </a:solidFill>
                          <a:latin typeface="Calibri"/>
                        </a:rPr>
                        <a:t>23%</a:t>
                      </a:r>
                    </a:p>
                  </a:txBody>
                  <a:tcPr marL="40000" marR="40000" marT="10000" marB="10000" anchor="ctr">
                    <a:solidFill>
                      <a:srgbClr val="F7F9F9"/>
                    </a:solidFill>
                  </a:tcPr>
                </a:tc>
                <a:tc>
                  <a:txBody>
                    <a:bodyPr/>
                    <a:lstStyle/>
                    <a:p>
                      <a:pPr algn="ctr"/>
                      <a:r>
                        <a:rPr sz="750" b="0">
                          <a:solidFill>
                            <a:srgbClr val="2F3B3A"/>
                          </a:solidFill>
                          <a:latin typeface="Calibri"/>
                        </a:rPr>
                        <a:t>8%</a:t>
                      </a:r>
                    </a:p>
                  </a:txBody>
                  <a:tcPr marL="40000" marR="40000" marT="10000" marB="10000" anchor="ctr">
                    <a:solidFill>
                      <a:srgbClr val="F7F9F9"/>
                    </a:solidFill>
                  </a:tcPr>
                </a:tc>
                <a:tc>
                  <a:txBody>
                    <a:bodyPr/>
                    <a:lstStyle/>
                    <a:p>
                      <a:pPr algn="ctr"/>
                      <a:r>
                        <a:rPr sz="750" b="0">
                          <a:solidFill>
                            <a:srgbClr val="2F3B3A"/>
                          </a:solidFill>
                          <a:latin typeface="Calibri"/>
                        </a:rPr>
                        <a:t>2%</a:t>
                      </a:r>
                    </a:p>
                  </a:txBody>
                  <a:tcPr marL="40000" marR="40000" marT="10000" marB="10000" anchor="ctr">
                    <a:solidFill>
                      <a:srgbClr val="F7F9F9"/>
                    </a:solidFill>
                  </a:tcPr>
                </a:tc>
                <a:tc>
                  <a:txBody>
                    <a:bodyPr/>
                    <a:lstStyle/>
                    <a:p>
                      <a:pPr algn="ctr"/>
                      <a:r>
                        <a:rPr sz="750" b="0">
                          <a:solidFill>
                            <a:srgbClr val="2F3B3A"/>
                          </a:solidFill>
                          <a:latin typeface="Calibri"/>
                        </a:rPr>
                        <a:t>3%</a:t>
                      </a:r>
                    </a:p>
                  </a:txBody>
                  <a:tcPr marL="40000" marR="40000" marT="10000" marB="10000" anchor="ctr">
                    <a:solidFill>
                      <a:srgbClr val="F7F9F9"/>
                    </a:solidFill>
                  </a:tcPr>
                </a:tc>
                <a:tc>
                  <a:txBody>
                    <a:bodyPr/>
                    <a:lstStyle/>
                    <a:p>
                      <a:pPr algn="ctr"/>
                      <a:r>
                        <a:rPr sz="750" b="0">
                          <a:solidFill>
                            <a:srgbClr val="2F3B3A"/>
                          </a:solidFill>
                          <a:latin typeface="Calibri"/>
                        </a:rPr>
                        <a:t>4%</a:t>
                      </a:r>
                    </a:p>
                  </a:txBody>
                  <a:tcPr marL="40000" marR="40000" marT="10000" marB="10000" anchor="ctr">
                    <a:solidFill>
                      <a:srgbClr val="F7F9F9"/>
                    </a:solidFill>
                  </a:tcPr>
                </a:tc>
                <a:extLst>
                  <a:ext uri="{0D108BD9-81ED-4DB2-BD59-A6C34878D82A}">
                    <a16:rowId xmlns:a16="http://schemas.microsoft.com/office/drawing/2014/main" val="10004"/>
                  </a:ext>
                </a:extLst>
              </a:tr>
              <a:tr h="245000">
                <a:tc>
                  <a:txBody>
                    <a:bodyPr/>
                    <a:lstStyle/>
                    <a:p>
                      <a:pPr algn="l"/>
                      <a:r>
                        <a:rPr sz="750" b="1">
                          <a:solidFill>
                            <a:srgbClr val="2F3B3A"/>
                          </a:solidFill>
                          <a:latin typeface="Calibri"/>
                        </a:rPr>
                        <a:t>Ticket mediano</a:t>
                      </a:r>
                    </a:p>
                  </a:txBody>
                  <a:tcPr marL="40000" marR="40000" marT="10000" marB="10000" anchor="ctr">
                    <a:noFill/>
                  </a:tcPr>
                </a:tc>
                <a:tc>
                  <a:txBody>
                    <a:bodyPr/>
                    <a:lstStyle/>
                    <a:p>
                      <a:pPr algn="ctr"/>
                      <a:r>
                        <a:rPr sz="750" b="0">
                          <a:solidFill>
                            <a:srgbClr val="2F3B3A"/>
                          </a:solidFill>
                          <a:latin typeface="Calibri"/>
                        </a:rPr>
                        <a:t>S/ 150K</a:t>
                      </a:r>
                    </a:p>
                  </a:txBody>
                  <a:tcPr marL="40000" marR="40000" marT="10000" marB="10000" anchor="ctr">
                    <a:noFill/>
                  </a:tcPr>
                </a:tc>
                <a:tc>
                  <a:txBody>
                    <a:bodyPr/>
                    <a:lstStyle/>
                    <a:p>
                      <a:pPr algn="ctr"/>
                      <a:r>
                        <a:rPr sz="750" b="0">
                          <a:solidFill>
                            <a:srgbClr val="2F3B3A"/>
                          </a:solidFill>
                          <a:latin typeface="Calibri"/>
                        </a:rPr>
                        <a:t>S/ 100K</a:t>
                      </a:r>
                    </a:p>
                  </a:txBody>
                  <a:tcPr marL="40000" marR="40000" marT="10000" marB="10000" anchor="ctr">
                    <a:noFill/>
                  </a:tcPr>
                </a:tc>
                <a:tc>
                  <a:txBody>
                    <a:bodyPr/>
                    <a:lstStyle/>
                    <a:p>
                      <a:pPr algn="ctr"/>
                      <a:r>
                        <a:rPr sz="750" b="0">
                          <a:solidFill>
                            <a:srgbClr val="2F3B3A"/>
                          </a:solidFill>
                          <a:latin typeface="Calibri"/>
                        </a:rPr>
                        <a:t>S/ 220K</a:t>
                      </a:r>
                    </a:p>
                  </a:txBody>
                  <a:tcPr marL="40000" marR="40000" marT="10000" marB="10000" anchor="ctr">
                    <a:noFill/>
                  </a:tcPr>
                </a:tc>
                <a:tc>
                  <a:txBody>
                    <a:bodyPr/>
                    <a:lstStyle/>
                    <a:p>
                      <a:pPr algn="ctr"/>
                      <a:r>
                        <a:rPr sz="750" b="0">
                          <a:solidFill>
                            <a:srgbClr val="2F3B3A"/>
                          </a:solidFill>
                          <a:latin typeface="Calibri"/>
                        </a:rPr>
                        <a:t>S/ 160K</a:t>
                      </a:r>
                    </a:p>
                  </a:txBody>
                  <a:tcPr marL="40000" marR="40000" marT="10000" marB="10000" anchor="ctr">
                    <a:noFill/>
                  </a:tcPr>
                </a:tc>
                <a:tc>
                  <a:txBody>
                    <a:bodyPr/>
                    <a:lstStyle/>
                    <a:p>
                      <a:pPr algn="ctr"/>
                      <a:r>
                        <a:rPr sz="750" b="0">
                          <a:solidFill>
                            <a:srgbClr val="2F3B3A"/>
                          </a:solidFill>
                          <a:latin typeface="Calibri"/>
                        </a:rPr>
                        <a:t>S/ 248K</a:t>
                      </a:r>
                    </a:p>
                  </a:txBody>
                  <a:tcPr marL="40000" marR="40000" marT="10000" marB="10000" anchor="ctr">
                    <a:noFill/>
                  </a:tcPr>
                </a:tc>
                <a:tc>
                  <a:txBody>
                    <a:bodyPr/>
                    <a:lstStyle/>
                    <a:p>
                      <a:pPr algn="ctr"/>
                      <a:r>
                        <a:rPr sz="750" b="0">
                          <a:solidFill>
                            <a:srgbClr val="2F3B3A"/>
                          </a:solidFill>
                          <a:latin typeface="Calibri"/>
                        </a:rPr>
                        <a:t>S/ 90K</a:t>
                      </a:r>
                    </a:p>
                  </a:txBody>
                  <a:tcPr marL="40000" marR="40000" marT="10000" marB="10000" anchor="ctr">
                    <a:noFill/>
                  </a:tcPr>
                </a:tc>
                <a:tc>
                  <a:txBody>
                    <a:bodyPr/>
                    <a:lstStyle/>
                    <a:p>
                      <a:pPr algn="ctr"/>
                      <a:r>
                        <a:rPr sz="750" b="0">
                          <a:solidFill>
                            <a:srgbClr val="2F3B3A"/>
                          </a:solidFill>
                          <a:latin typeface="Calibri"/>
                        </a:rPr>
                        <a:t>S/ 30K</a:t>
                      </a:r>
                    </a:p>
                  </a:txBody>
                  <a:tcPr marL="40000" marR="40000" marT="10000" marB="10000" anchor="ctr">
                    <a:noFill/>
                  </a:tcPr>
                </a:tc>
                <a:tc>
                  <a:txBody>
                    <a:bodyPr/>
                    <a:lstStyle/>
                    <a:p>
                      <a:pPr algn="ctr"/>
                      <a:r>
                        <a:rPr sz="750" b="0">
                          <a:solidFill>
                            <a:srgbClr val="2F3B3A"/>
                          </a:solidFill>
                          <a:latin typeface="Calibri"/>
                        </a:rPr>
                        <a:t>S/ 50K</a:t>
                      </a:r>
                    </a:p>
                  </a:txBody>
                  <a:tcPr marL="40000" marR="40000" marT="10000" marB="10000" anchor="ctr">
                    <a:noFill/>
                  </a:tcPr>
                </a:tc>
                <a:tc>
                  <a:txBody>
                    <a:bodyPr/>
                    <a:lstStyle/>
                    <a:p>
                      <a:pPr algn="ctr"/>
                      <a:r>
                        <a:rPr sz="750" b="0">
                          <a:solidFill>
                            <a:srgbClr val="2F3B3A"/>
                          </a:solidFill>
                          <a:latin typeface="Calibri"/>
                        </a:rPr>
                        <a:t>S/ 70K</a:t>
                      </a:r>
                    </a:p>
                  </a:txBody>
                  <a:tcPr marL="40000" marR="40000" marT="10000" marB="10000" anchor="ctr">
                    <a:noFill/>
                  </a:tcPr>
                </a:tc>
                <a:extLst>
                  <a:ext uri="{0D108BD9-81ED-4DB2-BD59-A6C34878D82A}">
                    <a16:rowId xmlns:a16="http://schemas.microsoft.com/office/drawing/2014/main" val="10005"/>
                  </a:ext>
                </a:extLst>
              </a:tr>
              <a:tr h="245000">
                <a:tc>
                  <a:txBody>
                    <a:bodyPr/>
                    <a:lstStyle/>
                    <a:p>
                      <a:pPr algn="l"/>
                      <a:r>
                        <a:rPr sz="750" b="1">
                          <a:solidFill>
                            <a:srgbClr val="2F3B3A"/>
                          </a:solidFill>
                          <a:latin typeface="Calibri"/>
                        </a:rPr>
                        <a:t>Ventas medianas</a:t>
                      </a:r>
                    </a:p>
                  </a:txBody>
                  <a:tcPr marL="40000" marR="40000" marT="10000" marB="10000" anchor="ctr">
                    <a:solidFill>
                      <a:srgbClr val="F7F9F9"/>
                    </a:solidFill>
                  </a:tcPr>
                </a:tc>
                <a:tc>
                  <a:txBody>
                    <a:bodyPr/>
                    <a:lstStyle/>
                    <a:p>
                      <a:pPr algn="ctr"/>
                      <a:r>
                        <a:rPr sz="750" b="0">
                          <a:solidFill>
                            <a:srgbClr val="2F3B3A"/>
                          </a:solidFill>
                          <a:latin typeface="Calibri"/>
                        </a:rPr>
                        <a:t>S/ 682K</a:t>
                      </a:r>
                    </a:p>
                  </a:txBody>
                  <a:tcPr marL="40000" marR="40000" marT="10000" marB="10000" anchor="ctr">
                    <a:solidFill>
                      <a:srgbClr val="F7F9F9"/>
                    </a:solidFill>
                  </a:tcPr>
                </a:tc>
                <a:tc>
                  <a:txBody>
                    <a:bodyPr/>
                    <a:lstStyle/>
                    <a:p>
                      <a:pPr algn="ctr"/>
                      <a:r>
                        <a:rPr sz="750" b="0">
                          <a:solidFill>
                            <a:srgbClr val="2F3B3A"/>
                          </a:solidFill>
                          <a:latin typeface="Calibri"/>
                        </a:rPr>
                        <a:t>S/ 444K</a:t>
                      </a:r>
                    </a:p>
                  </a:txBody>
                  <a:tcPr marL="40000" marR="40000" marT="10000" marB="10000" anchor="ctr">
                    <a:solidFill>
                      <a:srgbClr val="F7F9F9"/>
                    </a:solidFill>
                  </a:tcPr>
                </a:tc>
                <a:tc>
                  <a:txBody>
                    <a:bodyPr/>
                    <a:lstStyle/>
                    <a:p>
                      <a:pPr algn="ctr"/>
                      <a:r>
                        <a:rPr sz="750" b="0">
                          <a:solidFill>
                            <a:srgbClr val="2F3B3A"/>
                          </a:solidFill>
                          <a:latin typeface="Calibri"/>
                        </a:rPr>
                        <a:t>S/ 2,7MM</a:t>
                      </a:r>
                    </a:p>
                  </a:txBody>
                  <a:tcPr marL="40000" marR="40000" marT="10000" marB="10000" anchor="ctr">
                    <a:solidFill>
                      <a:srgbClr val="F7F9F9"/>
                    </a:solidFill>
                  </a:tcPr>
                </a:tc>
                <a:tc>
                  <a:txBody>
                    <a:bodyPr/>
                    <a:lstStyle/>
                    <a:p>
                      <a:pPr algn="ctr"/>
                      <a:r>
                        <a:rPr sz="750" b="0">
                          <a:solidFill>
                            <a:srgbClr val="2F3B3A"/>
                          </a:solidFill>
                          <a:latin typeface="Calibri"/>
                        </a:rPr>
                        <a:t>S/ 726K</a:t>
                      </a:r>
                    </a:p>
                  </a:txBody>
                  <a:tcPr marL="40000" marR="40000" marT="10000" marB="10000" anchor="ctr">
                    <a:solidFill>
                      <a:srgbClr val="F7F9F9"/>
                    </a:solidFill>
                  </a:tcPr>
                </a:tc>
                <a:tc>
                  <a:txBody>
                    <a:bodyPr/>
                    <a:lstStyle/>
                    <a:p>
                      <a:pPr algn="ctr"/>
                      <a:r>
                        <a:rPr sz="750" b="0">
                          <a:solidFill>
                            <a:srgbClr val="2F3B3A"/>
                          </a:solidFill>
                          <a:latin typeface="Calibri"/>
                        </a:rPr>
                        <a:t>S/ 2,8MM</a:t>
                      </a:r>
                    </a:p>
                  </a:txBody>
                  <a:tcPr marL="40000" marR="40000" marT="10000" marB="10000" anchor="ctr">
                    <a:solidFill>
                      <a:srgbClr val="F7F9F9"/>
                    </a:solidFill>
                  </a:tcPr>
                </a:tc>
                <a:tc>
                  <a:txBody>
                    <a:bodyPr/>
                    <a:lstStyle/>
                    <a:p>
                      <a:pPr algn="ctr"/>
                      <a:r>
                        <a:rPr sz="750" b="0">
                          <a:solidFill>
                            <a:srgbClr val="2F3B3A"/>
                          </a:solidFill>
                          <a:latin typeface="Calibri"/>
                        </a:rPr>
                        <a:t>S/ 485K</a:t>
                      </a:r>
                    </a:p>
                  </a:txBody>
                  <a:tcPr marL="40000" marR="40000" marT="10000" marB="10000" anchor="ctr">
                    <a:solidFill>
                      <a:srgbClr val="F7F9F9"/>
                    </a:solidFill>
                  </a:tcPr>
                </a:tc>
                <a:tc>
                  <a:txBody>
                    <a:bodyPr/>
                    <a:lstStyle/>
                    <a:p>
                      <a:pPr algn="ctr"/>
                      <a:r>
                        <a:rPr sz="750" b="0">
                          <a:solidFill>
                            <a:srgbClr val="2F3B3A"/>
                          </a:solidFill>
                          <a:latin typeface="Calibri"/>
                        </a:rPr>
                        <a:t>S/ 126K</a:t>
                      </a:r>
                    </a:p>
                  </a:txBody>
                  <a:tcPr marL="40000" marR="40000" marT="10000" marB="10000" anchor="ctr">
                    <a:solidFill>
                      <a:srgbClr val="F7F9F9"/>
                    </a:solidFill>
                  </a:tcPr>
                </a:tc>
                <a:tc>
                  <a:txBody>
                    <a:bodyPr/>
                    <a:lstStyle/>
                    <a:p>
                      <a:pPr algn="ctr"/>
                      <a:r>
                        <a:rPr sz="750" b="0">
                          <a:solidFill>
                            <a:srgbClr val="2F3B3A"/>
                          </a:solidFill>
                          <a:latin typeface="Calibri"/>
                        </a:rPr>
                        <a:t>S/ 501K</a:t>
                      </a:r>
                    </a:p>
                  </a:txBody>
                  <a:tcPr marL="40000" marR="40000" marT="10000" marB="10000" anchor="ctr">
                    <a:solidFill>
                      <a:srgbClr val="F7F9F9"/>
                    </a:solidFill>
                  </a:tcPr>
                </a:tc>
                <a:tc>
                  <a:txBody>
                    <a:bodyPr/>
                    <a:lstStyle/>
                    <a:p>
                      <a:pPr algn="ctr"/>
                      <a:r>
                        <a:rPr sz="750" b="0">
                          <a:solidFill>
                            <a:srgbClr val="2F3B3A"/>
                          </a:solidFill>
                          <a:latin typeface="Calibri"/>
                        </a:rPr>
                        <a:t>S/ 501K</a:t>
                      </a:r>
                    </a:p>
                  </a:txBody>
                  <a:tcPr marL="40000" marR="40000" marT="10000" marB="10000" anchor="ctr">
                    <a:solidFill>
                      <a:srgbClr val="F7F9F9"/>
                    </a:solidFill>
                  </a:tcPr>
                </a:tc>
                <a:extLst>
                  <a:ext uri="{0D108BD9-81ED-4DB2-BD59-A6C34878D82A}">
                    <a16:rowId xmlns:a16="http://schemas.microsoft.com/office/drawing/2014/main" val="10006"/>
                  </a:ext>
                </a:extLst>
              </a:tr>
              <a:tr h="245000">
                <a:tc>
                  <a:txBody>
                    <a:bodyPr/>
                    <a:lstStyle/>
                    <a:p>
                      <a:pPr algn="l"/>
                      <a:r>
                        <a:rPr sz="750" b="1">
                          <a:solidFill>
                            <a:srgbClr val="2F3B3A"/>
                          </a:solidFill>
                          <a:latin typeface="Calibri"/>
                        </a:rPr>
                        <a:t>Antigüedad (años)</a:t>
                      </a:r>
                    </a:p>
                  </a:txBody>
                  <a:tcPr marL="40000" marR="40000" marT="10000" marB="10000" anchor="ctr">
                    <a:noFill/>
                  </a:tcPr>
                </a:tc>
                <a:tc>
                  <a:txBody>
                    <a:bodyPr/>
                    <a:lstStyle/>
                    <a:p>
                      <a:pPr algn="ctr"/>
                      <a:r>
                        <a:rPr sz="750" b="0">
                          <a:solidFill>
                            <a:srgbClr val="2F3B3A"/>
                          </a:solidFill>
                          <a:latin typeface="Calibri"/>
                        </a:rPr>
                        <a:t>9</a:t>
                      </a:r>
                    </a:p>
                  </a:txBody>
                  <a:tcPr marL="40000" marR="40000" marT="10000" marB="10000" anchor="ctr">
                    <a:noFill/>
                  </a:tcPr>
                </a:tc>
                <a:tc>
                  <a:txBody>
                    <a:bodyPr/>
                    <a:lstStyle/>
                    <a:p>
                      <a:pPr algn="ctr"/>
                      <a:r>
                        <a:rPr sz="750" b="0">
                          <a:solidFill>
                            <a:srgbClr val="2F3B3A"/>
                          </a:solidFill>
                          <a:latin typeface="Calibri"/>
                        </a:rPr>
                        <a:t>8</a:t>
                      </a:r>
                    </a:p>
                  </a:txBody>
                  <a:tcPr marL="40000" marR="40000" marT="10000" marB="10000" anchor="ctr">
                    <a:noFill/>
                  </a:tcPr>
                </a:tc>
                <a:tc>
                  <a:txBody>
                    <a:bodyPr/>
                    <a:lstStyle/>
                    <a:p>
                      <a:pPr algn="ctr"/>
                      <a:r>
                        <a:rPr sz="750" b="0">
                          <a:solidFill>
                            <a:srgbClr val="2F3B3A"/>
                          </a:solidFill>
                          <a:latin typeface="Calibri"/>
                        </a:rPr>
                        <a:t>9</a:t>
                      </a:r>
                    </a:p>
                  </a:txBody>
                  <a:tcPr marL="40000" marR="40000" marT="10000" marB="10000" anchor="ctr">
                    <a:noFill/>
                  </a:tcPr>
                </a:tc>
                <a:tc>
                  <a:txBody>
                    <a:bodyPr/>
                    <a:lstStyle/>
                    <a:p>
                      <a:pPr algn="ctr"/>
                      <a:r>
                        <a:rPr sz="750" b="0">
                          <a:solidFill>
                            <a:srgbClr val="2F3B3A"/>
                          </a:solidFill>
                          <a:latin typeface="Calibri"/>
                        </a:rPr>
                        <a:t>10</a:t>
                      </a:r>
                    </a:p>
                  </a:txBody>
                  <a:tcPr marL="40000" marR="40000" marT="10000" marB="10000" anchor="ctr">
                    <a:noFill/>
                  </a:tcPr>
                </a:tc>
                <a:tc>
                  <a:txBody>
                    <a:bodyPr/>
                    <a:lstStyle/>
                    <a:p>
                      <a:pPr algn="ctr"/>
                      <a:r>
                        <a:rPr sz="750" b="0">
                          <a:solidFill>
                            <a:srgbClr val="2F3B3A"/>
                          </a:solidFill>
                          <a:latin typeface="Calibri"/>
                        </a:rPr>
                        <a:t>9</a:t>
                      </a:r>
                    </a:p>
                  </a:txBody>
                  <a:tcPr marL="40000" marR="40000" marT="10000" marB="10000" anchor="ctr">
                    <a:noFill/>
                  </a:tcPr>
                </a:tc>
                <a:tc>
                  <a:txBody>
                    <a:bodyPr/>
                    <a:lstStyle/>
                    <a:p>
                      <a:pPr algn="ctr"/>
                      <a:r>
                        <a:rPr sz="750" b="0">
                          <a:solidFill>
                            <a:srgbClr val="2F3B3A"/>
                          </a:solidFill>
                          <a:latin typeface="Calibri"/>
                        </a:rPr>
                        <a:t>9</a:t>
                      </a:r>
                    </a:p>
                  </a:txBody>
                  <a:tcPr marL="40000" marR="40000" marT="10000" marB="10000" anchor="ctr">
                    <a:noFill/>
                  </a:tcPr>
                </a:tc>
                <a:tc>
                  <a:txBody>
                    <a:bodyPr/>
                    <a:lstStyle/>
                    <a:p>
                      <a:pPr algn="ctr"/>
                      <a:r>
                        <a:rPr sz="750" b="0">
                          <a:solidFill>
                            <a:srgbClr val="2F3B3A"/>
                          </a:solidFill>
                          <a:latin typeface="Calibri"/>
                        </a:rPr>
                        <a:t>3</a:t>
                      </a:r>
                    </a:p>
                  </a:txBody>
                  <a:tcPr marL="40000" marR="40000" marT="10000" marB="10000" anchor="ctr">
                    <a:noFill/>
                  </a:tcPr>
                </a:tc>
                <a:tc>
                  <a:txBody>
                    <a:bodyPr/>
                    <a:lstStyle/>
                    <a:p>
                      <a:pPr algn="ctr"/>
                      <a:r>
                        <a:rPr sz="750" b="0">
                          <a:solidFill>
                            <a:srgbClr val="2F3B3A"/>
                          </a:solidFill>
                          <a:latin typeface="Calibri"/>
                        </a:rPr>
                        <a:t>4</a:t>
                      </a:r>
                    </a:p>
                  </a:txBody>
                  <a:tcPr marL="40000" marR="40000" marT="10000" marB="10000" anchor="ctr">
                    <a:noFill/>
                  </a:tcPr>
                </a:tc>
                <a:tc>
                  <a:txBody>
                    <a:bodyPr/>
                    <a:lstStyle/>
                    <a:p>
                      <a:pPr algn="ctr"/>
                      <a:r>
                        <a:rPr sz="750" b="0">
                          <a:solidFill>
                            <a:srgbClr val="2F3B3A"/>
                          </a:solidFill>
                          <a:latin typeface="Calibri"/>
                        </a:rPr>
                        <a:t>4</a:t>
                      </a:r>
                    </a:p>
                  </a:txBody>
                  <a:tcPr marL="40000" marR="40000" marT="10000" marB="10000" anchor="ctr">
                    <a:noFill/>
                  </a:tcPr>
                </a:tc>
                <a:extLst>
                  <a:ext uri="{0D108BD9-81ED-4DB2-BD59-A6C34878D82A}">
                    <a16:rowId xmlns:a16="http://schemas.microsoft.com/office/drawing/2014/main" val="10007"/>
                  </a:ext>
                </a:extLst>
              </a:tr>
              <a:tr h="245000">
                <a:tc>
                  <a:txBody>
                    <a:bodyPr/>
                    <a:lstStyle/>
                    <a:p>
                      <a:pPr algn="l"/>
                      <a:r>
                        <a:rPr sz="750" b="1">
                          <a:solidFill>
                            <a:srgbClr val="2F3B3A"/>
                          </a:solidFill>
                          <a:latin typeface="Calibri"/>
                        </a:rPr>
                        <a:t>Pasivos promedio</a:t>
                      </a:r>
                    </a:p>
                  </a:txBody>
                  <a:tcPr marL="40000" marR="40000" marT="10000" marB="10000" anchor="ctr">
                    <a:solidFill>
                      <a:srgbClr val="F7F9F9"/>
                    </a:solidFill>
                  </a:tcPr>
                </a:tc>
                <a:tc>
                  <a:txBody>
                    <a:bodyPr/>
                    <a:lstStyle/>
                    <a:p>
                      <a:pPr algn="ctr"/>
                      <a:r>
                        <a:rPr sz="750" b="0">
                          <a:solidFill>
                            <a:srgbClr val="2F3B3A"/>
                          </a:solidFill>
                          <a:latin typeface="Calibri"/>
                        </a:rPr>
                        <a:t>S/ 18K</a:t>
                      </a:r>
                    </a:p>
                  </a:txBody>
                  <a:tcPr marL="40000" marR="40000" marT="10000" marB="10000" anchor="ctr">
                    <a:solidFill>
                      <a:srgbClr val="F7F9F9"/>
                    </a:solidFill>
                  </a:tcPr>
                </a:tc>
                <a:tc>
                  <a:txBody>
                    <a:bodyPr/>
                    <a:lstStyle/>
                    <a:p>
                      <a:pPr algn="ctr"/>
                      <a:r>
                        <a:rPr sz="750" b="0">
                          <a:solidFill>
                            <a:srgbClr val="2F3B3A"/>
                          </a:solidFill>
                          <a:latin typeface="Calibri"/>
                        </a:rPr>
                        <a:t>S/ 3,9K</a:t>
                      </a:r>
                    </a:p>
                  </a:txBody>
                  <a:tcPr marL="40000" marR="40000" marT="10000" marB="10000" anchor="ctr">
                    <a:solidFill>
                      <a:srgbClr val="F7F9F9"/>
                    </a:solidFill>
                  </a:tcPr>
                </a:tc>
                <a:tc>
                  <a:txBody>
                    <a:bodyPr/>
                    <a:lstStyle/>
                    <a:p>
                      <a:pPr algn="ctr"/>
                      <a:r>
                        <a:rPr sz="750" b="0">
                          <a:solidFill>
                            <a:srgbClr val="2F3B3A"/>
                          </a:solidFill>
                          <a:latin typeface="Calibri"/>
                        </a:rPr>
                        <a:t>S/ 26K</a:t>
                      </a:r>
                    </a:p>
                  </a:txBody>
                  <a:tcPr marL="40000" marR="40000" marT="10000" marB="10000" anchor="ctr">
                    <a:solidFill>
                      <a:srgbClr val="F7F9F9"/>
                    </a:solidFill>
                  </a:tcPr>
                </a:tc>
                <a:tc>
                  <a:txBody>
                    <a:bodyPr/>
                    <a:lstStyle/>
                    <a:p>
                      <a:pPr algn="ctr"/>
                      <a:r>
                        <a:rPr sz="750" b="0">
                          <a:solidFill>
                            <a:srgbClr val="2F3B3A"/>
                          </a:solidFill>
                          <a:latin typeface="Calibri"/>
                        </a:rPr>
                        <a:t>S/ 5,7K</a:t>
                      </a:r>
                    </a:p>
                  </a:txBody>
                  <a:tcPr marL="40000" marR="40000" marT="10000" marB="10000" anchor="ctr">
                    <a:solidFill>
                      <a:srgbClr val="F7F9F9"/>
                    </a:solidFill>
                  </a:tcPr>
                </a:tc>
                <a:tc>
                  <a:txBody>
                    <a:bodyPr/>
                    <a:lstStyle/>
                    <a:p>
                      <a:pPr algn="ctr"/>
                      <a:r>
                        <a:rPr sz="750" b="0">
                          <a:solidFill>
                            <a:srgbClr val="2F3B3A"/>
                          </a:solidFill>
                          <a:latin typeface="Calibri"/>
                        </a:rPr>
                        <a:t>S/ 6,8K</a:t>
                      </a:r>
                    </a:p>
                  </a:txBody>
                  <a:tcPr marL="40000" marR="40000" marT="10000" marB="10000" anchor="ctr">
                    <a:solidFill>
                      <a:srgbClr val="F7F9F9"/>
                    </a:solidFill>
                  </a:tcPr>
                </a:tc>
                <a:tc>
                  <a:txBody>
                    <a:bodyPr/>
                    <a:lstStyle/>
                    <a:p>
                      <a:pPr algn="ctr"/>
                      <a:r>
                        <a:rPr sz="750" b="0">
                          <a:solidFill>
                            <a:srgbClr val="2F3B3A"/>
                          </a:solidFill>
                          <a:latin typeface="Calibri"/>
                        </a:rPr>
                        <a:t>S/ 5,4K</a:t>
                      </a:r>
                    </a:p>
                  </a:txBody>
                  <a:tcPr marL="40000" marR="40000" marT="10000" marB="10000" anchor="ctr">
                    <a:solidFill>
                      <a:srgbClr val="F7F9F9"/>
                    </a:solidFill>
                  </a:tcPr>
                </a:tc>
                <a:tc>
                  <a:txBody>
                    <a:bodyPr/>
                    <a:lstStyle/>
                    <a:p>
                      <a:pPr algn="ctr"/>
                      <a:r>
                        <a:rPr sz="750" b="0">
                          <a:solidFill>
                            <a:srgbClr val="2F3B3A"/>
                          </a:solidFill>
                          <a:latin typeface="Calibri"/>
                        </a:rPr>
                        <a:t>S/ 1,8K</a:t>
                      </a:r>
                    </a:p>
                  </a:txBody>
                  <a:tcPr marL="40000" marR="40000" marT="10000" marB="10000" anchor="ctr">
                    <a:solidFill>
                      <a:srgbClr val="F7F9F9"/>
                    </a:solidFill>
                  </a:tcPr>
                </a:tc>
                <a:tc>
                  <a:txBody>
                    <a:bodyPr/>
                    <a:lstStyle/>
                    <a:p>
                      <a:pPr algn="ctr"/>
                      <a:r>
                        <a:rPr sz="750" b="0">
                          <a:solidFill>
                            <a:srgbClr val="2F3B3A"/>
                          </a:solidFill>
                          <a:latin typeface="Calibri"/>
                        </a:rPr>
                        <a:t>S/ 2,6K</a:t>
                      </a:r>
                    </a:p>
                  </a:txBody>
                  <a:tcPr marL="40000" marR="40000" marT="10000" marB="10000" anchor="ctr">
                    <a:solidFill>
                      <a:srgbClr val="F7F9F9"/>
                    </a:solidFill>
                  </a:tcPr>
                </a:tc>
                <a:tc>
                  <a:txBody>
                    <a:bodyPr/>
                    <a:lstStyle/>
                    <a:p>
                      <a:pPr algn="ctr"/>
                      <a:r>
                        <a:rPr sz="750" b="0">
                          <a:solidFill>
                            <a:srgbClr val="2F3B3A"/>
                          </a:solidFill>
                          <a:latin typeface="Calibri"/>
                        </a:rPr>
                        <a:t>S/ 23K</a:t>
                      </a:r>
                    </a:p>
                  </a:txBody>
                  <a:tcPr marL="40000" marR="40000" marT="10000" marB="10000" anchor="ctr">
                    <a:solidFill>
                      <a:srgbClr val="F7F9F9"/>
                    </a:solidFill>
                  </a:tcPr>
                </a:tc>
                <a:extLst>
                  <a:ext uri="{0D108BD9-81ED-4DB2-BD59-A6C34878D82A}">
                    <a16:rowId xmlns:a16="http://schemas.microsoft.com/office/drawing/2014/main" val="10008"/>
                  </a:ext>
                </a:extLst>
              </a:tr>
              <a:tr h="245000">
                <a:tc>
                  <a:txBody>
                    <a:bodyPr/>
                    <a:lstStyle/>
                    <a:p>
                      <a:pPr algn="l"/>
                      <a:r>
                        <a:rPr sz="750" b="1">
                          <a:solidFill>
                            <a:srgbClr val="2F3B3A"/>
                          </a:solidFill>
                          <a:latin typeface="Calibri"/>
                        </a:rPr>
                        <a:t>UAI promedio</a:t>
                      </a:r>
                    </a:p>
                  </a:txBody>
                  <a:tcPr marL="40000" marR="40000" marT="10000" marB="10000" anchor="ctr">
                    <a:noFill/>
                  </a:tcPr>
                </a:tc>
                <a:tc>
                  <a:txBody>
                    <a:bodyPr/>
                    <a:lstStyle/>
                    <a:p>
                      <a:pPr algn="ctr"/>
                      <a:r>
                        <a:rPr sz="750" b="0">
                          <a:solidFill>
                            <a:srgbClr val="2F3B3A"/>
                          </a:solidFill>
                          <a:latin typeface="Calibri"/>
                        </a:rPr>
                        <a:t>S/ 888</a:t>
                      </a:r>
                    </a:p>
                  </a:txBody>
                  <a:tcPr marL="40000" marR="40000" marT="10000" marB="10000" anchor="ctr">
                    <a:noFill/>
                  </a:tcPr>
                </a:tc>
                <a:tc>
                  <a:txBody>
                    <a:bodyPr/>
                    <a:lstStyle/>
                    <a:p>
                      <a:pPr algn="ctr"/>
                      <a:r>
                        <a:rPr sz="750" b="0">
                          <a:solidFill>
                            <a:srgbClr val="2F3B3A"/>
                          </a:solidFill>
                          <a:latin typeface="Calibri"/>
                        </a:rPr>
                        <a:t>S/ 226</a:t>
                      </a:r>
                    </a:p>
                  </a:txBody>
                  <a:tcPr marL="40000" marR="40000" marT="10000" marB="10000" anchor="ctr">
                    <a:noFill/>
                  </a:tcPr>
                </a:tc>
                <a:tc>
                  <a:txBody>
                    <a:bodyPr/>
                    <a:lstStyle/>
                    <a:p>
                      <a:pPr algn="ctr"/>
                      <a:r>
                        <a:rPr sz="750" b="0">
                          <a:solidFill>
                            <a:srgbClr val="2F3B3A"/>
                          </a:solidFill>
                          <a:latin typeface="Calibri"/>
                        </a:rPr>
                        <a:t>S/ 1.139</a:t>
                      </a:r>
                    </a:p>
                  </a:txBody>
                  <a:tcPr marL="40000" marR="40000" marT="10000" marB="10000" anchor="ctr">
                    <a:noFill/>
                  </a:tcPr>
                </a:tc>
                <a:tc>
                  <a:txBody>
                    <a:bodyPr/>
                    <a:lstStyle/>
                    <a:p>
                      <a:pPr algn="ctr"/>
                      <a:r>
                        <a:rPr sz="750" b="0">
                          <a:solidFill>
                            <a:srgbClr val="2F3B3A"/>
                          </a:solidFill>
                          <a:latin typeface="Calibri"/>
                        </a:rPr>
                        <a:t>S/ 322</a:t>
                      </a:r>
                    </a:p>
                  </a:txBody>
                  <a:tcPr marL="40000" marR="40000" marT="10000" marB="10000" anchor="ctr">
                    <a:noFill/>
                  </a:tcPr>
                </a:tc>
                <a:tc>
                  <a:txBody>
                    <a:bodyPr/>
                    <a:lstStyle/>
                    <a:p>
                      <a:pPr algn="ctr"/>
                      <a:r>
                        <a:rPr sz="750" b="0">
                          <a:solidFill>
                            <a:srgbClr val="2F3B3A"/>
                          </a:solidFill>
                          <a:latin typeface="Calibri"/>
                        </a:rPr>
                        <a:t>S/ 227</a:t>
                      </a:r>
                    </a:p>
                  </a:txBody>
                  <a:tcPr marL="40000" marR="40000" marT="10000" marB="10000" anchor="ctr">
                    <a:noFill/>
                  </a:tcPr>
                </a:tc>
                <a:tc>
                  <a:txBody>
                    <a:bodyPr/>
                    <a:lstStyle/>
                    <a:p>
                      <a:pPr algn="ctr"/>
                      <a:r>
                        <a:rPr sz="750" b="0">
                          <a:solidFill>
                            <a:srgbClr val="2F3B3A"/>
                          </a:solidFill>
                          <a:latin typeface="Calibri"/>
                        </a:rPr>
                        <a:t>S/ 253</a:t>
                      </a:r>
                    </a:p>
                  </a:txBody>
                  <a:tcPr marL="40000" marR="40000" marT="10000" marB="10000" anchor="ctr">
                    <a:noFill/>
                  </a:tcPr>
                </a:tc>
                <a:tc>
                  <a:txBody>
                    <a:bodyPr/>
                    <a:lstStyle/>
                    <a:p>
                      <a:pPr algn="ctr"/>
                      <a:r>
                        <a:rPr sz="750" b="0">
                          <a:solidFill>
                            <a:srgbClr val="2F3B3A"/>
                          </a:solidFill>
                          <a:latin typeface="Calibri"/>
                        </a:rPr>
                        <a:t>S/ 24</a:t>
                      </a:r>
                    </a:p>
                  </a:txBody>
                  <a:tcPr marL="40000" marR="40000" marT="10000" marB="10000" anchor="ctr">
                    <a:noFill/>
                  </a:tcPr>
                </a:tc>
                <a:tc>
                  <a:txBody>
                    <a:bodyPr/>
                    <a:lstStyle/>
                    <a:p>
                      <a:pPr algn="ctr"/>
                      <a:r>
                        <a:rPr sz="750" b="0">
                          <a:solidFill>
                            <a:srgbClr val="2F3B3A"/>
                          </a:solidFill>
                          <a:latin typeface="Calibri"/>
                        </a:rPr>
                        <a:t>S/ 28</a:t>
                      </a:r>
                    </a:p>
                  </a:txBody>
                  <a:tcPr marL="40000" marR="40000" marT="10000" marB="10000" anchor="ctr">
                    <a:noFill/>
                  </a:tcPr>
                </a:tc>
                <a:tc>
                  <a:txBody>
                    <a:bodyPr/>
                    <a:lstStyle/>
                    <a:p>
                      <a:pPr algn="ctr"/>
                      <a:r>
                        <a:rPr sz="750" b="0">
                          <a:solidFill>
                            <a:srgbClr val="2F3B3A"/>
                          </a:solidFill>
                          <a:latin typeface="Calibri"/>
                        </a:rPr>
                        <a:t>S/ 145</a:t>
                      </a:r>
                    </a:p>
                  </a:txBody>
                  <a:tcPr marL="40000" marR="40000" marT="10000" marB="10000" anchor="ctr">
                    <a:noFill/>
                  </a:tcPr>
                </a:tc>
                <a:extLst>
                  <a:ext uri="{0D108BD9-81ED-4DB2-BD59-A6C34878D82A}">
                    <a16:rowId xmlns:a16="http://schemas.microsoft.com/office/drawing/2014/main" val="10009"/>
                  </a:ext>
                </a:extLst>
              </a:tr>
              <a:tr h="210000">
                <a:tc gridSpan="10">
                  <a:txBody>
                    <a:bodyPr/>
                    <a:lstStyle/>
                    <a:p>
                      <a:pPr algn="l"/>
                      <a:r>
                        <a:rPr sz="750" b="1">
                          <a:solidFill>
                            <a:srgbClr val="13807B"/>
                          </a:solidFill>
                          <a:latin typeface="Calibri"/>
                        </a:rPr>
                        <a:t>RELACIÓN</a:t>
                      </a:r>
                    </a:p>
                  </a:txBody>
                  <a:tcPr marL="40000" marR="40000" marT="10000" marB="10000" anchor="ctr">
                    <a:solidFill>
                      <a:srgbClr val="E8F3F2"/>
                    </a:solidFill>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extLst>
                  <a:ext uri="{0D108BD9-81ED-4DB2-BD59-A6C34878D82A}">
                    <a16:rowId xmlns:a16="http://schemas.microsoft.com/office/drawing/2014/main" val="10010"/>
                  </a:ext>
                </a:extLst>
              </a:tr>
              <a:tr h="245000">
                <a:tc>
                  <a:txBody>
                    <a:bodyPr/>
                    <a:lstStyle/>
                    <a:p>
                      <a:pPr algn="l"/>
                      <a:r>
                        <a:rPr sz="750" b="1">
                          <a:solidFill>
                            <a:srgbClr val="2F3B3A"/>
                          </a:solidFill>
                          <a:latin typeface="Calibri"/>
                        </a:rPr>
                        <a:t>SOW de deuda</a:t>
                      </a:r>
                    </a:p>
                  </a:txBody>
                  <a:tcPr marL="40000" marR="40000" marT="10000" marB="10000" anchor="ctr">
                    <a:noFill/>
                  </a:tcPr>
                </a:tc>
                <a:tc>
                  <a:txBody>
                    <a:bodyPr/>
                    <a:lstStyle/>
                    <a:p>
                      <a:pPr algn="ctr"/>
                      <a:r>
                        <a:rPr sz="750" b="0">
                          <a:solidFill>
                            <a:srgbClr val="2F3B3A"/>
                          </a:solidFill>
                          <a:latin typeface="Calibri"/>
                        </a:rPr>
                        <a:t>69%</a:t>
                      </a:r>
                    </a:p>
                  </a:txBody>
                  <a:tcPr marL="40000" marR="40000" marT="10000" marB="10000" anchor="ctr">
                    <a:noFill/>
                  </a:tcPr>
                </a:tc>
                <a:tc>
                  <a:txBody>
                    <a:bodyPr/>
                    <a:lstStyle/>
                    <a:p>
                      <a:pPr algn="ctr"/>
                      <a:r>
                        <a:rPr sz="750" b="0">
                          <a:solidFill>
                            <a:srgbClr val="2F3B3A"/>
                          </a:solidFill>
                          <a:latin typeface="Calibri"/>
                        </a:rPr>
                        <a:t>69%</a:t>
                      </a:r>
                    </a:p>
                  </a:txBody>
                  <a:tcPr marL="40000" marR="40000" marT="10000" marB="10000" anchor="ctr">
                    <a:noFill/>
                  </a:tcPr>
                </a:tc>
                <a:tc>
                  <a:txBody>
                    <a:bodyPr/>
                    <a:lstStyle/>
                    <a:p>
                      <a:pPr algn="ctr"/>
                      <a:r>
                        <a:rPr sz="750" b="0">
                          <a:solidFill>
                            <a:srgbClr val="2F3B3A"/>
                          </a:solidFill>
                          <a:latin typeface="Calibri"/>
                        </a:rPr>
                        <a:t>38%</a:t>
                      </a:r>
                    </a:p>
                  </a:txBody>
                  <a:tcPr marL="40000" marR="40000" marT="10000" marB="10000" anchor="ctr">
                    <a:noFill/>
                  </a:tcPr>
                </a:tc>
                <a:tc>
                  <a:txBody>
                    <a:bodyPr/>
                    <a:lstStyle/>
                    <a:p>
                      <a:pPr algn="ctr"/>
                      <a:r>
                        <a:rPr sz="750" b="0">
                          <a:solidFill>
                            <a:srgbClr val="2F3B3A"/>
                          </a:solidFill>
                          <a:latin typeface="Calibri"/>
                        </a:rPr>
                        <a:t>25%</a:t>
                      </a:r>
                    </a:p>
                  </a:txBody>
                  <a:tcPr marL="40000" marR="40000" marT="10000" marB="10000" anchor="ctr">
                    <a:noFill/>
                  </a:tcPr>
                </a:tc>
                <a:tc>
                  <a:txBody>
                    <a:bodyPr/>
                    <a:lstStyle/>
                    <a:p>
                      <a:pPr algn="ctr"/>
                      <a:r>
                        <a:rPr sz="750" b="0">
                          <a:solidFill>
                            <a:srgbClr val="2F3B3A"/>
                          </a:solidFill>
                          <a:latin typeface="Calibri"/>
                        </a:rPr>
                        <a:t>12%</a:t>
                      </a:r>
                    </a:p>
                  </a:txBody>
                  <a:tcPr marL="40000" marR="40000" marT="10000" marB="10000" anchor="ctr">
                    <a:noFill/>
                  </a:tcPr>
                </a:tc>
                <a:tc>
                  <a:txBody>
                    <a:bodyPr/>
                    <a:lstStyle/>
                    <a:p>
                      <a:pPr algn="ctr"/>
                      <a:r>
                        <a:rPr sz="750" b="0">
                          <a:solidFill>
                            <a:srgbClr val="2F3B3A"/>
                          </a:solidFill>
                          <a:latin typeface="Calibri"/>
                        </a:rPr>
                        <a:t>46%</a:t>
                      </a:r>
                    </a:p>
                  </a:txBody>
                  <a:tcPr marL="40000" marR="40000" marT="10000" marB="10000" anchor="ctr">
                    <a:noFill/>
                  </a:tcPr>
                </a:tc>
                <a:tc>
                  <a:txBody>
                    <a:bodyPr/>
                    <a:lstStyle/>
                    <a:p>
                      <a:pPr algn="ctr"/>
                      <a:r>
                        <a:rPr sz="750" b="0">
                          <a:solidFill>
                            <a:srgbClr val="2F3B3A"/>
                          </a:solidFill>
                          <a:latin typeface="Calibri"/>
                        </a:rPr>
                        <a:t>–</a:t>
                      </a:r>
                    </a:p>
                  </a:txBody>
                  <a:tcPr marL="40000" marR="40000" marT="10000" marB="10000" anchor="ctr">
                    <a:noFill/>
                  </a:tcPr>
                </a:tc>
                <a:tc>
                  <a:txBody>
                    <a:bodyPr/>
                    <a:lstStyle/>
                    <a:p>
                      <a:pPr algn="ctr"/>
                      <a:r>
                        <a:rPr sz="750" b="0">
                          <a:solidFill>
                            <a:srgbClr val="2F3B3A"/>
                          </a:solidFill>
                          <a:latin typeface="Calibri"/>
                        </a:rPr>
                        <a:t>–</a:t>
                      </a:r>
                    </a:p>
                  </a:txBody>
                  <a:tcPr marL="40000" marR="40000" marT="10000" marB="10000" anchor="ctr">
                    <a:noFill/>
                  </a:tcPr>
                </a:tc>
                <a:tc>
                  <a:txBody>
                    <a:bodyPr/>
                    <a:lstStyle/>
                    <a:p>
                      <a:pPr algn="ctr"/>
                      <a:r>
                        <a:rPr sz="750" b="0">
                          <a:solidFill>
                            <a:srgbClr val="2F3B3A"/>
                          </a:solidFill>
                          <a:latin typeface="Calibri"/>
                        </a:rPr>
                        <a:t>–</a:t>
                      </a:r>
                    </a:p>
                  </a:txBody>
                  <a:tcPr marL="40000" marR="40000" marT="10000" marB="10000" anchor="ctr">
                    <a:noFill/>
                  </a:tcPr>
                </a:tc>
                <a:extLst>
                  <a:ext uri="{0D108BD9-81ED-4DB2-BD59-A6C34878D82A}">
                    <a16:rowId xmlns:a16="http://schemas.microsoft.com/office/drawing/2014/main" val="10011"/>
                  </a:ext>
                </a:extLst>
              </a:tr>
              <a:tr h="245000">
                <a:tc>
                  <a:txBody>
                    <a:bodyPr/>
                    <a:lstStyle/>
                    <a:p>
                      <a:pPr algn="l"/>
                      <a:r>
                        <a:rPr sz="750" b="1">
                          <a:solidFill>
                            <a:srgbClr val="2F3B3A"/>
                          </a:solidFill>
                          <a:latin typeface="Calibri"/>
                        </a:rPr>
                        <a:t>Retanqueo</a:t>
                      </a:r>
                    </a:p>
                  </a:txBody>
                  <a:tcPr marL="40000" marR="40000" marT="10000" marB="10000" anchor="ctr">
                    <a:solidFill>
                      <a:srgbClr val="F7F9F9"/>
                    </a:solidFill>
                  </a:tcPr>
                </a:tc>
                <a:tc>
                  <a:txBody>
                    <a:bodyPr/>
                    <a:lstStyle/>
                    <a:p>
                      <a:pPr algn="ctr"/>
                      <a:r>
                        <a:rPr sz="750" b="0">
                          <a:solidFill>
                            <a:srgbClr val="2F3B3A"/>
                          </a:solidFill>
                          <a:latin typeface="Calibri"/>
                        </a:rPr>
                        <a:t>18,7%</a:t>
                      </a:r>
                    </a:p>
                  </a:txBody>
                  <a:tcPr marL="40000" marR="40000" marT="10000" marB="10000" anchor="ctr">
                    <a:solidFill>
                      <a:srgbClr val="F7F9F9"/>
                    </a:solidFill>
                  </a:tcPr>
                </a:tc>
                <a:tc>
                  <a:txBody>
                    <a:bodyPr/>
                    <a:lstStyle/>
                    <a:p>
                      <a:pPr algn="ctr"/>
                      <a:r>
                        <a:rPr sz="750" b="0">
                          <a:solidFill>
                            <a:srgbClr val="2F3B3A"/>
                          </a:solidFill>
                          <a:latin typeface="Calibri"/>
                        </a:rPr>
                        <a:t>7,5%</a:t>
                      </a:r>
                    </a:p>
                  </a:txBody>
                  <a:tcPr marL="40000" marR="40000" marT="10000" marB="10000" anchor="ctr">
                    <a:solidFill>
                      <a:srgbClr val="F7F9F9"/>
                    </a:solidFill>
                  </a:tcPr>
                </a:tc>
                <a:tc>
                  <a:txBody>
                    <a:bodyPr/>
                    <a:lstStyle/>
                    <a:p>
                      <a:pPr algn="ctr"/>
                      <a:r>
                        <a:rPr sz="750" b="0">
                          <a:solidFill>
                            <a:srgbClr val="2F3B3A"/>
                          </a:solidFill>
                          <a:latin typeface="Calibri"/>
                        </a:rPr>
                        <a:t>13,1%</a:t>
                      </a:r>
                    </a:p>
                  </a:txBody>
                  <a:tcPr marL="40000" marR="40000" marT="10000" marB="10000" anchor="ctr">
                    <a:solidFill>
                      <a:srgbClr val="F7F9F9"/>
                    </a:solidFill>
                  </a:tcPr>
                </a:tc>
                <a:tc>
                  <a:txBody>
                    <a:bodyPr/>
                    <a:lstStyle/>
                    <a:p>
                      <a:pPr algn="ctr"/>
                      <a:r>
                        <a:rPr sz="750" b="0">
                          <a:solidFill>
                            <a:srgbClr val="2F3B3A"/>
                          </a:solidFill>
                          <a:latin typeface="Calibri"/>
                        </a:rPr>
                        <a:t>7,1%</a:t>
                      </a:r>
                    </a:p>
                  </a:txBody>
                  <a:tcPr marL="40000" marR="40000" marT="10000" marB="10000" anchor="ctr">
                    <a:solidFill>
                      <a:srgbClr val="F7F9F9"/>
                    </a:solidFill>
                  </a:tcPr>
                </a:tc>
                <a:tc>
                  <a:txBody>
                    <a:bodyPr/>
                    <a:lstStyle/>
                    <a:p>
                      <a:pPr algn="ctr"/>
                      <a:r>
                        <a:rPr sz="750" b="0">
                          <a:solidFill>
                            <a:srgbClr val="2F3B3A"/>
                          </a:solidFill>
                          <a:latin typeface="Calibri"/>
                        </a:rPr>
                        <a:t>4,6%</a:t>
                      </a:r>
                    </a:p>
                  </a:txBody>
                  <a:tcPr marL="40000" marR="40000" marT="10000" marB="10000" anchor="ctr">
                    <a:solidFill>
                      <a:srgbClr val="F7F9F9"/>
                    </a:solidFill>
                  </a:tcPr>
                </a:tc>
                <a:tc>
                  <a:txBody>
                    <a:bodyPr/>
                    <a:lstStyle/>
                    <a:p>
                      <a:pPr algn="ctr"/>
                      <a:r>
                        <a:rPr sz="750" b="0">
                          <a:solidFill>
                            <a:srgbClr val="2F3B3A"/>
                          </a:solidFill>
                          <a:latin typeface="Calibri"/>
                        </a:rPr>
                        <a:t>1,7%</a:t>
                      </a:r>
                    </a:p>
                  </a:txBody>
                  <a:tcPr marL="40000" marR="40000" marT="10000" marB="10000" anchor="ctr">
                    <a:solidFill>
                      <a:srgbClr val="F7F9F9"/>
                    </a:solidFill>
                  </a:tcPr>
                </a:tc>
                <a:tc>
                  <a:txBody>
                    <a:bodyPr/>
                    <a:lstStyle/>
                    <a:p>
                      <a:pPr algn="ctr"/>
                      <a:r>
                        <a:rPr sz="750" b="0">
                          <a:solidFill>
                            <a:srgbClr val="2F3B3A"/>
                          </a:solidFill>
                          <a:latin typeface="Calibri"/>
                        </a:rPr>
                        <a:t>0,0%</a:t>
                      </a:r>
                    </a:p>
                  </a:txBody>
                  <a:tcPr marL="40000" marR="40000" marT="10000" marB="10000" anchor="ctr">
                    <a:solidFill>
                      <a:srgbClr val="F7F9F9"/>
                    </a:solidFill>
                  </a:tcPr>
                </a:tc>
                <a:tc>
                  <a:txBody>
                    <a:bodyPr/>
                    <a:lstStyle/>
                    <a:p>
                      <a:pPr algn="ctr"/>
                      <a:r>
                        <a:rPr sz="750" b="0">
                          <a:solidFill>
                            <a:srgbClr val="2F3B3A"/>
                          </a:solidFill>
                          <a:latin typeface="Calibri"/>
                        </a:rPr>
                        <a:t>0,0%</a:t>
                      </a:r>
                    </a:p>
                  </a:txBody>
                  <a:tcPr marL="40000" marR="40000" marT="10000" marB="10000" anchor="ctr">
                    <a:solidFill>
                      <a:srgbClr val="F7F9F9"/>
                    </a:solidFill>
                  </a:tcPr>
                </a:tc>
                <a:tc>
                  <a:txBody>
                    <a:bodyPr/>
                    <a:lstStyle/>
                    <a:p>
                      <a:pPr algn="ctr"/>
                      <a:r>
                        <a:rPr sz="750" b="0">
                          <a:solidFill>
                            <a:srgbClr val="2F3B3A"/>
                          </a:solidFill>
                          <a:latin typeface="Calibri"/>
                        </a:rPr>
                        <a:t>0,3%</a:t>
                      </a:r>
                    </a:p>
                  </a:txBody>
                  <a:tcPr marL="40000" marR="40000" marT="10000" marB="10000" anchor="ctr">
                    <a:solidFill>
                      <a:srgbClr val="F7F9F9"/>
                    </a:solidFill>
                  </a:tcPr>
                </a:tc>
                <a:extLst>
                  <a:ext uri="{0D108BD9-81ED-4DB2-BD59-A6C34878D82A}">
                    <a16:rowId xmlns:a16="http://schemas.microsoft.com/office/drawing/2014/main" val="10012"/>
                  </a:ext>
                </a:extLst>
              </a:tr>
              <a:tr h="245000">
                <a:tc>
                  <a:txBody>
                    <a:bodyPr/>
                    <a:lstStyle/>
                    <a:p>
                      <a:pPr algn="l"/>
                      <a:r>
                        <a:rPr sz="750" b="1">
                          <a:solidFill>
                            <a:srgbClr val="2F3B3A"/>
                          </a:solidFill>
                          <a:latin typeface="Calibri"/>
                        </a:rPr>
                        <a:t>Cliente Izipay</a:t>
                      </a:r>
                    </a:p>
                  </a:txBody>
                  <a:tcPr marL="40000" marR="40000" marT="10000" marB="10000" anchor="ctr">
                    <a:noFill/>
                  </a:tcPr>
                </a:tc>
                <a:tc>
                  <a:txBody>
                    <a:bodyPr/>
                    <a:lstStyle/>
                    <a:p>
                      <a:pPr algn="ctr"/>
                      <a:r>
                        <a:rPr sz="750" b="0">
                          <a:solidFill>
                            <a:srgbClr val="2F3B3A"/>
                          </a:solidFill>
                          <a:latin typeface="Calibri"/>
                        </a:rPr>
                        <a:t>38%</a:t>
                      </a:r>
                    </a:p>
                  </a:txBody>
                  <a:tcPr marL="40000" marR="40000" marT="10000" marB="10000" anchor="ctr">
                    <a:noFill/>
                  </a:tcPr>
                </a:tc>
                <a:tc>
                  <a:txBody>
                    <a:bodyPr/>
                    <a:lstStyle/>
                    <a:p>
                      <a:pPr algn="ctr"/>
                      <a:r>
                        <a:rPr sz="750" b="0">
                          <a:solidFill>
                            <a:srgbClr val="2F3B3A"/>
                          </a:solidFill>
                          <a:latin typeface="Calibri"/>
                        </a:rPr>
                        <a:t>36%</a:t>
                      </a:r>
                    </a:p>
                  </a:txBody>
                  <a:tcPr marL="40000" marR="40000" marT="10000" marB="10000" anchor="ctr">
                    <a:noFill/>
                  </a:tcPr>
                </a:tc>
                <a:tc>
                  <a:txBody>
                    <a:bodyPr/>
                    <a:lstStyle/>
                    <a:p>
                      <a:pPr algn="ctr"/>
                      <a:r>
                        <a:rPr sz="750" b="0">
                          <a:solidFill>
                            <a:srgbClr val="2F3B3A"/>
                          </a:solidFill>
                          <a:latin typeface="Calibri"/>
                        </a:rPr>
                        <a:t>36%</a:t>
                      </a:r>
                    </a:p>
                  </a:txBody>
                  <a:tcPr marL="40000" marR="40000" marT="10000" marB="10000" anchor="ctr">
                    <a:noFill/>
                  </a:tcPr>
                </a:tc>
                <a:tc>
                  <a:txBody>
                    <a:bodyPr/>
                    <a:lstStyle/>
                    <a:p>
                      <a:pPr algn="ctr"/>
                      <a:r>
                        <a:rPr sz="750" b="0">
                          <a:solidFill>
                            <a:srgbClr val="2F3B3A"/>
                          </a:solidFill>
                          <a:latin typeface="Calibri"/>
                        </a:rPr>
                        <a:t>35%</a:t>
                      </a:r>
                    </a:p>
                  </a:txBody>
                  <a:tcPr marL="40000" marR="40000" marT="10000" marB="10000" anchor="ctr">
                    <a:noFill/>
                  </a:tcPr>
                </a:tc>
                <a:tc>
                  <a:txBody>
                    <a:bodyPr/>
                    <a:lstStyle/>
                    <a:p>
                      <a:pPr algn="ctr"/>
                      <a:r>
                        <a:rPr sz="750" b="0">
                          <a:solidFill>
                            <a:srgbClr val="2F3B3A"/>
                          </a:solidFill>
                          <a:latin typeface="Calibri"/>
                        </a:rPr>
                        <a:t>36%</a:t>
                      </a:r>
                    </a:p>
                  </a:txBody>
                  <a:tcPr marL="40000" marR="40000" marT="10000" marB="10000" anchor="ctr">
                    <a:noFill/>
                  </a:tcPr>
                </a:tc>
                <a:tc>
                  <a:txBody>
                    <a:bodyPr/>
                    <a:lstStyle/>
                    <a:p>
                      <a:pPr algn="ctr"/>
                      <a:r>
                        <a:rPr sz="750" b="0">
                          <a:solidFill>
                            <a:srgbClr val="2F3B3A"/>
                          </a:solidFill>
                          <a:latin typeface="Calibri"/>
                        </a:rPr>
                        <a:t>35%</a:t>
                      </a:r>
                    </a:p>
                  </a:txBody>
                  <a:tcPr marL="40000" marR="40000" marT="10000" marB="10000" anchor="ctr">
                    <a:noFill/>
                  </a:tcPr>
                </a:tc>
                <a:tc>
                  <a:txBody>
                    <a:bodyPr/>
                    <a:lstStyle/>
                    <a:p>
                      <a:pPr algn="ctr"/>
                      <a:r>
                        <a:rPr sz="750" b="0">
                          <a:solidFill>
                            <a:srgbClr val="2F3B3A"/>
                          </a:solidFill>
                          <a:latin typeface="Calibri"/>
                        </a:rPr>
                        <a:t>54%</a:t>
                      </a:r>
                    </a:p>
                  </a:txBody>
                  <a:tcPr marL="40000" marR="40000" marT="10000" marB="10000" anchor="ctr">
                    <a:noFill/>
                  </a:tcPr>
                </a:tc>
                <a:tc>
                  <a:txBody>
                    <a:bodyPr/>
                    <a:lstStyle/>
                    <a:p>
                      <a:pPr algn="ctr"/>
                      <a:r>
                        <a:rPr sz="750" b="0">
                          <a:solidFill>
                            <a:srgbClr val="2F3B3A"/>
                          </a:solidFill>
                          <a:latin typeface="Calibri"/>
                        </a:rPr>
                        <a:t>40%</a:t>
                      </a:r>
                    </a:p>
                  </a:txBody>
                  <a:tcPr marL="40000" marR="40000" marT="10000" marB="10000" anchor="ctr">
                    <a:noFill/>
                  </a:tcPr>
                </a:tc>
                <a:tc>
                  <a:txBody>
                    <a:bodyPr/>
                    <a:lstStyle/>
                    <a:p>
                      <a:pPr algn="ctr"/>
                      <a:r>
                        <a:rPr sz="750" b="0">
                          <a:solidFill>
                            <a:srgbClr val="2F3B3A"/>
                          </a:solidFill>
                          <a:latin typeface="Calibri"/>
                        </a:rPr>
                        <a:t>35%</a:t>
                      </a:r>
                    </a:p>
                  </a:txBody>
                  <a:tcPr marL="40000" marR="40000" marT="10000" marB="10000" anchor="ctr">
                    <a:noFill/>
                  </a:tcPr>
                </a:tc>
                <a:extLst>
                  <a:ext uri="{0D108BD9-81ED-4DB2-BD59-A6C34878D82A}">
                    <a16:rowId xmlns:a16="http://schemas.microsoft.com/office/drawing/2014/main" val="10013"/>
                  </a:ext>
                </a:extLst>
              </a:tr>
              <a:tr h="245000">
                <a:tc>
                  <a:txBody>
                    <a:bodyPr/>
                    <a:lstStyle/>
                    <a:p>
                      <a:pPr algn="l"/>
                      <a:r>
                        <a:rPr sz="750" b="1">
                          <a:solidFill>
                            <a:srgbClr val="2F3B3A"/>
                          </a:solidFill>
                          <a:latin typeface="Calibri"/>
                        </a:rPr>
                        <a:t>Segmento A / B / C</a:t>
                      </a:r>
                    </a:p>
                  </a:txBody>
                  <a:tcPr marL="40000" marR="40000" marT="10000" marB="10000" anchor="ctr">
                    <a:solidFill>
                      <a:srgbClr val="F7F9F9"/>
                    </a:solidFill>
                  </a:tcPr>
                </a:tc>
                <a:tc>
                  <a:txBody>
                    <a:bodyPr/>
                    <a:lstStyle/>
                    <a:p>
                      <a:pPr algn="ctr"/>
                      <a:r>
                        <a:rPr sz="750" b="0">
                          <a:solidFill>
                            <a:srgbClr val="2F3B3A"/>
                          </a:solidFill>
                          <a:latin typeface="Calibri"/>
                        </a:rPr>
                        <a:t>98 / 2 / 0</a:t>
                      </a:r>
                    </a:p>
                  </a:txBody>
                  <a:tcPr marL="40000" marR="40000" marT="10000" marB="10000" anchor="ctr">
                    <a:solidFill>
                      <a:srgbClr val="F7F9F9"/>
                    </a:solidFill>
                  </a:tcPr>
                </a:tc>
                <a:tc>
                  <a:txBody>
                    <a:bodyPr/>
                    <a:lstStyle/>
                    <a:p>
                      <a:pPr algn="ctr"/>
                      <a:r>
                        <a:rPr sz="750" b="0">
                          <a:solidFill>
                            <a:srgbClr val="2F3B3A"/>
                          </a:solidFill>
                          <a:latin typeface="Calibri"/>
                        </a:rPr>
                        <a:t>30 / 62 / 8</a:t>
                      </a:r>
                    </a:p>
                  </a:txBody>
                  <a:tcPr marL="40000" marR="40000" marT="10000" marB="10000" anchor="ctr">
                    <a:solidFill>
                      <a:srgbClr val="F7F9F9"/>
                    </a:solidFill>
                  </a:tcPr>
                </a:tc>
                <a:tc>
                  <a:txBody>
                    <a:bodyPr/>
                    <a:lstStyle/>
                    <a:p>
                      <a:pPr algn="ctr"/>
                      <a:r>
                        <a:rPr sz="750" b="0">
                          <a:solidFill>
                            <a:srgbClr val="2F3B3A"/>
                          </a:solidFill>
                          <a:latin typeface="Calibri"/>
                        </a:rPr>
                        <a:t>99 / 1 / 0</a:t>
                      </a:r>
                    </a:p>
                  </a:txBody>
                  <a:tcPr marL="40000" marR="40000" marT="10000" marB="10000" anchor="ctr">
                    <a:solidFill>
                      <a:srgbClr val="F7F9F9"/>
                    </a:solidFill>
                  </a:tcPr>
                </a:tc>
                <a:tc>
                  <a:txBody>
                    <a:bodyPr/>
                    <a:lstStyle/>
                    <a:p>
                      <a:pPr algn="ctr"/>
                      <a:r>
                        <a:rPr sz="750" b="0">
                          <a:solidFill>
                            <a:srgbClr val="2F3B3A"/>
                          </a:solidFill>
                          <a:latin typeface="Calibri"/>
                        </a:rPr>
                        <a:t>78 / 19 / 2</a:t>
                      </a:r>
                    </a:p>
                  </a:txBody>
                  <a:tcPr marL="40000" marR="40000" marT="10000" marB="10000" anchor="ctr">
                    <a:solidFill>
                      <a:srgbClr val="F7F9F9"/>
                    </a:solidFill>
                  </a:tcPr>
                </a:tc>
                <a:tc>
                  <a:txBody>
                    <a:bodyPr/>
                    <a:lstStyle/>
                    <a:p>
                      <a:pPr algn="ctr"/>
                      <a:r>
                        <a:rPr sz="750" b="0">
                          <a:solidFill>
                            <a:srgbClr val="2F3B3A"/>
                          </a:solidFill>
                          <a:latin typeface="Calibri"/>
                        </a:rPr>
                        <a:t>85 / 14 / 2</a:t>
                      </a:r>
                    </a:p>
                  </a:txBody>
                  <a:tcPr marL="40000" marR="40000" marT="10000" marB="10000" anchor="ctr">
                    <a:solidFill>
                      <a:srgbClr val="F7F9F9"/>
                    </a:solidFill>
                  </a:tcPr>
                </a:tc>
                <a:tc>
                  <a:txBody>
                    <a:bodyPr/>
                    <a:lstStyle/>
                    <a:p>
                      <a:pPr algn="ctr"/>
                      <a:r>
                        <a:rPr sz="750" b="0">
                          <a:solidFill>
                            <a:srgbClr val="2F3B3A"/>
                          </a:solidFill>
                          <a:latin typeface="Calibri"/>
                        </a:rPr>
                        <a:t>49 / 47 / 4</a:t>
                      </a:r>
                    </a:p>
                  </a:txBody>
                  <a:tcPr marL="40000" marR="40000" marT="10000" marB="10000" anchor="ctr">
                    <a:solidFill>
                      <a:srgbClr val="F7F9F9"/>
                    </a:solidFill>
                  </a:tcPr>
                </a:tc>
                <a:tc>
                  <a:txBody>
                    <a:bodyPr/>
                    <a:lstStyle/>
                    <a:p>
                      <a:pPr algn="ctr"/>
                      <a:r>
                        <a:rPr sz="750" b="0">
                          <a:solidFill>
                            <a:srgbClr val="2F3B3A"/>
                          </a:solidFill>
                          <a:latin typeface="Calibri"/>
                        </a:rPr>
                        <a:t>0 / 39 / 60</a:t>
                      </a:r>
                    </a:p>
                  </a:txBody>
                  <a:tcPr marL="40000" marR="40000" marT="10000" marB="10000" anchor="ctr">
                    <a:solidFill>
                      <a:srgbClr val="F7F9F9"/>
                    </a:solidFill>
                  </a:tcPr>
                </a:tc>
                <a:tc>
                  <a:txBody>
                    <a:bodyPr/>
                    <a:lstStyle/>
                    <a:p>
                      <a:pPr algn="ctr"/>
                      <a:r>
                        <a:rPr sz="750" b="0">
                          <a:solidFill>
                            <a:srgbClr val="2F3B3A"/>
                          </a:solidFill>
                          <a:latin typeface="Calibri"/>
                        </a:rPr>
                        <a:t>8 / 43 / 49</a:t>
                      </a:r>
                    </a:p>
                  </a:txBody>
                  <a:tcPr marL="40000" marR="40000" marT="10000" marB="10000" anchor="ctr">
                    <a:solidFill>
                      <a:srgbClr val="F7F9F9"/>
                    </a:solidFill>
                  </a:tcPr>
                </a:tc>
                <a:tc>
                  <a:txBody>
                    <a:bodyPr/>
                    <a:lstStyle/>
                    <a:p>
                      <a:pPr algn="ctr"/>
                      <a:r>
                        <a:rPr sz="750" b="0">
                          <a:solidFill>
                            <a:srgbClr val="2F3B3A"/>
                          </a:solidFill>
                          <a:latin typeface="Calibri"/>
                        </a:rPr>
                        <a:t>21 / 74 / 5</a:t>
                      </a:r>
                    </a:p>
                  </a:txBody>
                  <a:tcPr marL="40000" marR="40000" marT="10000" marB="10000" anchor="ctr">
                    <a:solidFill>
                      <a:srgbClr val="F7F9F9"/>
                    </a:solidFill>
                  </a:tcPr>
                </a:tc>
                <a:extLst>
                  <a:ext uri="{0D108BD9-81ED-4DB2-BD59-A6C34878D82A}">
                    <a16:rowId xmlns:a16="http://schemas.microsoft.com/office/drawing/2014/main" val="10014"/>
                  </a:ext>
                </a:extLst>
              </a:tr>
              <a:tr h="210000">
                <a:tc gridSpan="10">
                  <a:txBody>
                    <a:bodyPr/>
                    <a:lstStyle/>
                    <a:p>
                      <a:pPr algn="l"/>
                      <a:r>
                        <a:rPr sz="750" b="1">
                          <a:solidFill>
                            <a:srgbClr val="13807B"/>
                          </a:solidFill>
                          <a:latin typeface="Calibri"/>
                        </a:rPr>
                        <a:t>PRECIO</a:t>
                      </a:r>
                    </a:p>
                  </a:txBody>
                  <a:tcPr marL="40000" marR="40000" marT="10000" marB="10000" anchor="ctr">
                    <a:solidFill>
                      <a:srgbClr val="E8F3F2"/>
                    </a:solidFill>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extLst>
                  <a:ext uri="{0D108BD9-81ED-4DB2-BD59-A6C34878D82A}">
                    <a16:rowId xmlns:a16="http://schemas.microsoft.com/office/drawing/2014/main" val="10015"/>
                  </a:ext>
                </a:extLst>
              </a:tr>
              <a:tr h="245000">
                <a:tc>
                  <a:txBody>
                    <a:bodyPr/>
                    <a:lstStyle/>
                    <a:p>
                      <a:pPr algn="l"/>
                      <a:r>
                        <a:rPr sz="750" b="1">
                          <a:solidFill>
                            <a:srgbClr val="2F3B3A"/>
                          </a:solidFill>
                          <a:latin typeface="Calibri"/>
                        </a:rPr>
                        <a:t>TEA oferta</a:t>
                      </a:r>
                    </a:p>
                  </a:txBody>
                  <a:tcPr marL="40000" marR="40000" marT="10000" marB="10000" anchor="ctr">
                    <a:solidFill>
                      <a:srgbClr val="F7F9F9"/>
                    </a:solidFill>
                  </a:tcPr>
                </a:tc>
                <a:tc>
                  <a:txBody>
                    <a:bodyPr/>
                    <a:lstStyle/>
                    <a:p>
                      <a:pPr algn="ctr"/>
                      <a:r>
                        <a:rPr sz="750" b="0">
                          <a:solidFill>
                            <a:srgbClr val="2F3B3A"/>
                          </a:solidFill>
                          <a:latin typeface="Calibri"/>
                        </a:rPr>
                        <a:t>20,0%</a:t>
                      </a:r>
                    </a:p>
                  </a:txBody>
                  <a:tcPr marL="40000" marR="40000" marT="10000" marB="10000" anchor="ctr">
                    <a:solidFill>
                      <a:srgbClr val="F7F9F9"/>
                    </a:solidFill>
                  </a:tcPr>
                </a:tc>
                <a:tc>
                  <a:txBody>
                    <a:bodyPr/>
                    <a:lstStyle/>
                    <a:p>
                      <a:pPr algn="ctr"/>
                      <a:r>
                        <a:rPr sz="750" b="0">
                          <a:solidFill>
                            <a:srgbClr val="2F3B3A"/>
                          </a:solidFill>
                          <a:latin typeface="Calibri"/>
                        </a:rPr>
                        <a:t>20,6%</a:t>
                      </a:r>
                    </a:p>
                  </a:txBody>
                  <a:tcPr marL="40000" marR="40000" marT="10000" marB="10000" anchor="ctr">
                    <a:solidFill>
                      <a:srgbClr val="F7F9F9"/>
                    </a:solidFill>
                  </a:tcPr>
                </a:tc>
                <a:tc>
                  <a:txBody>
                    <a:bodyPr/>
                    <a:lstStyle/>
                    <a:p>
                      <a:pPr algn="ctr"/>
                      <a:r>
                        <a:rPr sz="750" b="0">
                          <a:solidFill>
                            <a:srgbClr val="2F3B3A"/>
                          </a:solidFill>
                          <a:latin typeface="Calibri"/>
                        </a:rPr>
                        <a:t>20,0%</a:t>
                      </a:r>
                    </a:p>
                  </a:txBody>
                  <a:tcPr marL="40000" marR="40000" marT="10000" marB="10000" anchor="ctr">
                    <a:solidFill>
                      <a:srgbClr val="F7F9F9"/>
                    </a:solidFill>
                  </a:tcPr>
                </a:tc>
                <a:tc>
                  <a:txBody>
                    <a:bodyPr/>
                    <a:lstStyle/>
                    <a:p>
                      <a:pPr algn="ctr"/>
                      <a:r>
                        <a:rPr sz="750" b="0">
                          <a:solidFill>
                            <a:srgbClr val="2F3B3A"/>
                          </a:solidFill>
                          <a:latin typeface="Calibri"/>
                        </a:rPr>
                        <a:t>20,2%</a:t>
                      </a:r>
                    </a:p>
                  </a:txBody>
                  <a:tcPr marL="40000" marR="40000" marT="10000" marB="10000" anchor="ctr">
                    <a:solidFill>
                      <a:srgbClr val="F7F9F9"/>
                    </a:solidFill>
                  </a:tcPr>
                </a:tc>
                <a:tc>
                  <a:txBody>
                    <a:bodyPr/>
                    <a:lstStyle/>
                    <a:p>
                      <a:pPr algn="ctr"/>
                      <a:r>
                        <a:rPr sz="750" b="0">
                          <a:solidFill>
                            <a:srgbClr val="2F3B3A"/>
                          </a:solidFill>
                          <a:latin typeface="Calibri"/>
                        </a:rPr>
                        <a:t>20,3%</a:t>
                      </a:r>
                    </a:p>
                  </a:txBody>
                  <a:tcPr marL="40000" marR="40000" marT="10000" marB="10000" anchor="ctr">
                    <a:solidFill>
                      <a:srgbClr val="F7F9F9"/>
                    </a:solidFill>
                  </a:tcPr>
                </a:tc>
                <a:tc>
                  <a:txBody>
                    <a:bodyPr/>
                    <a:lstStyle/>
                    <a:p>
                      <a:pPr algn="ctr"/>
                      <a:r>
                        <a:rPr sz="750" b="0">
                          <a:solidFill>
                            <a:srgbClr val="2F3B3A"/>
                          </a:solidFill>
                          <a:latin typeface="Calibri"/>
                        </a:rPr>
                        <a:t>22,7%</a:t>
                      </a:r>
                    </a:p>
                  </a:txBody>
                  <a:tcPr marL="40000" marR="40000" marT="10000" marB="10000" anchor="ctr">
                    <a:solidFill>
                      <a:srgbClr val="F7F9F9"/>
                    </a:solidFill>
                  </a:tcPr>
                </a:tc>
                <a:tc>
                  <a:txBody>
                    <a:bodyPr/>
                    <a:lstStyle/>
                    <a:p>
                      <a:pPr algn="ctr"/>
                      <a:r>
                        <a:rPr sz="750" b="0">
                          <a:solidFill>
                            <a:srgbClr val="2F3B3A"/>
                          </a:solidFill>
                          <a:latin typeface="Calibri"/>
                        </a:rPr>
                        <a:t>23,7%</a:t>
                      </a:r>
                    </a:p>
                  </a:txBody>
                  <a:tcPr marL="40000" marR="40000" marT="10000" marB="10000" anchor="ctr">
                    <a:solidFill>
                      <a:srgbClr val="F7F9F9"/>
                    </a:solidFill>
                  </a:tcPr>
                </a:tc>
                <a:tc>
                  <a:txBody>
                    <a:bodyPr/>
                    <a:lstStyle/>
                    <a:p>
                      <a:pPr algn="ctr"/>
                      <a:r>
                        <a:rPr sz="750" b="0">
                          <a:solidFill>
                            <a:srgbClr val="2F3B3A"/>
                          </a:solidFill>
                          <a:latin typeface="Calibri"/>
                        </a:rPr>
                        <a:t>23,0%</a:t>
                      </a:r>
                    </a:p>
                  </a:txBody>
                  <a:tcPr marL="40000" marR="40000" marT="10000" marB="10000" anchor="ctr">
                    <a:solidFill>
                      <a:srgbClr val="F7F9F9"/>
                    </a:solidFill>
                  </a:tcPr>
                </a:tc>
                <a:tc>
                  <a:txBody>
                    <a:bodyPr/>
                    <a:lstStyle/>
                    <a:p>
                      <a:pPr algn="ctr"/>
                      <a:r>
                        <a:rPr sz="750" b="0">
                          <a:solidFill>
                            <a:srgbClr val="2F3B3A"/>
                          </a:solidFill>
                          <a:latin typeface="Calibri"/>
                        </a:rPr>
                        <a:t>23,2%</a:t>
                      </a:r>
                    </a:p>
                  </a:txBody>
                  <a:tcPr marL="40000" marR="40000" marT="10000" marB="10000" anchor="ctr">
                    <a:solidFill>
                      <a:srgbClr val="F7F9F9"/>
                    </a:solidFill>
                  </a:tcPr>
                </a:tc>
                <a:extLst>
                  <a:ext uri="{0D108BD9-81ED-4DB2-BD59-A6C34878D82A}">
                    <a16:rowId xmlns:a16="http://schemas.microsoft.com/office/drawing/2014/main" val="10016"/>
                  </a:ext>
                </a:extLst>
              </a:tr>
              <a:tr h="245000">
                <a:tc>
                  <a:txBody>
                    <a:bodyPr/>
                    <a:lstStyle/>
                    <a:p>
                      <a:pPr algn="l"/>
                      <a:r>
                        <a:rPr sz="750" b="1">
                          <a:solidFill>
                            <a:srgbClr val="2F3B3A"/>
                          </a:solidFill>
                          <a:latin typeface="Calibri"/>
                        </a:rPr>
                        <a:t>TEA desembolso</a:t>
                      </a:r>
                    </a:p>
                  </a:txBody>
                  <a:tcPr marL="40000" marR="40000" marT="10000" marB="10000" anchor="ctr">
                    <a:noFill/>
                  </a:tcPr>
                </a:tc>
                <a:tc>
                  <a:txBody>
                    <a:bodyPr/>
                    <a:lstStyle/>
                    <a:p>
                      <a:pPr algn="ctr"/>
                      <a:r>
                        <a:rPr sz="750" b="0">
                          <a:solidFill>
                            <a:srgbClr val="2F3B3A"/>
                          </a:solidFill>
                          <a:latin typeface="Calibri"/>
                        </a:rPr>
                        <a:t>17,7%</a:t>
                      </a:r>
                    </a:p>
                  </a:txBody>
                  <a:tcPr marL="40000" marR="40000" marT="10000" marB="10000" anchor="ctr">
                    <a:noFill/>
                  </a:tcPr>
                </a:tc>
                <a:tc>
                  <a:txBody>
                    <a:bodyPr/>
                    <a:lstStyle/>
                    <a:p>
                      <a:pPr algn="ctr"/>
                      <a:r>
                        <a:rPr sz="750" b="0">
                          <a:solidFill>
                            <a:srgbClr val="2F3B3A"/>
                          </a:solidFill>
                          <a:latin typeface="Calibri"/>
                        </a:rPr>
                        <a:t>18,2%</a:t>
                      </a:r>
                    </a:p>
                  </a:txBody>
                  <a:tcPr marL="40000" marR="40000" marT="10000" marB="10000" anchor="ctr">
                    <a:noFill/>
                  </a:tcPr>
                </a:tc>
                <a:tc>
                  <a:txBody>
                    <a:bodyPr/>
                    <a:lstStyle/>
                    <a:p>
                      <a:pPr algn="ctr"/>
                      <a:r>
                        <a:rPr sz="750" b="0">
                          <a:solidFill>
                            <a:srgbClr val="2F3B3A"/>
                          </a:solidFill>
                          <a:latin typeface="Calibri"/>
                        </a:rPr>
                        <a:t>17,2%</a:t>
                      </a:r>
                    </a:p>
                  </a:txBody>
                  <a:tcPr marL="40000" marR="40000" marT="10000" marB="10000" anchor="ctr">
                    <a:noFill/>
                  </a:tcPr>
                </a:tc>
                <a:tc>
                  <a:txBody>
                    <a:bodyPr/>
                    <a:lstStyle/>
                    <a:p>
                      <a:pPr algn="ctr"/>
                      <a:r>
                        <a:rPr sz="750" b="0">
                          <a:solidFill>
                            <a:srgbClr val="2F3B3A"/>
                          </a:solidFill>
                          <a:latin typeface="Calibri"/>
                        </a:rPr>
                        <a:t>17,3%</a:t>
                      </a:r>
                    </a:p>
                  </a:txBody>
                  <a:tcPr marL="40000" marR="40000" marT="10000" marB="10000" anchor="ctr">
                    <a:noFill/>
                  </a:tcPr>
                </a:tc>
                <a:tc>
                  <a:txBody>
                    <a:bodyPr/>
                    <a:lstStyle/>
                    <a:p>
                      <a:pPr algn="ctr"/>
                      <a:r>
                        <a:rPr sz="750" b="0">
                          <a:solidFill>
                            <a:srgbClr val="2F3B3A"/>
                          </a:solidFill>
                          <a:latin typeface="Calibri"/>
                        </a:rPr>
                        <a:t>17,0%</a:t>
                      </a:r>
                    </a:p>
                  </a:txBody>
                  <a:tcPr marL="40000" marR="40000" marT="10000" marB="10000" anchor="ctr">
                    <a:noFill/>
                  </a:tcPr>
                </a:tc>
                <a:tc>
                  <a:txBody>
                    <a:bodyPr/>
                    <a:lstStyle/>
                    <a:p>
                      <a:pPr algn="ctr"/>
                      <a:r>
                        <a:rPr sz="750" b="0">
                          <a:solidFill>
                            <a:srgbClr val="2F3B3A"/>
                          </a:solidFill>
                          <a:latin typeface="Calibri"/>
                        </a:rPr>
                        <a:t>18,9%</a:t>
                      </a:r>
                    </a:p>
                  </a:txBody>
                  <a:tcPr marL="40000" marR="40000" marT="10000" marB="10000" anchor="ctr">
                    <a:noFill/>
                  </a:tcPr>
                </a:tc>
                <a:tc>
                  <a:txBody>
                    <a:bodyPr/>
                    <a:lstStyle/>
                    <a:p>
                      <a:pPr algn="ctr"/>
                      <a:r>
                        <a:rPr sz="750" b="0">
                          <a:solidFill>
                            <a:srgbClr val="2F3B3A"/>
                          </a:solidFill>
                          <a:latin typeface="Calibri"/>
                        </a:rPr>
                        <a:t>21,3%</a:t>
                      </a:r>
                    </a:p>
                  </a:txBody>
                  <a:tcPr marL="40000" marR="40000" marT="10000" marB="10000" anchor="ctr">
                    <a:noFill/>
                  </a:tcPr>
                </a:tc>
                <a:tc>
                  <a:txBody>
                    <a:bodyPr/>
                    <a:lstStyle/>
                    <a:p>
                      <a:pPr algn="ctr"/>
                      <a:r>
                        <a:rPr sz="750" b="0">
                          <a:solidFill>
                            <a:srgbClr val="2F3B3A"/>
                          </a:solidFill>
                          <a:latin typeface="Calibri"/>
                        </a:rPr>
                        <a:t>19,9%</a:t>
                      </a:r>
                    </a:p>
                  </a:txBody>
                  <a:tcPr marL="40000" marR="40000" marT="10000" marB="10000" anchor="ctr">
                    <a:noFill/>
                  </a:tcPr>
                </a:tc>
                <a:tc>
                  <a:txBody>
                    <a:bodyPr/>
                    <a:lstStyle/>
                    <a:p>
                      <a:pPr algn="ctr"/>
                      <a:r>
                        <a:rPr sz="750" b="0">
                          <a:solidFill>
                            <a:srgbClr val="2F3B3A"/>
                          </a:solidFill>
                          <a:latin typeface="Calibri"/>
                        </a:rPr>
                        <a:t>19,3%</a:t>
                      </a:r>
                    </a:p>
                  </a:txBody>
                  <a:tcPr marL="40000" marR="40000" marT="10000" marB="10000" anchor="ctr">
                    <a:noFill/>
                  </a:tcPr>
                </a:tc>
                <a:extLst>
                  <a:ext uri="{0D108BD9-81ED-4DB2-BD59-A6C34878D82A}">
                    <a16:rowId xmlns:a16="http://schemas.microsoft.com/office/drawing/2014/main" val="10017"/>
                  </a:ext>
                </a:extLst>
              </a:tr>
              <a:tr h="245000">
                <a:tc>
                  <a:txBody>
                    <a:bodyPr/>
                    <a:lstStyle/>
                    <a:p>
                      <a:pPr algn="l"/>
                      <a:r>
                        <a:rPr sz="750" b="1">
                          <a:solidFill>
                            <a:srgbClr val="2F3B3A"/>
                          </a:solidFill>
                          <a:latin typeface="Calibri"/>
                        </a:rPr>
                        <a:t>Sin descuento (% clientes)</a:t>
                      </a:r>
                    </a:p>
                  </a:txBody>
                  <a:tcPr marL="40000" marR="40000" marT="10000" marB="10000" anchor="ctr">
                    <a:solidFill>
                      <a:srgbClr val="F7F9F9"/>
                    </a:solidFill>
                  </a:tcPr>
                </a:tc>
                <a:tc>
                  <a:txBody>
                    <a:bodyPr/>
                    <a:lstStyle/>
                    <a:p>
                      <a:pPr algn="ctr"/>
                      <a:r>
                        <a:rPr sz="750" b="0">
                          <a:solidFill>
                            <a:srgbClr val="2F3B3A"/>
                          </a:solidFill>
                          <a:latin typeface="Calibri"/>
                        </a:rPr>
                        <a:t>23%</a:t>
                      </a:r>
                    </a:p>
                  </a:txBody>
                  <a:tcPr marL="40000" marR="40000" marT="10000" marB="10000" anchor="ctr">
                    <a:solidFill>
                      <a:srgbClr val="F7F9F9"/>
                    </a:solidFill>
                  </a:tcPr>
                </a:tc>
                <a:tc>
                  <a:txBody>
                    <a:bodyPr/>
                    <a:lstStyle/>
                    <a:p>
                      <a:pPr algn="ctr"/>
                      <a:r>
                        <a:rPr sz="750" b="0">
                          <a:solidFill>
                            <a:srgbClr val="2F3B3A"/>
                          </a:solidFill>
                          <a:latin typeface="Calibri"/>
                        </a:rPr>
                        <a:t>26%</a:t>
                      </a:r>
                    </a:p>
                  </a:txBody>
                  <a:tcPr marL="40000" marR="40000" marT="10000" marB="10000" anchor="ctr">
                    <a:solidFill>
                      <a:srgbClr val="F7F9F9"/>
                    </a:solidFill>
                  </a:tcPr>
                </a:tc>
                <a:tc>
                  <a:txBody>
                    <a:bodyPr/>
                    <a:lstStyle/>
                    <a:p>
                      <a:pPr algn="ctr"/>
                      <a:r>
                        <a:rPr sz="750" b="0">
                          <a:solidFill>
                            <a:srgbClr val="2F3B3A"/>
                          </a:solidFill>
                          <a:latin typeface="Calibri"/>
                        </a:rPr>
                        <a:t>19%</a:t>
                      </a:r>
                    </a:p>
                  </a:txBody>
                  <a:tcPr marL="40000" marR="40000" marT="10000" marB="10000" anchor="ctr">
                    <a:solidFill>
                      <a:srgbClr val="F7F9F9"/>
                    </a:solidFill>
                  </a:tcPr>
                </a:tc>
                <a:tc>
                  <a:txBody>
                    <a:bodyPr/>
                    <a:lstStyle/>
                    <a:p>
                      <a:pPr algn="ctr"/>
                      <a:r>
                        <a:rPr sz="750" b="0">
                          <a:solidFill>
                            <a:srgbClr val="2F3B3A"/>
                          </a:solidFill>
                          <a:latin typeface="Calibri"/>
                        </a:rPr>
                        <a:t>19%</a:t>
                      </a:r>
                    </a:p>
                  </a:txBody>
                  <a:tcPr marL="40000" marR="40000" marT="10000" marB="10000" anchor="ctr">
                    <a:solidFill>
                      <a:srgbClr val="F7F9F9"/>
                    </a:solidFill>
                  </a:tcPr>
                </a:tc>
                <a:tc>
                  <a:txBody>
                    <a:bodyPr/>
                    <a:lstStyle/>
                    <a:p>
                      <a:pPr algn="ctr"/>
                      <a:r>
                        <a:rPr sz="750" b="0">
                          <a:solidFill>
                            <a:srgbClr val="2F3B3A"/>
                          </a:solidFill>
                          <a:latin typeface="Calibri"/>
                        </a:rPr>
                        <a:t>13%</a:t>
                      </a:r>
                    </a:p>
                  </a:txBody>
                  <a:tcPr marL="40000" marR="40000" marT="10000" marB="10000" anchor="ctr">
                    <a:solidFill>
                      <a:srgbClr val="F7F9F9"/>
                    </a:solidFill>
                  </a:tcPr>
                </a:tc>
                <a:tc>
                  <a:txBody>
                    <a:bodyPr/>
                    <a:lstStyle/>
                    <a:p>
                      <a:pPr algn="ctr"/>
                      <a:r>
                        <a:rPr sz="750" b="0">
                          <a:solidFill>
                            <a:srgbClr val="2F3B3A"/>
                          </a:solidFill>
                          <a:latin typeface="Calibri"/>
                        </a:rPr>
                        <a:t>24%</a:t>
                      </a:r>
                    </a:p>
                  </a:txBody>
                  <a:tcPr marL="40000" marR="40000" marT="10000" marB="10000" anchor="ctr">
                    <a:solidFill>
                      <a:srgbClr val="F7F9F9"/>
                    </a:solidFill>
                  </a:tcPr>
                </a:tc>
                <a:tc>
                  <a:txBody>
                    <a:bodyPr/>
                    <a:lstStyle/>
                    <a:p>
                      <a:pPr algn="ctr"/>
                      <a:r>
                        <a:rPr sz="750" b="0">
                          <a:solidFill>
                            <a:srgbClr val="2F3B3A"/>
                          </a:solidFill>
                          <a:latin typeface="Calibri"/>
                        </a:rPr>
                        <a:t>32%</a:t>
                      </a:r>
                    </a:p>
                  </a:txBody>
                  <a:tcPr marL="40000" marR="40000" marT="10000" marB="10000" anchor="ctr">
                    <a:solidFill>
                      <a:srgbClr val="F7F9F9"/>
                    </a:solidFill>
                  </a:tcPr>
                </a:tc>
                <a:tc>
                  <a:txBody>
                    <a:bodyPr/>
                    <a:lstStyle/>
                    <a:p>
                      <a:pPr algn="ctr"/>
                      <a:r>
                        <a:rPr sz="750" b="0">
                          <a:solidFill>
                            <a:srgbClr val="2F3B3A"/>
                          </a:solidFill>
                          <a:latin typeface="Calibri"/>
                        </a:rPr>
                        <a:t>22%</a:t>
                      </a:r>
                    </a:p>
                  </a:txBody>
                  <a:tcPr marL="40000" marR="40000" marT="10000" marB="10000" anchor="ctr">
                    <a:solidFill>
                      <a:srgbClr val="F7F9F9"/>
                    </a:solidFill>
                  </a:tcPr>
                </a:tc>
                <a:tc>
                  <a:txBody>
                    <a:bodyPr/>
                    <a:lstStyle/>
                    <a:p>
                      <a:pPr algn="ctr"/>
                      <a:r>
                        <a:rPr sz="750" b="0">
                          <a:solidFill>
                            <a:srgbClr val="2F3B3A"/>
                          </a:solidFill>
                          <a:latin typeface="Calibri"/>
                        </a:rPr>
                        <a:t>21%</a:t>
                      </a:r>
                    </a:p>
                  </a:txBody>
                  <a:tcPr marL="40000" marR="40000" marT="10000" marB="10000" anchor="ctr">
                    <a:solidFill>
                      <a:srgbClr val="F7F9F9"/>
                    </a:solidFill>
                  </a:tcPr>
                </a:tc>
                <a:extLst>
                  <a:ext uri="{0D108BD9-81ED-4DB2-BD59-A6C34878D82A}">
                    <a16:rowId xmlns:a16="http://schemas.microsoft.com/office/drawing/2014/main" val="10018"/>
                  </a:ext>
                </a:extLst>
              </a:tr>
              <a:tr h="245000">
                <a:tc>
                  <a:txBody>
                    <a:bodyPr/>
                    <a:lstStyle/>
                    <a:p>
                      <a:pPr algn="l"/>
                      <a:r>
                        <a:rPr sz="750" b="1">
                          <a:solidFill>
                            <a:srgbClr val="2F3B3A"/>
                          </a:solidFill>
                          <a:latin typeface="Calibri"/>
                        </a:rPr>
                        <a:t>Descuento &gt; 400 pbs (% clientes)</a:t>
                      </a:r>
                    </a:p>
                  </a:txBody>
                  <a:tcPr marL="40000" marR="40000" marT="10000" marB="10000" anchor="ctr">
                    <a:noFill/>
                  </a:tcPr>
                </a:tc>
                <a:tc>
                  <a:txBody>
                    <a:bodyPr/>
                    <a:lstStyle/>
                    <a:p>
                      <a:pPr algn="ctr"/>
                      <a:r>
                        <a:rPr sz="750" b="0">
                          <a:solidFill>
                            <a:srgbClr val="2F3B3A"/>
                          </a:solidFill>
                          <a:latin typeface="Calibri"/>
                        </a:rPr>
                        <a:t>16%</a:t>
                      </a:r>
                    </a:p>
                  </a:txBody>
                  <a:tcPr marL="40000" marR="40000" marT="10000" marB="10000" anchor="ctr">
                    <a:noFill/>
                  </a:tcPr>
                </a:tc>
                <a:tc>
                  <a:txBody>
                    <a:bodyPr/>
                    <a:lstStyle/>
                    <a:p>
                      <a:pPr algn="ctr"/>
                      <a:r>
                        <a:rPr sz="750" b="0">
                          <a:solidFill>
                            <a:srgbClr val="2F3B3A"/>
                          </a:solidFill>
                          <a:latin typeface="Calibri"/>
                        </a:rPr>
                        <a:t>20%</a:t>
                      </a:r>
                    </a:p>
                  </a:txBody>
                  <a:tcPr marL="40000" marR="40000" marT="10000" marB="10000" anchor="ctr">
                    <a:noFill/>
                  </a:tcPr>
                </a:tc>
                <a:tc>
                  <a:txBody>
                    <a:bodyPr/>
                    <a:lstStyle/>
                    <a:p>
                      <a:pPr algn="ctr"/>
                      <a:r>
                        <a:rPr sz="750" b="0">
                          <a:solidFill>
                            <a:srgbClr val="2F3B3A"/>
                          </a:solidFill>
                          <a:latin typeface="Calibri"/>
                        </a:rPr>
                        <a:t>22%</a:t>
                      </a:r>
                    </a:p>
                  </a:txBody>
                  <a:tcPr marL="40000" marR="40000" marT="10000" marB="10000" anchor="ctr">
                    <a:noFill/>
                  </a:tcPr>
                </a:tc>
                <a:tc>
                  <a:txBody>
                    <a:bodyPr/>
                    <a:lstStyle/>
                    <a:p>
                      <a:pPr algn="ctr"/>
                      <a:r>
                        <a:rPr sz="750" b="0">
                          <a:solidFill>
                            <a:srgbClr val="2F3B3A"/>
                          </a:solidFill>
                          <a:latin typeface="Calibri"/>
                        </a:rPr>
                        <a:t>21%</a:t>
                      </a:r>
                    </a:p>
                  </a:txBody>
                  <a:tcPr marL="40000" marR="40000" marT="10000" marB="10000" anchor="ctr">
                    <a:noFill/>
                  </a:tcPr>
                </a:tc>
                <a:tc>
                  <a:txBody>
                    <a:bodyPr/>
                    <a:lstStyle/>
                    <a:p>
                      <a:pPr algn="ctr"/>
                      <a:r>
                        <a:rPr sz="750" b="0">
                          <a:solidFill>
                            <a:srgbClr val="2F3B3A"/>
                          </a:solidFill>
                          <a:latin typeface="Calibri"/>
                        </a:rPr>
                        <a:t>31%</a:t>
                      </a:r>
                    </a:p>
                  </a:txBody>
                  <a:tcPr marL="40000" marR="40000" marT="10000" marB="10000" anchor="ctr">
                    <a:noFill/>
                  </a:tcPr>
                </a:tc>
                <a:tc>
                  <a:txBody>
                    <a:bodyPr/>
                    <a:lstStyle/>
                    <a:p>
                      <a:pPr algn="ctr"/>
                      <a:r>
                        <a:rPr sz="750" b="0">
                          <a:solidFill>
                            <a:srgbClr val="2F3B3A"/>
                          </a:solidFill>
                          <a:latin typeface="Calibri"/>
                        </a:rPr>
                        <a:t>38%</a:t>
                      </a:r>
                    </a:p>
                  </a:txBody>
                  <a:tcPr marL="40000" marR="40000" marT="10000" marB="10000" anchor="ctr">
                    <a:noFill/>
                  </a:tcPr>
                </a:tc>
                <a:tc>
                  <a:txBody>
                    <a:bodyPr/>
                    <a:lstStyle/>
                    <a:p>
                      <a:pPr algn="ctr"/>
                      <a:r>
                        <a:rPr sz="750" b="0">
                          <a:solidFill>
                            <a:srgbClr val="2F3B3A"/>
                          </a:solidFill>
                          <a:latin typeface="Calibri"/>
                        </a:rPr>
                        <a:t>15%</a:t>
                      </a:r>
                    </a:p>
                  </a:txBody>
                  <a:tcPr marL="40000" marR="40000" marT="10000" marB="10000" anchor="ctr">
                    <a:noFill/>
                  </a:tcPr>
                </a:tc>
                <a:tc>
                  <a:txBody>
                    <a:bodyPr/>
                    <a:lstStyle/>
                    <a:p>
                      <a:pPr algn="ctr"/>
                      <a:r>
                        <a:rPr sz="750" b="0">
                          <a:solidFill>
                            <a:srgbClr val="2F3B3A"/>
                          </a:solidFill>
                          <a:latin typeface="Calibri"/>
                        </a:rPr>
                        <a:t>27%</a:t>
                      </a:r>
                    </a:p>
                  </a:txBody>
                  <a:tcPr marL="40000" marR="40000" marT="10000" marB="10000" anchor="ctr">
                    <a:noFill/>
                  </a:tcPr>
                </a:tc>
                <a:tc>
                  <a:txBody>
                    <a:bodyPr/>
                    <a:lstStyle/>
                    <a:p>
                      <a:pPr algn="ctr"/>
                      <a:r>
                        <a:rPr sz="750" b="0">
                          <a:solidFill>
                            <a:srgbClr val="2F3B3A"/>
                          </a:solidFill>
                          <a:latin typeface="Calibri"/>
                        </a:rPr>
                        <a:t>43%</a:t>
                      </a:r>
                    </a:p>
                  </a:txBody>
                  <a:tcPr marL="40000" marR="40000" marT="10000" marB="10000" anchor="ctr">
                    <a:noFill/>
                  </a:tcPr>
                </a:tc>
                <a:extLst>
                  <a:ext uri="{0D108BD9-81ED-4DB2-BD59-A6C34878D82A}">
                    <a16:rowId xmlns:a16="http://schemas.microsoft.com/office/drawing/2014/main" val="10019"/>
                  </a:ext>
                </a:extLst>
              </a:tr>
            </a:tbl>
          </a:graphicData>
        </a:graphic>
      </p:graphicFrame>
      <p:sp>
        <p:nvSpPr>
          <p:cNvPr id="7" name="TextBox 6"/>
          <p:cNvSpPr txBox="1"/>
          <p:nvPr/>
        </p:nvSpPr>
        <p:spPr>
          <a:xfrm>
            <a:off x="493776" y="6450000"/>
            <a:ext cx="11201400" cy="180000"/>
          </a:xfrm>
          <a:prstGeom prst="rect">
            <a:avLst/>
          </a:prstGeom>
          <a:noFill/>
        </p:spPr>
        <p:txBody>
          <a:bodyPr wrap="square" lIns="0" tIns="0" rIns="0" bIns="0" anchor="t">
            <a:spAutoFit/>
          </a:bodyPr>
          <a:lstStyle/>
          <a:p>
            <a:pPr algn="l"/>
            <a:r>
              <a:rPr sz="700" b="0">
                <a:solidFill>
                  <a:srgbClr val="6E7E7D"/>
                </a:solidFill>
                <a:latin typeface="Calibri"/>
              </a:rPr>
              <a:t>Medianas por cliente, salvo TEA (promedio ponderado) y porcentajes. Segmento A / B / C en % de clientes. Descuento: diferencia entre la tasa ofertada y la desembolsada.</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lt;root reqver=&quot;32687&quot;&gt;&lt;version val=&quot;1010246&quot;/&gt;&lt;CPresentation id=&quot;1&quot;&gt;&lt;m_precDefaultOrdinal&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Ordinal&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yearfmt&gt;&lt;begin val=&quot;0&quot;/&gt;&lt;end val=&quot;4&quot;/&gt;&lt;/m_yearfmt&gt;&lt;/m_precDefaultDate&gt;&lt;m_precDefaultDay&gt;&lt;m_yearfmt&gt;&lt;begin val=&quot;0&quot;/&gt;&lt;end val=&quot;4&quot;/&gt;&lt;/m_yearfmt&gt;&lt;/m_precDefaultDay&gt;&lt;m_precDefaultWeek&gt;&lt;m_yearfmt&gt;&lt;begin val=&quot;0&quot;/&gt;&lt;end val=&quot;4&quot;/&gt;&lt;/m_yearfmt&gt;&lt;/m_precDefaultWeek&gt;&lt;m_precDefaultMonth&gt;&lt;m_yearfmt&gt;&lt;begin val=&quot;0&quot;/&gt;&lt;end val=&quot;4&quot;/&gt;&lt;/m_yearfmt&gt;&lt;/m_precDefaultMonth&gt;&lt;m_precDefaultQuarter&gt;&lt;m_yearfmt&gt;&lt;begin val=&quot;0&quot;/&gt;&lt;end val=&quot;4&quot;/&gt;&lt;/m_yearfmt&gt;&lt;/m_precDefaultQuarter&gt;&lt;m_precDefaultYear&gt;&lt;m_yearfmt&gt;&lt;begin val=&quot;0&quot;/&gt;&lt;end val=&quot;4&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6&quot;&gt;&lt;elem m_fUsage=&quot;5.56837556829803492775E+00&quot;&gt;&lt;m_msothmcolidx val=&quot;0&quot;/&gt;&lt;m_rgb r=&quot;89&quot; g=&quot;9B&quot; b=&quot;AE&quot;/&gt;&lt;/elem&gt;&lt;elem m_fUsage=&quot;4.43100739518279418405E+00&quot;&gt;&lt;m_msothmcolidx val=&quot;0&quot;/&gt;&lt;m_rgb r=&quot;44&quot; g=&quot;5A&quot; b=&quot;6E&quot;/&gt;&lt;/elem&gt;&lt;elem m_fUsage=&quot;2.82885163072514773941E-04&quot;&gt;&lt;m_msothmcolidx val=&quot;0&quot;/&gt;&lt;m_rgb r=&quot;10&quot; g=&quot;B4&quot; b=&quot;AD&quot;/&gt;&lt;/elem&gt;&lt;elem m_fUsage=&quot;2.57493927709701833813E-04&quot;&gt;&lt;m_msothmcolidx val=&quot;0&quot;/&gt;&lt;m_rgb r=&quot;13&quot; g=&quot;80&quot; b=&quot;7B&quot;/&gt;&lt;/elem&gt;&lt;elem m_fUsage=&quot;1.93632597890513118806E-05&quot;&gt;&lt;m_msothmcolidx val=&quot;0&quot;/&gt;&lt;m_rgb r=&quot;52&quot; g=&quot;B3&quot; b=&quot;AE&quot;/&gt;&lt;/elem&gt;&lt;elem m_fUsage=&quot;1.74269338101461847583E-05&quot;&gt;&lt;m_msothmcolidx val=&quot;0&quot;/&gt;&lt;m_rgb r=&quot;6B&quot; g=&quot;B3&quot; b=&quot;AF&quot;/&gt;&lt;/elem&gt;&lt;/m_vecMRU&gt;&lt;/m_mruColor&gt;&lt;m_eweekdayFirstOfWeek val=&quot;2&quot;/&gt;&lt;m_eweekdayFirstOfWorkweek val=&quot;2&quot;/&gt;&lt;m_eweekdayFirstOfWeekend val=&quot;7&quot;/&gt;&lt;m_eweeknumbering val=&quot;2&quot;/&gt;&lt;/CPresentation&gt;&lt;/root&gt;"/>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VoI">
      <a:dk1>
        <a:srgbClr val="13807B"/>
      </a:dk1>
      <a:lt1>
        <a:srgbClr val="FFFFFF"/>
      </a:lt1>
      <a:dk2>
        <a:srgbClr val="6B7180"/>
      </a:dk2>
      <a:lt2>
        <a:srgbClr val="EEECE1"/>
      </a:lt2>
      <a:accent1>
        <a:srgbClr val="C6E9E7"/>
      </a:accent1>
      <a:accent2>
        <a:srgbClr val="E1F2EE"/>
      </a:accent2>
      <a:accent3>
        <a:srgbClr val="FF6B6B"/>
      </a:accent3>
      <a:accent4>
        <a:srgbClr val="8B5CF6"/>
      </a:accent4>
      <a:accent5>
        <a:srgbClr val="FBBF24"/>
      </a:accent5>
      <a:accent6>
        <a:srgbClr val="10B981"/>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sz="1200" dirty="0" smtClean="0">
            <a:latin typeface="Calibri" panose="020F0502020204030204" pitchFamily="34" charset="0"/>
            <a:cs typeface="Calibri" panose="020F0502020204030204" pitchFamily="34" charset="0"/>
          </a:defRPr>
        </a:defPPr>
      </a:lstStyle>
      <a:style>
        <a:lnRef idx="2">
          <a:schemeClr val="accent1">
            <a:shade val="15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200" dirty="0" smtClean="0">
            <a:latin typeface="Calibri" panose="020F0502020204030204" pitchFamily="34" charset="0"/>
            <a:cs typeface="Calibri" panose="020F0502020204030204" pitchFamily="34" charset="0"/>
          </a:defRPr>
        </a:defPPr>
      </a:lst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7786</TotalTime>
  <Words>9102</Words>
  <Application>Microsoft Office PowerPoint</Application>
  <PresentationFormat>Panorámica</PresentationFormat>
  <Paragraphs>1905</Paragraphs>
  <Slides>31</Slides>
  <Notes>3</Notes>
  <HiddenSlides>9</HiddenSlides>
  <MMClips>0</MMClips>
  <ScaleCrop>false</ScaleCrop>
  <HeadingPairs>
    <vt:vector size="8" baseType="variant">
      <vt:variant>
        <vt:lpstr>Fuentes usadas</vt:lpstr>
      </vt:variant>
      <vt:variant>
        <vt:i4>4</vt:i4>
      </vt:variant>
      <vt:variant>
        <vt:lpstr>Tema</vt:lpstr>
      </vt:variant>
      <vt:variant>
        <vt:i4>2</vt:i4>
      </vt:variant>
      <vt:variant>
        <vt:lpstr>Servidores OLE incrustados</vt:lpstr>
      </vt:variant>
      <vt:variant>
        <vt:i4>1</vt:i4>
      </vt:variant>
      <vt:variant>
        <vt:lpstr>Títulos de diapositiva</vt:lpstr>
      </vt:variant>
      <vt:variant>
        <vt:i4>31</vt:i4>
      </vt:variant>
    </vt:vector>
  </HeadingPairs>
  <TitlesOfParts>
    <vt:vector size="38" baseType="lpstr">
      <vt:lpstr>Arial</vt:lpstr>
      <vt:lpstr>Calibri</vt:lpstr>
      <vt:lpstr>Lato</vt:lpstr>
      <vt:lpstr>Poppins</vt:lpstr>
      <vt:lpstr>Office Theme</vt:lpstr>
      <vt:lpstr>1_Office Theme</vt:lpstr>
      <vt:lpstr>Diapositiva de thinkcell</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Manuel Gonzalo Llajaruna Campos</dc:creator>
  <cp:lastModifiedBy>Rene Sangacha</cp:lastModifiedBy>
  <cp:revision>16</cp:revision>
  <dcterms:created xsi:type="dcterms:W3CDTF">2026-09-10T16:44:44Z</dcterms:created>
  <dcterms:modified xsi:type="dcterms:W3CDTF">2026-10-20T16:15:49Z</dcterms:modified>
</cp:coreProperties>
</file>