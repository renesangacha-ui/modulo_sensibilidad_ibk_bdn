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charts/chart1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notesSlides/notesSlide35.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notesSlides/notesSlide36.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notesSlides/notesSlide37.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53.xml" ContentType="application/vnd.openxmlformats-officedocument.drawingml.chart+xml"/>
  <Override PartName="/ppt/charts/chart54.xml" ContentType="application/vnd.openxmlformats-officedocument.drawingml.chart+xml"/>
  <Override PartName="/ppt/notesSlides/notesSlide40.xml" ContentType="application/vnd.openxmlformats-officedocument.presentationml.notesSlide+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notesSlides/notesSlide41.xml" ContentType="application/vnd.openxmlformats-officedocument.presentationml.notesSlide+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notesSlides/notesSlide42.xml" ContentType="application/vnd.openxmlformats-officedocument.presentationml.notesSlide+xml"/>
  <Override PartName="/ppt/charts/chart79.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notesSlides/notesSlide43.xml" ContentType="application/vnd.openxmlformats-officedocument.presentationml.notesSlide+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0.xml" ContentType="application/vnd.openxmlformats-officedocument.drawingml.chart+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notesSlides/notesSlide46.xml" ContentType="application/vnd.openxmlformats-officedocument.presentationml.notesSlide+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notesSlides/notesSlide47.xml" ContentType="application/vnd.openxmlformats-officedocument.presentationml.notesSlide+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notesSlides/notesSlide48.xml" ContentType="application/vnd.openxmlformats-officedocument.presentationml.notesSlide+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109.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notesSlides/notesSlide51.xml" ContentType="application/vnd.openxmlformats-officedocument.presentationml.notesSlide+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0.xml" ContentType="application/vnd.openxmlformats-officedocument.drawingml.chart+xml"/>
  <Override PartName="/ppt/notesSlides/notesSlide52.xml" ContentType="application/vnd.openxmlformats-officedocument.presentationml.notesSlide+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notesSlides/notesSlide53.xml" ContentType="application/vnd.openxmlformats-officedocument.presentationml.notesSlide+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sldIdLst>
    <p:sldId id="2147483603" r:id="rId2"/>
    <p:sldId id="257" r:id="rId3"/>
    <p:sldId id="258" r:id="rId4"/>
    <p:sldId id="259" r:id="rId5"/>
    <p:sldId id="260" r:id="rId6"/>
    <p:sldId id="2147483609" r:id="rId7"/>
    <p:sldId id="2147483611" r:id="rId8"/>
    <p:sldId id="2147483612" r:id="rId9"/>
    <p:sldId id="2147483608" r:id="rId10"/>
    <p:sldId id="265" r:id="rId11"/>
    <p:sldId id="275" r:id="rId12"/>
    <p:sldId id="276" r:id="rId13"/>
    <p:sldId id="2147483606" r:id="rId14"/>
    <p:sldId id="277" r:id="rId15"/>
    <p:sldId id="2147483641" r:id="rId16"/>
    <p:sldId id="266" r:id="rId17"/>
    <p:sldId id="268" r:id="rId18"/>
    <p:sldId id="269" r:id="rId19"/>
    <p:sldId id="270" r:id="rId20"/>
    <p:sldId id="2147483642" r:id="rId21"/>
    <p:sldId id="2147483644" r:id="rId22"/>
    <p:sldId id="2147483643" r:id="rId23"/>
    <p:sldId id="2147483645" r:id="rId24"/>
    <p:sldId id="2147483646" r:id="rId25"/>
    <p:sldId id="271" r:id="rId26"/>
    <p:sldId id="272" r:id="rId27"/>
    <p:sldId id="273" r:id="rId28"/>
    <p:sldId id="274" r:id="rId29"/>
    <p:sldId id="2147483647" r:id="rId30"/>
    <p:sldId id="262" r:id="rId31"/>
    <p:sldId id="263" r:id="rId32"/>
    <p:sldId id="264" r:id="rId33"/>
    <p:sldId id="2147483631" r:id="rId34"/>
    <p:sldId id="2147483632" r:id="rId35"/>
    <p:sldId id="2147483634" r:id="rId36"/>
    <p:sldId id="2147483633" r:id="rId37"/>
    <p:sldId id="2147483635" r:id="rId38"/>
    <p:sldId id="2147483636" r:id="rId39"/>
    <p:sldId id="2147483637" r:id="rId40"/>
    <p:sldId id="2147483638" r:id="rId41"/>
    <p:sldId id="2147483639" r:id="rId42"/>
    <p:sldId id="2147483640" r:id="rId43"/>
    <p:sldId id="2147483623" r:id="rId44"/>
    <p:sldId id="2147483624" r:id="rId45"/>
    <p:sldId id="2147483625" r:id="rId46"/>
    <p:sldId id="2147483626" r:id="rId47"/>
    <p:sldId id="261" r:id="rId48"/>
    <p:sldId id="256" r:id="rId49"/>
    <p:sldId id="267" r:id="rId50"/>
    <p:sldId id="2147483627" r:id="rId51"/>
    <p:sldId id="2147483628" r:id="rId52"/>
    <p:sldId id="2147483629" r:id="rId53"/>
    <p:sldId id="2147483630" r:id="rId54"/>
    <p:sldId id="2147483617" r:id="rId55"/>
    <p:sldId id="2147483613" r:id="rId56"/>
    <p:sldId id="2147483615" r:id="rId57"/>
    <p:sldId id="2147483614" r:id="rId58"/>
    <p:sldId id="2147483616" r:id="rId59"/>
    <p:sldId id="2147483622" r:id="rId60"/>
    <p:sldId id="2147483618" r:id="rId61"/>
    <p:sldId id="2147483619" r:id="rId62"/>
    <p:sldId id="2147483620" r:id="rId63"/>
    <p:sldId id="2147483621" r:id="rId64"/>
    <p:sldId id="2147483597" r:id="rId65"/>
    <p:sldId id="2147483602" r:id="rId66"/>
    <p:sldId id="2147483604" r:id="rId67"/>
    <p:sldId id="2147483605" r:id="rId68"/>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80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7FFFFFD9_11CFB084.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7FFFFFD9_11CFB084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_7FFFFFD9_11CFB084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_7FFFFFD9_11CFB084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_7FFFFFD9_11CFB084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_7FFFFFD9_11CFB084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_7FFFFFDB_11D39FA0.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_7FFFFFDB_11D39FA06.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_7FFFFFDB_11D39FA07.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_7FFFFFDB_11D39FA08.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_7FFFFFDB_11D39FA09.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_7FFFFFDB_11D39FA010.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_7FFFFFDC_A9BF27DB.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_7FFFFFDC_A9BF27DB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_7FFFFFDC_A9BF27DB12.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_7FFFFFD6_0.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_7FFFFFE8_0.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_7FFFFFE8_013.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_7FFFFFE8_014.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_7FFFFFE8_015.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_7FFFFFE8_016.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_7FFFFFE8_017.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_7FFFFFE8_018.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_7FFFFFE8_019.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_7FFFFFE8_020.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_7FFFFFE8_021.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_7FFFFFE8_022.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_7FFFFFE8_023.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_7FFFFFE9_0.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_7FFFFFE9_024.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_7FFFFFE9_025.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_7FFFFFE9_026.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_7FFFFFE9_027.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_7FFFFFE9_028.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_7FFFFFE9_029.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_7FFFFFE9_030.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_7FFFFFE9_031.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_7FFFFFE9_032.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_7FFFFFE9_033.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_7FFFFFE9_034.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_7FFFFFEA_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_7FFFFFEA_035.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_7FFFFFEA_036.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_7FFFFFEA_037.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_7FFFFFEA_038.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_7FFFFFEA_039.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_105_0.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_105_040.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_105_041.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_105_042.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_105_043.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_105_044.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_10B_6D24F755.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_10B_6D24F75545.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_7FFFFFEB_0.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_7FFFFFEB_04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_7FFFFFEB_04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_7FFFFFEB_04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_7FFFFFEB_04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_7FFFFFEB_05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_7FFFFFEB_05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_7FFFFFEB_05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_7FFFFFEB_05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_7FFFFFEB_05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_7FFFFFEB_05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_7FFFFFEB_05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_7FFFFFEC_0.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_7FFFFFEC_057.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_7FFFFFEC_058.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_7FFFFFEC_059.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_7FFFFFEC_060.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_7FFFFFEC_061.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_7FFFFFEC_062.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_7FFFFFEC_063.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Worksheet_7FFFFFEC_064.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Worksheet_7FFFFFEC_065.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_7FFFFFEC_066.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Worksheet_7FFFFFEC_067.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Worksheet_7FFFFFED_0.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Worksheet_7FFFFFED_068.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Worksheet_7FFFFFED_069.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Worksheet_7FFFFFED_070.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Worksheet_7FFFFFED_071.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_7FFFFFED_072.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_7FFFFFEE_0.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_7FFFFFEE_073.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_7FFFFFEE_074.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_7FFFFFEE_075.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Worksheet_7FFFFFEE_076.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Worksheet_7FFFFFEE_077.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Worksheet_7FFFFFDD_AA467A0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Worksheet_7FFFFFDD_AA467A0178.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Worksheet_7FFFFFDD_AA467A0179.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Worksheet_7FFFFFDD_AA467A0180.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_7FFFFFDD_AA467A0181.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_7FFFFFDD_AA467A0182.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_7FFFFFDF_74C19685.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_7FFFFFDF_74C1968583.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_7FFFFFDF_74C1968584.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_7FFFFFDF_74C1968585.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_7FFFFFDF_74C1968586.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_7FFFFFDF_74C1968587.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_7FFFFFDE_27A816C2.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Worksheet_7FFFFFDE_27A816C288.xlsx"/></Relationships>
</file>

<file path=ppt/charts/_rels/chart105.xml.rels><?xml version="1.0" encoding="UTF-8" standalone="yes"?>
<Relationships xmlns="http://schemas.openxmlformats.org/package/2006/relationships"><Relationship Id="rId1" Type="http://schemas.openxmlformats.org/officeDocument/2006/relationships/package" Target="../embeddings/Microsoft_Excel_Worksheet_7FFFFFDE_27A816C289.xlsx"/></Relationships>
</file>

<file path=ppt/charts/_rels/chart106.xml.rels><?xml version="1.0" encoding="UTF-8" standalone="yes"?>
<Relationships xmlns="http://schemas.openxmlformats.org/package/2006/relationships"><Relationship Id="rId1" Type="http://schemas.openxmlformats.org/officeDocument/2006/relationships/package" Target="../embeddings/Microsoft_Excel_Worksheet_7FFFFFE0_158355A2.xlsx"/></Relationships>
</file>

<file path=ppt/charts/_rels/chart107.xml.rels><?xml version="1.0" encoding="UTF-8" standalone="yes"?>
<Relationships xmlns="http://schemas.openxmlformats.org/package/2006/relationships"><Relationship Id="rId1" Type="http://schemas.openxmlformats.org/officeDocument/2006/relationships/package" Target="../embeddings/Microsoft_Excel_Worksheet_7FFFFFE0_158355A290.xlsx"/></Relationships>
</file>

<file path=ppt/charts/_rels/chart108.xml.rels><?xml version="1.0" encoding="UTF-8" standalone="yes"?>
<Relationships xmlns="http://schemas.openxmlformats.org/package/2006/relationships"><Relationship Id="rId1" Type="http://schemas.openxmlformats.org/officeDocument/2006/relationships/package" Target="../embeddings/Microsoft_Excel_Worksheet_7FFFFFE0_158355A291.xlsx"/></Relationships>
</file>

<file path=ppt/charts/_rels/chart109.xml.rels><?xml version="1.0" encoding="UTF-8" standalone="yes"?>
<Relationships xmlns="http://schemas.openxmlformats.org/package/2006/relationships"><Relationship Id="rId1" Type="http://schemas.openxmlformats.org/officeDocument/2006/relationships/package" Target="../embeddings/Microsoft_Excel_Worksheet_7FFFFFE2_7252BA63.xlsx"/></Relationships>
</file>

<file path=ppt/charts/_rels/chart110.xml.rels><?xml version="1.0" encoding="UTF-8" standalone="yes"?>
<Relationships xmlns="http://schemas.openxmlformats.org/package/2006/relationships"><Relationship Id="rId1" Type="http://schemas.openxmlformats.org/officeDocument/2006/relationships/package" Target="../embeddings/Microsoft_Excel_Worksheet_7FFFFFE2_7252BA6392.xlsx"/></Relationships>
</file>

<file path=ppt/charts/_rels/chart111.xml.rels><?xml version="1.0" encoding="UTF-8" standalone="yes"?>
<Relationships xmlns="http://schemas.openxmlformats.org/package/2006/relationships"><Relationship Id="rId1" Type="http://schemas.openxmlformats.org/officeDocument/2006/relationships/package" Target="../embeddings/Microsoft_Excel_Worksheet_7FFFFFE2_7252BA6393.xlsx"/></Relationships>
</file>

<file path=ppt/charts/_rels/chart112.xml.rels><?xml version="1.0" encoding="UTF-8" standalone="yes"?>
<Relationships xmlns="http://schemas.openxmlformats.org/package/2006/relationships"><Relationship Id="rId1" Type="http://schemas.openxmlformats.org/officeDocument/2006/relationships/package" Target="../embeddings/Microsoft_Excel_Worksheet_7FFFFFE2_7252BA6394.xlsx"/></Relationships>
</file>

<file path=ppt/charts/_rels/chart113.xml.rels><?xml version="1.0" encoding="UTF-8" standalone="yes"?>
<Relationships xmlns="http://schemas.openxmlformats.org/package/2006/relationships"><Relationship Id="rId1" Type="http://schemas.openxmlformats.org/officeDocument/2006/relationships/package" Target="../embeddings/Microsoft_Excel_Worksheet_7FFFFFE2_7252BA6395.xlsx"/></Relationships>
</file>

<file path=ppt/charts/_rels/chart114.xml.rels><?xml version="1.0" encoding="UTF-8" standalone="yes"?>
<Relationships xmlns="http://schemas.openxmlformats.org/package/2006/relationships"><Relationship Id="rId1" Type="http://schemas.openxmlformats.org/officeDocument/2006/relationships/package" Target="../embeddings/Microsoft_Excel_Worksheet_7FFFFFE2_7252BA6396.xlsx"/></Relationships>
</file>

<file path=ppt/charts/_rels/chart115.xml.rels><?xml version="1.0" encoding="UTF-8" standalone="yes"?>
<Relationships xmlns="http://schemas.openxmlformats.org/package/2006/relationships"><Relationship Id="rId1" Type="http://schemas.openxmlformats.org/officeDocument/2006/relationships/package" Target="../embeddings/Microsoft_Excel_Worksheet_7FFFFFE3_BA43868D.xlsx"/></Relationships>
</file>

<file path=ppt/charts/_rels/chart116.xml.rels><?xml version="1.0" encoding="UTF-8" standalone="yes"?>
<Relationships xmlns="http://schemas.openxmlformats.org/package/2006/relationships"><Relationship Id="rId1" Type="http://schemas.openxmlformats.org/officeDocument/2006/relationships/package" Target="../embeddings/Microsoft_Excel_Worksheet_7FFFFFE3_BA43868D97.xlsx"/></Relationships>
</file>

<file path=ppt/charts/_rels/chart117.xml.rels><?xml version="1.0" encoding="UTF-8" standalone="yes"?>
<Relationships xmlns="http://schemas.openxmlformats.org/package/2006/relationships"><Relationship Id="rId1" Type="http://schemas.openxmlformats.org/officeDocument/2006/relationships/package" Target="../embeddings/Microsoft_Excel_Worksheet_7FFFFFE3_BA43868D98.xlsx"/></Relationships>
</file>

<file path=ppt/charts/_rels/chart118.xml.rels><?xml version="1.0" encoding="UTF-8" standalone="yes"?>
<Relationships xmlns="http://schemas.openxmlformats.org/package/2006/relationships"><Relationship Id="rId1" Type="http://schemas.openxmlformats.org/officeDocument/2006/relationships/package" Target="../embeddings/Microsoft_Excel_Worksheet_7FFFFFE3_BA43868D99.xlsx"/></Relationships>
</file>

<file path=ppt/charts/_rels/chart119.xml.rels><?xml version="1.0" encoding="UTF-8" standalone="yes"?>
<Relationships xmlns="http://schemas.openxmlformats.org/package/2006/relationships"><Relationship Id="rId1" Type="http://schemas.openxmlformats.org/officeDocument/2006/relationships/package" Target="../embeddings/Microsoft_Excel_Worksheet_7FFFFFE3_BA43868D100.xlsx"/></Relationships>
</file>

<file path=ppt/charts/_rels/chart120.xml.rels><?xml version="1.0" encoding="UTF-8" standalone="yes"?>
<Relationships xmlns="http://schemas.openxmlformats.org/package/2006/relationships"><Relationship Id="rId1" Type="http://schemas.openxmlformats.org/officeDocument/2006/relationships/package" Target="../embeddings/Microsoft_Excel_Worksheet_7FFFFFE3_BA43868D101.xlsx"/></Relationships>
</file>

<file path=ppt/charts/_rels/chart121.xml.rels><?xml version="1.0" encoding="UTF-8" standalone="yes"?>
<Relationships xmlns="http://schemas.openxmlformats.org/package/2006/relationships"><Relationship Id="rId1" Type="http://schemas.openxmlformats.org/officeDocument/2006/relationships/package" Target="../embeddings/Microsoft_Excel_Worksheet_7FFFFFE4_959F36D9.xlsx"/></Relationships>
</file>

<file path=ppt/charts/_rels/chart122.xml.rels><?xml version="1.0" encoding="UTF-8" standalone="yes"?>
<Relationships xmlns="http://schemas.openxmlformats.org/package/2006/relationships"><Relationship Id="rId1" Type="http://schemas.openxmlformats.org/officeDocument/2006/relationships/package" Target="../embeddings/Microsoft_Excel_Worksheet_7FFFFFE4_959F36D9102.xlsx"/></Relationships>
</file>

<file path=ppt/charts/_rels/chart123.xml.rels><?xml version="1.0" encoding="UTF-8" standalone="yes"?>
<Relationships xmlns="http://schemas.openxmlformats.org/package/2006/relationships"><Relationship Id="rId1" Type="http://schemas.openxmlformats.org/officeDocument/2006/relationships/package" Target="../embeddings/Microsoft_Excel_Worksheet_7FFFFFE4_959F36D9103.xlsx"/></Relationships>
</file>

<file path=ppt/charts/_rels/chart124.xml.rels><?xml version="1.0" encoding="UTF-8" standalone="yes"?>
<Relationships xmlns="http://schemas.openxmlformats.org/package/2006/relationships"><Relationship Id="rId1" Type="http://schemas.openxmlformats.org/officeDocument/2006/relationships/package" Target="../embeddings/Microsoft_Excel_Worksheet_7FFFFFE5_4FCE2AD1.xlsx"/></Relationships>
</file>

<file path=ppt/charts/_rels/chart125.xml.rels><?xml version="1.0" encoding="UTF-8" standalone="yes"?>
<Relationships xmlns="http://schemas.openxmlformats.org/package/2006/relationships"><Relationship Id="rId1" Type="http://schemas.openxmlformats.org/officeDocument/2006/relationships/package" Target="../embeddings/Microsoft_Excel_Worksheet_7FFFFFE5_4FCE2AD1104.xlsx"/></Relationships>
</file>

<file path=ppt/charts/_rels/chart126.xml.rels><?xml version="1.0" encoding="UTF-8" standalone="yes"?>
<Relationships xmlns="http://schemas.openxmlformats.org/package/2006/relationships"><Relationship Id="rId1" Type="http://schemas.openxmlformats.org/officeDocument/2006/relationships/package" Target="../embeddings/Microsoft_Excel_Worksheet_7FFFFFE5_4FCE2AD110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g1</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E606-46F4-9FBF-63910FA771FB}"/>
              </c:ext>
            </c:extLst>
          </c:dPt>
          <c:dPt>
            <c:idx val="1"/>
            <c:bubble3D val="0"/>
            <c:spPr>
              <a:solidFill>
                <a:srgbClr val="DDE1D9"/>
              </a:solidFill>
              <a:effectLst/>
            </c:spPr>
            <c:extLst>
              <c:ext xmlns:c16="http://schemas.microsoft.com/office/drawing/2014/chart" uri="{C3380CC4-5D6E-409C-BE32-E72D297353CC}">
                <c16:uniqueId val="{00000003-E606-46F4-9FBF-63910FA771FB}"/>
              </c:ext>
            </c:extLst>
          </c:dPt>
          <c:dPt>
            <c:idx val="2"/>
            <c:bubble3D val="0"/>
            <c:spPr>
              <a:solidFill>
                <a:srgbClr val="F6F7F4"/>
              </a:solidFill>
              <a:effectLst/>
            </c:spPr>
            <c:extLst>
              <c:ext xmlns:c16="http://schemas.microsoft.com/office/drawing/2014/chart" uri="{C3380CC4-5D6E-409C-BE32-E72D297353CC}">
                <c16:uniqueId val="{00000005-E606-46F4-9FBF-63910FA771FB}"/>
              </c:ext>
            </c:extLst>
          </c:dPt>
          <c:cat>
            <c:strRef>
              <c:f>Sheet1!$A$2:$A$4</c:f>
              <c:strCache>
                <c:ptCount val="3"/>
                <c:pt idx="0">
                  <c:v>v</c:v>
                </c:pt>
                <c:pt idx="1">
                  <c:v>r</c:v>
                </c:pt>
                <c:pt idx="2">
                  <c:v>h</c:v>
                </c:pt>
              </c:strCache>
            </c:strRef>
          </c:cat>
          <c:val>
            <c:numRef>
              <c:f>Sheet1!$B$2:$B$4</c:f>
              <c:numCache>
                <c:formatCode>General</c:formatCode>
                <c:ptCount val="3"/>
                <c:pt idx="0">
                  <c:v>68</c:v>
                </c:pt>
                <c:pt idx="1">
                  <c:v>32</c:v>
                </c:pt>
                <c:pt idx="2">
                  <c:v>100</c:v>
                </c:pt>
              </c:numCache>
            </c:numRef>
          </c:val>
          <c:extLst>
            <c:ext xmlns:c16="http://schemas.microsoft.com/office/drawing/2014/chart" uri="{C3380CC4-5D6E-409C-BE32-E72D297353CC}">
              <c16:uniqueId val="{00000006-E606-46F4-9FBF-63910FA771FB}"/>
            </c:ext>
          </c:extLst>
        </c:ser>
        <c:dLbls>
          <c:showLegendKey val="0"/>
          <c:showVal val="0"/>
          <c:showCatName val="0"/>
          <c:showSerName val="0"/>
          <c:showPercent val="0"/>
          <c:showBubbleSize val="0"/>
          <c:showLeaderLines val="0"/>
        </c:dLbls>
        <c:firstSliceAng val="27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g2</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E6F6-48EC-A621-EAF3F96704E0}"/>
              </c:ext>
            </c:extLst>
          </c:dPt>
          <c:dPt>
            <c:idx val="1"/>
            <c:bubble3D val="0"/>
            <c:spPr>
              <a:solidFill>
                <a:srgbClr val="DDE1D9"/>
              </a:solidFill>
              <a:effectLst/>
            </c:spPr>
            <c:extLst>
              <c:ext xmlns:c16="http://schemas.microsoft.com/office/drawing/2014/chart" uri="{C3380CC4-5D6E-409C-BE32-E72D297353CC}">
                <c16:uniqueId val="{00000003-E6F6-48EC-A621-EAF3F96704E0}"/>
              </c:ext>
            </c:extLst>
          </c:dPt>
          <c:dPt>
            <c:idx val="2"/>
            <c:bubble3D val="0"/>
            <c:spPr>
              <a:solidFill>
                <a:srgbClr val="F6F7F4"/>
              </a:solidFill>
              <a:effectLst/>
            </c:spPr>
            <c:extLst>
              <c:ext xmlns:c16="http://schemas.microsoft.com/office/drawing/2014/chart" uri="{C3380CC4-5D6E-409C-BE32-E72D297353CC}">
                <c16:uniqueId val="{00000005-E6F6-48EC-A621-EAF3F96704E0}"/>
              </c:ext>
            </c:extLst>
          </c:dPt>
          <c:cat>
            <c:strRef>
              <c:f>Sheet1!$A$2:$A$4</c:f>
              <c:strCache>
                <c:ptCount val="3"/>
                <c:pt idx="0">
                  <c:v>v</c:v>
                </c:pt>
                <c:pt idx="1">
                  <c:v>r</c:v>
                </c:pt>
                <c:pt idx="2">
                  <c:v>h</c:v>
                </c:pt>
              </c:strCache>
            </c:strRef>
          </c:cat>
          <c:val>
            <c:numRef>
              <c:f>Sheet1!$B$2:$B$4</c:f>
              <c:numCache>
                <c:formatCode>General</c:formatCode>
                <c:ptCount val="3"/>
                <c:pt idx="0">
                  <c:v>56</c:v>
                </c:pt>
                <c:pt idx="1">
                  <c:v>44</c:v>
                </c:pt>
                <c:pt idx="2">
                  <c:v>100</c:v>
                </c:pt>
              </c:numCache>
            </c:numRef>
          </c:val>
          <c:extLst>
            <c:ext xmlns:c16="http://schemas.microsoft.com/office/drawing/2014/chart" uri="{C3380CC4-5D6E-409C-BE32-E72D297353CC}">
              <c16:uniqueId val="{00000006-E6F6-48EC-A621-EAF3F96704E0}"/>
            </c:ext>
          </c:extLst>
        </c:ser>
        <c:dLbls>
          <c:showLegendKey val="0"/>
          <c:showVal val="0"/>
          <c:showCatName val="0"/>
          <c:showSerName val="0"/>
          <c:showPercent val="0"/>
          <c:showBubbleSize val="0"/>
          <c:showLeaderLines val="0"/>
        </c:dLbls>
        <c:firstSliceAng val="27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g3</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9D15-4192-8E86-A6C8B54C2098}"/>
              </c:ext>
            </c:extLst>
          </c:dPt>
          <c:dPt>
            <c:idx val="1"/>
            <c:bubble3D val="0"/>
            <c:spPr>
              <a:solidFill>
                <a:srgbClr val="DDE1D9"/>
              </a:solidFill>
              <a:effectLst/>
            </c:spPr>
            <c:extLst>
              <c:ext xmlns:c16="http://schemas.microsoft.com/office/drawing/2014/chart" uri="{C3380CC4-5D6E-409C-BE32-E72D297353CC}">
                <c16:uniqueId val="{00000003-9D15-4192-8E86-A6C8B54C2098}"/>
              </c:ext>
            </c:extLst>
          </c:dPt>
          <c:dPt>
            <c:idx val="2"/>
            <c:bubble3D val="0"/>
            <c:spPr>
              <a:solidFill>
                <a:srgbClr val="F6F7F4"/>
              </a:solidFill>
              <a:effectLst/>
            </c:spPr>
            <c:extLst>
              <c:ext xmlns:c16="http://schemas.microsoft.com/office/drawing/2014/chart" uri="{C3380CC4-5D6E-409C-BE32-E72D297353CC}">
                <c16:uniqueId val="{00000005-9D15-4192-8E86-A6C8B54C2098}"/>
              </c:ext>
            </c:extLst>
          </c:dPt>
          <c:cat>
            <c:strRef>
              <c:f>Sheet1!$A$2:$A$4</c:f>
              <c:strCache>
                <c:ptCount val="3"/>
                <c:pt idx="0">
                  <c:v>v</c:v>
                </c:pt>
                <c:pt idx="1">
                  <c:v>r</c:v>
                </c:pt>
                <c:pt idx="2">
                  <c:v>h</c:v>
                </c:pt>
              </c:strCache>
            </c:strRef>
          </c:cat>
          <c:val>
            <c:numRef>
              <c:f>Sheet1!$B$2:$B$4</c:f>
              <c:numCache>
                <c:formatCode>General</c:formatCode>
                <c:ptCount val="3"/>
                <c:pt idx="0">
                  <c:v>38</c:v>
                </c:pt>
                <c:pt idx="1">
                  <c:v>62</c:v>
                </c:pt>
                <c:pt idx="2">
                  <c:v>100</c:v>
                </c:pt>
              </c:numCache>
            </c:numRef>
          </c:val>
          <c:extLst>
            <c:ext xmlns:c16="http://schemas.microsoft.com/office/drawing/2014/chart" uri="{C3380CC4-5D6E-409C-BE32-E72D297353CC}">
              <c16:uniqueId val="{00000006-9D15-4192-8E86-A6C8B54C2098}"/>
            </c:ext>
          </c:extLst>
        </c:ser>
        <c:dLbls>
          <c:showLegendKey val="0"/>
          <c:showVal val="0"/>
          <c:showCatName val="0"/>
          <c:showSerName val="0"/>
          <c:showPercent val="0"/>
          <c:showBubbleSize val="0"/>
          <c:showLeaderLines val="0"/>
        </c:dLbls>
        <c:firstSliceAng val="27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d4</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CE28-4B02-8ED2-B2CB19F7367F}"/>
              </c:ext>
            </c:extLst>
          </c:dPt>
          <c:dPt>
            <c:idx val="1"/>
            <c:bubble3D val="0"/>
            <c:spPr>
              <a:solidFill>
                <a:srgbClr val="DDE1D9"/>
              </a:solidFill>
              <a:effectLst/>
            </c:spPr>
            <c:extLst>
              <c:ext xmlns:c16="http://schemas.microsoft.com/office/drawing/2014/chart" uri="{C3380CC4-5D6E-409C-BE32-E72D297353CC}">
                <c16:uniqueId val="{00000003-CE28-4B02-8ED2-B2CB19F7367F}"/>
              </c:ext>
            </c:extLst>
          </c:dPt>
          <c:cat>
            <c:strRef>
              <c:f>Sheet1!$A$2:$A$3</c:f>
              <c:strCache>
                <c:ptCount val="2"/>
                <c:pt idx="0">
                  <c:v>v</c:v>
                </c:pt>
                <c:pt idx="1">
                  <c:v>r</c:v>
                </c:pt>
              </c:strCache>
            </c:strRef>
          </c:cat>
          <c:val>
            <c:numRef>
              <c:f>Sheet1!$B$2:$B$3</c:f>
              <c:numCache>
                <c:formatCode>General</c:formatCode>
                <c:ptCount val="2"/>
                <c:pt idx="0">
                  <c:v>38</c:v>
                </c:pt>
                <c:pt idx="1">
                  <c:v>62</c:v>
                </c:pt>
              </c:numCache>
            </c:numRef>
          </c:val>
          <c:extLst>
            <c:ext xmlns:c16="http://schemas.microsoft.com/office/drawing/2014/chart" uri="{C3380CC4-5D6E-409C-BE32-E72D297353CC}">
              <c16:uniqueId val="{00000004-CE28-4B02-8ED2-B2CB19F7367F}"/>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d5</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2815-46A2-B199-F682A4A62164}"/>
              </c:ext>
            </c:extLst>
          </c:dPt>
          <c:dPt>
            <c:idx val="1"/>
            <c:bubble3D val="0"/>
            <c:spPr>
              <a:solidFill>
                <a:srgbClr val="DDE1D9"/>
              </a:solidFill>
              <a:effectLst/>
            </c:spPr>
            <c:extLst>
              <c:ext xmlns:c16="http://schemas.microsoft.com/office/drawing/2014/chart" uri="{C3380CC4-5D6E-409C-BE32-E72D297353CC}">
                <c16:uniqueId val="{00000003-2815-46A2-B199-F682A4A62164}"/>
              </c:ext>
            </c:extLst>
          </c:dPt>
          <c:cat>
            <c:strRef>
              <c:f>Sheet1!$A$2:$A$3</c:f>
              <c:strCache>
                <c:ptCount val="2"/>
                <c:pt idx="0">
                  <c:v>v</c:v>
                </c:pt>
                <c:pt idx="1">
                  <c:v>r</c:v>
                </c:pt>
              </c:strCache>
            </c:strRef>
          </c:cat>
          <c:val>
            <c:numRef>
              <c:f>Sheet1!$B$2:$B$3</c:f>
              <c:numCache>
                <c:formatCode>General</c:formatCode>
                <c:ptCount val="2"/>
                <c:pt idx="0">
                  <c:v>35.5</c:v>
                </c:pt>
                <c:pt idx="1">
                  <c:v>64.5</c:v>
                </c:pt>
              </c:numCache>
            </c:numRef>
          </c:val>
          <c:extLst>
            <c:ext xmlns:c16="http://schemas.microsoft.com/office/drawing/2014/chart" uri="{C3380CC4-5D6E-409C-BE32-E72D297353CC}">
              <c16:uniqueId val="{00000004-2815-46A2-B199-F682A4A62164}"/>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d6</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CF95-4028-BF52-845F46C782FD}"/>
              </c:ext>
            </c:extLst>
          </c:dPt>
          <c:dPt>
            <c:idx val="1"/>
            <c:bubble3D val="0"/>
            <c:spPr>
              <a:solidFill>
                <a:srgbClr val="DDE1D9"/>
              </a:solidFill>
              <a:effectLst/>
            </c:spPr>
            <c:extLst>
              <c:ext xmlns:c16="http://schemas.microsoft.com/office/drawing/2014/chart" uri="{C3380CC4-5D6E-409C-BE32-E72D297353CC}">
                <c16:uniqueId val="{00000003-CF95-4028-BF52-845F46C782FD}"/>
              </c:ext>
            </c:extLst>
          </c:dPt>
          <c:cat>
            <c:strRef>
              <c:f>Sheet1!$A$2:$A$3</c:f>
              <c:strCache>
                <c:ptCount val="2"/>
                <c:pt idx="0">
                  <c:v>v</c:v>
                </c:pt>
                <c:pt idx="1">
                  <c:v>r</c:v>
                </c:pt>
              </c:strCache>
            </c:strRef>
          </c:cat>
          <c:val>
            <c:numRef>
              <c:f>Sheet1!$B$2:$B$3</c:f>
              <c:numCache>
                <c:formatCode>General</c:formatCode>
                <c:ptCount val="2"/>
                <c:pt idx="0">
                  <c:v>35.4</c:v>
                </c:pt>
                <c:pt idx="1">
                  <c:v>64.599999999999994</c:v>
                </c:pt>
              </c:numCache>
            </c:numRef>
          </c:val>
          <c:extLst>
            <c:ext xmlns:c16="http://schemas.microsoft.com/office/drawing/2014/chart" uri="{C3380CC4-5D6E-409C-BE32-E72D297353CC}">
              <c16:uniqueId val="{00000004-CF95-4028-BF52-845F46C782FD}"/>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g7</c:v>
                </c:pt>
              </c:strCache>
            </c:strRef>
          </c:tx>
          <c:spPr>
            <a:solidFill>
              <a:schemeClr val="accent1"/>
            </a:solidFill>
            <a:ln w="9525" cap="flat">
              <a:solidFill>
                <a:srgbClr val="F9F9F9"/>
              </a:solidFill>
              <a:prstDash val="solid"/>
              <a:round/>
            </a:ln>
            <a:effectLst/>
          </c:spPr>
          <c:dPt>
            <c:idx val="0"/>
            <c:bubble3D val="0"/>
            <c:spPr>
              <a:solidFill>
                <a:srgbClr val="3E4C59"/>
              </a:solidFill>
              <a:effectLst/>
            </c:spPr>
            <c:extLst>
              <c:ext xmlns:c16="http://schemas.microsoft.com/office/drawing/2014/chart" uri="{C3380CC4-5D6E-409C-BE32-E72D297353CC}">
                <c16:uniqueId val="{00000001-01BF-4FB8-8CAD-C14AC57E06AB}"/>
              </c:ext>
            </c:extLst>
          </c:dPt>
          <c:dPt>
            <c:idx val="1"/>
            <c:bubble3D val="0"/>
            <c:spPr>
              <a:solidFill>
                <a:srgbClr val="DDE1D9"/>
              </a:solidFill>
              <a:effectLst/>
            </c:spPr>
            <c:extLst>
              <c:ext xmlns:c16="http://schemas.microsoft.com/office/drawing/2014/chart" uri="{C3380CC4-5D6E-409C-BE32-E72D297353CC}">
                <c16:uniqueId val="{00000003-01BF-4FB8-8CAD-C14AC57E06AB}"/>
              </c:ext>
            </c:extLst>
          </c:dPt>
          <c:dPt>
            <c:idx val="2"/>
            <c:bubble3D val="0"/>
            <c:spPr>
              <a:solidFill>
                <a:srgbClr val="F6F7F4"/>
              </a:solidFill>
              <a:effectLst/>
            </c:spPr>
            <c:extLst>
              <c:ext xmlns:c16="http://schemas.microsoft.com/office/drawing/2014/chart" uri="{C3380CC4-5D6E-409C-BE32-E72D297353CC}">
                <c16:uniqueId val="{00000005-01BF-4FB8-8CAD-C14AC57E06AB}"/>
              </c:ext>
            </c:extLst>
          </c:dPt>
          <c:cat>
            <c:strRef>
              <c:f>Sheet1!$A$2:$A$4</c:f>
              <c:strCache>
                <c:ptCount val="3"/>
                <c:pt idx="0">
                  <c:v>v</c:v>
                </c:pt>
                <c:pt idx="1">
                  <c:v>r</c:v>
                </c:pt>
                <c:pt idx="2">
                  <c:v>h</c:v>
                </c:pt>
              </c:strCache>
            </c:strRef>
          </c:cat>
          <c:val>
            <c:numRef>
              <c:f>Sheet1!$B$2:$B$4</c:f>
              <c:numCache>
                <c:formatCode>General</c:formatCode>
                <c:ptCount val="3"/>
                <c:pt idx="0">
                  <c:v>24</c:v>
                </c:pt>
                <c:pt idx="1">
                  <c:v>76</c:v>
                </c:pt>
                <c:pt idx="2">
                  <c:v>100</c:v>
                </c:pt>
              </c:numCache>
            </c:numRef>
          </c:val>
          <c:extLst>
            <c:ext xmlns:c16="http://schemas.microsoft.com/office/drawing/2014/chart" uri="{C3380CC4-5D6E-409C-BE32-E72D297353CC}">
              <c16:uniqueId val="{00000006-01BF-4FB8-8CAD-C14AC57E06AB}"/>
            </c:ext>
          </c:extLst>
        </c:ser>
        <c:dLbls>
          <c:showLegendKey val="0"/>
          <c:showVal val="0"/>
          <c:showCatName val="0"/>
          <c:showSerName val="0"/>
          <c:showPercent val="0"/>
          <c:showBubbleSize val="0"/>
          <c:showLeaderLines val="0"/>
        </c:dLbls>
        <c:firstSliceAng val="27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g8</c:v>
                </c:pt>
              </c:strCache>
            </c:strRef>
          </c:tx>
          <c:spPr>
            <a:solidFill>
              <a:schemeClr val="accent1"/>
            </a:solidFill>
            <a:ln w="9525" cap="flat">
              <a:solidFill>
                <a:srgbClr val="F9F9F9"/>
              </a:solidFill>
              <a:prstDash val="solid"/>
              <a:round/>
            </a:ln>
            <a:effectLst/>
          </c:spPr>
          <c:dPt>
            <c:idx val="0"/>
            <c:bubble3D val="0"/>
            <c:spPr>
              <a:solidFill>
                <a:srgbClr val="D9861F"/>
              </a:solidFill>
              <a:effectLst/>
            </c:spPr>
            <c:extLst>
              <c:ext xmlns:c16="http://schemas.microsoft.com/office/drawing/2014/chart" uri="{C3380CC4-5D6E-409C-BE32-E72D297353CC}">
                <c16:uniqueId val="{00000001-BA16-4132-8381-1E967C9FB509}"/>
              </c:ext>
            </c:extLst>
          </c:dPt>
          <c:dPt>
            <c:idx val="1"/>
            <c:bubble3D val="0"/>
            <c:spPr>
              <a:solidFill>
                <a:srgbClr val="DDE1D9"/>
              </a:solidFill>
              <a:effectLst/>
            </c:spPr>
            <c:extLst>
              <c:ext xmlns:c16="http://schemas.microsoft.com/office/drawing/2014/chart" uri="{C3380CC4-5D6E-409C-BE32-E72D297353CC}">
                <c16:uniqueId val="{00000003-BA16-4132-8381-1E967C9FB509}"/>
              </c:ext>
            </c:extLst>
          </c:dPt>
          <c:dPt>
            <c:idx val="2"/>
            <c:bubble3D val="0"/>
            <c:spPr>
              <a:solidFill>
                <a:srgbClr val="F6F7F4"/>
              </a:solidFill>
              <a:effectLst/>
            </c:spPr>
            <c:extLst>
              <c:ext xmlns:c16="http://schemas.microsoft.com/office/drawing/2014/chart" uri="{C3380CC4-5D6E-409C-BE32-E72D297353CC}">
                <c16:uniqueId val="{00000005-BA16-4132-8381-1E967C9FB509}"/>
              </c:ext>
            </c:extLst>
          </c:dPt>
          <c:cat>
            <c:strRef>
              <c:f>Sheet1!$A$2:$A$4</c:f>
              <c:strCache>
                <c:ptCount val="3"/>
                <c:pt idx="0">
                  <c:v>v</c:v>
                </c:pt>
                <c:pt idx="1">
                  <c:v>r</c:v>
                </c:pt>
                <c:pt idx="2">
                  <c:v>h</c:v>
                </c:pt>
              </c:strCache>
            </c:strRef>
          </c:cat>
          <c:val>
            <c:numRef>
              <c:f>Sheet1!$B$2:$B$4</c:f>
              <c:numCache>
                <c:formatCode>General</c:formatCode>
                <c:ptCount val="3"/>
                <c:pt idx="0">
                  <c:v>11</c:v>
                </c:pt>
                <c:pt idx="1">
                  <c:v>89</c:v>
                </c:pt>
                <c:pt idx="2">
                  <c:v>100</c:v>
                </c:pt>
              </c:numCache>
            </c:numRef>
          </c:val>
          <c:extLst>
            <c:ext xmlns:c16="http://schemas.microsoft.com/office/drawing/2014/chart" uri="{C3380CC4-5D6E-409C-BE32-E72D297353CC}">
              <c16:uniqueId val="{00000006-BA16-4132-8381-1E967C9FB509}"/>
            </c:ext>
          </c:extLst>
        </c:ser>
        <c:dLbls>
          <c:showLegendKey val="0"/>
          <c:showVal val="0"/>
          <c:showCatName val="0"/>
          <c:showSerName val="0"/>
          <c:showPercent val="0"/>
          <c:showBubbleSize val="0"/>
          <c:showLeaderLines val="0"/>
        </c:dLbls>
        <c:firstSliceAng val="27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g9</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BD6F-4CCC-9AF5-D16F8B9AE20B}"/>
              </c:ext>
            </c:extLst>
          </c:dPt>
          <c:dPt>
            <c:idx val="1"/>
            <c:bubble3D val="0"/>
            <c:spPr>
              <a:solidFill>
                <a:srgbClr val="DDE1D9"/>
              </a:solidFill>
              <a:effectLst/>
            </c:spPr>
            <c:extLst>
              <c:ext xmlns:c16="http://schemas.microsoft.com/office/drawing/2014/chart" uri="{C3380CC4-5D6E-409C-BE32-E72D297353CC}">
                <c16:uniqueId val="{00000003-BD6F-4CCC-9AF5-D16F8B9AE20B}"/>
              </c:ext>
            </c:extLst>
          </c:dPt>
          <c:dPt>
            <c:idx val="2"/>
            <c:bubble3D val="0"/>
            <c:spPr>
              <a:solidFill>
                <a:srgbClr val="F6F7F4"/>
              </a:solidFill>
              <a:effectLst/>
            </c:spPr>
            <c:extLst>
              <c:ext xmlns:c16="http://schemas.microsoft.com/office/drawing/2014/chart" uri="{C3380CC4-5D6E-409C-BE32-E72D297353CC}">
                <c16:uniqueId val="{00000005-BD6F-4CCC-9AF5-D16F8B9AE20B}"/>
              </c:ext>
            </c:extLst>
          </c:dPt>
          <c:cat>
            <c:strRef>
              <c:f>Sheet1!$A$2:$A$4</c:f>
              <c:strCache>
                <c:ptCount val="3"/>
                <c:pt idx="0">
                  <c:v>v</c:v>
                </c:pt>
                <c:pt idx="1">
                  <c:v>r</c:v>
                </c:pt>
                <c:pt idx="2">
                  <c:v>h</c:v>
                </c:pt>
              </c:strCache>
            </c:strRef>
          </c:cat>
          <c:val>
            <c:numRef>
              <c:f>Sheet1!$B$2:$B$4</c:f>
              <c:numCache>
                <c:formatCode>General</c:formatCode>
                <c:ptCount val="3"/>
                <c:pt idx="0">
                  <c:v>40</c:v>
                </c:pt>
                <c:pt idx="1">
                  <c:v>60</c:v>
                </c:pt>
                <c:pt idx="2">
                  <c:v>100</c:v>
                </c:pt>
              </c:numCache>
            </c:numRef>
          </c:val>
          <c:extLst>
            <c:ext xmlns:c16="http://schemas.microsoft.com/office/drawing/2014/chart" uri="{C3380CC4-5D6E-409C-BE32-E72D297353CC}">
              <c16:uniqueId val="{00000006-BD6F-4CCC-9AF5-D16F8B9AE20B}"/>
            </c:ext>
          </c:extLst>
        </c:ser>
        <c:dLbls>
          <c:showLegendKey val="0"/>
          <c:showVal val="0"/>
          <c:showCatName val="0"/>
          <c:showSerName val="0"/>
          <c:showPercent val="0"/>
          <c:showBubbleSize val="0"/>
          <c:showLeaderLines val="0"/>
        </c:dLbls>
        <c:firstSliceAng val="27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d10</c:v>
                </c:pt>
              </c:strCache>
            </c:strRef>
          </c:tx>
          <c:spPr>
            <a:solidFill>
              <a:schemeClr val="accent1"/>
            </a:solidFill>
            <a:ln w="9525" cap="flat">
              <a:solidFill>
                <a:srgbClr val="F9F9F9"/>
              </a:solidFill>
              <a:prstDash val="solid"/>
              <a:round/>
            </a:ln>
            <a:effectLst/>
          </c:spPr>
          <c:dPt>
            <c:idx val="0"/>
            <c:bubble3D val="0"/>
            <c:spPr>
              <a:solidFill>
                <a:srgbClr val="3E4C59"/>
              </a:solidFill>
              <a:effectLst/>
            </c:spPr>
            <c:extLst>
              <c:ext xmlns:c16="http://schemas.microsoft.com/office/drawing/2014/chart" uri="{C3380CC4-5D6E-409C-BE32-E72D297353CC}">
                <c16:uniqueId val="{00000001-1D9B-4D89-B554-A9516F6B6693}"/>
              </c:ext>
            </c:extLst>
          </c:dPt>
          <c:dPt>
            <c:idx val="1"/>
            <c:bubble3D val="0"/>
            <c:spPr>
              <a:solidFill>
                <a:srgbClr val="DDE1D9"/>
              </a:solidFill>
              <a:effectLst/>
            </c:spPr>
            <c:extLst>
              <c:ext xmlns:c16="http://schemas.microsoft.com/office/drawing/2014/chart" uri="{C3380CC4-5D6E-409C-BE32-E72D297353CC}">
                <c16:uniqueId val="{00000003-1D9B-4D89-B554-A9516F6B6693}"/>
              </c:ext>
            </c:extLst>
          </c:dPt>
          <c:cat>
            <c:strRef>
              <c:f>Sheet1!$A$2:$A$3</c:f>
              <c:strCache>
                <c:ptCount val="2"/>
                <c:pt idx="0">
                  <c:v>v</c:v>
                </c:pt>
                <c:pt idx="1">
                  <c:v>r</c:v>
                </c:pt>
              </c:strCache>
            </c:strRef>
          </c:cat>
          <c:val>
            <c:numRef>
              <c:f>Sheet1!$B$2:$B$3</c:f>
              <c:numCache>
                <c:formatCode>General</c:formatCode>
                <c:ptCount val="2"/>
                <c:pt idx="0">
                  <c:v>34.700000000000003</c:v>
                </c:pt>
                <c:pt idx="1">
                  <c:v>65.3</c:v>
                </c:pt>
              </c:numCache>
            </c:numRef>
          </c:val>
          <c:extLst>
            <c:ext xmlns:c16="http://schemas.microsoft.com/office/drawing/2014/chart" uri="{C3380CC4-5D6E-409C-BE32-E72D297353CC}">
              <c16:uniqueId val="{00000004-1D9B-4D89-B554-A9516F6B6693}"/>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d11</c:v>
                </c:pt>
              </c:strCache>
            </c:strRef>
          </c:tx>
          <c:spPr>
            <a:solidFill>
              <a:schemeClr val="accent1"/>
            </a:solidFill>
            <a:ln w="9525" cap="flat">
              <a:solidFill>
                <a:srgbClr val="F9F9F9"/>
              </a:solidFill>
              <a:prstDash val="solid"/>
              <a:round/>
            </a:ln>
            <a:effectLst/>
          </c:spPr>
          <c:dPt>
            <c:idx val="0"/>
            <c:bubble3D val="0"/>
            <c:spPr>
              <a:solidFill>
                <a:srgbClr val="D9861F"/>
              </a:solidFill>
              <a:effectLst/>
            </c:spPr>
            <c:extLst>
              <c:ext xmlns:c16="http://schemas.microsoft.com/office/drawing/2014/chart" uri="{C3380CC4-5D6E-409C-BE32-E72D297353CC}">
                <c16:uniqueId val="{00000001-B6F2-42E4-AEEC-7FF7922E92AB}"/>
              </c:ext>
            </c:extLst>
          </c:dPt>
          <c:dPt>
            <c:idx val="1"/>
            <c:bubble3D val="0"/>
            <c:spPr>
              <a:solidFill>
                <a:srgbClr val="DDE1D9"/>
              </a:solidFill>
              <a:effectLst/>
            </c:spPr>
            <c:extLst>
              <c:ext xmlns:c16="http://schemas.microsoft.com/office/drawing/2014/chart" uri="{C3380CC4-5D6E-409C-BE32-E72D297353CC}">
                <c16:uniqueId val="{00000003-B6F2-42E4-AEEC-7FF7922E92AB}"/>
              </c:ext>
            </c:extLst>
          </c:dPt>
          <c:cat>
            <c:strRef>
              <c:f>Sheet1!$A$2:$A$3</c:f>
              <c:strCache>
                <c:ptCount val="2"/>
                <c:pt idx="0">
                  <c:v>v</c:v>
                </c:pt>
                <c:pt idx="1">
                  <c:v>r</c:v>
                </c:pt>
              </c:strCache>
            </c:strRef>
          </c:cat>
          <c:val>
            <c:numRef>
              <c:f>Sheet1!$B$2:$B$3</c:f>
              <c:numCache>
                <c:formatCode>General</c:formatCode>
                <c:ptCount val="2"/>
                <c:pt idx="0">
                  <c:v>35.799999999999997</c:v>
                </c:pt>
                <c:pt idx="1">
                  <c:v>64.2</c:v>
                </c:pt>
              </c:numCache>
            </c:numRef>
          </c:val>
          <c:extLst>
            <c:ext xmlns:c16="http://schemas.microsoft.com/office/drawing/2014/chart" uri="{C3380CC4-5D6E-409C-BE32-E72D297353CC}">
              <c16:uniqueId val="{00000004-B6F2-42E4-AEEC-7FF7922E92AB}"/>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d12</c:v>
                </c:pt>
              </c:strCache>
            </c:strRef>
          </c:tx>
          <c:spPr>
            <a:solidFill>
              <a:schemeClr val="accent1"/>
            </a:solidFill>
            <a:ln w="9525" cap="flat">
              <a:solidFill>
                <a:srgbClr val="F9F9F9"/>
              </a:solidFill>
              <a:prstDash val="solid"/>
              <a:round/>
            </a:ln>
            <a:effectLst/>
          </c:spPr>
          <c:dPt>
            <c:idx val="0"/>
            <c:bubble3D val="0"/>
            <c:spPr>
              <a:solidFill>
                <a:srgbClr val="C0392B"/>
              </a:solidFill>
              <a:effectLst/>
            </c:spPr>
            <c:extLst>
              <c:ext xmlns:c16="http://schemas.microsoft.com/office/drawing/2014/chart" uri="{C3380CC4-5D6E-409C-BE32-E72D297353CC}">
                <c16:uniqueId val="{00000001-F313-4088-B523-C532C11BBC02}"/>
              </c:ext>
            </c:extLst>
          </c:dPt>
          <c:dPt>
            <c:idx val="1"/>
            <c:bubble3D val="0"/>
            <c:spPr>
              <a:solidFill>
                <a:srgbClr val="DDE1D9"/>
              </a:solidFill>
              <a:effectLst/>
            </c:spPr>
            <c:extLst>
              <c:ext xmlns:c16="http://schemas.microsoft.com/office/drawing/2014/chart" uri="{C3380CC4-5D6E-409C-BE32-E72D297353CC}">
                <c16:uniqueId val="{00000003-F313-4088-B523-C532C11BBC02}"/>
              </c:ext>
            </c:extLst>
          </c:dPt>
          <c:cat>
            <c:strRef>
              <c:f>Sheet1!$A$2:$A$3</c:f>
              <c:strCache>
                <c:ptCount val="2"/>
                <c:pt idx="0">
                  <c:v>v</c:v>
                </c:pt>
                <c:pt idx="1">
                  <c:v>r</c:v>
                </c:pt>
              </c:strCache>
            </c:strRef>
          </c:cat>
          <c:val>
            <c:numRef>
              <c:f>Sheet1!$B$2:$B$3</c:f>
              <c:numCache>
                <c:formatCode>General</c:formatCode>
                <c:ptCount val="2"/>
                <c:pt idx="0">
                  <c:v>35.9</c:v>
                </c:pt>
                <c:pt idx="1">
                  <c:v>64.099999999999994</c:v>
                </c:pt>
              </c:numCache>
            </c:numRef>
          </c:val>
          <c:extLst>
            <c:ext xmlns:c16="http://schemas.microsoft.com/office/drawing/2014/chart" uri="{C3380CC4-5D6E-409C-BE32-E72D297353CC}">
              <c16:uniqueId val="{00000004-F313-4088-B523-C532C11BBC0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d13</c:v>
                </c:pt>
              </c:strCache>
            </c:strRef>
          </c:tx>
          <c:spPr>
            <a:solidFill>
              <a:schemeClr val="accent1"/>
            </a:solidFill>
            <a:ln w="9525" cap="flat">
              <a:solidFill>
                <a:srgbClr val="F9F9F9"/>
              </a:solidFill>
              <a:prstDash val="solid"/>
              <a:round/>
            </a:ln>
            <a:effectLst/>
          </c:spPr>
          <c:dPt>
            <c:idx val="0"/>
            <c:bubble3D val="0"/>
            <c:spPr>
              <a:solidFill>
                <a:srgbClr val="0E5D52"/>
              </a:solidFill>
              <a:effectLst/>
            </c:spPr>
            <c:extLst>
              <c:ext xmlns:c16="http://schemas.microsoft.com/office/drawing/2014/chart" uri="{C3380CC4-5D6E-409C-BE32-E72D297353CC}">
                <c16:uniqueId val="{00000001-07F5-4066-A0A3-0925873E5ED2}"/>
              </c:ext>
            </c:extLst>
          </c:dPt>
          <c:dPt>
            <c:idx val="1"/>
            <c:bubble3D val="0"/>
            <c:spPr>
              <a:solidFill>
                <a:srgbClr val="DDE1D9"/>
              </a:solidFill>
              <a:effectLst/>
            </c:spPr>
            <c:extLst>
              <c:ext xmlns:c16="http://schemas.microsoft.com/office/drawing/2014/chart" uri="{C3380CC4-5D6E-409C-BE32-E72D297353CC}">
                <c16:uniqueId val="{00000003-07F5-4066-A0A3-0925873E5ED2}"/>
              </c:ext>
            </c:extLst>
          </c:dPt>
          <c:cat>
            <c:strRef>
              <c:f>Sheet1!$A$2:$A$3</c:f>
              <c:strCache>
                <c:ptCount val="2"/>
                <c:pt idx="0">
                  <c:v>v</c:v>
                </c:pt>
                <c:pt idx="1">
                  <c:v>r</c:v>
                </c:pt>
              </c:strCache>
            </c:strRef>
          </c:cat>
          <c:val>
            <c:numRef>
              <c:f>Sheet1!$B$2:$B$3</c:f>
              <c:numCache>
                <c:formatCode>General</c:formatCode>
                <c:ptCount val="2"/>
                <c:pt idx="0">
                  <c:v>55.8</c:v>
                </c:pt>
                <c:pt idx="1">
                  <c:v>44.2</c:v>
                </c:pt>
              </c:numCache>
            </c:numRef>
          </c:val>
          <c:extLst>
            <c:ext xmlns:c16="http://schemas.microsoft.com/office/drawing/2014/chart" uri="{C3380CC4-5D6E-409C-BE32-E72D297353CC}">
              <c16:uniqueId val="{00000004-07F5-4066-A0A3-0925873E5ED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d14</c:v>
                </c:pt>
              </c:strCache>
            </c:strRef>
          </c:tx>
          <c:spPr>
            <a:solidFill>
              <a:schemeClr val="accent1"/>
            </a:solidFill>
            <a:ln w="9525" cap="flat">
              <a:solidFill>
                <a:srgbClr val="F9F9F9"/>
              </a:solidFill>
              <a:prstDash val="solid"/>
              <a:round/>
            </a:ln>
            <a:effectLst/>
          </c:spPr>
          <c:dPt>
            <c:idx val="0"/>
            <c:bubble3D val="0"/>
            <c:spPr>
              <a:solidFill>
                <a:srgbClr val="D9861F"/>
              </a:solidFill>
              <a:effectLst/>
            </c:spPr>
            <c:extLst>
              <c:ext xmlns:c16="http://schemas.microsoft.com/office/drawing/2014/chart" uri="{C3380CC4-5D6E-409C-BE32-E72D297353CC}">
                <c16:uniqueId val="{00000001-29DA-42F5-8327-EBF8E0F07C1D}"/>
              </c:ext>
            </c:extLst>
          </c:dPt>
          <c:dPt>
            <c:idx val="1"/>
            <c:bubble3D val="0"/>
            <c:spPr>
              <a:solidFill>
                <a:srgbClr val="DDE1D9"/>
              </a:solidFill>
              <a:effectLst/>
            </c:spPr>
            <c:extLst>
              <c:ext xmlns:c16="http://schemas.microsoft.com/office/drawing/2014/chart" uri="{C3380CC4-5D6E-409C-BE32-E72D297353CC}">
                <c16:uniqueId val="{00000003-29DA-42F5-8327-EBF8E0F07C1D}"/>
              </c:ext>
            </c:extLst>
          </c:dPt>
          <c:cat>
            <c:strRef>
              <c:f>Sheet1!$A$2:$A$3</c:f>
              <c:strCache>
                <c:ptCount val="2"/>
                <c:pt idx="0">
                  <c:v>v</c:v>
                </c:pt>
                <c:pt idx="1">
                  <c:v>r</c:v>
                </c:pt>
              </c:strCache>
            </c:strRef>
          </c:cat>
          <c:val>
            <c:numRef>
              <c:f>Sheet1!$B$2:$B$3</c:f>
              <c:numCache>
                <c:formatCode>General</c:formatCode>
                <c:ptCount val="2"/>
                <c:pt idx="0">
                  <c:v>42.5</c:v>
                </c:pt>
                <c:pt idx="1">
                  <c:v>57.5</c:v>
                </c:pt>
              </c:numCache>
            </c:numRef>
          </c:val>
          <c:extLst>
            <c:ext xmlns:c16="http://schemas.microsoft.com/office/drawing/2014/chart" uri="{C3380CC4-5D6E-409C-BE32-E72D297353CC}">
              <c16:uniqueId val="{00000004-29DA-42F5-8327-EBF8E0F07C1D}"/>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d15</c:v>
                </c:pt>
              </c:strCache>
            </c:strRef>
          </c:tx>
          <c:spPr>
            <a:solidFill>
              <a:schemeClr val="accent1"/>
            </a:solidFill>
            <a:ln w="9525" cap="flat">
              <a:solidFill>
                <a:srgbClr val="F9F9F9"/>
              </a:solidFill>
              <a:prstDash val="solid"/>
              <a:round/>
            </a:ln>
            <a:effectLst/>
          </c:spPr>
          <c:dPt>
            <c:idx val="0"/>
            <c:bubble3D val="0"/>
            <c:spPr>
              <a:solidFill>
                <a:srgbClr val="3E4C59"/>
              </a:solidFill>
              <a:effectLst/>
            </c:spPr>
            <c:extLst>
              <c:ext xmlns:c16="http://schemas.microsoft.com/office/drawing/2014/chart" uri="{C3380CC4-5D6E-409C-BE32-E72D297353CC}">
                <c16:uniqueId val="{00000001-4C0E-488F-B6E9-F569F40A0367}"/>
              </c:ext>
            </c:extLst>
          </c:dPt>
          <c:dPt>
            <c:idx val="1"/>
            <c:bubble3D val="0"/>
            <c:spPr>
              <a:solidFill>
                <a:srgbClr val="DDE1D9"/>
              </a:solidFill>
              <a:effectLst/>
            </c:spPr>
            <c:extLst>
              <c:ext xmlns:c16="http://schemas.microsoft.com/office/drawing/2014/chart" uri="{C3380CC4-5D6E-409C-BE32-E72D297353CC}">
                <c16:uniqueId val="{00000003-4C0E-488F-B6E9-F569F40A0367}"/>
              </c:ext>
            </c:extLst>
          </c:dPt>
          <c:cat>
            <c:strRef>
              <c:f>Sheet1!$A$2:$A$3</c:f>
              <c:strCache>
                <c:ptCount val="2"/>
                <c:pt idx="0">
                  <c:v>v</c:v>
                </c:pt>
                <c:pt idx="1">
                  <c:v>r</c:v>
                </c:pt>
              </c:strCache>
            </c:strRef>
          </c:cat>
          <c:val>
            <c:numRef>
              <c:f>Sheet1!$B$2:$B$3</c:f>
              <c:numCache>
                <c:formatCode>General</c:formatCode>
                <c:ptCount val="2"/>
                <c:pt idx="0">
                  <c:v>34.4</c:v>
                </c:pt>
                <c:pt idx="1">
                  <c:v>65.599999999999994</c:v>
                </c:pt>
              </c:numCache>
            </c:numRef>
          </c:val>
          <c:extLst>
            <c:ext xmlns:c16="http://schemas.microsoft.com/office/drawing/2014/chart" uri="{C3380CC4-5D6E-409C-BE32-E72D297353CC}">
              <c16:uniqueId val="{00000004-4C0E-488F-B6E9-F569F40A0367}"/>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8159042612683145E-3"/>
          <c:y val="1.8544935805991442E-2"/>
          <c:w val="0.98836819147746335"/>
          <c:h val="0.95756062767475036"/>
        </c:manualLayout>
      </c:layout>
      <c:barChart>
        <c:barDir val="col"/>
        <c:grouping val="stacked"/>
        <c:varyColors val="0"/>
        <c:ser>
          <c:idx val="0"/>
          <c:order val="0"/>
          <c:spPr>
            <a:noFill/>
            <a:ln>
              <a:noFill/>
            </a:ln>
          </c:spPr>
          <c:invertIfNegative val="0"/>
          <c:dPt>
            <c:idx val="0"/>
            <c:invertIfNegative val="0"/>
            <c:bubble3D val="0"/>
            <c:spPr>
              <a:solidFill>
                <a:srgbClr val="2972FF"/>
              </a:solidFill>
              <a:ln>
                <a:noFill/>
              </a:ln>
            </c:spPr>
            <c:extLst>
              <c:ext xmlns:c16="http://schemas.microsoft.com/office/drawing/2014/chart" uri="{C3380CC4-5D6E-409C-BE32-E72D297353CC}">
                <c16:uniqueId val="{00000000-D40F-42F1-968F-B8F0A59C1A80}"/>
              </c:ext>
            </c:extLst>
          </c:dPt>
          <c:dPt>
            <c:idx val="1"/>
            <c:invertIfNegative val="0"/>
            <c:bubble3D val="0"/>
            <c:spPr>
              <a:solidFill>
                <a:srgbClr val="599EFF"/>
              </a:solidFill>
              <a:ln>
                <a:noFill/>
              </a:ln>
            </c:spPr>
            <c:extLst>
              <c:ext xmlns:c16="http://schemas.microsoft.com/office/drawing/2014/chart" uri="{C3380CC4-5D6E-409C-BE32-E72D297353CC}">
                <c16:uniqueId val="{00000001-D40F-42F1-968F-B8F0A59C1A80}"/>
              </c:ext>
            </c:extLst>
          </c:dPt>
          <c:dPt>
            <c:idx val="5"/>
            <c:invertIfNegative val="0"/>
            <c:bubble3D val="0"/>
            <c:spPr>
              <a:solidFill>
                <a:schemeClr val="accent3"/>
              </a:solidFill>
              <a:ln>
                <a:noFill/>
              </a:ln>
            </c:spPr>
            <c:extLst>
              <c:ext xmlns:c16="http://schemas.microsoft.com/office/drawing/2014/chart" uri="{C3380CC4-5D6E-409C-BE32-E72D297353CC}">
                <c16:uniqueId val="{00000002-D40F-42F1-968F-B8F0A59C1A80}"/>
              </c:ext>
            </c:extLst>
          </c:dPt>
          <c:dPt>
            <c:idx val="6"/>
            <c:invertIfNegative val="0"/>
            <c:bubble3D val="0"/>
            <c:spPr>
              <a:solidFill>
                <a:schemeClr val="accent2"/>
              </a:solidFill>
              <a:ln>
                <a:noFill/>
              </a:ln>
            </c:spPr>
            <c:extLst>
              <c:ext xmlns:c16="http://schemas.microsoft.com/office/drawing/2014/chart" uri="{C3380CC4-5D6E-409C-BE32-E72D297353CC}">
                <c16:uniqueId val="{00000003-D40F-42F1-968F-B8F0A59C1A80}"/>
              </c:ext>
            </c:extLst>
          </c:dPt>
          <c:val>
            <c:numRef>
              <c:f>Sheet1!$A$1:$G$1</c:f>
              <c:numCache>
                <c:formatCode>General</c:formatCode>
                <c:ptCount val="7"/>
                <c:pt idx="0">
                  <c:v>1254321108.1700001</c:v>
                </c:pt>
                <c:pt idx="1">
                  <c:v>1102815583.6799901</c:v>
                </c:pt>
                <c:pt idx="2">
                  <c:v>751802195.53999007</c:v>
                </c:pt>
                <c:pt idx="3">
                  <c:v>489372873.30999005</c:v>
                </c:pt>
                <c:pt idx="4">
                  <c:v>393423448.18999004</c:v>
                </c:pt>
                <c:pt idx="5">
                  <c:v>393423448.18999004</c:v>
                </c:pt>
                <c:pt idx="6">
                  <c:v>89755186.439999998</c:v>
                </c:pt>
              </c:numCache>
            </c:numRef>
          </c:val>
          <c:extLst>
            <c:ext xmlns:c16="http://schemas.microsoft.com/office/drawing/2014/chart" uri="{C3380CC4-5D6E-409C-BE32-E72D297353CC}">
              <c16:uniqueId val="{00000004-D40F-42F1-968F-B8F0A59C1A80}"/>
            </c:ext>
          </c:extLst>
        </c:ser>
        <c:ser>
          <c:idx val="1"/>
          <c:order val="1"/>
          <c:spPr>
            <a:solidFill>
              <a:srgbClr val="A1A1A1"/>
            </a:solidFill>
            <a:ln>
              <a:noFill/>
            </a:ln>
          </c:spPr>
          <c:invertIfNegative val="0"/>
          <c:dPt>
            <c:idx val="4"/>
            <c:invertIfNegative val="0"/>
            <c:bubble3D val="0"/>
            <c:spPr>
              <a:solidFill>
                <a:srgbClr val="E9163C"/>
              </a:solidFill>
              <a:ln>
                <a:noFill/>
              </a:ln>
            </c:spPr>
            <c:extLst>
              <c:ext xmlns:c16="http://schemas.microsoft.com/office/drawing/2014/chart" uri="{C3380CC4-5D6E-409C-BE32-E72D297353CC}">
                <c16:uniqueId val="{00000005-D40F-42F1-968F-B8F0A59C1A80}"/>
              </c:ext>
            </c:extLst>
          </c:dPt>
          <c:dPt>
            <c:idx val="6"/>
            <c:invertIfNegative val="0"/>
            <c:bubble3D val="0"/>
            <c:spPr>
              <a:solidFill>
                <a:schemeClr val="accent6"/>
              </a:solidFill>
              <a:ln>
                <a:noFill/>
              </a:ln>
            </c:spPr>
            <c:extLst>
              <c:ext xmlns:c16="http://schemas.microsoft.com/office/drawing/2014/chart" uri="{C3380CC4-5D6E-409C-BE32-E72D297353CC}">
                <c16:uniqueId val="{00000006-D40F-42F1-968F-B8F0A59C1A80}"/>
              </c:ext>
            </c:extLst>
          </c:dPt>
          <c:val>
            <c:numRef>
              <c:f>Sheet1!$A$2:$G$2</c:f>
              <c:numCache>
                <c:formatCode>General</c:formatCode>
                <c:ptCount val="7"/>
                <c:pt idx="2">
                  <c:v>351013388.13999999</c:v>
                </c:pt>
                <c:pt idx="3">
                  <c:v>262429322.23000002</c:v>
                </c:pt>
                <c:pt idx="4">
                  <c:v>95949425.120000005</c:v>
                </c:pt>
                <c:pt idx="6">
                  <c:v>303668261.75</c:v>
                </c:pt>
              </c:numCache>
            </c:numRef>
          </c:val>
          <c:extLst>
            <c:ext xmlns:c16="http://schemas.microsoft.com/office/drawing/2014/chart" uri="{C3380CC4-5D6E-409C-BE32-E72D297353CC}">
              <c16:uniqueId val="{00000007-D40F-42F1-968F-B8F0A59C1A80}"/>
            </c:ext>
          </c:extLst>
        </c:ser>
        <c:dLbls>
          <c:showLegendKey val="0"/>
          <c:showVal val="0"/>
          <c:showCatName val="0"/>
          <c:showSerName val="0"/>
          <c:showPercent val="0"/>
          <c:showBubbleSize val="0"/>
        </c:dLbls>
        <c:gapWidth val="100"/>
        <c:overlap val="100"/>
        <c:axId val="1365709104"/>
        <c:axId val="1"/>
      </c:barChart>
      <c:catAx>
        <c:axId val="136570910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1254321108.1700001"/>
          <c:min val="-1.0132789611816406E-5"/>
        </c:scaling>
        <c:delete val="0"/>
        <c:axPos val="l"/>
        <c:majorGridlines>
          <c:spPr>
            <a:ln>
              <a:noFill/>
            </a:ln>
          </c:spPr>
        </c:majorGridlines>
        <c:numFmt formatCode="General" sourceLinked="1"/>
        <c:majorTickMark val="none"/>
        <c:minorTickMark val="none"/>
        <c:tickLblPos val="none"/>
        <c:spPr>
          <a:ln>
            <a:noFill/>
          </a:ln>
        </c:spPr>
        <c:crossAx val="1365709104"/>
        <c:crosses val="min"/>
        <c:crossBetween val="between"/>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1631-489C-B7AF-25BE074D7061}"/>
                </c:ext>
              </c:extLst>
            </c:dLbl>
            <c:dLbl>
              <c:idx val="2"/>
              <c:delete val="1"/>
              <c:extLst>
                <c:ext xmlns:c15="http://schemas.microsoft.com/office/drawing/2012/chart" uri="{CE6537A1-D6FC-4f65-9D91-7224C49458BB}"/>
                <c:ext xmlns:c16="http://schemas.microsoft.com/office/drawing/2014/chart" uri="{C3380CC4-5D6E-409C-BE32-E72D297353CC}">
                  <c16:uniqueId val="{00000001-1631-489C-B7AF-25BE074D7061}"/>
                </c:ext>
              </c:extLst>
            </c:dLbl>
            <c:dLbl>
              <c:idx val="3"/>
              <c:delete val="1"/>
              <c:extLst>
                <c:ext xmlns:c15="http://schemas.microsoft.com/office/drawing/2012/chart" uri="{CE6537A1-D6FC-4f65-9D91-7224C49458BB}"/>
                <c:ext xmlns:c16="http://schemas.microsoft.com/office/drawing/2014/chart" uri="{C3380CC4-5D6E-409C-BE32-E72D297353CC}">
                  <c16:uniqueId val="{00000002-1631-489C-B7AF-25BE074D7061}"/>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3-1631-489C-B7AF-25BE074D7061}"/>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1631-489C-B7AF-25BE074D7061}"/>
                </c:ext>
              </c:extLst>
            </c:dLbl>
            <c:dLbl>
              <c:idx val="2"/>
              <c:delete val="1"/>
              <c:extLst>
                <c:ext xmlns:c15="http://schemas.microsoft.com/office/drawing/2012/chart" uri="{CE6537A1-D6FC-4f65-9D91-7224C49458BB}"/>
                <c:ext xmlns:c16="http://schemas.microsoft.com/office/drawing/2014/chart" uri="{C3380CC4-5D6E-409C-BE32-E72D297353CC}">
                  <c16:uniqueId val="{00000005-1631-489C-B7AF-25BE074D7061}"/>
                </c:ext>
              </c:extLst>
            </c:dLbl>
            <c:dLbl>
              <c:idx val="3"/>
              <c:delete val="1"/>
              <c:extLst>
                <c:ext xmlns:c15="http://schemas.microsoft.com/office/drawing/2012/chart" uri="{CE6537A1-D6FC-4f65-9D91-7224C49458BB}"/>
                <c:ext xmlns:c16="http://schemas.microsoft.com/office/drawing/2014/chart" uri="{C3380CC4-5D6E-409C-BE32-E72D297353CC}">
                  <c16:uniqueId val="{00000006-1631-489C-B7AF-25BE074D7061}"/>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7-1631-489C-B7AF-25BE074D706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54</c:v>
                </c:pt>
                <c:pt idx="1">
                  <c:v>62</c:v>
                </c:pt>
                <c:pt idx="2">
                  <c:v>55</c:v>
                </c:pt>
                <c:pt idx="3">
                  <c:v>40</c:v>
                </c:pt>
                <c:pt idx="4">
                  <c:v>22</c:v>
                </c:pt>
              </c:numCache>
            </c:numRef>
          </c:val>
          <c:extLst>
            <c:ext xmlns:c16="http://schemas.microsoft.com/office/drawing/2014/chart" uri="{C3380CC4-5D6E-409C-BE32-E72D297353CC}">
              <c16:uniqueId val="{00000000-EEA2-47A0-90D0-E587136AAF38}"/>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10</c:v>
                </c:pt>
                <c:pt idx="1">
                  <c:v>1</c:v>
                </c:pt>
                <c:pt idx="2">
                  <c:v>1</c:v>
                </c:pt>
                <c:pt idx="3">
                  <c:v>4</c:v>
                </c:pt>
                <c:pt idx="4">
                  <c:v>8</c:v>
                </c:pt>
              </c:numCache>
            </c:numRef>
          </c:val>
          <c:extLst>
            <c:ext xmlns:c16="http://schemas.microsoft.com/office/drawing/2014/chart" uri="{C3380CC4-5D6E-409C-BE32-E72D297353CC}">
              <c16:uniqueId val="{00000001-EEA2-47A0-90D0-E587136AAF38}"/>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c:v>
                </c:pt>
                <c:pt idx="1">
                  <c:v>3</c:v>
                </c:pt>
                <c:pt idx="2">
                  <c:v>4</c:v>
                </c:pt>
                <c:pt idx="3">
                  <c:v>4</c:v>
                </c:pt>
                <c:pt idx="4">
                  <c:v>3</c:v>
                </c:pt>
              </c:numCache>
            </c:numRef>
          </c:val>
          <c:extLst>
            <c:ext xmlns:c16="http://schemas.microsoft.com/office/drawing/2014/chart" uri="{C3380CC4-5D6E-409C-BE32-E72D297353CC}">
              <c16:uniqueId val="{00000002-EEA2-47A0-90D0-E587136AAF38}"/>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11</c:v>
                </c:pt>
                <c:pt idx="2">
                  <c:v>16</c:v>
                </c:pt>
                <c:pt idx="3">
                  <c:v>18</c:v>
                </c:pt>
                <c:pt idx="4">
                  <c:v>20</c:v>
                </c:pt>
              </c:numCache>
            </c:numRef>
          </c:val>
          <c:extLst>
            <c:ext xmlns:c16="http://schemas.microsoft.com/office/drawing/2014/chart" uri="{C3380CC4-5D6E-409C-BE32-E72D297353CC}">
              <c16:uniqueId val="{00000003-EEA2-47A0-90D0-E587136AAF38}"/>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79</c:v>
                </c:pt>
                <c:pt idx="1">
                  <c:v>77</c:v>
                </c:pt>
                <c:pt idx="2">
                  <c:v>76</c:v>
                </c:pt>
                <c:pt idx="3">
                  <c:v>66</c:v>
                </c:pt>
                <c:pt idx="4">
                  <c:v>53</c:v>
                </c:pt>
              </c:numCache>
            </c:numRef>
          </c:val>
          <c:smooth val="0"/>
          <c:extLst>
            <c:ext xmlns:c16="http://schemas.microsoft.com/office/drawing/2014/chart" uri="{C3380CC4-5D6E-409C-BE32-E72D297353CC}">
              <c16:uniqueId val="{00000004-EEA2-47A0-90D0-E587136AAF3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258B-4DFE-A85B-8C76FFA33945}"/>
                </c:ext>
              </c:extLst>
            </c:dLbl>
            <c:dLbl>
              <c:idx val="2"/>
              <c:delete val="1"/>
              <c:extLst>
                <c:ext xmlns:c15="http://schemas.microsoft.com/office/drawing/2012/chart" uri="{CE6537A1-D6FC-4f65-9D91-7224C49458BB}"/>
                <c:ext xmlns:c16="http://schemas.microsoft.com/office/drawing/2014/chart" uri="{C3380CC4-5D6E-409C-BE32-E72D297353CC}">
                  <c16:uniqueId val="{00000001-258B-4DFE-A85B-8C76FFA33945}"/>
                </c:ext>
              </c:extLst>
            </c:dLbl>
            <c:dLbl>
              <c:idx val="3"/>
              <c:delete val="1"/>
              <c:extLst>
                <c:ext xmlns:c15="http://schemas.microsoft.com/office/drawing/2012/chart" uri="{CE6537A1-D6FC-4f65-9D91-7224C49458BB}"/>
                <c:ext xmlns:c16="http://schemas.microsoft.com/office/drawing/2014/chart" uri="{C3380CC4-5D6E-409C-BE32-E72D297353CC}">
                  <c16:uniqueId val="{00000002-258B-4DFE-A85B-8C76FFA3394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3-258B-4DFE-A85B-8C76FFA33945}"/>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258B-4DFE-A85B-8C76FFA33945}"/>
                </c:ext>
              </c:extLst>
            </c:dLbl>
            <c:dLbl>
              <c:idx val="2"/>
              <c:delete val="1"/>
              <c:extLst>
                <c:ext xmlns:c15="http://schemas.microsoft.com/office/drawing/2012/chart" uri="{CE6537A1-D6FC-4f65-9D91-7224C49458BB}"/>
                <c:ext xmlns:c16="http://schemas.microsoft.com/office/drawing/2014/chart" uri="{C3380CC4-5D6E-409C-BE32-E72D297353CC}">
                  <c16:uniqueId val="{00000005-258B-4DFE-A85B-8C76FFA33945}"/>
                </c:ext>
              </c:extLst>
            </c:dLbl>
            <c:dLbl>
              <c:idx val="3"/>
              <c:delete val="1"/>
              <c:extLst>
                <c:ext xmlns:c15="http://schemas.microsoft.com/office/drawing/2012/chart" uri="{CE6537A1-D6FC-4f65-9D91-7224C49458BB}"/>
                <c:ext xmlns:c16="http://schemas.microsoft.com/office/drawing/2014/chart" uri="{C3380CC4-5D6E-409C-BE32-E72D297353CC}">
                  <c16:uniqueId val="{00000006-258B-4DFE-A85B-8C76FFA3394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7-258B-4DFE-A85B-8C76FFA3394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37</c:v>
                </c:pt>
                <c:pt idx="1">
                  <c:v>30</c:v>
                </c:pt>
                <c:pt idx="2">
                  <c:v>29</c:v>
                </c:pt>
                <c:pt idx="3">
                  <c:v>25</c:v>
                </c:pt>
                <c:pt idx="4">
                  <c:v>16</c:v>
                </c:pt>
              </c:numCache>
            </c:numRef>
          </c:val>
          <c:extLst>
            <c:ext xmlns:c16="http://schemas.microsoft.com/office/drawing/2014/chart" uri="{C3380CC4-5D6E-409C-BE32-E72D297353CC}">
              <c16:uniqueId val="{00000000-5A8D-47F8-BEBF-B75E6A73A295}"/>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0</c:v>
                </c:pt>
                <c:pt idx="2">
                  <c:v>0</c:v>
                </c:pt>
                <c:pt idx="3">
                  <c:v>1</c:v>
                </c:pt>
                <c:pt idx="4">
                  <c:v>3</c:v>
                </c:pt>
              </c:numCache>
            </c:numRef>
          </c:val>
          <c:extLst>
            <c:ext xmlns:c16="http://schemas.microsoft.com/office/drawing/2014/chart" uri="{C3380CC4-5D6E-409C-BE32-E72D297353CC}">
              <c16:uniqueId val="{00000001-5A8D-47F8-BEBF-B75E6A73A295}"/>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c:v>
                </c:pt>
                <c:pt idx="1">
                  <c:v>1</c:v>
                </c:pt>
                <c:pt idx="2">
                  <c:v>1</c:v>
                </c:pt>
                <c:pt idx="3">
                  <c:v>1</c:v>
                </c:pt>
                <c:pt idx="4">
                  <c:v>0</c:v>
                </c:pt>
              </c:numCache>
            </c:numRef>
          </c:val>
          <c:extLst>
            <c:ext xmlns:c16="http://schemas.microsoft.com/office/drawing/2014/chart" uri="{C3380CC4-5D6E-409C-BE32-E72D297353CC}">
              <c16:uniqueId val="{00000002-5A8D-47F8-BEBF-B75E6A73A295}"/>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22</c:v>
                </c:pt>
                <c:pt idx="1">
                  <c:v>13</c:v>
                </c:pt>
                <c:pt idx="2">
                  <c:v>16</c:v>
                </c:pt>
                <c:pt idx="3">
                  <c:v>10</c:v>
                </c:pt>
                <c:pt idx="4">
                  <c:v>14</c:v>
                </c:pt>
              </c:numCache>
            </c:numRef>
          </c:val>
          <c:extLst>
            <c:ext xmlns:c16="http://schemas.microsoft.com/office/drawing/2014/chart" uri="{C3380CC4-5D6E-409C-BE32-E72D297353CC}">
              <c16:uniqueId val="{00000003-5A8D-47F8-BEBF-B75E6A73A295}"/>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61</c:v>
                </c:pt>
                <c:pt idx="1">
                  <c:v>44</c:v>
                </c:pt>
                <c:pt idx="2">
                  <c:v>46</c:v>
                </c:pt>
                <c:pt idx="3">
                  <c:v>37</c:v>
                </c:pt>
                <c:pt idx="4">
                  <c:v>33</c:v>
                </c:pt>
              </c:numCache>
            </c:numRef>
          </c:val>
          <c:smooth val="0"/>
          <c:extLst>
            <c:ext xmlns:c16="http://schemas.microsoft.com/office/drawing/2014/chart" uri="{C3380CC4-5D6E-409C-BE32-E72D297353CC}">
              <c16:uniqueId val="{00000004-5A8D-47F8-BEBF-B75E6A73A29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0312-4FEA-A11E-EF83045FC41B}"/>
                </c:ext>
              </c:extLst>
            </c:dLbl>
            <c:dLbl>
              <c:idx val="2"/>
              <c:delete val="1"/>
              <c:extLst>
                <c:ext xmlns:c15="http://schemas.microsoft.com/office/drawing/2012/chart" uri="{CE6537A1-D6FC-4f65-9D91-7224C49458BB}"/>
                <c:ext xmlns:c16="http://schemas.microsoft.com/office/drawing/2014/chart" uri="{C3380CC4-5D6E-409C-BE32-E72D297353CC}">
                  <c16:uniqueId val="{00000001-0312-4FEA-A11E-EF83045FC41B}"/>
                </c:ext>
              </c:extLst>
            </c:dLbl>
            <c:dLbl>
              <c:idx val="3"/>
              <c:delete val="1"/>
              <c:extLst>
                <c:ext xmlns:c15="http://schemas.microsoft.com/office/drawing/2012/chart" uri="{CE6537A1-D6FC-4f65-9D91-7224C49458BB}"/>
                <c:ext xmlns:c16="http://schemas.microsoft.com/office/drawing/2014/chart" uri="{C3380CC4-5D6E-409C-BE32-E72D297353CC}">
                  <c16:uniqueId val="{00000002-0312-4FEA-A11E-EF83045FC41B}"/>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3-0312-4FEA-A11E-EF83045FC41B}"/>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0312-4FEA-A11E-EF83045FC41B}"/>
                </c:ext>
              </c:extLst>
            </c:dLbl>
            <c:dLbl>
              <c:idx val="2"/>
              <c:delete val="1"/>
              <c:extLst>
                <c:ext xmlns:c15="http://schemas.microsoft.com/office/drawing/2012/chart" uri="{CE6537A1-D6FC-4f65-9D91-7224C49458BB}"/>
                <c:ext xmlns:c16="http://schemas.microsoft.com/office/drawing/2014/chart" uri="{C3380CC4-5D6E-409C-BE32-E72D297353CC}">
                  <c16:uniqueId val="{00000005-0312-4FEA-A11E-EF83045FC41B}"/>
                </c:ext>
              </c:extLst>
            </c:dLbl>
            <c:dLbl>
              <c:idx val="3"/>
              <c:delete val="1"/>
              <c:extLst>
                <c:ext xmlns:c15="http://schemas.microsoft.com/office/drawing/2012/chart" uri="{CE6537A1-D6FC-4f65-9D91-7224C49458BB}"/>
                <c:ext xmlns:c16="http://schemas.microsoft.com/office/drawing/2014/chart" uri="{C3380CC4-5D6E-409C-BE32-E72D297353CC}">
                  <c16:uniqueId val="{00000006-0312-4FEA-A11E-EF83045FC41B}"/>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7-0312-4FEA-A11E-EF83045FC41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47</c:v>
                </c:pt>
                <c:pt idx="1">
                  <c:v>49</c:v>
                </c:pt>
                <c:pt idx="2">
                  <c:v>43</c:v>
                </c:pt>
                <c:pt idx="3">
                  <c:v>40</c:v>
                </c:pt>
                <c:pt idx="4">
                  <c:v>23</c:v>
                </c:pt>
              </c:numCache>
            </c:numRef>
          </c:val>
          <c:extLst>
            <c:ext xmlns:c16="http://schemas.microsoft.com/office/drawing/2014/chart" uri="{C3380CC4-5D6E-409C-BE32-E72D297353CC}">
              <c16:uniqueId val="{00000000-8EE1-488F-BED9-F2A221564142}"/>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3</c:v>
                </c:pt>
                <c:pt idx="2">
                  <c:v>1</c:v>
                </c:pt>
                <c:pt idx="3">
                  <c:v>3</c:v>
                </c:pt>
                <c:pt idx="4">
                  <c:v>4</c:v>
                </c:pt>
              </c:numCache>
            </c:numRef>
          </c:val>
          <c:extLst>
            <c:ext xmlns:c16="http://schemas.microsoft.com/office/drawing/2014/chart" uri="{C3380CC4-5D6E-409C-BE32-E72D297353CC}">
              <c16:uniqueId val="{00000001-8EE1-488F-BED9-F2A221564142}"/>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5</c:v>
                </c:pt>
                <c:pt idx="1">
                  <c:v>5</c:v>
                </c:pt>
                <c:pt idx="2">
                  <c:v>4</c:v>
                </c:pt>
                <c:pt idx="3">
                  <c:v>6</c:v>
                </c:pt>
                <c:pt idx="4">
                  <c:v>3</c:v>
                </c:pt>
              </c:numCache>
            </c:numRef>
          </c:val>
          <c:extLst>
            <c:ext xmlns:c16="http://schemas.microsoft.com/office/drawing/2014/chart" uri="{C3380CC4-5D6E-409C-BE32-E72D297353CC}">
              <c16:uniqueId val="{00000002-8EE1-488F-BED9-F2A221564142}"/>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16</c:v>
                </c:pt>
                <c:pt idx="1">
                  <c:v>14</c:v>
                </c:pt>
                <c:pt idx="2">
                  <c:v>14</c:v>
                </c:pt>
                <c:pt idx="3">
                  <c:v>16</c:v>
                </c:pt>
                <c:pt idx="4">
                  <c:v>14</c:v>
                </c:pt>
              </c:numCache>
            </c:numRef>
          </c:val>
          <c:extLst>
            <c:ext xmlns:c16="http://schemas.microsoft.com/office/drawing/2014/chart" uri="{C3380CC4-5D6E-409C-BE32-E72D297353CC}">
              <c16:uniqueId val="{00000003-8EE1-488F-BED9-F2A221564142}"/>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72</c:v>
                </c:pt>
                <c:pt idx="1">
                  <c:v>71</c:v>
                </c:pt>
                <c:pt idx="2">
                  <c:v>62</c:v>
                </c:pt>
                <c:pt idx="3">
                  <c:v>65</c:v>
                </c:pt>
                <c:pt idx="4">
                  <c:v>44</c:v>
                </c:pt>
              </c:numCache>
            </c:numRef>
          </c:val>
          <c:smooth val="0"/>
          <c:extLst>
            <c:ext xmlns:c16="http://schemas.microsoft.com/office/drawing/2014/chart" uri="{C3380CC4-5D6E-409C-BE32-E72D297353CC}">
              <c16:uniqueId val="{00000004-8EE1-488F-BED9-F2A22156414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83C6-406D-9780-39914F8C5C19}"/>
                </c:ext>
              </c:extLst>
            </c:dLbl>
            <c:dLbl>
              <c:idx val="2"/>
              <c:delete val="1"/>
              <c:extLst>
                <c:ext xmlns:c15="http://schemas.microsoft.com/office/drawing/2012/chart" uri="{CE6537A1-D6FC-4f65-9D91-7224C49458BB}"/>
                <c:ext xmlns:c16="http://schemas.microsoft.com/office/drawing/2014/chart" uri="{C3380CC4-5D6E-409C-BE32-E72D297353CC}">
                  <c16:uniqueId val="{00000001-83C6-406D-9780-39914F8C5C19}"/>
                </c:ext>
              </c:extLst>
            </c:dLbl>
            <c:dLbl>
              <c:idx val="3"/>
              <c:delete val="1"/>
              <c:extLst>
                <c:ext xmlns:c15="http://schemas.microsoft.com/office/drawing/2012/chart" uri="{CE6537A1-D6FC-4f65-9D91-7224C49458BB}"/>
                <c:ext xmlns:c16="http://schemas.microsoft.com/office/drawing/2014/chart" uri="{C3380CC4-5D6E-409C-BE32-E72D297353CC}">
                  <c16:uniqueId val="{00000002-83C6-406D-9780-39914F8C5C19}"/>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3-83C6-406D-9780-39914F8C5C19}"/>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83C6-406D-9780-39914F8C5C19}"/>
                </c:ext>
              </c:extLst>
            </c:dLbl>
            <c:dLbl>
              <c:idx val="2"/>
              <c:delete val="1"/>
              <c:extLst>
                <c:ext xmlns:c15="http://schemas.microsoft.com/office/drawing/2012/chart" uri="{CE6537A1-D6FC-4f65-9D91-7224C49458BB}"/>
                <c:ext xmlns:c16="http://schemas.microsoft.com/office/drawing/2014/chart" uri="{C3380CC4-5D6E-409C-BE32-E72D297353CC}">
                  <c16:uniqueId val="{00000005-83C6-406D-9780-39914F8C5C19}"/>
                </c:ext>
              </c:extLst>
            </c:dLbl>
            <c:dLbl>
              <c:idx val="3"/>
              <c:delete val="1"/>
              <c:extLst>
                <c:ext xmlns:c15="http://schemas.microsoft.com/office/drawing/2012/chart" uri="{CE6537A1-D6FC-4f65-9D91-7224C49458BB}"/>
                <c:ext xmlns:c16="http://schemas.microsoft.com/office/drawing/2014/chart" uri="{C3380CC4-5D6E-409C-BE32-E72D297353CC}">
                  <c16:uniqueId val="{00000006-83C6-406D-9780-39914F8C5C19}"/>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7-83C6-406D-9780-39914F8C5C1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31</c:v>
                </c:pt>
                <c:pt idx="1">
                  <c:v>29</c:v>
                </c:pt>
                <c:pt idx="2">
                  <c:v>23</c:v>
                </c:pt>
                <c:pt idx="3">
                  <c:v>17</c:v>
                </c:pt>
                <c:pt idx="4">
                  <c:v>11</c:v>
                </c:pt>
              </c:numCache>
            </c:numRef>
          </c:val>
          <c:extLst>
            <c:ext xmlns:c16="http://schemas.microsoft.com/office/drawing/2014/chart" uri="{C3380CC4-5D6E-409C-BE32-E72D297353CC}">
              <c16:uniqueId val="{00000000-E31F-4B30-9DB4-5765FBE4E75A}"/>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1</c:v>
                </c:pt>
                <c:pt idx="2">
                  <c:v>1</c:v>
                </c:pt>
                <c:pt idx="3">
                  <c:v>1</c:v>
                </c:pt>
                <c:pt idx="4">
                  <c:v>4</c:v>
                </c:pt>
              </c:numCache>
            </c:numRef>
          </c:val>
          <c:extLst>
            <c:ext xmlns:c16="http://schemas.microsoft.com/office/drawing/2014/chart" uri="{C3380CC4-5D6E-409C-BE32-E72D297353CC}">
              <c16:uniqueId val="{00000001-E31F-4B30-9DB4-5765FBE4E75A}"/>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c:v>
                </c:pt>
                <c:pt idx="1">
                  <c:v>2</c:v>
                </c:pt>
                <c:pt idx="2">
                  <c:v>1</c:v>
                </c:pt>
                <c:pt idx="3">
                  <c:v>1</c:v>
                </c:pt>
                <c:pt idx="4">
                  <c:v>0</c:v>
                </c:pt>
              </c:numCache>
            </c:numRef>
          </c:val>
          <c:extLst>
            <c:ext xmlns:c16="http://schemas.microsoft.com/office/drawing/2014/chart" uri="{C3380CC4-5D6E-409C-BE32-E72D297353CC}">
              <c16:uniqueId val="{00000002-E31F-4B30-9DB4-5765FBE4E75A}"/>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22</c:v>
                </c:pt>
                <c:pt idx="1">
                  <c:v>17</c:v>
                </c:pt>
                <c:pt idx="2">
                  <c:v>14</c:v>
                </c:pt>
                <c:pt idx="3">
                  <c:v>16</c:v>
                </c:pt>
                <c:pt idx="4">
                  <c:v>15</c:v>
                </c:pt>
              </c:numCache>
            </c:numRef>
          </c:val>
          <c:extLst>
            <c:ext xmlns:c16="http://schemas.microsoft.com/office/drawing/2014/chart" uri="{C3380CC4-5D6E-409C-BE32-E72D297353CC}">
              <c16:uniqueId val="{00000003-E31F-4B30-9DB4-5765FBE4E75A}"/>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58</c:v>
                </c:pt>
                <c:pt idx="1">
                  <c:v>49</c:v>
                </c:pt>
                <c:pt idx="2">
                  <c:v>39</c:v>
                </c:pt>
                <c:pt idx="3">
                  <c:v>35</c:v>
                </c:pt>
                <c:pt idx="4">
                  <c:v>30</c:v>
                </c:pt>
              </c:numCache>
            </c:numRef>
          </c:val>
          <c:smooth val="0"/>
          <c:extLst>
            <c:ext xmlns:c16="http://schemas.microsoft.com/office/drawing/2014/chart" uri="{C3380CC4-5D6E-409C-BE32-E72D297353CC}">
              <c16:uniqueId val="{00000004-E31F-4B30-9DB4-5765FBE4E75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3408-4D2F-B501-84F7270F4855}"/>
                </c:ext>
              </c:extLst>
            </c:dLbl>
            <c:dLbl>
              <c:idx val="2"/>
              <c:delete val="1"/>
              <c:extLst>
                <c:ext xmlns:c15="http://schemas.microsoft.com/office/drawing/2012/chart" uri="{CE6537A1-D6FC-4f65-9D91-7224C49458BB}"/>
                <c:ext xmlns:c16="http://schemas.microsoft.com/office/drawing/2014/chart" uri="{C3380CC4-5D6E-409C-BE32-E72D297353CC}">
                  <c16:uniqueId val="{00000001-3408-4D2F-B501-84F7270F4855}"/>
                </c:ext>
              </c:extLst>
            </c:dLbl>
            <c:dLbl>
              <c:idx val="3"/>
              <c:delete val="1"/>
              <c:extLst>
                <c:ext xmlns:c15="http://schemas.microsoft.com/office/drawing/2012/chart" uri="{CE6537A1-D6FC-4f65-9D91-7224C49458BB}"/>
                <c:ext xmlns:c16="http://schemas.microsoft.com/office/drawing/2014/chart" uri="{C3380CC4-5D6E-409C-BE32-E72D297353CC}">
                  <c16:uniqueId val="{00000002-3408-4D2F-B501-84F7270F485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3-3408-4D2F-B501-84F7270F4855}"/>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3408-4D2F-B501-84F7270F4855}"/>
                </c:ext>
              </c:extLst>
            </c:dLbl>
            <c:dLbl>
              <c:idx val="2"/>
              <c:delete val="1"/>
              <c:extLst>
                <c:ext xmlns:c15="http://schemas.microsoft.com/office/drawing/2012/chart" uri="{CE6537A1-D6FC-4f65-9D91-7224C49458BB}"/>
                <c:ext xmlns:c16="http://schemas.microsoft.com/office/drawing/2014/chart" uri="{C3380CC4-5D6E-409C-BE32-E72D297353CC}">
                  <c16:uniqueId val="{00000005-3408-4D2F-B501-84F7270F4855}"/>
                </c:ext>
              </c:extLst>
            </c:dLbl>
            <c:dLbl>
              <c:idx val="3"/>
              <c:delete val="1"/>
              <c:extLst>
                <c:ext xmlns:c15="http://schemas.microsoft.com/office/drawing/2012/chart" uri="{CE6537A1-D6FC-4f65-9D91-7224C49458BB}"/>
                <c:ext xmlns:c16="http://schemas.microsoft.com/office/drawing/2014/chart" uri="{C3380CC4-5D6E-409C-BE32-E72D297353CC}">
                  <c16:uniqueId val="{00000006-3408-4D2F-B501-84F7270F485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7-3408-4D2F-B501-84F7270F485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35</c:v>
                </c:pt>
                <c:pt idx="1">
                  <c:v>34</c:v>
                </c:pt>
                <c:pt idx="2">
                  <c:v>31</c:v>
                </c:pt>
                <c:pt idx="3">
                  <c:v>25</c:v>
                </c:pt>
                <c:pt idx="4">
                  <c:v>18</c:v>
                </c:pt>
              </c:numCache>
            </c:numRef>
          </c:val>
          <c:extLst>
            <c:ext xmlns:c16="http://schemas.microsoft.com/office/drawing/2014/chart" uri="{C3380CC4-5D6E-409C-BE32-E72D297353CC}">
              <c16:uniqueId val="{00000000-C53F-4F1B-8FB1-354B75278819}"/>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c:v>
                </c:pt>
                <c:pt idx="1">
                  <c:v>1</c:v>
                </c:pt>
                <c:pt idx="2">
                  <c:v>0</c:v>
                </c:pt>
                <c:pt idx="3">
                  <c:v>1</c:v>
                </c:pt>
                <c:pt idx="4">
                  <c:v>2</c:v>
                </c:pt>
              </c:numCache>
            </c:numRef>
          </c:val>
          <c:extLst>
            <c:ext xmlns:c16="http://schemas.microsoft.com/office/drawing/2014/chart" uri="{C3380CC4-5D6E-409C-BE32-E72D297353CC}">
              <c16:uniqueId val="{00000001-C53F-4F1B-8FB1-354B75278819}"/>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5</c:v>
                </c:pt>
                <c:pt idx="2">
                  <c:v>5</c:v>
                </c:pt>
                <c:pt idx="3">
                  <c:v>3</c:v>
                </c:pt>
                <c:pt idx="4">
                  <c:v>2</c:v>
                </c:pt>
              </c:numCache>
            </c:numRef>
          </c:val>
          <c:extLst>
            <c:ext xmlns:c16="http://schemas.microsoft.com/office/drawing/2014/chart" uri="{C3380CC4-5D6E-409C-BE32-E72D297353CC}">
              <c16:uniqueId val="{00000002-C53F-4F1B-8FB1-354B75278819}"/>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18</c:v>
                </c:pt>
                <c:pt idx="1">
                  <c:v>14</c:v>
                </c:pt>
                <c:pt idx="2">
                  <c:v>16</c:v>
                </c:pt>
                <c:pt idx="3">
                  <c:v>19</c:v>
                </c:pt>
                <c:pt idx="4">
                  <c:v>13</c:v>
                </c:pt>
              </c:numCache>
            </c:numRef>
          </c:val>
          <c:extLst>
            <c:ext xmlns:c16="http://schemas.microsoft.com/office/drawing/2014/chart" uri="{C3380CC4-5D6E-409C-BE32-E72D297353CC}">
              <c16:uniqueId val="{00000003-C53F-4F1B-8FB1-354B75278819}"/>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60</c:v>
                </c:pt>
                <c:pt idx="1">
                  <c:v>54</c:v>
                </c:pt>
                <c:pt idx="2">
                  <c:v>52</c:v>
                </c:pt>
                <c:pt idx="3">
                  <c:v>48</c:v>
                </c:pt>
                <c:pt idx="4">
                  <c:v>35</c:v>
                </c:pt>
              </c:numCache>
            </c:numRef>
          </c:val>
          <c:smooth val="0"/>
          <c:extLst>
            <c:ext xmlns:c16="http://schemas.microsoft.com/office/drawing/2014/chart" uri="{C3380CC4-5D6E-409C-BE32-E72D297353CC}">
              <c16:uniqueId val="{00000004-C53F-4F1B-8FB1-354B7527881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14FD-46C3-BE58-322CA1169511}"/>
                </c:ext>
              </c:extLst>
            </c:dLbl>
            <c:dLbl>
              <c:idx val="2"/>
              <c:delete val="1"/>
              <c:extLst>
                <c:ext xmlns:c15="http://schemas.microsoft.com/office/drawing/2012/chart" uri="{CE6537A1-D6FC-4f65-9D91-7224C49458BB}"/>
                <c:ext xmlns:c16="http://schemas.microsoft.com/office/drawing/2014/chart" uri="{C3380CC4-5D6E-409C-BE32-E72D297353CC}">
                  <c16:uniqueId val="{00000001-14FD-46C3-BE58-322CA1169511}"/>
                </c:ext>
              </c:extLst>
            </c:dLbl>
            <c:dLbl>
              <c:idx val="3"/>
              <c:delete val="1"/>
              <c:extLst>
                <c:ext xmlns:c15="http://schemas.microsoft.com/office/drawing/2012/chart" uri="{CE6537A1-D6FC-4f65-9D91-7224C49458BB}"/>
                <c:ext xmlns:c16="http://schemas.microsoft.com/office/drawing/2014/chart" uri="{C3380CC4-5D6E-409C-BE32-E72D297353CC}">
                  <c16:uniqueId val="{00000002-14FD-46C3-BE58-322CA1169511}"/>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3-14FD-46C3-BE58-322CA1169511}"/>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14FD-46C3-BE58-322CA1169511}"/>
                </c:ext>
              </c:extLst>
            </c:dLbl>
            <c:dLbl>
              <c:idx val="2"/>
              <c:delete val="1"/>
              <c:extLst>
                <c:ext xmlns:c15="http://schemas.microsoft.com/office/drawing/2012/chart" uri="{CE6537A1-D6FC-4f65-9D91-7224C49458BB}"/>
                <c:ext xmlns:c16="http://schemas.microsoft.com/office/drawing/2014/chart" uri="{C3380CC4-5D6E-409C-BE32-E72D297353CC}">
                  <c16:uniqueId val="{00000005-14FD-46C3-BE58-322CA1169511}"/>
                </c:ext>
              </c:extLst>
            </c:dLbl>
            <c:dLbl>
              <c:idx val="3"/>
              <c:delete val="1"/>
              <c:extLst>
                <c:ext xmlns:c15="http://schemas.microsoft.com/office/drawing/2012/chart" uri="{CE6537A1-D6FC-4f65-9D91-7224C49458BB}"/>
                <c:ext xmlns:c16="http://schemas.microsoft.com/office/drawing/2014/chart" uri="{C3380CC4-5D6E-409C-BE32-E72D297353CC}">
                  <c16:uniqueId val="{00000006-14FD-46C3-BE58-322CA1169511}"/>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7-14FD-46C3-BE58-322CA116951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43</c:v>
                </c:pt>
                <c:pt idx="1">
                  <c:v>69</c:v>
                </c:pt>
                <c:pt idx="2">
                  <c:v>54</c:v>
                </c:pt>
                <c:pt idx="3">
                  <c:v>38</c:v>
                </c:pt>
                <c:pt idx="4">
                  <c:v>18</c:v>
                </c:pt>
              </c:numCache>
            </c:numRef>
          </c:val>
          <c:extLst>
            <c:ext xmlns:c16="http://schemas.microsoft.com/office/drawing/2014/chart" uri="{C3380CC4-5D6E-409C-BE32-E72D297353CC}">
              <c16:uniqueId val="{00000000-286C-4DF3-B8D6-40A4707B334F}"/>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c:v>
                </c:pt>
                <c:pt idx="1">
                  <c:v>1</c:v>
                </c:pt>
                <c:pt idx="2">
                  <c:v>1</c:v>
                </c:pt>
                <c:pt idx="3">
                  <c:v>4</c:v>
                </c:pt>
                <c:pt idx="4">
                  <c:v>6</c:v>
                </c:pt>
              </c:numCache>
            </c:numRef>
          </c:val>
          <c:extLst>
            <c:ext xmlns:c16="http://schemas.microsoft.com/office/drawing/2014/chart" uri="{C3380CC4-5D6E-409C-BE32-E72D297353CC}">
              <c16:uniqueId val="{00000001-286C-4DF3-B8D6-40A4707B334F}"/>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26</c:v>
                </c:pt>
                <c:pt idx="1">
                  <c:v>17</c:v>
                </c:pt>
                <c:pt idx="2">
                  <c:v>17</c:v>
                </c:pt>
                <c:pt idx="3">
                  <c:v>13</c:v>
                </c:pt>
                <c:pt idx="4">
                  <c:v>12</c:v>
                </c:pt>
              </c:numCache>
            </c:numRef>
          </c:val>
          <c:extLst>
            <c:ext xmlns:c16="http://schemas.microsoft.com/office/drawing/2014/chart" uri="{C3380CC4-5D6E-409C-BE32-E72D297353CC}">
              <c16:uniqueId val="{00000002-286C-4DF3-B8D6-40A4707B334F}"/>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4</c:v>
                </c:pt>
                <c:pt idx="2">
                  <c:v>8</c:v>
                </c:pt>
                <c:pt idx="3">
                  <c:v>21</c:v>
                </c:pt>
                <c:pt idx="4">
                  <c:v>30</c:v>
                </c:pt>
              </c:numCache>
            </c:numRef>
          </c:val>
          <c:extLst>
            <c:ext xmlns:c16="http://schemas.microsoft.com/office/drawing/2014/chart" uri="{C3380CC4-5D6E-409C-BE32-E72D297353CC}">
              <c16:uniqueId val="{00000003-286C-4DF3-B8D6-40A4707B334F}"/>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84</c:v>
                </c:pt>
                <c:pt idx="1">
                  <c:v>91</c:v>
                </c:pt>
                <c:pt idx="2">
                  <c:v>80</c:v>
                </c:pt>
                <c:pt idx="3">
                  <c:v>76</c:v>
                </c:pt>
                <c:pt idx="4">
                  <c:v>66</c:v>
                </c:pt>
              </c:numCache>
            </c:numRef>
          </c:val>
          <c:smooth val="0"/>
          <c:extLst>
            <c:ext xmlns:c16="http://schemas.microsoft.com/office/drawing/2014/chart" uri="{C3380CC4-5D6E-409C-BE32-E72D297353CC}">
              <c16:uniqueId val="{00000004-286C-4DF3-B8D6-40A4707B334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5228-418A-A719-43577AC759E3}"/>
                </c:ext>
              </c:extLst>
            </c:dLbl>
            <c:dLbl>
              <c:idx val="2"/>
              <c:delete val="1"/>
              <c:extLst>
                <c:ext xmlns:c15="http://schemas.microsoft.com/office/drawing/2012/chart" uri="{CE6537A1-D6FC-4f65-9D91-7224C49458BB}"/>
                <c:ext xmlns:c16="http://schemas.microsoft.com/office/drawing/2014/chart" uri="{C3380CC4-5D6E-409C-BE32-E72D297353CC}">
                  <c16:uniqueId val="{00000001-5228-418A-A719-43577AC759E3}"/>
                </c:ext>
              </c:extLst>
            </c:dLbl>
            <c:dLbl>
              <c:idx val="3"/>
              <c:delete val="1"/>
              <c:extLst>
                <c:ext xmlns:c15="http://schemas.microsoft.com/office/drawing/2012/chart" uri="{CE6537A1-D6FC-4f65-9D91-7224C49458BB}"/>
                <c:ext xmlns:c16="http://schemas.microsoft.com/office/drawing/2014/chart" uri="{C3380CC4-5D6E-409C-BE32-E72D297353CC}">
                  <c16:uniqueId val="{00000002-5228-418A-A719-43577AC759E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3-5228-418A-A719-43577AC759E3}"/>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5228-418A-A719-43577AC759E3}"/>
                </c:ext>
              </c:extLst>
            </c:dLbl>
            <c:dLbl>
              <c:idx val="2"/>
              <c:delete val="1"/>
              <c:extLst>
                <c:ext xmlns:c15="http://schemas.microsoft.com/office/drawing/2012/chart" uri="{CE6537A1-D6FC-4f65-9D91-7224C49458BB}"/>
                <c:ext xmlns:c16="http://schemas.microsoft.com/office/drawing/2014/chart" uri="{C3380CC4-5D6E-409C-BE32-E72D297353CC}">
                  <c16:uniqueId val="{00000005-5228-418A-A719-43577AC759E3}"/>
                </c:ext>
              </c:extLst>
            </c:dLbl>
            <c:dLbl>
              <c:idx val="3"/>
              <c:delete val="1"/>
              <c:extLst>
                <c:ext xmlns:c15="http://schemas.microsoft.com/office/drawing/2012/chart" uri="{CE6537A1-D6FC-4f65-9D91-7224C49458BB}"/>
                <c:ext xmlns:c16="http://schemas.microsoft.com/office/drawing/2014/chart" uri="{C3380CC4-5D6E-409C-BE32-E72D297353CC}">
                  <c16:uniqueId val="{00000006-5228-418A-A719-43577AC759E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7-5228-418A-A719-43577AC759E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59</c:v>
                </c:pt>
                <c:pt idx="1">
                  <c:v>59</c:v>
                </c:pt>
                <c:pt idx="2">
                  <c:v>48</c:v>
                </c:pt>
                <c:pt idx="3">
                  <c:v>39</c:v>
                </c:pt>
                <c:pt idx="4">
                  <c:v>23</c:v>
                </c:pt>
              </c:numCache>
            </c:numRef>
          </c:val>
          <c:extLst>
            <c:ext xmlns:c16="http://schemas.microsoft.com/office/drawing/2014/chart" uri="{C3380CC4-5D6E-409C-BE32-E72D297353CC}">
              <c16:uniqueId val="{00000000-A9DC-41FF-8659-2C5201B0BE4A}"/>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12</c:v>
                </c:pt>
                <c:pt idx="1">
                  <c:v>1</c:v>
                </c:pt>
                <c:pt idx="2">
                  <c:v>4</c:v>
                </c:pt>
                <c:pt idx="3">
                  <c:v>5</c:v>
                </c:pt>
                <c:pt idx="4">
                  <c:v>8</c:v>
                </c:pt>
              </c:numCache>
            </c:numRef>
          </c:val>
          <c:extLst>
            <c:ext xmlns:c16="http://schemas.microsoft.com/office/drawing/2014/chart" uri="{C3380CC4-5D6E-409C-BE32-E72D297353CC}">
              <c16:uniqueId val="{00000001-A9DC-41FF-8659-2C5201B0BE4A}"/>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9</c:v>
                </c:pt>
                <c:pt idx="2">
                  <c:v>8</c:v>
                </c:pt>
                <c:pt idx="3">
                  <c:v>8</c:v>
                </c:pt>
                <c:pt idx="4">
                  <c:v>5</c:v>
                </c:pt>
              </c:numCache>
            </c:numRef>
          </c:val>
          <c:extLst>
            <c:ext xmlns:c16="http://schemas.microsoft.com/office/drawing/2014/chart" uri="{C3380CC4-5D6E-409C-BE32-E72D297353CC}">
              <c16:uniqueId val="{00000002-A9DC-41FF-8659-2C5201B0BE4A}"/>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c:v>
                </c:pt>
                <c:pt idx="1">
                  <c:v>10</c:v>
                </c:pt>
                <c:pt idx="2">
                  <c:v>15</c:v>
                </c:pt>
                <c:pt idx="3">
                  <c:v>20</c:v>
                </c:pt>
                <c:pt idx="4">
                  <c:v>21</c:v>
                </c:pt>
              </c:numCache>
            </c:numRef>
          </c:val>
          <c:extLst>
            <c:ext xmlns:c16="http://schemas.microsoft.com/office/drawing/2014/chart" uri="{C3380CC4-5D6E-409C-BE32-E72D297353CC}">
              <c16:uniqueId val="{00000003-A9DC-41FF-8659-2C5201B0BE4A}"/>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86</c:v>
                </c:pt>
                <c:pt idx="1">
                  <c:v>79</c:v>
                </c:pt>
                <c:pt idx="2">
                  <c:v>75</c:v>
                </c:pt>
                <c:pt idx="3">
                  <c:v>72</c:v>
                </c:pt>
                <c:pt idx="4">
                  <c:v>57</c:v>
                </c:pt>
              </c:numCache>
            </c:numRef>
          </c:val>
          <c:smooth val="0"/>
          <c:extLst>
            <c:ext xmlns:c16="http://schemas.microsoft.com/office/drawing/2014/chart" uri="{C3380CC4-5D6E-409C-BE32-E72D297353CC}">
              <c16:uniqueId val="{00000004-A9DC-41FF-8659-2C5201B0BE4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3E74-4AF7-A4DB-C9EA1EC83AB3}"/>
                </c:ext>
              </c:extLst>
            </c:dLbl>
            <c:dLbl>
              <c:idx val="2"/>
              <c:delete val="1"/>
              <c:extLst>
                <c:ext xmlns:c15="http://schemas.microsoft.com/office/drawing/2012/chart" uri="{CE6537A1-D6FC-4f65-9D91-7224C49458BB}"/>
                <c:ext xmlns:c16="http://schemas.microsoft.com/office/drawing/2014/chart" uri="{C3380CC4-5D6E-409C-BE32-E72D297353CC}">
                  <c16:uniqueId val="{00000001-3E74-4AF7-A4DB-C9EA1EC83AB3}"/>
                </c:ext>
              </c:extLst>
            </c:dLbl>
            <c:dLbl>
              <c:idx val="3"/>
              <c:delete val="1"/>
              <c:extLst>
                <c:ext xmlns:c15="http://schemas.microsoft.com/office/drawing/2012/chart" uri="{CE6537A1-D6FC-4f65-9D91-7224C49458BB}"/>
                <c:ext xmlns:c16="http://schemas.microsoft.com/office/drawing/2014/chart" uri="{C3380CC4-5D6E-409C-BE32-E72D297353CC}">
                  <c16:uniqueId val="{00000002-3E74-4AF7-A4DB-C9EA1EC83AB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3-3E74-4AF7-A4DB-C9EA1EC83AB3}"/>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3E74-4AF7-A4DB-C9EA1EC83AB3}"/>
                </c:ext>
              </c:extLst>
            </c:dLbl>
            <c:dLbl>
              <c:idx val="2"/>
              <c:delete val="1"/>
              <c:extLst>
                <c:ext xmlns:c15="http://schemas.microsoft.com/office/drawing/2012/chart" uri="{CE6537A1-D6FC-4f65-9D91-7224C49458BB}"/>
                <c:ext xmlns:c16="http://schemas.microsoft.com/office/drawing/2014/chart" uri="{C3380CC4-5D6E-409C-BE32-E72D297353CC}">
                  <c16:uniqueId val="{00000005-3E74-4AF7-A4DB-C9EA1EC83AB3}"/>
                </c:ext>
              </c:extLst>
            </c:dLbl>
            <c:dLbl>
              <c:idx val="3"/>
              <c:delete val="1"/>
              <c:extLst>
                <c:ext xmlns:c15="http://schemas.microsoft.com/office/drawing/2012/chart" uri="{CE6537A1-D6FC-4f65-9D91-7224C49458BB}"/>
                <c:ext xmlns:c16="http://schemas.microsoft.com/office/drawing/2014/chart" uri="{C3380CC4-5D6E-409C-BE32-E72D297353CC}">
                  <c16:uniqueId val="{00000006-3E74-4AF7-A4DB-C9EA1EC83AB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7-3E74-4AF7-A4DB-C9EA1EC83AB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34</c:v>
                </c:pt>
                <c:pt idx="1">
                  <c:v>25</c:v>
                </c:pt>
                <c:pt idx="2">
                  <c:v>23</c:v>
                </c:pt>
                <c:pt idx="3">
                  <c:v>20</c:v>
                </c:pt>
                <c:pt idx="4">
                  <c:v>14</c:v>
                </c:pt>
              </c:numCache>
            </c:numRef>
          </c:val>
          <c:extLst>
            <c:ext xmlns:c16="http://schemas.microsoft.com/office/drawing/2014/chart" uri="{C3380CC4-5D6E-409C-BE32-E72D297353CC}">
              <c16:uniqueId val="{00000000-648E-4125-A12D-859BB8A7B20F}"/>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1</c:v>
                </c:pt>
                <c:pt idx="2">
                  <c:v>0</c:v>
                </c:pt>
                <c:pt idx="3">
                  <c:v>1</c:v>
                </c:pt>
                <c:pt idx="4">
                  <c:v>1</c:v>
                </c:pt>
              </c:numCache>
            </c:numRef>
          </c:val>
          <c:extLst>
            <c:ext xmlns:c16="http://schemas.microsoft.com/office/drawing/2014/chart" uri="{C3380CC4-5D6E-409C-BE32-E72D297353CC}">
              <c16:uniqueId val="{00000001-648E-4125-A12D-859BB8A7B20F}"/>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3</c:v>
                </c:pt>
                <c:pt idx="2">
                  <c:v>3</c:v>
                </c:pt>
                <c:pt idx="3">
                  <c:v>1</c:v>
                </c:pt>
                <c:pt idx="4">
                  <c:v>3</c:v>
                </c:pt>
              </c:numCache>
            </c:numRef>
          </c:val>
          <c:extLst>
            <c:ext xmlns:c16="http://schemas.microsoft.com/office/drawing/2014/chart" uri="{C3380CC4-5D6E-409C-BE32-E72D297353CC}">
              <c16:uniqueId val="{00000002-648E-4125-A12D-859BB8A7B20F}"/>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23</c:v>
                </c:pt>
                <c:pt idx="1">
                  <c:v>13</c:v>
                </c:pt>
                <c:pt idx="2">
                  <c:v>14</c:v>
                </c:pt>
                <c:pt idx="3">
                  <c:v>10</c:v>
                </c:pt>
                <c:pt idx="4">
                  <c:v>13</c:v>
                </c:pt>
              </c:numCache>
            </c:numRef>
          </c:val>
          <c:extLst>
            <c:ext xmlns:c16="http://schemas.microsoft.com/office/drawing/2014/chart" uri="{C3380CC4-5D6E-409C-BE32-E72D297353CC}">
              <c16:uniqueId val="{00000003-648E-4125-A12D-859BB8A7B20F}"/>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62</c:v>
                </c:pt>
                <c:pt idx="1">
                  <c:v>42</c:v>
                </c:pt>
                <c:pt idx="2">
                  <c:v>40</c:v>
                </c:pt>
                <c:pt idx="3">
                  <c:v>32</c:v>
                </c:pt>
                <c:pt idx="4">
                  <c:v>31</c:v>
                </c:pt>
              </c:numCache>
            </c:numRef>
          </c:val>
          <c:smooth val="0"/>
          <c:extLst>
            <c:ext xmlns:c16="http://schemas.microsoft.com/office/drawing/2014/chart" uri="{C3380CC4-5D6E-409C-BE32-E72D297353CC}">
              <c16:uniqueId val="{00000004-648E-4125-A12D-859BB8A7B20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8378-4024-AA6B-D41AD4108076}"/>
                </c:ext>
              </c:extLst>
            </c:dLbl>
            <c:dLbl>
              <c:idx val="2"/>
              <c:delete val="1"/>
              <c:extLst>
                <c:ext xmlns:c15="http://schemas.microsoft.com/office/drawing/2012/chart" uri="{CE6537A1-D6FC-4f65-9D91-7224C49458BB}"/>
                <c:ext xmlns:c16="http://schemas.microsoft.com/office/drawing/2014/chart" uri="{C3380CC4-5D6E-409C-BE32-E72D297353CC}">
                  <c16:uniqueId val="{00000001-8378-4024-AA6B-D41AD4108076}"/>
                </c:ext>
              </c:extLst>
            </c:dLbl>
            <c:dLbl>
              <c:idx val="3"/>
              <c:delete val="1"/>
              <c:extLst>
                <c:ext xmlns:c15="http://schemas.microsoft.com/office/drawing/2012/chart" uri="{CE6537A1-D6FC-4f65-9D91-7224C49458BB}"/>
                <c:ext xmlns:c16="http://schemas.microsoft.com/office/drawing/2014/chart" uri="{C3380CC4-5D6E-409C-BE32-E72D297353CC}">
                  <c16:uniqueId val="{00000002-8378-4024-AA6B-D41AD4108076}"/>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3-8378-4024-AA6B-D41AD4108076}"/>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8378-4024-AA6B-D41AD4108076}"/>
                </c:ext>
              </c:extLst>
            </c:dLbl>
            <c:dLbl>
              <c:idx val="2"/>
              <c:delete val="1"/>
              <c:extLst>
                <c:ext xmlns:c15="http://schemas.microsoft.com/office/drawing/2012/chart" uri="{CE6537A1-D6FC-4f65-9D91-7224C49458BB}"/>
                <c:ext xmlns:c16="http://schemas.microsoft.com/office/drawing/2014/chart" uri="{C3380CC4-5D6E-409C-BE32-E72D297353CC}">
                  <c16:uniqueId val="{00000005-8378-4024-AA6B-D41AD4108076}"/>
                </c:ext>
              </c:extLst>
            </c:dLbl>
            <c:dLbl>
              <c:idx val="3"/>
              <c:delete val="1"/>
              <c:extLst>
                <c:ext xmlns:c15="http://schemas.microsoft.com/office/drawing/2012/chart" uri="{CE6537A1-D6FC-4f65-9D91-7224C49458BB}"/>
                <c:ext xmlns:c16="http://schemas.microsoft.com/office/drawing/2014/chart" uri="{C3380CC4-5D6E-409C-BE32-E72D297353CC}">
                  <c16:uniqueId val="{00000006-8378-4024-AA6B-D41AD4108076}"/>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7-8378-4024-AA6B-D41AD410807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c:v>
                </c:pt>
                <c:pt idx="1">
                  <c:v>44</c:v>
                </c:pt>
                <c:pt idx="2">
                  <c:v>39</c:v>
                </c:pt>
                <c:pt idx="3">
                  <c:v>36</c:v>
                </c:pt>
                <c:pt idx="4">
                  <c:v>22</c:v>
                </c:pt>
              </c:numCache>
            </c:numRef>
          </c:val>
          <c:extLst>
            <c:ext xmlns:c16="http://schemas.microsoft.com/office/drawing/2014/chart" uri="{C3380CC4-5D6E-409C-BE32-E72D297353CC}">
              <c16:uniqueId val="{00000000-B547-4799-9DAF-743C261F4157}"/>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5</c:v>
                </c:pt>
                <c:pt idx="2">
                  <c:v>2</c:v>
                </c:pt>
                <c:pt idx="3">
                  <c:v>5</c:v>
                </c:pt>
                <c:pt idx="4">
                  <c:v>4</c:v>
                </c:pt>
              </c:numCache>
            </c:numRef>
          </c:val>
          <c:extLst>
            <c:ext xmlns:c16="http://schemas.microsoft.com/office/drawing/2014/chart" uri="{C3380CC4-5D6E-409C-BE32-E72D297353CC}">
              <c16:uniqueId val="{00000001-B547-4799-9DAF-743C261F4157}"/>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12</c:v>
                </c:pt>
                <c:pt idx="1">
                  <c:v>15</c:v>
                </c:pt>
                <c:pt idx="2">
                  <c:v>9</c:v>
                </c:pt>
                <c:pt idx="3">
                  <c:v>13</c:v>
                </c:pt>
                <c:pt idx="4">
                  <c:v>10</c:v>
                </c:pt>
              </c:numCache>
            </c:numRef>
          </c:val>
          <c:extLst>
            <c:ext xmlns:c16="http://schemas.microsoft.com/office/drawing/2014/chart" uri="{C3380CC4-5D6E-409C-BE32-E72D297353CC}">
              <c16:uniqueId val="{00000002-B547-4799-9DAF-743C261F4157}"/>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15</c:v>
                </c:pt>
                <c:pt idx="1">
                  <c:v>13</c:v>
                </c:pt>
                <c:pt idx="2">
                  <c:v>15</c:v>
                </c:pt>
                <c:pt idx="3">
                  <c:v>15</c:v>
                </c:pt>
                <c:pt idx="4">
                  <c:v>15</c:v>
                </c:pt>
              </c:numCache>
            </c:numRef>
          </c:val>
          <c:extLst>
            <c:ext xmlns:c16="http://schemas.microsoft.com/office/drawing/2014/chart" uri="{C3380CC4-5D6E-409C-BE32-E72D297353CC}">
              <c16:uniqueId val="{00000003-B547-4799-9DAF-743C261F4157}"/>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80</c:v>
                </c:pt>
                <c:pt idx="1">
                  <c:v>77</c:v>
                </c:pt>
                <c:pt idx="2">
                  <c:v>65</c:v>
                </c:pt>
                <c:pt idx="3">
                  <c:v>69</c:v>
                </c:pt>
                <c:pt idx="4">
                  <c:v>51</c:v>
                </c:pt>
              </c:numCache>
            </c:numRef>
          </c:val>
          <c:smooth val="0"/>
          <c:extLst>
            <c:ext xmlns:c16="http://schemas.microsoft.com/office/drawing/2014/chart" uri="{C3380CC4-5D6E-409C-BE32-E72D297353CC}">
              <c16:uniqueId val="{00000004-B547-4799-9DAF-743C261F415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8119-464B-B022-CC463DEBCD24}"/>
                </c:ext>
              </c:extLst>
            </c:dLbl>
            <c:dLbl>
              <c:idx val="2"/>
              <c:delete val="1"/>
              <c:extLst>
                <c:ext xmlns:c15="http://schemas.microsoft.com/office/drawing/2012/chart" uri="{CE6537A1-D6FC-4f65-9D91-7224C49458BB}"/>
                <c:ext xmlns:c16="http://schemas.microsoft.com/office/drawing/2014/chart" uri="{C3380CC4-5D6E-409C-BE32-E72D297353CC}">
                  <c16:uniqueId val="{00000001-8119-464B-B022-CC463DEBCD24}"/>
                </c:ext>
              </c:extLst>
            </c:dLbl>
            <c:dLbl>
              <c:idx val="3"/>
              <c:delete val="1"/>
              <c:extLst>
                <c:ext xmlns:c15="http://schemas.microsoft.com/office/drawing/2012/chart" uri="{CE6537A1-D6FC-4f65-9D91-7224C49458BB}"/>
                <c:ext xmlns:c16="http://schemas.microsoft.com/office/drawing/2014/chart" uri="{C3380CC4-5D6E-409C-BE32-E72D297353CC}">
                  <c16:uniqueId val="{00000002-8119-464B-B022-CC463DEBCD24}"/>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3-8119-464B-B022-CC463DEBCD24}"/>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8119-464B-B022-CC463DEBCD24}"/>
                </c:ext>
              </c:extLst>
            </c:dLbl>
            <c:dLbl>
              <c:idx val="2"/>
              <c:delete val="1"/>
              <c:extLst>
                <c:ext xmlns:c15="http://schemas.microsoft.com/office/drawing/2012/chart" uri="{CE6537A1-D6FC-4f65-9D91-7224C49458BB}"/>
                <c:ext xmlns:c16="http://schemas.microsoft.com/office/drawing/2014/chart" uri="{C3380CC4-5D6E-409C-BE32-E72D297353CC}">
                  <c16:uniqueId val="{00000005-8119-464B-B022-CC463DEBCD24}"/>
                </c:ext>
              </c:extLst>
            </c:dLbl>
            <c:dLbl>
              <c:idx val="3"/>
              <c:delete val="1"/>
              <c:extLst>
                <c:ext xmlns:c15="http://schemas.microsoft.com/office/drawing/2012/chart" uri="{CE6537A1-D6FC-4f65-9D91-7224C49458BB}"/>
                <c:ext xmlns:c16="http://schemas.microsoft.com/office/drawing/2014/chart" uri="{C3380CC4-5D6E-409C-BE32-E72D297353CC}">
                  <c16:uniqueId val="{00000006-8119-464B-B022-CC463DEBCD24}"/>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7-8119-464B-B022-CC463DEBCD2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37</c:v>
                </c:pt>
                <c:pt idx="1">
                  <c:v>30</c:v>
                </c:pt>
                <c:pt idx="2">
                  <c:v>24</c:v>
                </c:pt>
                <c:pt idx="3">
                  <c:v>17</c:v>
                </c:pt>
                <c:pt idx="4">
                  <c:v>12</c:v>
                </c:pt>
              </c:numCache>
            </c:numRef>
          </c:val>
          <c:extLst>
            <c:ext xmlns:c16="http://schemas.microsoft.com/office/drawing/2014/chart" uri="{C3380CC4-5D6E-409C-BE32-E72D297353CC}">
              <c16:uniqueId val="{00000000-B2A9-49F2-A406-FEFFA60C9B7D}"/>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2</c:v>
                </c:pt>
                <c:pt idx="2">
                  <c:v>1</c:v>
                </c:pt>
                <c:pt idx="3">
                  <c:v>3</c:v>
                </c:pt>
                <c:pt idx="4">
                  <c:v>3</c:v>
                </c:pt>
              </c:numCache>
            </c:numRef>
          </c:val>
          <c:extLst>
            <c:ext xmlns:c16="http://schemas.microsoft.com/office/drawing/2014/chart" uri="{C3380CC4-5D6E-409C-BE32-E72D297353CC}">
              <c16:uniqueId val="{00000001-B2A9-49F2-A406-FEFFA60C9B7D}"/>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7</c:v>
                </c:pt>
                <c:pt idx="2">
                  <c:v>5</c:v>
                </c:pt>
                <c:pt idx="3">
                  <c:v>3</c:v>
                </c:pt>
                <c:pt idx="4">
                  <c:v>4</c:v>
                </c:pt>
              </c:numCache>
            </c:numRef>
          </c:val>
          <c:extLst>
            <c:ext xmlns:c16="http://schemas.microsoft.com/office/drawing/2014/chart" uri="{C3380CC4-5D6E-409C-BE32-E72D297353CC}">
              <c16:uniqueId val="{00000002-B2A9-49F2-A406-FEFFA60C9B7D}"/>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21</c:v>
                </c:pt>
                <c:pt idx="1">
                  <c:v>18</c:v>
                </c:pt>
                <c:pt idx="2">
                  <c:v>15</c:v>
                </c:pt>
                <c:pt idx="3">
                  <c:v>18</c:v>
                </c:pt>
                <c:pt idx="4">
                  <c:v>17</c:v>
                </c:pt>
              </c:numCache>
            </c:numRef>
          </c:val>
          <c:extLst>
            <c:ext xmlns:c16="http://schemas.microsoft.com/office/drawing/2014/chart" uri="{C3380CC4-5D6E-409C-BE32-E72D297353CC}">
              <c16:uniqueId val="{00000003-B2A9-49F2-A406-FEFFA60C9B7D}"/>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66</c:v>
                </c:pt>
                <c:pt idx="1">
                  <c:v>57</c:v>
                </c:pt>
                <c:pt idx="2">
                  <c:v>45</c:v>
                </c:pt>
                <c:pt idx="3">
                  <c:v>41</c:v>
                </c:pt>
                <c:pt idx="4">
                  <c:v>36</c:v>
                </c:pt>
              </c:numCache>
            </c:numRef>
          </c:val>
          <c:smooth val="0"/>
          <c:extLst>
            <c:ext xmlns:c16="http://schemas.microsoft.com/office/drawing/2014/chart" uri="{C3380CC4-5D6E-409C-BE32-E72D297353CC}">
              <c16:uniqueId val="{00000004-B2A9-49F2-A406-FEFFA60C9B7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FF39-4B4F-A8BF-711E33861D68}"/>
                </c:ext>
              </c:extLst>
            </c:dLbl>
            <c:dLbl>
              <c:idx val="2"/>
              <c:delete val="1"/>
              <c:extLst>
                <c:ext xmlns:c15="http://schemas.microsoft.com/office/drawing/2012/chart" uri="{CE6537A1-D6FC-4f65-9D91-7224C49458BB}"/>
                <c:ext xmlns:c16="http://schemas.microsoft.com/office/drawing/2014/chart" uri="{C3380CC4-5D6E-409C-BE32-E72D297353CC}">
                  <c16:uniqueId val="{00000001-FF39-4B4F-A8BF-711E33861D68}"/>
                </c:ext>
              </c:extLst>
            </c:dLbl>
            <c:dLbl>
              <c:idx val="3"/>
              <c:delete val="1"/>
              <c:extLst>
                <c:ext xmlns:c15="http://schemas.microsoft.com/office/drawing/2012/chart" uri="{CE6537A1-D6FC-4f65-9D91-7224C49458BB}"/>
                <c:ext xmlns:c16="http://schemas.microsoft.com/office/drawing/2014/chart" uri="{C3380CC4-5D6E-409C-BE32-E72D297353CC}">
                  <c16:uniqueId val="{00000002-FF39-4B4F-A8BF-711E33861D68}"/>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3-FF39-4B4F-A8BF-711E33861D68}"/>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FF39-4B4F-A8BF-711E33861D68}"/>
                </c:ext>
              </c:extLst>
            </c:dLbl>
            <c:dLbl>
              <c:idx val="2"/>
              <c:delete val="1"/>
              <c:extLst>
                <c:ext xmlns:c15="http://schemas.microsoft.com/office/drawing/2012/chart" uri="{CE6537A1-D6FC-4f65-9D91-7224C49458BB}"/>
                <c:ext xmlns:c16="http://schemas.microsoft.com/office/drawing/2014/chart" uri="{C3380CC4-5D6E-409C-BE32-E72D297353CC}">
                  <c16:uniqueId val="{00000005-FF39-4B4F-A8BF-711E33861D68}"/>
                </c:ext>
              </c:extLst>
            </c:dLbl>
            <c:dLbl>
              <c:idx val="3"/>
              <c:delete val="1"/>
              <c:extLst>
                <c:ext xmlns:c15="http://schemas.microsoft.com/office/drawing/2012/chart" uri="{CE6537A1-D6FC-4f65-9D91-7224C49458BB}"/>
                <c:ext xmlns:c16="http://schemas.microsoft.com/office/drawing/2014/chart" uri="{C3380CC4-5D6E-409C-BE32-E72D297353CC}">
                  <c16:uniqueId val="{00000006-FF39-4B4F-A8BF-711E33861D68}"/>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7-FF39-4B4F-A8BF-711E33861D6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32</c:v>
                </c:pt>
                <c:pt idx="1">
                  <c:v>29</c:v>
                </c:pt>
                <c:pt idx="2">
                  <c:v>28</c:v>
                </c:pt>
                <c:pt idx="3">
                  <c:v>24</c:v>
                </c:pt>
                <c:pt idx="4">
                  <c:v>15</c:v>
                </c:pt>
              </c:numCache>
            </c:numRef>
          </c:val>
          <c:extLst>
            <c:ext xmlns:c16="http://schemas.microsoft.com/office/drawing/2014/chart" uri="{C3380CC4-5D6E-409C-BE32-E72D297353CC}">
              <c16:uniqueId val="{00000000-AFA0-4722-B860-7A979B17BAFB}"/>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c:v>
                </c:pt>
                <c:pt idx="1">
                  <c:v>1</c:v>
                </c:pt>
                <c:pt idx="2">
                  <c:v>0</c:v>
                </c:pt>
                <c:pt idx="3">
                  <c:v>2</c:v>
                </c:pt>
                <c:pt idx="4">
                  <c:v>2</c:v>
                </c:pt>
              </c:numCache>
            </c:numRef>
          </c:val>
          <c:extLst>
            <c:ext xmlns:c16="http://schemas.microsoft.com/office/drawing/2014/chart" uri="{C3380CC4-5D6E-409C-BE32-E72D297353CC}">
              <c16:uniqueId val="{00000001-AFA0-4722-B860-7A979B17BAFB}"/>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17</c:v>
                </c:pt>
                <c:pt idx="1">
                  <c:v>18</c:v>
                </c:pt>
                <c:pt idx="2">
                  <c:v>14</c:v>
                </c:pt>
                <c:pt idx="3">
                  <c:v>8</c:v>
                </c:pt>
                <c:pt idx="4">
                  <c:v>10</c:v>
                </c:pt>
              </c:numCache>
            </c:numRef>
          </c:val>
          <c:extLst>
            <c:ext xmlns:c16="http://schemas.microsoft.com/office/drawing/2014/chart" uri="{C3380CC4-5D6E-409C-BE32-E72D297353CC}">
              <c16:uniqueId val="{00000002-AFA0-4722-B860-7A979B17BAFB}"/>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16</c:v>
                </c:pt>
                <c:pt idx="1">
                  <c:v>14</c:v>
                </c:pt>
                <c:pt idx="2">
                  <c:v>17</c:v>
                </c:pt>
                <c:pt idx="3">
                  <c:v>21</c:v>
                </c:pt>
                <c:pt idx="4">
                  <c:v>14</c:v>
                </c:pt>
              </c:numCache>
            </c:numRef>
          </c:val>
          <c:extLst>
            <c:ext xmlns:c16="http://schemas.microsoft.com/office/drawing/2014/chart" uri="{C3380CC4-5D6E-409C-BE32-E72D297353CC}">
              <c16:uniqueId val="{00000003-AFA0-4722-B860-7A979B17BAFB}"/>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67</c:v>
                </c:pt>
                <c:pt idx="1">
                  <c:v>62</c:v>
                </c:pt>
                <c:pt idx="2">
                  <c:v>59</c:v>
                </c:pt>
                <c:pt idx="3">
                  <c:v>55</c:v>
                </c:pt>
                <c:pt idx="4">
                  <c:v>41</c:v>
                </c:pt>
              </c:numCache>
            </c:numRef>
          </c:val>
          <c:smooth val="0"/>
          <c:extLst>
            <c:ext xmlns:c16="http://schemas.microsoft.com/office/drawing/2014/chart" uri="{C3380CC4-5D6E-409C-BE32-E72D297353CC}">
              <c16:uniqueId val="{00000004-AFA0-4722-B860-7A979B17BAF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F813-45B1-B941-17660E8674C5}"/>
                </c:ext>
              </c:extLst>
            </c:dLbl>
            <c:dLbl>
              <c:idx val="2"/>
              <c:delete val="1"/>
              <c:extLst>
                <c:ext xmlns:c15="http://schemas.microsoft.com/office/drawing/2012/chart" uri="{CE6537A1-D6FC-4f65-9D91-7224C49458BB}"/>
                <c:ext xmlns:c16="http://schemas.microsoft.com/office/drawing/2014/chart" uri="{C3380CC4-5D6E-409C-BE32-E72D297353CC}">
                  <c16:uniqueId val="{00000001-F813-45B1-B941-17660E8674C5}"/>
                </c:ext>
              </c:extLst>
            </c:dLbl>
            <c:dLbl>
              <c:idx val="3"/>
              <c:delete val="1"/>
              <c:extLst>
                <c:ext xmlns:c15="http://schemas.microsoft.com/office/drawing/2012/chart" uri="{CE6537A1-D6FC-4f65-9D91-7224C49458BB}"/>
                <c:ext xmlns:c16="http://schemas.microsoft.com/office/drawing/2014/chart" uri="{C3380CC4-5D6E-409C-BE32-E72D297353CC}">
                  <c16:uniqueId val="{00000002-F813-45B1-B941-17660E8674C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3-F813-45B1-B941-17660E8674C5}"/>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F813-45B1-B941-17660E8674C5}"/>
                </c:ext>
              </c:extLst>
            </c:dLbl>
            <c:dLbl>
              <c:idx val="2"/>
              <c:delete val="1"/>
              <c:extLst>
                <c:ext xmlns:c15="http://schemas.microsoft.com/office/drawing/2012/chart" uri="{CE6537A1-D6FC-4f65-9D91-7224C49458BB}"/>
                <c:ext xmlns:c16="http://schemas.microsoft.com/office/drawing/2014/chart" uri="{C3380CC4-5D6E-409C-BE32-E72D297353CC}">
                  <c16:uniqueId val="{00000005-F813-45B1-B941-17660E8674C5}"/>
                </c:ext>
              </c:extLst>
            </c:dLbl>
            <c:dLbl>
              <c:idx val="3"/>
              <c:delete val="1"/>
              <c:extLst>
                <c:ext xmlns:c15="http://schemas.microsoft.com/office/drawing/2012/chart" uri="{CE6537A1-D6FC-4f65-9D91-7224C49458BB}"/>
                <c:ext xmlns:c16="http://schemas.microsoft.com/office/drawing/2014/chart" uri="{C3380CC4-5D6E-409C-BE32-E72D297353CC}">
                  <c16:uniqueId val="{00000006-F813-45B1-B941-17660E8674C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7-F813-45B1-B941-17660E8674C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28</c:v>
                </c:pt>
                <c:pt idx="1">
                  <c:v>57</c:v>
                </c:pt>
                <c:pt idx="2">
                  <c:v>38</c:v>
                </c:pt>
                <c:pt idx="3">
                  <c:v>31</c:v>
                </c:pt>
                <c:pt idx="4">
                  <c:v>15</c:v>
                </c:pt>
              </c:numCache>
            </c:numRef>
          </c:val>
          <c:extLst>
            <c:ext xmlns:c16="http://schemas.microsoft.com/office/drawing/2014/chart" uri="{C3380CC4-5D6E-409C-BE32-E72D297353CC}">
              <c16:uniqueId val="{00000000-ABF8-4C31-81DC-D25881787FCB}"/>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1</c:v>
                </c:pt>
                <c:pt idx="2">
                  <c:v>1</c:v>
                </c:pt>
                <c:pt idx="3">
                  <c:v>3</c:v>
                </c:pt>
                <c:pt idx="4">
                  <c:v>3</c:v>
                </c:pt>
              </c:numCache>
            </c:numRef>
          </c:val>
          <c:extLst>
            <c:ext xmlns:c16="http://schemas.microsoft.com/office/drawing/2014/chart" uri="{C3380CC4-5D6E-409C-BE32-E72D297353CC}">
              <c16:uniqueId val="{00000001-ABF8-4C31-81DC-D25881787FCB}"/>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44</c:v>
                </c:pt>
                <c:pt idx="1">
                  <c:v>29</c:v>
                </c:pt>
                <c:pt idx="2">
                  <c:v>31</c:v>
                </c:pt>
                <c:pt idx="3">
                  <c:v>23</c:v>
                </c:pt>
                <c:pt idx="4">
                  <c:v>22</c:v>
                </c:pt>
              </c:numCache>
            </c:numRef>
          </c:val>
          <c:extLst>
            <c:ext xmlns:c16="http://schemas.microsoft.com/office/drawing/2014/chart" uri="{C3380CC4-5D6E-409C-BE32-E72D297353CC}">
              <c16:uniqueId val="{00000002-ABF8-4C31-81DC-D25881787FCB}"/>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4</c:v>
                </c:pt>
                <c:pt idx="2">
                  <c:v>9</c:v>
                </c:pt>
                <c:pt idx="3">
                  <c:v>20</c:v>
                </c:pt>
                <c:pt idx="4">
                  <c:v>30</c:v>
                </c:pt>
              </c:numCache>
            </c:numRef>
          </c:val>
          <c:extLst>
            <c:ext xmlns:c16="http://schemas.microsoft.com/office/drawing/2014/chart" uri="{C3380CC4-5D6E-409C-BE32-E72D297353CC}">
              <c16:uniqueId val="{00000003-ABF8-4C31-81DC-D25881787FCB}"/>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86</c:v>
                </c:pt>
                <c:pt idx="1">
                  <c:v>91</c:v>
                </c:pt>
                <c:pt idx="2">
                  <c:v>79</c:v>
                </c:pt>
                <c:pt idx="3">
                  <c:v>77</c:v>
                </c:pt>
                <c:pt idx="4">
                  <c:v>70</c:v>
                </c:pt>
              </c:numCache>
            </c:numRef>
          </c:val>
          <c:smooth val="0"/>
          <c:extLst>
            <c:ext xmlns:c16="http://schemas.microsoft.com/office/drawing/2014/chart" uri="{C3380CC4-5D6E-409C-BE32-E72D297353CC}">
              <c16:uniqueId val="{00000004-ABF8-4C31-81DC-D25881787FC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3759-4EBF-B3D5-1B307DD3DCCD}"/>
                </c:ext>
              </c:extLst>
            </c:dLbl>
            <c:dLbl>
              <c:idx val="2"/>
              <c:delete val="1"/>
              <c:extLst>
                <c:ext xmlns:c15="http://schemas.microsoft.com/office/drawing/2012/chart" uri="{CE6537A1-D6FC-4f65-9D91-7224C49458BB}"/>
                <c:ext xmlns:c16="http://schemas.microsoft.com/office/drawing/2014/chart" uri="{C3380CC4-5D6E-409C-BE32-E72D297353CC}">
                  <c16:uniqueId val="{00000001-3759-4EBF-B3D5-1B307DD3DCCD}"/>
                </c:ext>
              </c:extLst>
            </c:dLbl>
            <c:dLbl>
              <c:idx val="3"/>
              <c:delete val="1"/>
              <c:extLst>
                <c:ext xmlns:c15="http://schemas.microsoft.com/office/drawing/2012/chart" uri="{CE6537A1-D6FC-4f65-9D91-7224C49458BB}"/>
                <c:ext xmlns:c16="http://schemas.microsoft.com/office/drawing/2014/chart" uri="{C3380CC4-5D6E-409C-BE32-E72D297353CC}">
                  <c16:uniqueId val="{00000002-3759-4EBF-B3D5-1B307DD3DCCD}"/>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3-3759-4EBF-B3D5-1B307DD3DCCD}"/>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3759-4EBF-B3D5-1B307DD3DCCD}"/>
                </c:ext>
              </c:extLst>
            </c:dLbl>
            <c:dLbl>
              <c:idx val="2"/>
              <c:delete val="1"/>
              <c:extLst>
                <c:ext xmlns:c15="http://schemas.microsoft.com/office/drawing/2012/chart" uri="{CE6537A1-D6FC-4f65-9D91-7224C49458BB}"/>
                <c:ext xmlns:c16="http://schemas.microsoft.com/office/drawing/2014/chart" uri="{C3380CC4-5D6E-409C-BE32-E72D297353CC}">
                  <c16:uniqueId val="{00000005-3759-4EBF-B3D5-1B307DD3DCCD}"/>
                </c:ext>
              </c:extLst>
            </c:dLbl>
            <c:dLbl>
              <c:idx val="3"/>
              <c:delete val="1"/>
              <c:extLst>
                <c:ext xmlns:c15="http://schemas.microsoft.com/office/drawing/2012/chart" uri="{CE6537A1-D6FC-4f65-9D91-7224C49458BB}"/>
                <c:ext xmlns:c16="http://schemas.microsoft.com/office/drawing/2014/chart" uri="{C3380CC4-5D6E-409C-BE32-E72D297353CC}">
                  <c16:uniqueId val="{00000006-3759-4EBF-B3D5-1B307DD3DCCD}"/>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7-3759-4EBF-B3D5-1B307DD3DCC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94</c:v>
                </c:pt>
                <c:pt idx="1">
                  <c:v>94</c:v>
                </c:pt>
                <c:pt idx="2">
                  <c:v>89</c:v>
                </c:pt>
                <c:pt idx="3">
                  <c:v>86</c:v>
                </c:pt>
                <c:pt idx="4">
                  <c:v>86</c:v>
                </c:pt>
              </c:numCache>
            </c:numRef>
          </c:val>
          <c:extLst>
            <c:ext xmlns:c16="http://schemas.microsoft.com/office/drawing/2014/chart" uri="{C3380CC4-5D6E-409C-BE32-E72D297353CC}">
              <c16:uniqueId val="{00000000-E8FE-48C0-8B81-04DBE0D271C0}"/>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1</c:v>
                </c:pt>
                <c:pt idx="4">
                  <c:v>3</c:v>
                </c:pt>
              </c:numCache>
            </c:numRef>
          </c:val>
          <c:extLst>
            <c:ext xmlns:c16="http://schemas.microsoft.com/office/drawing/2014/chart" uri="{C3380CC4-5D6E-409C-BE32-E72D297353CC}">
              <c16:uniqueId val="{00000001-E8FE-48C0-8B81-04DBE0D271C0}"/>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0</c:v>
                </c:pt>
                <c:pt idx="1">
                  <c:v>1</c:v>
                </c:pt>
                <c:pt idx="2">
                  <c:v>1</c:v>
                </c:pt>
                <c:pt idx="3">
                  <c:v>0</c:v>
                </c:pt>
                <c:pt idx="4">
                  <c:v>3</c:v>
                </c:pt>
              </c:numCache>
            </c:numRef>
          </c:val>
          <c:extLst>
            <c:ext xmlns:c16="http://schemas.microsoft.com/office/drawing/2014/chart" uri="{C3380CC4-5D6E-409C-BE32-E72D297353CC}">
              <c16:uniqueId val="{00000002-E8FE-48C0-8B81-04DBE0D271C0}"/>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c:v>
                </c:pt>
                <c:pt idx="1">
                  <c:v>0</c:v>
                </c:pt>
                <c:pt idx="2">
                  <c:v>5</c:v>
                </c:pt>
                <c:pt idx="3">
                  <c:v>2</c:v>
                </c:pt>
                <c:pt idx="4">
                  <c:v>3</c:v>
                </c:pt>
              </c:numCache>
            </c:numRef>
          </c:val>
          <c:extLst>
            <c:ext xmlns:c16="http://schemas.microsoft.com/office/drawing/2014/chart" uri="{C3380CC4-5D6E-409C-BE32-E72D297353CC}">
              <c16:uniqueId val="{00000003-E8FE-48C0-8B81-04DBE0D271C0}"/>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95</c:v>
                </c:pt>
                <c:pt idx="1">
                  <c:v>95</c:v>
                </c:pt>
                <c:pt idx="2">
                  <c:v>95</c:v>
                </c:pt>
                <c:pt idx="3">
                  <c:v>89</c:v>
                </c:pt>
                <c:pt idx="4">
                  <c:v>95</c:v>
                </c:pt>
              </c:numCache>
            </c:numRef>
          </c:val>
          <c:smooth val="0"/>
          <c:extLst>
            <c:ext xmlns:c16="http://schemas.microsoft.com/office/drawing/2014/chart" uri="{C3380CC4-5D6E-409C-BE32-E72D297353CC}">
              <c16:uniqueId val="{00000004-E8FE-48C0-8B81-04DBE0D271C0}"/>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8A3B-4812-93D8-D187C17CF91A}"/>
                </c:ext>
              </c:extLst>
            </c:dLbl>
            <c:dLbl>
              <c:idx val="2"/>
              <c:delete val="1"/>
              <c:extLst>
                <c:ext xmlns:c15="http://schemas.microsoft.com/office/drawing/2012/chart" uri="{CE6537A1-D6FC-4f65-9D91-7224C49458BB}"/>
                <c:ext xmlns:c16="http://schemas.microsoft.com/office/drawing/2014/chart" uri="{C3380CC4-5D6E-409C-BE32-E72D297353CC}">
                  <c16:uniqueId val="{00000001-8A3B-4812-93D8-D187C17CF91A}"/>
                </c:ext>
              </c:extLst>
            </c:dLbl>
            <c:dLbl>
              <c:idx val="3"/>
              <c:delete val="1"/>
              <c:extLst>
                <c:ext xmlns:c15="http://schemas.microsoft.com/office/drawing/2012/chart" uri="{CE6537A1-D6FC-4f65-9D91-7224C49458BB}"/>
                <c:ext xmlns:c16="http://schemas.microsoft.com/office/drawing/2014/chart" uri="{C3380CC4-5D6E-409C-BE32-E72D297353CC}">
                  <c16:uniqueId val="{00000002-8A3B-4812-93D8-D187C17CF91A}"/>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3-8A3B-4812-93D8-D187C17CF91A}"/>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8A3B-4812-93D8-D187C17CF91A}"/>
                </c:ext>
              </c:extLst>
            </c:dLbl>
            <c:dLbl>
              <c:idx val="2"/>
              <c:delete val="1"/>
              <c:extLst>
                <c:ext xmlns:c15="http://schemas.microsoft.com/office/drawing/2012/chart" uri="{CE6537A1-D6FC-4f65-9D91-7224C49458BB}"/>
                <c:ext xmlns:c16="http://schemas.microsoft.com/office/drawing/2014/chart" uri="{C3380CC4-5D6E-409C-BE32-E72D297353CC}">
                  <c16:uniqueId val="{00000005-8A3B-4812-93D8-D187C17CF91A}"/>
                </c:ext>
              </c:extLst>
            </c:dLbl>
            <c:dLbl>
              <c:idx val="3"/>
              <c:delete val="1"/>
              <c:extLst>
                <c:ext xmlns:c15="http://schemas.microsoft.com/office/drawing/2012/chart" uri="{CE6537A1-D6FC-4f65-9D91-7224C49458BB}"/>
                <c:ext xmlns:c16="http://schemas.microsoft.com/office/drawing/2014/chart" uri="{C3380CC4-5D6E-409C-BE32-E72D297353CC}">
                  <c16:uniqueId val="{00000006-8A3B-4812-93D8-D187C17CF91A}"/>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7-8A3B-4812-93D8-D187C17CF91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76</c:v>
                </c:pt>
                <c:pt idx="1">
                  <c:v>49</c:v>
                </c:pt>
                <c:pt idx="2">
                  <c:v>58</c:v>
                </c:pt>
                <c:pt idx="3">
                  <c:v>59</c:v>
                </c:pt>
                <c:pt idx="4">
                  <c:v>71</c:v>
                </c:pt>
              </c:numCache>
            </c:numRef>
          </c:val>
          <c:extLst>
            <c:ext xmlns:c16="http://schemas.microsoft.com/office/drawing/2014/chart" uri="{C3380CC4-5D6E-409C-BE32-E72D297353CC}">
              <c16:uniqueId val="{00000000-44DD-43B9-A1ED-74740D12F076}"/>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2</c:v>
                </c:pt>
              </c:numCache>
            </c:numRef>
          </c:val>
          <c:extLst>
            <c:ext xmlns:c16="http://schemas.microsoft.com/office/drawing/2014/chart" uri="{C3380CC4-5D6E-409C-BE32-E72D297353CC}">
              <c16:uniqueId val="{00000001-44DD-43B9-A1ED-74740D12F076}"/>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12</c:v>
                </c:pt>
                <c:pt idx="1">
                  <c:v>14</c:v>
                </c:pt>
                <c:pt idx="2">
                  <c:v>7</c:v>
                </c:pt>
                <c:pt idx="3">
                  <c:v>7</c:v>
                </c:pt>
                <c:pt idx="4">
                  <c:v>9</c:v>
                </c:pt>
              </c:numCache>
            </c:numRef>
          </c:val>
          <c:extLst>
            <c:ext xmlns:c16="http://schemas.microsoft.com/office/drawing/2014/chart" uri="{C3380CC4-5D6E-409C-BE32-E72D297353CC}">
              <c16:uniqueId val="{00000002-44DD-43B9-A1ED-74740D12F076}"/>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3</c:v>
                </c:pt>
                <c:pt idx="2">
                  <c:v>3</c:v>
                </c:pt>
                <c:pt idx="3">
                  <c:v>0</c:v>
                </c:pt>
                <c:pt idx="4">
                  <c:v>2</c:v>
                </c:pt>
              </c:numCache>
            </c:numRef>
          </c:val>
          <c:extLst>
            <c:ext xmlns:c16="http://schemas.microsoft.com/office/drawing/2014/chart" uri="{C3380CC4-5D6E-409C-BE32-E72D297353CC}">
              <c16:uniqueId val="{00000003-44DD-43B9-A1ED-74740D12F076}"/>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88</c:v>
                </c:pt>
                <c:pt idx="1">
                  <c:v>66</c:v>
                </c:pt>
                <c:pt idx="2">
                  <c:v>68</c:v>
                </c:pt>
                <c:pt idx="3">
                  <c:v>66</c:v>
                </c:pt>
                <c:pt idx="4">
                  <c:v>84</c:v>
                </c:pt>
              </c:numCache>
            </c:numRef>
          </c:val>
          <c:smooth val="0"/>
          <c:extLst>
            <c:ext xmlns:c16="http://schemas.microsoft.com/office/drawing/2014/chart" uri="{C3380CC4-5D6E-409C-BE32-E72D297353CC}">
              <c16:uniqueId val="{00000004-44DD-43B9-A1ED-74740D12F07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07AA-4B6E-B628-0FBE6584B5FA}"/>
                </c:ext>
              </c:extLst>
            </c:dLbl>
            <c:dLbl>
              <c:idx val="2"/>
              <c:delete val="1"/>
              <c:extLst>
                <c:ext xmlns:c15="http://schemas.microsoft.com/office/drawing/2012/chart" uri="{CE6537A1-D6FC-4f65-9D91-7224C49458BB}"/>
                <c:ext xmlns:c16="http://schemas.microsoft.com/office/drawing/2014/chart" uri="{C3380CC4-5D6E-409C-BE32-E72D297353CC}">
                  <c16:uniqueId val="{00000001-07AA-4B6E-B628-0FBE6584B5FA}"/>
                </c:ext>
              </c:extLst>
            </c:dLbl>
            <c:dLbl>
              <c:idx val="3"/>
              <c:delete val="1"/>
              <c:extLst>
                <c:ext xmlns:c15="http://schemas.microsoft.com/office/drawing/2012/chart" uri="{CE6537A1-D6FC-4f65-9D91-7224C49458BB}"/>
                <c:ext xmlns:c16="http://schemas.microsoft.com/office/drawing/2014/chart" uri="{C3380CC4-5D6E-409C-BE32-E72D297353CC}">
                  <c16:uniqueId val="{00000002-07AA-4B6E-B628-0FBE6584B5FA}"/>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3-07AA-4B6E-B628-0FBE6584B5FA}"/>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07AA-4B6E-B628-0FBE6584B5FA}"/>
                </c:ext>
              </c:extLst>
            </c:dLbl>
            <c:dLbl>
              <c:idx val="2"/>
              <c:delete val="1"/>
              <c:extLst>
                <c:ext xmlns:c15="http://schemas.microsoft.com/office/drawing/2012/chart" uri="{CE6537A1-D6FC-4f65-9D91-7224C49458BB}"/>
                <c:ext xmlns:c16="http://schemas.microsoft.com/office/drawing/2014/chart" uri="{C3380CC4-5D6E-409C-BE32-E72D297353CC}">
                  <c16:uniqueId val="{00000005-07AA-4B6E-B628-0FBE6584B5FA}"/>
                </c:ext>
              </c:extLst>
            </c:dLbl>
            <c:dLbl>
              <c:idx val="3"/>
              <c:delete val="1"/>
              <c:extLst>
                <c:ext xmlns:c15="http://schemas.microsoft.com/office/drawing/2012/chart" uri="{CE6537A1-D6FC-4f65-9D91-7224C49458BB}"/>
                <c:ext xmlns:c16="http://schemas.microsoft.com/office/drawing/2014/chart" uri="{C3380CC4-5D6E-409C-BE32-E72D297353CC}">
                  <c16:uniqueId val="{00000006-07AA-4B6E-B628-0FBE6584B5FA}"/>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7-07AA-4B6E-B628-0FBE6584B5F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76</c:v>
                </c:pt>
                <c:pt idx="1">
                  <c:v>66</c:v>
                </c:pt>
                <c:pt idx="2">
                  <c:v>60</c:v>
                </c:pt>
                <c:pt idx="3">
                  <c:v>64</c:v>
                </c:pt>
                <c:pt idx="4">
                  <c:v>83</c:v>
                </c:pt>
              </c:numCache>
            </c:numRef>
          </c:val>
          <c:extLst>
            <c:ext xmlns:c16="http://schemas.microsoft.com/office/drawing/2014/chart" uri="{C3380CC4-5D6E-409C-BE32-E72D297353CC}">
              <c16:uniqueId val="{00000000-19A4-4C45-A90F-6BE728B824E3}"/>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2</c:v>
                </c:pt>
                <c:pt idx="2">
                  <c:v>2</c:v>
                </c:pt>
                <c:pt idx="3">
                  <c:v>1</c:v>
                </c:pt>
                <c:pt idx="4">
                  <c:v>2</c:v>
                </c:pt>
              </c:numCache>
            </c:numRef>
          </c:val>
          <c:extLst>
            <c:ext xmlns:c16="http://schemas.microsoft.com/office/drawing/2014/chart" uri="{C3380CC4-5D6E-409C-BE32-E72D297353CC}">
              <c16:uniqueId val="{00000001-19A4-4C45-A90F-6BE728B824E3}"/>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16</c:v>
                </c:pt>
                <c:pt idx="1">
                  <c:v>13</c:v>
                </c:pt>
                <c:pt idx="2">
                  <c:v>9</c:v>
                </c:pt>
                <c:pt idx="3">
                  <c:v>10</c:v>
                </c:pt>
                <c:pt idx="4">
                  <c:v>8</c:v>
                </c:pt>
              </c:numCache>
            </c:numRef>
          </c:val>
          <c:extLst>
            <c:ext xmlns:c16="http://schemas.microsoft.com/office/drawing/2014/chart" uri="{C3380CC4-5D6E-409C-BE32-E72D297353CC}">
              <c16:uniqueId val="{00000002-19A4-4C45-A90F-6BE728B824E3}"/>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9</c:v>
                </c:pt>
                <c:pt idx="2">
                  <c:v>4</c:v>
                </c:pt>
                <c:pt idx="3">
                  <c:v>6</c:v>
                </c:pt>
                <c:pt idx="4">
                  <c:v>2</c:v>
                </c:pt>
              </c:numCache>
            </c:numRef>
          </c:val>
          <c:extLst>
            <c:ext xmlns:c16="http://schemas.microsoft.com/office/drawing/2014/chart" uri="{C3380CC4-5D6E-409C-BE32-E72D297353CC}">
              <c16:uniqueId val="{00000003-19A4-4C45-A90F-6BE728B824E3}"/>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92</c:v>
                </c:pt>
                <c:pt idx="1">
                  <c:v>90</c:v>
                </c:pt>
                <c:pt idx="2">
                  <c:v>75</c:v>
                </c:pt>
                <c:pt idx="3">
                  <c:v>81</c:v>
                </c:pt>
                <c:pt idx="4">
                  <c:v>95</c:v>
                </c:pt>
              </c:numCache>
            </c:numRef>
          </c:val>
          <c:smooth val="0"/>
          <c:extLst>
            <c:ext xmlns:c16="http://schemas.microsoft.com/office/drawing/2014/chart" uri="{C3380CC4-5D6E-409C-BE32-E72D297353CC}">
              <c16:uniqueId val="{00000004-19A4-4C45-A90F-6BE728B824E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B1F0-4A00-AC2C-1D04794445C2}"/>
                </c:ext>
              </c:extLst>
            </c:dLbl>
            <c:dLbl>
              <c:idx val="2"/>
              <c:delete val="1"/>
              <c:extLst>
                <c:ext xmlns:c15="http://schemas.microsoft.com/office/drawing/2012/chart" uri="{CE6537A1-D6FC-4f65-9D91-7224C49458BB}"/>
                <c:ext xmlns:c16="http://schemas.microsoft.com/office/drawing/2014/chart" uri="{C3380CC4-5D6E-409C-BE32-E72D297353CC}">
                  <c16:uniqueId val="{00000001-B1F0-4A00-AC2C-1D04794445C2}"/>
                </c:ext>
              </c:extLst>
            </c:dLbl>
            <c:dLbl>
              <c:idx val="3"/>
              <c:delete val="1"/>
              <c:extLst>
                <c:ext xmlns:c15="http://schemas.microsoft.com/office/drawing/2012/chart" uri="{CE6537A1-D6FC-4f65-9D91-7224C49458BB}"/>
                <c:ext xmlns:c16="http://schemas.microsoft.com/office/drawing/2014/chart" uri="{C3380CC4-5D6E-409C-BE32-E72D297353CC}">
                  <c16:uniqueId val="{00000002-B1F0-4A00-AC2C-1D04794445C2}"/>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3-B1F0-4A00-AC2C-1D04794445C2}"/>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B1F0-4A00-AC2C-1D04794445C2}"/>
                </c:ext>
              </c:extLst>
            </c:dLbl>
            <c:dLbl>
              <c:idx val="2"/>
              <c:delete val="1"/>
              <c:extLst>
                <c:ext xmlns:c15="http://schemas.microsoft.com/office/drawing/2012/chart" uri="{CE6537A1-D6FC-4f65-9D91-7224C49458BB}"/>
                <c:ext xmlns:c16="http://schemas.microsoft.com/office/drawing/2014/chart" uri="{C3380CC4-5D6E-409C-BE32-E72D297353CC}">
                  <c16:uniqueId val="{00000005-B1F0-4A00-AC2C-1D04794445C2}"/>
                </c:ext>
              </c:extLst>
            </c:dLbl>
            <c:dLbl>
              <c:idx val="3"/>
              <c:delete val="1"/>
              <c:extLst>
                <c:ext xmlns:c15="http://schemas.microsoft.com/office/drawing/2012/chart" uri="{CE6537A1-D6FC-4f65-9D91-7224C49458BB}"/>
                <c:ext xmlns:c16="http://schemas.microsoft.com/office/drawing/2014/chart" uri="{C3380CC4-5D6E-409C-BE32-E72D297353CC}">
                  <c16:uniqueId val="{00000006-B1F0-4A00-AC2C-1D04794445C2}"/>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7-B1F0-4A00-AC2C-1D04794445C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87</c:v>
                </c:pt>
                <c:pt idx="1">
                  <c:v>83</c:v>
                </c:pt>
                <c:pt idx="2">
                  <c:v>63</c:v>
                </c:pt>
                <c:pt idx="3">
                  <c:v>73</c:v>
                </c:pt>
                <c:pt idx="4">
                  <c:v>66</c:v>
                </c:pt>
              </c:numCache>
            </c:numRef>
          </c:val>
          <c:extLst>
            <c:ext xmlns:c16="http://schemas.microsoft.com/office/drawing/2014/chart" uri="{C3380CC4-5D6E-409C-BE32-E72D297353CC}">
              <c16:uniqueId val="{00000000-8C2D-4A50-B32D-452EBBD86C5C}"/>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2</c:v>
                </c:pt>
                <c:pt idx="4">
                  <c:v>7</c:v>
                </c:pt>
              </c:numCache>
            </c:numRef>
          </c:val>
          <c:extLst>
            <c:ext xmlns:c16="http://schemas.microsoft.com/office/drawing/2014/chart" uri="{C3380CC4-5D6E-409C-BE32-E72D297353CC}">
              <c16:uniqueId val="{00000001-8C2D-4A50-B32D-452EBBD86C5C}"/>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0</c:v>
                </c:pt>
                <c:pt idx="1">
                  <c:v>5</c:v>
                </c:pt>
                <c:pt idx="2">
                  <c:v>8</c:v>
                </c:pt>
                <c:pt idx="3">
                  <c:v>0</c:v>
                </c:pt>
                <c:pt idx="4">
                  <c:v>14</c:v>
                </c:pt>
              </c:numCache>
            </c:numRef>
          </c:val>
          <c:extLst>
            <c:ext xmlns:c16="http://schemas.microsoft.com/office/drawing/2014/chart" uri="{C3380CC4-5D6E-409C-BE32-E72D297353CC}">
              <c16:uniqueId val="{00000002-8C2D-4A50-B32D-452EBBD86C5C}"/>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c:v>
                </c:pt>
                <c:pt idx="1">
                  <c:v>0</c:v>
                </c:pt>
                <c:pt idx="2">
                  <c:v>13</c:v>
                </c:pt>
                <c:pt idx="3">
                  <c:v>3</c:v>
                </c:pt>
                <c:pt idx="4">
                  <c:v>3</c:v>
                </c:pt>
              </c:numCache>
            </c:numRef>
          </c:val>
          <c:extLst>
            <c:ext xmlns:c16="http://schemas.microsoft.com/office/drawing/2014/chart" uri="{C3380CC4-5D6E-409C-BE32-E72D297353CC}">
              <c16:uniqueId val="{00000003-8C2D-4A50-B32D-452EBBD86C5C}"/>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89</c:v>
                </c:pt>
                <c:pt idx="1">
                  <c:v>88</c:v>
                </c:pt>
                <c:pt idx="2">
                  <c:v>84</c:v>
                </c:pt>
                <c:pt idx="3">
                  <c:v>78</c:v>
                </c:pt>
                <c:pt idx="4">
                  <c:v>90</c:v>
                </c:pt>
              </c:numCache>
            </c:numRef>
          </c:val>
          <c:smooth val="0"/>
          <c:extLst>
            <c:ext xmlns:c16="http://schemas.microsoft.com/office/drawing/2014/chart" uri="{C3380CC4-5D6E-409C-BE32-E72D297353CC}">
              <c16:uniqueId val="{00000004-8C2D-4A50-B32D-452EBBD86C5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A483-43C5-917C-F33364D7AACF}"/>
                </c:ext>
              </c:extLst>
            </c:dLbl>
            <c:dLbl>
              <c:idx val="2"/>
              <c:delete val="1"/>
              <c:extLst>
                <c:ext xmlns:c15="http://schemas.microsoft.com/office/drawing/2012/chart" uri="{CE6537A1-D6FC-4f65-9D91-7224C49458BB}"/>
                <c:ext xmlns:c16="http://schemas.microsoft.com/office/drawing/2014/chart" uri="{C3380CC4-5D6E-409C-BE32-E72D297353CC}">
                  <c16:uniqueId val="{00000001-A483-43C5-917C-F33364D7AACF}"/>
                </c:ext>
              </c:extLst>
            </c:dLbl>
            <c:dLbl>
              <c:idx val="3"/>
              <c:delete val="1"/>
              <c:extLst>
                <c:ext xmlns:c15="http://schemas.microsoft.com/office/drawing/2012/chart" uri="{CE6537A1-D6FC-4f65-9D91-7224C49458BB}"/>
                <c:ext xmlns:c16="http://schemas.microsoft.com/office/drawing/2014/chart" uri="{C3380CC4-5D6E-409C-BE32-E72D297353CC}">
                  <c16:uniqueId val="{00000002-A483-43C5-917C-F33364D7AAC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3-A483-43C5-917C-F33364D7AACF}"/>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A483-43C5-917C-F33364D7AACF}"/>
                </c:ext>
              </c:extLst>
            </c:dLbl>
            <c:dLbl>
              <c:idx val="2"/>
              <c:delete val="1"/>
              <c:extLst>
                <c:ext xmlns:c15="http://schemas.microsoft.com/office/drawing/2012/chart" uri="{CE6537A1-D6FC-4f65-9D91-7224C49458BB}"/>
                <c:ext xmlns:c16="http://schemas.microsoft.com/office/drawing/2014/chart" uri="{C3380CC4-5D6E-409C-BE32-E72D297353CC}">
                  <c16:uniqueId val="{00000005-A483-43C5-917C-F33364D7AACF}"/>
                </c:ext>
              </c:extLst>
            </c:dLbl>
            <c:dLbl>
              <c:idx val="3"/>
              <c:delete val="1"/>
              <c:extLst>
                <c:ext xmlns:c15="http://schemas.microsoft.com/office/drawing/2012/chart" uri="{CE6537A1-D6FC-4f65-9D91-7224C49458BB}"/>
                <c:ext xmlns:c16="http://schemas.microsoft.com/office/drawing/2014/chart" uri="{C3380CC4-5D6E-409C-BE32-E72D297353CC}">
                  <c16:uniqueId val="{00000006-A483-43C5-917C-F33364D7AAC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7-A483-43C5-917C-F33364D7AAC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c:v>
                </c:pt>
                <c:pt idx="1">
                  <c:v>25</c:v>
                </c:pt>
                <c:pt idx="2">
                  <c:v>34</c:v>
                </c:pt>
                <c:pt idx="3">
                  <c:v>42</c:v>
                </c:pt>
                <c:pt idx="4">
                  <c:v>58</c:v>
                </c:pt>
              </c:numCache>
            </c:numRef>
          </c:val>
          <c:extLst>
            <c:ext xmlns:c16="http://schemas.microsoft.com/office/drawing/2014/chart" uri="{C3380CC4-5D6E-409C-BE32-E72D297353CC}">
              <c16:uniqueId val="{00000000-58FD-4ACC-AC1C-7EDF871A75F1}"/>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1</c:v>
                </c:pt>
              </c:numCache>
            </c:numRef>
          </c:val>
          <c:extLst>
            <c:ext xmlns:c16="http://schemas.microsoft.com/office/drawing/2014/chart" uri="{C3380CC4-5D6E-409C-BE32-E72D297353CC}">
              <c16:uniqueId val="{00000001-58FD-4ACC-AC1C-7EDF871A75F1}"/>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31</c:v>
                </c:pt>
                <c:pt idx="1">
                  <c:v>26</c:v>
                </c:pt>
                <c:pt idx="2">
                  <c:v>11</c:v>
                </c:pt>
                <c:pt idx="3">
                  <c:v>13</c:v>
                </c:pt>
                <c:pt idx="4">
                  <c:v>19</c:v>
                </c:pt>
              </c:numCache>
            </c:numRef>
          </c:val>
          <c:extLst>
            <c:ext xmlns:c16="http://schemas.microsoft.com/office/drawing/2014/chart" uri="{C3380CC4-5D6E-409C-BE32-E72D297353CC}">
              <c16:uniqueId val="{00000002-58FD-4ACC-AC1C-7EDF871A75F1}"/>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3</c:v>
                </c:pt>
                <c:pt idx="2">
                  <c:v>5</c:v>
                </c:pt>
                <c:pt idx="3">
                  <c:v>0</c:v>
                </c:pt>
                <c:pt idx="4">
                  <c:v>3</c:v>
                </c:pt>
              </c:numCache>
            </c:numRef>
          </c:val>
          <c:extLst>
            <c:ext xmlns:c16="http://schemas.microsoft.com/office/drawing/2014/chart" uri="{C3380CC4-5D6E-409C-BE32-E72D297353CC}">
              <c16:uniqueId val="{00000003-58FD-4ACC-AC1C-7EDF871A75F1}"/>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80</c:v>
                </c:pt>
                <c:pt idx="1">
                  <c:v>54</c:v>
                </c:pt>
                <c:pt idx="2">
                  <c:v>50</c:v>
                </c:pt>
                <c:pt idx="3">
                  <c:v>55</c:v>
                </c:pt>
                <c:pt idx="4">
                  <c:v>81</c:v>
                </c:pt>
              </c:numCache>
            </c:numRef>
          </c:val>
          <c:smooth val="0"/>
          <c:extLst>
            <c:ext xmlns:c16="http://schemas.microsoft.com/office/drawing/2014/chart" uri="{C3380CC4-5D6E-409C-BE32-E72D297353CC}">
              <c16:uniqueId val="{00000004-58FD-4ACC-AC1C-7EDF871A75F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6C10-4653-BB21-F17045B0210F}"/>
                </c:ext>
              </c:extLst>
            </c:dLbl>
            <c:dLbl>
              <c:idx val="2"/>
              <c:delete val="1"/>
              <c:extLst>
                <c:ext xmlns:c15="http://schemas.microsoft.com/office/drawing/2012/chart" uri="{CE6537A1-D6FC-4f65-9D91-7224C49458BB}"/>
                <c:ext xmlns:c16="http://schemas.microsoft.com/office/drawing/2014/chart" uri="{C3380CC4-5D6E-409C-BE32-E72D297353CC}">
                  <c16:uniqueId val="{00000001-6C10-4653-BB21-F17045B0210F}"/>
                </c:ext>
              </c:extLst>
            </c:dLbl>
            <c:dLbl>
              <c:idx val="3"/>
              <c:delete val="1"/>
              <c:extLst>
                <c:ext xmlns:c15="http://schemas.microsoft.com/office/drawing/2012/chart" uri="{CE6537A1-D6FC-4f65-9D91-7224C49458BB}"/>
                <c:ext xmlns:c16="http://schemas.microsoft.com/office/drawing/2014/chart" uri="{C3380CC4-5D6E-409C-BE32-E72D297353CC}">
                  <c16:uniqueId val="{00000002-6C10-4653-BB21-F17045B0210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3-6C10-4653-BB21-F17045B0210F}"/>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6C10-4653-BB21-F17045B0210F}"/>
                </c:ext>
              </c:extLst>
            </c:dLbl>
            <c:dLbl>
              <c:idx val="2"/>
              <c:delete val="1"/>
              <c:extLst>
                <c:ext xmlns:c15="http://schemas.microsoft.com/office/drawing/2012/chart" uri="{CE6537A1-D6FC-4f65-9D91-7224C49458BB}"/>
                <c:ext xmlns:c16="http://schemas.microsoft.com/office/drawing/2014/chart" uri="{C3380CC4-5D6E-409C-BE32-E72D297353CC}">
                  <c16:uniqueId val="{00000005-6C10-4653-BB21-F17045B0210F}"/>
                </c:ext>
              </c:extLst>
            </c:dLbl>
            <c:dLbl>
              <c:idx val="3"/>
              <c:delete val="1"/>
              <c:extLst>
                <c:ext xmlns:c15="http://schemas.microsoft.com/office/drawing/2012/chart" uri="{CE6537A1-D6FC-4f65-9D91-7224C49458BB}"/>
                <c:ext xmlns:c16="http://schemas.microsoft.com/office/drawing/2014/chart" uri="{C3380CC4-5D6E-409C-BE32-E72D297353CC}">
                  <c16:uniqueId val="{00000006-6C10-4653-BB21-F17045B0210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7-6C10-4653-BB21-F17045B0210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41</c:v>
                </c:pt>
                <c:pt idx="1">
                  <c:v>37</c:v>
                </c:pt>
                <c:pt idx="2">
                  <c:v>36</c:v>
                </c:pt>
                <c:pt idx="3">
                  <c:v>26</c:v>
                </c:pt>
                <c:pt idx="4">
                  <c:v>63</c:v>
                </c:pt>
              </c:numCache>
            </c:numRef>
          </c:val>
          <c:extLst>
            <c:ext xmlns:c16="http://schemas.microsoft.com/office/drawing/2014/chart" uri="{C3380CC4-5D6E-409C-BE32-E72D297353CC}">
              <c16:uniqueId val="{00000000-1625-426B-B5FC-419549D4B03D}"/>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2</c:v>
                </c:pt>
                <c:pt idx="2">
                  <c:v>0</c:v>
                </c:pt>
                <c:pt idx="3">
                  <c:v>0</c:v>
                </c:pt>
                <c:pt idx="4">
                  <c:v>1</c:v>
                </c:pt>
              </c:numCache>
            </c:numRef>
          </c:val>
          <c:extLst>
            <c:ext xmlns:c16="http://schemas.microsoft.com/office/drawing/2014/chart" uri="{C3380CC4-5D6E-409C-BE32-E72D297353CC}">
              <c16:uniqueId val="{00000001-1625-426B-B5FC-419549D4B03D}"/>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44</c:v>
                </c:pt>
                <c:pt idx="1">
                  <c:v>31</c:v>
                </c:pt>
                <c:pt idx="2">
                  <c:v>22</c:v>
                </c:pt>
                <c:pt idx="3">
                  <c:v>40</c:v>
                </c:pt>
                <c:pt idx="4">
                  <c:v>31</c:v>
                </c:pt>
              </c:numCache>
            </c:numRef>
          </c:val>
          <c:extLst>
            <c:ext xmlns:c16="http://schemas.microsoft.com/office/drawing/2014/chart" uri="{C3380CC4-5D6E-409C-BE32-E72D297353CC}">
              <c16:uniqueId val="{00000002-1625-426B-B5FC-419549D4B03D}"/>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12</c:v>
                </c:pt>
                <c:pt idx="2">
                  <c:v>6</c:v>
                </c:pt>
                <c:pt idx="3">
                  <c:v>9</c:v>
                </c:pt>
                <c:pt idx="4">
                  <c:v>1</c:v>
                </c:pt>
              </c:numCache>
            </c:numRef>
          </c:val>
          <c:extLst>
            <c:ext xmlns:c16="http://schemas.microsoft.com/office/drawing/2014/chart" uri="{C3380CC4-5D6E-409C-BE32-E72D297353CC}">
              <c16:uniqueId val="{00000003-1625-426B-B5FC-419549D4B03D}"/>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85</c:v>
                </c:pt>
                <c:pt idx="1">
                  <c:v>82</c:v>
                </c:pt>
                <c:pt idx="2">
                  <c:v>64</c:v>
                </c:pt>
                <c:pt idx="3">
                  <c:v>75</c:v>
                </c:pt>
                <c:pt idx="4">
                  <c:v>96</c:v>
                </c:pt>
              </c:numCache>
            </c:numRef>
          </c:val>
          <c:smooth val="0"/>
          <c:extLst>
            <c:ext xmlns:c16="http://schemas.microsoft.com/office/drawing/2014/chart" uri="{C3380CC4-5D6E-409C-BE32-E72D297353CC}">
              <c16:uniqueId val="{00000004-1625-426B-B5FC-419549D4B03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6C10-4653-BB21-F17045B0210F}"/>
                </c:ext>
              </c:extLst>
            </c:dLbl>
            <c:dLbl>
              <c:idx val="2"/>
              <c:delete val="1"/>
              <c:extLst>
                <c:ext xmlns:c15="http://schemas.microsoft.com/office/drawing/2012/chart" uri="{CE6537A1-D6FC-4f65-9D91-7224C49458BB}"/>
                <c:ext xmlns:c16="http://schemas.microsoft.com/office/drawing/2014/chart" uri="{C3380CC4-5D6E-409C-BE32-E72D297353CC}">
                  <c16:uniqueId val="{00000001-6C10-4653-BB21-F17045B0210F}"/>
                </c:ext>
              </c:extLst>
            </c:dLbl>
            <c:dLbl>
              <c:idx val="3"/>
              <c:delete val="1"/>
              <c:extLst>
                <c:ext xmlns:c15="http://schemas.microsoft.com/office/drawing/2012/chart" uri="{CE6537A1-D6FC-4f65-9D91-7224C49458BB}"/>
                <c:ext xmlns:c16="http://schemas.microsoft.com/office/drawing/2014/chart" uri="{C3380CC4-5D6E-409C-BE32-E72D297353CC}">
                  <c16:uniqueId val="{00000002-6C10-4653-BB21-F17045B0210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21.3</c:v>
                </c:pt>
                <c:pt idx="1">
                  <c:v>21</c:v>
                </c:pt>
                <c:pt idx="2">
                  <c:v>20.100000000000001</c:v>
                </c:pt>
                <c:pt idx="3">
                  <c:v>20.3</c:v>
                </c:pt>
                <c:pt idx="4">
                  <c:v>21</c:v>
                </c:pt>
              </c:numCache>
            </c:numRef>
          </c:val>
          <c:smooth val="0"/>
          <c:extLst>
            <c:ext xmlns:c16="http://schemas.microsoft.com/office/drawing/2014/chart" uri="{C3380CC4-5D6E-409C-BE32-E72D297353CC}">
              <c16:uniqueId val="{00000003-6C10-4653-BB21-F17045B0210F}"/>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6C10-4653-BB21-F17045B0210F}"/>
                </c:ext>
              </c:extLst>
            </c:dLbl>
            <c:dLbl>
              <c:idx val="2"/>
              <c:delete val="1"/>
              <c:extLst>
                <c:ext xmlns:c15="http://schemas.microsoft.com/office/drawing/2012/chart" uri="{CE6537A1-D6FC-4f65-9D91-7224C49458BB}"/>
                <c:ext xmlns:c16="http://schemas.microsoft.com/office/drawing/2014/chart" uri="{C3380CC4-5D6E-409C-BE32-E72D297353CC}">
                  <c16:uniqueId val="{00000005-6C10-4653-BB21-F17045B0210F}"/>
                </c:ext>
              </c:extLst>
            </c:dLbl>
            <c:dLbl>
              <c:idx val="3"/>
              <c:delete val="1"/>
              <c:extLst>
                <c:ext xmlns:c15="http://schemas.microsoft.com/office/drawing/2012/chart" uri="{CE6537A1-D6FC-4f65-9D91-7224C49458BB}"/>
                <c:ext xmlns:c16="http://schemas.microsoft.com/office/drawing/2014/chart" uri="{C3380CC4-5D6E-409C-BE32-E72D297353CC}">
                  <c16:uniqueId val="{00000006-6C10-4653-BB21-F17045B0210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17.8</c:v>
                </c:pt>
                <c:pt idx="1">
                  <c:v>17.899999999999999</c:v>
                </c:pt>
                <c:pt idx="2">
                  <c:v>17.600000000000001</c:v>
                </c:pt>
                <c:pt idx="3">
                  <c:v>17.3</c:v>
                </c:pt>
                <c:pt idx="4">
                  <c:v>18.100000000000001</c:v>
                </c:pt>
              </c:numCache>
            </c:numRef>
          </c:val>
          <c:smooth val="0"/>
          <c:extLst>
            <c:ext xmlns:c16="http://schemas.microsoft.com/office/drawing/2014/chart" uri="{C3380CC4-5D6E-409C-BE32-E72D297353CC}">
              <c16:uniqueId val="{00000007-6C10-4653-BB21-F17045B0210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38.700000000000003</c:v>
                </c:pt>
                <c:pt idx="1">
                  <c:v>35.799999999999997</c:v>
                </c:pt>
                <c:pt idx="2">
                  <c:v>30.9</c:v>
                </c:pt>
                <c:pt idx="3">
                  <c:v>27.2</c:v>
                </c:pt>
                <c:pt idx="4">
                  <c:v>21</c:v>
                </c:pt>
              </c:numCache>
            </c:numRef>
          </c:val>
          <c:extLst>
            <c:ext xmlns:c16="http://schemas.microsoft.com/office/drawing/2014/chart" uri="{C3380CC4-5D6E-409C-BE32-E72D297353CC}">
              <c16:uniqueId val="{00000000-1625-426B-B5FC-419549D4B03D}"/>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3.3</c:v>
                </c:pt>
                <c:pt idx="1">
                  <c:v>1.6</c:v>
                </c:pt>
                <c:pt idx="2">
                  <c:v>1</c:v>
                </c:pt>
                <c:pt idx="3">
                  <c:v>3</c:v>
                </c:pt>
                <c:pt idx="4">
                  <c:v>3.5</c:v>
                </c:pt>
              </c:numCache>
            </c:numRef>
          </c:val>
          <c:extLst>
            <c:ext xmlns:c16="http://schemas.microsoft.com/office/drawing/2014/chart" uri="{C3380CC4-5D6E-409C-BE32-E72D297353CC}">
              <c16:uniqueId val="{00000001-1625-426B-B5FC-419549D4B03D}"/>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34.6</c:v>
                </c:pt>
                <c:pt idx="1">
                  <c:v>34.4</c:v>
                </c:pt>
                <c:pt idx="2">
                  <c:v>31.1</c:v>
                </c:pt>
                <c:pt idx="3">
                  <c:v>34.4</c:v>
                </c:pt>
                <c:pt idx="4">
                  <c:v>34.299999999999997</c:v>
                </c:pt>
              </c:numCache>
            </c:numRef>
          </c:val>
          <c:extLst>
            <c:ext xmlns:c16="http://schemas.microsoft.com/office/drawing/2014/chart" uri="{C3380CC4-5D6E-409C-BE32-E72D297353CC}">
              <c16:uniqueId val="{00000002-1625-426B-B5FC-419549D4B03D}"/>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11.5</c:v>
                </c:pt>
                <c:pt idx="1">
                  <c:v>10</c:v>
                </c:pt>
                <c:pt idx="2">
                  <c:v>11.2</c:v>
                </c:pt>
                <c:pt idx="3">
                  <c:v>14.7</c:v>
                </c:pt>
                <c:pt idx="4">
                  <c:v>15.6</c:v>
                </c:pt>
              </c:numCache>
            </c:numRef>
          </c:val>
          <c:extLst>
            <c:ext xmlns:c16="http://schemas.microsoft.com/office/drawing/2014/chart" uri="{C3380CC4-5D6E-409C-BE32-E72D297353CC}">
              <c16:uniqueId val="{00000003-1625-426B-B5FC-419549D4B03D}"/>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88.1</c:v>
                </c:pt>
                <c:pt idx="1">
                  <c:v>81.8</c:v>
                </c:pt>
                <c:pt idx="2">
                  <c:v>74.2</c:v>
                </c:pt>
                <c:pt idx="3">
                  <c:v>79.3</c:v>
                </c:pt>
                <c:pt idx="4">
                  <c:v>74.399999999999991</c:v>
                </c:pt>
              </c:numCache>
            </c:numRef>
          </c:val>
          <c:smooth val="0"/>
          <c:extLst>
            <c:ext xmlns:c16="http://schemas.microsoft.com/office/drawing/2014/chart" uri="{C3380CC4-5D6E-409C-BE32-E72D297353CC}">
              <c16:uniqueId val="{00000004-1625-426B-B5FC-419549D4B03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FD62-461A-984D-FD8B9082B6C4}"/>
                </c:ext>
              </c:extLst>
            </c:dLbl>
            <c:dLbl>
              <c:idx val="2"/>
              <c:delete val="1"/>
              <c:extLst>
                <c:ext xmlns:c15="http://schemas.microsoft.com/office/drawing/2012/chart" uri="{CE6537A1-D6FC-4f65-9D91-7224C49458BB}"/>
                <c:ext xmlns:c16="http://schemas.microsoft.com/office/drawing/2014/chart" uri="{C3380CC4-5D6E-409C-BE32-E72D297353CC}">
                  <c16:uniqueId val="{00000001-FD62-461A-984D-FD8B9082B6C4}"/>
                </c:ext>
              </c:extLst>
            </c:dLbl>
            <c:dLbl>
              <c:idx val="3"/>
              <c:delete val="1"/>
              <c:extLst>
                <c:ext xmlns:c15="http://schemas.microsoft.com/office/drawing/2012/chart" uri="{CE6537A1-D6FC-4f65-9D91-7224C49458BB}"/>
                <c:ext xmlns:c16="http://schemas.microsoft.com/office/drawing/2014/chart" uri="{C3380CC4-5D6E-409C-BE32-E72D297353CC}">
                  <c16:uniqueId val="{00000002-FD62-461A-984D-FD8B9082B6C4}"/>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3-FD62-461A-984D-FD8B9082B6C4}"/>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FD62-461A-984D-FD8B9082B6C4}"/>
                </c:ext>
              </c:extLst>
            </c:dLbl>
            <c:dLbl>
              <c:idx val="2"/>
              <c:delete val="1"/>
              <c:extLst>
                <c:ext xmlns:c15="http://schemas.microsoft.com/office/drawing/2012/chart" uri="{CE6537A1-D6FC-4f65-9D91-7224C49458BB}"/>
                <c:ext xmlns:c16="http://schemas.microsoft.com/office/drawing/2014/chart" uri="{C3380CC4-5D6E-409C-BE32-E72D297353CC}">
                  <c16:uniqueId val="{00000005-FD62-461A-984D-FD8B9082B6C4}"/>
                </c:ext>
              </c:extLst>
            </c:dLbl>
            <c:dLbl>
              <c:idx val="3"/>
              <c:delete val="1"/>
              <c:extLst>
                <c:ext xmlns:c15="http://schemas.microsoft.com/office/drawing/2012/chart" uri="{CE6537A1-D6FC-4f65-9D91-7224C49458BB}"/>
                <c:ext xmlns:c16="http://schemas.microsoft.com/office/drawing/2014/chart" uri="{C3380CC4-5D6E-409C-BE32-E72D297353CC}">
                  <c16:uniqueId val="{00000006-FD62-461A-984D-FD8B9082B6C4}"/>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7-FD62-461A-984D-FD8B9082B6C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54.2</c:v>
                </c:pt>
                <c:pt idx="1">
                  <c:v>62</c:v>
                </c:pt>
                <c:pt idx="2">
                  <c:v>54.7</c:v>
                </c:pt>
                <c:pt idx="3">
                  <c:v>39.700000000000003</c:v>
                </c:pt>
                <c:pt idx="4">
                  <c:v>22.4</c:v>
                </c:pt>
              </c:numCache>
            </c:numRef>
          </c:val>
          <c:extLst>
            <c:ext xmlns:c16="http://schemas.microsoft.com/office/drawing/2014/chart" uri="{C3380CC4-5D6E-409C-BE32-E72D297353CC}">
              <c16:uniqueId val="{00000000-6B3A-47B1-A4C8-9EC844A4574F}"/>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9.8000000000000007</c:v>
                </c:pt>
                <c:pt idx="1">
                  <c:v>1.1000000000000001</c:v>
                </c:pt>
                <c:pt idx="2">
                  <c:v>1.5</c:v>
                </c:pt>
                <c:pt idx="3">
                  <c:v>4.5</c:v>
                </c:pt>
                <c:pt idx="4">
                  <c:v>7.7</c:v>
                </c:pt>
              </c:numCache>
            </c:numRef>
          </c:val>
          <c:extLst>
            <c:ext xmlns:c16="http://schemas.microsoft.com/office/drawing/2014/chart" uri="{C3380CC4-5D6E-409C-BE32-E72D297353CC}">
              <c16:uniqueId val="{00000001-6B3A-47B1-A4C8-9EC844A4574F}"/>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29.3</c:v>
                </c:pt>
                <c:pt idx="1">
                  <c:v>26.7</c:v>
                </c:pt>
                <c:pt idx="2">
                  <c:v>28.9</c:v>
                </c:pt>
                <c:pt idx="3">
                  <c:v>37.4</c:v>
                </c:pt>
                <c:pt idx="4">
                  <c:v>39.799999999999997</c:v>
                </c:pt>
              </c:numCache>
            </c:numRef>
          </c:val>
          <c:extLst>
            <c:ext xmlns:c16="http://schemas.microsoft.com/office/drawing/2014/chart" uri="{C3380CC4-5D6E-409C-BE32-E72D297353CC}">
              <c16:uniqueId val="{00000002-6B3A-47B1-A4C8-9EC844A4574F}"/>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3.3</c:v>
                </c:pt>
                <c:pt idx="1">
                  <c:v>2.7</c:v>
                </c:pt>
                <c:pt idx="2">
                  <c:v>6.6</c:v>
                </c:pt>
                <c:pt idx="3">
                  <c:v>9.9</c:v>
                </c:pt>
                <c:pt idx="4">
                  <c:v>14.8</c:v>
                </c:pt>
              </c:numCache>
            </c:numRef>
          </c:val>
          <c:extLst>
            <c:ext xmlns:c16="http://schemas.microsoft.com/office/drawing/2014/chart" uri="{C3380CC4-5D6E-409C-BE32-E72D297353CC}">
              <c16:uniqueId val="{00000003-6B3A-47B1-A4C8-9EC844A4574F}"/>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96.6</c:v>
                </c:pt>
                <c:pt idx="1">
                  <c:v>92.5</c:v>
                </c:pt>
                <c:pt idx="2">
                  <c:v>91.699999999999989</c:v>
                </c:pt>
                <c:pt idx="3">
                  <c:v>91.5</c:v>
                </c:pt>
                <c:pt idx="4">
                  <c:v>84.699999999999989</c:v>
                </c:pt>
              </c:numCache>
            </c:numRef>
          </c:val>
          <c:smooth val="0"/>
          <c:extLst>
            <c:ext xmlns:c16="http://schemas.microsoft.com/office/drawing/2014/chart" uri="{C3380CC4-5D6E-409C-BE32-E72D297353CC}">
              <c16:uniqueId val="{00000004-6B3A-47B1-A4C8-9EC844A4574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5571-4ABC-B256-FB5BDE7672D3}"/>
                </c:ext>
              </c:extLst>
            </c:dLbl>
            <c:dLbl>
              <c:idx val="2"/>
              <c:delete val="1"/>
              <c:extLst>
                <c:ext xmlns:c15="http://schemas.microsoft.com/office/drawing/2012/chart" uri="{CE6537A1-D6FC-4f65-9D91-7224C49458BB}"/>
                <c:ext xmlns:c16="http://schemas.microsoft.com/office/drawing/2014/chart" uri="{C3380CC4-5D6E-409C-BE32-E72D297353CC}">
                  <c16:uniqueId val="{00000001-5571-4ABC-B256-FB5BDE7672D3}"/>
                </c:ext>
              </c:extLst>
            </c:dLbl>
            <c:dLbl>
              <c:idx val="3"/>
              <c:delete val="1"/>
              <c:extLst>
                <c:ext xmlns:c15="http://schemas.microsoft.com/office/drawing/2012/chart" uri="{CE6537A1-D6FC-4f65-9D91-7224C49458BB}"/>
                <c:ext xmlns:c16="http://schemas.microsoft.com/office/drawing/2014/chart" uri="{C3380CC4-5D6E-409C-BE32-E72D297353CC}">
                  <c16:uniqueId val="{00000002-5571-4ABC-B256-FB5BDE7672D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3-5571-4ABC-B256-FB5BDE7672D3}"/>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5571-4ABC-B256-FB5BDE7672D3}"/>
                </c:ext>
              </c:extLst>
            </c:dLbl>
            <c:dLbl>
              <c:idx val="2"/>
              <c:delete val="1"/>
              <c:extLst>
                <c:ext xmlns:c15="http://schemas.microsoft.com/office/drawing/2012/chart" uri="{CE6537A1-D6FC-4f65-9D91-7224C49458BB}"/>
                <c:ext xmlns:c16="http://schemas.microsoft.com/office/drawing/2014/chart" uri="{C3380CC4-5D6E-409C-BE32-E72D297353CC}">
                  <c16:uniqueId val="{00000005-5571-4ABC-B256-FB5BDE7672D3}"/>
                </c:ext>
              </c:extLst>
            </c:dLbl>
            <c:dLbl>
              <c:idx val="3"/>
              <c:delete val="1"/>
              <c:extLst>
                <c:ext xmlns:c15="http://schemas.microsoft.com/office/drawing/2012/chart" uri="{CE6537A1-D6FC-4f65-9D91-7224C49458BB}"/>
                <c:ext xmlns:c16="http://schemas.microsoft.com/office/drawing/2014/chart" uri="{C3380CC4-5D6E-409C-BE32-E72D297353CC}">
                  <c16:uniqueId val="{00000006-5571-4ABC-B256-FB5BDE7672D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7-5571-4ABC-B256-FB5BDE7672D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36.6</c:v>
                </c:pt>
                <c:pt idx="1">
                  <c:v>29.9</c:v>
                </c:pt>
                <c:pt idx="2">
                  <c:v>29</c:v>
                </c:pt>
                <c:pt idx="3">
                  <c:v>24.8</c:v>
                </c:pt>
                <c:pt idx="4">
                  <c:v>16.2</c:v>
                </c:pt>
              </c:numCache>
            </c:numRef>
          </c:val>
          <c:extLst>
            <c:ext xmlns:c16="http://schemas.microsoft.com/office/drawing/2014/chart" uri="{C3380CC4-5D6E-409C-BE32-E72D297353CC}">
              <c16:uniqueId val="{00000000-97B2-4BCF-B0A2-1E1C386CAB37}"/>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1.3</c:v>
                </c:pt>
                <c:pt idx="1">
                  <c:v>0.4</c:v>
                </c:pt>
                <c:pt idx="2">
                  <c:v>0.2</c:v>
                </c:pt>
                <c:pt idx="3">
                  <c:v>1.4</c:v>
                </c:pt>
                <c:pt idx="4">
                  <c:v>2.7</c:v>
                </c:pt>
              </c:numCache>
            </c:numRef>
          </c:val>
          <c:extLst>
            <c:ext xmlns:c16="http://schemas.microsoft.com/office/drawing/2014/chart" uri="{C3380CC4-5D6E-409C-BE32-E72D297353CC}">
              <c16:uniqueId val="{00000001-97B2-4BCF-B0A2-1E1C386CAB37}"/>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41</c:v>
                </c:pt>
                <c:pt idx="1">
                  <c:v>40.299999999999997</c:v>
                </c:pt>
                <c:pt idx="2">
                  <c:v>42.9</c:v>
                </c:pt>
                <c:pt idx="3">
                  <c:v>45.7</c:v>
                </c:pt>
                <c:pt idx="4">
                  <c:v>41.6</c:v>
                </c:pt>
              </c:numCache>
            </c:numRef>
          </c:val>
          <c:extLst>
            <c:ext xmlns:c16="http://schemas.microsoft.com/office/drawing/2014/chart" uri="{C3380CC4-5D6E-409C-BE32-E72D297353CC}">
              <c16:uniqueId val="{00000002-97B2-4BCF-B0A2-1E1C386CAB37}"/>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10.8</c:v>
                </c:pt>
                <c:pt idx="1">
                  <c:v>9</c:v>
                </c:pt>
                <c:pt idx="2">
                  <c:v>6.4</c:v>
                </c:pt>
                <c:pt idx="3">
                  <c:v>7.9</c:v>
                </c:pt>
                <c:pt idx="4">
                  <c:v>14.5</c:v>
                </c:pt>
              </c:numCache>
            </c:numRef>
          </c:val>
          <c:extLst>
            <c:ext xmlns:c16="http://schemas.microsoft.com/office/drawing/2014/chart" uri="{C3380CC4-5D6E-409C-BE32-E72D297353CC}">
              <c16:uniqueId val="{00000003-97B2-4BCF-B0A2-1E1C386CAB37}"/>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89.7</c:v>
                </c:pt>
                <c:pt idx="1">
                  <c:v>79.599999999999994</c:v>
                </c:pt>
                <c:pt idx="2">
                  <c:v>78.5</c:v>
                </c:pt>
                <c:pt idx="3">
                  <c:v>79.800000000000011</c:v>
                </c:pt>
                <c:pt idx="4">
                  <c:v>75</c:v>
                </c:pt>
              </c:numCache>
            </c:numRef>
          </c:val>
          <c:smooth val="0"/>
          <c:extLst>
            <c:ext xmlns:c16="http://schemas.microsoft.com/office/drawing/2014/chart" uri="{C3380CC4-5D6E-409C-BE32-E72D297353CC}">
              <c16:uniqueId val="{00000004-97B2-4BCF-B0A2-1E1C386CAB3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B8FA-40CD-BAF9-61B5C53E7D63}"/>
                </c:ext>
              </c:extLst>
            </c:dLbl>
            <c:dLbl>
              <c:idx val="2"/>
              <c:delete val="1"/>
              <c:extLst>
                <c:ext xmlns:c15="http://schemas.microsoft.com/office/drawing/2012/chart" uri="{CE6537A1-D6FC-4f65-9D91-7224C49458BB}"/>
                <c:ext xmlns:c16="http://schemas.microsoft.com/office/drawing/2014/chart" uri="{C3380CC4-5D6E-409C-BE32-E72D297353CC}">
                  <c16:uniqueId val="{00000001-B8FA-40CD-BAF9-61B5C53E7D63}"/>
                </c:ext>
              </c:extLst>
            </c:dLbl>
            <c:dLbl>
              <c:idx val="3"/>
              <c:delete val="1"/>
              <c:extLst>
                <c:ext xmlns:c15="http://schemas.microsoft.com/office/drawing/2012/chart" uri="{CE6537A1-D6FC-4f65-9D91-7224C49458BB}"/>
                <c:ext xmlns:c16="http://schemas.microsoft.com/office/drawing/2014/chart" uri="{C3380CC4-5D6E-409C-BE32-E72D297353CC}">
                  <c16:uniqueId val="{00000002-B8FA-40CD-BAF9-61B5C53E7D6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3-B8FA-40CD-BAF9-61B5C53E7D63}"/>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B8FA-40CD-BAF9-61B5C53E7D63}"/>
                </c:ext>
              </c:extLst>
            </c:dLbl>
            <c:dLbl>
              <c:idx val="2"/>
              <c:delete val="1"/>
              <c:extLst>
                <c:ext xmlns:c15="http://schemas.microsoft.com/office/drawing/2012/chart" uri="{CE6537A1-D6FC-4f65-9D91-7224C49458BB}"/>
                <c:ext xmlns:c16="http://schemas.microsoft.com/office/drawing/2014/chart" uri="{C3380CC4-5D6E-409C-BE32-E72D297353CC}">
                  <c16:uniqueId val="{00000005-B8FA-40CD-BAF9-61B5C53E7D63}"/>
                </c:ext>
              </c:extLst>
            </c:dLbl>
            <c:dLbl>
              <c:idx val="3"/>
              <c:delete val="1"/>
              <c:extLst>
                <c:ext xmlns:c15="http://schemas.microsoft.com/office/drawing/2012/chart" uri="{CE6537A1-D6FC-4f65-9D91-7224C49458BB}"/>
                <c:ext xmlns:c16="http://schemas.microsoft.com/office/drawing/2014/chart" uri="{C3380CC4-5D6E-409C-BE32-E72D297353CC}">
                  <c16:uniqueId val="{00000006-B8FA-40CD-BAF9-61B5C53E7D63}"/>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7-B8FA-40CD-BAF9-61B5C53E7D6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46.7</c:v>
                </c:pt>
                <c:pt idx="1">
                  <c:v>49</c:v>
                </c:pt>
                <c:pt idx="2">
                  <c:v>43.1</c:v>
                </c:pt>
                <c:pt idx="3">
                  <c:v>39.9</c:v>
                </c:pt>
                <c:pt idx="4">
                  <c:v>23.4</c:v>
                </c:pt>
              </c:numCache>
            </c:numRef>
          </c:val>
          <c:extLst>
            <c:ext xmlns:c16="http://schemas.microsoft.com/office/drawing/2014/chart" uri="{C3380CC4-5D6E-409C-BE32-E72D297353CC}">
              <c16:uniqueId val="{00000000-8261-41CA-923E-9D4A75A37D6A}"/>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2.5</c:v>
                </c:pt>
                <c:pt idx="2">
                  <c:v>0.5</c:v>
                </c:pt>
                <c:pt idx="3">
                  <c:v>2.9</c:v>
                </c:pt>
                <c:pt idx="4">
                  <c:v>3.3</c:v>
                </c:pt>
              </c:numCache>
            </c:numRef>
          </c:val>
          <c:extLst>
            <c:ext xmlns:c16="http://schemas.microsoft.com/office/drawing/2014/chart" uri="{C3380CC4-5D6E-409C-BE32-E72D297353CC}">
              <c16:uniqueId val="{00000001-8261-41CA-923E-9D4A75A37D6A}"/>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32.9</c:v>
                </c:pt>
                <c:pt idx="1">
                  <c:v>30.4</c:v>
                </c:pt>
                <c:pt idx="2">
                  <c:v>26.6</c:v>
                </c:pt>
                <c:pt idx="3">
                  <c:v>33.200000000000003</c:v>
                </c:pt>
                <c:pt idx="4">
                  <c:v>39.700000000000003</c:v>
                </c:pt>
              </c:numCache>
            </c:numRef>
          </c:val>
          <c:extLst>
            <c:ext xmlns:c16="http://schemas.microsoft.com/office/drawing/2014/chart" uri="{C3380CC4-5D6E-409C-BE32-E72D297353CC}">
              <c16:uniqueId val="{00000002-8261-41CA-923E-9D4A75A37D6A}"/>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10.3</c:v>
                </c:pt>
                <c:pt idx="1">
                  <c:v>6.8</c:v>
                </c:pt>
                <c:pt idx="2">
                  <c:v>8.3000000000000007</c:v>
                </c:pt>
                <c:pt idx="3">
                  <c:v>9.6999999999999993</c:v>
                </c:pt>
                <c:pt idx="4">
                  <c:v>12.2</c:v>
                </c:pt>
              </c:numCache>
            </c:numRef>
          </c:val>
          <c:extLst>
            <c:ext xmlns:c16="http://schemas.microsoft.com/office/drawing/2014/chart" uri="{C3380CC4-5D6E-409C-BE32-E72D297353CC}">
              <c16:uniqueId val="{00000003-8261-41CA-923E-9D4A75A37D6A}"/>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93.899999999999991</c:v>
                </c:pt>
                <c:pt idx="1">
                  <c:v>88.7</c:v>
                </c:pt>
                <c:pt idx="2">
                  <c:v>78.5</c:v>
                </c:pt>
                <c:pt idx="3">
                  <c:v>85.7</c:v>
                </c:pt>
                <c:pt idx="4">
                  <c:v>78.600000000000009</c:v>
                </c:pt>
              </c:numCache>
            </c:numRef>
          </c:val>
          <c:smooth val="0"/>
          <c:extLst>
            <c:ext xmlns:c16="http://schemas.microsoft.com/office/drawing/2014/chart" uri="{C3380CC4-5D6E-409C-BE32-E72D297353CC}">
              <c16:uniqueId val="{00000004-8261-41CA-923E-9D4A75A37D6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3417-4DD9-A72F-3E8129C71DDF}"/>
                </c:ext>
              </c:extLst>
            </c:dLbl>
            <c:dLbl>
              <c:idx val="2"/>
              <c:delete val="1"/>
              <c:extLst>
                <c:ext xmlns:c15="http://schemas.microsoft.com/office/drawing/2012/chart" uri="{CE6537A1-D6FC-4f65-9D91-7224C49458BB}"/>
                <c:ext xmlns:c16="http://schemas.microsoft.com/office/drawing/2014/chart" uri="{C3380CC4-5D6E-409C-BE32-E72D297353CC}">
                  <c16:uniqueId val="{00000001-3417-4DD9-A72F-3E8129C71DDF}"/>
                </c:ext>
              </c:extLst>
            </c:dLbl>
            <c:dLbl>
              <c:idx val="3"/>
              <c:delete val="1"/>
              <c:extLst>
                <c:ext xmlns:c15="http://schemas.microsoft.com/office/drawing/2012/chart" uri="{CE6537A1-D6FC-4f65-9D91-7224C49458BB}"/>
                <c:ext xmlns:c16="http://schemas.microsoft.com/office/drawing/2014/chart" uri="{C3380CC4-5D6E-409C-BE32-E72D297353CC}">
                  <c16:uniqueId val="{00000002-3417-4DD9-A72F-3E8129C71DD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3-3417-4DD9-A72F-3E8129C71DDF}"/>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3417-4DD9-A72F-3E8129C71DDF}"/>
                </c:ext>
              </c:extLst>
            </c:dLbl>
            <c:dLbl>
              <c:idx val="2"/>
              <c:delete val="1"/>
              <c:extLst>
                <c:ext xmlns:c15="http://schemas.microsoft.com/office/drawing/2012/chart" uri="{CE6537A1-D6FC-4f65-9D91-7224C49458BB}"/>
                <c:ext xmlns:c16="http://schemas.microsoft.com/office/drawing/2014/chart" uri="{C3380CC4-5D6E-409C-BE32-E72D297353CC}">
                  <c16:uniqueId val="{00000005-3417-4DD9-A72F-3E8129C71DDF}"/>
                </c:ext>
              </c:extLst>
            </c:dLbl>
            <c:dLbl>
              <c:idx val="3"/>
              <c:delete val="1"/>
              <c:extLst>
                <c:ext xmlns:c15="http://schemas.microsoft.com/office/drawing/2012/chart" uri="{CE6537A1-D6FC-4f65-9D91-7224C49458BB}"/>
                <c:ext xmlns:c16="http://schemas.microsoft.com/office/drawing/2014/chart" uri="{C3380CC4-5D6E-409C-BE32-E72D297353CC}">
                  <c16:uniqueId val="{00000006-3417-4DD9-A72F-3E8129C71DDF}"/>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7-3417-4DD9-A72F-3E8129C71DD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31.5</c:v>
                </c:pt>
                <c:pt idx="1">
                  <c:v>28.9</c:v>
                </c:pt>
                <c:pt idx="2">
                  <c:v>22.9</c:v>
                </c:pt>
                <c:pt idx="3">
                  <c:v>16.600000000000001</c:v>
                </c:pt>
                <c:pt idx="4">
                  <c:v>11.2</c:v>
                </c:pt>
              </c:numCache>
            </c:numRef>
          </c:val>
          <c:extLst>
            <c:ext xmlns:c16="http://schemas.microsoft.com/office/drawing/2014/chart" uri="{C3380CC4-5D6E-409C-BE32-E72D297353CC}">
              <c16:uniqueId val="{00000000-318F-4603-8A1F-681471C5B0F0}"/>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3.6</c:v>
                </c:pt>
                <c:pt idx="1">
                  <c:v>1.5</c:v>
                </c:pt>
                <c:pt idx="2">
                  <c:v>1</c:v>
                </c:pt>
                <c:pt idx="3">
                  <c:v>1.6</c:v>
                </c:pt>
                <c:pt idx="4">
                  <c:v>3.5</c:v>
                </c:pt>
              </c:numCache>
            </c:numRef>
          </c:val>
          <c:extLst>
            <c:ext xmlns:c16="http://schemas.microsoft.com/office/drawing/2014/chart" uri="{C3380CC4-5D6E-409C-BE32-E72D297353CC}">
              <c16:uniqueId val="{00000001-318F-4603-8A1F-681471C5B0F0}"/>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41.1</c:v>
                </c:pt>
                <c:pt idx="1">
                  <c:v>43.8</c:v>
                </c:pt>
                <c:pt idx="2">
                  <c:v>40.4</c:v>
                </c:pt>
                <c:pt idx="3">
                  <c:v>42.9</c:v>
                </c:pt>
                <c:pt idx="4">
                  <c:v>35.9</c:v>
                </c:pt>
              </c:numCache>
            </c:numRef>
          </c:val>
          <c:extLst>
            <c:ext xmlns:c16="http://schemas.microsoft.com/office/drawing/2014/chart" uri="{C3380CC4-5D6E-409C-BE32-E72D297353CC}">
              <c16:uniqueId val="{00000002-318F-4603-8A1F-681471C5B0F0}"/>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12</c:v>
                </c:pt>
                <c:pt idx="1">
                  <c:v>12.6</c:v>
                </c:pt>
                <c:pt idx="2">
                  <c:v>10.4</c:v>
                </c:pt>
                <c:pt idx="3">
                  <c:v>17.899999999999999</c:v>
                </c:pt>
                <c:pt idx="4">
                  <c:v>17.8</c:v>
                </c:pt>
              </c:numCache>
            </c:numRef>
          </c:val>
          <c:extLst>
            <c:ext xmlns:c16="http://schemas.microsoft.com/office/drawing/2014/chart" uri="{C3380CC4-5D6E-409C-BE32-E72D297353CC}">
              <c16:uniqueId val="{00000003-318F-4603-8A1F-681471C5B0F0}"/>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88.2</c:v>
                </c:pt>
                <c:pt idx="1">
                  <c:v>86.799999999999983</c:v>
                </c:pt>
                <c:pt idx="2">
                  <c:v>74.7</c:v>
                </c:pt>
                <c:pt idx="3">
                  <c:v>79</c:v>
                </c:pt>
                <c:pt idx="4">
                  <c:v>68.399999999999991</c:v>
                </c:pt>
              </c:numCache>
            </c:numRef>
          </c:val>
          <c:smooth val="0"/>
          <c:extLst>
            <c:ext xmlns:c16="http://schemas.microsoft.com/office/drawing/2014/chart" uri="{C3380CC4-5D6E-409C-BE32-E72D297353CC}">
              <c16:uniqueId val="{00000004-318F-4603-8A1F-681471C5B0F0}"/>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BBBA-46EF-A799-FD71EE0C9FF9}"/>
                </c:ext>
              </c:extLst>
            </c:dLbl>
            <c:dLbl>
              <c:idx val="2"/>
              <c:delete val="1"/>
              <c:extLst>
                <c:ext xmlns:c15="http://schemas.microsoft.com/office/drawing/2012/chart" uri="{CE6537A1-D6FC-4f65-9D91-7224C49458BB}"/>
                <c:ext xmlns:c16="http://schemas.microsoft.com/office/drawing/2014/chart" uri="{C3380CC4-5D6E-409C-BE32-E72D297353CC}">
                  <c16:uniqueId val="{00000001-BBBA-46EF-A799-FD71EE0C9FF9}"/>
                </c:ext>
              </c:extLst>
            </c:dLbl>
            <c:dLbl>
              <c:idx val="3"/>
              <c:delete val="1"/>
              <c:extLst>
                <c:ext xmlns:c15="http://schemas.microsoft.com/office/drawing/2012/chart" uri="{CE6537A1-D6FC-4f65-9D91-7224C49458BB}"/>
                <c:ext xmlns:c16="http://schemas.microsoft.com/office/drawing/2014/chart" uri="{C3380CC4-5D6E-409C-BE32-E72D297353CC}">
                  <c16:uniqueId val="{00000002-BBBA-46EF-A799-FD71EE0C9FF9}"/>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3-BBBA-46EF-A799-FD71EE0C9FF9}"/>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BBBA-46EF-A799-FD71EE0C9FF9}"/>
                </c:ext>
              </c:extLst>
            </c:dLbl>
            <c:dLbl>
              <c:idx val="2"/>
              <c:delete val="1"/>
              <c:extLst>
                <c:ext xmlns:c15="http://schemas.microsoft.com/office/drawing/2012/chart" uri="{CE6537A1-D6FC-4f65-9D91-7224C49458BB}"/>
                <c:ext xmlns:c16="http://schemas.microsoft.com/office/drawing/2014/chart" uri="{C3380CC4-5D6E-409C-BE32-E72D297353CC}">
                  <c16:uniqueId val="{00000005-BBBA-46EF-A799-FD71EE0C9FF9}"/>
                </c:ext>
              </c:extLst>
            </c:dLbl>
            <c:dLbl>
              <c:idx val="3"/>
              <c:delete val="1"/>
              <c:extLst>
                <c:ext xmlns:c15="http://schemas.microsoft.com/office/drawing/2012/chart" uri="{CE6537A1-D6FC-4f65-9D91-7224C49458BB}"/>
                <c:ext xmlns:c16="http://schemas.microsoft.com/office/drawing/2014/chart" uri="{C3380CC4-5D6E-409C-BE32-E72D297353CC}">
                  <c16:uniqueId val="{00000006-BBBA-46EF-A799-FD71EE0C9FF9}"/>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7-BBBA-46EF-A799-FD71EE0C9FF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35.4</c:v>
                </c:pt>
                <c:pt idx="1">
                  <c:v>34</c:v>
                </c:pt>
                <c:pt idx="2">
                  <c:v>30.7</c:v>
                </c:pt>
                <c:pt idx="3">
                  <c:v>24.9</c:v>
                </c:pt>
                <c:pt idx="4">
                  <c:v>17.7</c:v>
                </c:pt>
              </c:numCache>
            </c:numRef>
          </c:val>
          <c:extLst>
            <c:ext xmlns:c16="http://schemas.microsoft.com/office/drawing/2014/chart" uri="{C3380CC4-5D6E-409C-BE32-E72D297353CC}">
              <c16:uniqueId val="{00000000-F4C6-4842-955D-E04BB913766C}"/>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2.2000000000000002</c:v>
                </c:pt>
                <c:pt idx="1">
                  <c:v>0.7</c:v>
                </c:pt>
                <c:pt idx="2">
                  <c:v>0.6</c:v>
                </c:pt>
                <c:pt idx="3">
                  <c:v>1.5</c:v>
                </c:pt>
                <c:pt idx="4">
                  <c:v>1.8</c:v>
                </c:pt>
              </c:numCache>
            </c:numRef>
          </c:val>
          <c:extLst>
            <c:ext xmlns:c16="http://schemas.microsoft.com/office/drawing/2014/chart" uri="{C3380CC4-5D6E-409C-BE32-E72D297353CC}">
              <c16:uniqueId val="{00000001-F4C6-4842-955D-E04BB913766C}"/>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35.299999999999997</c:v>
                </c:pt>
                <c:pt idx="1">
                  <c:v>32.1</c:v>
                </c:pt>
                <c:pt idx="2">
                  <c:v>31.6</c:v>
                </c:pt>
                <c:pt idx="3">
                  <c:v>36.6</c:v>
                </c:pt>
                <c:pt idx="4">
                  <c:v>31.1</c:v>
                </c:pt>
              </c:numCache>
            </c:numRef>
          </c:val>
          <c:extLst>
            <c:ext xmlns:c16="http://schemas.microsoft.com/office/drawing/2014/chart" uri="{C3380CC4-5D6E-409C-BE32-E72D297353CC}">
              <c16:uniqueId val="{00000002-F4C6-4842-955D-E04BB913766C}"/>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11.6</c:v>
                </c:pt>
                <c:pt idx="1">
                  <c:v>11.6</c:v>
                </c:pt>
                <c:pt idx="2">
                  <c:v>13.6</c:v>
                </c:pt>
                <c:pt idx="3">
                  <c:v>17.600000000000001</c:v>
                </c:pt>
                <c:pt idx="4">
                  <c:v>15.8</c:v>
                </c:pt>
              </c:numCache>
            </c:numRef>
          </c:val>
          <c:extLst>
            <c:ext xmlns:c16="http://schemas.microsoft.com/office/drawing/2014/chart" uri="{C3380CC4-5D6E-409C-BE32-E72D297353CC}">
              <c16:uniqueId val="{00000003-F4C6-4842-955D-E04BB913766C}"/>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84.5</c:v>
                </c:pt>
                <c:pt idx="1">
                  <c:v>78.400000000000006</c:v>
                </c:pt>
                <c:pt idx="2">
                  <c:v>76.5</c:v>
                </c:pt>
                <c:pt idx="3">
                  <c:v>80.599999999999994</c:v>
                </c:pt>
                <c:pt idx="4">
                  <c:v>66.400000000000006</c:v>
                </c:pt>
              </c:numCache>
            </c:numRef>
          </c:val>
          <c:smooth val="0"/>
          <c:extLst>
            <c:ext xmlns:c16="http://schemas.microsoft.com/office/drawing/2014/chart" uri="{C3380CC4-5D6E-409C-BE32-E72D297353CC}">
              <c16:uniqueId val="{00000004-F4C6-4842-955D-E04BB913766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01D9-4F95-B813-3DBBD27BC835}"/>
                </c:ext>
              </c:extLst>
            </c:dLbl>
            <c:dLbl>
              <c:idx val="2"/>
              <c:delete val="1"/>
              <c:extLst>
                <c:ext xmlns:c15="http://schemas.microsoft.com/office/drawing/2012/chart" uri="{CE6537A1-D6FC-4f65-9D91-7224C49458BB}"/>
                <c:ext xmlns:c16="http://schemas.microsoft.com/office/drawing/2014/chart" uri="{C3380CC4-5D6E-409C-BE32-E72D297353CC}">
                  <c16:uniqueId val="{00000001-01D9-4F95-B813-3DBBD27BC835}"/>
                </c:ext>
              </c:extLst>
            </c:dLbl>
            <c:dLbl>
              <c:idx val="3"/>
              <c:delete val="1"/>
              <c:extLst>
                <c:ext xmlns:c15="http://schemas.microsoft.com/office/drawing/2012/chart" uri="{CE6537A1-D6FC-4f65-9D91-7224C49458BB}"/>
                <c:ext xmlns:c16="http://schemas.microsoft.com/office/drawing/2014/chart" uri="{C3380CC4-5D6E-409C-BE32-E72D297353CC}">
                  <c16:uniqueId val="{00000002-01D9-4F95-B813-3DBBD27BC83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3-01D9-4F95-B813-3DBBD27BC835}"/>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01D9-4F95-B813-3DBBD27BC835}"/>
                </c:ext>
              </c:extLst>
            </c:dLbl>
            <c:dLbl>
              <c:idx val="2"/>
              <c:delete val="1"/>
              <c:extLst>
                <c:ext xmlns:c15="http://schemas.microsoft.com/office/drawing/2012/chart" uri="{CE6537A1-D6FC-4f65-9D91-7224C49458BB}"/>
                <c:ext xmlns:c16="http://schemas.microsoft.com/office/drawing/2014/chart" uri="{C3380CC4-5D6E-409C-BE32-E72D297353CC}">
                  <c16:uniqueId val="{00000005-01D9-4F95-B813-3DBBD27BC835}"/>
                </c:ext>
              </c:extLst>
            </c:dLbl>
            <c:dLbl>
              <c:idx val="3"/>
              <c:delete val="1"/>
              <c:extLst>
                <c:ext xmlns:c15="http://schemas.microsoft.com/office/drawing/2012/chart" uri="{CE6537A1-D6FC-4f65-9D91-7224C49458BB}"/>
                <c:ext xmlns:c16="http://schemas.microsoft.com/office/drawing/2014/chart" uri="{C3380CC4-5D6E-409C-BE32-E72D297353CC}">
                  <c16:uniqueId val="{00000006-01D9-4F95-B813-3DBBD27BC835}"/>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7-01D9-4F95-B813-3DBBD27BC835}"/>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43.2</c:v>
                </c:pt>
                <c:pt idx="1">
                  <c:v>69.2</c:v>
                </c:pt>
                <c:pt idx="2">
                  <c:v>54</c:v>
                </c:pt>
                <c:pt idx="3">
                  <c:v>38.299999999999997</c:v>
                </c:pt>
                <c:pt idx="4">
                  <c:v>18.3</c:v>
                </c:pt>
              </c:numCache>
            </c:numRef>
          </c:val>
          <c:extLst>
            <c:ext xmlns:c16="http://schemas.microsoft.com/office/drawing/2014/chart" uri="{C3380CC4-5D6E-409C-BE32-E72D297353CC}">
              <c16:uniqueId val="{00000000-A2F8-4719-9D8F-B6A0D19EC9AB}"/>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2.2999999999999998</c:v>
                </c:pt>
                <c:pt idx="1">
                  <c:v>1.3</c:v>
                </c:pt>
                <c:pt idx="2">
                  <c:v>1.1000000000000001</c:v>
                </c:pt>
                <c:pt idx="3">
                  <c:v>3.8</c:v>
                </c:pt>
                <c:pt idx="4">
                  <c:v>6</c:v>
                </c:pt>
              </c:numCache>
            </c:numRef>
          </c:val>
          <c:extLst>
            <c:ext xmlns:c16="http://schemas.microsoft.com/office/drawing/2014/chart" uri="{C3380CC4-5D6E-409C-BE32-E72D297353CC}">
              <c16:uniqueId val="{00000001-A2F8-4719-9D8F-B6A0D19EC9AB}"/>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32.6</c:v>
                </c:pt>
                <c:pt idx="1">
                  <c:v>21.2</c:v>
                </c:pt>
                <c:pt idx="2">
                  <c:v>22.9</c:v>
                </c:pt>
                <c:pt idx="3">
                  <c:v>28.4</c:v>
                </c:pt>
                <c:pt idx="4">
                  <c:v>27.5</c:v>
                </c:pt>
              </c:numCache>
            </c:numRef>
          </c:val>
          <c:extLst>
            <c:ext xmlns:c16="http://schemas.microsoft.com/office/drawing/2014/chart" uri="{C3380CC4-5D6E-409C-BE32-E72D297353CC}">
              <c16:uniqueId val="{00000002-A2F8-4719-9D8F-B6A0D19EC9AB}"/>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c:v>
                </c:pt>
                <c:pt idx="1">
                  <c:v>2.2999999999999998</c:v>
                </c:pt>
                <c:pt idx="2">
                  <c:v>6.2</c:v>
                </c:pt>
                <c:pt idx="3">
                  <c:v>13.7</c:v>
                </c:pt>
                <c:pt idx="4">
                  <c:v>26.9</c:v>
                </c:pt>
              </c:numCache>
            </c:numRef>
          </c:val>
          <c:extLst>
            <c:ext xmlns:c16="http://schemas.microsoft.com/office/drawing/2014/chart" uri="{C3380CC4-5D6E-409C-BE32-E72D297353CC}">
              <c16:uniqueId val="{00000003-A2F8-4719-9D8F-B6A0D19EC9AB}"/>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88.1</c:v>
                </c:pt>
                <c:pt idx="1">
                  <c:v>94</c:v>
                </c:pt>
                <c:pt idx="2">
                  <c:v>84.2</c:v>
                </c:pt>
                <c:pt idx="3">
                  <c:v>84.2</c:v>
                </c:pt>
                <c:pt idx="4">
                  <c:v>78.699999999999989</c:v>
                </c:pt>
              </c:numCache>
            </c:numRef>
          </c:val>
          <c:smooth val="0"/>
          <c:extLst>
            <c:ext xmlns:c16="http://schemas.microsoft.com/office/drawing/2014/chart" uri="{C3380CC4-5D6E-409C-BE32-E72D297353CC}">
              <c16:uniqueId val="{00000004-A2F8-4719-9D8F-B6A0D19EC9A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03AB-409C-BAC4-CE95F90F842D}"/>
                </c:ext>
              </c:extLst>
            </c:dLbl>
            <c:dLbl>
              <c:idx val="2"/>
              <c:delete val="1"/>
              <c:extLst>
                <c:ext xmlns:c15="http://schemas.microsoft.com/office/drawing/2012/chart" uri="{CE6537A1-D6FC-4f65-9D91-7224C49458BB}"/>
                <c:ext xmlns:c16="http://schemas.microsoft.com/office/drawing/2014/chart" uri="{C3380CC4-5D6E-409C-BE32-E72D297353CC}">
                  <c16:uniqueId val="{00000001-03AB-409C-BAC4-CE95F90F842D}"/>
                </c:ext>
              </c:extLst>
            </c:dLbl>
            <c:dLbl>
              <c:idx val="3"/>
              <c:delete val="1"/>
              <c:extLst>
                <c:ext xmlns:c15="http://schemas.microsoft.com/office/drawing/2012/chart" uri="{CE6537A1-D6FC-4f65-9D91-7224C49458BB}"/>
                <c:ext xmlns:c16="http://schemas.microsoft.com/office/drawing/2014/chart" uri="{C3380CC4-5D6E-409C-BE32-E72D297353CC}">
                  <c16:uniqueId val="{00000002-03AB-409C-BAC4-CE95F90F842D}"/>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3-03AB-409C-BAC4-CE95F90F842D}"/>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03AB-409C-BAC4-CE95F90F842D}"/>
                </c:ext>
              </c:extLst>
            </c:dLbl>
            <c:dLbl>
              <c:idx val="2"/>
              <c:delete val="1"/>
              <c:extLst>
                <c:ext xmlns:c15="http://schemas.microsoft.com/office/drawing/2012/chart" uri="{CE6537A1-D6FC-4f65-9D91-7224C49458BB}"/>
                <c:ext xmlns:c16="http://schemas.microsoft.com/office/drawing/2014/chart" uri="{C3380CC4-5D6E-409C-BE32-E72D297353CC}">
                  <c16:uniqueId val="{00000005-03AB-409C-BAC4-CE95F90F842D}"/>
                </c:ext>
              </c:extLst>
            </c:dLbl>
            <c:dLbl>
              <c:idx val="3"/>
              <c:delete val="1"/>
              <c:extLst>
                <c:ext xmlns:c15="http://schemas.microsoft.com/office/drawing/2012/chart" uri="{CE6537A1-D6FC-4f65-9D91-7224C49458BB}"/>
                <c:ext xmlns:c16="http://schemas.microsoft.com/office/drawing/2014/chart" uri="{C3380CC4-5D6E-409C-BE32-E72D297353CC}">
                  <c16:uniqueId val="{00000006-03AB-409C-BAC4-CE95F90F842D}"/>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7-03AB-409C-BAC4-CE95F90F842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59.4</c:v>
                </c:pt>
                <c:pt idx="1">
                  <c:v>58.5</c:v>
                </c:pt>
                <c:pt idx="2">
                  <c:v>48.3</c:v>
                </c:pt>
                <c:pt idx="3">
                  <c:v>38.6</c:v>
                </c:pt>
                <c:pt idx="4">
                  <c:v>22.7</c:v>
                </c:pt>
              </c:numCache>
            </c:numRef>
          </c:val>
          <c:extLst>
            <c:ext xmlns:c16="http://schemas.microsoft.com/office/drawing/2014/chart" uri="{C3380CC4-5D6E-409C-BE32-E72D297353CC}">
              <c16:uniqueId val="{00000000-38EC-4DFF-AFE4-BF42DFD05B0A}"/>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11.4</c:v>
                </c:pt>
                <c:pt idx="1">
                  <c:v>1.2</c:v>
                </c:pt>
                <c:pt idx="2">
                  <c:v>3.4</c:v>
                </c:pt>
                <c:pt idx="3">
                  <c:v>5.4</c:v>
                </c:pt>
                <c:pt idx="4">
                  <c:v>8.5</c:v>
                </c:pt>
              </c:numCache>
            </c:numRef>
          </c:val>
          <c:extLst>
            <c:ext xmlns:c16="http://schemas.microsoft.com/office/drawing/2014/chart" uri="{C3380CC4-5D6E-409C-BE32-E72D297353CC}">
              <c16:uniqueId val="{00000001-38EC-4DFF-AFE4-BF42DFD05B0A}"/>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22.4</c:v>
                </c:pt>
                <c:pt idx="1">
                  <c:v>25.3</c:v>
                </c:pt>
                <c:pt idx="2">
                  <c:v>28.2</c:v>
                </c:pt>
                <c:pt idx="3">
                  <c:v>33.1</c:v>
                </c:pt>
                <c:pt idx="4">
                  <c:v>33</c:v>
                </c:pt>
              </c:numCache>
            </c:numRef>
          </c:val>
          <c:extLst>
            <c:ext xmlns:c16="http://schemas.microsoft.com/office/drawing/2014/chart" uri="{C3380CC4-5D6E-409C-BE32-E72D297353CC}">
              <c16:uniqueId val="{00000002-38EC-4DFF-AFE4-BF42DFD05B0A}"/>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3.4</c:v>
                </c:pt>
                <c:pt idx="1">
                  <c:v>3.9</c:v>
                </c:pt>
                <c:pt idx="2">
                  <c:v>8.1</c:v>
                </c:pt>
                <c:pt idx="3">
                  <c:v>14</c:v>
                </c:pt>
                <c:pt idx="4">
                  <c:v>16.7</c:v>
                </c:pt>
              </c:numCache>
            </c:numRef>
          </c:val>
          <c:extLst>
            <c:ext xmlns:c16="http://schemas.microsoft.com/office/drawing/2014/chart" uri="{C3380CC4-5D6E-409C-BE32-E72D297353CC}">
              <c16:uniqueId val="{00000003-38EC-4DFF-AFE4-BF42DFD05B0A}"/>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96.6</c:v>
                </c:pt>
                <c:pt idx="1">
                  <c:v>88.9</c:v>
                </c:pt>
                <c:pt idx="2">
                  <c:v>87.999999999999986</c:v>
                </c:pt>
                <c:pt idx="3">
                  <c:v>91.1</c:v>
                </c:pt>
                <c:pt idx="4">
                  <c:v>80.900000000000006</c:v>
                </c:pt>
              </c:numCache>
            </c:numRef>
          </c:val>
          <c:smooth val="0"/>
          <c:extLst>
            <c:ext xmlns:c16="http://schemas.microsoft.com/office/drawing/2014/chart" uri="{C3380CC4-5D6E-409C-BE32-E72D297353CC}">
              <c16:uniqueId val="{00000004-38EC-4DFF-AFE4-BF42DFD05B0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26F2-4A9C-9714-BC8D3BA0AB3A}"/>
                </c:ext>
              </c:extLst>
            </c:dLbl>
            <c:dLbl>
              <c:idx val="2"/>
              <c:delete val="1"/>
              <c:extLst>
                <c:ext xmlns:c15="http://schemas.microsoft.com/office/drawing/2012/chart" uri="{CE6537A1-D6FC-4f65-9D91-7224C49458BB}"/>
                <c:ext xmlns:c16="http://schemas.microsoft.com/office/drawing/2014/chart" uri="{C3380CC4-5D6E-409C-BE32-E72D297353CC}">
                  <c16:uniqueId val="{00000001-26F2-4A9C-9714-BC8D3BA0AB3A}"/>
                </c:ext>
              </c:extLst>
            </c:dLbl>
            <c:dLbl>
              <c:idx val="3"/>
              <c:delete val="1"/>
              <c:extLst>
                <c:ext xmlns:c15="http://schemas.microsoft.com/office/drawing/2012/chart" uri="{CE6537A1-D6FC-4f65-9D91-7224C49458BB}"/>
                <c:ext xmlns:c16="http://schemas.microsoft.com/office/drawing/2014/chart" uri="{C3380CC4-5D6E-409C-BE32-E72D297353CC}">
                  <c16:uniqueId val="{00000002-26F2-4A9C-9714-BC8D3BA0AB3A}"/>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3-26F2-4A9C-9714-BC8D3BA0AB3A}"/>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26F2-4A9C-9714-BC8D3BA0AB3A}"/>
                </c:ext>
              </c:extLst>
            </c:dLbl>
            <c:dLbl>
              <c:idx val="2"/>
              <c:delete val="1"/>
              <c:extLst>
                <c:ext xmlns:c15="http://schemas.microsoft.com/office/drawing/2012/chart" uri="{CE6537A1-D6FC-4f65-9D91-7224C49458BB}"/>
                <c:ext xmlns:c16="http://schemas.microsoft.com/office/drawing/2014/chart" uri="{C3380CC4-5D6E-409C-BE32-E72D297353CC}">
                  <c16:uniqueId val="{00000005-26F2-4A9C-9714-BC8D3BA0AB3A}"/>
                </c:ext>
              </c:extLst>
            </c:dLbl>
            <c:dLbl>
              <c:idx val="3"/>
              <c:delete val="1"/>
              <c:extLst>
                <c:ext xmlns:c15="http://schemas.microsoft.com/office/drawing/2012/chart" uri="{CE6537A1-D6FC-4f65-9D91-7224C49458BB}"/>
                <c:ext xmlns:c16="http://schemas.microsoft.com/office/drawing/2014/chart" uri="{C3380CC4-5D6E-409C-BE32-E72D297353CC}">
                  <c16:uniqueId val="{00000006-26F2-4A9C-9714-BC8D3BA0AB3A}"/>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7-26F2-4A9C-9714-BC8D3BA0AB3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34</c:v>
                </c:pt>
                <c:pt idx="1">
                  <c:v>25.2</c:v>
                </c:pt>
                <c:pt idx="2">
                  <c:v>22.7</c:v>
                </c:pt>
                <c:pt idx="3">
                  <c:v>19.7</c:v>
                </c:pt>
                <c:pt idx="4">
                  <c:v>13.8</c:v>
                </c:pt>
              </c:numCache>
            </c:numRef>
          </c:val>
          <c:extLst>
            <c:ext xmlns:c16="http://schemas.microsoft.com/office/drawing/2014/chart" uri="{C3380CC4-5D6E-409C-BE32-E72D297353CC}">
              <c16:uniqueId val="{00000000-FFE7-4414-A01C-9A7DDE645F3E}"/>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0.5</c:v>
                </c:pt>
                <c:pt idx="2">
                  <c:v>0.1</c:v>
                </c:pt>
                <c:pt idx="3">
                  <c:v>0.9</c:v>
                </c:pt>
                <c:pt idx="4">
                  <c:v>1</c:v>
                </c:pt>
              </c:numCache>
            </c:numRef>
          </c:val>
          <c:extLst>
            <c:ext xmlns:c16="http://schemas.microsoft.com/office/drawing/2014/chart" uri="{C3380CC4-5D6E-409C-BE32-E72D297353CC}">
              <c16:uniqueId val="{00000001-FFE7-4414-A01C-9A7DDE645F3E}"/>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32.299999999999997</c:v>
                </c:pt>
                <c:pt idx="1">
                  <c:v>28.3</c:v>
                </c:pt>
                <c:pt idx="2">
                  <c:v>32.4</c:v>
                </c:pt>
                <c:pt idx="3">
                  <c:v>32.4</c:v>
                </c:pt>
                <c:pt idx="4">
                  <c:v>28.2</c:v>
                </c:pt>
              </c:numCache>
            </c:numRef>
          </c:val>
          <c:extLst>
            <c:ext xmlns:c16="http://schemas.microsoft.com/office/drawing/2014/chart" uri="{C3380CC4-5D6E-409C-BE32-E72D297353CC}">
              <c16:uniqueId val="{00000002-FFE7-4414-A01C-9A7DDE645F3E}"/>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17</c:v>
                </c:pt>
                <c:pt idx="1">
                  <c:v>12.7</c:v>
                </c:pt>
                <c:pt idx="2">
                  <c:v>8.8000000000000007</c:v>
                </c:pt>
                <c:pt idx="3">
                  <c:v>11.3</c:v>
                </c:pt>
                <c:pt idx="4">
                  <c:v>17</c:v>
                </c:pt>
              </c:numCache>
            </c:numRef>
          </c:val>
          <c:extLst>
            <c:ext xmlns:c16="http://schemas.microsoft.com/office/drawing/2014/chart" uri="{C3380CC4-5D6E-409C-BE32-E72D297353CC}">
              <c16:uniqueId val="{00000003-FFE7-4414-A01C-9A7DDE645F3E}"/>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84.3</c:v>
                </c:pt>
                <c:pt idx="1">
                  <c:v>66.7</c:v>
                </c:pt>
                <c:pt idx="2">
                  <c:v>64</c:v>
                </c:pt>
                <c:pt idx="3">
                  <c:v>64.3</c:v>
                </c:pt>
                <c:pt idx="4">
                  <c:v>60</c:v>
                </c:pt>
              </c:numCache>
            </c:numRef>
          </c:val>
          <c:smooth val="0"/>
          <c:extLst>
            <c:ext xmlns:c16="http://schemas.microsoft.com/office/drawing/2014/chart" uri="{C3380CC4-5D6E-409C-BE32-E72D297353CC}">
              <c16:uniqueId val="{00000004-FFE7-4414-A01C-9A7DDE645F3E}"/>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59D4-4D0E-B2E6-03D31F284AB8}"/>
                </c:ext>
              </c:extLst>
            </c:dLbl>
            <c:dLbl>
              <c:idx val="2"/>
              <c:delete val="1"/>
              <c:extLst>
                <c:ext xmlns:c15="http://schemas.microsoft.com/office/drawing/2012/chart" uri="{CE6537A1-D6FC-4f65-9D91-7224C49458BB}"/>
                <c:ext xmlns:c16="http://schemas.microsoft.com/office/drawing/2014/chart" uri="{C3380CC4-5D6E-409C-BE32-E72D297353CC}">
                  <c16:uniqueId val="{00000001-59D4-4D0E-B2E6-03D31F284AB8}"/>
                </c:ext>
              </c:extLst>
            </c:dLbl>
            <c:dLbl>
              <c:idx val="3"/>
              <c:delete val="1"/>
              <c:extLst>
                <c:ext xmlns:c15="http://schemas.microsoft.com/office/drawing/2012/chart" uri="{CE6537A1-D6FC-4f65-9D91-7224C49458BB}"/>
                <c:ext xmlns:c16="http://schemas.microsoft.com/office/drawing/2014/chart" uri="{C3380CC4-5D6E-409C-BE32-E72D297353CC}">
                  <c16:uniqueId val="{00000002-59D4-4D0E-B2E6-03D31F284AB8}"/>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3-59D4-4D0E-B2E6-03D31F284AB8}"/>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59D4-4D0E-B2E6-03D31F284AB8}"/>
                </c:ext>
              </c:extLst>
            </c:dLbl>
            <c:dLbl>
              <c:idx val="2"/>
              <c:delete val="1"/>
              <c:extLst>
                <c:ext xmlns:c15="http://schemas.microsoft.com/office/drawing/2012/chart" uri="{CE6537A1-D6FC-4f65-9D91-7224C49458BB}"/>
                <c:ext xmlns:c16="http://schemas.microsoft.com/office/drawing/2014/chart" uri="{C3380CC4-5D6E-409C-BE32-E72D297353CC}">
                  <c16:uniqueId val="{00000005-59D4-4D0E-B2E6-03D31F284AB8}"/>
                </c:ext>
              </c:extLst>
            </c:dLbl>
            <c:dLbl>
              <c:idx val="3"/>
              <c:delete val="1"/>
              <c:extLst>
                <c:ext xmlns:c15="http://schemas.microsoft.com/office/drawing/2012/chart" uri="{CE6537A1-D6FC-4f65-9D91-7224C49458BB}"/>
                <c:ext xmlns:c16="http://schemas.microsoft.com/office/drawing/2014/chart" uri="{C3380CC4-5D6E-409C-BE32-E72D297353CC}">
                  <c16:uniqueId val="{00000006-59D4-4D0E-B2E6-03D31F284AB8}"/>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7-59D4-4D0E-B2E6-03D31F284AB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49.4</c:v>
                </c:pt>
                <c:pt idx="1">
                  <c:v>43.8</c:v>
                </c:pt>
                <c:pt idx="2">
                  <c:v>39.200000000000003</c:v>
                </c:pt>
                <c:pt idx="3">
                  <c:v>36</c:v>
                </c:pt>
                <c:pt idx="4">
                  <c:v>22.3</c:v>
                </c:pt>
              </c:numCache>
            </c:numRef>
          </c:val>
          <c:extLst>
            <c:ext xmlns:c16="http://schemas.microsoft.com/office/drawing/2014/chart" uri="{C3380CC4-5D6E-409C-BE32-E72D297353CC}">
              <c16:uniqueId val="{00000000-F892-4FE6-84E5-B8CA9D474234}"/>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3.8</c:v>
                </c:pt>
                <c:pt idx="1">
                  <c:v>4.9000000000000004</c:v>
                </c:pt>
                <c:pt idx="2">
                  <c:v>1.4</c:v>
                </c:pt>
                <c:pt idx="3">
                  <c:v>5.3</c:v>
                </c:pt>
                <c:pt idx="4">
                  <c:v>3.6</c:v>
                </c:pt>
              </c:numCache>
            </c:numRef>
          </c:val>
          <c:extLst>
            <c:ext xmlns:c16="http://schemas.microsoft.com/office/drawing/2014/chart" uri="{C3380CC4-5D6E-409C-BE32-E72D297353CC}">
              <c16:uniqueId val="{00000001-F892-4FE6-84E5-B8CA9D474234}"/>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29.1</c:v>
                </c:pt>
                <c:pt idx="1">
                  <c:v>30.3</c:v>
                </c:pt>
                <c:pt idx="2">
                  <c:v>24.1</c:v>
                </c:pt>
                <c:pt idx="3">
                  <c:v>31.3</c:v>
                </c:pt>
                <c:pt idx="4">
                  <c:v>38.700000000000003</c:v>
                </c:pt>
              </c:numCache>
            </c:numRef>
          </c:val>
          <c:extLst>
            <c:ext xmlns:c16="http://schemas.microsoft.com/office/drawing/2014/chart" uri="{C3380CC4-5D6E-409C-BE32-E72D297353CC}">
              <c16:uniqueId val="{00000002-F892-4FE6-84E5-B8CA9D474234}"/>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11.2</c:v>
                </c:pt>
                <c:pt idx="1">
                  <c:v>8.1999999999999993</c:v>
                </c:pt>
                <c:pt idx="2">
                  <c:v>9.8000000000000007</c:v>
                </c:pt>
                <c:pt idx="3">
                  <c:v>10.4</c:v>
                </c:pt>
                <c:pt idx="4">
                  <c:v>13.2</c:v>
                </c:pt>
              </c:numCache>
            </c:numRef>
          </c:val>
          <c:extLst>
            <c:ext xmlns:c16="http://schemas.microsoft.com/office/drawing/2014/chart" uri="{C3380CC4-5D6E-409C-BE32-E72D297353CC}">
              <c16:uniqueId val="{00000003-F892-4FE6-84E5-B8CA9D474234}"/>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93.5</c:v>
                </c:pt>
                <c:pt idx="1">
                  <c:v>87.2</c:v>
                </c:pt>
                <c:pt idx="2">
                  <c:v>74.5</c:v>
                </c:pt>
                <c:pt idx="3">
                  <c:v>83</c:v>
                </c:pt>
                <c:pt idx="4">
                  <c:v>77.800000000000011</c:v>
                </c:pt>
              </c:numCache>
            </c:numRef>
          </c:val>
          <c:smooth val="0"/>
          <c:extLst>
            <c:ext xmlns:c16="http://schemas.microsoft.com/office/drawing/2014/chart" uri="{C3380CC4-5D6E-409C-BE32-E72D297353CC}">
              <c16:uniqueId val="{00000004-F892-4FE6-84E5-B8CA9D47423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EEC4-49B3-8AB5-5CA9C2BD9007}"/>
                </c:ext>
              </c:extLst>
            </c:dLbl>
            <c:dLbl>
              <c:idx val="2"/>
              <c:delete val="1"/>
              <c:extLst>
                <c:ext xmlns:c15="http://schemas.microsoft.com/office/drawing/2012/chart" uri="{CE6537A1-D6FC-4f65-9D91-7224C49458BB}"/>
                <c:ext xmlns:c16="http://schemas.microsoft.com/office/drawing/2014/chart" uri="{C3380CC4-5D6E-409C-BE32-E72D297353CC}">
                  <c16:uniqueId val="{00000001-EEC4-49B3-8AB5-5CA9C2BD9007}"/>
                </c:ext>
              </c:extLst>
            </c:dLbl>
            <c:dLbl>
              <c:idx val="3"/>
              <c:delete val="1"/>
              <c:extLst>
                <c:ext xmlns:c15="http://schemas.microsoft.com/office/drawing/2012/chart" uri="{CE6537A1-D6FC-4f65-9D91-7224C49458BB}"/>
                <c:ext xmlns:c16="http://schemas.microsoft.com/office/drawing/2014/chart" uri="{C3380CC4-5D6E-409C-BE32-E72D297353CC}">
                  <c16:uniqueId val="{00000002-EEC4-49B3-8AB5-5CA9C2BD9007}"/>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3-EEC4-49B3-8AB5-5CA9C2BD9007}"/>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EEC4-49B3-8AB5-5CA9C2BD9007}"/>
                </c:ext>
              </c:extLst>
            </c:dLbl>
            <c:dLbl>
              <c:idx val="2"/>
              <c:delete val="1"/>
              <c:extLst>
                <c:ext xmlns:c15="http://schemas.microsoft.com/office/drawing/2012/chart" uri="{CE6537A1-D6FC-4f65-9D91-7224C49458BB}"/>
                <c:ext xmlns:c16="http://schemas.microsoft.com/office/drawing/2014/chart" uri="{C3380CC4-5D6E-409C-BE32-E72D297353CC}">
                  <c16:uniqueId val="{00000005-EEC4-49B3-8AB5-5CA9C2BD9007}"/>
                </c:ext>
              </c:extLst>
            </c:dLbl>
            <c:dLbl>
              <c:idx val="3"/>
              <c:delete val="1"/>
              <c:extLst>
                <c:ext xmlns:c15="http://schemas.microsoft.com/office/drawing/2012/chart" uri="{CE6537A1-D6FC-4f65-9D91-7224C49458BB}"/>
                <c:ext xmlns:c16="http://schemas.microsoft.com/office/drawing/2014/chart" uri="{C3380CC4-5D6E-409C-BE32-E72D297353CC}">
                  <c16:uniqueId val="{00000006-EEC4-49B3-8AB5-5CA9C2BD9007}"/>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7-EEC4-49B3-8AB5-5CA9C2BD900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36.6</c:v>
                </c:pt>
                <c:pt idx="1">
                  <c:v>30.4</c:v>
                </c:pt>
                <c:pt idx="2">
                  <c:v>24</c:v>
                </c:pt>
                <c:pt idx="3">
                  <c:v>17.2</c:v>
                </c:pt>
                <c:pt idx="4">
                  <c:v>12.5</c:v>
                </c:pt>
              </c:numCache>
            </c:numRef>
          </c:val>
          <c:extLst>
            <c:ext xmlns:c16="http://schemas.microsoft.com/office/drawing/2014/chart" uri="{C3380CC4-5D6E-409C-BE32-E72D297353CC}">
              <c16:uniqueId val="{00000000-60BA-4A53-8367-E07F504B4782}"/>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4.7</c:v>
                </c:pt>
                <c:pt idx="1">
                  <c:v>1.7</c:v>
                </c:pt>
                <c:pt idx="2">
                  <c:v>1.2</c:v>
                </c:pt>
                <c:pt idx="3">
                  <c:v>2.2999999999999998</c:v>
                </c:pt>
                <c:pt idx="4">
                  <c:v>2.9</c:v>
                </c:pt>
              </c:numCache>
            </c:numRef>
          </c:val>
          <c:extLst>
            <c:ext xmlns:c16="http://schemas.microsoft.com/office/drawing/2014/chart" uri="{C3380CC4-5D6E-409C-BE32-E72D297353CC}">
              <c16:uniqueId val="{00000001-60BA-4A53-8367-E07F504B4782}"/>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31.2</c:v>
                </c:pt>
                <c:pt idx="1">
                  <c:v>37.4</c:v>
                </c:pt>
                <c:pt idx="2">
                  <c:v>33</c:v>
                </c:pt>
                <c:pt idx="3">
                  <c:v>34.200000000000003</c:v>
                </c:pt>
                <c:pt idx="4">
                  <c:v>27.6</c:v>
                </c:pt>
              </c:numCache>
            </c:numRef>
          </c:val>
          <c:extLst>
            <c:ext xmlns:c16="http://schemas.microsoft.com/office/drawing/2014/chart" uri="{C3380CC4-5D6E-409C-BE32-E72D297353CC}">
              <c16:uniqueId val="{00000002-60BA-4A53-8367-E07F504B4782}"/>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13.7</c:v>
                </c:pt>
                <c:pt idx="1">
                  <c:v>15</c:v>
                </c:pt>
                <c:pt idx="2">
                  <c:v>11.7</c:v>
                </c:pt>
                <c:pt idx="3">
                  <c:v>21</c:v>
                </c:pt>
                <c:pt idx="4">
                  <c:v>18.7</c:v>
                </c:pt>
              </c:numCache>
            </c:numRef>
          </c:val>
          <c:extLst>
            <c:ext xmlns:c16="http://schemas.microsoft.com/office/drawing/2014/chart" uri="{C3380CC4-5D6E-409C-BE32-E72D297353CC}">
              <c16:uniqueId val="{00000003-60BA-4A53-8367-E07F504B4782}"/>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86.2</c:v>
                </c:pt>
                <c:pt idx="1">
                  <c:v>84.5</c:v>
                </c:pt>
                <c:pt idx="2">
                  <c:v>69.900000000000006</c:v>
                </c:pt>
                <c:pt idx="3">
                  <c:v>74.7</c:v>
                </c:pt>
                <c:pt idx="4">
                  <c:v>61.7</c:v>
                </c:pt>
              </c:numCache>
            </c:numRef>
          </c:val>
          <c:smooth val="0"/>
          <c:extLst>
            <c:ext xmlns:c16="http://schemas.microsoft.com/office/drawing/2014/chart" uri="{C3380CC4-5D6E-409C-BE32-E72D297353CC}">
              <c16:uniqueId val="{00000004-60BA-4A53-8367-E07F504B478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AD13-4FB3-84E0-C21343B1DCFD}"/>
                </c:ext>
              </c:extLst>
            </c:dLbl>
            <c:dLbl>
              <c:idx val="2"/>
              <c:delete val="1"/>
              <c:extLst>
                <c:ext xmlns:c15="http://schemas.microsoft.com/office/drawing/2012/chart" uri="{CE6537A1-D6FC-4f65-9D91-7224C49458BB}"/>
                <c:ext xmlns:c16="http://schemas.microsoft.com/office/drawing/2014/chart" uri="{C3380CC4-5D6E-409C-BE32-E72D297353CC}">
                  <c16:uniqueId val="{00000001-AD13-4FB3-84E0-C21343B1DCFD}"/>
                </c:ext>
              </c:extLst>
            </c:dLbl>
            <c:dLbl>
              <c:idx val="3"/>
              <c:delete val="1"/>
              <c:extLst>
                <c:ext xmlns:c15="http://schemas.microsoft.com/office/drawing/2012/chart" uri="{CE6537A1-D6FC-4f65-9D91-7224C49458BB}"/>
                <c:ext xmlns:c16="http://schemas.microsoft.com/office/drawing/2014/chart" uri="{C3380CC4-5D6E-409C-BE32-E72D297353CC}">
                  <c16:uniqueId val="{00000002-AD13-4FB3-84E0-C21343B1DCFD}"/>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3-AD13-4FB3-84E0-C21343B1DCFD}"/>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AD13-4FB3-84E0-C21343B1DCFD}"/>
                </c:ext>
              </c:extLst>
            </c:dLbl>
            <c:dLbl>
              <c:idx val="2"/>
              <c:delete val="1"/>
              <c:extLst>
                <c:ext xmlns:c15="http://schemas.microsoft.com/office/drawing/2012/chart" uri="{CE6537A1-D6FC-4f65-9D91-7224C49458BB}"/>
                <c:ext xmlns:c16="http://schemas.microsoft.com/office/drawing/2014/chart" uri="{C3380CC4-5D6E-409C-BE32-E72D297353CC}">
                  <c16:uniqueId val="{00000005-AD13-4FB3-84E0-C21343B1DCFD}"/>
                </c:ext>
              </c:extLst>
            </c:dLbl>
            <c:dLbl>
              <c:idx val="3"/>
              <c:delete val="1"/>
              <c:extLst>
                <c:ext xmlns:c15="http://schemas.microsoft.com/office/drawing/2012/chart" uri="{CE6537A1-D6FC-4f65-9D91-7224C49458BB}"/>
                <c:ext xmlns:c16="http://schemas.microsoft.com/office/drawing/2014/chart" uri="{C3380CC4-5D6E-409C-BE32-E72D297353CC}">
                  <c16:uniqueId val="{00000006-AD13-4FB3-84E0-C21343B1DCFD}"/>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7-AD13-4FB3-84E0-C21343B1DCF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31.8</c:v>
                </c:pt>
                <c:pt idx="1">
                  <c:v>28.8</c:v>
                </c:pt>
                <c:pt idx="2">
                  <c:v>27.6</c:v>
                </c:pt>
                <c:pt idx="3">
                  <c:v>23.7</c:v>
                </c:pt>
                <c:pt idx="4">
                  <c:v>15.4</c:v>
                </c:pt>
              </c:numCache>
            </c:numRef>
          </c:val>
          <c:extLst>
            <c:ext xmlns:c16="http://schemas.microsoft.com/office/drawing/2014/chart" uri="{C3380CC4-5D6E-409C-BE32-E72D297353CC}">
              <c16:uniqueId val="{00000000-A065-4A72-B61D-5DF3D5134D74}"/>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2.5</c:v>
                </c:pt>
                <c:pt idx="1">
                  <c:v>1.2</c:v>
                </c:pt>
                <c:pt idx="2">
                  <c:v>0.7</c:v>
                </c:pt>
                <c:pt idx="3">
                  <c:v>2.4</c:v>
                </c:pt>
                <c:pt idx="4">
                  <c:v>1.8</c:v>
                </c:pt>
              </c:numCache>
            </c:numRef>
          </c:val>
          <c:extLst>
            <c:ext xmlns:c16="http://schemas.microsoft.com/office/drawing/2014/chart" uri="{C3380CC4-5D6E-409C-BE32-E72D297353CC}">
              <c16:uniqueId val="{00000001-A065-4A72-B61D-5DF3D5134D74}"/>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35.6</c:v>
                </c:pt>
                <c:pt idx="1">
                  <c:v>35.1</c:v>
                </c:pt>
                <c:pt idx="2">
                  <c:v>29.3</c:v>
                </c:pt>
                <c:pt idx="3">
                  <c:v>31.5</c:v>
                </c:pt>
                <c:pt idx="4">
                  <c:v>27.7</c:v>
                </c:pt>
              </c:numCache>
            </c:numRef>
          </c:val>
          <c:extLst>
            <c:ext xmlns:c16="http://schemas.microsoft.com/office/drawing/2014/chart" uri="{C3380CC4-5D6E-409C-BE32-E72D297353CC}">
              <c16:uniqueId val="{00000002-A065-4A72-B61D-5DF3D5134D74}"/>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11.5</c:v>
                </c:pt>
                <c:pt idx="2">
                  <c:v>15.6</c:v>
                </c:pt>
                <c:pt idx="3">
                  <c:v>19.3</c:v>
                </c:pt>
                <c:pt idx="4">
                  <c:v>15.4</c:v>
                </c:pt>
              </c:numCache>
            </c:numRef>
          </c:val>
          <c:extLst>
            <c:ext xmlns:c16="http://schemas.microsoft.com/office/drawing/2014/chart" uri="{C3380CC4-5D6E-409C-BE32-E72D297353CC}">
              <c16:uniqueId val="{00000003-A065-4A72-B61D-5DF3D5134D74}"/>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82.9</c:v>
                </c:pt>
                <c:pt idx="1">
                  <c:v>76.599999999999994</c:v>
                </c:pt>
                <c:pt idx="2">
                  <c:v>73.2</c:v>
                </c:pt>
                <c:pt idx="3">
                  <c:v>76.899999999999991</c:v>
                </c:pt>
                <c:pt idx="4">
                  <c:v>60.3</c:v>
                </c:pt>
              </c:numCache>
            </c:numRef>
          </c:val>
          <c:smooth val="0"/>
          <c:extLst>
            <c:ext xmlns:c16="http://schemas.microsoft.com/office/drawing/2014/chart" uri="{C3380CC4-5D6E-409C-BE32-E72D297353CC}">
              <c16:uniqueId val="{00000004-A065-4A72-B61D-5DF3D5134D7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0E75-4811-9144-9E0AA8F32A26}"/>
                </c:ext>
              </c:extLst>
            </c:dLbl>
            <c:dLbl>
              <c:idx val="2"/>
              <c:delete val="1"/>
              <c:extLst>
                <c:ext xmlns:c15="http://schemas.microsoft.com/office/drawing/2012/chart" uri="{CE6537A1-D6FC-4f65-9D91-7224C49458BB}"/>
                <c:ext xmlns:c16="http://schemas.microsoft.com/office/drawing/2014/chart" uri="{C3380CC4-5D6E-409C-BE32-E72D297353CC}">
                  <c16:uniqueId val="{00000001-0E75-4811-9144-9E0AA8F32A26}"/>
                </c:ext>
              </c:extLst>
            </c:dLbl>
            <c:dLbl>
              <c:idx val="3"/>
              <c:delete val="1"/>
              <c:extLst>
                <c:ext xmlns:c15="http://schemas.microsoft.com/office/drawing/2012/chart" uri="{CE6537A1-D6FC-4f65-9D91-7224C49458BB}"/>
                <c:ext xmlns:c16="http://schemas.microsoft.com/office/drawing/2014/chart" uri="{C3380CC4-5D6E-409C-BE32-E72D297353CC}">
                  <c16:uniqueId val="{00000002-0E75-4811-9144-9E0AA8F32A26}"/>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3-0E75-4811-9144-9E0AA8F32A26}"/>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0E75-4811-9144-9E0AA8F32A26}"/>
                </c:ext>
              </c:extLst>
            </c:dLbl>
            <c:dLbl>
              <c:idx val="2"/>
              <c:delete val="1"/>
              <c:extLst>
                <c:ext xmlns:c15="http://schemas.microsoft.com/office/drawing/2012/chart" uri="{CE6537A1-D6FC-4f65-9D91-7224C49458BB}"/>
                <c:ext xmlns:c16="http://schemas.microsoft.com/office/drawing/2014/chart" uri="{C3380CC4-5D6E-409C-BE32-E72D297353CC}">
                  <c16:uniqueId val="{00000005-0E75-4811-9144-9E0AA8F32A26}"/>
                </c:ext>
              </c:extLst>
            </c:dLbl>
            <c:dLbl>
              <c:idx val="3"/>
              <c:delete val="1"/>
              <c:extLst>
                <c:ext xmlns:c15="http://schemas.microsoft.com/office/drawing/2012/chart" uri="{CE6537A1-D6FC-4f65-9D91-7224C49458BB}"/>
                <c:ext xmlns:c16="http://schemas.microsoft.com/office/drawing/2014/chart" uri="{C3380CC4-5D6E-409C-BE32-E72D297353CC}">
                  <c16:uniqueId val="{00000006-0E75-4811-9144-9E0AA8F32A26}"/>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7-0E75-4811-9144-9E0AA8F32A2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6"/>
          <c:min val="12"/>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27.7</c:v>
                </c:pt>
                <c:pt idx="1">
                  <c:v>56.5</c:v>
                </c:pt>
                <c:pt idx="2">
                  <c:v>38.1</c:v>
                </c:pt>
                <c:pt idx="3">
                  <c:v>30.6</c:v>
                </c:pt>
                <c:pt idx="4">
                  <c:v>15.3</c:v>
                </c:pt>
              </c:numCache>
            </c:numRef>
          </c:val>
          <c:extLst>
            <c:ext xmlns:c16="http://schemas.microsoft.com/office/drawing/2014/chart" uri="{C3380CC4-5D6E-409C-BE32-E72D297353CC}">
              <c16:uniqueId val="{00000000-6D00-463E-AF72-9870F1044488}"/>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1.5</c:v>
                </c:pt>
                <c:pt idx="1">
                  <c:v>1.6</c:v>
                </c:pt>
                <c:pt idx="2">
                  <c:v>1.3</c:v>
                </c:pt>
                <c:pt idx="3">
                  <c:v>3.2</c:v>
                </c:pt>
                <c:pt idx="4">
                  <c:v>3.1</c:v>
                </c:pt>
              </c:numCache>
            </c:numRef>
          </c:val>
          <c:extLst>
            <c:ext xmlns:c16="http://schemas.microsoft.com/office/drawing/2014/chart" uri="{C3380CC4-5D6E-409C-BE32-E72D297353CC}">
              <c16:uniqueId val="{00000001-6D00-463E-AF72-9870F1044488}"/>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49</c:v>
                </c:pt>
                <c:pt idx="1">
                  <c:v>33</c:v>
                </c:pt>
                <c:pt idx="2">
                  <c:v>35.200000000000003</c:v>
                </c:pt>
                <c:pt idx="3">
                  <c:v>34.200000000000003</c:v>
                </c:pt>
                <c:pt idx="4">
                  <c:v>33</c:v>
                </c:pt>
              </c:numCache>
            </c:numRef>
          </c:val>
          <c:extLst>
            <c:ext xmlns:c16="http://schemas.microsoft.com/office/drawing/2014/chart" uri="{C3380CC4-5D6E-409C-BE32-E72D297353CC}">
              <c16:uniqueId val="{00000002-6D00-463E-AF72-9870F1044488}"/>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10.6</c:v>
                </c:pt>
                <c:pt idx="1">
                  <c:v>2.5</c:v>
                </c:pt>
                <c:pt idx="2">
                  <c:v>7.2</c:v>
                </c:pt>
                <c:pt idx="3">
                  <c:v>14.6</c:v>
                </c:pt>
                <c:pt idx="4">
                  <c:v>28</c:v>
                </c:pt>
              </c:numCache>
            </c:numRef>
          </c:val>
          <c:extLst>
            <c:ext xmlns:c16="http://schemas.microsoft.com/office/drawing/2014/chart" uri="{C3380CC4-5D6E-409C-BE32-E72D297353CC}">
              <c16:uniqueId val="{00000003-6D00-463E-AF72-9870F1044488}"/>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88.8</c:v>
                </c:pt>
                <c:pt idx="1">
                  <c:v>93.6</c:v>
                </c:pt>
                <c:pt idx="2">
                  <c:v>81.8</c:v>
                </c:pt>
                <c:pt idx="3">
                  <c:v>82.6</c:v>
                </c:pt>
                <c:pt idx="4">
                  <c:v>79.400000000000006</c:v>
                </c:pt>
              </c:numCache>
            </c:numRef>
          </c:val>
          <c:smooth val="0"/>
          <c:extLst>
            <c:ext xmlns:c16="http://schemas.microsoft.com/office/drawing/2014/chart" uri="{C3380CC4-5D6E-409C-BE32-E72D297353CC}">
              <c16:uniqueId val="{00000004-6D00-463E-AF72-9870F104448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9145-4B70-8564-A327BDB17C92}"/>
                </c:ext>
              </c:extLst>
            </c:dLbl>
            <c:dLbl>
              <c:idx val="2"/>
              <c:delete val="1"/>
              <c:extLst>
                <c:ext xmlns:c15="http://schemas.microsoft.com/office/drawing/2012/chart" uri="{CE6537A1-D6FC-4f65-9D91-7224C49458BB}"/>
                <c:ext xmlns:c16="http://schemas.microsoft.com/office/drawing/2014/chart" uri="{C3380CC4-5D6E-409C-BE32-E72D297353CC}">
                  <c16:uniqueId val="{00000001-9145-4B70-8564-A327BDB17C92}"/>
                </c:ext>
              </c:extLst>
            </c:dLbl>
            <c:dLbl>
              <c:idx val="3"/>
              <c:delete val="1"/>
              <c:extLst>
                <c:ext xmlns:c15="http://schemas.microsoft.com/office/drawing/2012/chart" uri="{CE6537A1-D6FC-4f65-9D91-7224C49458BB}"/>
                <c:ext xmlns:c16="http://schemas.microsoft.com/office/drawing/2014/chart" uri="{C3380CC4-5D6E-409C-BE32-E72D297353CC}">
                  <c16:uniqueId val="{00000002-9145-4B70-8564-A327BDB17C92}"/>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3-9145-4B70-8564-A327BDB17C92}"/>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9145-4B70-8564-A327BDB17C92}"/>
                </c:ext>
              </c:extLst>
            </c:dLbl>
            <c:dLbl>
              <c:idx val="2"/>
              <c:delete val="1"/>
              <c:extLst>
                <c:ext xmlns:c15="http://schemas.microsoft.com/office/drawing/2012/chart" uri="{CE6537A1-D6FC-4f65-9D91-7224C49458BB}"/>
                <c:ext xmlns:c16="http://schemas.microsoft.com/office/drawing/2014/chart" uri="{C3380CC4-5D6E-409C-BE32-E72D297353CC}">
                  <c16:uniqueId val="{00000005-9145-4B70-8564-A327BDB17C92}"/>
                </c:ext>
              </c:extLst>
            </c:dLbl>
            <c:dLbl>
              <c:idx val="3"/>
              <c:delete val="1"/>
              <c:extLst>
                <c:ext xmlns:c15="http://schemas.microsoft.com/office/drawing/2012/chart" uri="{CE6537A1-D6FC-4f65-9D91-7224C49458BB}"/>
                <c:ext xmlns:c16="http://schemas.microsoft.com/office/drawing/2014/chart" uri="{C3380CC4-5D6E-409C-BE32-E72D297353CC}">
                  <c16:uniqueId val="{00000006-9145-4B70-8564-A327BDB17C92}"/>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7-9145-4B70-8564-A327BDB17C9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93.8</c:v>
                </c:pt>
                <c:pt idx="1">
                  <c:v>93.5</c:v>
                </c:pt>
                <c:pt idx="2">
                  <c:v>89.1</c:v>
                </c:pt>
                <c:pt idx="3">
                  <c:v>85.7</c:v>
                </c:pt>
                <c:pt idx="4">
                  <c:v>86</c:v>
                </c:pt>
              </c:numCache>
            </c:numRef>
          </c:val>
          <c:extLst>
            <c:ext xmlns:c16="http://schemas.microsoft.com/office/drawing/2014/chart" uri="{C3380CC4-5D6E-409C-BE32-E72D297353CC}">
              <c16:uniqueId val="{00000000-6940-4B5D-AA1D-3131B89CA500}"/>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1.6</c:v>
                </c:pt>
                <c:pt idx="4">
                  <c:v>3.1</c:v>
                </c:pt>
              </c:numCache>
            </c:numRef>
          </c:val>
          <c:extLst>
            <c:ext xmlns:c16="http://schemas.microsoft.com/office/drawing/2014/chart" uri="{C3380CC4-5D6E-409C-BE32-E72D297353CC}">
              <c16:uniqueId val="{00000001-6940-4B5D-AA1D-3131B89CA500}"/>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c:v>
                </c:pt>
                <c:pt idx="1">
                  <c:v>5.0999999999999996</c:v>
                </c:pt>
                <c:pt idx="2">
                  <c:v>9.1999999999999993</c:v>
                </c:pt>
                <c:pt idx="3">
                  <c:v>10.7</c:v>
                </c:pt>
                <c:pt idx="4">
                  <c:v>7</c:v>
                </c:pt>
              </c:numCache>
            </c:numRef>
          </c:val>
          <c:extLst>
            <c:ext xmlns:c16="http://schemas.microsoft.com/office/drawing/2014/chart" uri="{C3380CC4-5D6E-409C-BE32-E72D297353CC}">
              <c16:uniqueId val="{00000002-6940-4B5D-AA1D-3131B89CA500}"/>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0</c:v>
                </c:pt>
                <c:pt idx="2">
                  <c:v>1.7</c:v>
                </c:pt>
                <c:pt idx="3">
                  <c:v>0</c:v>
                </c:pt>
                <c:pt idx="4">
                  <c:v>0.8</c:v>
                </c:pt>
              </c:numCache>
            </c:numRef>
          </c:val>
          <c:extLst>
            <c:ext xmlns:c16="http://schemas.microsoft.com/office/drawing/2014/chart" uri="{C3380CC4-5D6E-409C-BE32-E72D297353CC}">
              <c16:uniqueId val="{00000003-6940-4B5D-AA1D-3131B89CA500}"/>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96.8</c:v>
                </c:pt>
                <c:pt idx="1">
                  <c:v>98.6</c:v>
                </c:pt>
                <c:pt idx="2">
                  <c:v>100</c:v>
                </c:pt>
                <c:pt idx="3">
                  <c:v>98</c:v>
                </c:pt>
                <c:pt idx="4">
                  <c:v>96.899999999999991</c:v>
                </c:pt>
              </c:numCache>
            </c:numRef>
          </c:val>
          <c:smooth val="0"/>
          <c:extLst>
            <c:ext xmlns:c16="http://schemas.microsoft.com/office/drawing/2014/chart" uri="{C3380CC4-5D6E-409C-BE32-E72D297353CC}">
              <c16:uniqueId val="{00000004-6940-4B5D-AA1D-3131B89CA500}"/>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904D-4E63-A52B-069B5AEA7558}"/>
                </c:ext>
              </c:extLst>
            </c:dLbl>
            <c:dLbl>
              <c:idx val="2"/>
              <c:delete val="1"/>
              <c:extLst>
                <c:ext xmlns:c15="http://schemas.microsoft.com/office/drawing/2012/chart" uri="{CE6537A1-D6FC-4f65-9D91-7224C49458BB}"/>
                <c:ext xmlns:c16="http://schemas.microsoft.com/office/drawing/2014/chart" uri="{C3380CC4-5D6E-409C-BE32-E72D297353CC}">
                  <c16:uniqueId val="{00000001-904D-4E63-A52B-069B5AEA7558}"/>
                </c:ext>
              </c:extLst>
            </c:dLbl>
            <c:dLbl>
              <c:idx val="3"/>
              <c:delete val="1"/>
              <c:extLst>
                <c:ext xmlns:c15="http://schemas.microsoft.com/office/drawing/2012/chart" uri="{CE6537A1-D6FC-4f65-9D91-7224C49458BB}"/>
                <c:ext xmlns:c16="http://schemas.microsoft.com/office/drawing/2014/chart" uri="{C3380CC4-5D6E-409C-BE32-E72D297353CC}">
                  <c16:uniqueId val="{00000002-904D-4E63-A52B-069B5AEA7558}"/>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3-904D-4E63-A52B-069B5AEA7558}"/>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904D-4E63-A52B-069B5AEA7558}"/>
                </c:ext>
              </c:extLst>
            </c:dLbl>
            <c:dLbl>
              <c:idx val="2"/>
              <c:delete val="1"/>
              <c:extLst>
                <c:ext xmlns:c15="http://schemas.microsoft.com/office/drawing/2012/chart" uri="{CE6537A1-D6FC-4f65-9D91-7224C49458BB}"/>
                <c:ext xmlns:c16="http://schemas.microsoft.com/office/drawing/2014/chart" uri="{C3380CC4-5D6E-409C-BE32-E72D297353CC}">
                  <c16:uniqueId val="{00000005-904D-4E63-A52B-069B5AEA7558}"/>
                </c:ext>
              </c:extLst>
            </c:dLbl>
            <c:dLbl>
              <c:idx val="3"/>
              <c:delete val="1"/>
              <c:extLst>
                <c:ext xmlns:c15="http://schemas.microsoft.com/office/drawing/2012/chart" uri="{CE6537A1-D6FC-4f65-9D91-7224C49458BB}"/>
                <c:ext xmlns:c16="http://schemas.microsoft.com/office/drawing/2014/chart" uri="{C3380CC4-5D6E-409C-BE32-E72D297353CC}">
                  <c16:uniqueId val="{00000006-904D-4E63-A52B-069B5AEA7558}"/>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7-904D-4E63-A52B-069B5AEA755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76.400000000000006</c:v>
                </c:pt>
                <c:pt idx="1">
                  <c:v>49.5</c:v>
                </c:pt>
                <c:pt idx="2">
                  <c:v>58.1</c:v>
                </c:pt>
                <c:pt idx="3">
                  <c:v>58.7</c:v>
                </c:pt>
                <c:pt idx="4">
                  <c:v>70.599999999999994</c:v>
                </c:pt>
              </c:numCache>
            </c:numRef>
          </c:val>
          <c:extLst>
            <c:ext xmlns:c16="http://schemas.microsoft.com/office/drawing/2014/chart" uri="{C3380CC4-5D6E-409C-BE32-E72D297353CC}">
              <c16:uniqueId val="{00000000-C515-4E68-B296-35A6E5E9AC56}"/>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2.9</c:v>
                </c:pt>
              </c:numCache>
            </c:numRef>
          </c:val>
          <c:extLst>
            <c:ext xmlns:c16="http://schemas.microsoft.com/office/drawing/2014/chart" uri="{C3380CC4-5D6E-409C-BE32-E72D297353CC}">
              <c16:uniqueId val="{00000001-C515-4E68-B296-35A6E5E9AC56}"/>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18</c:v>
                </c:pt>
                <c:pt idx="1">
                  <c:v>23.1</c:v>
                </c:pt>
                <c:pt idx="2">
                  <c:v>20.2</c:v>
                </c:pt>
                <c:pt idx="3">
                  <c:v>18.399999999999999</c:v>
                </c:pt>
                <c:pt idx="4">
                  <c:v>14.3</c:v>
                </c:pt>
              </c:numCache>
            </c:numRef>
          </c:val>
          <c:extLst>
            <c:ext xmlns:c16="http://schemas.microsoft.com/office/drawing/2014/chart" uri="{C3380CC4-5D6E-409C-BE32-E72D297353CC}">
              <c16:uniqueId val="{00000002-C515-4E68-B296-35A6E5E9AC56}"/>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2.4</c:v>
                </c:pt>
                <c:pt idx="2">
                  <c:v>1.7</c:v>
                </c:pt>
                <c:pt idx="3">
                  <c:v>0</c:v>
                </c:pt>
                <c:pt idx="4">
                  <c:v>1.1000000000000001</c:v>
                </c:pt>
              </c:numCache>
            </c:numRef>
          </c:val>
          <c:extLst>
            <c:ext xmlns:c16="http://schemas.microsoft.com/office/drawing/2014/chart" uri="{C3380CC4-5D6E-409C-BE32-E72D297353CC}">
              <c16:uniqueId val="{00000003-C515-4E68-B296-35A6E5E9AC56}"/>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94.4</c:v>
                </c:pt>
                <c:pt idx="1">
                  <c:v>75</c:v>
                </c:pt>
                <c:pt idx="2">
                  <c:v>80</c:v>
                </c:pt>
                <c:pt idx="3">
                  <c:v>77.099999999999994</c:v>
                </c:pt>
                <c:pt idx="4">
                  <c:v>88.899999999999991</c:v>
                </c:pt>
              </c:numCache>
            </c:numRef>
          </c:val>
          <c:smooth val="0"/>
          <c:extLst>
            <c:ext xmlns:c16="http://schemas.microsoft.com/office/drawing/2014/chart" uri="{C3380CC4-5D6E-409C-BE32-E72D297353CC}">
              <c16:uniqueId val="{00000004-C515-4E68-B296-35A6E5E9AC5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4521-453F-93E1-3CB27DB61119}"/>
                </c:ext>
              </c:extLst>
            </c:dLbl>
            <c:dLbl>
              <c:idx val="2"/>
              <c:delete val="1"/>
              <c:extLst>
                <c:ext xmlns:c15="http://schemas.microsoft.com/office/drawing/2012/chart" uri="{CE6537A1-D6FC-4f65-9D91-7224C49458BB}"/>
                <c:ext xmlns:c16="http://schemas.microsoft.com/office/drawing/2014/chart" uri="{C3380CC4-5D6E-409C-BE32-E72D297353CC}">
                  <c16:uniqueId val="{00000001-4521-453F-93E1-3CB27DB61119}"/>
                </c:ext>
              </c:extLst>
            </c:dLbl>
            <c:dLbl>
              <c:idx val="3"/>
              <c:delete val="1"/>
              <c:extLst>
                <c:ext xmlns:c15="http://schemas.microsoft.com/office/drawing/2012/chart" uri="{CE6537A1-D6FC-4f65-9D91-7224C49458BB}"/>
                <c:ext xmlns:c16="http://schemas.microsoft.com/office/drawing/2014/chart" uri="{C3380CC4-5D6E-409C-BE32-E72D297353CC}">
                  <c16:uniqueId val="{00000002-4521-453F-93E1-3CB27DB61119}"/>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3-4521-453F-93E1-3CB27DB61119}"/>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4521-453F-93E1-3CB27DB61119}"/>
                </c:ext>
              </c:extLst>
            </c:dLbl>
            <c:dLbl>
              <c:idx val="2"/>
              <c:delete val="1"/>
              <c:extLst>
                <c:ext xmlns:c15="http://schemas.microsoft.com/office/drawing/2012/chart" uri="{CE6537A1-D6FC-4f65-9D91-7224C49458BB}"/>
                <c:ext xmlns:c16="http://schemas.microsoft.com/office/drawing/2014/chart" uri="{C3380CC4-5D6E-409C-BE32-E72D297353CC}">
                  <c16:uniqueId val="{00000005-4521-453F-93E1-3CB27DB61119}"/>
                </c:ext>
              </c:extLst>
            </c:dLbl>
            <c:dLbl>
              <c:idx val="3"/>
              <c:delete val="1"/>
              <c:extLst>
                <c:ext xmlns:c15="http://schemas.microsoft.com/office/drawing/2012/chart" uri="{CE6537A1-D6FC-4f65-9D91-7224C49458BB}"/>
                <c:ext xmlns:c16="http://schemas.microsoft.com/office/drawing/2014/chart" uri="{C3380CC4-5D6E-409C-BE32-E72D297353CC}">
                  <c16:uniqueId val="{00000006-4521-453F-93E1-3CB27DB61119}"/>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7-4521-453F-93E1-3CB27DB6111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75.900000000000006</c:v>
                </c:pt>
                <c:pt idx="1">
                  <c:v>66.3</c:v>
                </c:pt>
                <c:pt idx="2">
                  <c:v>60.4</c:v>
                </c:pt>
                <c:pt idx="3">
                  <c:v>64.2</c:v>
                </c:pt>
                <c:pt idx="4">
                  <c:v>83.3</c:v>
                </c:pt>
              </c:numCache>
            </c:numRef>
          </c:val>
          <c:extLst>
            <c:ext xmlns:c16="http://schemas.microsoft.com/office/drawing/2014/chart" uri="{C3380CC4-5D6E-409C-BE32-E72D297353CC}">
              <c16:uniqueId val="{00000000-FD67-4ADF-8664-CA908013142C}"/>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1.6</c:v>
                </c:pt>
                <c:pt idx="2">
                  <c:v>1.2</c:v>
                </c:pt>
                <c:pt idx="3">
                  <c:v>0.6</c:v>
                </c:pt>
                <c:pt idx="4">
                  <c:v>1.4</c:v>
                </c:pt>
              </c:numCache>
            </c:numRef>
          </c:val>
          <c:extLst>
            <c:ext xmlns:c16="http://schemas.microsoft.com/office/drawing/2014/chart" uri="{C3380CC4-5D6E-409C-BE32-E72D297353CC}">
              <c16:uniqueId val="{00000001-FD67-4ADF-8664-CA908013142C}"/>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19.8</c:v>
                </c:pt>
                <c:pt idx="1">
                  <c:v>20.8</c:v>
                </c:pt>
                <c:pt idx="2">
                  <c:v>18.5</c:v>
                </c:pt>
                <c:pt idx="3">
                  <c:v>21.6</c:v>
                </c:pt>
                <c:pt idx="4">
                  <c:v>14.7</c:v>
                </c:pt>
              </c:numCache>
            </c:numRef>
          </c:val>
          <c:extLst>
            <c:ext xmlns:c16="http://schemas.microsoft.com/office/drawing/2014/chart" uri="{C3380CC4-5D6E-409C-BE32-E72D297353CC}">
              <c16:uniqueId val="{00000002-FD67-4ADF-8664-CA908013142C}"/>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4.5</c:v>
                </c:pt>
                <c:pt idx="2">
                  <c:v>3.1</c:v>
                </c:pt>
                <c:pt idx="3">
                  <c:v>2.2000000000000002</c:v>
                </c:pt>
                <c:pt idx="4">
                  <c:v>0</c:v>
                </c:pt>
              </c:numCache>
            </c:numRef>
          </c:val>
          <c:extLst>
            <c:ext xmlns:c16="http://schemas.microsoft.com/office/drawing/2014/chart" uri="{C3380CC4-5D6E-409C-BE32-E72D297353CC}">
              <c16:uniqueId val="{00000003-FD67-4ADF-8664-CA908013142C}"/>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95.7</c:v>
                </c:pt>
                <c:pt idx="1">
                  <c:v>93.199999999999989</c:v>
                </c:pt>
                <c:pt idx="2">
                  <c:v>83.199999999999989</c:v>
                </c:pt>
                <c:pt idx="3">
                  <c:v>88.600000000000009</c:v>
                </c:pt>
                <c:pt idx="4">
                  <c:v>99.4</c:v>
                </c:pt>
              </c:numCache>
            </c:numRef>
          </c:val>
          <c:smooth val="0"/>
          <c:extLst>
            <c:ext xmlns:c16="http://schemas.microsoft.com/office/drawing/2014/chart" uri="{C3380CC4-5D6E-409C-BE32-E72D297353CC}">
              <c16:uniqueId val="{00000004-FD67-4ADF-8664-CA908013142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6A36-48E3-B21C-54947B473744}"/>
                </c:ext>
              </c:extLst>
            </c:dLbl>
            <c:dLbl>
              <c:idx val="2"/>
              <c:delete val="1"/>
              <c:extLst>
                <c:ext xmlns:c15="http://schemas.microsoft.com/office/drawing/2012/chart" uri="{CE6537A1-D6FC-4f65-9D91-7224C49458BB}"/>
                <c:ext xmlns:c16="http://schemas.microsoft.com/office/drawing/2014/chart" uri="{C3380CC4-5D6E-409C-BE32-E72D297353CC}">
                  <c16:uniqueId val="{00000001-6A36-48E3-B21C-54947B473744}"/>
                </c:ext>
              </c:extLst>
            </c:dLbl>
            <c:dLbl>
              <c:idx val="3"/>
              <c:delete val="1"/>
              <c:extLst>
                <c:ext xmlns:c15="http://schemas.microsoft.com/office/drawing/2012/chart" uri="{CE6537A1-D6FC-4f65-9D91-7224C49458BB}"/>
                <c:ext xmlns:c16="http://schemas.microsoft.com/office/drawing/2014/chart" uri="{C3380CC4-5D6E-409C-BE32-E72D297353CC}">
                  <c16:uniqueId val="{00000002-6A36-48E3-B21C-54947B473744}"/>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3-6A36-48E3-B21C-54947B473744}"/>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6A36-48E3-B21C-54947B473744}"/>
                </c:ext>
              </c:extLst>
            </c:dLbl>
            <c:dLbl>
              <c:idx val="2"/>
              <c:delete val="1"/>
              <c:extLst>
                <c:ext xmlns:c15="http://schemas.microsoft.com/office/drawing/2012/chart" uri="{CE6537A1-D6FC-4f65-9D91-7224C49458BB}"/>
                <c:ext xmlns:c16="http://schemas.microsoft.com/office/drawing/2014/chart" uri="{C3380CC4-5D6E-409C-BE32-E72D297353CC}">
                  <c16:uniqueId val="{00000005-6A36-48E3-B21C-54947B473744}"/>
                </c:ext>
              </c:extLst>
            </c:dLbl>
            <c:dLbl>
              <c:idx val="3"/>
              <c:delete val="1"/>
              <c:extLst>
                <c:ext xmlns:c15="http://schemas.microsoft.com/office/drawing/2012/chart" uri="{CE6537A1-D6FC-4f65-9D91-7224C49458BB}"/>
                <c:ext xmlns:c16="http://schemas.microsoft.com/office/drawing/2014/chart" uri="{C3380CC4-5D6E-409C-BE32-E72D297353CC}">
                  <c16:uniqueId val="{00000006-6A36-48E3-B21C-54947B473744}"/>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7-6A36-48E3-B21C-54947B473744}"/>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86.8</c:v>
                </c:pt>
                <c:pt idx="1">
                  <c:v>83.1</c:v>
                </c:pt>
                <c:pt idx="2">
                  <c:v>63.4</c:v>
                </c:pt>
                <c:pt idx="3">
                  <c:v>72.8</c:v>
                </c:pt>
                <c:pt idx="4">
                  <c:v>65.900000000000006</c:v>
                </c:pt>
              </c:numCache>
            </c:numRef>
          </c:val>
          <c:extLst>
            <c:ext xmlns:c16="http://schemas.microsoft.com/office/drawing/2014/chart" uri="{C3380CC4-5D6E-409C-BE32-E72D297353CC}">
              <c16:uniqueId val="{00000000-0442-4AD7-938C-A5D74D89AC79}"/>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2.1</c:v>
                </c:pt>
                <c:pt idx="4">
                  <c:v>7.5</c:v>
                </c:pt>
              </c:numCache>
            </c:numRef>
          </c:val>
          <c:extLst>
            <c:ext xmlns:c16="http://schemas.microsoft.com/office/drawing/2014/chart" uri="{C3380CC4-5D6E-409C-BE32-E72D297353CC}">
              <c16:uniqueId val="{00000001-0442-4AD7-938C-A5D74D89AC79}"/>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5.3</c:v>
                </c:pt>
                <c:pt idx="1">
                  <c:v>13.4</c:v>
                </c:pt>
                <c:pt idx="2">
                  <c:v>25.9</c:v>
                </c:pt>
                <c:pt idx="3">
                  <c:v>20.8</c:v>
                </c:pt>
                <c:pt idx="4">
                  <c:v>17.100000000000001</c:v>
                </c:pt>
              </c:numCache>
            </c:numRef>
          </c:val>
          <c:extLst>
            <c:ext xmlns:c16="http://schemas.microsoft.com/office/drawing/2014/chart" uri="{C3380CC4-5D6E-409C-BE32-E72D297353CC}">
              <c16:uniqueId val="{00000002-0442-4AD7-938C-A5D74D89AC79}"/>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0</c:v>
                </c:pt>
                <c:pt idx="2">
                  <c:v>10.8</c:v>
                </c:pt>
                <c:pt idx="3">
                  <c:v>0</c:v>
                </c:pt>
                <c:pt idx="4">
                  <c:v>1.9</c:v>
                </c:pt>
              </c:numCache>
            </c:numRef>
          </c:val>
          <c:extLst>
            <c:ext xmlns:c16="http://schemas.microsoft.com/office/drawing/2014/chart" uri="{C3380CC4-5D6E-409C-BE32-E72D297353CC}">
              <c16:uniqueId val="{00000003-0442-4AD7-938C-A5D74D89AC79}"/>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92.1</c:v>
                </c:pt>
                <c:pt idx="1">
                  <c:v>96.5</c:v>
                </c:pt>
                <c:pt idx="2">
                  <c:v>100.1</c:v>
                </c:pt>
                <c:pt idx="3">
                  <c:v>95.699999999999989</c:v>
                </c:pt>
                <c:pt idx="4">
                  <c:v>92.4</c:v>
                </c:pt>
              </c:numCache>
            </c:numRef>
          </c:val>
          <c:smooth val="0"/>
          <c:extLst>
            <c:ext xmlns:c16="http://schemas.microsoft.com/office/drawing/2014/chart" uri="{C3380CC4-5D6E-409C-BE32-E72D297353CC}">
              <c16:uniqueId val="{00000004-0442-4AD7-938C-A5D74D89AC79}"/>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127B-4474-A246-7C0F0E89DA67}"/>
                </c:ext>
              </c:extLst>
            </c:dLbl>
            <c:dLbl>
              <c:idx val="2"/>
              <c:delete val="1"/>
              <c:extLst>
                <c:ext xmlns:c15="http://schemas.microsoft.com/office/drawing/2012/chart" uri="{CE6537A1-D6FC-4f65-9D91-7224C49458BB}"/>
                <c:ext xmlns:c16="http://schemas.microsoft.com/office/drawing/2014/chart" uri="{C3380CC4-5D6E-409C-BE32-E72D297353CC}">
                  <c16:uniqueId val="{00000001-127B-4474-A246-7C0F0E89DA67}"/>
                </c:ext>
              </c:extLst>
            </c:dLbl>
            <c:dLbl>
              <c:idx val="3"/>
              <c:delete val="1"/>
              <c:extLst>
                <c:ext xmlns:c15="http://schemas.microsoft.com/office/drawing/2012/chart" uri="{CE6537A1-D6FC-4f65-9D91-7224C49458BB}"/>
                <c:ext xmlns:c16="http://schemas.microsoft.com/office/drawing/2014/chart" uri="{C3380CC4-5D6E-409C-BE32-E72D297353CC}">
                  <c16:uniqueId val="{00000002-127B-4474-A246-7C0F0E89DA67}"/>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3-127B-4474-A246-7C0F0E89DA67}"/>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127B-4474-A246-7C0F0E89DA67}"/>
                </c:ext>
              </c:extLst>
            </c:dLbl>
            <c:dLbl>
              <c:idx val="2"/>
              <c:delete val="1"/>
              <c:extLst>
                <c:ext xmlns:c15="http://schemas.microsoft.com/office/drawing/2012/chart" uri="{CE6537A1-D6FC-4f65-9D91-7224C49458BB}"/>
                <c:ext xmlns:c16="http://schemas.microsoft.com/office/drawing/2014/chart" uri="{C3380CC4-5D6E-409C-BE32-E72D297353CC}">
                  <c16:uniqueId val="{00000005-127B-4474-A246-7C0F0E89DA67}"/>
                </c:ext>
              </c:extLst>
            </c:dLbl>
            <c:dLbl>
              <c:idx val="3"/>
              <c:delete val="1"/>
              <c:extLst>
                <c:ext xmlns:c15="http://schemas.microsoft.com/office/drawing/2012/chart" uri="{CE6537A1-D6FC-4f65-9D91-7224C49458BB}"/>
                <c:ext xmlns:c16="http://schemas.microsoft.com/office/drawing/2014/chart" uri="{C3380CC4-5D6E-409C-BE32-E72D297353CC}">
                  <c16:uniqueId val="{00000006-127B-4474-A246-7C0F0E89DA67}"/>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7-127B-4474-A246-7C0F0E89DA6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49.2</c:v>
                </c:pt>
                <c:pt idx="1">
                  <c:v>24.9</c:v>
                </c:pt>
                <c:pt idx="2">
                  <c:v>33.799999999999997</c:v>
                </c:pt>
                <c:pt idx="3">
                  <c:v>41.5</c:v>
                </c:pt>
                <c:pt idx="4">
                  <c:v>57.6</c:v>
                </c:pt>
              </c:numCache>
            </c:numRef>
          </c:val>
          <c:extLst>
            <c:ext xmlns:c16="http://schemas.microsoft.com/office/drawing/2014/chart" uri="{C3380CC4-5D6E-409C-BE32-E72D297353CC}">
              <c16:uniqueId val="{00000000-4FF3-488B-A9AF-789FFF648038}"/>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1.6</c:v>
                </c:pt>
              </c:numCache>
            </c:numRef>
          </c:val>
          <c:extLst>
            <c:ext xmlns:c16="http://schemas.microsoft.com/office/drawing/2014/chart" uri="{C3380CC4-5D6E-409C-BE32-E72D297353CC}">
              <c16:uniqueId val="{00000001-4FF3-488B-A9AF-789FFF648038}"/>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37.9</c:v>
                </c:pt>
                <c:pt idx="1">
                  <c:v>33.5</c:v>
                </c:pt>
                <c:pt idx="2">
                  <c:v>20.8</c:v>
                </c:pt>
                <c:pt idx="3">
                  <c:v>22.1</c:v>
                </c:pt>
                <c:pt idx="4">
                  <c:v>24</c:v>
                </c:pt>
              </c:numCache>
            </c:numRef>
          </c:val>
          <c:extLst>
            <c:ext xmlns:c16="http://schemas.microsoft.com/office/drawing/2014/chart" uri="{C3380CC4-5D6E-409C-BE32-E72D297353CC}">
              <c16:uniqueId val="{00000002-4FF3-488B-A9AF-789FFF648038}"/>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2.7</c:v>
                </c:pt>
                <c:pt idx="2">
                  <c:v>5.0999999999999996</c:v>
                </c:pt>
                <c:pt idx="3">
                  <c:v>0</c:v>
                </c:pt>
                <c:pt idx="4">
                  <c:v>1.9</c:v>
                </c:pt>
              </c:numCache>
            </c:numRef>
          </c:val>
          <c:extLst>
            <c:ext xmlns:c16="http://schemas.microsoft.com/office/drawing/2014/chart" uri="{C3380CC4-5D6E-409C-BE32-E72D297353CC}">
              <c16:uniqueId val="{00000003-4FF3-488B-A9AF-789FFF648038}"/>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87.1</c:v>
                </c:pt>
                <c:pt idx="1">
                  <c:v>61.1</c:v>
                </c:pt>
                <c:pt idx="2">
                  <c:v>59.699999999999996</c:v>
                </c:pt>
                <c:pt idx="3">
                  <c:v>63.6</c:v>
                </c:pt>
                <c:pt idx="4">
                  <c:v>85.100000000000009</c:v>
                </c:pt>
              </c:numCache>
            </c:numRef>
          </c:val>
          <c:smooth val="0"/>
          <c:extLst>
            <c:ext xmlns:c16="http://schemas.microsoft.com/office/drawing/2014/chart" uri="{C3380CC4-5D6E-409C-BE32-E72D297353CC}">
              <c16:uniqueId val="{00000004-4FF3-488B-A9AF-789FFF64803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TEA Ofertada</c:v>
                </c:pt>
              </c:strCache>
            </c:strRef>
          </c:tx>
          <c:spPr>
            <a:ln w="19050" cap="flat">
              <a:solidFill>
                <a:srgbClr val="0B2E2C"/>
              </a:solidFill>
              <a:prstDash val="solid"/>
              <a:round/>
            </a:ln>
            <a:effectLst/>
          </c:spPr>
          <c:marker>
            <c:symbol val="circle"/>
            <c:size val="4"/>
            <c:spPr>
              <a:solidFill>
                <a:srgbClr val="0B2E2C"/>
              </a:solidFill>
              <a:ln w="12700" cap="flat">
                <a:solidFill>
                  <a:srgbClr val="0B2E2C"/>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0-B285-4647-88C2-58820BC6E3B6}"/>
                </c:ext>
              </c:extLst>
            </c:dLbl>
            <c:dLbl>
              <c:idx val="2"/>
              <c:delete val="1"/>
              <c:extLst>
                <c:ext xmlns:c15="http://schemas.microsoft.com/office/drawing/2012/chart" uri="{CE6537A1-D6FC-4f65-9D91-7224C49458BB}"/>
                <c:ext xmlns:c16="http://schemas.microsoft.com/office/drawing/2014/chart" uri="{C3380CC4-5D6E-409C-BE32-E72D297353CC}">
                  <c16:uniqueId val="{00000001-B285-4647-88C2-58820BC6E3B6}"/>
                </c:ext>
              </c:extLst>
            </c:dLbl>
            <c:dLbl>
              <c:idx val="3"/>
              <c:delete val="1"/>
              <c:extLst>
                <c:ext xmlns:c15="http://schemas.microsoft.com/office/drawing/2012/chart" uri="{CE6537A1-D6FC-4f65-9D91-7224C49458BB}"/>
                <c:ext xmlns:c16="http://schemas.microsoft.com/office/drawing/2014/chart" uri="{C3380CC4-5D6E-409C-BE32-E72D297353CC}">
                  <c16:uniqueId val="{00000002-B285-4647-88C2-58820BC6E3B6}"/>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3-B285-4647-88C2-58820BC6E3B6}"/>
            </c:ext>
          </c:extLst>
        </c:ser>
        <c:ser>
          <c:idx val="1"/>
          <c:order val="1"/>
          <c:tx>
            <c:strRef>
              <c:f>Sheet1!$C$1</c:f>
              <c:strCache>
                <c:ptCount val="1"/>
                <c:pt idx="0">
                  <c:v>TEA Desembolsada</c:v>
                </c:pt>
              </c:strCache>
            </c:strRef>
          </c:tx>
          <c:spPr>
            <a:ln w="19050" cap="flat">
              <a:solidFill>
                <a:srgbClr val="C87A0B"/>
              </a:solidFill>
              <a:prstDash val="sysDash"/>
              <a:round/>
            </a:ln>
            <a:effectLst/>
          </c:spPr>
          <c:marker>
            <c:symbol val="circle"/>
            <c:size val="4"/>
            <c:spPr>
              <a:solidFill>
                <a:srgbClr val="C87A0B"/>
              </a:solidFill>
              <a:ln w="12700" cap="flat">
                <a:solidFill>
                  <a:srgbClr val="C87A0B"/>
                </a:solidFill>
                <a:prstDash val="solid"/>
                <a:round/>
              </a:ln>
              <a:effectLst/>
            </c:spPr>
          </c:marker>
          <c:dLbls>
            <c:dLbl>
              <c:idx val="1"/>
              <c:delete val="1"/>
              <c:extLst>
                <c:ext xmlns:c15="http://schemas.microsoft.com/office/drawing/2012/chart" uri="{CE6537A1-D6FC-4f65-9D91-7224C49458BB}"/>
                <c:ext xmlns:c16="http://schemas.microsoft.com/office/drawing/2014/chart" uri="{C3380CC4-5D6E-409C-BE32-E72D297353CC}">
                  <c16:uniqueId val="{00000004-B285-4647-88C2-58820BC6E3B6}"/>
                </c:ext>
              </c:extLst>
            </c:dLbl>
            <c:dLbl>
              <c:idx val="2"/>
              <c:delete val="1"/>
              <c:extLst>
                <c:ext xmlns:c15="http://schemas.microsoft.com/office/drawing/2012/chart" uri="{CE6537A1-D6FC-4f65-9D91-7224C49458BB}"/>
                <c:ext xmlns:c16="http://schemas.microsoft.com/office/drawing/2014/chart" uri="{C3380CC4-5D6E-409C-BE32-E72D297353CC}">
                  <c16:uniqueId val="{00000005-B285-4647-88C2-58820BC6E3B6}"/>
                </c:ext>
              </c:extLst>
            </c:dLbl>
            <c:dLbl>
              <c:idx val="3"/>
              <c:delete val="1"/>
              <c:extLst>
                <c:ext xmlns:c15="http://schemas.microsoft.com/office/drawing/2012/chart" uri="{CE6537A1-D6FC-4f65-9D91-7224C49458BB}"/>
                <c:ext xmlns:c16="http://schemas.microsoft.com/office/drawing/2014/chart" uri="{C3380CC4-5D6E-409C-BE32-E72D297353CC}">
                  <c16:uniqueId val="{00000006-B285-4647-88C2-58820BC6E3B6}"/>
                </c:ext>
              </c:extLst>
            </c:dLbl>
            <c:numFmt formatCode="0.0" sourceLinked="0"/>
            <c:spPr>
              <a:noFill/>
              <a:ln>
                <a:noFill/>
              </a:ln>
              <a:effectLst/>
            </c:spPr>
            <c:txPr>
              <a:bodyPr/>
              <a:lstStyle/>
              <a:p>
                <a:pPr>
                  <a:defRPr sz="700" b="1" i="0" u="none" strike="noStrike">
                    <a:solidFill>
                      <a:srgbClr val="0B2E2C"/>
                    </a:solidFill>
                    <a:latin typeface="Calibri"/>
                  </a:defRPr>
                </a:pPr>
                <a:endParaRPr lang="es-PE"/>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7-B285-4647-88C2-58820BC6E3B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0"/>
          <c:min val="14"/>
        </c:scaling>
        <c:delete val="1"/>
        <c:axPos val="l"/>
        <c:numFmt formatCode="General" sourceLinked="0"/>
        <c:majorTickMark val="out"/>
        <c:minorTickMark val="none"/>
        <c:tickLblPos val="nextTo"/>
        <c:crossAx val="2094734554"/>
        <c:crosses val="autoZero"/>
        <c:crossBetween val="between"/>
        <c:majorUnit val="10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Share v1</c:v>
                </c:pt>
              </c:strCache>
            </c:strRef>
          </c:tx>
          <c:spPr>
            <a:solidFill>
              <a:srgbClr val="CFE6E4"/>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40.6</c:v>
                </c:pt>
                <c:pt idx="1">
                  <c:v>37.1</c:v>
                </c:pt>
                <c:pt idx="2">
                  <c:v>36.1</c:v>
                </c:pt>
                <c:pt idx="3">
                  <c:v>26.2</c:v>
                </c:pt>
                <c:pt idx="4">
                  <c:v>62.8</c:v>
                </c:pt>
              </c:numCache>
            </c:numRef>
          </c:val>
          <c:extLst>
            <c:ext xmlns:c16="http://schemas.microsoft.com/office/drawing/2014/chart" uri="{C3380CC4-5D6E-409C-BE32-E72D297353CC}">
              <c16:uniqueId val="{00000000-405F-4469-8DEA-98B437433ED3}"/>
            </c:ext>
          </c:extLst>
        </c:ser>
        <c:ser>
          <c:idx val="1"/>
          <c:order val="1"/>
          <c:tx>
            <c:strRef>
              <c:f>Sheet1!$C$1</c:f>
              <c:strCache>
                <c:ptCount val="1"/>
                <c:pt idx="0">
                  <c:v>Share v2</c:v>
                </c:pt>
              </c:strCache>
            </c:strRef>
          </c:tx>
          <c:spPr>
            <a:solidFill>
              <a:srgbClr val="8FCBC6"/>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1.9</c:v>
                </c:pt>
                <c:pt idx="2">
                  <c:v>0.3</c:v>
                </c:pt>
                <c:pt idx="3">
                  <c:v>0.1</c:v>
                </c:pt>
                <c:pt idx="4">
                  <c:v>0.9</c:v>
                </c:pt>
              </c:numCache>
            </c:numRef>
          </c:val>
          <c:extLst>
            <c:ext xmlns:c16="http://schemas.microsoft.com/office/drawing/2014/chart" uri="{C3380CC4-5D6E-409C-BE32-E72D297353CC}">
              <c16:uniqueId val="{00000001-405F-4469-8DEA-98B437433ED3}"/>
            </c:ext>
          </c:extLst>
        </c:ser>
        <c:ser>
          <c:idx val="2"/>
          <c:order val="2"/>
          <c:tx>
            <c:strRef>
              <c:f>Sheet1!$D$1</c:f>
              <c:strCache>
                <c:ptCount val="1"/>
                <c:pt idx="0">
                  <c:v>Share v3</c:v>
                </c:pt>
              </c:strCache>
            </c:strRef>
          </c:tx>
          <c:spPr>
            <a:solidFill>
              <a:srgbClr val="2F9E98"/>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52.5</c:v>
                </c:pt>
                <c:pt idx="1">
                  <c:v>39.299999999999997</c:v>
                </c:pt>
                <c:pt idx="2">
                  <c:v>28.8</c:v>
                </c:pt>
                <c:pt idx="3">
                  <c:v>52.1</c:v>
                </c:pt>
                <c:pt idx="4">
                  <c:v>35.200000000000003</c:v>
                </c:pt>
              </c:numCache>
            </c:numRef>
          </c:val>
          <c:extLst>
            <c:ext xmlns:c16="http://schemas.microsoft.com/office/drawing/2014/chart" uri="{C3380CC4-5D6E-409C-BE32-E72D297353CC}">
              <c16:uniqueId val="{00000002-405F-4469-8DEA-98B437433ED3}"/>
            </c:ext>
          </c:extLst>
        </c:ser>
        <c:ser>
          <c:idx val="3"/>
          <c:order val="3"/>
          <c:tx>
            <c:strRef>
              <c:f>Sheet1!$E$1</c:f>
              <c:strCache>
                <c:ptCount val="1"/>
                <c:pt idx="0">
                  <c:v>Share v4</c:v>
                </c:pt>
              </c:strCache>
            </c:strRef>
          </c:tx>
          <c:spPr>
            <a:solidFill>
              <a:srgbClr val="0C514E"/>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7.5</c:v>
                </c:pt>
                <c:pt idx="2">
                  <c:v>5.2</c:v>
                </c:pt>
                <c:pt idx="3">
                  <c:v>4.0999999999999996</c:v>
                </c:pt>
                <c:pt idx="4">
                  <c:v>0</c:v>
                </c:pt>
              </c:numCache>
            </c:numRef>
          </c:val>
          <c:extLst>
            <c:ext xmlns:c16="http://schemas.microsoft.com/office/drawing/2014/chart" uri="{C3380CC4-5D6E-409C-BE32-E72D297353CC}">
              <c16:uniqueId val="{00000003-405F-4469-8DEA-98B437433ED3}"/>
            </c:ext>
          </c:extLst>
        </c:ser>
        <c:dLbls>
          <c:showLegendKey val="0"/>
          <c:showVal val="0"/>
          <c:showCatName val="0"/>
          <c:showSerName val="0"/>
          <c:showPercent val="0"/>
          <c:showBubbleSize val="0"/>
        </c:dLbls>
        <c:gapWidth val="60"/>
        <c:overlap val="100"/>
        <c:axId val="2094734554"/>
        <c:axId val="2094734552"/>
      </c:barChart>
      <c:lineChart>
        <c:grouping val="standard"/>
        <c:varyColors val="0"/>
        <c:ser>
          <c:idx val="4"/>
          <c:order val="4"/>
          <c:tx>
            <c:strRef>
              <c:f>Sheet1!$F$1</c:f>
              <c:strCache>
                <c:ptCount val="1"/>
                <c:pt idx="0">
                  <c:v>Share total</c:v>
                </c:pt>
              </c:strCache>
            </c:strRef>
          </c:tx>
          <c:spPr>
            <a:ln>
              <a:noFill/>
            </a:ln>
            <a:effectLst/>
          </c:spPr>
          <c:marker>
            <c:symbol val="none"/>
          </c:marker>
          <c:dLbls>
            <c:numFmt formatCode="0&quot;%&quot;" sourceLinked="0"/>
            <c:spPr>
              <a:noFill/>
              <a:ln>
                <a:noFill/>
              </a:ln>
              <a:effectLst/>
            </c:spPr>
            <c:txPr>
              <a:bodyPr/>
              <a:lstStyle/>
              <a:p>
                <a:pPr>
                  <a:defRPr sz="800" b="1" i="0" u="none" strike="noStrike">
                    <a:solidFill>
                      <a:srgbClr val="0B2E2C"/>
                    </a:solidFill>
                    <a:latin typeface="Calibri"/>
                  </a:defRPr>
                </a:pPr>
                <a:endParaRPr lang="es-PE"/>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93.1</c:v>
                </c:pt>
                <c:pt idx="1">
                  <c:v>85.8</c:v>
                </c:pt>
                <c:pt idx="2">
                  <c:v>70.400000000000006</c:v>
                </c:pt>
                <c:pt idx="3">
                  <c:v>82.5</c:v>
                </c:pt>
                <c:pt idx="4">
                  <c:v>98.9</c:v>
                </c:pt>
              </c:numCache>
            </c:numRef>
          </c:val>
          <c:smooth val="0"/>
          <c:extLst>
            <c:ext xmlns:c16="http://schemas.microsoft.com/office/drawing/2014/chart" uri="{C3380CC4-5D6E-409C-BE32-E72D297353CC}">
              <c16:uniqueId val="{00000004-405F-4469-8DEA-98B437433ED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E7E7D"/>
                </a:solidFill>
                <a:latin typeface="Calibri"/>
              </a:defRPr>
            </a:pPr>
            <a:endParaRPr lang="en-US"/>
          </a:p>
        </c:txPr>
        <c:crossAx val="2094734552"/>
        <c:crosses val="autoZero"/>
        <c:auto val="1"/>
        <c:lblAlgn val="ctr"/>
        <c:lblOffset val="100"/>
        <c:noMultiLvlLbl val="1"/>
      </c:catAx>
      <c:valAx>
        <c:axId val="2094734552"/>
        <c:scaling>
          <c:orientation val="minMax"/>
          <c:max val="112"/>
          <c:min val="0"/>
        </c:scaling>
        <c:delete val="1"/>
        <c:axPos val="l"/>
        <c:numFmt formatCode="General" sourceLinked="0"/>
        <c:majorTickMark val="out"/>
        <c:minorTickMark val="none"/>
        <c:tickLblPos val="nextTo"/>
        <c:crossAx val="2094734554"/>
        <c:crosses val="autoZero"/>
        <c:crossBetween val="between"/>
        <c:majorUnit val="5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54</c:v>
                </c:pt>
                <c:pt idx="1">
                  <c:v>62</c:v>
                </c:pt>
                <c:pt idx="2">
                  <c:v>55</c:v>
                </c:pt>
                <c:pt idx="3">
                  <c:v>40</c:v>
                </c:pt>
                <c:pt idx="4">
                  <c:v>22</c:v>
                </c:pt>
              </c:numCache>
            </c:numRef>
          </c:val>
          <c:extLst>
            <c:ext xmlns:c16="http://schemas.microsoft.com/office/drawing/2014/chart" uri="{C3380CC4-5D6E-409C-BE32-E72D297353CC}">
              <c16:uniqueId val="{00000000-64AA-4AD9-90C9-96AE446F95B7}"/>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10</c:v>
                </c:pt>
                <c:pt idx="1">
                  <c:v>1</c:v>
                </c:pt>
                <c:pt idx="2">
                  <c:v>1</c:v>
                </c:pt>
                <c:pt idx="3">
                  <c:v>4</c:v>
                </c:pt>
                <c:pt idx="4">
                  <c:v>8</c:v>
                </c:pt>
              </c:numCache>
            </c:numRef>
          </c:val>
          <c:extLst>
            <c:ext xmlns:c16="http://schemas.microsoft.com/office/drawing/2014/chart" uri="{C3380CC4-5D6E-409C-BE32-E72D297353CC}">
              <c16:uniqueId val="{00000001-64AA-4AD9-90C9-96AE446F95B7}"/>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c:v>
                </c:pt>
                <c:pt idx="1">
                  <c:v>3</c:v>
                </c:pt>
                <c:pt idx="2">
                  <c:v>4</c:v>
                </c:pt>
                <c:pt idx="3">
                  <c:v>4</c:v>
                </c:pt>
                <c:pt idx="4">
                  <c:v>3</c:v>
                </c:pt>
              </c:numCache>
            </c:numRef>
          </c:val>
          <c:extLst>
            <c:ext xmlns:c16="http://schemas.microsoft.com/office/drawing/2014/chart" uri="{C3380CC4-5D6E-409C-BE32-E72D297353CC}">
              <c16:uniqueId val="{00000002-64AA-4AD9-90C9-96AE446F95B7}"/>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11</c:v>
                </c:pt>
                <c:pt idx="2">
                  <c:v>16</c:v>
                </c:pt>
                <c:pt idx="3">
                  <c:v>18</c:v>
                </c:pt>
                <c:pt idx="4">
                  <c:v>20</c:v>
                </c:pt>
              </c:numCache>
            </c:numRef>
          </c:val>
          <c:extLst>
            <c:ext xmlns:c16="http://schemas.microsoft.com/office/drawing/2014/chart" uri="{C3380CC4-5D6E-409C-BE32-E72D297353CC}">
              <c16:uniqueId val="{00000003-64AA-4AD9-90C9-96AE446F95B7}"/>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4-64AA-4AD9-90C9-96AE446F95B7}"/>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5-64AA-4AD9-90C9-96AE446F95B7}"/>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37</c:v>
                </c:pt>
                <c:pt idx="1">
                  <c:v>30</c:v>
                </c:pt>
                <c:pt idx="2">
                  <c:v>29</c:v>
                </c:pt>
                <c:pt idx="3">
                  <c:v>25</c:v>
                </c:pt>
                <c:pt idx="4">
                  <c:v>16</c:v>
                </c:pt>
              </c:numCache>
            </c:numRef>
          </c:val>
          <c:extLst>
            <c:ext xmlns:c16="http://schemas.microsoft.com/office/drawing/2014/chart" uri="{C3380CC4-5D6E-409C-BE32-E72D297353CC}">
              <c16:uniqueId val="{00000000-6989-419B-8163-F551CEC71E85}"/>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0</c:v>
                </c:pt>
                <c:pt idx="2">
                  <c:v>0</c:v>
                </c:pt>
                <c:pt idx="3">
                  <c:v>1</c:v>
                </c:pt>
                <c:pt idx="4">
                  <c:v>3</c:v>
                </c:pt>
              </c:numCache>
            </c:numRef>
          </c:val>
          <c:extLst>
            <c:ext xmlns:c16="http://schemas.microsoft.com/office/drawing/2014/chart" uri="{C3380CC4-5D6E-409C-BE32-E72D297353CC}">
              <c16:uniqueId val="{00000001-6989-419B-8163-F551CEC71E85}"/>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c:v>
                </c:pt>
                <c:pt idx="1">
                  <c:v>1</c:v>
                </c:pt>
                <c:pt idx="2">
                  <c:v>1</c:v>
                </c:pt>
                <c:pt idx="3">
                  <c:v>1</c:v>
                </c:pt>
                <c:pt idx="4">
                  <c:v>0</c:v>
                </c:pt>
              </c:numCache>
            </c:numRef>
          </c:val>
          <c:extLst>
            <c:ext xmlns:c16="http://schemas.microsoft.com/office/drawing/2014/chart" uri="{C3380CC4-5D6E-409C-BE32-E72D297353CC}">
              <c16:uniqueId val="{00000002-6989-419B-8163-F551CEC71E85}"/>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22</c:v>
                </c:pt>
                <c:pt idx="1">
                  <c:v>13</c:v>
                </c:pt>
                <c:pt idx="2">
                  <c:v>16</c:v>
                </c:pt>
                <c:pt idx="3">
                  <c:v>10</c:v>
                </c:pt>
                <c:pt idx="4">
                  <c:v>14</c:v>
                </c:pt>
              </c:numCache>
            </c:numRef>
          </c:val>
          <c:extLst>
            <c:ext xmlns:c16="http://schemas.microsoft.com/office/drawing/2014/chart" uri="{C3380CC4-5D6E-409C-BE32-E72D297353CC}">
              <c16:uniqueId val="{00000003-6989-419B-8163-F551CEC71E85}"/>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4-6989-419B-8163-F551CEC71E85}"/>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5-6989-419B-8163-F551CEC71E85}"/>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47</c:v>
                </c:pt>
                <c:pt idx="1">
                  <c:v>49</c:v>
                </c:pt>
                <c:pt idx="2">
                  <c:v>43</c:v>
                </c:pt>
                <c:pt idx="3">
                  <c:v>40</c:v>
                </c:pt>
                <c:pt idx="4">
                  <c:v>23</c:v>
                </c:pt>
              </c:numCache>
            </c:numRef>
          </c:val>
          <c:extLst>
            <c:ext xmlns:c16="http://schemas.microsoft.com/office/drawing/2014/chart" uri="{C3380CC4-5D6E-409C-BE32-E72D297353CC}">
              <c16:uniqueId val="{00000000-3F63-40EF-A1B1-6FAEF7CA2504}"/>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3</c:v>
                </c:pt>
                <c:pt idx="2">
                  <c:v>1</c:v>
                </c:pt>
                <c:pt idx="3">
                  <c:v>3</c:v>
                </c:pt>
                <c:pt idx="4">
                  <c:v>4</c:v>
                </c:pt>
              </c:numCache>
            </c:numRef>
          </c:val>
          <c:extLst>
            <c:ext xmlns:c16="http://schemas.microsoft.com/office/drawing/2014/chart" uri="{C3380CC4-5D6E-409C-BE32-E72D297353CC}">
              <c16:uniqueId val="{00000001-3F63-40EF-A1B1-6FAEF7CA2504}"/>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5</c:v>
                </c:pt>
                <c:pt idx="1">
                  <c:v>5</c:v>
                </c:pt>
                <c:pt idx="2">
                  <c:v>4</c:v>
                </c:pt>
                <c:pt idx="3">
                  <c:v>6</c:v>
                </c:pt>
                <c:pt idx="4">
                  <c:v>3</c:v>
                </c:pt>
              </c:numCache>
            </c:numRef>
          </c:val>
          <c:extLst>
            <c:ext xmlns:c16="http://schemas.microsoft.com/office/drawing/2014/chart" uri="{C3380CC4-5D6E-409C-BE32-E72D297353CC}">
              <c16:uniqueId val="{00000002-3F63-40EF-A1B1-6FAEF7CA2504}"/>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16</c:v>
                </c:pt>
                <c:pt idx="1">
                  <c:v>14</c:v>
                </c:pt>
                <c:pt idx="2">
                  <c:v>14</c:v>
                </c:pt>
                <c:pt idx="3">
                  <c:v>16</c:v>
                </c:pt>
                <c:pt idx="4">
                  <c:v>14</c:v>
                </c:pt>
              </c:numCache>
            </c:numRef>
          </c:val>
          <c:extLst>
            <c:ext xmlns:c16="http://schemas.microsoft.com/office/drawing/2014/chart" uri="{C3380CC4-5D6E-409C-BE32-E72D297353CC}">
              <c16:uniqueId val="{00000003-3F63-40EF-A1B1-6FAEF7CA2504}"/>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4-3F63-40EF-A1B1-6FAEF7CA2504}"/>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5-3F63-40EF-A1B1-6FAEF7CA2504}"/>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31</c:v>
                </c:pt>
                <c:pt idx="1">
                  <c:v>29</c:v>
                </c:pt>
                <c:pt idx="2">
                  <c:v>23</c:v>
                </c:pt>
                <c:pt idx="3">
                  <c:v>17</c:v>
                </c:pt>
                <c:pt idx="4">
                  <c:v>11</c:v>
                </c:pt>
              </c:numCache>
            </c:numRef>
          </c:val>
          <c:extLst>
            <c:ext xmlns:c16="http://schemas.microsoft.com/office/drawing/2014/chart" uri="{C3380CC4-5D6E-409C-BE32-E72D297353CC}">
              <c16:uniqueId val="{00000000-6F44-4080-82DD-0BB4A392D50B}"/>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1</c:v>
                </c:pt>
                <c:pt idx="2">
                  <c:v>1</c:v>
                </c:pt>
                <c:pt idx="3">
                  <c:v>1</c:v>
                </c:pt>
                <c:pt idx="4">
                  <c:v>4</c:v>
                </c:pt>
              </c:numCache>
            </c:numRef>
          </c:val>
          <c:extLst>
            <c:ext xmlns:c16="http://schemas.microsoft.com/office/drawing/2014/chart" uri="{C3380CC4-5D6E-409C-BE32-E72D297353CC}">
              <c16:uniqueId val="{00000001-6F44-4080-82DD-0BB4A392D50B}"/>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c:v>
                </c:pt>
                <c:pt idx="1">
                  <c:v>2</c:v>
                </c:pt>
                <c:pt idx="2">
                  <c:v>1</c:v>
                </c:pt>
                <c:pt idx="3">
                  <c:v>1</c:v>
                </c:pt>
                <c:pt idx="4">
                  <c:v>0</c:v>
                </c:pt>
              </c:numCache>
            </c:numRef>
          </c:val>
          <c:extLst>
            <c:ext xmlns:c16="http://schemas.microsoft.com/office/drawing/2014/chart" uri="{C3380CC4-5D6E-409C-BE32-E72D297353CC}">
              <c16:uniqueId val="{00000002-6F44-4080-82DD-0BB4A392D50B}"/>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22</c:v>
                </c:pt>
                <c:pt idx="1">
                  <c:v>17</c:v>
                </c:pt>
                <c:pt idx="2">
                  <c:v>14</c:v>
                </c:pt>
                <c:pt idx="3">
                  <c:v>16</c:v>
                </c:pt>
                <c:pt idx="4">
                  <c:v>15</c:v>
                </c:pt>
              </c:numCache>
            </c:numRef>
          </c:val>
          <c:extLst>
            <c:ext xmlns:c16="http://schemas.microsoft.com/office/drawing/2014/chart" uri="{C3380CC4-5D6E-409C-BE32-E72D297353CC}">
              <c16:uniqueId val="{00000003-6F44-4080-82DD-0BB4A392D50B}"/>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4-6F44-4080-82DD-0BB4A392D50B}"/>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5-6F44-4080-82DD-0BB4A392D50B}"/>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35</c:v>
                </c:pt>
                <c:pt idx="1">
                  <c:v>34</c:v>
                </c:pt>
                <c:pt idx="2">
                  <c:v>31</c:v>
                </c:pt>
                <c:pt idx="3">
                  <c:v>25</c:v>
                </c:pt>
                <c:pt idx="4">
                  <c:v>18</c:v>
                </c:pt>
              </c:numCache>
            </c:numRef>
          </c:val>
          <c:extLst>
            <c:ext xmlns:c16="http://schemas.microsoft.com/office/drawing/2014/chart" uri="{C3380CC4-5D6E-409C-BE32-E72D297353CC}">
              <c16:uniqueId val="{00000000-58AD-4742-B237-61CED61CC102}"/>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c:v>
                </c:pt>
                <c:pt idx="1">
                  <c:v>1</c:v>
                </c:pt>
                <c:pt idx="2">
                  <c:v>0</c:v>
                </c:pt>
                <c:pt idx="3">
                  <c:v>1</c:v>
                </c:pt>
                <c:pt idx="4">
                  <c:v>2</c:v>
                </c:pt>
              </c:numCache>
            </c:numRef>
          </c:val>
          <c:extLst>
            <c:ext xmlns:c16="http://schemas.microsoft.com/office/drawing/2014/chart" uri="{C3380CC4-5D6E-409C-BE32-E72D297353CC}">
              <c16:uniqueId val="{00000001-58AD-4742-B237-61CED61CC102}"/>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5</c:v>
                </c:pt>
                <c:pt idx="2">
                  <c:v>5</c:v>
                </c:pt>
                <c:pt idx="3">
                  <c:v>3</c:v>
                </c:pt>
                <c:pt idx="4">
                  <c:v>2</c:v>
                </c:pt>
              </c:numCache>
            </c:numRef>
          </c:val>
          <c:extLst>
            <c:ext xmlns:c16="http://schemas.microsoft.com/office/drawing/2014/chart" uri="{C3380CC4-5D6E-409C-BE32-E72D297353CC}">
              <c16:uniqueId val="{00000002-58AD-4742-B237-61CED61CC102}"/>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18</c:v>
                </c:pt>
                <c:pt idx="1">
                  <c:v>14</c:v>
                </c:pt>
                <c:pt idx="2">
                  <c:v>16</c:v>
                </c:pt>
                <c:pt idx="3">
                  <c:v>19</c:v>
                </c:pt>
                <c:pt idx="4">
                  <c:v>13</c:v>
                </c:pt>
              </c:numCache>
            </c:numRef>
          </c:val>
          <c:extLst>
            <c:ext xmlns:c16="http://schemas.microsoft.com/office/drawing/2014/chart" uri="{C3380CC4-5D6E-409C-BE32-E72D297353CC}">
              <c16:uniqueId val="{00000003-58AD-4742-B237-61CED61CC102}"/>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4-58AD-4742-B237-61CED61CC102}"/>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5-58AD-4742-B237-61CED61CC102}"/>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43</c:v>
                </c:pt>
                <c:pt idx="1">
                  <c:v>69</c:v>
                </c:pt>
                <c:pt idx="2">
                  <c:v>54</c:v>
                </c:pt>
                <c:pt idx="3">
                  <c:v>38</c:v>
                </c:pt>
                <c:pt idx="4">
                  <c:v>18</c:v>
                </c:pt>
              </c:numCache>
            </c:numRef>
          </c:val>
          <c:extLst>
            <c:ext xmlns:c16="http://schemas.microsoft.com/office/drawing/2014/chart" uri="{C3380CC4-5D6E-409C-BE32-E72D297353CC}">
              <c16:uniqueId val="{00000000-0F2C-476F-A416-A9BAB6D966E1}"/>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c:v>
                </c:pt>
                <c:pt idx="1">
                  <c:v>1</c:v>
                </c:pt>
                <c:pt idx="2">
                  <c:v>1</c:v>
                </c:pt>
                <c:pt idx="3">
                  <c:v>4</c:v>
                </c:pt>
                <c:pt idx="4">
                  <c:v>6</c:v>
                </c:pt>
              </c:numCache>
            </c:numRef>
          </c:val>
          <c:extLst>
            <c:ext xmlns:c16="http://schemas.microsoft.com/office/drawing/2014/chart" uri="{C3380CC4-5D6E-409C-BE32-E72D297353CC}">
              <c16:uniqueId val="{00000001-0F2C-476F-A416-A9BAB6D966E1}"/>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26</c:v>
                </c:pt>
                <c:pt idx="1">
                  <c:v>17</c:v>
                </c:pt>
                <c:pt idx="2">
                  <c:v>17</c:v>
                </c:pt>
                <c:pt idx="3">
                  <c:v>13</c:v>
                </c:pt>
                <c:pt idx="4">
                  <c:v>12</c:v>
                </c:pt>
              </c:numCache>
            </c:numRef>
          </c:val>
          <c:extLst>
            <c:ext xmlns:c16="http://schemas.microsoft.com/office/drawing/2014/chart" uri="{C3380CC4-5D6E-409C-BE32-E72D297353CC}">
              <c16:uniqueId val="{00000002-0F2C-476F-A416-A9BAB6D966E1}"/>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4</c:v>
                </c:pt>
                <c:pt idx="2">
                  <c:v>8</c:v>
                </c:pt>
                <c:pt idx="3">
                  <c:v>21</c:v>
                </c:pt>
                <c:pt idx="4">
                  <c:v>30</c:v>
                </c:pt>
              </c:numCache>
            </c:numRef>
          </c:val>
          <c:extLst>
            <c:ext xmlns:c16="http://schemas.microsoft.com/office/drawing/2014/chart" uri="{C3380CC4-5D6E-409C-BE32-E72D297353CC}">
              <c16:uniqueId val="{00000003-0F2C-476F-A416-A9BAB6D966E1}"/>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4-0F2C-476F-A416-A9BAB6D966E1}"/>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5-0F2C-476F-A416-A9BAB6D966E1}"/>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59</c:v>
                </c:pt>
                <c:pt idx="1">
                  <c:v>59</c:v>
                </c:pt>
                <c:pt idx="2">
                  <c:v>48</c:v>
                </c:pt>
                <c:pt idx="3">
                  <c:v>39</c:v>
                </c:pt>
                <c:pt idx="4">
                  <c:v>23</c:v>
                </c:pt>
              </c:numCache>
            </c:numRef>
          </c:val>
          <c:extLst>
            <c:ext xmlns:c16="http://schemas.microsoft.com/office/drawing/2014/chart" uri="{C3380CC4-5D6E-409C-BE32-E72D297353CC}">
              <c16:uniqueId val="{00000000-91CA-42E6-AF34-AAE456B1BA93}"/>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12</c:v>
                </c:pt>
                <c:pt idx="1">
                  <c:v>1</c:v>
                </c:pt>
                <c:pt idx="2">
                  <c:v>4</c:v>
                </c:pt>
                <c:pt idx="3">
                  <c:v>5</c:v>
                </c:pt>
                <c:pt idx="4">
                  <c:v>8</c:v>
                </c:pt>
              </c:numCache>
            </c:numRef>
          </c:val>
          <c:extLst>
            <c:ext xmlns:c16="http://schemas.microsoft.com/office/drawing/2014/chart" uri="{C3380CC4-5D6E-409C-BE32-E72D297353CC}">
              <c16:uniqueId val="{00000001-91CA-42E6-AF34-AAE456B1BA93}"/>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9</c:v>
                </c:pt>
                <c:pt idx="2">
                  <c:v>8</c:v>
                </c:pt>
                <c:pt idx="3">
                  <c:v>8</c:v>
                </c:pt>
                <c:pt idx="4">
                  <c:v>5</c:v>
                </c:pt>
              </c:numCache>
            </c:numRef>
          </c:val>
          <c:extLst>
            <c:ext xmlns:c16="http://schemas.microsoft.com/office/drawing/2014/chart" uri="{C3380CC4-5D6E-409C-BE32-E72D297353CC}">
              <c16:uniqueId val="{00000002-91CA-42E6-AF34-AAE456B1BA93}"/>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c:v>
                </c:pt>
                <c:pt idx="1">
                  <c:v>10</c:v>
                </c:pt>
                <c:pt idx="2">
                  <c:v>15</c:v>
                </c:pt>
                <c:pt idx="3">
                  <c:v>20</c:v>
                </c:pt>
                <c:pt idx="4">
                  <c:v>21</c:v>
                </c:pt>
              </c:numCache>
            </c:numRef>
          </c:val>
          <c:extLst>
            <c:ext xmlns:c16="http://schemas.microsoft.com/office/drawing/2014/chart" uri="{C3380CC4-5D6E-409C-BE32-E72D297353CC}">
              <c16:uniqueId val="{00000003-91CA-42E6-AF34-AAE456B1BA93}"/>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4-91CA-42E6-AF34-AAE456B1BA93}"/>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5-91CA-42E6-AF34-AAE456B1BA93}"/>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34</c:v>
                </c:pt>
                <c:pt idx="1">
                  <c:v>25</c:v>
                </c:pt>
                <c:pt idx="2">
                  <c:v>23</c:v>
                </c:pt>
                <c:pt idx="3">
                  <c:v>20</c:v>
                </c:pt>
                <c:pt idx="4">
                  <c:v>14</c:v>
                </c:pt>
              </c:numCache>
            </c:numRef>
          </c:val>
          <c:extLst>
            <c:ext xmlns:c16="http://schemas.microsoft.com/office/drawing/2014/chart" uri="{C3380CC4-5D6E-409C-BE32-E72D297353CC}">
              <c16:uniqueId val="{00000000-D22D-45C0-8BE0-52DE69567264}"/>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1</c:v>
                </c:pt>
                <c:pt idx="2">
                  <c:v>0</c:v>
                </c:pt>
                <c:pt idx="3">
                  <c:v>1</c:v>
                </c:pt>
                <c:pt idx="4">
                  <c:v>1</c:v>
                </c:pt>
              </c:numCache>
            </c:numRef>
          </c:val>
          <c:extLst>
            <c:ext xmlns:c16="http://schemas.microsoft.com/office/drawing/2014/chart" uri="{C3380CC4-5D6E-409C-BE32-E72D297353CC}">
              <c16:uniqueId val="{00000001-D22D-45C0-8BE0-52DE69567264}"/>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3</c:v>
                </c:pt>
                <c:pt idx="2">
                  <c:v>3</c:v>
                </c:pt>
                <c:pt idx="3">
                  <c:v>1</c:v>
                </c:pt>
                <c:pt idx="4">
                  <c:v>3</c:v>
                </c:pt>
              </c:numCache>
            </c:numRef>
          </c:val>
          <c:extLst>
            <c:ext xmlns:c16="http://schemas.microsoft.com/office/drawing/2014/chart" uri="{C3380CC4-5D6E-409C-BE32-E72D297353CC}">
              <c16:uniqueId val="{00000002-D22D-45C0-8BE0-52DE69567264}"/>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23</c:v>
                </c:pt>
                <c:pt idx="1">
                  <c:v>13</c:v>
                </c:pt>
                <c:pt idx="2">
                  <c:v>14</c:v>
                </c:pt>
                <c:pt idx="3">
                  <c:v>10</c:v>
                </c:pt>
                <c:pt idx="4">
                  <c:v>13</c:v>
                </c:pt>
              </c:numCache>
            </c:numRef>
          </c:val>
          <c:extLst>
            <c:ext xmlns:c16="http://schemas.microsoft.com/office/drawing/2014/chart" uri="{C3380CC4-5D6E-409C-BE32-E72D297353CC}">
              <c16:uniqueId val="{00000003-D22D-45C0-8BE0-52DE69567264}"/>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4-D22D-45C0-8BE0-52DE69567264}"/>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5-D22D-45C0-8BE0-52DE69567264}"/>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c:v>
                </c:pt>
                <c:pt idx="1">
                  <c:v>44</c:v>
                </c:pt>
                <c:pt idx="2">
                  <c:v>39</c:v>
                </c:pt>
                <c:pt idx="3">
                  <c:v>36</c:v>
                </c:pt>
                <c:pt idx="4">
                  <c:v>22</c:v>
                </c:pt>
              </c:numCache>
            </c:numRef>
          </c:val>
          <c:extLst>
            <c:ext xmlns:c16="http://schemas.microsoft.com/office/drawing/2014/chart" uri="{C3380CC4-5D6E-409C-BE32-E72D297353CC}">
              <c16:uniqueId val="{00000000-79F1-49E9-BBB8-86AB55D1E2CB}"/>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5</c:v>
                </c:pt>
                <c:pt idx="2">
                  <c:v>2</c:v>
                </c:pt>
                <c:pt idx="3">
                  <c:v>5</c:v>
                </c:pt>
                <c:pt idx="4">
                  <c:v>4</c:v>
                </c:pt>
              </c:numCache>
            </c:numRef>
          </c:val>
          <c:extLst>
            <c:ext xmlns:c16="http://schemas.microsoft.com/office/drawing/2014/chart" uri="{C3380CC4-5D6E-409C-BE32-E72D297353CC}">
              <c16:uniqueId val="{00000001-79F1-49E9-BBB8-86AB55D1E2CB}"/>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12</c:v>
                </c:pt>
                <c:pt idx="1">
                  <c:v>15</c:v>
                </c:pt>
                <c:pt idx="2">
                  <c:v>9</c:v>
                </c:pt>
                <c:pt idx="3">
                  <c:v>13</c:v>
                </c:pt>
                <c:pt idx="4">
                  <c:v>10</c:v>
                </c:pt>
              </c:numCache>
            </c:numRef>
          </c:val>
          <c:extLst>
            <c:ext xmlns:c16="http://schemas.microsoft.com/office/drawing/2014/chart" uri="{C3380CC4-5D6E-409C-BE32-E72D297353CC}">
              <c16:uniqueId val="{00000002-79F1-49E9-BBB8-86AB55D1E2CB}"/>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15</c:v>
                </c:pt>
                <c:pt idx="1">
                  <c:v>13</c:v>
                </c:pt>
                <c:pt idx="2">
                  <c:v>15</c:v>
                </c:pt>
                <c:pt idx="3">
                  <c:v>15</c:v>
                </c:pt>
                <c:pt idx="4">
                  <c:v>15</c:v>
                </c:pt>
              </c:numCache>
            </c:numRef>
          </c:val>
          <c:extLst>
            <c:ext xmlns:c16="http://schemas.microsoft.com/office/drawing/2014/chart" uri="{C3380CC4-5D6E-409C-BE32-E72D297353CC}">
              <c16:uniqueId val="{00000003-79F1-49E9-BBB8-86AB55D1E2CB}"/>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4-79F1-49E9-BBB8-86AB55D1E2CB}"/>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5-79F1-49E9-BBB8-86AB55D1E2CB}"/>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37</c:v>
                </c:pt>
                <c:pt idx="1">
                  <c:v>30</c:v>
                </c:pt>
                <c:pt idx="2">
                  <c:v>24</c:v>
                </c:pt>
                <c:pt idx="3">
                  <c:v>17</c:v>
                </c:pt>
                <c:pt idx="4">
                  <c:v>12</c:v>
                </c:pt>
              </c:numCache>
            </c:numRef>
          </c:val>
          <c:extLst>
            <c:ext xmlns:c16="http://schemas.microsoft.com/office/drawing/2014/chart" uri="{C3380CC4-5D6E-409C-BE32-E72D297353CC}">
              <c16:uniqueId val="{00000000-ED96-4383-B3B1-0090AEEE30F0}"/>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2</c:v>
                </c:pt>
                <c:pt idx="2">
                  <c:v>1</c:v>
                </c:pt>
                <c:pt idx="3">
                  <c:v>3</c:v>
                </c:pt>
                <c:pt idx="4">
                  <c:v>3</c:v>
                </c:pt>
              </c:numCache>
            </c:numRef>
          </c:val>
          <c:extLst>
            <c:ext xmlns:c16="http://schemas.microsoft.com/office/drawing/2014/chart" uri="{C3380CC4-5D6E-409C-BE32-E72D297353CC}">
              <c16:uniqueId val="{00000001-ED96-4383-B3B1-0090AEEE30F0}"/>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c:v>
                </c:pt>
                <c:pt idx="1">
                  <c:v>7</c:v>
                </c:pt>
                <c:pt idx="2">
                  <c:v>5</c:v>
                </c:pt>
                <c:pt idx="3">
                  <c:v>3</c:v>
                </c:pt>
                <c:pt idx="4">
                  <c:v>4</c:v>
                </c:pt>
              </c:numCache>
            </c:numRef>
          </c:val>
          <c:extLst>
            <c:ext xmlns:c16="http://schemas.microsoft.com/office/drawing/2014/chart" uri="{C3380CC4-5D6E-409C-BE32-E72D297353CC}">
              <c16:uniqueId val="{00000002-ED96-4383-B3B1-0090AEEE30F0}"/>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21</c:v>
                </c:pt>
                <c:pt idx="1">
                  <c:v>18</c:v>
                </c:pt>
                <c:pt idx="2">
                  <c:v>15</c:v>
                </c:pt>
                <c:pt idx="3">
                  <c:v>18</c:v>
                </c:pt>
                <c:pt idx="4">
                  <c:v>17</c:v>
                </c:pt>
              </c:numCache>
            </c:numRef>
          </c:val>
          <c:extLst>
            <c:ext xmlns:c16="http://schemas.microsoft.com/office/drawing/2014/chart" uri="{C3380CC4-5D6E-409C-BE32-E72D297353CC}">
              <c16:uniqueId val="{00000003-ED96-4383-B3B1-0090AEEE30F0}"/>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4-ED96-4383-B3B1-0090AEEE30F0}"/>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5-ED96-4383-B3B1-0090AEEE30F0}"/>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32</c:v>
                </c:pt>
                <c:pt idx="1">
                  <c:v>29</c:v>
                </c:pt>
                <c:pt idx="2">
                  <c:v>28</c:v>
                </c:pt>
                <c:pt idx="3">
                  <c:v>24</c:v>
                </c:pt>
                <c:pt idx="4">
                  <c:v>15</c:v>
                </c:pt>
              </c:numCache>
            </c:numRef>
          </c:val>
          <c:extLst>
            <c:ext xmlns:c16="http://schemas.microsoft.com/office/drawing/2014/chart" uri="{C3380CC4-5D6E-409C-BE32-E72D297353CC}">
              <c16:uniqueId val="{00000000-2AFF-4BDF-8749-A00C00D5EA10}"/>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c:v>
                </c:pt>
                <c:pt idx="1">
                  <c:v>1</c:v>
                </c:pt>
                <c:pt idx="2">
                  <c:v>0</c:v>
                </c:pt>
                <c:pt idx="3">
                  <c:v>2</c:v>
                </c:pt>
                <c:pt idx="4">
                  <c:v>2</c:v>
                </c:pt>
              </c:numCache>
            </c:numRef>
          </c:val>
          <c:extLst>
            <c:ext xmlns:c16="http://schemas.microsoft.com/office/drawing/2014/chart" uri="{C3380CC4-5D6E-409C-BE32-E72D297353CC}">
              <c16:uniqueId val="{00000001-2AFF-4BDF-8749-A00C00D5EA10}"/>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17</c:v>
                </c:pt>
                <c:pt idx="1">
                  <c:v>18</c:v>
                </c:pt>
                <c:pt idx="2">
                  <c:v>14</c:v>
                </c:pt>
                <c:pt idx="3">
                  <c:v>8</c:v>
                </c:pt>
                <c:pt idx="4">
                  <c:v>10</c:v>
                </c:pt>
              </c:numCache>
            </c:numRef>
          </c:val>
          <c:extLst>
            <c:ext xmlns:c16="http://schemas.microsoft.com/office/drawing/2014/chart" uri="{C3380CC4-5D6E-409C-BE32-E72D297353CC}">
              <c16:uniqueId val="{00000002-2AFF-4BDF-8749-A00C00D5EA10}"/>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16</c:v>
                </c:pt>
                <c:pt idx="1">
                  <c:v>14</c:v>
                </c:pt>
                <c:pt idx="2">
                  <c:v>17</c:v>
                </c:pt>
                <c:pt idx="3">
                  <c:v>21</c:v>
                </c:pt>
                <c:pt idx="4">
                  <c:v>14</c:v>
                </c:pt>
              </c:numCache>
            </c:numRef>
          </c:val>
          <c:extLst>
            <c:ext xmlns:c16="http://schemas.microsoft.com/office/drawing/2014/chart" uri="{C3380CC4-5D6E-409C-BE32-E72D297353CC}">
              <c16:uniqueId val="{00000003-2AFF-4BDF-8749-A00C00D5EA10}"/>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4-2AFF-4BDF-8749-A00C00D5EA10}"/>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5-2AFF-4BDF-8749-A00C00D5EA10}"/>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28</c:v>
                </c:pt>
                <c:pt idx="1">
                  <c:v>57</c:v>
                </c:pt>
                <c:pt idx="2">
                  <c:v>38</c:v>
                </c:pt>
                <c:pt idx="3">
                  <c:v>31</c:v>
                </c:pt>
                <c:pt idx="4">
                  <c:v>15</c:v>
                </c:pt>
              </c:numCache>
            </c:numRef>
          </c:val>
          <c:extLst>
            <c:ext xmlns:c16="http://schemas.microsoft.com/office/drawing/2014/chart" uri="{C3380CC4-5D6E-409C-BE32-E72D297353CC}">
              <c16:uniqueId val="{00000000-97FE-40BF-BFCC-88CD1E6375D9}"/>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1</c:v>
                </c:pt>
                <c:pt idx="2">
                  <c:v>1</c:v>
                </c:pt>
                <c:pt idx="3">
                  <c:v>3</c:v>
                </c:pt>
                <c:pt idx="4">
                  <c:v>3</c:v>
                </c:pt>
              </c:numCache>
            </c:numRef>
          </c:val>
          <c:extLst>
            <c:ext xmlns:c16="http://schemas.microsoft.com/office/drawing/2014/chart" uri="{C3380CC4-5D6E-409C-BE32-E72D297353CC}">
              <c16:uniqueId val="{00000001-97FE-40BF-BFCC-88CD1E6375D9}"/>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44</c:v>
                </c:pt>
                <c:pt idx="1">
                  <c:v>29</c:v>
                </c:pt>
                <c:pt idx="2">
                  <c:v>31</c:v>
                </c:pt>
                <c:pt idx="3">
                  <c:v>23</c:v>
                </c:pt>
                <c:pt idx="4">
                  <c:v>22</c:v>
                </c:pt>
              </c:numCache>
            </c:numRef>
          </c:val>
          <c:extLst>
            <c:ext xmlns:c16="http://schemas.microsoft.com/office/drawing/2014/chart" uri="{C3380CC4-5D6E-409C-BE32-E72D297353CC}">
              <c16:uniqueId val="{00000002-97FE-40BF-BFCC-88CD1E6375D9}"/>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4</c:v>
                </c:pt>
                <c:pt idx="2">
                  <c:v>9</c:v>
                </c:pt>
                <c:pt idx="3">
                  <c:v>20</c:v>
                </c:pt>
                <c:pt idx="4">
                  <c:v>30</c:v>
                </c:pt>
              </c:numCache>
            </c:numRef>
          </c:val>
          <c:extLst>
            <c:ext xmlns:c16="http://schemas.microsoft.com/office/drawing/2014/chart" uri="{C3380CC4-5D6E-409C-BE32-E72D297353CC}">
              <c16:uniqueId val="{00000003-97FE-40BF-BFCC-88CD1E6375D9}"/>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4-97FE-40BF-BFCC-88CD1E6375D9}"/>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5-97FE-40BF-BFCC-88CD1E6375D9}"/>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94</c:v>
                </c:pt>
                <c:pt idx="1">
                  <c:v>94</c:v>
                </c:pt>
                <c:pt idx="2">
                  <c:v>89</c:v>
                </c:pt>
                <c:pt idx="3">
                  <c:v>86</c:v>
                </c:pt>
                <c:pt idx="4">
                  <c:v>86</c:v>
                </c:pt>
              </c:numCache>
            </c:numRef>
          </c:val>
          <c:extLst>
            <c:ext xmlns:c16="http://schemas.microsoft.com/office/drawing/2014/chart" uri="{C3380CC4-5D6E-409C-BE32-E72D297353CC}">
              <c16:uniqueId val="{00000000-04CD-464E-A564-54C090476F73}"/>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1</c:v>
                </c:pt>
                <c:pt idx="4">
                  <c:v>3</c:v>
                </c:pt>
              </c:numCache>
            </c:numRef>
          </c:val>
          <c:extLst>
            <c:ext xmlns:c16="http://schemas.microsoft.com/office/drawing/2014/chart" uri="{C3380CC4-5D6E-409C-BE32-E72D297353CC}">
              <c16:uniqueId val="{00000001-04CD-464E-A564-54C090476F73}"/>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0</c:v>
                </c:pt>
                <c:pt idx="1">
                  <c:v>1</c:v>
                </c:pt>
                <c:pt idx="2">
                  <c:v>1</c:v>
                </c:pt>
                <c:pt idx="3">
                  <c:v>0</c:v>
                </c:pt>
                <c:pt idx="4">
                  <c:v>3</c:v>
                </c:pt>
              </c:numCache>
            </c:numRef>
          </c:val>
          <c:extLst>
            <c:ext xmlns:c16="http://schemas.microsoft.com/office/drawing/2014/chart" uri="{C3380CC4-5D6E-409C-BE32-E72D297353CC}">
              <c16:uniqueId val="{00000002-04CD-464E-A564-54C090476F73}"/>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c:v>
                </c:pt>
                <c:pt idx="1">
                  <c:v>0</c:v>
                </c:pt>
                <c:pt idx="2">
                  <c:v>5</c:v>
                </c:pt>
                <c:pt idx="3">
                  <c:v>2</c:v>
                </c:pt>
                <c:pt idx="4">
                  <c:v>3</c:v>
                </c:pt>
              </c:numCache>
            </c:numRef>
          </c:val>
          <c:extLst>
            <c:ext xmlns:c16="http://schemas.microsoft.com/office/drawing/2014/chart" uri="{C3380CC4-5D6E-409C-BE32-E72D297353CC}">
              <c16:uniqueId val="{00000003-04CD-464E-A564-54C090476F73}"/>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4-04CD-464E-A564-54C090476F73}"/>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5-04CD-464E-A564-54C090476F73}"/>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76</c:v>
                </c:pt>
                <c:pt idx="1">
                  <c:v>49</c:v>
                </c:pt>
                <c:pt idx="2">
                  <c:v>58</c:v>
                </c:pt>
                <c:pt idx="3">
                  <c:v>59</c:v>
                </c:pt>
                <c:pt idx="4">
                  <c:v>71</c:v>
                </c:pt>
              </c:numCache>
            </c:numRef>
          </c:val>
          <c:extLst>
            <c:ext xmlns:c16="http://schemas.microsoft.com/office/drawing/2014/chart" uri="{C3380CC4-5D6E-409C-BE32-E72D297353CC}">
              <c16:uniqueId val="{00000000-CC46-4A3F-A528-9B361AF4F51A}"/>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2</c:v>
                </c:pt>
              </c:numCache>
            </c:numRef>
          </c:val>
          <c:extLst>
            <c:ext xmlns:c16="http://schemas.microsoft.com/office/drawing/2014/chart" uri="{C3380CC4-5D6E-409C-BE32-E72D297353CC}">
              <c16:uniqueId val="{00000001-CC46-4A3F-A528-9B361AF4F51A}"/>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12</c:v>
                </c:pt>
                <c:pt idx="1">
                  <c:v>14</c:v>
                </c:pt>
                <c:pt idx="2">
                  <c:v>7</c:v>
                </c:pt>
                <c:pt idx="3">
                  <c:v>7</c:v>
                </c:pt>
                <c:pt idx="4">
                  <c:v>9</c:v>
                </c:pt>
              </c:numCache>
            </c:numRef>
          </c:val>
          <c:extLst>
            <c:ext xmlns:c16="http://schemas.microsoft.com/office/drawing/2014/chart" uri="{C3380CC4-5D6E-409C-BE32-E72D297353CC}">
              <c16:uniqueId val="{00000002-CC46-4A3F-A528-9B361AF4F51A}"/>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3</c:v>
                </c:pt>
                <c:pt idx="2">
                  <c:v>3</c:v>
                </c:pt>
                <c:pt idx="3">
                  <c:v>0</c:v>
                </c:pt>
                <c:pt idx="4">
                  <c:v>2</c:v>
                </c:pt>
              </c:numCache>
            </c:numRef>
          </c:val>
          <c:extLst>
            <c:ext xmlns:c16="http://schemas.microsoft.com/office/drawing/2014/chart" uri="{C3380CC4-5D6E-409C-BE32-E72D297353CC}">
              <c16:uniqueId val="{00000003-CC46-4A3F-A528-9B361AF4F51A}"/>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4-CC46-4A3F-A528-9B361AF4F51A}"/>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5-CC46-4A3F-A528-9B361AF4F51A}"/>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76</c:v>
                </c:pt>
                <c:pt idx="1">
                  <c:v>66</c:v>
                </c:pt>
                <c:pt idx="2">
                  <c:v>60</c:v>
                </c:pt>
                <c:pt idx="3">
                  <c:v>64</c:v>
                </c:pt>
                <c:pt idx="4">
                  <c:v>83</c:v>
                </c:pt>
              </c:numCache>
            </c:numRef>
          </c:val>
          <c:extLst>
            <c:ext xmlns:c16="http://schemas.microsoft.com/office/drawing/2014/chart" uri="{C3380CC4-5D6E-409C-BE32-E72D297353CC}">
              <c16:uniqueId val="{00000000-3992-4605-B2DE-4A1E3F56DDE5}"/>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2</c:v>
                </c:pt>
                <c:pt idx="2">
                  <c:v>2</c:v>
                </c:pt>
                <c:pt idx="3">
                  <c:v>1</c:v>
                </c:pt>
                <c:pt idx="4">
                  <c:v>2</c:v>
                </c:pt>
              </c:numCache>
            </c:numRef>
          </c:val>
          <c:extLst>
            <c:ext xmlns:c16="http://schemas.microsoft.com/office/drawing/2014/chart" uri="{C3380CC4-5D6E-409C-BE32-E72D297353CC}">
              <c16:uniqueId val="{00000001-3992-4605-B2DE-4A1E3F56DDE5}"/>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16</c:v>
                </c:pt>
                <c:pt idx="1">
                  <c:v>13</c:v>
                </c:pt>
                <c:pt idx="2">
                  <c:v>9</c:v>
                </c:pt>
                <c:pt idx="3">
                  <c:v>10</c:v>
                </c:pt>
                <c:pt idx="4">
                  <c:v>8</c:v>
                </c:pt>
              </c:numCache>
            </c:numRef>
          </c:val>
          <c:extLst>
            <c:ext xmlns:c16="http://schemas.microsoft.com/office/drawing/2014/chart" uri="{C3380CC4-5D6E-409C-BE32-E72D297353CC}">
              <c16:uniqueId val="{00000002-3992-4605-B2DE-4A1E3F56DDE5}"/>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9</c:v>
                </c:pt>
                <c:pt idx="2">
                  <c:v>4</c:v>
                </c:pt>
                <c:pt idx="3">
                  <c:v>6</c:v>
                </c:pt>
                <c:pt idx="4">
                  <c:v>2</c:v>
                </c:pt>
              </c:numCache>
            </c:numRef>
          </c:val>
          <c:extLst>
            <c:ext xmlns:c16="http://schemas.microsoft.com/office/drawing/2014/chart" uri="{C3380CC4-5D6E-409C-BE32-E72D297353CC}">
              <c16:uniqueId val="{00000003-3992-4605-B2DE-4A1E3F56DDE5}"/>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4-3992-4605-B2DE-4A1E3F56DDE5}"/>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5-3992-4605-B2DE-4A1E3F56DDE5}"/>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87</c:v>
                </c:pt>
                <c:pt idx="1">
                  <c:v>83</c:v>
                </c:pt>
                <c:pt idx="2">
                  <c:v>63</c:v>
                </c:pt>
                <c:pt idx="3">
                  <c:v>73</c:v>
                </c:pt>
                <c:pt idx="4">
                  <c:v>66</c:v>
                </c:pt>
              </c:numCache>
            </c:numRef>
          </c:val>
          <c:extLst>
            <c:ext xmlns:c16="http://schemas.microsoft.com/office/drawing/2014/chart" uri="{C3380CC4-5D6E-409C-BE32-E72D297353CC}">
              <c16:uniqueId val="{00000000-7B12-4A9F-B1C4-6CEB3465509E}"/>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2</c:v>
                </c:pt>
                <c:pt idx="4">
                  <c:v>7</c:v>
                </c:pt>
              </c:numCache>
            </c:numRef>
          </c:val>
          <c:extLst>
            <c:ext xmlns:c16="http://schemas.microsoft.com/office/drawing/2014/chart" uri="{C3380CC4-5D6E-409C-BE32-E72D297353CC}">
              <c16:uniqueId val="{00000001-7B12-4A9F-B1C4-6CEB3465509E}"/>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0</c:v>
                </c:pt>
                <c:pt idx="1">
                  <c:v>5</c:v>
                </c:pt>
                <c:pt idx="2">
                  <c:v>8</c:v>
                </c:pt>
                <c:pt idx="3">
                  <c:v>0</c:v>
                </c:pt>
                <c:pt idx="4">
                  <c:v>14</c:v>
                </c:pt>
              </c:numCache>
            </c:numRef>
          </c:val>
          <c:extLst>
            <c:ext xmlns:c16="http://schemas.microsoft.com/office/drawing/2014/chart" uri="{C3380CC4-5D6E-409C-BE32-E72D297353CC}">
              <c16:uniqueId val="{00000002-7B12-4A9F-B1C4-6CEB3465509E}"/>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2</c:v>
                </c:pt>
                <c:pt idx="1">
                  <c:v>0</c:v>
                </c:pt>
                <c:pt idx="2">
                  <c:v>13</c:v>
                </c:pt>
                <c:pt idx="3">
                  <c:v>3</c:v>
                </c:pt>
                <c:pt idx="4">
                  <c:v>3</c:v>
                </c:pt>
              </c:numCache>
            </c:numRef>
          </c:val>
          <c:extLst>
            <c:ext xmlns:c16="http://schemas.microsoft.com/office/drawing/2014/chart" uri="{C3380CC4-5D6E-409C-BE32-E72D297353CC}">
              <c16:uniqueId val="{00000003-7B12-4A9F-B1C4-6CEB3465509E}"/>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4-7B12-4A9F-B1C4-6CEB3465509E}"/>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5-7B12-4A9F-B1C4-6CEB3465509E}"/>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c:v>
                </c:pt>
                <c:pt idx="1">
                  <c:v>25</c:v>
                </c:pt>
                <c:pt idx="2">
                  <c:v>34</c:v>
                </c:pt>
                <c:pt idx="3">
                  <c:v>42</c:v>
                </c:pt>
                <c:pt idx="4">
                  <c:v>58</c:v>
                </c:pt>
              </c:numCache>
            </c:numRef>
          </c:val>
          <c:extLst>
            <c:ext xmlns:c16="http://schemas.microsoft.com/office/drawing/2014/chart" uri="{C3380CC4-5D6E-409C-BE32-E72D297353CC}">
              <c16:uniqueId val="{00000000-8CBB-4460-9533-C33FE999FA02}"/>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1</c:v>
                </c:pt>
              </c:numCache>
            </c:numRef>
          </c:val>
          <c:extLst>
            <c:ext xmlns:c16="http://schemas.microsoft.com/office/drawing/2014/chart" uri="{C3380CC4-5D6E-409C-BE32-E72D297353CC}">
              <c16:uniqueId val="{00000001-8CBB-4460-9533-C33FE999FA02}"/>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31</c:v>
                </c:pt>
                <c:pt idx="1">
                  <c:v>26</c:v>
                </c:pt>
                <c:pt idx="2">
                  <c:v>11</c:v>
                </c:pt>
                <c:pt idx="3">
                  <c:v>13</c:v>
                </c:pt>
                <c:pt idx="4">
                  <c:v>19</c:v>
                </c:pt>
              </c:numCache>
            </c:numRef>
          </c:val>
          <c:extLst>
            <c:ext xmlns:c16="http://schemas.microsoft.com/office/drawing/2014/chart" uri="{C3380CC4-5D6E-409C-BE32-E72D297353CC}">
              <c16:uniqueId val="{00000002-8CBB-4460-9533-C33FE999FA02}"/>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3</c:v>
                </c:pt>
                <c:pt idx="2">
                  <c:v>5</c:v>
                </c:pt>
                <c:pt idx="3">
                  <c:v>0</c:v>
                </c:pt>
                <c:pt idx="4">
                  <c:v>3</c:v>
                </c:pt>
              </c:numCache>
            </c:numRef>
          </c:val>
          <c:extLst>
            <c:ext xmlns:c16="http://schemas.microsoft.com/office/drawing/2014/chart" uri="{C3380CC4-5D6E-409C-BE32-E72D297353CC}">
              <c16:uniqueId val="{00000003-8CBB-4460-9533-C33FE999FA02}"/>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4-8CBB-4460-9533-C33FE999FA02}"/>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5-8CBB-4460-9533-C33FE999FA02}"/>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41</c:v>
                </c:pt>
                <c:pt idx="1">
                  <c:v>37</c:v>
                </c:pt>
                <c:pt idx="2">
                  <c:v>36</c:v>
                </c:pt>
                <c:pt idx="3">
                  <c:v>26</c:v>
                </c:pt>
                <c:pt idx="4">
                  <c:v>63</c:v>
                </c:pt>
              </c:numCache>
            </c:numRef>
          </c:val>
          <c:extLst>
            <c:ext xmlns:c16="http://schemas.microsoft.com/office/drawing/2014/chart" uri="{C3380CC4-5D6E-409C-BE32-E72D297353CC}">
              <c16:uniqueId val="{00000000-B83D-4166-A736-05EA3021C447}"/>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2</c:v>
                </c:pt>
                <c:pt idx="2">
                  <c:v>0</c:v>
                </c:pt>
                <c:pt idx="3">
                  <c:v>0</c:v>
                </c:pt>
                <c:pt idx="4">
                  <c:v>1</c:v>
                </c:pt>
              </c:numCache>
            </c:numRef>
          </c:val>
          <c:extLst>
            <c:ext xmlns:c16="http://schemas.microsoft.com/office/drawing/2014/chart" uri="{C3380CC4-5D6E-409C-BE32-E72D297353CC}">
              <c16:uniqueId val="{00000001-B83D-4166-A736-05EA3021C447}"/>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44</c:v>
                </c:pt>
                <c:pt idx="1">
                  <c:v>31</c:v>
                </c:pt>
                <c:pt idx="2">
                  <c:v>22</c:v>
                </c:pt>
                <c:pt idx="3">
                  <c:v>40</c:v>
                </c:pt>
                <c:pt idx="4">
                  <c:v>31</c:v>
                </c:pt>
              </c:numCache>
            </c:numRef>
          </c:val>
          <c:extLst>
            <c:ext xmlns:c16="http://schemas.microsoft.com/office/drawing/2014/chart" uri="{C3380CC4-5D6E-409C-BE32-E72D297353CC}">
              <c16:uniqueId val="{00000002-B83D-4166-A736-05EA3021C447}"/>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12</c:v>
                </c:pt>
                <c:pt idx="2">
                  <c:v>6</c:v>
                </c:pt>
                <c:pt idx="3">
                  <c:v>9</c:v>
                </c:pt>
                <c:pt idx="4">
                  <c:v>1</c:v>
                </c:pt>
              </c:numCache>
            </c:numRef>
          </c:val>
          <c:extLst>
            <c:ext xmlns:c16="http://schemas.microsoft.com/office/drawing/2014/chart" uri="{C3380CC4-5D6E-409C-BE32-E72D297353CC}">
              <c16:uniqueId val="{00000003-B83D-4166-A736-05EA3021C447}"/>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4-B83D-4166-A736-05EA3021C447}"/>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5-B83D-4166-A736-05EA3021C447}"/>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0.0</c:formatCode>
                <c:ptCount val="5"/>
                <c:pt idx="0">
                  <c:v>54.2</c:v>
                </c:pt>
                <c:pt idx="1">
                  <c:v>62</c:v>
                </c:pt>
                <c:pt idx="2">
                  <c:v>54.7</c:v>
                </c:pt>
                <c:pt idx="3">
                  <c:v>39.700000000000003</c:v>
                </c:pt>
                <c:pt idx="4">
                  <c:v>22.4</c:v>
                </c:pt>
              </c:numCache>
            </c:numRef>
          </c:val>
          <c:extLst>
            <c:ext xmlns:c16="http://schemas.microsoft.com/office/drawing/2014/chart" uri="{C3380CC4-5D6E-409C-BE32-E72D297353CC}">
              <c16:uniqueId val="{00000000-64AA-4AD9-90C9-96AE446F95B7}"/>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0.0</c:formatCode>
                <c:ptCount val="5"/>
                <c:pt idx="0">
                  <c:v>9.8000000000000007</c:v>
                </c:pt>
                <c:pt idx="1">
                  <c:v>1.1000000000000001</c:v>
                </c:pt>
                <c:pt idx="2">
                  <c:v>1.5</c:v>
                </c:pt>
                <c:pt idx="3">
                  <c:v>4.5</c:v>
                </c:pt>
                <c:pt idx="4">
                  <c:v>7.7</c:v>
                </c:pt>
              </c:numCache>
            </c:numRef>
          </c:val>
          <c:extLst>
            <c:ext xmlns:c16="http://schemas.microsoft.com/office/drawing/2014/chart" uri="{C3380CC4-5D6E-409C-BE32-E72D297353CC}">
              <c16:uniqueId val="{00000001-64AA-4AD9-90C9-96AE446F95B7}"/>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0.0</c:formatCode>
                <c:ptCount val="5"/>
                <c:pt idx="0">
                  <c:v>29.3</c:v>
                </c:pt>
                <c:pt idx="1">
                  <c:v>26.7</c:v>
                </c:pt>
                <c:pt idx="2">
                  <c:v>28.9</c:v>
                </c:pt>
                <c:pt idx="3">
                  <c:v>37.4</c:v>
                </c:pt>
                <c:pt idx="4">
                  <c:v>39.799999999999997</c:v>
                </c:pt>
              </c:numCache>
            </c:numRef>
          </c:val>
          <c:extLst>
            <c:ext xmlns:c16="http://schemas.microsoft.com/office/drawing/2014/chart" uri="{C3380CC4-5D6E-409C-BE32-E72D297353CC}">
              <c16:uniqueId val="{00000002-64AA-4AD9-90C9-96AE446F95B7}"/>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0.0</c:formatCode>
                <c:ptCount val="5"/>
                <c:pt idx="0">
                  <c:v>3.3</c:v>
                </c:pt>
                <c:pt idx="1">
                  <c:v>2.7</c:v>
                </c:pt>
                <c:pt idx="2">
                  <c:v>6.6</c:v>
                </c:pt>
                <c:pt idx="3">
                  <c:v>9.9</c:v>
                </c:pt>
                <c:pt idx="4">
                  <c:v>14.8</c:v>
                </c:pt>
              </c:numCache>
            </c:numRef>
          </c:val>
          <c:extLst>
            <c:ext xmlns:c16="http://schemas.microsoft.com/office/drawing/2014/chart" uri="{C3380CC4-5D6E-409C-BE32-E72D297353CC}">
              <c16:uniqueId val="{00000003-64AA-4AD9-90C9-96AE446F95B7}"/>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0.0</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4-64AA-4AD9-90C9-96AE446F95B7}"/>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0.0</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5-64AA-4AD9-90C9-96AE446F95B7}"/>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36.6</c:v>
                </c:pt>
                <c:pt idx="1">
                  <c:v>29.9</c:v>
                </c:pt>
                <c:pt idx="2">
                  <c:v>29</c:v>
                </c:pt>
                <c:pt idx="3">
                  <c:v>24.8</c:v>
                </c:pt>
                <c:pt idx="4">
                  <c:v>16.2</c:v>
                </c:pt>
              </c:numCache>
            </c:numRef>
          </c:val>
          <c:extLst>
            <c:ext xmlns:c16="http://schemas.microsoft.com/office/drawing/2014/chart" uri="{C3380CC4-5D6E-409C-BE32-E72D297353CC}">
              <c16:uniqueId val="{00000000-6989-419B-8163-F551CEC71E85}"/>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1.3</c:v>
                </c:pt>
                <c:pt idx="1">
                  <c:v>0.4</c:v>
                </c:pt>
                <c:pt idx="2">
                  <c:v>0.2</c:v>
                </c:pt>
                <c:pt idx="3">
                  <c:v>1.4</c:v>
                </c:pt>
                <c:pt idx="4">
                  <c:v>2.7</c:v>
                </c:pt>
              </c:numCache>
            </c:numRef>
          </c:val>
          <c:extLst>
            <c:ext xmlns:c16="http://schemas.microsoft.com/office/drawing/2014/chart" uri="{C3380CC4-5D6E-409C-BE32-E72D297353CC}">
              <c16:uniqueId val="{00000001-6989-419B-8163-F551CEC71E85}"/>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41</c:v>
                </c:pt>
                <c:pt idx="1">
                  <c:v>40.299999999999997</c:v>
                </c:pt>
                <c:pt idx="2">
                  <c:v>42.9</c:v>
                </c:pt>
                <c:pt idx="3">
                  <c:v>45.7</c:v>
                </c:pt>
                <c:pt idx="4">
                  <c:v>41.6</c:v>
                </c:pt>
              </c:numCache>
            </c:numRef>
          </c:val>
          <c:extLst>
            <c:ext xmlns:c16="http://schemas.microsoft.com/office/drawing/2014/chart" uri="{C3380CC4-5D6E-409C-BE32-E72D297353CC}">
              <c16:uniqueId val="{00000002-6989-419B-8163-F551CEC71E85}"/>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10.8</c:v>
                </c:pt>
                <c:pt idx="1">
                  <c:v>9</c:v>
                </c:pt>
                <c:pt idx="2">
                  <c:v>6.4</c:v>
                </c:pt>
                <c:pt idx="3">
                  <c:v>7.9</c:v>
                </c:pt>
                <c:pt idx="4">
                  <c:v>14.5</c:v>
                </c:pt>
              </c:numCache>
            </c:numRef>
          </c:val>
          <c:extLst>
            <c:ext xmlns:c16="http://schemas.microsoft.com/office/drawing/2014/chart" uri="{C3380CC4-5D6E-409C-BE32-E72D297353CC}">
              <c16:uniqueId val="{00000003-6989-419B-8163-F551CEC71E85}"/>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4-6989-419B-8163-F551CEC71E85}"/>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5-6989-419B-8163-F551CEC71E85}"/>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46.7</c:v>
                </c:pt>
                <c:pt idx="1">
                  <c:v>49</c:v>
                </c:pt>
                <c:pt idx="2">
                  <c:v>43.1</c:v>
                </c:pt>
                <c:pt idx="3">
                  <c:v>39.9</c:v>
                </c:pt>
                <c:pt idx="4">
                  <c:v>23.4</c:v>
                </c:pt>
              </c:numCache>
            </c:numRef>
          </c:val>
          <c:extLst>
            <c:ext xmlns:c16="http://schemas.microsoft.com/office/drawing/2014/chart" uri="{C3380CC4-5D6E-409C-BE32-E72D297353CC}">
              <c16:uniqueId val="{00000000-3F63-40EF-A1B1-6FAEF7CA2504}"/>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c:v>
                </c:pt>
                <c:pt idx="1">
                  <c:v>2.5</c:v>
                </c:pt>
                <c:pt idx="2">
                  <c:v>0.5</c:v>
                </c:pt>
                <c:pt idx="3">
                  <c:v>2.9</c:v>
                </c:pt>
                <c:pt idx="4">
                  <c:v>3.3</c:v>
                </c:pt>
              </c:numCache>
            </c:numRef>
          </c:val>
          <c:extLst>
            <c:ext xmlns:c16="http://schemas.microsoft.com/office/drawing/2014/chart" uri="{C3380CC4-5D6E-409C-BE32-E72D297353CC}">
              <c16:uniqueId val="{00000001-3F63-40EF-A1B1-6FAEF7CA2504}"/>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32.9</c:v>
                </c:pt>
                <c:pt idx="1">
                  <c:v>30.4</c:v>
                </c:pt>
                <c:pt idx="2">
                  <c:v>26.6</c:v>
                </c:pt>
                <c:pt idx="3">
                  <c:v>33.200000000000003</c:v>
                </c:pt>
                <c:pt idx="4">
                  <c:v>39.700000000000003</c:v>
                </c:pt>
              </c:numCache>
            </c:numRef>
          </c:val>
          <c:extLst>
            <c:ext xmlns:c16="http://schemas.microsoft.com/office/drawing/2014/chart" uri="{C3380CC4-5D6E-409C-BE32-E72D297353CC}">
              <c16:uniqueId val="{00000002-3F63-40EF-A1B1-6FAEF7CA2504}"/>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10.3</c:v>
                </c:pt>
                <c:pt idx="1">
                  <c:v>6.8</c:v>
                </c:pt>
                <c:pt idx="2">
                  <c:v>8.3000000000000007</c:v>
                </c:pt>
                <c:pt idx="3">
                  <c:v>9.6999999999999993</c:v>
                </c:pt>
                <c:pt idx="4">
                  <c:v>12.2</c:v>
                </c:pt>
              </c:numCache>
            </c:numRef>
          </c:val>
          <c:extLst>
            <c:ext xmlns:c16="http://schemas.microsoft.com/office/drawing/2014/chart" uri="{C3380CC4-5D6E-409C-BE32-E72D297353CC}">
              <c16:uniqueId val="{00000003-3F63-40EF-A1B1-6FAEF7CA2504}"/>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4-3F63-40EF-A1B1-6FAEF7CA2504}"/>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5-3F63-40EF-A1B1-6FAEF7CA2504}"/>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31.5</c:v>
                </c:pt>
                <c:pt idx="1">
                  <c:v>28.9</c:v>
                </c:pt>
                <c:pt idx="2">
                  <c:v>22.9</c:v>
                </c:pt>
                <c:pt idx="3">
                  <c:v>16.600000000000001</c:v>
                </c:pt>
                <c:pt idx="4">
                  <c:v>11.2</c:v>
                </c:pt>
              </c:numCache>
            </c:numRef>
          </c:val>
          <c:extLst>
            <c:ext xmlns:c16="http://schemas.microsoft.com/office/drawing/2014/chart" uri="{C3380CC4-5D6E-409C-BE32-E72D297353CC}">
              <c16:uniqueId val="{00000000-6F44-4080-82DD-0BB4A392D50B}"/>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3.6</c:v>
                </c:pt>
                <c:pt idx="1">
                  <c:v>1.5</c:v>
                </c:pt>
                <c:pt idx="2">
                  <c:v>1</c:v>
                </c:pt>
                <c:pt idx="3">
                  <c:v>1.6</c:v>
                </c:pt>
                <c:pt idx="4">
                  <c:v>3.5</c:v>
                </c:pt>
              </c:numCache>
            </c:numRef>
          </c:val>
          <c:extLst>
            <c:ext xmlns:c16="http://schemas.microsoft.com/office/drawing/2014/chart" uri="{C3380CC4-5D6E-409C-BE32-E72D297353CC}">
              <c16:uniqueId val="{00000001-6F44-4080-82DD-0BB4A392D50B}"/>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41.1</c:v>
                </c:pt>
                <c:pt idx="1">
                  <c:v>43.8</c:v>
                </c:pt>
                <c:pt idx="2">
                  <c:v>40.4</c:v>
                </c:pt>
                <c:pt idx="3">
                  <c:v>42.9</c:v>
                </c:pt>
                <c:pt idx="4">
                  <c:v>35.9</c:v>
                </c:pt>
              </c:numCache>
            </c:numRef>
          </c:val>
          <c:extLst>
            <c:ext xmlns:c16="http://schemas.microsoft.com/office/drawing/2014/chart" uri="{C3380CC4-5D6E-409C-BE32-E72D297353CC}">
              <c16:uniqueId val="{00000002-6F44-4080-82DD-0BB4A392D50B}"/>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12</c:v>
                </c:pt>
                <c:pt idx="1">
                  <c:v>12.6</c:v>
                </c:pt>
                <c:pt idx="2">
                  <c:v>10.4</c:v>
                </c:pt>
                <c:pt idx="3">
                  <c:v>17.899999999999999</c:v>
                </c:pt>
                <c:pt idx="4">
                  <c:v>17.8</c:v>
                </c:pt>
              </c:numCache>
            </c:numRef>
          </c:val>
          <c:extLst>
            <c:ext xmlns:c16="http://schemas.microsoft.com/office/drawing/2014/chart" uri="{C3380CC4-5D6E-409C-BE32-E72D297353CC}">
              <c16:uniqueId val="{00000003-6F44-4080-82DD-0BB4A392D50B}"/>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4-6F44-4080-82DD-0BB4A392D50B}"/>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5-6F44-4080-82DD-0BB4A392D50B}"/>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35.4</c:v>
                </c:pt>
                <c:pt idx="1">
                  <c:v>34</c:v>
                </c:pt>
                <c:pt idx="2">
                  <c:v>30.7</c:v>
                </c:pt>
                <c:pt idx="3">
                  <c:v>24.9</c:v>
                </c:pt>
                <c:pt idx="4">
                  <c:v>17.7</c:v>
                </c:pt>
              </c:numCache>
            </c:numRef>
          </c:val>
          <c:extLst>
            <c:ext xmlns:c16="http://schemas.microsoft.com/office/drawing/2014/chart" uri="{C3380CC4-5D6E-409C-BE32-E72D297353CC}">
              <c16:uniqueId val="{00000000-58AD-4742-B237-61CED61CC102}"/>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2.2000000000000002</c:v>
                </c:pt>
                <c:pt idx="1">
                  <c:v>0.7</c:v>
                </c:pt>
                <c:pt idx="2">
                  <c:v>0.6</c:v>
                </c:pt>
                <c:pt idx="3">
                  <c:v>1.5</c:v>
                </c:pt>
                <c:pt idx="4">
                  <c:v>1.8</c:v>
                </c:pt>
              </c:numCache>
            </c:numRef>
          </c:val>
          <c:extLst>
            <c:ext xmlns:c16="http://schemas.microsoft.com/office/drawing/2014/chart" uri="{C3380CC4-5D6E-409C-BE32-E72D297353CC}">
              <c16:uniqueId val="{00000001-58AD-4742-B237-61CED61CC102}"/>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35.299999999999997</c:v>
                </c:pt>
                <c:pt idx="1">
                  <c:v>32.1</c:v>
                </c:pt>
                <c:pt idx="2">
                  <c:v>31.6</c:v>
                </c:pt>
                <c:pt idx="3">
                  <c:v>36.6</c:v>
                </c:pt>
                <c:pt idx="4">
                  <c:v>31.1</c:v>
                </c:pt>
              </c:numCache>
            </c:numRef>
          </c:val>
          <c:extLst>
            <c:ext xmlns:c16="http://schemas.microsoft.com/office/drawing/2014/chart" uri="{C3380CC4-5D6E-409C-BE32-E72D297353CC}">
              <c16:uniqueId val="{00000002-58AD-4742-B237-61CED61CC102}"/>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11.6</c:v>
                </c:pt>
                <c:pt idx="1">
                  <c:v>11.6</c:v>
                </c:pt>
                <c:pt idx="2">
                  <c:v>13.6</c:v>
                </c:pt>
                <c:pt idx="3">
                  <c:v>17.600000000000001</c:v>
                </c:pt>
                <c:pt idx="4">
                  <c:v>15.8</c:v>
                </c:pt>
              </c:numCache>
            </c:numRef>
          </c:val>
          <c:extLst>
            <c:ext xmlns:c16="http://schemas.microsoft.com/office/drawing/2014/chart" uri="{C3380CC4-5D6E-409C-BE32-E72D297353CC}">
              <c16:uniqueId val="{00000003-58AD-4742-B237-61CED61CC102}"/>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4-58AD-4742-B237-61CED61CC102}"/>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5-58AD-4742-B237-61CED61CC102}"/>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43.2</c:v>
                </c:pt>
                <c:pt idx="1">
                  <c:v>69.2</c:v>
                </c:pt>
                <c:pt idx="2">
                  <c:v>54</c:v>
                </c:pt>
                <c:pt idx="3">
                  <c:v>38.299999999999997</c:v>
                </c:pt>
                <c:pt idx="4">
                  <c:v>18.3</c:v>
                </c:pt>
              </c:numCache>
            </c:numRef>
          </c:val>
          <c:extLst>
            <c:ext xmlns:c16="http://schemas.microsoft.com/office/drawing/2014/chart" uri="{C3380CC4-5D6E-409C-BE32-E72D297353CC}">
              <c16:uniqueId val="{00000000-0F2C-476F-A416-A9BAB6D966E1}"/>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2.2999999999999998</c:v>
                </c:pt>
                <c:pt idx="1">
                  <c:v>1.3</c:v>
                </c:pt>
                <c:pt idx="2">
                  <c:v>1.1000000000000001</c:v>
                </c:pt>
                <c:pt idx="3">
                  <c:v>3.8</c:v>
                </c:pt>
                <c:pt idx="4">
                  <c:v>6</c:v>
                </c:pt>
              </c:numCache>
            </c:numRef>
          </c:val>
          <c:extLst>
            <c:ext xmlns:c16="http://schemas.microsoft.com/office/drawing/2014/chart" uri="{C3380CC4-5D6E-409C-BE32-E72D297353CC}">
              <c16:uniqueId val="{00000001-0F2C-476F-A416-A9BAB6D966E1}"/>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32.6</c:v>
                </c:pt>
                <c:pt idx="1">
                  <c:v>21.2</c:v>
                </c:pt>
                <c:pt idx="2">
                  <c:v>22.9</c:v>
                </c:pt>
                <c:pt idx="3">
                  <c:v>28.4</c:v>
                </c:pt>
                <c:pt idx="4">
                  <c:v>27.5</c:v>
                </c:pt>
              </c:numCache>
            </c:numRef>
          </c:val>
          <c:extLst>
            <c:ext xmlns:c16="http://schemas.microsoft.com/office/drawing/2014/chart" uri="{C3380CC4-5D6E-409C-BE32-E72D297353CC}">
              <c16:uniqueId val="{00000002-0F2C-476F-A416-A9BAB6D966E1}"/>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c:v>
                </c:pt>
                <c:pt idx="1">
                  <c:v>2.2999999999999998</c:v>
                </c:pt>
                <c:pt idx="2">
                  <c:v>6.2</c:v>
                </c:pt>
                <c:pt idx="3">
                  <c:v>13.7</c:v>
                </c:pt>
                <c:pt idx="4">
                  <c:v>26.9</c:v>
                </c:pt>
              </c:numCache>
            </c:numRef>
          </c:val>
          <c:extLst>
            <c:ext xmlns:c16="http://schemas.microsoft.com/office/drawing/2014/chart" uri="{C3380CC4-5D6E-409C-BE32-E72D297353CC}">
              <c16:uniqueId val="{00000003-0F2C-476F-A416-A9BAB6D966E1}"/>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4-0F2C-476F-A416-A9BAB6D966E1}"/>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5-0F2C-476F-A416-A9BAB6D966E1}"/>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59.4</c:v>
                </c:pt>
                <c:pt idx="1">
                  <c:v>58.5</c:v>
                </c:pt>
                <c:pt idx="2">
                  <c:v>48.3</c:v>
                </c:pt>
                <c:pt idx="3">
                  <c:v>38.6</c:v>
                </c:pt>
                <c:pt idx="4">
                  <c:v>22.7</c:v>
                </c:pt>
              </c:numCache>
            </c:numRef>
          </c:val>
          <c:extLst>
            <c:ext xmlns:c16="http://schemas.microsoft.com/office/drawing/2014/chart" uri="{C3380CC4-5D6E-409C-BE32-E72D297353CC}">
              <c16:uniqueId val="{00000000-91CA-42E6-AF34-AAE456B1BA93}"/>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11.4</c:v>
                </c:pt>
                <c:pt idx="1">
                  <c:v>1.2</c:v>
                </c:pt>
                <c:pt idx="2">
                  <c:v>3.4</c:v>
                </c:pt>
                <c:pt idx="3">
                  <c:v>5.4</c:v>
                </c:pt>
                <c:pt idx="4">
                  <c:v>8.5</c:v>
                </c:pt>
              </c:numCache>
            </c:numRef>
          </c:val>
          <c:extLst>
            <c:ext xmlns:c16="http://schemas.microsoft.com/office/drawing/2014/chart" uri="{C3380CC4-5D6E-409C-BE32-E72D297353CC}">
              <c16:uniqueId val="{00000001-91CA-42E6-AF34-AAE456B1BA93}"/>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22.4</c:v>
                </c:pt>
                <c:pt idx="1">
                  <c:v>25.3</c:v>
                </c:pt>
                <c:pt idx="2">
                  <c:v>28.2</c:v>
                </c:pt>
                <c:pt idx="3">
                  <c:v>33.1</c:v>
                </c:pt>
                <c:pt idx="4">
                  <c:v>33</c:v>
                </c:pt>
              </c:numCache>
            </c:numRef>
          </c:val>
          <c:extLst>
            <c:ext xmlns:c16="http://schemas.microsoft.com/office/drawing/2014/chart" uri="{C3380CC4-5D6E-409C-BE32-E72D297353CC}">
              <c16:uniqueId val="{00000002-91CA-42E6-AF34-AAE456B1BA93}"/>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3.4</c:v>
                </c:pt>
                <c:pt idx="1">
                  <c:v>3.9</c:v>
                </c:pt>
                <c:pt idx="2">
                  <c:v>8.1</c:v>
                </c:pt>
                <c:pt idx="3">
                  <c:v>14</c:v>
                </c:pt>
                <c:pt idx="4">
                  <c:v>16.7</c:v>
                </c:pt>
              </c:numCache>
            </c:numRef>
          </c:val>
          <c:extLst>
            <c:ext xmlns:c16="http://schemas.microsoft.com/office/drawing/2014/chart" uri="{C3380CC4-5D6E-409C-BE32-E72D297353CC}">
              <c16:uniqueId val="{00000003-91CA-42E6-AF34-AAE456B1BA93}"/>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20.6</c:v>
                </c:pt>
                <c:pt idx="1">
                  <c:v>20.399999999999999</c:v>
                </c:pt>
                <c:pt idx="2">
                  <c:v>19.399999999999999</c:v>
                </c:pt>
                <c:pt idx="3">
                  <c:v>19.7</c:v>
                </c:pt>
                <c:pt idx="4">
                  <c:v>20.399999999999999</c:v>
                </c:pt>
              </c:numCache>
            </c:numRef>
          </c:val>
          <c:smooth val="0"/>
          <c:extLst>
            <c:ext xmlns:c16="http://schemas.microsoft.com/office/drawing/2014/chart" uri="{C3380CC4-5D6E-409C-BE32-E72D297353CC}">
              <c16:uniqueId val="{00000004-91CA-42E6-AF34-AAE456B1BA93}"/>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17.399999999999999</c:v>
                </c:pt>
                <c:pt idx="1">
                  <c:v>17.899999999999999</c:v>
                </c:pt>
                <c:pt idx="2">
                  <c:v>17.899999999999999</c:v>
                </c:pt>
                <c:pt idx="3">
                  <c:v>17.399999999999999</c:v>
                </c:pt>
                <c:pt idx="4">
                  <c:v>17.8</c:v>
                </c:pt>
              </c:numCache>
            </c:numRef>
          </c:val>
          <c:smooth val="0"/>
          <c:extLst>
            <c:ext xmlns:c16="http://schemas.microsoft.com/office/drawing/2014/chart" uri="{C3380CC4-5D6E-409C-BE32-E72D297353CC}">
              <c16:uniqueId val="{00000005-91CA-42E6-AF34-AAE456B1BA93}"/>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34</c:v>
                </c:pt>
                <c:pt idx="1">
                  <c:v>25.2</c:v>
                </c:pt>
                <c:pt idx="2">
                  <c:v>22.7</c:v>
                </c:pt>
                <c:pt idx="3">
                  <c:v>19.7</c:v>
                </c:pt>
                <c:pt idx="4">
                  <c:v>13.8</c:v>
                </c:pt>
              </c:numCache>
            </c:numRef>
          </c:val>
          <c:extLst>
            <c:ext xmlns:c16="http://schemas.microsoft.com/office/drawing/2014/chart" uri="{C3380CC4-5D6E-409C-BE32-E72D297353CC}">
              <c16:uniqueId val="{00000000-D22D-45C0-8BE0-52DE69567264}"/>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c:v>
                </c:pt>
                <c:pt idx="1">
                  <c:v>0.5</c:v>
                </c:pt>
                <c:pt idx="2">
                  <c:v>0.1</c:v>
                </c:pt>
                <c:pt idx="3">
                  <c:v>0.9</c:v>
                </c:pt>
                <c:pt idx="4">
                  <c:v>1</c:v>
                </c:pt>
              </c:numCache>
            </c:numRef>
          </c:val>
          <c:extLst>
            <c:ext xmlns:c16="http://schemas.microsoft.com/office/drawing/2014/chart" uri="{C3380CC4-5D6E-409C-BE32-E72D297353CC}">
              <c16:uniqueId val="{00000001-D22D-45C0-8BE0-52DE69567264}"/>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32.299999999999997</c:v>
                </c:pt>
                <c:pt idx="1">
                  <c:v>28.3</c:v>
                </c:pt>
                <c:pt idx="2">
                  <c:v>32.4</c:v>
                </c:pt>
                <c:pt idx="3">
                  <c:v>32.4</c:v>
                </c:pt>
                <c:pt idx="4">
                  <c:v>28.2</c:v>
                </c:pt>
              </c:numCache>
            </c:numRef>
          </c:val>
          <c:extLst>
            <c:ext xmlns:c16="http://schemas.microsoft.com/office/drawing/2014/chart" uri="{C3380CC4-5D6E-409C-BE32-E72D297353CC}">
              <c16:uniqueId val="{00000002-D22D-45C0-8BE0-52DE69567264}"/>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17</c:v>
                </c:pt>
                <c:pt idx="1">
                  <c:v>12.7</c:v>
                </c:pt>
                <c:pt idx="2">
                  <c:v>8.8000000000000007</c:v>
                </c:pt>
                <c:pt idx="3">
                  <c:v>11.3</c:v>
                </c:pt>
                <c:pt idx="4">
                  <c:v>17</c:v>
                </c:pt>
              </c:numCache>
            </c:numRef>
          </c:val>
          <c:extLst>
            <c:ext xmlns:c16="http://schemas.microsoft.com/office/drawing/2014/chart" uri="{C3380CC4-5D6E-409C-BE32-E72D297353CC}">
              <c16:uniqueId val="{00000003-D22D-45C0-8BE0-52DE69567264}"/>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21.2</c:v>
                </c:pt>
                <c:pt idx="1">
                  <c:v>20.9</c:v>
                </c:pt>
                <c:pt idx="2">
                  <c:v>20.2</c:v>
                </c:pt>
                <c:pt idx="3">
                  <c:v>20.2</c:v>
                </c:pt>
                <c:pt idx="4">
                  <c:v>20.7</c:v>
                </c:pt>
              </c:numCache>
            </c:numRef>
          </c:val>
          <c:smooth val="0"/>
          <c:extLst>
            <c:ext xmlns:c16="http://schemas.microsoft.com/office/drawing/2014/chart" uri="{C3380CC4-5D6E-409C-BE32-E72D297353CC}">
              <c16:uniqueId val="{00000004-D22D-45C0-8BE0-52DE69567264}"/>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18.2</c:v>
                </c:pt>
                <c:pt idx="1">
                  <c:v>18.5</c:v>
                </c:pt>
                <c:pt idx="2">
                  <c:v>18.2</c:v>
                </c:pt>
                <c:pt idx="3">
                  <c:v>17.600000000000001</c:v>
                </c:pt>
                <c:pt idx="4">
                  <c:v>18.3</c:v>
                </c:pt>
              </c:numCache>
            </c:numRef>
          </c:val>
          <c:smooth val="0"/>
          <c:extLst>
            <c:ext xmlns:c16="http://schemas.microsoft.com/office/drawing/2014/chart" uri="{C3380CC4-5D6E-409C-BE32-E72D297353CC}">
              <c16:uniqueId val="{00000005-D22D-45C0-8BE0-52DE69567264}"/>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49.4</c:v>
                </c:pt>
                <c:pt idx="1">
                  <c:v>43.8</c:v>
                </c:pt>
                <c:pt idx="2">
                  <c:v>39.200000000000003</c:v>
                </c:pt>
                <c:pt idx="3">
                  <c:v>36</c:v>
                </c:pt>
                <c:pt idx="4">
                  <c:v>22.3</c:v>
                </c:pt>
              </c:numCache>
            </c:numRef>
          </c:val>
          <c:extLst>
            <c:ext xmlns:c16="http://schemas.microsoft.com/office/drawing/2014/chart" uri="{C3380CC4-5D6E-409C-BE32-E72D297353CC}">
              <c16:uniqueId val="{00000000-79F1-49E9-BBB8-86AB55D1E2CB}"/>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3.8</c:v>
                </c:pt>
                <c:pt idx="1">
                  <c:v>4.9000000000000004</c:v>
                </c:pt>
                <c:pt idx="2">
                  <c:v>1.4</c:v>
                </c:pt>
                <c:pt idx="3">
                  <c:v>5.3</c:v>
                </c:pt>
                <c:pt idx="4">
                  <c:v>3.6</c:v>
                </c:pt>
              </c:numCache>
            </c:numRef>
          </c:val>
          <c:extLst>
            <c:ext xmlns:c16="http://schemas.microsoft.com/office/drawing/2014/chart" uri="{C3380CC4-5D6E-409C-BE32-E72D297353CC}">
              <c16:uniqueId val="{00000001-79F1-49E9-BBB8-86AB55D1E2CB}"/>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29.1</c:v>
                </c:pt>
                <c:pt idx="1">
                  <c:v>30.3</c:v>
                </c:pt>
                <c:pt idx="2">
                  <c:v>24.1</c:v>
                </c:pt>
                <c:pt idx="3">
                  <c:v>31.3</c:v>
                </c:pt>
                <c:pt idx="4">
                  <c:v>38.700000000000003</c:v>
                </c:pt>
              </c:numCache>
            </c:numRef>
          </c:val>
          <c:extLst>
            <c:ext xmlns:c16="http://schemas.microsoft.com/office/drawing/2014/chart" uri="{C3380CC4-5D6E-409C-BE32-E72D297353CC}">
              <c16:uniqueId val="{00000002-79F1-49E9-BBB8-86AB55D1E2CB}"/>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11.2</c:v>
                </c:pt>
                <c:pt idx="1">
                  <c:v>8.1999999999999993</c:v>
                </c:pt>
                <c:pt idx="2">
                  <c:v>9.8000000000000007</c:v>
                </c:pt>
                <c:pt idx="3">
                  <c:v>10.4</c:v>
                </c:pt>
                <c:pt idx="4">
                  <c:v>13.2</c:v>
                </c:pt>
              </c:numCache>
            </c:numRef>
          </c:val>
          <c:extLst>
            <c:ext xmlns:c16="http://schemas.microsoft.com/office/drawing/2014/chart" uri="{C3380CC4-5D6E-409C-BE32-E72D297353CC}">
              <c16:uniqueId val="{00000003-79F1-49E9-BBB8-86AB55D1E2CB}"/>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20.8</c:v>
                </c:pt>
                <c:pt idx="1">
                  <c:v>20.3</c:v>
                </c:pt>
                <c:pt idx="2">
                  <c:v>19.5</c:v>
                </c:pt>
                <c:pt idx="3">
                  <c:v>19.7</c:v>
                </c:pt>
                <c:pt idx="4">
                  <c:v>20</c:v>
                </c:pt>
              </c:numCache>
            </c:numRef>
          </c:val>
          <c:smooth val="0"/>
          <c:extLst>
            <c:ext xmlns:c16="http://schemas.microsoft.com/office/drawing/2014/chart" uri="{C3380CC4-5D6E-409C-BE32-E72D297353CC}">
              <c16:uniqueId val="{00000004-79F1-49E9-BBB8-86AB55D1E2CB}"/>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17.100000000000001</c:v>
                </c:pt>
                <c:pt idx="1">
                  <c:v>17.3</c:v>
                </c:pt>
                <c:pt idx="2">
                  <c:v>17.3</c:v>
                </c:pt>
                <c:pt idx="3">
                  <c:v>16.899999999999999</c:v>
                </c:pt>
                <c:pt idx="4">
                  <c:v>17.5</c:v>
                </c:pt>
              </c:numCache>
            </c:numRef>
          </c:val>
          <c:smooth val="0"/>
          <c:extLst>
            <c:ext xmlns:c16="http://schemas.microsoft.com/office/drawing/2014/chart" uri="{C3380CC4-5D6E-409C-BE32-E72D297353CC}">
              <c16:uniqueId val="{00000005-79F1-49E9-BBB8-86AB55D1E2CB}"/>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36.6</c:v>
                </c:pt>
                <c:pt idx="1">
                  <c:v>30.4</c:v>
                </c:pt>
                <c:pt idx="2">
                  <c:v>24</c:v>
                </c:pt>
                <c:pt idx="3">
                  <c:v>17.2</c:v>
                </c:pt>
                <c:pt idx="4">
                  <c:v>12.5</c:v>
                </c:pt>
              </c:numCache>
            </c:numRef>
          </c:val>
          <c:extLst>
            <c:ext xmlns:c16="http://schemas.microsoft.com/office/drawing/2014/chart" uri="{C3380CC4-5D6E-409C-BE32-E72D297353CC}">
              <c16:uniqueId val="{00000000-ED96-4383-B3B1-0090AEEE30F0}"/>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4.7</c:v>
                </c:pt>
                <c:pt idx="1">
                  <c:v>1.7</c:v>
                </c:pt>
                <c:pt idx="2">
                  <c:v>1.2</c:v>
                </c:pt>
                <c:pt idx="3">
                  <c:v>2.2999999999999998</c:v>
                </c:pt>
                <c:pt idx="4">
                  <c:v>2.9</c:v>
                </c:pt>
              </c:numCache>
            </c:numRef>
          </c:val>
          <c:extLst>
            <c:ext xmlns:c16="http://schemas.microsoft.com/office/drawing/2014/chart" uri="{C3380CC4-5D6E-409C-BE32-E72D297353CC}">
              <c16:uniqueId val="{00000001-ED96-4383-B3B1-0090AEEE30F0}"/>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31.2</c:v>
                </c:pt>
                <c:pt idx="1">
                  <c:v>37.4</c:v>
                </c:pt>
                <c:pt idx="2">
                  <c:v>33</c:v>
                </c:pt>
                <c:pt idx="3">
                  <c:v>34.200000000000003</c:v>
                </c:pt>
                <c:pt idx="4">
                  <c:v>27.6</c:v>
                </c:pt>
              </c:numCache>
            </c:numRef>
          </c:val>
          <c:extLst>
            <c:ext xmlns:c16="http://schemas.microsoft.com/office/drawing/2014/chart" uri="{C3380CC4-5D6E-409C-BE32-E72D297353CC}">
              <c16:uniqueId val="{00000002-ED96-4383-B3B1-0090AEEE30F0}"/>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13.7</c:v>
                </c:pt>
                <c:pt idx="1">
                  <c:v>15</c:v>
                </c:pt>
                <c:pt idx="2">
                  <c:v>11.7</c:v>
                </c:pt>
                <c:pt idx="3">
                  <c:v>21</c:v>
                </c:pt>
                <c:pt idx="4">
                  <c:v>18.7</c:v>
                </c:pt>
              </c:numCache>
            </c:numRef>
          </c:val>
          <c:extLst>
            <c:ext xmlns:c16="http://schemas.microsoft.com/office/drawing/2014/chart" uri="{C3380CC4-5D6E-409C-BE32-E72D297353CC}">
              <c16:uniqueId val="{00000003-ED96-4383-B3B1-0090AEEE30F0}"/>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20.9</c:v>
                </c:pt>
                <c:pt idx="1">
                  <c:v>20.399999999999999</c:v>
                </c:pt>
                <c:pt idx="2">
                  <c:v>19.7</c:v>
                </c:pt>
                <c:pt idx="3">
                  <c:v>20.3</c:v>
                </c:pt>
                <c:pt idx="4">
                  <c:v>20.5</c:v>
                </c:pt>
              </c:numCache>
            </c:numRef>
          </c:val>
          <c:smooth val="0"/>
          <c:extLst>
            <c:ext xmlns:c16="http://schemas.microsoft.com/office/drawing/2014/chart" uri="{C3380CC4-5D6E-409C-BE32-E72D297353CC}">
              <c16:uniqueId val="{00000004-ED96-4383-B3B1-0090AEEE30F0}"/>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17.600000000000001</c:v>
                </c:pt>
                <c:pt idx="1">
                  <c:v>17.5</c:v>
                </c:pt>
                <c:pt idx="2">
                  <c:v>17.399999999999999</c:v>
                </c:pt>
                <c:pt idx="3">
                  <c:v>16.899999999999999</c:v>
                </c:pt>
                <c:pt idx="4">
                  <c:v>17.3</c:v>
                </c:pt>
              </c:numCache>
            </c:numRef>
          </c:val>
          <c:smooth val="0"/>
          <c:extLst>
            <c:ext xmlns:c16="http://schemas.microsoft.com/office/drawing/2014/chart" uri="{C3380CC4-5D6E-409C-BE32-E72D297353CC}">
              <c16:uniqueId val="{00000005-ED96-4383-B3B1-0090AEEE30F0}"/>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31.8</c:v>
                </c:pt>
                <c:pt idx="1">
                  <c:v>28.8</c:v>
                </c:pt>
                <c:pt idx="2">
                  <c:v>27.6</c:v>
                </c:pt>
                <c:pt idx="3">
                  <c:v>23.7</c:v>
                </c:pt>
                <c:pt idx="4">
                  <c:v>15.4</c:v>
                </c:pt>
              </c:numCache>
            </c:numRef>
          </c:val>
          <c:extLst>
            <c:ext xmlns:c16="http://schemas.microsoft.com/office/drawing/2014/chart" uri="{C3380CC4-5D6E-409C-BE32-E72D297353CC}">
              <c16:uniqueId val="{00000000-2AFF-4BDF-8749-A00C00D5EA10}"/>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2.5</c:v>
                </c:pt>
                <c:pt idx="1">
                  <c:v>1.2</c:v>
                </c:pt>
                <c:pt idx="2">
                  <c:v>0.7</c:v>
                </c:pt>
                <c:pt idx="3">
                  <c:v>2.4</c:v>
                </c:pt>
                <c:pt idx="4">
                  <c:v>1.8</c:v>
                </c:pt>
              </c:numCache>
            </c:numRef>
          </c:val>
          <c:extLst>
            <c:ext xmlns:c16="http://schemas.microsoft.com/office/drawing/2014/chart" uri="{C3380CC4-5D6E-409C-BE32-E72D297353CC}">
              <c16:uniqueId val="{00000001-2AFF-4BDF-8749-A00C00D5EA10}"/>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35.6</c:v>
                </c:pt>
                <c:pt idx="1">
                  <c:v>35.1</c:v>
                </c:pt>
                <c:pt idx="2">
                  <c:v>29.3</c:v>
                </c:pt>
                <c:pt idx="3">
                  <c:v>31.5</c:v>
                </c:pt>
                <c:pt idx="4">
                  <c:v>27.7</c:v>
                </c:pt>
              </c:numCache>
            </c:numRef>
          </c:val>
          <c:extLst>
            <c:ext xmlns:c16="http://schemas.microsoft.com/office/drawing/2014/chart" uri="{C3380CC4-5D6E-409C-BE32-E72D297353CC}">
              <c16:uniqueId val="{00000002-2AFF-4BDF-8749-A00C00D5EA10}"/>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13</c:v>
                </c:pt>
                <c:pt idx="1">
                  <c:v>11.5</c:v>
                </c:pt>
                <c:pt idx="2">
                  <c:v>15.6</c:v>
                </c:pt>
                <c:pt idx="3">
                  <c:v>19.3</c:v>
                </c:pt>
                <c:pt idx="4">
                  <c:v>15.4</c:v>
                </c:pt>
              </c:numCache>
            </c:numRef>
          </c:val>
          <c:extLst>
            <c:ext xmlns:c16="http://schemas.microsoft.com/office/drawing/2014/chart" uri="{C3380CC4-5D6E-409C-BE32-E72D297353CC}">
              <c16:uniqueId val="{00000003-2AFF-4BDF-8749-A00C00D5EA10}"/>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21.3</c:v>
                </c:pt>
                <c:pt idx="1">
                  <c:v>20.5</c:v>
                </c:pt>
                <c:pt idx="2">
                  <c:v>19.5</c:v>
                </c:pt>
                <c:pt idx="3">
                  <c:v>19.899999999999999</c:v>
                </c:pt>
                <c:pt idx="4">
                  <c:v>20.8</c:v>
                </c:pt>
              </c:numCache>
            </c:numRef>
          </c:val>
          <c:smooth val="0"/>
          <c:extLst>
            <c:ext xmlns:c16="http://schemas.microsoft.com/office/drawing/2014/chart" uri="{C3380CC4-5D6E-409C-BE32-E72D297353CC}">
              <c16:uniqueId val="{00000004-2AFF-4BDF-8749-A00C00D5EA10}"/>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17.3</c:v>
                </c:pt>
                <c:pt idx="1">
                  <c:v>17.100000000000001</c:v>
                </c:pt>
                <c:pt idx="2">
                  <c:v>16.8</c:v>
                </c:pt>
                <c:pt idx="3">
                  <c:v>16.7</c:v>
                </c:pt>
                <c:pt idx="4">
                  <c:v>17.5</c:v>
                </c:pt>
              </c:numCache>
            </c:numRef>
          </c:val>
          <c:smooth val="0"/>
          <c:extLst>
            <c:ext xmlns:c16="http://schemas.microsoft.com/office/drawing/2014/chart" uri="{C3380CC4-5D6E-409C-BE32-E72D297353CC}">
              <c16:uniqueId val="{00000005-2AFF-4BDF-8749-A00C00D5EA10}"/>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27.7</c:v>
                </c:pt>
                <c:pt idx="1">
                  <c:v>56.5</c:v>
                </c:pt>
                <c:pt idx="2">
                  <c:v>38.1</c:v>
                </c:pt>
                <c:pt idx="3">
                  <c:v>30.6</c:v>
                </c:pt>
                <c:pt idx="4">
                  <c:v>15.3</c:v>
                </c:pt>
              </c:numCache>
            </c:numRef>
          </c:val>
          <c:extLst>
            <c:ext xmlns:c16="http://schemas.microsoft.com/office/drawing/2014/chart" uri="{C3380CC4-5D6E-409C-BE32-E72D297353CC}">
              <c16:uniqueId val="{00000000-97FE-40BF-BFCC-88CD1E6375D9}"/>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1.5</c:v>
                </c:pt>
                <c:pt idx="1">
                  <c:v>1.6</c:v>
                </c:pt>
                <c:pt idx="2">
                  <c:v>1.3</c:v>
                </c:pt>
                <c:pt idx="3">
                  <c:v>3.2</c:v>
                </c:pt>
                <c:pt idx="4">
                  <c:v>3.1</c:v>
                </c:pt>
              </c:numCache>
            </c:numRef>
          </c:val>
          <c:extLst>
            <c:ext xmlns:c16="http://schemas.microsoft.com/office/drawing/2014/chart" uri="{C3380CC4-5D6E-409C-BE32-E72D297353CC}">
              <c16:uniqueId val="{00000001-97FE-40BF-BFCC-88CD1E6375D9}"/>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49</c:v>
                </c:pt>
                <c:pt idx="1">
                  <c:v>33</c:v>
                </c:pt>
                <c:pt idx="2">
                  <c:v>35.200000000000003</c:v>
                </c:pt>
                <c:pt idx="3">
                  <c:v>34.200000000000003</c:v>
                </c:pt>
                <c:pt idx="4">
                  <c:v>33</c:v>
                </c:pt>
              </c:numCache>
            </c:numRef>
          </c:val>
          <c:extLst>
            <c:ext xmlns:c16="http://schemas.microsoft.com/office/drawing/2014/chart" uri="{C3380CC4-5D6E-409C-BE32-E72D297353CC}">
              <c16:uniqueId val="{00000002-97FE-40BF-BFCC-88CD1E6375D9}"/>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10.6</c:v>
                </c:pt>
                <c:pt idx="1">
                  <c:v>2.5</c:v>
                </c:pt>
                <c:pt idx="2">
                  <c:v>7.2</c:v>
                </c:pt>
                <c:pt idx="3">
                  <c:v>14.6</c:v>
                </c:pt>
                <c:pt idx="4">
                  <c:v>28</c:v>
                </c:pt>
              </c:numCache>
            </c:numRef>
          </c:val>
          <c:extLst>
            <c:ext xmlns:c16="http://schemas.microsoft.com/office/drawing/2014/chart" uri="{C3380CC4-5D6E-409C-BE32-E72D297353CC}">
              <c16:uniqueId val="{00000003-97FE-40BF-BFCC-88CD1E6375D9}"/>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21.9</c:v>
                </c:pt>
                <c:pt idx="1">
                  <c:v>22.9</c:v>
                </c:pt>
                <c:pt idx="2">
                  <c:v>23</c:v>
                </c:pt>
                <c:pt idx="3">
                  <c:v>23</c:v>
                </c:pt>
                <c:pt idx="4">
                  <c:v>22.8</c:v>
                </c:pt>
              </c:numCache>
            </c:numRef>
          </c:val>
          <c:smooth val="0"/>
          <c:extLst>
            <c:ext xmlns:c16="http://schemas.microsoft.com/office/drawing/2014/chart" uri="{C3380CC4-5D6E-409C-BE32-E72D297353CC}">
              <c16:uniqueId val="{00000004-97FE-40BF-BFCC-88CD1E6375D9}"/>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18.8</c:v>
                </c:pt>
                <c:pt idx="1">
                  <c:v>19.3</c:v>
                </c:pt>
                <c:pt idx="2">
                  <c:v>18.5</c:v>
                </c:pt>
                <c:pt idx="3">
                  <c:v>18.7</c:v>
                </c:pt>
                <c:pt idx="4">
                  <c:v>19.2</c:v>
                </c:pt>
              </c:numCache>
            </c:numRef>
          </c:val>
          <c:smooth val="0"/>
          <c:extLst>
            <c:ext xmlns:c16="http://schemas.microsoft.com/office/drawing/2014/chart" uri="{C3380CC4-5D6E-409C-BE32-E72D297353CC}">
              <c16:uniqueId val="{00000005-97FE-40BF-BFCC-88CD1E6375D9}"/>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93.8</c:v>
                </c:pt>
                <c:pt idx="1">
                  <c:v>93.5</c:v>
                </c:pt>
                <c:pt idx="2">
                  <c:v>89.1</c:v>
                </c:pt>
                <c:pt idx="3">
                  <c:v>85.7</c:v>
                </c:pt>
                <c:pt idx="4">
                  <c:v>86</c:v>
                </c:pt>
              </c:numCache>
            </c:numRef>
          </c:val>
          <c:extLst>
            <c:ext xmlns:c16="http://schemas.microsoft.com/office/drawing/2014/chart" uri="{C3380CC4-5D6E-409C-BE32-E72D297353CC}">
              <c16:uniqueId val="{00000000-04CD-464E-A564-54C090476F73}"/>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1.6</c:v>
                </c:pt>
                <c:pt idx="4">
                  <c:v>3.1</c:v>
                </c:pt>
              </c:numCache>
            </c:numRef>
          </c:val>
          <c:extLst>
            <c:ext xmlns:c16="http://schemas.microsoft.com/office/drawing/2014/chart" uri="{C3380CC4-5D6E-409C-BE32-E72D297353CC}">
              <c16:uniqueId val="{00000001-04CD-464E-A564-54C090476F73}"/>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c:v>
                </c:pt>
                <c:pt idx="1">
                  <c:v>5.0999999999999996</c:v>
                </c:pt>
                <c:pt idx="2">
                  <c:v>9.1999999999999993</c:v>
                </c:pt>
                <c:pt idx="3">
                  <c:v>10.7</c:v>
                </c:pt>
                <c:pt idx="4">
                  <c:v>7</c:v>
                </c:pt>
              </c:numCache>
            </c:numRef>
          </c:val>
          <c:extLst>
            <c:ext xmlns:c16="http://schemas.microsoft.com/office/drawing/2014/chart" uri="{C3380CC4-5D6E-409C-BE32-E72D297353CC}">
              <c16:uniqueId val="{00000002-04CD-464E-A564-54C090476F73}"/>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0</c:v>
                </c:pt>
                <c:pt idx="2">
                  <c:v>1.7</c:v>
                </c:pt>
                <c:pt idx="3">
                  <c:v>0</c:v>
                </c:pt>
                <c:pt idx="4">
                  <c:v>0.8</c:v>
                </c:pt>
              </c:numCache>
            </c:numRef>
          </c:val>
          <c:extLst>
            <c:ext xmlns:c16="http://schemas.microsoft.com/office/drawing/2014/chart" uri="{C3380CC4-5D6E-409C-BE32-E72D297353CC}">
              <c16:uniqueId val="{00000003-04CD-464E-A564-54C090476F73}"/>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4-04CD-464E-A564-54C090476F73}"/>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5-04CD-464E-A564-54C090476F73}"/>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76.400000000000006</c:v>
                </c:pt>
                <c:pt idx="1">
                  <c:v>49.5</c:v>
                </c:pt>
                <c:pt idx="2">
                  <c:v>58.1</c:v>
                </c:pt>
                <c:pt idx="3">
                  <c:v>58.7</c:v>
                </c:pt>
                <c:pt idx="4">
                  <c:v>70.599999999999994</c:v>
                </c:pt>
              </c:numCache>
            </c:numRef>
          </c:val>
          <c:extLst>
            <c:ext xmlns:c16="http://schemas.microsoft.com/office/drawing/2014/chart" uri="{C3380CC4-5D6E-409C-BE32-E72D297353CC}">
              <c16:uniqueId val="{00000000-CC46-4A3F-A528-9B361AF4F51A}"/>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2.9</c:v>
                </c:pt>
              </c:numCache>
            </c:numRef>
          </c:val>
          <c:extLst>
            <c:ext xmlns:c16="http://schemas.microsoft.com/office/drawing/2014/chart" uri="{C3380CC4-5D6E-409C-BE32-E72D297353CC}">
              <c16:uniqueId val="{00000001-CC46-4A3F-A528-9B361AF4F51A}"/>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18</c:v>
                </c:pt>
                <c:pt idx="1">
                  <c:v>23.1</c:v>
                </c:pt>
                <c:pt idx="2">
                  <c:v>20.2</c:v>
                </c:pt>
                <c:pt idx="3">
                  <c:v>18.399999999999999</c:v>
                </c:pt>
                <c:pt idx="4">
                  <c:v>14.3</c:v>
                </c:pt>
              </c:numCache>
            </c:numRef>
          </c:val>
          <c:extLst>
            <c:ext xmlns:c16="http://schemas.microsoft.com/office/drawing/2014/chart" uri="{C3380CC4-5D6E-409C-BE32-E72D297353CC}">
              <c16:uniqueId val="{00000002-CC46-4A3F-A528-9B361AF4F51A}"/>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2.4</c:v>
                </c:pt>
                <c:pt idx="2">
                  <c:v>1.7</c:v>
                </c:pt>
                <c:pt idx="3">
                  <c:v>0</c:v>
                </c:pt>
                <c:pt idx="4">
                  <c:v>1.1000000000000001</c:v>
                </c:pt>
              </c:numCache>
            </c:numRef>
          </c:val>
          <c:extLst>
            <c:ext xmlns:c16="http://schemas.microsoft.com/office/drawing/2014/chart" uri="{C3380CC4-5D6E-409C-BE32-E72D297353CC}">
              <c16:uniqueId val="{00000003-CC46-4A3F-A528-9B361AF4F51A}"/>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4-CC46-4A3F-A528-9B361AF4F51A}"/>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5-CC46-4A3F-A528-9B361AF4F51A}"/>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75.900000000000006</c:v>
                </c:pt>
                <c:pt idx="1">
                  <c:v>66.3</c:v>
                </c:pt>
                <c:pt idx="2">
                  <c:v>60.4</c:v>
                </c:pt>
                <c:pt idx="3">
                  <c:v>64.2</c:v>
                </c:pt>
                <c:pt idx="4">
                  <c:v>83.3</c:v>
                </c:pt>
              </c:numCache>
            </c:numRef>
          </c:val>
          <c:extLst>
            <c:ext xmlns:c16="http://schemas.microsoft.com/office/drawing/2014/chart" uri="{C3380CC4-5D6E-409C-BE32-E72D297353CC}">
              <c16:uniqueId val="{00000000-3992-4605-B2DE-4A1E3F56DDE5}"/>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1.6</c:v>
                </c:pt>
                <c:pt idx="2">
                  <c:v>1.2</c:v>
                </c:pt>
                <c:pt idx="3">
                  <c:v>0.6</c:v>
                </c:pt>
                <c:pt idx="4">
                  <c:v>1.4</c:v>
                </c:pt>
              </c:numCache>
            </c:numRef>
          </c:val>
          <c:extLst>
            <c:ext xmlns:c16="http://schemas.microsoft.com/office/drawing/2014/chart" uri="{C3380CC4-5D6E-409C-BE32-E72D297353CC}">
              <c16:uniqueId val="{00000001-3992-4605-B2DE-4A1E3F56DDE5}"/>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19.8</c:v>
                </c:pt>
                <c:pt idx="1">
                  <c:v>20.8</c:v>
                </c:pt>
                <c:pt idx="2">
                  <c:v>18.5</c:v>
                </c:pt>
                <c:pt idx="3">
                  <c:v>21.6</c:v>
                </c:pt>
                <c:pt idx="4">
                  <c:v>14.7</c:v>
                </c:pt>
              </c:numCache>
            </c:numRef>
          </c:val>
          <c:extLst>
            <c:ext xmlns:c16="http://schemas.microsoft.com/office/drawing/2014/chart" uri="{C3380CC4-5D6E-409C-BE32-E72D297353CC}">
              <c16:uniqueId val="{00000002-3992-4605-B2DE-4A1E3F56DDE5}"/>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4.5</c:v>
                </c:pt>
                <c:pt idx="2">
                  <c:v>3.1</c:v>
                </c:pt>
                <c:pt idx="3">
                  <c:v>2.2000000000000002</c:v>
                </c:pt>
                <c:pt idx="4">
                  <c:v>0</c:v>
                </c:pt>
              </c:numCache>
            </c:numRef>
          </c:val>
          <c:extLst>
            <c:ext xmlns:c16="http://schemas.microsoft.com/office/drawing/2014/chart" uri="{C3380CC4-5D6E-409C-BE32-E72D297353CC}">
              <c16:uniqueId val="{00000003-3992-4605-B2DE-4A1E3F56DDE5}"/>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4-3992-4605-B2DE-4A1E3F56DDE5}"/>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5-3992-4605-B2DE-4A1E3F56DDE5}"/>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86.8</c:v>
                </c:pt>
                <c:pt idx="1">
                  <c:v>83.1</c:v>
                </c:pt>
                <c:pt idx="2">
                  <c:v>63.4</c:v>
                </c:pt>
                <c:pt idx="3">
                  <c:v>72.8</c:v>
                </c:pt>
                <c:pt idx="4">
                  <c:v>65.900000000000006</c:v>
                </c:pt>
              </c:numCache>
            </c:numRef>
          </c:val>
          <c:extLst>
            <c:ext xmlns:c16="http://schemas.microsoft.com/office/drawing/2014/chart" uri="{C3380CC4-5D6E-409C-BE32-E72D297353CC}">
              <c16:uniqueId val="{00000000-7B12-4A9F-B1C4-6CEB3465509E}"/>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2.1</c:v>
                </c:pt>
                <c:pt idx="4">
                  <c:v>7.5</c:v>
                </c:pt>
              </c:numCache>
            </c:numRef>
          </c:val>
          <c:extLst>
            <c:ext xmlns:c16="http://schemas.microsoft.com/office/drawing/2014/chart" uri="{C3380CC4-5D6E-409C-BE32-E72D297353CC}">
              <c16:uniqueId val="{00000001-7B12-4A9F-B1C4-6CEB3465509E}"/>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5.3</c:v>
                </c:pt>
                <c:pt idx="1">
                  <c:v>13.4</c:v>
                </c:pt>
                <c:pt idx="2">
                  <c:v>25.9</c:v>
                </c:pt>
                <c:pt idx="3">
                  <c:v>20.8</c:v>
                </c:pt>
                <c:pt idx="4">
                  <c:v>17.100000000000001</c:v>
                </c:pt>
              </c:numCache>
            </c:numRef>
          </c:val>
          <c:extLst>
            <c:ext xmlns:c16="http://schemas.microsoft.com/office/drawing/2014/chart" uri="{C3380CC4-5D6E-409C-BE32-E72D297353CC}">
              <c16:uniqueId val="{00000002-7B12-4A9F-B1C4-6CEB3465509E}"/>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0</c:v>
                </c:pt>
                <c:pt idx="2">
                  <c:v>10.8</c:v>
                </c:pt>
                <c:pt idx="3">
                  <c:v>0</c:v>
                </c:pt>
                <c:pt idx="4">
                  <c:v>1.9</c:v>
                </c:pt>
              </c:numCache>
            </c:numRef>
          </c:val>
          <c:extLst>
            <c:ext xmlns:c16="http://schemas.microsoft.com/office/drawing/2014/chart" uri="{C3380CC4-5D6E-409C-BE32-E72D297353CC}">
              <c16:uniqueId val="{00000003-7B12-4A9F-B1C4-6CEB3465509E}"/>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25.7</c:v>
                </c:pt>
                <c:pt idx="1">
                  <c:v>26.6</c:v>
                </c:pt>
                <c:pt idx="2">
                  <c:v>24.6</c:v>
                </c:pt>
                <c:pt idx="3">
                  <c:v>22.1</c:v>
                </c:pt>
                <c:pt idx="4">
                  <c:v>22.7</c:v>
                </c:pt>
              </c:numCache>
            </c:numRef>
          </c:val>
          <c:smooth val="0"/>
          <c:extLst>
            <c:ext xmlns:c16="http://schemas.microsoft.com/office/drawing/2014/chart" uri="{C3380CC4-5D6E-409C-BE32-E72D297353CC}">
              <c16:uniqueId val="{00000004-7B12-4A9F-B1C4-6CEB3465509E}"/>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22.9</c:v>
                </c:pt>
                <c:pt idx="1">
                  <c:v>24.9</c:v>
                </c:pt>
                <c:pt idx="2">
                  <c:v>22</c:v>
                </c:pt>
                <c:pt idx="3">
                  <c:v>19.399999999999999</c:v>
                </c:pt>
                <c:pt idx="4">
                  <c:v>20.100000000000001</c:v>
                </c:pt>
              </c:numCache>
            </c:numRef>
          </c:val>
          <c:smooth val="0"/>
          <c:extLst>
            <c:ext xmlns:c16="http://schemas.microsoft.com/office/drawing/2014/chart" uri="{C3380CC4-5D6E-409C-BE32-E72D297353CC}">
              <c16:uniqueId val="{00000005-7B12-4A9F-B1C4-6CEB3465509E}"/>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49.2</c:v>
                </c:pt>
                <c:pt idx="1">
                  <c:v>24.9</c:v>
                </c:pt>
                <c:pt idx="2">
                  <c:v>33.799999999999997</c:v>
                </c:pt>
                <c:pt idx="3">
                  <c:v>41.5</c:v>
                </c:pt>
                <c:pt idx="4">
                  <c:v>57.6</c:v>
                </c:pt>
              </c:numCache>
            </c:numRef>
          </c:val>
          <c:extLst>
            <c:ext xmlns:c16="http://schemas.microsoft.com/office/drawing/2014/chart" uri="{C3380CC4-5D6E-409C-BE32-E72D297353CC}">
              <c16:uniqueId val="{00000000-8CBB-4460-9533-C33FE999FA02}"/>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0</c:v>
                </c:pt>
                <c:pt idx="2">
                  <c:v>0</c:v>
                </c:pt>
                <c:pt idx="3">
                  <c:v>0</c:v>
                </c:pt>
                <c:pt idx="4">
                  <c:v>1.6</c:v>
                </c:pt>
              </c:numCache>
            </c:numRef>
          </c:val>
          <c:extLst>
            <c:ext xmlns:c16="http://schemas.microsoft.com/office/drawing/2014/chart" uri="{C3380CC4-5D6E-409C-BE32-E72D297353CC}">
              <c16:uniqueId val="{00000001-8CBB-4460-9533-C33FE999FA02}"/>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37.9</c:v>
                </c:pt>
                <c:pt idx="1">
                  <c:v>33.5</c:v>
                </c:pt>
                <c:pt idx="2">
                  <c:v>20.8</c:v>
                </c:pt>
                <c:pt idx="3">
                  <c:v>22.1</c:v>
                </c:pt>
                <c:pt idx="4">
                  <c:v>24</c:v>
                </c:pt>
              </c:numCache>
            </c:numRef>
          </c:val>
          <c:extLst>
            <c:ext xmlns:c16="http://schemas.microsoft.com/office/drawing/2014/chart" uri="{C3380CC4-5D6E-409C-BE32-E72D297353CC}">
              <c16:uniqueId val="{00000002-8CBB-4460-9533-C33FE999FA02}"/>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2.7</c:v>
                </c:pt>
                <c:pt idx="2">
                  <c:v>5.0999999999999996</c:v>
                </c:pt>
                <c:pt idx="3">
                  <c:v>0</c:v>
                </c:pt>
                <c:pt idx="4">
                  <c:v>1.9</c:v>
                </c:pt>
              </c:numCache>
            </c:numRef>
          </c:val>
          <c:extLst>
            <c:ext xmlns:c16="http://schemas.microsoft.com/office/drawing/2014/chart" uri="{C3380CC4-5D6E-409C-BE32-E72D297353CC}">
              <c16:uniqueId val="{00000003-8CBB-4460-9533-C33FE999FA02}"/>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25.6</c:v>
                </c:pt>
                <c:pt idx="1">
                  <c:v>26.5</c:v>
                </c:pt>
                <c:pt idx="2">
                  <c:v>24</c:v>
                </c:pt>
                <c:pt idx="3">
                  <c:v>22.7</c:v>
                </c:pt>
                <c:pt idx="4">
                  <c:v>22.6</c:v>
                </c:pt>
              </c:numCache>
            </c:numRef>
          </c:val>
          <c:smooth val="0"/>
          <c:extLst>
            <c:ext xmlns:c16="http://schemas.microsoft.com/office/drawing/2014/chart" uri="{C3380CC4-5D6E-409C-BE32-E72D297353CC}">
              <c16:uniqueId val="{00000004-8CBB-4460-9533-C33FE999FA02}"/>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22.6</c:v>
                </c:pt>
                <c:pt idx="1">
                  <c:v>22.8</c:v>
                </c:pt>
                <c:pt idx="2">
                  <c:v>19.7</c:v>
                </c:pt>
                <c:pt idx="3">
                  <c:v>19.7</c:v>
                </c:pt>
                <c:pt idx="4">
                  <c:v>19.5</c:v>
                </c:pt>
              </c:numCache>
            </c:numRef>
          </c:val>
          <c:smooth val="0"/>
          <c:extLst>
            <c:ext xmlns:c16="http://schemas.microsoft.com/office/drawing/2014/chart" uri="{C3380CC4-5D6E-409C-BE32-E72D297353CC}">
              <c16:uniqueId val="{00000005-8CBB-4460-9533-C33FE999FA02}"/>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Share v1</c:v>
                </c:pt>
              </c:strCache>
            </c:strRef>
          </c:tx>
          <c:spPr>
            <a:solidFill>
              <a:srgbClr val="E3F5DE"/>
            </a:solidFill>
            <a:effectLst/>
          </c:spPr>
          <c:invertIfNegative val="0"/>
          <c:cat>
            <c:strRef>
              <c:f>Sheet1!$A$2:$A$6</c:f>
              <c:strCache>
                <c:ptCount val="5"/>
                <c:pt idx="0">
                  <c:v>2025Q2</c:v>
                </c:pt>
                <c:pt idx="1">
                  <c:v>2025Q3</c:v>
                </c:pt>
                <c:pt idx="2">
                  <c:v>2025Q4</c:v>
                </c:pt>
                <c:pt idx="3">
                  <c:v>2026Q1</c:v>
                </c:pt>
                <c:pt idx="4">
                  <c:v>2026Q2</c:v>
                </c:pt>
              </c:strCache>
            </c:strRef>
          </c:cat>
          <c:val>
            <c:numRef>
              <c:f>Sheet1!$B$2:$B$6</c:f>
              <c:numCache>
                <c:formatCode>General</c:formatCode>
                <c:ptCount val="5"/>
                <c:pt idx="0">
                  <c:v>40.6</c:v>
                </c:pt>
                <c:pt idx="1">
                  <c:v>37.1</c:v>
                </c:pt>
                <c:pt idx="2">
                  <c:v>36.1</c:v>
                </c:pt>
                <c:pt idx="3">
                  <c:v>26.2</c:v>
                </c:pt>
                <c:pt idx="4">
                  <c:v>62.8</c:v>
                </c:pt>
              </c:numCache>
            </c:numRef>
          </c:val>
          <c:extLst>
            <c:ext xmlns:c16="http://schemas.microsoft.com/office/drawing/2014/chart" uri="{C3380CC4-5D6E-409C-BE32-E72D297353CC}">
              <c16:uniqueId val="{00000000-B83D-4166-A736-05EA3021C447}"/>
            </c:ext>
          </c:extLst>
        </c:ser>
        <c:ser>
          <c:idx val="1"/>
          <c:order val="1"/>
          <c:tx>
            <c:strRef>
              <c:f>Sheet1!$C$1</c:f>
              <c:strCache>
                <c:ptCount val="1"/>
                <c:pt idx="0">
                  <c:v>Share v2</c:v>
                </c:pt>
              </c:strCache>
            </c:strRef>
          </c:tx>
          <c:spPr>
            <a:solidFill>
              <a:srgbClr val="B7E3A8"/>
            </a:solidFill>
            <a:effectLst/>
          </c:spPr>
          <c:invertIfNegative val="0"/>
          <c:cat>
            <c:strRef>
              <c:f>Sheet1!$A$2:$A$6</c:f>
              <c:strCache>
                <c:ptCount val="5"/>
                <c:pt idx="0">
                  <c:v>2025Q2</c:v>
                </c:pt>
                <c:pt idx="1">
                  <c:v>2025Q3</c:v>
                </c:pt>
                <c:pt idx="2">
                  <c:v>2025Q4</c:v>
                </c:pt>
                <c:pt idx="3">
                  <c:v>2026Q1</c:v>
                </c:pt>
                <c:pt idx="4">
                  <c:v>2026Q2</c:v>
                </c:pt>
              </c:strCache>
            </c:strRef>
          </c:cat>
          <c:val>
            <c:numRef>
              <c:f>Sheet1!$C$2:$C$6</c:f>
              <c:numCache>
                <c:formatCode>General</c:formatCode>
                <c:ptCount val="5"/>
                <c:pt idx="0">
                  <c:v>0</c:v>
                </c:pt>
                <c:pt idx="1">
                  <c:v>1.9</c:v>
                </c:pt>
                <c:pt idx="2">
                  <c:v>0.3</c:v>
                </c:pt>
                <c:pt idx="3">
                  <c:v>0.1</c:v>
                </c:pt>
                <c:pt idx="4">
                  <c:v>0.9</c:v>
                </c:pt>
              </c:numCache>
            </c:numRef>
          </c:val>
          <c:extLst>
            <c:ext xmlns:c16="http://schemas.microsoft.com/office/drawing/2014/chart" uri="{C3380CC4-5D6E-409C-BE32-E72D297353CC}">
              <c16:uniqueId val="{00000001-B83D-4166-A736-05EA3021C447}"/>
            </c:ext>
          </c:extLst>
        </c:ser>
        <c:ser>
          <c:idx val="2"/>
          <c:order val="2"/>
          <c:tx>
            <c:strRef>
              <c:f>Sheet1!$D$1</c:f>
              <c:strCache>
                <c:ptCount val="1"/>
                <c:pt idx="0">
                  <c:v>Share v3</c:v>
                </c:pt>
              </c:strCache>
            </c:strRef>
          </c:tx>
          <c:spPr>
            <a:solidFill>
              <a:srgbClr val="7BC96F"/>
            </a:solidFill>
            <a:effectLst/>
          </c:spPr>
          <c:invertIfNegative val="0"/>
          <c:cat>
            <c:strRef>
              <c:f>Sheet1!$A$2:$A$6</c:f>
              <c:strCache>
                <c:ptCount val="5"/>
                <c:pt idx="0">
                  <c:v>2025Q2</c:v>
                </c:pt>
                <c:pt idx="1">
                  <c:v>2025Q3</c:v>
                </c:pt>
                <c:pt idx="2">
                  <c:v>2025Q4</c:v>
                </c:pt>
                <c:pt idx="3">
                  <c:v>2026Q1</c:v>
                </c:pt>
                <c:pt idx="4">
                  <c:v>2026Q2</c:v>
                </c:pt>
              </c:strCache>
            </c:strRef>
          </c:cat>
          <c:val>
            <c:numRef>
              <c:f>Sheet1!$D$2:$D$6</c:f>
              <c:numCache>
                <c:formatCode>General</c:formatCode>
                <c:ptCount val="5"/>
                <c:pt idx="0">
                  <c:v>52.5</c:v>
                </c:pt>
                <c:pt idx="1">
                  <c:v>39.299999999999997</c:v>
                </c:pt>
                <c:pt idx="2">
                  <c:v>28.8</c:v>
                </c:pt>
                <c:pt idx="3">
                  <c:v>52.1</c:v>
                </c:pt>
                <c:pt idx="4">
                  <c:v>35.200000000000003</c:v>
                </c:pt>
              </c:numCache>
            </c:numRef>
          </c:val>
          <c:extLst>
            <c:ext xmlns:c16="http://schemas.microsoft.com/office/drawing/2014/chart" uri="{C3380CC4-5D6E-409C-BE32-E72D297353CC}">
              <c16:uniqueId val="{00000002-B83D-4166-A736-05EA3021C447}"/>
            </c:ext>
          </c:extLst>
        </c:ser>
        <c:ser>
          <c:idx val="3"/>
          <c:order val="3"/>
          <c:tx>
            <c:strRef>
              <c:f>Sheet1!$E$1</c:f>
              <c:strCache>
                <c:ptCount val="1"/>
                <c:pt idx="0">
                  <c:v>Share v4</c:v>
                </c:pt>
              </c:strCache>
            </c:strRef>
          </c:tx>
          <c:spPr>
            <a:solidFill>
              <a:srgbClr val="2E8B3D"/>
            </a:solidFill>
            <a:effectLst/>
          </c:spPr>
          <c:invertIfNegative val="0"/>
          <c:cat>
            <c:strRef>
              <c:f>Sheet1!$A$2:$A$6</c:f>
              <c:strCache>
                <c:ptCount val="5"/>
                <c:pt idx="0">
                  <c:v>2025Q2</c:v>
                </c:pt>
                <c:pt idx="1">
                  <c:v>2025Q3</c:v>
                </c:pt>
                <c:pt idx="2">
                  <c:v>2025Q4</c:v>
                </c:pt>
                <c:pt idx="3">
                  <c:v>2026Q1</c:v>
                </c:pt>
                <c:pt idx="4">
                  <c:v>2026Q2</c:v>
                </c:pt>
              </c:strCache>
            </c:strRef>
          </c:cat>
          <c:val>
            <c:numRef>
              <c:f>Sheet1!$E$2:$E$6</c:f>
              <c:numCache>
                <c:formatCode>General</c:formatCode>
                <c:ptCount val="5"/>
                <c:pt idx="0">
                  <c:v>0</c:v>
                </c:pt>
                <c:pt idx="1">
                  <c:v>7.5</c:v>
                </c:pt>
                <c:pt idx="2">
                  <c:v>5.2</c:v>
                </c:pt>
                <c:pt idx="3">
                  <c:v>4.0999999999999996</c:v>
                </c:pt>
                <c:pt idx="4">
                  <c:v>0</c:v>
                </c:pt>
              </c:numCache>
            </c:numRef>
          </c:val>
          <c:extLst>
            <c:ext xmlns:c16="http://schemas.microsoft.com/office/drawing/2014/chart" uri="{C3380CC4-5D6E-409C-BE32-E72D297353CC}">
              <c16:uniqueId val="{00000003-B83D-4166-A736-05EA3021C447}"/>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4"/>
          <c:order val="4"/>
          <c:tx>
            <c:strRef>
              <c:f>Sheet1!$F$1</c:f>
              <c:strCache>
                <c:ptCount val="1"/>
                <c:pt idx="0">
                  <c:v>TEA Ofertada</c:v>
                </c:pt>
              </c:strCache>
            </c:strRef>
          </c:tx>
          <c:spPr>
            <a:ln w="19050" cap="flat">
              <a:solidFill>
                <a:srgbClr val="1B4F7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Sheet1!$F$2:$F$6</c:f>
              <c:numCache>
                <c:formatCode>General</c:formatCode>
                <c:ptCount val="5"/>
                <c:pt idx="0">
                  <c:v>25.4</c:v>
                </c:pt>
                <c:pt idx="1">
                  <c:v>26.9</c:v>
                </c:pt>
                <c:pt idx="2">
                  <c:v>25.2</c:v>
                </c:pt>
                <c:pt idx="3">
                  <c:v>23.2</c:v>
                </c:pt>
                <c:pt idx="4">
                  <c:v>22.7</c:v>
                </c:pt>
              </c:numCache>
            </c:numRef>
          </c:val>
          <c:smooth val="0"/>
          <c:extLst>
            <c:ext xmlns:c16="http://schemas.microsoft.com/office/drawing/2014/chart" uri="{C3380CC4-5D6E-409C-BE32-E72D297353CC}">
              <c16:uniqueId val="{00000004-B83D-4166-A736-05EA3021C447}"/>
            </c:ext>
          </c:extLst>
        </c:ser>
        <c:ser>
          <c:idx val="5"/>
          <c:order val="5"/>
          <c:tx>
            <c:strRef>
              <c:f>Sheet1!$G$1</c:f>
              <c:strCache>
                <c:ptCount val="1"/>
                <c:pt idx="0">
                  <c:v>TEA Desembolsada</c:v>
                </c:pt>
              </c:strCache>
            </c:strRef>
          </c:tx>
          <c:spPr>
            <a:ln w="19050" cap="flat">
              <a:solidFill>
                <a:srgbClr val="E67E22"/>
              </a:solidFill>
              <a:prstDash val="solid"/>
              <a:round/>
            </a:ln>
            <a:effectLst/>
          </c:spPr>
          <c:marker>
            <c:symbol val="none"/>
          </c:marker>
          <c:cat>
            <c:strRef>
              <c:f>Sheet1!$A$2:$A$6</c:f>
              <c:strCache>
                <c:ptCount val="5"/>
                <c:pt idx="0">
                  <c:v>2025Q2</c:v>
                </c:pt>
                <c:pt idx="1">
                  <c:v>2025Q3</c:v>
                </c:pt>
                <c:pt idx="2">
                  <c:v>2025Q4</c:v>
                </c:pt>
                <c:pt idx="3">
                  <c:v>2026Q1</c:v>
                </c:pt>
                <c:pt idx="4">
                  <c:v>2026Q2</c:v>
                </c:pt>
              </c:strCache>
            </c:strRef>
          </c:cat>
          <c:val>
            <c:numRef>
              <c:f>Sheet1!$G$2:$G$6</c:f>
              <c:numCache>
                <c:formatCode>General</c:formatCode>
                <c:ptCount val="5"/>
                <c:pt idx="0">
                  <c:v>21.5</c:v>
                </c:pt>
                <c:pt idx="1">
                  <c:v>20.8</c:v>
                </c:pt>
                <c:pt idx="2">
                  <c:v>20.100000000000001</c:v>
                </c:pt>
                <c:pt idx="3">
                  <c:v>18.399999999999999</c:v>
                </c:pt>
                <c:pt idx="4">
                  <c:v>19.5</c:v>
                </c:pt>
              </c:numCache>
            </c:numRef>
          </c:val>
          <c:smooth val="0"/>
          <c:extLst>
            <c:ext xmlns:c16="http://schemas.microsoft.com/office/drawing/2014/chart" uri="{C3380CC4-5D6E-409C-BE32-E72D297353CC}">
              <c16:uniqueId val="{00000005-B83D-4166-A736-05EA3021C447}"/>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D5DFDE"/>
            </a:solidFill>
            <a:prstDash val="solid"/>
            <a:round/>
          </a:ln>
        </c:spPr>
        <c:txPr>
          <a:bodyPr/>
          <a:lstStyle/>
          <a:p>
            <a:pPr>
              <a:defRPr sz="650" b="0" i="0" u="none" strike="noStrike">
                <a:solidFill>
                  <a:srgbClr val="6E7E7D"/>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5DFD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4"/>
        <c:crosses val="autoZero"/>
        <c:crossBetween val="between"/>
      </c:valAx>
      <c:valAx>
        <c:axId val="2094734553"/>
        <c:scaling>
          <c:orientation val="minMax"/>
          <c:max val="30"/>
          <c:min val="1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6E7E7D"/>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2B4CE-554B-164E-A054-8FA12C1AE133}" type="datetimeFigureOut">
              <a:rPr lang="es-ES_tradnl" smtClean="0"/>
              <a:t>07/10/2026</a:t>
            </a:fld>
            <a:endParaRPr lang="es-ES_trad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838C37-2F26-6447-BCC3-755C277B77DF}" type="slidenum">
              <a:rPr lang="es-ES_tradnl" smtClean="0"/>
              <a:t>‹#›</a:t>
            </a:fld>
            <a:endParaRPr lang="es-ES_tradnl"/>
          </a:p>
        </p:txBody>
      </p:sp>
    </p:spTree>
    <p:extLst>
      <p:ext uri="{BB962C8B-B14F-4D97-AF65-F5344CB8AC3E}">
        <p14:creationId xmlns:p14="http://schemas.microsoft.com/office/powerpoint/2010/main" val="88627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fld id="{D9838C37-2F26-6447-BCC3-755C277B77DF}" type="slidenum">
              <a:rPr lang="es-ES_tradnl" smtClean="0"/>
              <a:t>10</a:t>
            </a:fld>
            <a:endParaRPr lang="es-ES_tradnl"/>
          </a:p>
        </p:txBody>
      </p:sp>
    </p:spTree>
    <p:extLst>
      <p:ext uri="{BB962C8B-B14F-4D97-AF65-F5344CB8AC3E}">
        <p14:creationId xmlns:p14="http://schemas.microsoft.com/office/powerpoint/2010/main" val="1665390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91A5-2816-20DB-07E5-0D52529F7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30A422-5A97-5978-2CB4-2FF3DFBF7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5EE43-7283-E8CB-1D55-3683AE1711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03B25E-9F00-101F-5BEF-951496217A7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27473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10199-1221-D472-7F1C-4BDEA34C2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83C4E4-082E-1A1F-EEA0-4791D90EF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11EAE-C629-DD8E-6474-DC8C0F7337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754AC8-CE8F-222C-C241-186E03926972}"/>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804494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2F0A-94B7-3F4D-BB56-4CD58036A7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AA9B84-58A6-B434-59D1-AE263E2B97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7F13E2-BCD7-6B57-4BF8-709413B92518}"/>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7B6BF9DC-073A-BA7C-00E0-87651DE29A92}"/>
              </a:ext>
            </a:extLst>
          </p:cNvPr>
          <p:cNvSpPr>
            <a:spLocks noGrp="1"/>
          </p:cNvSpPr>
          <p:nvPr>
            <p:ph type="sldNum" sz="quarter" idx="5"/>
          </p:nvPr>
        </p:nvSpPr>
        <p:spPr/>
        <p:txBody>
          <a:bodyPr/>
          <a:lstStyle/>
          <a:p>
            <a:fld id="{D9838C37-2F26-6447-BCC3-755C277B77DF}" type="slidenum">
              <a:rPr lang="es-ES_tradnl" smtClean="0"/>
              <a:t>54</a:t>
            </a:fld>
            <a:endParaRPr lang="es-ES_tradnl"/>
          </a:p>
        </p:txBody>
      </p:sp>
    </p:spTree>
    <p:extLst>
      <p:ext uri="{BB962C8B-B14F-4D97-AF65-F5344CB8AC3E}">
        <p14:creationId xmlns:p14="http://schemas.microsoft.com/office/powerpoint/2010/main" val="9706229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F21E0-2049-99E9-1963-9F61430480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E44689-F02E-5FA6-26B0-BD59B41E45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86D46A-DF75-814F-8CAD-45D483CC657C}"/>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99634B5B-8FDA-0DC7-7CA1-E382D93EFEEC}"/>
              </a:ext>
            </a:extLst>
          </p:cNvPr>
          <p:cNvSpPr>
            <a:spLocks noGrp="1"/>
          </p:cNvSpPr>
          <p:nvPr>
            <p:ph type="sldNum" sz="quarter" idx="5"/>
          </p:nvPr>
        </p:nvSpPr>
        <p:spPr/>
        <p:txBody>
          <a:bodyPr/>
          <a:lstStyle/>
          <a:p>
            <a:fld id="{D9838C37-2F26-6447-BCC3-755C277B77DF}" type="slidenum">
              <a:rPr lang="es-ES_tradnl" smtClean="0"/>
              <a:t>55</a:t>
            </a:fld>
            <a:endParaRPr lang="es-ES_tradnl"/>
          </a:p>
        </p:txBody>
      </p:sp>
    </p:spTree>
    <p:extLst>
      <p:ext uri="{BB962C8B-B14F-4D97-AF65-F5344CB8AC3E}">
        <p14:creationId xmlns:p14="http://schemas.microsoft.com/office/powerpoint/2010/main" val="40232886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0053-7292-78BE-7E46-789C1291DA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160D75-5B71-EB50-971E-03429D8FB7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185F85-C23A-F6CC-CB1F-578B4D15FC1C}"/>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4A593781-435E-6B0A-A0CA-CB850AC15C30}"/>
              </a:ext>
            </a:extLst>
          </p:cNvPr>
          <p:cNvSpPr>
            <a:spLocks noGrp="1"/>
          </p:cNvSpPr>
          <p:nvPr>
            <p:ph type="sldNum" sz="quarter" idx="5"/>
          </p:nvPr>
        </p:nvSpPr>
        <p:spPr/>
        <p:txBody>
          <a:bodyPr/>
          <a:lstStyle/>
          <a:p>
            <a:fld id="{D9838C37-2F26-6447-BCC3-755C277B77DF}" type="slidenum">
              <a:rPr lang="es-ES_tradnl" smtClean="0"/>
              <a:t>56</a:t>
            </a:fld>
            <a:endParaRPr lang="es-ES_tradnl"/>
          </a:p>
        </p:txBody>
      </p:sp>
    </p:spTree>
    <p:extLst>
      <p:ext uri="{BB962C8B-B14F-4D97-AF65-F5344CB8AC3E}">
        <p14:creationId xmlns:p14="http://schemas.microsoft.com/office/powerpoint/2010/main" val="18940131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77C3C-592D-94FA-5458-A815479E6C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94F744-8D17-C446-76A5-5E7BBD41E0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0D10B2-08FE-2744-236F-274FBD538367}"/>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338984C6-9BD2-E51E-2283-E9E78821C410}"/>
              </a:ext>
            </a:extLst>
          </p:cNvPr>
          <p:cNvSpPr>
            <a:spLocks noGrp="1"/>
          </p:cNvSpPr>
          <p:nvPr>
            <p:ph type="sldNum" sz="quarter" idx="5"/>
          </p:nvPr>
        </p:nvSpPr>
        <p:spPr/>
        <p:txBody>
          <a:bodyPr/>
          <a:lstStyle/>
          <a:p>
            <a:fld id="{D9838C37-2F26-6447-BCC3-755C277B77DF}" type="slidenum">
              <a:rPr lang="es-ES_tradnl" smtClean="0"/>
              <a:t>57</a:t>
            </a:fld>
            <a:endParaRPr lang="es-ES_tradnl"/>
          </a:p>
        </p:txBody>
      </p:sp>
    </p:spTree>
    <p:extLst>
      <p:ext uri="{BB962C8B-B14F-4D97-AF65-F5344CB8AC3E}">
        <p14:creationId xmlns:p14="http://schemas.microsoft.com/office/powerpoint/2010/main" val="279998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8E14-CB04-A730-3C18-9151794A9F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110B42-AD71-4239-CD89-0F1B8CF93A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C5D54D-800D-1DDA-630B-256B30BE69AE}"/>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0BA29237-2CD3-E09C-7A24-E36C7ECD1B18}"/>
              </a:ext>
            </a:extLst>
          </p:cNvPr>
          <p:cNvSpPr>
            <a:spLocks noGrp="1"/>
          </p:cNvSpPr>
          <p:nvPr>
            <p:ph type="sldNum" sz="quarter" idx="5"/>
          </p:nvPr>
        </p:nvSpPr>
        <p:spPr/>
        <p:txBody>
          <a:bodyPr/>
          <a:lstStyle/>
          <a:p>
            <a:fld id="{D9838C37-2F26-6447-BCC3-755C277B77DF}" type="slidenum">
              <a:rPr lang="es-ES_tradnl" smtClean="0"/>
              <a:t>58</a:t>
            </a:fld>
            <a:endParaRPr lang="es-ES_tradnl"/>
          </a:p>
        </p:txBody>
      </p:sp>
    </p:spTree>
    <p:extLst>
      <p:ext uri="{BB962C8B-B14F-4D97-AF65-F5344CB8AC3E}">
        <p14:creationId xmlns:p14="http://schemas.microsoft.com/office/powerpoint/2010/main" val="11404327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785BA-22E3-5E99-B0C7-68CD2DCEEB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44EED5-B16C-5C99-A40C-94E87727A1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2E0B8B-A54D-F310-0DCF-B1046E40CB0D}"/>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4F7C1C99-21EC-9AC9-15A8-7A14D149E463}"/>
              </a:ext>
            </a:extLst>
          </p:cNvPr>
          <p:cNvSpPr>
            <a:spLocks noGrp="1"/>
          </p:cNvSpPr>
          <p:nvPr>
            <p:ph type="sldNum" sz="quarter" idx="5"/>
          </p:nvPr>
        </p:nvSpPr>
        <p:spPr/>
        <p:txBody>
          <a:bodyPr/>
          <a:lstStyle/>
          <a:p>
            <a:fld id="{D9838C37-2F26-6447-BCC3-755C277B77DF}" type="slidenum">
              <a:rPr lang="es-ES_tradnl" smtClean="0"/>
              <a:t>59</a:t>
            </a:fld>
            <a:endParaRPr lang="es-ES_tradnl"/>
          </a:p>
        </p:txBody>
      </p:sp>
    </p:spTree>
    <p:extLst>
      <p:ext uri="{BB962C8B-B14F-4D97-AF65-F5344CB8AC3E}">
        <p14:creationId xmlns:p14="http://schemas.microsoft.com/office/powerpoint/2010/main" val="12573254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34DED-9764-B17E-C7DB-A8012E9399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8FD685-EC02-95E7-B34A-19E1210880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1F4EBC-EA07-83F2-46E8-1D6BEAF66B6D}"/>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B2859A77-50FA-BC79-5B0E-76680A979CBB}"/>
              </a:ext>
            </a:extLst>
          </p:cNvPr>
          <p:cNvSpPr>
            <a:spLocks noGrp="1"/>
          </p:cNvSpPr>
          <p:nvPr>
            <p:ph type="sldNum" sz="quarter" idx="5"/>
          </p:nvPr>
        </p:nvSpPr>
        <p:spPr/>
        <p:txBody>
          <a:bodyPr/>
          <a:lstStyle/>
          <a:p>
            <a:fld id="{D9838C37-2F26-6447-BCC3-755C277B77DF}" type="slidenum">
              <a:rPr lang="es-ES_tradnl" smtClean="0"/>
              <a:t>60</a:t>
            </a:fld>
            <a:endParaRPr lang="es-ES_tradnl"/>
          </a:p>
        </p:txBody>
      </p:sp>
    </p:spTree>
    <p:extLst>
      <p:ext uri="{BB962C8B-B14F-4D97-AF65-F5344CB8AC3E}">
        <p14:creationId xmlns:p14="http://schemas.microsoft.com/office/powerpoint/2010/main" val="36604243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389F-742E-E78D-9BA3-DDD23B4087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5A7792-4A7F-34FE-09EC-DD1D75330A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7BA403-C1BE-4643-BFA8-73C40E6025E9}"/>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4B6275A4-0EE7-76F4-BD0A-19CC12FBAB9F}"/>
              </a:ext>
            </a:extLst>
          </p:cNvPr>
          <p:cNvSpPr>
            <a:spLocks noGrp="1"/>
          </p:cNvSpPr>
          <p:nvPr>
            <p:ph type="sldNum" sz="quarter" idx="5"/>
          </p:nvPr>
        </p:nvSpPr>
        <p:spPr/>
        <p:txBody>
          <a:bodyPr/>
          <a:lstStyle/>
          <a:p>
            <a:fld id="{D9838C37-2F26-6447-BCC3-755C277B77DF}" type="slidenum">
              <a:rPr lang="es-ES_tradnl" smtClean="0"/>
              <a:t>61</a:t>
            </a:fld>
            <a:endParaRPr lang="es-ES_tradnl"/>
          </a:p>
        </p:txBody>
      </p:sp>
    </p:spTree>
    <p:extLst>
      <p:ext uri="{BB962C8B-B14F-4D97-AF65-F5344CB8AC3E}">
        <p14:creationId xmlns:p14="http://schemas.microsoft.com/office/powerpoint/2010/main" val="787830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15D7-720A-E705-E305-72D94D011D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D8EF4D-BB0F-BA95-1D1E-4462B1D5EA1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34D3B2-A1DB-B092-5A28-A11E06A7A448}"/>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408F4F3A-AC45-7276-21DA-7A6E284D907A}"/>
              </a:ext>
            </a:extLst>
          </p:cNvPr>
          <p:cNvSpPr>
            <a:spLocks noGrp="1"/>
          </p:cNvSpPr>
          <p:nvPr>
            <p:ph type="sldNum" sz="quarter" idx="5"/>
          </p:nvPr>
        </p:nvSpPr>
        <p:spPr/>
        <p:txBody>
          <a:bodyPr/>
          <a:lstStyle/>
          <a:p>
            <a:fld id="{D9838C37-2F26-6447-BCC3-755C277B77DF}" type="slidenum">
              <a:rPr lang="es-ES_tradnl" smtClean="0"/>
              <a:t>62</a:t>
            </a:fld>
            <a:endParaRPr lang="es-ES_tradnl"/>
          </a:p>
        </p:txBody>
      </p:sp>
    </p:spTree>
    <p:extLst>
      <p:ext uri="{BB962C8B-B14F-4D97-AF65-F5344CB8AC3E}">
        <p14:creationId xmlns:p14="http://schemas.microsoft.com/office/powerpoint/2010/main" val="17270848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AC37-8BAA-FA09-5102-ACA6743E81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D602F9-4C46-7D9D-5476-0EF1AD0CAF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379392B-3B5A-F503-0126-B8F54EB67309}"/>
              </a:ext>
            </a:extLst>
          </p:cNvPr>
          <p:cNvSpPr>
            <a:spLocks noGrp="1"/>
          </p:cNvSpPr>
          <p:nvPr>
            <p:ph type="body" idx="1"/>
          </p:nvPr>
        </p:nvSpPr>
        <p:spPr/>
        <p:txBody>
          <a:bodyPr/>
          <a:lstStyle/>
          <a:p>
            <a:endParaRPr lang="es-PE"/>
          </a:p>
        </p:txBody>
      </p:sp>
      <p:sp>
        <p:nvSpPr>
          <p:cNvPr id="4" name="Marcador de número de diapositiva 3">
            <a:extLst>
              <a:ext uri="{FF2B5EF4-FFF2-40B4-BE49-F238E27FC236}">
                <a16:creationId xmlns:a16="http://schemas.microsoft.com/office/drawing/2014/main" id="{0BB28B0E-9164-9011-83BD-EADBEC173190}"/>
              </a:ext>
            </a:extLst>
          </p:cNvPr>
          <p:cNvSpPr>
            <a:spLocks noGrp="1"/>
          </p:cNvSpPr>
          <p:nvPr>
            <p:ph type="sldNum" sz="quarter" idx="5"/>
          </p:nvPr>
        </p:nvSpPr>
        <p:spPr/>
        <p:txBody>
          <a:bodyPr/>
          <a:lstStyle/>
          <a:p>
            <a:fld id="{D9838C37-2F26-6447-BCC3-755C277B77DF}" type="slidenum">
              <a:rPr lang="es-ES_tradnl" smtClean="0"/>
              <a:t>63</a:t>
            </a:fld>
            <a:endParaRPr lang="es-ES_tradnl"/>
          </a:p>
        </p:txBody>
      </p:sp>
    </p:spTree>
    <p:extLst>
      <p:ext uri="{BB962C8B-B14F-4D97-AF65-F5344CB8AC3E}">
        <p14:creationId xmlns:p14="http://schemas.microsoft.com/office/powerpoint/2010/main" val="18424235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E"/>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4754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E87A1-364C-A3E5-15FC-9598DA7A8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80B78-0E6C-D9FD-48FC-B969AD78D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BA48A-55B4-85C2-FE2B-606FE42DD61A}"/>
              </a:ext>
            </a:extLst>
          </p:cNvPr>
          <p:cNvSpPr>
            <a:spLocks noGrp="1"/>
          </p:cNvSpPr>
          <p:nvPr>
            <p:ph type="body" idx="1"/>
          </p:nvPr>
        </p:nvSpPr>
        <p:spPr/>
        <p:txBody>
          <a:bodyPr/>
          <a:lstStyle/>
          <a:p>
            <a:endParaRPr lang="en-PE"/>
          </a:p>
        </p:txBody>
      </p:sp>
      <p:sp>
        <p:nvSpPr>
          <p:cNvPr id="4" name="Slide Number Placeholder 3">
            <a:extLst>
              <a:ext uri="{FF2B5EF4-FFF2-40B4-BE49-F238E27FC236}">
                <a16:creationId xmlns:a16="http://schemas.microsoft.com/office/drawing/2014/main" id="{B8A55829-C37B-CC56-1338-B19C8EBC08C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3218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420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F23A873-977A-76B8-0F8C-DB59FA7AFA4A}"/>
              </a:ext>
            </a:extLst>
          </p:cNvPr>
          <p:cNvGraphicFramePr>
            <a:graphicFrameLocks noChangeAspect="1"/>
          </p:cNvGraphicFramePr>
          <p:nvPr userDrawn="1">
            <p:custDataLst>
              <p:tags r:id="rId14"/>
            </p:custDataLst>
            <p:extLst>
              <p:ext uri="{D42A27DB-BD31-4B8C-83A1-F6EECF244321}">
                <p14:modId xmlns:p14="http://schemas.microsoft.com/office/powerpoint/2010/main" val="38042223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5" imgW="473" imgH="473" progId="TCLayout.ActiveDocument.1">
                  <p:embed/>
                </p:oleObj>
              </mc:Choice>
              <mc:Fallback>
                <p:oleObj name="Diapositiva de thinkcell" r:id="rId15" imgW="473" imgH="473" progId="TCLayout.ActiveDocument.1">
                  <p:embed/>
                  <p:pic>
                    <p:nvPicPr>
                      <p:cNvPr id="7" name="thinkcell data - do not delete" hidden="1">
                        <a:extLst>
                          <a:ext uri="{FF2B5EF4-FFF2-40B4-BE49-F238E27FC236}">
                            <a16:creationId xmlns:a16="http://schemas.microsoft.com/office/drawing/2014/main" id="{FF23A873-977A-76B8-0F8C-DB59FA7AFA4A}"/>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2.png"/><Relationship Id="rId3" Type="http://schemas.openxmlformats.org/officeDocument/2006/relationships/image" Target="../media/image4.png"/><Relationship Id="rId21" Type="http://schemas.openxmlformats.org/officeDocument/2006/relationships/chart" Target="../charts/chart5.xml"/><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1.png"/><Relationship Id="rId2" Type="http://schemas.openxmlformats.org/officeDocument/2006/relationships/image" Target="../media/image3.png"/><Relationship Id="rId16" Type="http://schemas.openxmlformats.org/officeDocument/2006/relationships/chart" Target="../charts/chart3.xml"/><Relationship Id="rId20"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25.png"/><Relationship Id="rId5" Type="http://schemas.openxmlformats.org/officeDocument/2006/relationships/image" Target="../media/image12.png"/><Relationship Id="rId15" Type="http://schemas.openxmlformats.org/officeDocument/2006/relationships/chart" Target="../charts/chart2.xml"/><Relationship Id="rId23" Type="http://schemas.openxmlformats.org/officeDocument/2006/relationships/image" Target="../media/image24.png"/><Relationship Id="rId10" Type="http://schemas.openxmlformats.org/officeDocument/2006/relationships/image" Target="../media/image17.png"/><Relationship Id="rId19" Type="http://schemas.openxmlformats.org/officeDocument/2006/relationships/chart" Target="../charts/chart4.xml"/><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chart" Target="../charts/chart1.xml"/><Relationship Id="rId22" Type="http://schemas.openxmlformats.org/officeDocument/2006/relationships/chart" Target="../charts/chart6.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30.png"/><Relationship Id="rId26" Type="http://schemas.openxmlformats.org/officeDocument/2006/relationships/image" Target="../media/image25.png"/><Relationship Id="rId3" Type="http://schemas.openxmlformats.org/officeDocument/2006/relationships/image" Target="../media/image4.png"/><Relationship Id="rId21" Type="http://schemas.openxmlformats.org/officeDocument/2006/relationships/image" Target="../media/image31.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1.png"/><Relationship Id="rId25" Type="http://schemas.openxmlformats.org/officeDocument/2006/relationships/image" Target="../media/image24.png"/><Relationship Id="rId2" Type="http://schemas.openxmlformats.org/officeDocument/2006/relationships/image" Target="../media/image3.png"/><Relationship Id="rId16" Type="http://schemas.openxmlformats.org/officeDocument/2006/relationships/chart" Target="../charts/chart9.xml"/><Relationship Id="rId20" Type="http://schemas.openxmlformats.org/officeDocument/2006/relationships/chart" Target="../charts/chart10.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18.png"/><Relationship Id="rId24" Type="http://schemas.openxmlformats.org/officeDocument/2006/relationships/chart" Target="../charts/chart12.xml"/><Relationship Id="rId5" Type="http://schemas.openxmlformats.org/officeDocument/2006/relationships/image" Target="../media/image27.png"/><Relationship Id="rId15" Type="http://schemas.openxmlformats.org/officeDocument/2006/relationships/chart" Target="../charts/chart8.xml"/><Relationship Id="rId23" Type="http://schemas.openxmlformats.org/officeDocument/2006/relationships/image" Target="../media/image32.png"/><Relationship Id="rId10" Type="http://schemas.openxmlformats.org/officeDocument/2006/relationships/image" Target="../media/image29.png"/><Relationship Id="rId19"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17.png"/><Relationship Id="rId14" Type="http://schemas.openxmlformats.org/officeDocument/2006/relationships/chart" Target="../charts/chart7.xml"/><Relationship Id="rId22" Type="http://schemas.openxmlformats.org/officeDocument/2006/relationships/chart" Target="../charts/chart11.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30.png"/><Relationship Id="rId3" Type="http://schemas.openxmlformats.org/officeDocument/2006/relationships/image" Target="../media/image4.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chart" Target="../charts/chart14.xml"/><Relationship Id="rId2" Type="http://schemas.openxmlformats.org/officeDocument/2006/relationships/image" Target="../media/image3.png"/><Relationship Id="rId16" Type="http://schemas.openxmlformats.org/officeDocument/2006/relationships/chart" Target="../charts/chart13.xml"/><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18.png"/><Relationship Id="rId5" Type="http://schemas.openxmlformats.org/officeDocument/2006/relationships/image" Target="../media/image34.png"/><Relationship Id="rId15" Type="http://schemas.openxmlformats.org/officeDocument/2006/relationships/image" Target="../media/image23.png"/><Relationship Id="rId10" Type="http://schemas.openxmlformats.org/officeDocument/2006/relationships/image" Target="../media/image16.png"/><Relationship Id="rId19" Type="http://schemas.openxmlformats.org/officeDocument/2006/relationships/chart" Target="../charts/chart15.xml"/><Relationship Id="rId4" Type="http://schemas.openxmlformats.org/officeDocument/2006/relationships/image" Target="../media/image33.png"/><Relationship Id="rId9" Type="http://schemas.openxmlformats.org/officeDocument/2006/relationships/image" Target="../media/image17.png"/><Relationship Id="rId1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39.e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oleObject" Target="../embeddings/oleObject3.bin"/><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notesSlide" Target="../notesSlides/notesSlide3.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29" Type="http://schemas.openxmlformats.org/officeDocument/2006/relationships/image" Target="../media/image4.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slideLayout" Target="../slideLayouts/slideLayout12.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chart" Target="../charts/chart16.xml"/><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image" Target="../media/image40.emf"/></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chart" Target="../charts/chart21.xml"/><Relationship Id="rId13" Type="http://schemas.openxmlformats.org/officeDocument/2006/relationships/chart" Target="../charts/chart26.xml"/><Relationship Id="rId3" Type="http://schemas.openxmlformats.org/officeDocument/2006/relationships/image" Target="../media/image3.png"/><Relationship Id="rId7" Type="http://schemas.openxmlformats.org/officeDocument/2006/relationships/chart" Target="../charts/chart20.xml"/><Relationship Id="rId12" Type="http://schemas.openxmlformats.org/officeDocument/2006/relationships/chart" Target="../charts/chart25.xml"/><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chart" Target="../charts/chart19.xml"/><Relationship Id="rId11" Type="http://schemas.openxmlformats.org/officeDocument/2006/relationships/chart" Target="../charts/chart24.xml"/><Relationship Id="rId5" Type="http://schemas.openxmlformats.org/officeDocument/2006/relationships/chart" Target="../charts/chart18.xml"/><Relationship Id="rId15" Type="http://schemas.openxmlformats.org/officeDocument/2006/relationships/chart" Target="../charts/chart28.xml"/><Relationship Id="rId10" Type="http://schemas.openxmlformats.org/officeDocument/2006/relationships/chart" Target="../charts/chart23.xml"/><Relationship Id="rId4" Type="http://schemas.openxmlformats.org/officeDocument/2006/relationships/chart" Target="../charts/chart17.xml"/><Relationship Id="rId9" Type="http://schemas.openxmlformats.org/officeDocument/2006/relationships/chart" Target="../charts/chart22.xml"/><Relationship Id="rId14" Type="http://schemas.openxmlformats.org/officeDocument/2006/relationships/chart" Target="../charts/chart27.xml"/></Relationships>
</file>

<file path=ppt/slides/_rels/slide45.xml.rels><?xml version="1.0" encoding="UTF-8" standalone="yes"?>
<Relationships xmlns="http://schemas.openxmlformats.org/package/2006/relationships"><Relationship Id="rId8" Type="http://schemas.openxmlformats.org/officeDocument/2006/relationships/chart" Target="../charts/chart33.xml"/><Relationship Id="rId13" Type="http://schemas.openxmlformats.org/officeDocument/2006/relationships/chart" Target="../charts/chart38.xml"/><Relationship Id="rId3" Type="http://schemas.openxmlformats.org/officeDocument/2006/relationships/image" Target="../media/image3.png"/><Relationship Id="rId7" Type="http://schemas.openxmlformats.org/officeDocument/2006/relationships/chart" Target="../charts/chart32.xml"/><Relationship Id="rId12" Type="http://schemas.openxmlformats.org/officeDocument/2006/relationships/chart" Target="../charts/chart37.xml"/><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chart" Target="../charts/chart31.xml"/><Relationship Id="rId11" Type="http://schemas.openxmlformats.org/officeDocument/2006/relationships/chart" Target="../charts/chart36.xml"/><Relationship Id="rId5" Type="http://schemas.openxmlformats.org/officeDocument/2006/relationships/chart" Target="../charts/chart30.xml"/><Relationship Id="rId15" Type="http://schemas.openxmlformats.org/officeDocument/2006/relationships/chart" Target="../charts/chart40.xml"/><Relationship Id="rId10" Type="http://schemas.openxmlformats.org/officeDocument/2006/relationships/chart" Target="../charts/chart35.xml"/><Relationship Id="rId4" Type="http://schemas.openxmlformats.org/officeDocument/2006/relationships/chart" Target="../charts/chart29.xml"/><Relationship Id="rId9" Type="http://schemas.openxmlformats.org/officeDocument/2006/relationships/chart" Target="../charts/chart34.xml"/><Relationship Id="rId14" Type="http://schemas.openxmlformats.org/officeDocument/2006/relationships/chart" Target="../charts/chart39.xml"/></Relationships>
</file>

<file path=ppt/slides/_rels/slide46.xml.rels><?xml version="1.0" encoding="UTF-8" standalone="yes"?>
<Relationships xmlns="http://schemas.openxmlformats.org/package/2006/relationships"><Relationship Id="rId8" Type="http://schemas.openxmlformats.org/officeDocument/2006/relationships/chart" Target="../charts/chart45.xml"/><Relationship Id="rId3" Type="http://schemas.openxmlformats.org/officeDocument/2006/relationships/image" Target="../media/image3.png"/><Relationship Id="rId7" Type="http://schemas.openxmlformats.org/officeDocument/2006/relationships/chart" Target="../charts/chart44.xml"/><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chart" Target="../charts/chart43.xml"/><Relationship Id="rId5" Type="http://schemas.openxmlformats.org/officeDocument/2006/relationships/chart" Target="../charts/chart42.xml"/><Relationship Id="rId4" Type="http://schemas.openxmlformats.org/officeDocument/2006/relationships/chart" Target="../charts/chart41.xml"/><Relationship Id="rId9" Type="http://schemas.openxmlformats.org/officeDocument/2006/relationships/chart" Target="../charts/chart46.xml"/></Relationships>
</file>

<file path=ppt/slides/_rels/slide47.xml.rels><?xml version="1.0" encoding="UTF-8" standalone="yes"?>
<Relationships xmlns="http://schemas.openxmlformats.org/package/2006/relationships"><Relationship Id="rId8" Type="http://schemas.openxmlformats.org/officeDocument/2006/relationships/chart" Target="../charts/chart51.xml"/><Relationship Id="rId3" Type="http://schemas.openxmlformats.org/officeDocument/2006/relationships/image" Target="../media/image3.png"/><Relationship Id="rId7" Type="http://schemas.openxmlformats.org/officeDocument/2006/relationships/chart" Target="../charts/chart50.xml"/><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chart" Target="../charts/chart49.xml"/><Relationship Id="rId5" Type="http://schemas.openxmlformats.org/officeDocument/2006/relationships/chart" Target="../charts/chart48.xml"/><Relationship Id="rId4" Type="http://schemas.openxmlformats.org/officeDocument/2006/relationships/chart" Target="../charts/chart47.xml"/><Relationship Id="rId9" Type="http://schemas.openxmlformats.org/officeDocument/2006/relationships/chart" Target="../charts/chart5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chart" Target="../charts/chart54.xml"/><Relationship Id="rId4" Type="http://schemas.openxmlformats.org/officeDocument/2006/relationships/chart" Target="../charts/chart53.xml"/></Relationships>
</file>

<file path=ppt/slides/_rels/slide50.xml.rels><?xml version="1.0" encoding="UTF-8" standalone="yes"?>
<Relationships xmlns="http://schemas.openxmlformats.org/package/2006/relationships"><Relationship Id="rId8" Type="http://schemas.openxmlformats.org/officeDocument/2006/relationships/chart" Target="../charts/chart59.xml"/><Relationship Id="rId13" Type="http://schemas.openxmlformats.org/officeDocument/2006/relationships/chart" Target="../charts/chart64.xml"/><Relationship Id="rId3" Type="http://schemas.openxmlformats.org/officeDocument/2006/relationships/image" Target="../media/image3.png"/><Relationship Id="rId7" Type="http://schemas.openxmlformats.org/officeDocument/2006/relationships/chart" Target="../charts/chart58.xml"/><Relationship Id="rId12" Type="http://schemas.openxmlformats.org/officeDocument/2006/relationships/chart" Target="../charts/chart63.xml"/><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chart" Target="../charts/chart57.xml"/><Relationship Id="rId11" Type="http://schemas.openxmlformats.org/officeDocument/2006/relationships/chart" Target="../charts/chart62.xml"/><Relationship Id="rId5" Type="http://schemas.openxmlformats.org/officeDocument/2006/relationships/chart" Target="../charts/chart56.xml"/><Relationship Id="rId15" Type="http://schemas.openxmlformats.org/officeDocument/2006/relationships/chart" Target="../charts/chart66.xml"/><Relationship Id="rId10" Type="http://schemas.openxmlformats.org/officeDocument/2006/relationships/chart" Target="../charts/chart61.xml"/><Relationship Id="rId4" Type="http://schemas.openxmlformats.org/officeDocument/2006/relationships/chart" Target="../charts/chart55.xml"/><Relationship Id="rId9" Type="http://schemas.openxmlformats.org/officeDocument/2006/relationships/chart" Target="../charts/chart60.xml"/><Relationship Id="rId14" Type="http://schemas.openxmlformats.org/officeDocument/2006/relationships/chart" Target="../charts/chart65.xml"/></Relationships>
</file>

<file path=ppt/slides/_rels/slide51.xml.rels><?xml version="1.0" encoding="UTF-8" standalone="yes"?>
<Relationships xmlns="http://schemas.openxmlformats.org/package/2006/relationships"><Relationship Id="rId8" Type="http://schemas.openxmlformats.org/officeDocument/2006/relationships/chart" Target="../charts/chart71.xml"/><Relationship Id="rId13" Type="http://schemas.openxmlformats.org/officeDocument/2006/relationships/chart" Target="../charts/chart76.xml"/><Relationship Id="rId3" Type="http://schemas.openxmlformats.org/officeDocument/2006/relationships/image" Target="../media/image3.png"/><Relationship Id="rId7" Type="http://schemas.openxmlformats.org/officeDocument/2006/relationships/chart" Target="../charts/chart70.xml"/><Relationship Id="rId12" Type="http://schemas.openxmlformats.org/officeDocument/2006/relationships/chart" Target="../charts/chart75.xml"/><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chart" Target="../charts/chart69.xml"/><Relationship Id="rId11" Type="http://schemas.openxmlformats.org/officeDocument/2006/relationships/chart" Target="../charts/chart74.xml"/><Relationship Id="rId5" Type="http://schemas.openxmlformats.org/officeDocument/2006/relationships/chart" Target="../charts/chart68.xml"/><Relationship Id="rId15" Type="http://schemas.openxmlformats.org/officeDocument/2006/relationships/chart" Target="../charts/chart78.xml"/><Relationship Id="rId10" Type="http://schemas.openxmlformats.org/officeDocument/2006/relationships/chart" Target="../charts/chart73.xml"/><Relationship Id="rId4" Type="http://schemas.openxmlformats.org/officeDocument/2006/relationships/chart" Target="../charts/chart67.xml"/><Relationship Id="rId9" Type="http://schemas.openxmlformats.org/officeDocument/2006/relationships/chart" Target="../charts/chart72.xml"/><Relationship Id="rId14" Type="http://schemas.openxmlformats.org/officeDocument/2006/relationships/chart" Target="../charts/chart77.xml"/></Relationships>
</file>

<file path=ppt/slides/_rels/slide52.xml.rels><?xml version="1.0" encoding="UTF-8" standalone="yes"?>
<Relationships xmlns="http://schemas.openxmlformats.org/package/2006/relationships"><Relationship Id="rId8" Type="http://schemas.openxmlformats.org/officeDocument/2006/relationships/chart" Target="../charts/chart83.xml"/><Relationship Id="rId3" Type="http://schemas.openxmlformats.org/officeDocument/2006/relationships/image" Target="../media/image3.png"/><Relationship Id="rId7" Type="http://schemas.openxmlformats.org/officeDocument/2006/relationships/chart" Target="../charts/chart82.xml"/><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chart" Target="../charts/chart81.xml"/><Relationship Id="rId5" Type="http://schemas.openxmlformats.org/officeDocument/2006/relationships/chart" Target="../charts/chart80.xml"/><Relationship Id="rId4" Type="http://schemas.openxmlformats.org/officeDocument/2006/relationships/chart" Target="../charts/chart79.xml"/><Relationship Id="rId9" Type="http://schemas.openxmlformats.org/officeDocument/2006/relationships/chart" Target="../charts/chart84.xml"/></Relationships>
</file>

<file path=ppt/slides/_rels/slide53.xml.rels><?xml version="1.0" encoding="UTF-8" standalone="yes"?>
<Relationships xmlns="http://schemas.openxmlformats.org/package/2006/relationships"><Relationship Id="rId8" Type="http://schemas.openxmlformats.org/officeDocument/2006/relationships/chart" Target="../charts/chart89.xml"/><Relationship Id="rId3" Type="http://schemas.openxmlformats.org/officeDocument/2006/relationships/image" Target="../media/image3.png"/><Relationship Id="rId7" Type="http://schemas.openxmlformats.org/officeDocument/2006/relationships/chart" Target="../charts/chart88.xml"/><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chart" Target="../charts/chart87.xml"/><Relationship Id="rId5" Type="http://schemas.openxmlformats.org/officeDocument/2006/relationships/chart" Target="../charts/chart86.xml"/><Relationship Id="rId4" Type="http://schemas.openxmlformats.org/officeDocument/2006/relationships/chart" Target="../charts/chart85.xml"/><Relationship Id="rId9" Type="http://schemas.openxmlformats.org/officeDocument/2006/relationships/chart" Target="../charts/chart90.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8" Type="http://schemas.openxmlformats.org/officeDocument/2006/relationships/chart" Target="../charts/chart94.xml"/><Relationship Id="rId3" Type="http://schemas.openxmlformats.org/officeDocument/2006/relationships/image" Target="../media/image3.png"/><Relationship Id="rId7" Type="http://schemas.openxmlformats.org/officeDocument/2006/relationships/chart" Target="../charts/chart93.xml"/><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chart" Target="../charts/chart92.xml"/><Relationship Id="rId5" Type="http://schemas.openxmlformats.org/officeDocument/2006/relationships/chart" Target="../charts/chart91.xml"/><Relationship Id="rId10" Type="http://schemas.openxmlformats.org/officeDocument/2006/relationships/chart" Target="../charts/chart96.xml"/><Relationship Id="rId4" Type="http://schemas.openxmlformats.org/officeDocument/2006/relationships/image" Target="../media/image4.png"/><Relationship Id="rId9" Type="http://schemas.openxmlformats.org/officeDocument/2006/relationships/chart" Target="../charts/chart95.xml"/></Relationships>
</file>

<file path=ppt/slides/_rels/slide56.xml.rels><?xml version="1.0" encoding="UTF-8" standalone="yes"?>
<Relationships xmlns="http://schemas.openxmlformats.org/package/2006/relationships"><Relationship Id="rId8" Type="http://schemas.openxmlformats.org/officeDocument/2006/relationships/chart" Target="../charts/chart100.xml"/><Relationship Id="rId3" Type="http://schemas.openxmlformats.org/officeDocument/2006/relationships/image" Target="../media/image3.png"/><Relationship Id="rId7" Type="http://schemas.openxmlformats.org/officeDocument/2006/relationships/chart" Target="../charts/chart99.xml"/><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chart" Target="../charts/chart98.xml"/><Relationship Id="rId5" Type="http://schemas.openxmlformats.org/officeDocument/2006/relationships/chart" Target="../charts/chart97.xml"/><Relationship Id="rId10" Type="http://schemas.openxmlformats.org/officeDocument/2006/relationships/chart" Target="../charts/chart102.xml"/><Relationship Id="rId4" Type="http://schemas.openxmlformats.org/officeDocument/2006/relationships/image" Target="../media/image4.png"/><Relationship Id="rId9" Type="http://schemas.openxmlformats.org/officeDocument/2006/relationships/chart" Target="../charts/chart10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105.xml"/><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chart" Target="../charts/chart104.xml"/><Relationship Id="rId5" Type="http://schemas.openxmlformats.org/officeDocument/2006/relationships/chart" Target="../charts/chart103.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108.xml"/><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chart" Target="../charts/chart107.xml"/><Relationship Id="rId5" Type="http://schemas.openxmlformats.org/officeDocument/2006/relationships/chart" Target="../charts/chart106.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8" Type="http://schemas.openxmlformats.org/officeDocument/2006/relationships/chart" Target="../charts/chart112.xml"/><Relationship Id="rId3" Type="http://schemas.openxmlformats.org/officeDocument/2006/relationships/image" Target="../media/image3.png"/><Relationship Id="rId7" Type="http://schemas.openxmlformats.org/officeDocument/2006/relationships/chart" Target="../charts/chart111.xml"/><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chart" Target="../charts/chart110.xml"/><Relationship Id="rId5" Type="http://schemas.openxmlformats.org/officeDocument/2006/relationships/chart" Target="../charts/chart109.xml"/><Relationship Id="rId10" Type="http://schemas.openxmlformats.org/officeDocument/2006/relationships/chart" Target="../charts/chart114.xml"/><Relationship Id="rId4" Type="http://schemas.openxmlformats.org/officeDocument/2006/relationships/image" Target="../media/image4.png"/><Relationship Id="rId9" Type="http://schemas.openxmlformats.org/officeDocument/2006/relationships/chart" Target="../charts/chart113.xml"/></Relationships>
</file>

<file path=ppt/slides/_rels/slide61.xml.rels><?xml version="1.0" encoding="UTF-8" standalone="yes"?>
<Relationships xmlns="http://schemas.openxmlformats.org/package/2006/relationships"><Relationship Id="rId8" Type="http://schemas.openxmlformats.org/officeDocument/2006/relationships/chart" Target="../charts/chart118.xml"/><Relationship Id="rId3" Type="http://schemas.openxmlformats.org/officeDocument/2006/relationships/image" Target="../media/image3.png"/><Relationship Id="rId7" Type="http://schemas.openxmlformats.org/officeDocument/2006/relationships/chart" Target="../charts/chart117.xml"/><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chart" Target="../charts/chart116.xml"/><Relationship Id="rId5" Type="http://schemas.openxmlformats.org/officeDocument/2006/relationships/chart" Target="../charts/chart115.xml"/><Relationship Id="rId10" Type="http://schemas.openxmlformats.org/officeDocument/2006/relationships/chart" Target="../charts/chart120.xml"/><Relationship Id="rId4" Type="http://schemas.openxmlformats.org/officeDocument/2006/relationships/image" Target="../media/image4.png"/><Relationship Id="rId9" Type="http://schemas.openxmlformats.org/officeDocument/2006/relationships/chart" Target="../charts/chart119.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123.xml"/><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chart" Target="../charts/chart122.xml"/><Relationship Id="rId5" Type="http://schemas.openxmlformats.org/officeDocument/2006/relationships/chart" Target="../charts/chart121.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hart" Target="../charts/chart126.xml"/><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chart" Target="../charts/chart125.xml"/><Relationship Id="rId5" Type="http://schemas.openxmlformats.org/officeDocument/2006/relationships/chart" Target="../charts/chart124.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5.emf"/><Relationship Id="rId7" Type="http://schemas.openxmlformats.org/officeDocument/2006/relationships/image" Target="../media/image49.emf"/><Relationship Id="rId2" Type="http://schemas.openxmlformats.org/officeDocument/2006/relationships/image" Target="../media/image44.emf"/><Relationship Id="rId1" Type="http://schemas.openxmlformats.org/officeDocument/2006/relationships/slideLayout" Target="../slideLayouts/slideLayout12.xml"/><Relationship Id="rId6" Type="http://schemas.openxmlformats.org/officeDocument/2006/relationships/image" Target="../media/image48.emf"/><Relationship Id="rId5" Type="http://schemas.openxmlformats.org/officeDocument/2006/relationships/image" Target="../media/image47.emf"/><Relationship Id="rId4" Type="http://schemas.openxmlformats.org/officeDocument/2006/relationships/image" Target="../media/image46.emf"/></Relationships>
</file>

<file path=ppt/slides/_rels/slide67.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5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10E18A-07CA-2CFC-8188-DFDBEA1E21B2}"/>
              </a:ext>
            </a:extLst>
          </p:cNvPr>
          <p:cNvPicPr>
            <a:picLocks noChangeAspect="1"/>
          </p:cNvPicPr>
          <p:nvPr/>
        </p:nvPicPr>
        <p:blipFill>
          <a:blip r:embed="rId2"/>
          <a:stretch>
            <a:fillRect/>
          </a:stretch>
        </p:blipFill>
        <p:spPr>
          <a:xfrm>
            <a:off x="0" y="0"/>
            <a:ext cx="16256000" cy="9147265"/>
          </a:xfrm>
          <a:prstGeom prst="rect">
            <a:avLst/>
          </a:prstGeom>
        </p:spPr>
      </p:pic>
    </p:spTree>
    <p:extLst>
      <p:ext uri="{BB962C8B-B14F-4D97-AF65-F5344CB8AC3E}">
        <p14:creationId xmlns:p14="http://schemas.microsoft.com/office/powerpoint/2010/main" val="4267199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29184"/>
            <a:ext cx="11951427" cy="201168"/>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SEGMENTACIÓN ESTRATÉGICA · MARCO METODOLÓGICO</a:t>
            </a:r>
          </a:p>
        </p:txBody>
      </p:sp>
      <p:sp>
        <p:nvSpPr>
          <p:cNvPr id="3" name="TextBox 2"/>
          <p:cNvSpPr txBox="1"/>
          <p:nvPr/>
        </p:nvSpPr>
        <p:spPr>
          <a:xfrm>
            <a:off x="658368" y="566928"/>
            <a:ext cx="13750564" cy="731520"/>
          </a:xfrm>
          <a:prstGeom prst="rect">
            <a:avLst/>
          </a:prstGeom>
          <a:noFill/>
        </p:spPr>
        <p:txBody>
          <a:bodyPr wrap="square" lIns="0" tIns="0" rIns="0" bIns="0" anchor="t">
            <a:spAutoFit/>
          </a:bodyPr>
          <a:lstStyle/>
          <a:p>
            <a:pPr algn="l">
              <a:lnSpc>
                <a:spcPct val="98000"/>
              </a:lnSpc>
            </a:pPr>
            <a:r>
              <a:rPr sz="2000" b="1" i="0">
                <a:solidFill>
                  <a:srgbClr val="0B2E2C"/>
                </a:solidFill>
                <a:latin typeface="Arial"/>
              </a:rPr>
              <a:t>La </a:t>
            </a:r>
            <a:r>
              <a:rPr sz="2000" b="1" i="0" err="1">
                <a:solidFill>
                  <a:srgbClr val="0B2E2C"/>
                </a:solidFill>
                <a:latin typeface="Arial"/>
              </a:rPr>
              <a:t>sensibilidad</a:t>
            </a:r>
            <a:r>
              <a:rPr sz="2000" b="1" i="0">
                <a:solidFill>
                  <a:srgbClr val="0B2E2C"/>
                </a:solidFill>
                <a:latin typeface="Arial"/>
              </a:rPr>
              <a:t> al </a:t>
            </a:r>
            <a:r>
              <a:rPr sz="2000" b="1" i="0" err="1">
                <a:solidFill>
                  <a:srgbClr val="0B2E2C"/>
                </a:solidFill>
                <a:latin typeface="Arial"/>
              </a:rPr>
              <a:t>precio</a:t>
            </a:r>
            <a:r>
              <a:rPr sz="2000" b="1" i="0">
                <a:solidFill>
                  <a:srgbClr val="0B2E2C"/>
                </a:solidFill>
                <a:latin typeface="Arial"/>
              </a:rPr>
              <a:t> se </a:t>
            </a:r>
            <a:r>
              <a:rPr sz="2000" b="1" i="0" err="1">
                <a:solidFill>
                  <a:srgbClr val="0B2E2C"/>
                </a:solidFill>
                <a:latin typeface="Arial"/>
              </a:rPr>
              <a:t>construye</a:t>
            </a:r>
            <a:r>
              <a:rPr sz="2000" b="1" i="0">
                <a:solidFill>
                  <a:srgbClr val="0B2E2C"/>
                </a:solidFill>
                <a:latin typeface="Arial"/>
              </a:rPr>
              <a:t> </a:t>
            </a:r>
            <a:r>
              <a:rPr sz="2000" b="1" i="0" err="1">
                <a:solidFill>
                  <a:srgbClr val="0B2E2C"/>
                </a:solidFill>
                <a:latin typeface="Arial"/>
              </a:rPr>
              <a:t>en</a:t>
            </a:r>
            <a:r>
              <a:rPr sz="2000" b="1" i="0">
                <a:solidFill>
                  <a:srgbClr val="0B2E2C"/>
                </a:solidFill>
                <a:latin typeface="Arial"/>
              </a:rPr>
              <a:t> </a:t>
            </a:r>
            <a:r>
              <a:rPr sz="2000" b="1" i="0" err="1">
                <a:solidFill>
                  <a:srgbClr val="0B2E2C"/>
                </a:solidFill>
                <a:latin typeface="Arial"/>
              </a:rPr>
              <a:t>tres</a:t>
            </a:r>
            <a:r>
              <a:rPr sz="2000" b="1" i="0">
                <a:solidFill>
                  <a:srgbClr val="0B2E2C"/>
                </a:solidFill>
                <a:latin typeface="Arial"/>
              </a:rPr>
              <a:t> </a:t>
            </a:r>
            <a:r>
              <a:rPr sz="2000" b="1" i="0" err="1">
                <a:solidFill>
                  <a:srgbClr val="0B2E2C"/>
                </a:solidFill>
                <a:latin typeface="Arial"/>
              </a:rPr>
              <a:t>capas</a:t>
            </a:r>
            <a:r>
              <a:rPr sz="2000" b="1" i="0">
                <a:solidFill>
                  <a:srgbClr val="0B2E2C"/>
                </a:solidFill>
                <a:latin typeface="Arial"/>
              </a:rPr>
              <a:t>: </a:t>
            </a:r>
            <a:r>
              <a:rPr sz="2000" b="1" i="0" err="1">
                <a:solidFill>
                  <a:srgbClr val="0B2E2C"/>
                </a:solidFill>
                <a:latin typeface="Arial"/>
              </a:rPr>
              <a:t>quién</a:t>
            </a:r>
            <a:r>
              <a:rPr sz="2000" b="1" i="0">
                <a:solidFill>
                  <a:srgbClr val="0B2E2C"/>
                </a:solidFill>
                <a:latin typeface="Arial"/>
              </a:rPr>
              <a:t> es el </a:t>
            </a:r>
            <a:r>
              <a:rPr sz="2000" b="1" i="0" err="1">
                <a:solidFill>
                  <a:srgbClr val="0B2E2C"/>
                </a:solidFill>
                <a:latin typeface="Arial"/>
              </a:rPr>
              <a:t>cliente</a:t>
            </a:r>
            <a:r>
              <a:rPr sz="2000" b="1" i="0">
                <a:solidFill>
                  <a:srgbClr val="0B2E2C"/>
                </a:solidFill>
                <a:latin typeface="Arial"/>
              </a:rPr>
              <a:t>, </a:t>
            </a:r>
            <a:r>
              <a:rPr sz="2000" b="1" i="0" err="1">
                <a:solidFill>
                  <a:srgbClr val="0B2E2C"/>
                </a:solidFill>
                <a:latin typeface="Arial"/>
              </a:rPr>
              <a:t>cuánto</a:t>
            </a:r>
            <a:r>
              <a:rPr sz="2000" b="1" i="0">
                <a:solidFill>
                  <a:srgbClr val="0B2E2C"/>
                </a:solidFill>
                <a:latin typeface="Arial"/>
              </a:rPr>
              <a:t> de </a:t>
            </a:r>
            <a:r>
              <a:rPr sz="2000" b="1" i="0" err="1">
                <a:solidFill>
                  <a:srgbClr val="0B2E2C"/>
                </a:solidFill>
                <a:latin typeface="Arial"/>
              </a:rPr>
              <a:t>su</a:t>
            </a:r>
            <a:r>
              <a:rPr sz="2000" b="1" i="0">
                <a:solidFill>
                  <a:srgbClr val="0B2E2C"/>
                </a:solidFill>
                <a:latin typeface="Arial"/>
              </a:rPr>
              <a:t> </a:t>
            </a:r>
            <a:r>
              <a:rPr sz="2000" b="1" i="0" err="1">
                <a:solidFill>
                  <a:srgbClr val="0B2E2C"/>
                </a:solidFill>
                <a:latin typeface="Arial"/>
              </a:rPr>
              <a:t>negocio</a:t>
            </a:r>
            <a:r>
              <a:rPr sz="2000" b="1" i="0">
                <a:solidFill>
                  <a:srgbClr val="0B2E2C"/>
                </a:solidFill>
                <a:latin typeface="Arial"/>
              </a:rPr>
              <a:t> </a:t>
            </a:r>
            <a:r>
              <a:rPr sz="2000" b="1" i="0" err="1">
                <a:solidFill>
                  <a:srgbClr val="0B2E2C"/>
                </a:solidFill>
                <a:latin typeface="Arial"/>
              </a:rPr>
              <a:t>tenemos</a:t>
            </a:r>
            <a:r>
              <a:rPr sz="2000" b="1" i="0">
                <a:solidFill>
                  <a:srgbClr val="0B2E2C"/>
                </a:solidFill>
                <a:latin typeface="Arial"/>
              </a:rPr>
              <a:t> y a </a:t>
            </a:r>
            <a:r>
              <a:rPr sz="2000" b="1" i="0" err="1">
                <a:solidFill>
                  <a:srgbClr val="0B2E2C"/>
                </a:solidFill>
                <a:latin typeface="Arial"/>
              </a:rPr>
              <a:t>qué</a:t>
            </a:r>
            <a:r>
              <a:rPr sz="2000" b="1" i="0">
                <a:solidFill>
                  <a:srgbClr val="0B2E2C"/>
                </a:solidFill>
                <a:latin typeface="Arial"/>
              </a:rPr>
              <a:t> </a:t>
            </a:r>
            <a:r>
              <a:rPr sz="2000" b="1" i="0" err="1">
                <a:solidFill>
                  <a:srgbClr val="0B2E2C"/>
                </a:solidFill>
                <a:latin typeface="Arial"/>
              </a:rPr>
              <a:t>precio</a:t>
            </a:r>
            <a:r>
              <a:rPr sz="2000" b="1" i="0">
                <a:solidFill>
                  <a:srgbClr val="0B2E2C"/>
                </a:solidFill>
                <a:latin typeface="Arial"/>
              </a:rPr>
              <a:t> </a:t>
            </a:r>
            <a:r>
              <a:rPr sz="2000" b="1" i="0" err="1">
                <a:solidFill>
                  <a:srgbClr val="0B2E2C"/>
                </a:solidFill>
                <a:latin typeface="Arial"/>
              </a:rPr>
              <a:t>juega</a:t>
            </a:r>
            <a:r>
              <a:rPr sz="2000" b="1" i="0">
                <a:solidFill>
                  <a:srgbClr val="0B2E2C"/>
                </a:solidFill>
                <a:latin typeface="Arial"/>
              </a:rPr>
              <a:t> el mercado</a:t>
            </a:r>
          </a:p>
        </p:txBody>
      </p:sp>
      <p:cxnSp>
        <p:nvCxnSpPr>
          <p:cNvPr id="4" name="Connector 3"/>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p:cNvPicPr>
            <a:picLocks noChangeAspect="1"/>
          </p:cNvPicPr>
          <p:nvPr/>
        </p:nvPicPr>
        <p:blipFill>
          <a:blip r:embed="rId2"/>
          <a:stretch>
            <a:fillRect/>
          </a:stretch>
        </p:blipFill>
        <p:spPr>
          <a:xfrm>
            <a:off x="14921219" y="429768"/>
            <a:ext cx="822960" cy="390279"/>
          </a:xfrm>
          <a:prstGeom prst="rect">
            <a:avLst/>
          </a:prstGeom>
        </p:spPr>
      </p:pic>
      <p:sp>
        <p:nvSpPr>
          <p:cNvPr id="7" name="Rectangle 6"/>
          <p:cNvSpPr/>
          <p:nvPr/>
        </p:nvSpPr>
        <p:spPr>
          <a:xfrm>
            <a:off x="658368" y="1627632"/>
            <a:ext cx="14939284" cy="173736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8" name="Rectangle 7"/>
          <p:cNvSpPr/>
          <p:nvPr/>
        </p:nvSpPr>
        <p:spPr>
          <a:xfrm>
            <a:off x="658368" y="1627632"/>
            <a:ext cx="54864" cy="173736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9" name="TextBox 8"/>
          <p:cNvSpPr txBox="1"/>
          <p:nvPr/>
        </p:nvSpPr>
        <p:spPr>
          <a:xfrm>
            <a:off x="932688" y="1810512"/>
            <a:ext cx="1188720" cy="169277"/>
          </a:xfrm>
          <a:prstGeom prst="rect">
            <a:avLst/>
          </a:prstGeom>
          <a:noFill/>
        </p:spPr>
        <p:txBody>
          <a:bodyPr wrap="square" lIns="0" tIns="0" rIns="0" bIns="0" anchor="t">
            <a:spAutoFit/>
          </a:bodyPr>
          <a:lstStyle/>
          <a:p>
            <a:pPr algn="l">
              <a:lnSpc>
                <a:spcPct val="100000"/>
              </a:lnSpc>
            </a:pPr>
            <a:r>
              <a:rPr sz="1100" b="1" i="0">
                <a:solidFill>
                  <a:srgbClr val="13807B"/>
                </a:solidFill>
                <a:latin typeface="Arial"/>
              </a:rPr>
              <a:t>CAPA 1</a:t>
            </a:r>
          </a:p>
        </p:txBody>
      </p:sp>
      <p:sp>
        <p:nvSpPr>
          <p:cNvPr id="10" name="TextBox 9"/>
          <p:cNvSpPr txBox="1"/>
          <p:nvPr/>
        </p:nvSpPr>
        <p:spPr>
          <a:xfrm>
            <a:off x="932688" y="2066543"/>
            <a:ext cx="3291840" cy="576120"/>
          </a:xfrm>
          <a:prstGeom prst="rect">
            <a:avLst/>
          </a:prstGeom>
          <a:noFill/>
        </p:spPr>
        <p:txBody>
          <a:bodyPr wrap="square" lIns="0" tIns="0" rIns="0" bIns="0" anchor="t">
            <a:spAutoFit/>
          </a:bodyPr>
          <a:lstStyle/>
          <a:p>
            <a:pPr algn="l">
              <a:lnSpc>
                <a:spcPct val="108000"/>
              </a:lnSpc>
            </a:pPr>
            <a:r>
              <a:rPr b="1" i="0">
                <a:solidFill>
                  <a:srgbClr val="0B2E2C"/>
                </a:solidFill>
                <a:latin typeface="Arial"/>
              </a:rPr>
              <a:t>Mirada interna · Segmentación</a:t>
            </a:r>
          </a:p>
        </p:txBody>
      </p:sp>
      <p:sp>
        <p:nvSpPr>
          <p:cNvPr id="11" name="Rectangle 10"/>
          <p:cNvSpPr/>
          <p:nvPr/>
        </p:nvSpPr>
        <p:spPr>
          <a:xfrm>
            <a:off x="932688" y="2889503"/>
            <a:ext cx="2423160" cy="27432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i="0">
                <a:solidFill>
                  <a:srgbClr val="13807B"/>
                </a:solidFill>
                <a:latin typeface="Arial"/>
              </a:rPr>
              <a:t>Completada</a:t>
            </a:r>
          </a:p>
        </p:txBody>
      </p:sp>
      <p:cxnSp>
        <p:nvCxnSpPr>
          <p:cNvPr id="12" name="Connector 11"/>
          <p:cNvCxnSpPr/>
          <p:nvPr/>
        </p:nvCxnSpPr>
        <p:spPr>
          <a:xfrm>
            <a:off x="4498848" y="1883664"/>
            <a:ext cx="0" cy="1225296"/>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773168" y="1847088"/>
            <a:ext cx="4206240" cy="246221"/>
          </a:xfrm>
          <a:prstGeom prst="rect">
            <a:avLst/>
          </a:prstGeom>
          <a:noFill/>
        </p:spPr>
        <p:txBody>
          <a:bodyPr wrap="square" lIns="0" tIns="0" rIns="0" bIns="0" anchor="t">
            <a:spAutoFit/>
          </a:bodyPr>
          <a:lstStyle/>
          <a:p>
            <a:pPr algn="l">
              <a:lnSpc>
                <a:spcPct val="100000"/>
              </a:lnSpc>
            </a:pPr>
            <a:r>
              <a:rPr sz="1600" b="1" i="0">
                <a:solidFill>
                  <a:srgbClr val="13807B"/>
                </a:solidFill>
                <a:latin typeface="Arial"/>
              </a:rPr>
              <a:t>¿Quién es el cliente?</a:t>
            </a:r>
          </a:p>
        </p:txBody>
      </p:sp>
      <p:sp>
        <p:nvSpPr>
          <p:cNvPr id="14" name="TextBox 13"/>
          <p:cNvSpPr txBox="1"/>
          <p:nvPr/>
        </p:nvSpPr>
        <p:spPr>
          <a:xfrm>
            <a:off x="4773168" y="2176272"/>
            <a:ext cx="5394960" cy="674928"/>
          </a:xfrm>
          <a:prstGeom prst="rect">
            <a:avLst/>
          </a:prstGeom>
          <a:noFill/>
        </p:spPr>
        <p:txBody>
          <a:bodyPr wrap="square" lIns="0" tIns="0" rIns="0" bIns="0" anchor="t">
            <a:spAutoFit/>
          </a:bodyPr>
          <a:lstStyle/>
          <a:p>
            <a:pPr algn="l">
              <a:lnSpc>
                <a:spcPct val="126000"/>
              </a:lnSpc>
            </a:pPr>
            <a:r>
              <a:rPr sz="1200" b="0" i="0">
                <a:solidFill>
                  <a:srgbClr val="3E5553"/>
                </a:solidFill>
                <a:latin typeface="Arial"/>
              </a:rPr>
              <a:t>Con la </a:t>
            </a:r>
            <a:r>
              <a:rPr sz="1200" b="0" i="0" err="1">
                <a:solidFill>
                  <a:srgbClr val="3E5553"/>
                </a:solidFill>
                <a:latin typeface="Arial"/>
              </a:rPr>
              <a:t>información</a:t>
            </a:r>
            <a:r>
              <a:rPr sz="1200" b="0" i="0">
                <a:solidFill>
                  <a:srgbClr val="3E5553"/>
                </a:solidFill>
                <a:latin typeface="Arial"/>
              </a:rPr>
              <a:t> </a:t>
            </a:r>
            <a:r>
              <a:rPr sz="1200" b="0" i="0" err="1">
                <a:solidFill>
                  <a:srgbClr val="3E5553"/>
                </a:solidFill>
                <a:latin typeface="Arial"/>
              </a:rPr>
              <a:t>propia</a:t>
            </a:r>
            <a:r>
              <a:rPr sz="1200" b="0" i="0">
                <a:solidFill>
                  <a:srgbClr val="3E5553"/>
                </a:solidFill>
                <a:latin typeface="Arial"/>
              </a:rPr>
              <a:t> de IBK </a:t>
            </a:r>
            <a:r>
              <a:rPr sz="1200" b="0" i="0" err="1">
                <a:solidFill>
                  <a:srgbClr val="3E5553"/>
                </a:solidFill>
                <a:latin typeface="Arial"/>
              </a:rPr>
              <a:t>identificamos</a:t>
            </a:r>
            <a:r>
              <a:rPr sz="1200" b="0" i="0">
                <a:solidFill>
                  <a:srgbClr val="3E5553"/>
                </a:solidFill>
                <a:latin typeface="Arial"/>
              </a:rPr>
              <a:t> </a:t>
            </a:r>
            <a:r>
              <a:rPr sz="1200" b="0" i="0" err="1">
                <a:solidFill>
                  <a:srgbClr val="3E5553"/>
                </a:solidFill>
                <a:latin typeface="Arial"/>
              </a:rPr>
              <a:t>patrones</a:t>
            </a:r>
            <a:r>
              <a:rPr sz="1200" b="0" i="0">
                <a:solidFill>
                  <a:srgbClr val="3E5553"/>
                </a:solidFill>
                <a:latin typeface="Arial"/>
              </a:rPr>
              <a:t> de </a:t>
            </a:r>
            <a:r>
              <a:rPr sz="1200" b="0" i="0" err="1">
                <a:solidFill>
                  <a:srgbClr val="3E5553"/>
                </a:solidFill>
                <a:latin typeface="Arial"/>
              </a:rPr>
              <a:t>comportamiento</a:t>
            </a:r>
            <a:r>
              <a:rPr sz="1200" b="0" i="0">
                <a:solidFill>
                  <a:srgbClr val="3E5553"/>
                </a:solidFill>
                <a:latin typeface="Arial"/>
              </a:rPr>
              <a:t> y </a:t>
            </a:r>
            <a:r>
              <a:rPr sz="1200" b="0" i="0" err="1">
                <a:solidFill>
                  <a:srgbClr val="3E5553"/>
                </a:solidFill>
                <a:latin typeface="Arial"/>
              </a:rPr>
              <a:t>construimos</a:t>
            </a:r>
            <a:r>
              <a:rPr sz="1200" b="0" i="0">
                <a:solidFill>
                  <a:srgbClr val="3E5553"/>
                </a:solidFill>
                <a:latin typeface="Arial"/>
              </a:rPr>
              <a:t> </a:t>
            </a:r>
            <a:r>
              <a:rPr sz="1200" b="0" i="0" err="1">
                <a:solidFill>
                  <a:srgbClr val="3E5553"/>
                </a:solidFill>
                <a:latin typeface="Arial"/>
              </a:rPr>
              <a:t>segmentos</a:t>
            </a:r>
            <a:r>
              <a:rPr sz="1200" b="0" i="0">
                <a:solidFill>
                  <a:srgbClr val="3E5553"/>
                </a:solidFill>
                <a:latin typeface="Arial"/>
              </a:rPr>
              <a:t>; de </a:t>
            </a:r>
            <a:r>
              <a:rPr sz="1200" b="0" i="0" err="1">
                <a:solidFill>
                  <a:srgbClr val="3E5553"/>
                </a:solidFill>
                <a:latin typeface="Arial"/>
              </a:rPr>
              <a:t>esos</a:t>
            </a:r>
            <a:r>
              <a:rPr sz="1200" b="0" i="0">
                <a:solidFill>
                  <a:srgbClr val="3E5553"/>
                </a:solidFill>
                <a:latin typeface="Arial"/>
              </a:rPr>
              <a:t> </a:t>
            </a:r>
            <a:r>
              <a:rPr sz="1200" b="0" i="0" err="1">
                <a:solidFill>
                  <a:srgbClr val="3E5553"/>
                </a:solidFill>
                <a:latin typeface="Arial"/>
              </a:rPr>
              <a:t>patrones</a:t>
            </a:r>
            <a:r>
              <a:rPr sz="1200" b="0" i="0">
                <a:solidFill>
                  <a:srgbClr val="3E5553"/>
                </a:solidFill>
                <a:latin typeface="Arial"/>
              </a:rPr>
              <a:t> </a:t>
            </a:r>
            <a:r>
              <a:rPr sz="1200" b="0" i="0" err="1">
                <a:solidFill>
                  <a:srgbClr val="3E5553"/>
                </a:solidFill>
                <a:latin typeface="Arial"/>
              </a:rPr>
              <a:t>inferimos</a:t>
            </a:r>
            <a:r>
              <a:rPr sz="1200" b="0" i="0">
                <a:solidFill>
                  <a:srgbClr val="3E5553"/>
                </a:solidFill>
                <a:latin typeface="Arial"/>
              </a:rPr>
              <a:t> el </a:t>
            </a:r>
            <a:r>
              <a:rPr sz="1200" b="0" i="0" err="1">
                <a:solidFill>
                  <a:srgbClr val="3E5553"/>
                </a:solidFill>
                <a:latin typeface="Arial"/>
              </a:rPr>
              <a:t>nivel</a:t>
            </a:r>
            <a:r>
              <a:rPr sz="1200" b="0" i="0">
                <a:solidFill>
                  <a:srgbClr val="3E5553"/>
                </a:solidFill>
                <a:latin typeface="Arial"/>
              </a:rPr>
              <a:t> de </a:t>
            </a:r>
            <a:r>
              <a:rPr sz="1200" b="0" i="0" err="1">
                <a:solidFill>
                  <a:srgbClr val="3E5553"/>
                </a:solidFill>
                <a:latin typeface="Arial"/>
              </a:rPr>
              <a:t>sensibilidad</a:t>
            </a:r>
            <a:r>
              <a:rPr sz="1200" b="0" i="0">
                <a:solidFill>
                  <a:srgbClr val="3E5553"/>
                </a:solidFill>
                <a:latin typeface="Arial"/>
              </a:rPr>
              <a:t> al </a:t>
            </a:r>
            <a:r>
              <a:rPr sz="1200" b="0" i="0" err="1">
                <a:solidFill>
                  <a:srgbClr val="3E5553"/>
                </a:solidFill>
                <a:latin typeface="Arial"/>
              </a:rPr>
              <a:t>precio</a:t>
            </a:r>
            <a:r>
              <a:rPr sz="1200" b="0" i="0">
                <a:solidFill>
                  <a:srgbClr val="3E5553"/>
                </a:solidFill>
                <a:latin typeface="Arial"/>
              </a:rPr>
              <a:t> de </a:t>
            </a:r>
            <a:r>
              <a:rPr sz="1200" b="0" i="0" err="1">
                <a:solidFill>
                  <a:srgbClr val="3E5553"/>
                </a:solidFill>
                <a:latin typeface="Arial"/>
              </a:rPr>
              <a:t>cada</a:t>
            </a:r>
            <a:r>
              <a:rPr sz="1200" b="0" i="0">
                <a:solidFill>
                  <a:srgbClr val="3E5553"/>
                </a:solidFill>
                <a:latin typeface="Arial"/>
              </a:rPr>
              <a:t> uno.</a:t>
            </a:r>
          </a:p>
        </p:txBody>
      </p:sp>
      <p:sp>
        <p:nvSpPr>
          <p:cNvPr id="15" name="Rectangle 14"/>
          <p:cNvSpPr/>
          <p:nvPr/>
        </p:nvSpPr>
        <p:spPr>
          <a:xfrm>
            <a:off x="10533888" y="1993392"/>
            <a:ext cx="402112" cy="38404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0C514E"/>
                </a:solidFill>
                <a:latin typeface="Arial"/>
              </a:rPr>
              <a:t>1</a:t>
            </a:r>
          </a:p>
        </p:txBody>
      </p:sp>
      <p:sp>
        <p:nvSpPr>
          <p:cNvPr id="16" name="Rectangle 15"/>
          <p:cNvSpPr/>
          <p:nvPr/>
        </p:nvSpPr>
        <p:spPr>
          <a:xfrm>
            <a:off x="11082304" y="1993392"/>
            <a:ext cx="402112" cy="38404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0C514E"/>
                </a:solidFill>
                <a:latin typeface="Arial"/>
              </a:rPr>
              <a:t>2</a:t>
            </a:r>
          </a:p>
        </p:txBody>
      </p:sp>
      <p:sp>
        <p:nvSpPr>
          <p:cNvPr id="17" name="Rectangle 16"/>
          <p:cNvSpPr/>
          <p:nvPr/>
        </p:nvSpPr>
        <p:spPr>
          <a:xfrm>
            <a:off x="11630720" y="1993392"/>
            <a:ext cx="402112" cy="38404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0C514E"/>
                </a:solidFill>
                <a:latin typeface="Arial"/>
              </a:rPr>
              <a:t>3</a:t>
            </a:r>
          </a:p>
        </p:txBody>
      </p:sp>
      <p:sp>
        <p:nvSpPr>
          <p:cNvPr id="18" name="Rectangle 17"/>
          <p:cNvSpPr/>
          <p:nvPr/>
        </p:nvSpPr>
        <p:spPr>
          <a:xfrm>
            <a:off x="12179137" y="1993392"/>
            <a:ext cx="402112" cy="384048"/>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C87A0B"/>
                </a:solidFill>
                <a:latin typeface="Arial"/>
              </a:rPr>
              <a:t>4</a:t>
            </a:r>
          </a:p>
        </p:txBody>
      </p:sp>
      <p:sp>
        <p:nvSpPr>
          <p:cNvPr id="19" name="Rectangle 18"/>
          <p:cNvSpPr/>
          <p:nvPr/>
        </p:nvSpPr>
        <p:spPr>
          <a:xfrm>
            <a:off x="12727553" y="1993392"/>
            <a:ext cx="402112" cy="384048"/>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445A6E"/>
                </a:solidFill>
                <a:latin typeface="Arial"/>
              </a:rPr>
              <a:t>5</a:t>
            </a:r>
          </a:p>
        </p:txBody>
      </p:sp>
      <p:sp>
        <p:nvSpPr>
          <p:cNvPr id="20" name="Rectangle 19"/>
          <p:cNvSpPr/>
          <p:nvPr/>
        </p:nvSpPr>
        <p:spPr>
          <a:xfrm>
            <a:off x="13275970" y="1993392"/>
            <a:ext cx="402112" cy="384048"/>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445A6E"/>
                </a:solidFill>
                <a:latin typeface="Arial"/>
              </a:rPr>
              <a:t>6</a:t>
            </a:r>
          </a:p>
        </p:txBody>
      </p:sp>
      <p:sp>
        <p:nvSpPr>
          <p:cNvPr id="21" name="Rectangle 20"/>
          <p:cNvSpPr/>
          <p:nvPr/>
        </p:nvSpPr>
        <p:spPr>
          <a:xfrm>
            <a:off x="13824386" y="1993392"/>
            <a:ext cx="402112" cy="384048"/>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6E7E7D"/>
                </a:solidFill>
                <a:latin typeface="Arial"/>
              </a:rPr>
              <a:t>7</a:t>
            </a:r>
          </a:p>
        </p:txBody>
      </p:sp>
      <p:sp>
        <p:nvSpPr>
          <p:cNvPr id="22" name="Rectangle 21"/>
          <p:cNvSpPr/>
          <p:nvPr/>
        </p:nvSpPr>
        <p:spPr>
          <a:xfrm>
            <a:off x="14372803" y="1993392"/>
            <a:ext cx="402112" cy="384048"/>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6E7E7D"/>
                </a:solidFill>
                <a:latin typeface="Arial"/>
              </a:rPr>
              <a:t>8</a:t>
            </a:r>
          </a:p>
        </p:txBody>
      </p:sp>
      <p:sp>
        <p:nvSpPr>
          <p:cNvPr id="23" name="Rectangle 22"/>
          <p:cNvSpPr/>
          <p:nvPr/>
        </p:nvSpPr>
        <p:spPr>
          <a:xfrm>
            <a:off x="14921219" y="1993392"/>
            <a:ext cx="402112" cy="384048"/>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6E7E7D"/>
                </a:solidFill>
                <a:latin typeface="Arial"/>
              </a:rPr>
              <a:t>9</a:t>
            </a:r>
          </a:p>
        </p:txBody>
      </p:sp>
      <p:sp>
        <p:nvSpPr>
          <p:cNvPr id="24" name="TextBox 23"/>
          <p:cNvSpPr txBox="1"/>
          <p:nvPr/>
        </p:nvSpPr>
        <p:spPr>
          <a:xfrm>
            <a:off x="10533888" y="2468880"/>
            <a:ext cx="4789444" cy="161583"/>
          </a:xfrm>
          <a:prstGeom prst="rect">
            <a:avLst/>
          </a:prstGeom>
          <a:noFill/>
        </p:spPr>
        <p:txBody>
          <a:bodyPr wrap="square" lIns="0" tIns="0" rIns="0" bIns="0" anchor="t">
            <a:spAutoFit/>
          </a:bodyPr>
          <a:lstStyle/>
          <a:p>
            <a:pPr algn="ctr">
              <a:lnSpc>
                <a:spcPct val="100000"/>
              </a:lnSpc>
            </a:pPr>
            <a:r>
              <a:rPr sz="1050" b="0" i="1">
                <a:solidFill>
                  <a:srgbClr val="6E7E7D"/>
                </a:solidFill>
                <a:latin typeface="Arial"/>
              </a:rPr>
              <a:t>9 segmentos → 4 macroperfiles de negocio</a:t>
            </a:r>
          </a:p>
        </p:txBody>
      </p:sp>
      <p:sp>
        <p:nvSpPr>
          <p:cNvPr id="25" name="TextBox 24"/>
          <p:cNvSpPr txBox="1"/>
          <p:nvPr/>
        </p:nvSpPr>
        <p:spPr>
          <a:xfrm>
            <a:off x="10533888" y="2743200"/>
            <a:ext cx="4789444" cy="161904"/>
          </a:xfrm>
          <a:prstGeom prst="rect">
            <a:avLst/>
          </a:prstGeom>
          <a:noFill/>
        </p:spPr>
        <p:txBody>
          <a:bodyPr wrap="square" lIns="0" tIns="0" rIns="0" bIns="0" anchor="t">
            <a:spAutoFit/>
          </a:bodyPr>
          <a:lstStyle/>
          <a:p>
            <a:pPr algn="ctr">
              <a:lnSpc>
                <a:spcPct val="115000"/>
              </a:lnSpc>
            </a:pPr>
            <a:r>
              <a:rPr sz="1000" b="0" i="0">
                <a:solidFill>
                  <a:srgbClr val="9AA8A7"/>
                </a:solidFill>
                <a:latin typeface="Arial"/>
              </a:rPr>
              <a:t>Data IBK: comportamiento, vinculación, utilidad y transaccionalidad</a:t>
            </a:r>
          </a:p>
        </p:txBody>
      </p:sp>
      <p:cxnSp>
        <p:nvCxnSpPr>
          <p:cNvPr id="26" name="Connector 25"/>
          <p:cNvCxnSpPr/>
          <p:nvPr/>
        </p:nvCxnSpPr>
        <p:spPr>
          <a:xfrm>
            <a:off x="2487168" y="3374135"/>
            <a:ext cx="0" cy="146305"/>
          </a:xfrm>
          <a:prstGeom prst="line">
            <a:avLst/>
          </a:prstGeom>
          <a:ln w="2222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58368" y="3529584"/>
            <a:ext cx="14939284" cy="173736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8" name="Rectangle 27"/>
          <p:cNvSpPr/>
          <p:nvPr/>
        </p:nvSpPr>
        <p:spPr>
          <a:xfrm>
            <a:off x="658368" y="3529584"/>
            <a:ext cx="54864" cy="173736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9" name="TextBox 28"/>
          <p:cNvSpPr txBox="1"/>
          <p:nvPr/>
        </p:nvSpPr>
        <p:spPr>
          <a:xfrm>
            <a:off x="932688" y="3712464"/>
            <a:ext cx="1188720" cy="169277"/>
          </a:xfrm>
          <a:prstGeom prst="rect">
            <a:avLst/>
          </a:prstGeom>
          <a:noFill/>
        </p:spPr>
        <p:txBody>
          <a:bodyPr wrap="square" lIns="0" tIns="0" rIns="0" bIns="0" anchor="t">
            <a:spAutoFit/>
          </a:bodyPr>
          <a:lstStyle/>
          <a:p>
            <a:pPr algn="l">
              <a:lnSpc>
                <a:spcPct val="100000"/>
              </a:lnSpc>
            </a:pPr>
            <a:r>
              <a:rPr sz="1100" b="1" i="0">
                <a:solidFill>
                  <a:srgbClr val="C87A0B"/>
                </a:solidFill>
                <a:latin typeface="Arial"/>
              </a:rPr>
              <a:t>CAPA 2</a:t>
            </a:r>
          </a:p>
        </p:txBody>
      </p:sp>
      <p:sp>
        <p:nvSpPr>
          <p:cNvPr id="30" name="TextBox 29"/>
          <p:cNvSpPr txBox="1"/>
          <p:nvPr/>
        </p:nvSpPr>
        <p:spPr>
          <a:xfrm>
            <a:off x="932688" y="3968496"/>
            <a:ext cx="3291840" cy="576120"/>
          </a:xfrm>
          <a:prstGeom prst="rect">
            <a:avLst/>
          </a:prstGeom>
          <a:noFill/>
        </p:spPr>
        <p:txBody>
          <a:bodyPr wrap="square" lIns="0" tIns="0" rIns="0" bIns="0" anchor="t">
            <a:spAutoFit/>
          </a:bodyPr>
          <a:lstStyle/>
          <a:p>
            <a:pPr algn="l">
              <a:lnSpc>
                <a:spcPct val="108000"/>
              </a:lnSpc>
            </a:pPr>
            <a:r>
              <a:rPr b="1" i="0" err="1">
                <a:solidFill>
                  <a:srgbClr val="0B2E2C"/>
                </a:solidFill>
                <a:latin typeface="Arial"/>
              </a:rPr>
              <a:t>Oferta</a:t>
            </a:r>
            <a:r>
              <a:rPr b="1" i="0">
                <a:solidFill>
                  <a:srgbClr val="0B2E2C"/>
                </a:solidFill>
                <a:latin typeface="Arial"/>
              </a:rPr>
              <a:t> </a:t>
            </a:r>
            <a:r>
              <a:rPr b="1" i="0" err="1">
                <a:solidFill>
                  <a:srgbClr val="0B2E2C"/>
                </a:solidFill>
                <a:latin typeface="Arial"/>
              </a:rPr>
              <a:t>relevante</a:t>
            </a:r>
            <a:r>
              <a:rPr b="1" i="0">
                <a:solidFill>
                  <a:srgbClr val="0B2E2C"/>
                </a:solidFill>
                <a:latin typeface="Arial"/>
              </a:rPr>
              <a:t> · Share of Sales</a:t>
            </a:r>
          </a:p>
        </p:txBody>
      </p:sp>
      <p:sp>
        <p:nvSpPr>
          <p:cNvPr id="31" name="Rectangle 30"/>
          <p:cNvSpPr/>
          <p:nvPr/>
        </p:nvSpPr>
        <p:spPr>
          <a:xfrm>
            <a:off x="932688" y="4791456"/>
            <a:ext cx="2423160" cy="27432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200" b="1" i="0" err="1">
                <a:solidFill>
                  <a:srgbClr val="C87A0B"/>
                </a:solidFill>
                <a:latin typeface="Arial"/>
              </a:rPr>
              <a:t>Avanzada</a:t>
            </a:r>
            <a:r>
              <a:rPr sz="1200" b="1" i="0">
                <a:solidFill>
                  <a:srgbClr val="C87A0B"/>
                </a:solidFill>
                <a:latin typeface="Arial"/>
              </a:rPr>
              <a:t> · </a:t>
            </a:r>
            <a:r>
              <a:rPr sz="1200" b="1" i="0" err="1">
                <a:solidFill>
                  <a:srgbClr val="C87A0B"/>
                </a:solidFill>
                <a:latin typeface="Arial"/>
              </a:rPr>
              <a:t>siguiente</a:t>
            </a:r>
            <a:r>
              <a:rPr sz="1200" b="1" i="0">
                <a:solidFill>
                  <a:srgbClr val="C87A0B"/>
                </a:solidFill>
                <a:latin typeface="Arial"/>
              </a:rPr>
              <a:t> a </a:t>
            </a:r>
            <a:r>
              <a:rPr sz="1200" b="1" i="0" err="1">
                <a:solidFill>
                  <a:srgbClr val="C87A0B"/>
                </a:solidFill>
                <a:latin typeface="Arial"/>
              </a:rPr>
              <a:t>revisar</a:t>
            </a:r>
            <a:endParaRPr sz="1200" b="1" i="0">
              <a:solidFill>
                <a:srgbClr val="C87A0B"/>
              </a:solidFill>
              <a:latin typeface="Arial"/>
            </a:endParaRPr>
          </a:p>
        </p:txBody>
      </p:sp>
      <p:cxnSp>
        <p:nvCxnSpPr>
          <p:cNvPr id="32" name="Connector 31"/>
          <p:cNvCxnSpPr/>
          <p:nvPr/>
        </p:nvCxnSpPr>
        <p:spPr>
          <a:xfrm>
            <a:off x="4498848" y="3785616"/>
            <a:ext cx="0" cy="1225296"/>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773168" y="3749040"/>
            <a:ext cx="4206240" cy="246221"/>
          </a:xfrm>
          <a:prstGeom prst="rect">
            <a:avLst/>
          </a:prstGeom>
          <a:noFill/>
        </p:spPr>
        <p:txBody>
          <a:bodyPr wrap="square" lIns="0" tIns="0" rIns="0" bIns="0" anchor="t">
            <a:spAutoFit/>
          </a:bodyPr>
          <a:lstStyle/>
          <a:p>
            <a:pPr algn="l">
              <a:lnSpc>
                <a:spcPct val="100000"/>
              </a:lnSpc>
            </a:pPr>
            <a:r>
              <a:rPr sz="1600" b="1" i="0">
                <a:solidFill>
                  <a:srgbClr val="C87A0B"/>
                </a:solidFill>
                <a:latin typeface="Arial"/>
              </a:rPr>
              <a:t>¿Cuánto de su negocio capturamos?</a:t>
            </a:r>
          </a:p>
        </p:txBody>
      </p:sp>
      <p:sp>
        <p:nvSpPr>
          <p:cNvPr id="34" name="TextBox 33"/>
          <p:cNvSpPr txBox="1"/>
          <p:nvPr/>
        </p:nvSpPr>
        <p:spPr>
          <a:xfrm>
            <a:off x="4773168" y="4078224"/>
            <a:ext cx="5394960" cy="674928"/>
          </a:xfrm>
          <a:prstGeom prst="rect">
            <a:avLst/>
          </a:prstGeom>
          <a:noFill/>
        </p:spPr>
        <p:txBody>
          <a:bodyPr wrap="square" lIns="0" tIns="0" rIns="0" bIns="0" anchor="t">
            <a:spAutoFit/>
          </a:bodyPr>
          <a:lstStyle/>
          <a:p>
            <a:pPr algn="l">
              <a:lnSpc>
                <a:spcPct val="126000"/>
              </a:lnSpc>
            </a:pPr>
            <a:r>
              <a:rPr sz="1200" b="0" i="0">
                <a:solidFill>
                  <a:srgbClr val="3E5553"/>
                </a:solidFill>
                <a:latin typeface="Arial"/>
              </a:rPr>
              <a:t>El share of sales mide la posición de IBK dentro de cada segmento: de la oferta total, qué demanda se observó y cuánto desembolsó IBK frente a la competencia.</a:t>
            </a:r>
          </a:p>
        </p:txBody>
      </p:sp>
      <p:sp>
        <p:nvSpPr>
          <p:cNvPr id="35" name="Rectangle 34"/>
          <p:cNvSpPr/>
          <p:nvPr/>
        </p:nvSpPr>
        <p:spPr>
          <a:xfrm>
            <a:off x="10533888" y="3767328"/>
            <a:ext cx="4789444" cy="36576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445A6E"/>
                </a:solidFill>
                <a:latin typeface="Arial"/>
              </a:rPr>
              <a:t>Oferta total</a:t>
            </a:r>
          </a:p>
        </p:txBody>
      </p:sp>
      <p:sp>
        <p:nvSpPr>
          <p:cNvPr id="36" name="Rectangle 35"/>
          <p:cNvSpPr/>
          <p:nvPr/>
        </p:nvSpPr>
        <p:spPr>
          <a:xfrm>
            <a:off x="11348093" y="4206240"/>
            <a:ext cx="3161033" cy="36576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C87A0B"/>
                </a:solidFill>
                <a:latin typeface="Arial"/>
              </a:rPr>
              <a:t>Demanda observada</a:t>
            </a:r>
          </a:p>
        </p:txBody>
      </p:sp>
      <p:sp>
        <p:nvSpPr>
          <p:cNvPr id="37" name="Rectangle 36"/>
          <p:cNvSpPr/>
          <p:nvPr/>
        </p:nvSpPr>
        <p:spPr>
          <a:xfrm>
            <a:off x="12066510" y="4645152"/>
            <a:ext cx="1724199" cy="36576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0" b="1" i="0">
                <a:solidFill>
                  <a:srgbClr val="0C514E"/>
                </a:solidFill>
                <a:latin typeface="Arial"/>
              </a:rPr>
              <a:t>Desembolsos IBK  ·  éxito</a:t>
            </a:r>
          </a:p>
        </p:txBody>
      </p:sp>
      <p:sp>
        <p:nvSpPr>
          <p:cNvPr id="38" name="TextBox 37"/>
          <p:cNvSpPr txBox="1"/>
          <p:nvPr/>
        </p:nvSpPr>
        <p:spPr>
          <a:xfrm>
            <a:off x="10533888" y="5084064"/>
            <a:ext cx="4789444" cy="153888"/>
          </a:xfrm>
          <a:prstGeom prst="rect">
            <a:avLst/>
          </a:prstGeom>
          <a:noFill/>
        </p:spPr>
        <p:txBody>
          <a:bodyPr wrap="square" lIns="0" tIns="0" rIns="0" bIns="0" anchor="t">
            <a:spAutoFit/>
          </a:bodyPr>
          <a:lstStyle/>
          <a:p>
            <a:pPr algn="ctr">
              <a:lnSpc>
                <a:spcPct val="100000"/>
              </a:lnSpc>
            </a:pPr>
            <a:r>
              <a:rPr sz="1000" b="0" i="1">
                <a:solidFill>
                  <a:srgbClr val="9AA8A7"/>
                </a:solidFill>
                <a:latin typeface="Arial"/>
              </a:rPr>
              <a:t>el resto desembolsó con la competencia → fracaso</a:t>
            </a:r>
          </a:p>
        </p:txBody>
      </p:sp>
      <p:cxnSp>
        <p:nvCxnSpPr>
          <p:cNvPr id="39" name="Connector 38"/>
          <p:cNvCxnSpPr/>
          <p:nvPr/>
        </p:nvCxnSpPr>
        <p:spPr>
          <a:xfrm>
            <a:off x="2487168" y="5276088"/>
            <a:ext cx="0" cy="146304"/>
          </a:xfrm>
          <a:prstGeom prst="line">
            <a:avLst/>
          </a:prstGeom>
          <a:ln w="2222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658368" y="5431536"/>
            <a:ext cx="14939284" cy="173736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41" name="Rectangle 40"/>
          <p:cNvSpPr/>
          <p:nvPr/>
        </p:nvSpPr>
        <p:spPr>
          <a:xfrm>
            <a:off x="658368" y="5431536"/>
            <a:ext cx="54864" cy="173736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42" name="TextBox 41"/>
          <p:cNvSpPr txBox="1"/>
          <p:nvPr/>
        </p:nvSpPr>
        <p:spPr>
          <a:xfrm>
            <a:off x="932688" y="5614416"/>
            <a:ext cx="1188720" cy="169277"/>
          </a:xfrm>
          <a:prstGeom prst="rect">
            <a:avLst/>
          </a:prstGeom>
          <a:noFill/>
        </p:spPr>
        <p:txBody>
          <a:bodyPr wrap="square" lIns="0" tIns="0" rIns="0" bIns="0" anchor="t">
            <a:spAutoFit/>
          </a:bodyPr>
          <a:lstStyle/>
          <a:p>
            <a:pPr algn="l">
              <a:lnSpc>
                <a:spcPct val="100000"/>
              </a:lnSpc>
            </a:pPr>
            <a:r>
              <a:rPr sz="1100" b="1" i="0">
                <a:solidFill>
                  <a:srgbClr val="445A6E"/>
                </a:solidFill>
                <a:latin typeface="Arial"/>
              </a:rPr>
              <a:t>CAPA 3</a:t>
            </a:r>
          </a:p>
        </p:txBody>
      </p:sp>
      <p:sp>
        <p:nvSpPr>
          <p:cNvPr id="43" name="TextBox 42"/>
          <p:cNvSpPr txBox="1"/>
          <p:nvPr/>
        </p:nvSpPr>
        <p:spPr>
          <a:xfrm>
            <a:off x="932688" y="5870448"/>
            <a:ext cx="3291840" cy="276935"/>
          </a:xfrm>
          <a:prstGeom prst="rect">
            <a:avLst/>
          </a:prstGeom>
          <a:noFill/>
        </p:spPr>
        <p:txBody>
          <a:bodyPr wrap="square" lIns="0" tIns="0" rIns="0" bIns="0" anchor="t">
            <a:spAutoFit/>
          </a:bodyPr>
          <a:lstStyle/>
          <a:p>
            <a:pPr algn="l">
              <a:lnSpc>
                <a:spcPct val="108000"/>
              </a:lnSpc>
            </a:pPr>
            <a:r>
              <a:rPr b="1" i="0">
                <a:solidFill>
                  <a:srgbClr val="0B2E2C"/>
                </a:solidFill>
                <a:latin typeface="Arial"/>
              </a:rPr>
              <a:t>Mercado · Diferencia de tasas</a:t>
            </a:r>
          </a:p>
        </p:txBody>
      </p:sp>
      <p:sp>
        <p:nvSpPr>
          <p:cNvPr id="44" name="Rectangle 43"/>
          <p:cNvSpPr/>
          <p:nvPr/>
        </p:nvSpPr>
        <p:spPr>
          <a:xfrm>
            <a:off x="932688" y="6693408"/>
            <a:ext cx="2423160" cy="27432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i="0">
                <a:solidFill>
                  <a:srgbClr val="445A6E"/>
                </a:solidFill>
                <a:latin typeface="Arial"/>
              </a:rPr>
              <a:t>Última capa</a:t>
            </a:r>
          </a:p>
        </p:txBody>
      </p:sp>
      <p:cxnSp>
        <p:nvCxnSpPr>
          <p:cNvPr id="45" name="Connector 44"/>
          <p:cNvCxnSpPr/>
          <p:nvPr/>
        </p:nvCxnSpPr>
        <p:spPr>
          <a:xfrm>
            <a:off x="4498848" y="5687568"/>
            <a:ext cx="0" cy="1225296"/>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773168" y="5650992"/>
            <a:ext cx="4206240" cy="246221"/>
          </a:xfrm>
          <a:prstGeom prst="rect">
            <a:avLst/>
          </a:prstGeom>
          <a:noFill/>
        </p:spPr>
        <p:txBody>
          <a:bodyPr wrap="square" lIns="0" tIns="0" rIns="0" bIns="0" anchor="t">
            <a:spAutoFit/>
          </a:bodyPr>
          <a:lstStyle/>
          <a:p>
            <a:pPr algn="l">
              <a:lnSpc>
                <a:spcPct val="100000"/>
              </a:lnSpc>
            </a:pPr>
            <a:r>
              <a:rPr sz="1600" b="1" i="0">
                <a:solidFill>
                  <a:srgbClr val="445A6E"/>
                </a:solidFill>
                <a:latin typeface="Arial"/>
              </a:rPr>
              <a:t>¿A qué precio juega el mercado?</a:t>
            </a:r>
          </a:p>
        </p:txBody>
      </p:sp>
      <p:sp>
        <p:nvSpPr>
          <p:cNvPr id="47" name="TextBox 46"/>
          <p:cNvSpPr txBox="1"/>
          <p:nvPr/>
        </p:nvSpPr>
        <p:spPr>
          <a:xfrm>
            <a:off x="4773168" y="5980176"/>
            <a:ext cx="5394960" cy="442237"/>
          </a:xfrm>
          <a:prstGeom prst="rect">
            <a:avLst/>
          </a:prstGeom>
          <a:noFill/>
        </p:spPr>
        <p:txBody>
          <a:bodyPr wrap="square" lIns="0" tIns="0" rIns="0" bIns="0" anchor="t">
            <a:spAutoFit/>
          </a:bodyPr>
          <a:lstStyle/>
          <a:p>
            <a:pPr algn="l">
              <a:lnSpc>
                <a:spcPct val="126000"/>
              </a:lnSpc>
            </a:pPr>
            <a:r>
              <a:rPr sz="1200" b="0" i="0">
                <a:solidFill>
                  <a:srgbClr val="3E5553"/>
                </a:solidFill>
                <a:latin typeface="Arial"/>
              </a:rPr>
              <a:t>Se incorpora cómo vienen las tasas de IBK frente al mercado y la competencia: la capa que completa la lectura de sensibilidad al precio.</a:t>
            </a:r>
          </a:p>
        </p:txBody>
      </p:sp>
      <p:sp>
        <p:nvSpPr>
          <p:cNvPr id="48" name="TextBox 47"/>
          <p:cNvSpPr txBox="1"/>
          <p:nvPr/>
        </p:nvSpPr>
        <p:spPr>
          <a:xfrm>
            <a:off x="10533888" y="5760720"/>
            <a:ext cx="731520" cy="161583"/>
          </a:xfrm>
          <a:prstGeom prst="rect">
            <a:avLst/>
          </a:prstGeom>
          <a:noFill/>
        </p:spPr>
        <p:txBody>
          <a:bodyPr wrap="square" lIns="0" tIns="0" rIns="0" bIns="0" anchor="t">
            <a:spAutoFit/>
          </a:bodyPr>
          <a:lstStyle/>
          <a:p>
            <a:pPr algn="r">
              <a:lnSpc>
                <a:spcPct val="100000"/>
              </a:lnSpc>
            </a:pPr>
            <a:r>
              <a:rPr sz="1050" b="1" i="0">
                <a:solidFill>
                  <a:srgbClr val="445A6E"/>
                </a:solidFill>
                <a:latin typeface="Arial"/>
              </a:rPr>
              <a:t>IBK</a:t>
            </a:r>
          </a:p>
        </p:txBody>
      </p:sp>
      <p:sp>
        <p:nvSpPr>
          <p:cNvPr id="49" name="Rectangle 48"/>
          <p:cNvSpPr/>
          <p:nvPr/>
        </p:nvSpPr>
        <p:spPr>
          <a:xfrm>
            <a:off x="11311128" y="5742432"/>
            <a:ext cx="2624792" cy="237744"/>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50" name="TextBox 49"/>
          <p:cNvSpPr txBox="1"/>
          <p:nvPr/>
        </p:nvSpPr>
        <p:spPr>
          <a:xfrm>
            <a:off x="10533888" y="6144768"/>
            <a:ext cx="731520" cy="161583"/>
          </a:xfrm>
          <a:prstGeom prst="rect">
            <a:avLst/>
          </a:prstGeom>
          <a:noFill/>
        </p:spPr>
        <p:txBody>
          <a:bodyPr wrap="square" lIns="0" tIns="0" rIns="0" bIns="0" anchor="t">
            <a:spAutoFit/>
          </a:bodyPr>
          <a:lstStyle/>
          <a:p>
            <a:pPr algn="r">
              <a:lnSpc>
                <a:spcPct val="100000"/>
              </a:lnSpc>
            </a:pPr>
            <a:r>
              <a:rPr sz="1050" b="1" i="0">
                <a:solidFill>
                  <a:srgbClr val="13807B"/>
                </a:solidFill>
                <a:latin typeface="Arial"/>
              </a:rPr>
              <a:t>Mercado</a:t>
            </a:r>
          </a:p>
        </p:txBody>
      </p:sp>
      <p:sp>
        <p:nvSpPr>
          <p:cNvPr id="51" name="Rectangle 50"/>
          <p:cNvSpPr/>
          <p:nvPr/>
        </p:nvSpPr>
        <p:spPr>
          <a:xfrm>
            <a:off x="11311128" y="6126480"/>
            <a:ext cx="2136459" cy="237744"/>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52" name="Connector 51"/>
          <p:cNvCxnSpPr/>
          <p:nvPr/>
        </p:nvCxnSpPr>
        <p:spPr>
          <a:xfrm>
            <a:off x="13447587" y="5687568"/>
            <a:ext cx="0" cy="749808"/>
          </a:xfrm>
          <a:prstGeom prst="line">
            <a:avLst/>
          </a:prstGeom>
          <a:ln w="15875">
            <a:solidFill>
              <a:srgbClr val="C04B4B"/>
            </a:solidFill>
            <a:prstDash val="dash"/>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2944667" y="6492240"/>
            <a:ext cx="2194560" cy="153888"/>
          </a:xfrm>
          <a:prstGeom prst="rect">
            <a:avLst/>
          </a:prstGeom>
          <a:noFill/>
        </p:spPr>
        <p:txBody>
          <a:bodyPr wrap="square" lIns="0" tIns="0" rIns="0" bIns="0" anchor="t">
            <a:spAutoFit/>
          </a:bodyPr>
          <a:lstStyle/>
          <a:p>
            <a:pPr algn="l">
              <a:lnSpc>
                <a:spcPct val="100000"/>
              </a:lnSpc>
            </a:pPr>
            <a:r>
              <a:rPr sz="1000" b="1" i="0">
                <a:solidFill>
                  <a:srgbClr val="C04B4B"/>
                </a:solidFill>
                <a:latin typeface="Arial"/>
              </a:rPr>
              <a:t>Δ tasas vs. competencia</a:t>
            </a:r>
          </a:p>
        </p:txBody>
      </p:sp>
      <p:sp>
        <p:nvSpPr>
          <p:cNvPr id="54" name="Rectangle 53"/>
          <p:cNvSpPr/>
          <p:nvPr/>
        </p:nvSpPr>
        <p:spPr>
          <a:xfrm>
            <a:off x="658368" y="7315199"/>
            <a:ext cx="2841552" cy="950945"/>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55" name="Rectangle 54"/>
          <p:cNvSpPr/>
          <p:nvPr/>
        </p:nvSpPr>
        <p:spPr>
          <a:xfrm>
            <a:off x="658368" y="7315200"/>
            <a:ext cx="2841552"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56" name="TextBox 55"/>
          <p:cNvSpPr txBox="1"/>
          <p:nvPr/>
        </p:nvSpPr>
        <p:spPr>
          <a:xfrm>
            <a:off x="804672" y="7424927"/>
            <a:ext cx="2548944" cy="215444"/>
          </a:xfrm>
          <a:prstGeom prst="rect">
            <a:avLst/>
          </a:prstGeom>
          <a:noFill/>
        </p:spPr>
        <p:txBody>
          <a:bodyPr wrap="square" lIns="0" tIns="0" rIns="0" bIns="0" anchor="t">
            <a:spAutoFit/>
          </a:bodyPr>
          <a:lstStyle/>
          <a:p>
            <a:pPr algn="l">
              <a:lnSpc>
                <a:spcPct val="100000"/>
              </a:lnSpc>
            </a:pPr>
            <a:r>
              <a:rPr sz="1400" b="1" i="0">
                <a:solidFill>
                  <a:srgbClr val="0C514E"/>
                </a:solidFill>
                <a:latin typeface="Arial"/>
              </a:rPr>
              <a:t>UNIVERSO</a:t>
            </a:r>
          </a:p>
        </p:txBody>
      </p:sp>
      <p:sp>
        <p:nvSpPr>
          <p:cNvPr id="57" name="TextBox 56"/>
          <p:cNvSpPr txBox="1"/>
          <p:nvPr/>
        </p:nvSpPr>
        <p:spPr>
          <a:xfrm>
            <a:off x="804672" y="7626096"/>
            <a:ext cx="2548944" cy="567463"/>
          </a:xfrm>
          <a:prstGeom prst="rect">
            <a:avLst/>
          </a:prstGeom>
          <a:noFill/>
        </p:spPr>
        <p:txBody>
          <a:bodyPr wrap="square" lIns="0" tIns="0" rIns="0" bIns="0" anchor="t">
            <a:spAutoFit/>
          </a:bodyPr>
          <a:lstStyle/>
          <a:p>
            <a:pPr algn="l">
              <a:lnSpc>
                <a:spcPct val="115000"/>
              </a:lnSpc>
            </a:pPr>
            <a:r>
              <a:rPr sz="1100" b="0" i="0">
                <a:solidFill>
                  <a:srgbClr val="6E7E7D"/>
                </a:solidFill>
                <a:latin typeface="Arial"/>
              </a:rPr>
              <a:t>Desembolsos 2025-03 a 2026-05 · campañas (sin programas de gobierno) · se excluye Vendors</a:t>
            </a:r>
          </a:p>
        </p:txBody>
      </p:sp>
      <p:cxnSp>
        <p:nvCxnSpPr>
          <p:cNvPr id="58" name="Connector 57"/>
          <p:cNvCxnSpPr/>
          <p:nvPr/>
        </p:nvCxnSpPr>
        <p:spPr>
          <a:xfrm>
            <a:off x="3518208" y="7708392"/>
            <a:ext cx="146304"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3682800" y="7315199"/>
            <a:ext cx="2841552" cy="950945"/>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60" name="Rectangle 59"/>
          <p:cNvSpPr/>
          <p:nvPr/>
        </p:nvSpPr>
        <p:spPr>
          <a:xfrm>
            <a:off x="3682800" y="7315200"/>
            <a:ext cx="2841552"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61" name="TextBox 60"/>
          <p:cNvSpPr txBox="1"/>
          <p:nvPr/>
        </p:nvSpPr>
        <p:spPr>
          <a:xfrm>
            <a:off x="3829104" y="7424927"/>
            <a:ext cx="2548944" cy="215444"/>
          </a:xfrm>
          <a:prstGeom prst="rect">
            <a:avLst/>
          </a:prstGeom>
          <a:noFill/>
        </p:spPr>
        <p:txBody>
          <a:bodyPr wrap="square" lIns="0" tIns="0" rIns="0" bIns="0" anchor="t">
            <a:spAutoFit/>
          </a:bodyPr>
          <a:lstStyle/>
          <a:p>
            <a:pPr algn="l">
              <a:lnSpc>
                <a:spcPct val="100000"/>
              </a:lnSpc>
            </a:pPr>
            <a:r>
              <a:rPr sz="1400" b="1" i="0">
                <a:solidFill>
                  <a:srgbClr val="0C514E"/>
                </a:solidFill>
                <a:latin typeface="Arial"/>
              </a:rPr>
              <a:t>TARGET</a:t>
            </a:r>
          </a:p>
        </p:txBody>
      </p:sp>
      <p:sp>
        <p:nvSpPr>
          <p:cNvPr id="62" name="TextBox 61"/>
          <p:cNvSpPr txBox="1"/>
          <p:nvPr/>
        </p:nvSpPr>
        <p:spPr>
          <a:xfrm>
            <a:off x="3829104" y="7626096"/>
            <a:ext cx="2548944" cy="372794"/>
          </a:xfrm>
          <a:prstGeom prst="rect">
            <a:avLst/>
          </a:prstGeom>
          <a:noFill/>
        </p:spPr>
        <p:txBody>
          <a:bodyPr wrap="square" lIns="0" tIns="0" rIns="0" bIns="0" anchor="t">
            <a:spAutoFit/>
          </a:bodyPr>
          <a:lstStyle/>
          <a:p>
            <a:pPr algn="l">
              <a:lnSpc>
                <a:spcPct val="115000"/>
              </a:lnSpc>
            </a:pPr>
            <a:r>
              <a:rPr sz="1100" b="0" i="0">
                <a:solidFill>
                  <a:srgbClr val="6E7E7D"/>
                </a:solidFill>
                <a:latin typeface="Arial"/>
              </a:rPr>
              <a:t>TEA ofertada − TEA desembolsada: la brecha que revela la negociación</a:t>
            </a:r>
          </a:p>
        </p:txBody>
      </p:sp>
      <p:cxnSp>
        <p:nvCxnSpPr>
          <p:cNvPr id="63" name="Connector 62"/>
          <p:cNvCxnSpPr/>
          <p:nvPr/>
        </p:nvCxnSpPr>
        <p:spPr>
          <a:xfrm>
            <a:off x="6542641" y="7708392"/>
            <a:ext cx="146304"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6707233" y="7315199"/>
            <a:ext cx="2841552" cy="950945"/>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65" name="Rectangle 64"/>
          <p:cNvSpPr/>
          <p:nvPr/>
        </p:nvSpPr>
        <p:spPr>
          <a:xfrm>
            <a:off x="6707233" y="7315200"/>
            <a:ext cx="2841552"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66" name="TextBox 65"/>
          <p:cNvSpPr txBox="1"/>
          <p:nvPr/>
        </p:nvSpPr>
        <p:spPr>
          <a:xfrm>
            <a:off x="6853537" y="7424927"/>
            <a:ext cx="2548944" cy="215444"/>
          </a:xfrm>
          <a:prstGeom prst="rect">
            <a:avLst/>
          </a:prstGeom>
          <a:noFill/>
        </p:spPr>
        <p:txBody>
          <a:bodyPr wrap="square" lIns="0" tIns="0" rIns="0" bIns="0" anchor="t">
            <a:spAutoFit/>
          </a:bodyPr>
          <a:lstStyle/>
          <a:p>
            <a:pPr algn="l">
              <a:lnSpc>
                <a:spcPct val="100000"/>
              </a:lnSpc>
            </a:pPr>
            <a:r>
              <a:rPr sz="1400" b="1" i="0">
                <a:solidFill>
                  <a:srgbClr val="0C514E"/>
                </a:solidFill>
                <a:latin typeface="Arial"/>
              </a:rPr>
              <a:t>MODELO</a:t>
            </a:r>
          </a:p>
        </p:txBody>
      </p:sp>
      <p:sp>
        <p:nvSpPr>
          <p:cNvPr id="67" name="TextBox 66"/>
          <p:cNvSpPr txBox="1"/>
          <p:nvPr/>
        </p:nvSpPr>
        <p:spPr>
          <a:xfrm>
            <a:off x="6853537" y="7626096"/>
            <a:ext cx="2548944" cy="372794"/>
          </a:xfrm>
          <a:prstGeom prst="rect">
            <a:avLst/>
          </a:prstGeom>
          <a:noFill/>
        </p:spPr>
        <p:txBody>
          <a:bodyPr wrap="square" lIns="0" tIns="0" rIns="0" bIns="0" anchor="t">
            <a:spAutoFit/>
          </a:bodyPr>
          <a:lstStyle/>
          <a:p>
            <a:pPr algn="l">
              <a:lnSpc>
                <a:spcPct val="115000"/>
              </a:lnSpc>
            </a:pPr>
            <a:r>
              <a:rPr sz="1100" b="0" i="0">
                <a:solidFill>
                  <a:srgbClr val="6E7E7D"/>
                </a:solidFill>
                <a:latin typeface="Arial"/>
              </a:rPr>
              <a:t>Árbol de regresión con cortes interpretables</a:t>
            </a:r>
          </a:p>
        </p:txBody>
      </p:sp>
      <p:cxnSp>
        <p:nvCxnSpPr>
          <p:cNvPr id="68" name="Connector 67"/>
          <p:cNvCxnSpPr/>
          <p:nvPr/>
        </p:nvCxnSpPr>
        <p:spPr>
          <a:xfrm>
            <a:off x="9567074" y="7708392"/>
            <a:ext cx="146304"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731666" y="7315199"/>
            <a:ext cx="2841552" cy="950945"/>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70" name="Rectangle 69"/>
          <p:cNvSpPr/>
          <p:nvPr/>
        </p:nvSpPr>
        <p:spPr>
          <a:xfrm>
            <a:off x="9731666" y="7315200"/>
            <a:ext cx="2841552"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71" name="TextBox 70"/>
          <p:cNvSpPr txBox="1"/>
          <p:nvPr/>
        </p:nvSpPr>
        <p:spPr>
          <a:xfrm>
            <a:off x="9877970" y="7424927"/>
            <a:ext cx="2548944" cy="215444"/>
          </a:xfrm>
          <a:prstGeom prst="rect">
            <a:avLst/>
          </a:prstGeom>
          <a:noFill/>
        </p:spPr>
        <p:txBody>
          <a:bodyPr wrap="square" lIns="0" tIns="0" rIns="0" bIns="0" anchor="t">
            <a:spAutoFit/>
          </a:bodyPr>
          <a:lstStyle/>
          <a:p>
            <a:pPr algn="l">
              <a:lnSpc>
                <a:spcPct val="100000"/>
              </a:lnSpc>
            </a:pPr>
            <a:r>
              <a:rPr sz="1400" b="1" i="0">
                <a:solidFill>
                  <a:srgbClr val="0C514E"/>
                </a:solidFill>
                <a:latin typeface="Arial"/>
              </a:rPr>
              <a:t>RESULTADO</a:t>
            </a:r>
          </a:p>
        </p:txBody>
      </p:sp>
      <p:sp>
        <p:nvSpPr>
          <p:cNvPr id="72" name="TextBox 71"/>
          <p:cNvSpPr txBox="1"/>
          <p:nvPr/>
        </p:nvSpPr>
        <p:spPr>
          <a:xfrm>
            <a:off x="9877970" y="7626096"/>
            <a:ext cx="2548944" cy="178126"/>
          </a:xfrm>
          <a:prstGeom prst="rect">
            <a:avLst/>
          </a:prstGeom>
          <a:noFill/>
        </p:spPr>
        <p:txBody>
          <a:bodyPr wrap="square" lIns="0" tIns="0" rIns="0" bIns="0" anchor="t">
            <a:spAutoFit/>
          </a:bodyPr>
          <a:lstStyle/>
          <a:p>
            <a:pPr algn="l">
              <a:lnSpc>
                <a:spcPct val="115000"/>
              </a:lnSpc>
            </a:pPr>
            <a:r>
              <a:rPr sz="1100" b="0" i="0">
                <a:solidFill>
                  <a:srgbClr val="6E7E7D"/>
                </a:solidFill>
                <a:latin typeface="Arial"/>
              </a:rPr>
              <a:t>9 segmentos · Con deuda / Sin deuda</a:t>
            </a:r>
          </a:p>
        </p:txBody>
      </p:sp>
      <p:cxnSp>
        <p:nvCxnSpPr>
          <p:cNvPr id="73" name="Connector 72"/>
          <p:cNvCxnSpPr/>
          <p:nvPr/>
        </p:nvCxnSpPr>
        <p:spPr>
          <a:xfrm>
            <a:off x="12591507" y="7708392"/>
            <a:ext cx="146304" cy="0"/>
          </a:xfrm>
          <a:prstGeom prst="line">
            <a:avLst/>
          </a:prstGeom>
          <a:ln w="1587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2756099" y="7315199"/>
            <a:ext cx="2841552" cy="950945"/>
          </a:xfrm>
          <a:prstGeom prst="rect">
            <a:avLst/>
          </a:prstGeom>
          <a:solidFill>
            <a:srgbClr val="F6FB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75" name="Rectangle 74"/>
          <p:cNvSpPr/>
          <p:nvPr/>
        </p:nvSpPr>
        <p:spPr>
          <a:xfrm>
            <a:off x="12756099" y="7315200"/>
            <a:ext cx="2841552" cy="365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600"/>
          </a:p>
        </p:txBody>
      </p:sp>
      <p:sp>
        <p:nvSpPr>
          <p:cNvPr id="76" name="TextBox 75"/>
          <p:cNvSpPr txBox="1"/>
          <p:nvPr/>
        </p:nvSpPr>
        <p:spPr>
          <a:xfrm>
            <a:off x="12902403" y="7424927"/>
            <a:ext cx="2548944" cy="215444"/>
          </a:xfrm>
          <a:prstGeom prst="rect">
            <a:avLst/>
          </a:prstGeom>
          <a:noFill/>
        </p:spPr>
        <p:txBody>
          <a:bodyPr wrap="square" lIns="0" tIns="0" rIns="0" bIns="0" anchor="t">
            <a:spAutoFit/>
          </a:bodyPr>
          <a:lstStyle/>
          <a:p>
            <a:pPr algn="l">
              <a:lnSpc>
                <a:spcPct val="100000"/>
              </a:lnSpc>
            </a:pPr>
            <a:r>
              <a:rPr sz="1400" b="1" i="0">
                <a:solidFill>
                  <a:srgbClr val="0C514E"/>
                </a:solidFill>
                <a:latin typeface="Arial"/>
              </a:rPr>
              <a:t>APLICACIÓN</a:t>
            </a:r>
          </a:p>
        </p:txBody>
      </p:sp>
      <p:sp>
        <p:nvSpPr>
          <p:cNvPr id="77" name="TextBox 76"/>
          <p:cNvSpPr txBox="1"/>
          <p:nvPr/>
        </p:nvSpPr>
        <p:spPr>
          <a:xfrm>
            <a:off x="12902403" y="7626096"/>
            <a:ext cx="2548944" cy="178126"/>
          </a:xfrm>
          <a:prstGeom prst="rect">
            <a:avLst/>
          </a:prstGeom>
          <a:noFill/>
        </p:spPr>
        <p:txBody>
          <a:bodyPr wrap="square" lIns="0" tIns="0" rIns="0" bIns="0" anchor="t">
            <a:spAutoFit/>
          </a:bodyPr>
          <a:lstStyle/>
          <a:p>
            <a:pPr algn="l">
              <a:lnSpc>
                <a:spcPct val="115000"/>
              </a:lnSpc>
            </a:pPr>
            <a:r>
              <a:rPr sz="1100" b="0" i="0">
                <a:solidFill>
                  <a:srgbClr val="6E7E7D"/>
                </a:solidFill>
                <a:latin typeface="Arial"/>
              </a:rPr>
              <a:t>RAROC</a:t>
            </a:r>
            <a:r>
              <a:rPr lang="es-419" sz="1100" b="0" i="0">
                <a:solidFill>
                  <a:srgbClr val="6E7E7D"/>
                </a:solidFill>
                <a:latin typeface="Arial"/>
              </a:rPr>
              <a:t>/ROA</a:t>
            </a:r>
            <a:r>
              <a:rPr sz="1100" b="0" i="0">
                <a:solidFill>
                  <a:srgbClr val="6E7E7D"/>
                </a:solidFill>
                <a:latin typeface="Arial"/>
              </a:rPr>
              <a:t> </a:t>
            </a:r>
            <a:r>
              <a:rPr lang="es-PE" sz="1100" b="0" i="0" err="1">
                <a:solidFill>
                  <a:srgbClr val="6E7E7D"/>
                </a:solidFill>
                <a:latin typeface="Arial"/>
              </a:rPr>
              <a:t>objetivo</a:t>
            </a:r>
            <a:r>
              <a:rPr sz="1100" b="0" i="0">
                <a:solidFill>
                  <a:srgbClr val="6E7E7D"/>
                </a:solidFill>
                <a:latin typeface="Arial"/>
              </a:rPr>
              <a:t> </a:t>
            </a:r>
            <a:r>
              <a:rPr lang="es-PE" sz="1100" b="0" i="0" err="1">
                <a:solidFill>
                  <a:srgbClr val="6E7E7D"/>
                </a:solidFill>
                <a:latin typeface="Arial"/>
              </a:rPr>
              <a:t>por</a:t>
            </a:r>
            <a:r>
              <a:rPr sz="1100" b="0" i="0">
                <a:solidFill>
                  <a:srgbClr val="6E7E7D"/>
                </a:solidFill>
                <a:latin typeface="Arial"/>
              </a:rPr>
              <a:t> </a:t>
            </a:r>
            <a:r>
              <a:rPr lang="es-PE" sz="1100" b="0" i="0" err="1">
                <a:solidFill>
                  <a:srgbClr val="6E7E7D"/>
                </a:solidFill>
                <a:latin typeface="Arial"/>
              </a:rPr>
              <a:t>segmento</a:t>
            </a:r>
            <a:endParaRPr sz="1100" b="0" i="0">
              <a:solidFill>
                <a:srgbClr val="6E7E7D"/>
              </a:solidFill>
              <a:latin typeface="Arial"/>
            </a:endParaRPr>
          </a:p>
        </p:txBody>
      </p:sp>
      <p:pic>
        <p:nvPicPr>
          <p:cNvPr id="6" name="Picture 5">
            <a:extLst>
              <a:ext uri="{FF2B5EF4-FFF2-40B4-BE49-F238E27FC236}">
                <a16:creationId xmlns:a16="http://schemas.microsoft.com/office/drawing/2014/main" id="{0BC5F30B-D40D-7BCC-6B98-81C5C14E6B21}"/>
              </a:ext>
            </a:extLst>
          </p:cNvPr>
          <p:cNvPicPr>
            <a:picLocks noChangeAspect="1"/>
          </p:cNvPicPr>
          <p:nvPr/>
        </p:nvPicPr>
        <p:blipFill>
          <a:blip r:embed="rId3"/>
          <a:stretch>
            <a:fillRect/>
          </a:stretch>
        </p:blipFill>
        <p:spPr>
          <a:xfrm>
            <a:off x="14725019" y="109555"/>
            <a:ext cx="1272511" cy="7172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29184"/>
            <a:ext cx="11951427" cy="201168"/>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SEGMENTACIÓN ESTRATÉGICA · POOL DE VARIABLES</a:t>
            </a:r>
          </a:p>
        </p:txBody>
      </p:sp>
      <p:sp>
        <p:nvSpPr>
          <p:cNvPr id="3" name="TextBox 2"/>
          <p:cNvSpPr txBox="1"/>
          <p:nvPr/>
        </p:nvSpPr>
        <p:spPr>
          <a:xfrm>
            <a:off x="658368" y="566928"/>
            <a:ext cx="13750564" cy="731520"/>
          </a:xfrm>
          <a:prstGeom prst="rect">
            <a:avLst/>
          </a:prstGeom>
          <a:noFill/>
        </p:spPr>
        <p:txBody>
          <a:bodyPr wrap="square" lIns="0" tIns="0" rIns="0" bIns="0" anchor="t">
            <a:spAutoFit/>
          </a:bodyPr>
          <a:lstStyle/>
          <a:p>
            <a:pPr algn="l">
              <a:lnSpc>
                <a:spcPct val="98000"/>
              </a:lnSpc>
            </a:pPr>
            <a:r>
              <a:rPr sz="2000" b="1" i="0">
                <a:solidFill>
                  <a:srgbClr val="0B2E2C"/>
                </a:solidFill>
                <a:latin typeface="Arial"/>
              </a:rPr>
              <a:t>Se probaron 78 variables en tres ventanas de tiempo; el árbol se queda con las cinco que separan perfiles y se explican solas</a:t>
            </a:r>
          </a:p>
        </p:txBody>
      </p:sp>
      <p:cxnSp>
        <p:nvCxnSpPr>
          <p:cNvPr id="4" name="Connector 3"/>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p:cNvPicPr>
            <a:picLocks noChangeAspect="1"/>
          </p:cNvPicPr>
          <p:nvPr/>
        </p:nvPicPr>
        <p:blipFill>
          <a:blip r:embed="rId2"/>
          <a:stretch>
            <a:fillRect/>
          </a:stretch>
        </p:blipFill>
        <p:spPr>
          <a:xfrm>
            <a:off x="14774692" y="274320"/>
            <a:ext cx="822960" cy="390279"/>
          </a:xfrm>
          <a:prstGeom prst="rect">
            <a:avLst/>
          </a:prstGeom>
        </p:spPr>
      </p:pic>
      <p:sp>
        <p:nvSpPr>
          <p:cNvPr id="6" name="TextBox 5"/>
          <p:cNvSpPr txBox="1"/>
          <p:nvPr/>
        </p:nvSpPr>
        <p:spPr>
          <a:xfrm>
            <a:off x="14683252" y="8686800"/>
            <a:ext cx="914400" cy="237744"/>
          </a:xfrm>
          <a:prstGeom prst="rect">
            <a:avLst/>
          </a:prstGeom>
          <a:noFill/>
        </p:spPr>
        <p:txBody>
          <a:bodyPr wrap="square" lIns="0" tIns="0" rIns="0" bIns="0" anchor="t">
            <a:spAutoFit/>
          </a:bodyPr>
          <a:lstStyle/>
          <a:p>
            <a:pPr algn="r">
              <a:lnSpc>
                <a:spcPct val="100000"/>
              </a:lnSpc>
            </a:pPr>
            <a:r>
              <a:rPr sz="900" b="0" i="0">
                <a:solidFill>
                  <a:srgbClr val="9AA8A7"/>
                </a:solidFill>
                <a:latin typeface="Arial"/>
              </a:rPr>
              <a:t>3</a:t>
            </a:r>
          </a:p>
        </p:txBody>
      </p:sp>
      <p:sp>
        <p:nvSpPr>
          <p:cNvPr id="7" name="Rectangle 6"/>
          <p:cNvSpPr/>
          <p:nvPr/>
        </p:nvSpPr>
        <p:spPr>
          <a:xfrm>
            <a:off x="658368" y="1627632"/>
            <a:ext cx="14939284" cy="475488"/>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cxnSp>
        <p:nvCxnSpPr>
          <p:cNvPr id="8" name="Connector 7"/>
          <p:cNvCxnSpPr/>
          <p:nvPr/>
        </p:nvCxnSpPr>
        <p:spPr>
          <a:xfrm>
            <a:off x="658368" y="1627632"/>
            <a:ext cx="0" cy="475488"/>
          </a:xfrm>
          <a:prstGeom prst="line">
            <a:avLst/>
          </a:prstGeom>
          <a:ln w="31750">
            <a:solidFill>
              <a:srgbClr val="13807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59" y="1636822"/>
            <a:ext cx="14610100" cy="457113"/>
          </a:xfrm>
          <a:prstGeom prst="rect">
            <a:avLst/>
          </a:prstGeom>
          <a:noFill/>
        </p:spPr>
        <p:txBody>
          <a:bodyPr wrap="square" lIns="0" tIns="0" rIns="0" bIns="0" anchor="ctr">
            <a:spAutoFit/>
          </a:bodyPr>
          <a:lstStyle/>
          <a:p>
            <a:pPr algn="l">
              <a:lnSpc>
                <a:spcPct val="112000"/>
              </a:lnSpc>
              <a:spcAft>
                <a:spcPts val="200"/>
              </a:spcAft>
            </a:pPr>
            <a:r>
              <a:rPr sz="1400" b="1" i="0">
                <a:solidFill>
                  <a:srgbClr val="13807B"/>
                </a:solidFill>
                <a:latin typeface="Arial"/>
              </a:rPr>
              <a:t>Temporalidades: u3m · u6m · u12m</a:t>
            </a:r>
          </a:p>
          <a:p>
            <a:pPr algn="l">
              <a:lnSpc>
                <a:spcPct val="112000"/>
              </a:lnSpc>
              <a:spcAft>
                <a:spcPts val="200"/>
              </a:spcAft>
            </a:pPr>
            <a:r>
              <a:rPr sz="1200" b="0" i="0">
                <a:solidFill>
                  <a:srgbClr val="3E5553"/>
                </a:solidFill>
                <a:latin typeface="Arial"/>
              </a:rPr>
              <a:t>Cada variable de comportamiento se construyó en tres temporalidades — últimos 3, 6 y 12 meses — para capturar tanto el nivel como la tendencia reciente del cliente.</a:t>
            </a:r>
          </a:p>
        </p:txBody>
      </p:sp>
      <p:sp>
        <p:nvSpPr>
          <p:cNvPr id="10" name="Rectangle 9"/>
          <p:cNvSpPr/>
          <p:nvPr/>
        </p:nvSpPr>
        <p:spPr>
          <a:xfrm>
            <a:off x="658368" y="2286000"/>
            <a:ext cx="2841552" cy="4389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1" name="Rectangle 10"/>
          <p:cNvSpPr/>
          <p:nvPr/>
        </p:nvSpPr>
        <p:spPr>
          <a:xfrm>
            <a:off x="658368" y="2286000"/>
            <a:ext cx="2841552" cy="457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2" name="TextBox 11"/>
          <p:cNvSpPr txBox="1"/>
          <p:nvPr/>
        </p:nvSpPr>
        <p:spPr>
          <a:xfrm>
            <a:off x="822959" y="2432304"/>
            <a:ext cx="2512368" cy="240579"/>
          </a:xfrm>
          <a:prstGeom prst="rect">
            <a:avLst/>
          </a:prstGeom>
          <a:noFill/>
        </p:spPr>
        <p:txBody>
          <a:bodyPr wrap="square" lIns="0" tIns="0" rIns="0" bIns="0" anchor="t">
            <a:spAutoFit/>
          </a:bodyPr>
          <a:lstStyle/>
          <a:p>
            <a:pPr algn="l">
              <a:lnSpc>
                <a:spcPct val="105000"/>
              </a:lnSpc>
            </a:pPr>
            <a:r>
              <a:rPr sz="1600" b="1" i="0">
                <a:solidFill>
                  <a:srgbClr val="0B2E2C"/>
                </a:solidFill>
                <a:latin typeface="Arial"/>
              </a:rPr>
              <a:t>Perfil de empresa</a:t>
            </a:r>
          </a:p>
        </p:txBody>
      </p:sp>
      <p:sp>
        <p:nvSpPr>
          <p:cNvPr id="13" name="Rectangle 12"/>
          <p:cNvSpPr/>
          <p:nvPr/>
        </p:nvSpPr>
        <p:spPr>
          <a:xfrm>
            <a:off x="822959" y="2852928"/>
            <a:ext cx="1143000" cy="23774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lnSpc>
                <a:spcPct val="100000"/>
              </a:lnSpc>
            </a:pPr>
            <a:r>
              <a:rPr sz="1100" b="1" i="0">
                <a:solidFill>
                  <a:srgbClr val="445A6E"/>
                </a:solidFill>
                <a:latin typeface="Arial"/>
              </a:rPr>
              <a:t>38 variables</a:t>
            </a:r>
          </a:p>
        </p:txBody>
      </p:sp>
      <p:sp>
        <p:nvSpPr>
          <p:cNvPr id="14" name="Rectangle 13"/>
          <p:cNvSpPr/>
          <p:nvPr/>
        </p:nvSpPr>
        <p:spPr>
          <a:xfrm>
            <a:off x="822959" y="3236976"/>
            <a:ext cx="2512368" cy="36576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5" name="Rectangle 14"/>
          <p:cNvSpPr/>
          <p:nvPr/>
        </p:nvSpPr>
        <p:spPr>
          <a:xfrm>
            <a:off x="822959" y="3236976"/>
            <a:ext cx="41148" cy="36576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6" name="TextBox 15"/>
          <p:cNvSpPr txBox="1"/>
          <p:nvPr/>
        </p:nvSpPr>
        <p:spPr>
          <a:xfrm>
            <a:off x="932688" y="3291840"/>
            <a:ext cx="2329488" cy="165430"/>
          </a:xfrm>
          <a:prstGeom prst="rect">
            <a:avLst/>
          </a:prstGeom>
          <a:noFill/>
        </p:spPr>
        <p:txBody>
          <a:bodyPr wrap="square" lIns="0" tIns="0" rIns="0" bIns="0" anchor="t">
            <a:spAutoFit/>
          </a:bodyPr>
          <a:lstStyle/>
          <a:p>
            <a:pPr algn="l">
              <a:lnSpc>
                <a:spcPct val="105000"/>
              </a:lnSpc>
            </a:pPr>
            <a:r>
              <a:rPr sz="1100" b="1" i="0">
                <a:solidFill>
                  <a:srgbClr val="0C514E"/>
                </a:solidFill>
                <a:latin typeface="Arial"/>
              </a:rPr>
              <a:t>Antigüedad de la empresa</a:t>
            </a:r>
          </a:p>
        </p:txBody>
      </p:sp>
      <p:sp>
        <p:nvSpPr>
          <p:cNvPr id="17" name="Rectangle 16"/>
          <p:cNvSpPr/>
          <p:nvPr/>
        </p:nvSpPr>
        <p:spPr>
          <a:xfrm>
            <a:off x="822959" y="3666744"/>
            <a:ext cx="2512368" cy="36576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8" name="Rectangle 17"/>
          <p:cNvSpPr/>
          <p:nvPr/>
        </p:nvSpPr>
        <p:spPr>
          <a:xfrm>
            <a:off x="822959" y="3666744"/>
            <a:ext cx="41148" cy="36576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19" name="TextBox 18"/>
          <p:cNvSpPr txBox="1"/>
          <p:nvPr/>
        </p:nvSpPr>
        <p:spPr>
          <a:xfrm>
            <a:off x="932688" y="3721607"/>
            <a:ext cx="2329488" cy="165430"/>
          </a:xfrm>
          <a:prstGeom prst="rect">
            <a:avLst/>
          </a:prstGeom>
          <a:noFill/>
        </p:spPr>
        <p:txBody>
          <a:bodyPr wrap="square" lIns="0" tIns="0" rIns="0" bIns="0" anchor="t">
            <a:spAutoFit/>
          </a:bodyPr>
          <a:lstStyle/>
          <a:p>
            <a:pPr algn="l">
              <a:lnSpc>
                <a:spcPct val="105000"/>
              </a:lnSpc>
            </a:pPr>
            <a:r>
              <a:rPr sz="1100" b="1" i="0">
                <a:solidFill>
                  <a:srgbClr val="0C514E"/>
                </a:solidFill>
                <a:latin typeface="Arial"/>
              </a:rPr>
              <a:t>Nivel de ventas</a:t>
            </a:r>
          </a:p>
        </p:txBody>
      </p:sp>
      <p:sp>
        <p:nvSpPr>
          <p:cNvPr id="20" name="Rectangle 19"/>
          <p:cNvSpPr/>
          <p:nvPr/>
        </p:nvSpPr>
        <p:spPr>
          <a:xfrm>
            <a:off x="822959" y="4096511"/>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21" name="TextBox 20"/>
          <p:cNvSpPr txBox="1"/>
          <p:nvPr/>
        </p:nvSpPr>
        <p:spPr>
          <a:xfrm>
            <a:off x="932688" y="4151375"/>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Sector económico</a:t>
            </a:r>
          </a:p>
        </p:txBody>
      </p:sp>
      <p:sp>
        <p:nvSpPr>
          <p:cNvPr id="22" name="TextBox 21"/>
          <p:cNvSpPr txBox="1"/>
          <p:nvPr/>
        </p:nvSpPr>
        <p:spPr>
          <a:xfrm>
            <a:off x="932688" y="4389120"/>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12 sectores</a:t>
            </a:r>
          </a:p>
        </p:txBody>
      </p:sp>
      <p:sp>
        <p:nvSpPr>
          <p:cNvPr id="23" name="Rectangle 22"/>
          <p:cNvSpPr/>
          <p:nvPr/>
        </p:nvSpPr>
        <p:spPr>
          <a:xfrm>
            <a:off x="822959" y="4654296"/>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24" name="TextBox 23"/>
          <p:cNvSpPr txBox="1"/>
          <p:nvPr/>
        </p:nvSpPr>
        <p:spPr>
          <a:xfrm>
            <a:off x="932688" y="4709159"/>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Departamento</a:t>
            </a:r>
          </a:p>
        </p:txBody>
      </p:sp>
      <p:sp>
        <p:nvSpPr>
          <p:cNvPr id="25" name="TextBox 24"/>
          <p:cNvSpPr txBox="1"/>
          <p:nvPr/>
        </p:nvSpPr>
        <p:spPr>
          <a:xfrm>
            <a:off x="932688" y="4946904"/>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24 regiones</a:t>
            </a:r>
          </a:p>
        </p:txBody>
      </p:sp>
      <p:sp>
        <p:nvSpPr>
          <p:cNvPr id="26" name="Rectangle 25"/>
          <p:cNvSpPr/>
          <p:nvPr/>
        </p:nvSpPr>
        <p:spPr>
          <a:xfrm>
            <a:off x="3682800" y="2286000"/>
            <a:ext cx="2841552" cy="4389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27" name="Rectangle 26"/>
          <p:cNvSpPr/>
          <p:nvPr/>
        </p:nvSpPr>
        <p:spPr>
          <a:xfrm>
            <a:off x="3682800" y="2286000"/>
            <a:ext cx="2841552" cy="457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28" name="TextBox 27"/>
          <p:cNvSpPr txBox="1"/>
          <p:nvPr/>
        </p:nvSpPr>
        <p:spPr>
          <a:xfrm>
            <a:off x="3847392" y="2432304"/>
            <a:ext cx="2512368" cy="240579"/>
          </a:xfrm>
          <a:prstGeom prst="rect">
            <a:avLst/>
          </a:prstGeom>
          <a:noFill/>
        </p:spPr>
        <p:txBody>
          <a:bodyPr wrap="square" lIns="0" tIns="0" rIns="0" bIns="0" anchor="t">
            <a:spAutoFit/>
          </a:bodyPr>
          <a:lstStyle/>
          <a:p>
            <a:pPr algn="l">
              <a:lnSpc>
                <a:spcPct val="105000"/>
              </a:lnSpc>
            </a:pPr>
            <a:r>
              <a:rPr sz="1600" b="1" i="0">
                <a:solidFill>
                  <a:srgbClr val="0B2E2C"/>
                </a:solidFill>
                <a:latin typeface="Arial"/>
              </a:rPr>
              <a:t>Relación con IBK</a:t>
            </a:r>
          </a:p>
        </p:txBody>
      </p:sp>
      <p:sp>
        <p:nvSpPr>
          <p:cNvPr id="29" name="Rectangle 28"/>
          <p:cNvSpPr/>
          <p:nvPr/>
        </p:nvSpPr>
        <p:spPr>
          <a:xfrm>
            <a:off x="3847392" y="2852928"/>
            <a:ext cx="1143000" cy="23774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lnSpc>
                <a:spcPct val="100000"/>
              </a:lnSpc>
            </a:pPr>
            <a:r>
              <a:rPr sz="1100" b="1" i="0">
                <a:solidFill>
                  <a:srgbClr val="13807B"/>
                </a:solidFill>
                <a:latin typeface="Arial"/>
              </a:rPr>
              <a:t>13 variables</a:t>
            </a:r>
          </a:p>
        </p:txBody>
      </p:sp>
      <p:sp>
        <p:nvSpPr>
          <p:cNvPr id="30" name="Rectangle 29"/>
          <p:cNvSpPr/>
          <p:nvPr/>
        </p:nvSpPr>
        <p:spPr>
          <a:xfrm>
            <a:off x="3847392" y="3236976"/>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31" name="TextBox 30"/>
          <p:cNvSpPr txBox="1"/>
          <p:nvPr/>
        </p:nvSpPr>
        <p:spPr>
          <a:xfrm>
            <a:off x="3957120" y="3291840"/>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Deuda directa vigente IBK</a:t>
            </a:r>
          </a:p>
        </p:txBody>
      </p:sp>
      <p:sp>
        <p:nvSpPr>
          <p:cNvPr id="32" name="TextBox 31"/>
          <p:cNvSpPr txBox="1"/>
          <p:nvPr/>
        </p:nvSpPr>
        <p:spPr>
          <a:xfrm>
            <a:off x="3957120" y="3529584"/>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33" name="Rectangle 32"/>
          <p:cNvSpPr/>
          <p:nvPr/>
        </p:nvSpPr>
        <p:spPr>
          <a:xfrm>
            <a:off x="3847392" y="3794760"/>
            <a:ext cx="2512368" cy="4937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34" name="Rectangle 33"/>
          <p:cNvSpPr/>
          <p:nvPr/>
        </p:nvSpPr>
        <p:spPr>
          <a:xfrm>
            <a:off x="3847392" y="3794760"/>
            <a:ext cx="41148" cy="4937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35" name="TextBox 34"/>
          <p:cNvSpPr txBox="1"/>
          <p:nvPr/>
        </p:nvSpPr>
        <p:spPr>
          <a:xfrm>
            <a:off x="3957120" y="3849624"/>
            <a:ext cx="2329488" cy="165430"/>
          </a:xfrm>
          <a:prstGeom prst="rect">
            <a:avLst/>
          </a:prstGeom>
          <a:noFill/>
        </p:spPr>
        <p:txBody>
          <a:bodyPr wrap="square" lIns="0" tIns="0" rIns="0" bIns="0" anchor="t">
            <a:spAutoFit/>
          </a:bodyPr>
          <a:lstStyle/>
          <a:p>
            <a:pPr algn="l">
              <a:lnSpc>
                <a:spcPct val="105000"/>
              </a:lnSpc>
            </a:pPr>
            <a:r>
              <a:rPr sz="1100" b="1" i="0">
                <a:solidFill>
                  <a:srgbClr val="0C514E"/>
                </a:solidFill>
                <a:latin typeface="Arial"/>
              </a:rPr>
              <a:t>Pasivos promedio</a:t>
            </a:r>
          </a:p>
        </p:txBody>
      </p:sp>
      <p:sp>
        <p:nvSpPr>
          <p:cNvPr id="36" name="TextBox 35"/>
          <p:cNvSpPr txBox="1"/>
          <p:nvPr/>
        </p:nvSpPr>
        <p:spPr>
          <a:xfrm>
            <a:off x="3957120" y="4087368"/>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37" name="Rectangle 36"/>
          <p:cNvSpPr/>
          <p:nvPr/>
        </p:nvSpPr>
        <p:spPr>
          <a:xfrm>
            <a:off x="3847392" y="4352544"/>
            <a:ext cx="2512368" cy="4937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38" name="Rectangle 37"/>
          <p:cNvSpPr/>
          <p:nvPr/>
        </p:nvSpPr>
        <p:spPr>
          <a:xfrm>
            <a:off x="3847392" y="4352544"/>
            <a:ext cx="41148" cy="4937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39" name="TextBox 38"/>
          <p:cNvSpPr txBox="1"/>
          <p:nvPr/>
        </p:nvSpPr>
        <p:spPr>
          <a:xfrm>
            <a:off x="3957120" y="4407408"/>
            <a:ext cx="2329488" cy="165430"/>
          </a:xfrm>
          <a:prstGeom prst="rect">
            <a:avLst/>
          </a:prstGeom>
          <a:noFill/>
        </p:spPr>
        <p:txBody>
          <a:bodyPr wrap="square" lIns="0" tIns="0" rIns="0" bIns="0" anchor="t">
            <a:spAutoFit/>
          </a:bodyPr>
          <a:lstStyle/>
          <a:p>
            <a:pPr algn="l">
              <a:lnSpc>
                <a:spcPct val="105000"/>
              </a:lnSpc>
            </a:pPr>
            <a:r>
              <a:rPr sz="1100" b="1" i="0">
                <a:solidFill>
                  <a:srgbClr val="0C514E"/>
                </a:solidFill>
                <a:latin typeface="Arial"/>
              </a:rPr>
              <a:t>UAI (suma y promedio)</a:t>
            </a:r>
          </a:p>
        </p:txBody>
      </p:sp>
      <p:sp>
        <p:nvSpPr>
          <p:cNvPr id="40" name="TextBox 39"/>
          <p:cNvSpPr txBox="1"/>
          <p:nvPr/>
        </p:nvSpPr>
        <p:spPr>
          <a:xfrm>
            <a:off x="3957120" y="4645152"/>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u12m</a:t>
            </a:r>
          </a:p>
        </p:txBody>
      </p:sp>
      <p:sp>
        <p:nvSpPr>
          <p:cNvPr id="41" name="Rectangle 40"/>
          <p:cNvSpPr/>
          <p:nvPr/>
        </p:nvSpPr>
        <p:spPr>
          <a:xfrm>
            <a:off x="3847392" y="4910328"/>
            <a:ext cx="2512368" cy="36576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42" name="TextBox 41"/>
          <p:cNvSpPr txBox="1"/>
          <p:nvPr/>
        </p:nvSpPr>
        <p:spPr>
          <a:xfrm>
            <a:off x="3957120" y="4965192"/>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Flag retanqueo</a:t>
            </a:r>
          </a:p>
        </p:txBody>
      </p:sp>
      <p:sp>
        <p:nvSpPr>
          <p:cNvPr id="43" name="Rectangle 42"/>
          <p:cNvSpPr/>
          <p:nvPr/>
        </p:nvSpPr>
        <p:spPr>
          <a:xfrm>
            <a:off x="3847392" y="5340096"/>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44" name="TextBox 43"/>
          <p:cNvSpPr txBox="1"/>
          <p:nvPr/>
        </p:nvSpPr>
        <p:spPr>
          <a:xfrm>
            <a:off x="3957120" y="5394960"/>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N° créditos previos</a:t>
            </a:r>
          </a:p>
        </p:txBody>
      </p:sp>
      <p:sp>
        <p:nvSpPr>
          <p:cNvPr id="45" name="TextBox 44"/>
          <p:cNvSpPr txBox="1"/>
          <p:nvPr/>
        </p:nvSpPr>
        <p:spPr>
          <a:xfrm>
            <a:off x="3957120" y="5632704"/>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u12m</a:t>
            </a:r>
          </a:p>
        </p:txBody>
      </p:sp>
      <p:sp>
        <p:nvSpPr>
          <p:cNvPr id="46" name="Rectangle 45"/>
          <p:cNvSpPr/>
          <p:nvPr/>
        </p:nvSpPr>
        <p:spPr>
          <a:xfrm>
            <a:off x="3847392" y="5897880"/>
            <a:ext cx="2512368" cy="49377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47" name="TextBox 46"/>
          <p:cNvSpPr txBox="1"/>
          <p:nvPr/>
        </p:nvSpPr>
        <p:spPr>
          <a:xfrm>
            <a:off x="3957120" y="5952744"/>
            <a:ext cx="2329488" cy="165430"/>
          </a:xfrm>
          <a:prstGeom prst="rect">
            <a:avLst/>
          </a:prstGeom>
          <a:noFill/>
        </p:spPr>
        <p:txBody>
          <a:bodyPr wrap="square" lIns="0" tIns="0" rIns="0" bIns="0" anchor="t">
            <a:spAutoFit/>
          </a:bodyPr>
          <a:lstStyle/>
          <a:p>
            <a:pPr algn="l">
              <a:lnSpc>
                <a:spcPct val="105000"/>
              </a:lnSpc>
            </a:pPr>
            <a:r>
              <a:rPr sz="1100" b="0" i="0">
                <a:solidFill>
                  <a:srgbClr val="9AA8A7"/>
                </a:solidFill>
                <a:latin typeface="Arial"/>
              </a:rPr>
              <a:t>Saldo prom. créditos</a:t>
            </a:r>
          </a:p>
        </p:txBody>
      </p:sp>
      <p:sp>
        <p:nvSpPr>
          <p:cNvPr id="48" name="TextBox 47"/>
          <p:cNvSpPr txBox="1"/>
          <p:nvPr/>
        </p:nvSpPr>
        <p:spPr>
          <a:xfrm>
            <a:off x="3957120" y="6190488"/>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49" name="Rectangle 48"/>
          <p:cNvSpPr/>
          <p:nvPr/>
        </p:nvSpPr>
        <p:spPr>
          <a:xfrm>
            <a:off x="6707233" y="2286000"/>
            <a:ext cx="2841552" cy="4389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50" name="Rectangle 49"/>
          <p:cNvSpPr/>
          <p:nvPr/>
        </p:nvSpPr>
        <p:spPr>
          <a:xfrm>
            <a:off x="6707233" y="2286000"/>
            <a:ext cx="2841552" cy="457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51" name="TextBox 50"/>
          <p:cNvSpPr txBox="1"/>
          <p:nvPr/>
        </p:nvSpPr>
        <p:spPr>
          <a:xfrm>
            <a:off x="6871825" y="2432304"/>
            <a:ext cx="2512368" cy="240579"/>
          </a:xfrm>
          <a:prstGeom prst="rect">
            <a:avLst/>
          </a:prstGeom>
          <a:noFill/>
        </p:spPr>
        <p:txBody>
          <a:bodyPr wrap="square" lIns="0" tIns="0" rIns="0" bIns="0" anchor="t">
            <a:spAutoFit/>
          </a:bodyPr>
          <a:lstStyle/>
          <a:p>
            <a:pPr algn="l">
              <a:lnSpc>
                <a:spcPct val="105000"/>
              </a:lnSpc>
            </a:pPr>
            <a:r>
              <a:rPr sz="1600" b="1" i="0">
                <a:solidFill>
                  <a:srgbClr val="0B2E2C"/>
                </a:solidFill>
                <a:latin typeface="Arial"/>
              </a:rPr>
              <a:t>Comportamiento externo</a:t>
            </a:r>
          </a:p>
        </p:txBody>
      </p:sp>
      <p:sp>
        <p:nvSpPr>
          <p:cNvPr id="52" name="Rectangle 51"/>
          <p:cNvSpPr/>
          <p:nvPr/>
        </p:nvSpPr>
        <p:spPr>
          <a:xfrm>
            <a:off x="6871825" y="2852928"/>
            <a:ext cx="1143000" cy="23774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lnSpc>
                <a:spcPct val="100000"/>
              </a:lnSpc>
            </a:pPr>
            <a:r>
              <a:rPr sz="1100" b="1" i="0">
                <a:solidFill>
                  <a:srgbClr val="C87A0B"/>
                </a:solidFill>
                <a:latin typeface="Arial"/>
              </a:rPr>
              <a:t>18 variables</a:t>
            </a:r>
          </a:p>
        </p:txBody>
      </p:sp>
      <p:sp>
        <p:nvSpPr>
          <p:cNvPr id="53" name="Rectangle 52"/>
          <p:cNvSpPr/>
          <p:nvPr/>
        </p:nvSpPr>
        <p:spPr>
          <a:xfrm>
            <a:off x="6871825" y="3236976"/>
            <a:ext cx="2512368" cy="49377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54" name="Rectangle 53"/>
          <p:cNvSpPr/>
          <p:nvPr/>
        </p:nvSpPr>
        <p:spPr>
          <a:xfrm>
            <a:off x="6871825" y="3236976"/>
            <a:ext cx="41148" cy="493776"/>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55" name="TextBox 54"/>
          <p:cNvSpPr txBox="1"/>
          <p:nvPr/>
        </p:nvSpPr>
        <p:spPr>
          <a:xfrm>
            <a:off x="6981553" y="3291840"/>
            <a:ext cx="2329488" cy="165430"/>
          </a:xfrm>
          <a:prstGeom prst="rect">
            <a:avLst/>
          </a:prstGeom>
          <a:noFill/>
        </p:spPr>
        <p:txBody>
          <a:bodyPr wrap="square" lIns="0" tIns="0" rIns="0" bIns="0" anchor="t">
            <a:spAutoFit/>
          </a:bodyPr>
          <a:lstStyle/>
          <a:p>
            <a:pPr algn="l">
              <a:lnSpc>
                <a:spcPct val="105000"/>
              </a:lnSpc>
            </a:pPr>
            <a:r>
              <a:rPr sz="1100" b="1" i="0">
                <a:solidFill>
                  <a:srgbClr val="0C514E"/>
                </a:solidFill>
                <a:latin typeface="Arial"/>
              </a:rPr>
              <a:t>Deuda directa total SF</a:t>
            </a:r>
          </a:p>
        </p:txBody>
      </p:sp>
      <p:sp>
        <p:nvSpPr>
          <p:cNvPr id="56" name="TextBox 55"/>
          <p:cNvSpPr txBox="1"/>
          <p:nvPr/>
        </p:nvSpPr>
        <p:spPr>
          <a:xfrm>
            <a:off x="6981553" y="3529584"/>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57" name="Rectangle 56"/>
          <p:cNvSpPr/>
          <p:nvPr/>
        </p:nvSpPr>
        <p:spPr>
          <a:xfrm>
            <a:off x="6871825" y="3794760"/>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58" name="TextBox 57"/>
          <p:cNvSpPr txBox="1"/>
          <p:nvPr/>
        </p:nvSpPr>
        <p:spPr>
          <a:xfrm>
            <a:off x="6981553" y="3849624"/>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SoW de deuda</a:t>
            </a:r>
          </a:p>
        </p:txBody>
      </p:sp>
      <p:sp>
        <p:nvSpPr>
          <p:cNvPr id="59" name="TextBox 58"/>
          <p:cNvSpPr txBox="1"/>
          <p:nvPr/>
        </p:nvSpPr>
        <p:spPr>
          <a:xfrm>
            <a:off x="6981553" y="4087368"/>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60" name="Rectangle 59"/>
          <p:cNvSpPr/>
          <p:nvPr/>
        </p:nvSpPr>
        <p:spPr>
          <a:xfrm>
            <a:off x="6871825" y="4352544"/>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61" name="TextBox 60"/>
          <p:cNvSpPr txBox="1"/>
          <p:nvPr/>
        </p:nvSpPr>
        <p:spPr>
          <a:xfrm>
            <a:off x="6981553" y="4407408"/>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Rango SoW (alto/medio/bajo/nulo)</a:t>
            </a:r>
          </a:p>
        </p:txBody>
      </p:sp>
      <p:sp>
        <p:nvSpPr>
          <p:cNvPr id="62" name="TextBox 61"/>
          <p:cNvSpPr txBox="1"/>
          <p:nvPr/>
        </p:nvSpPr>
        <p:spPr>
          <a:xfrm>
            <a:off x="6981553" y="4645152"/>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×3 ventanas</a:t>
            </a:r>
          </a:p>
        </p:txBody>
      </p:sp>
      <p:sp>
        <p:nvSpPr>
          <p:cNvPr id="63" name="Rectangle 62"/>
          <p:cNvSpPr/>
          <p:nvPr/>
        </p:nvSpPr>
        <p:spPr>
          <a:xfrm>
            <a:off x="9731666" y="2286000"/>
            <a:ext cx="2841552" cy="4389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64" name="Rectangle 63"/>
          <p:cNvSpPr/>
          <p:nvPr/>
        </p:nvSpPr>
        <p:spPr>
          <a:xfrm>
            <a:off x="9731666" y="2286000"/>
            <a:ext cx="2841552" cy="45720"/>
          </a:xfrm>
          <a:prstGeom prst="rect">
            <a:avLst/>
          </a:prstGeom>
          <a:solidFill>
            <a:srgbClr val="C04B4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65" name="TextBox 64"/>
          <p:cNvSpPr txBox="1"/>
          <p:nvPr/>
        </p:nvSpPr>
        <p:spPr>
          <a:xfrm>
            <a:off x="9896258" y="2432304"/>
            <a:ext cx="2512368" cy="240579"/>
          </a:xfrm>
          <a:prstGeom prst="rect">
            <a:avLst/>
          </a:prstGeom>
          <a:noFill/>
        </p:spPr>
        <p:txBody>
          <a:bodyPr wrap="square" lIns="0" tIns="0" rIns="0" bIns="0" anchor="t">
            <a:spAutoFit/>
          </a:bodyPr>
          <a:lstStyle/>
          <a:p>
            <a:pPr algn="l">
              <a:lnSpc>
                <a:spcPct val="105000"/>
              </a:lnSpc>
            </a:pPr>
            <a:r>
              <a:rPr sz="1600" b="1" i="0">
                <a:solidFill>
                  <a:srgbClr val="0B2E2C"/>
                </a:solidFill>
                <a:latin typeface="Arial"/>
              </a:rPr>
              <a:t>Transaccionalidad</a:t>
            </a:r>
          </a:p>
        </p:txBody>
      </p:sp>
      <p:sp>
        <p:nvSpPr>
          <p:cNvPr id="66" name="Rectangle 65"/>
          <p:cNvSpPr/>
          <p:nvPr/>
        </p:nvSpPr>
        <p:spPr>
          <a:xfrm>
            <a:off x="9896258" y="2852928"/>
            <a:ext cx="1143000" cy="23774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lnSpc>
                <a:spcPct val="100000"/>
              </a:lnSpc>
            </a:pPr>
            <a:r>
              <a:rPr sz="1100" b="1" i="0">
                <a:solidFill>
                  <a:srgbClr val="C04B4B"/>
                </a:solidFill>
                <a:latin typeface="Arial"/>
              </a:rPr>
              <a:t>7 variables</a:t>
            </a:r>
          </a:p>
        </p:txBody>
      </p:sp>
      <p:sp>
        <p:nvSpPr>
          <p:cNvPr id="67" name="Rectangle 66"/>
          <p:cNvSpPr/>
          <p:nvPr/>
        </p:nvSpPr>
        <p:spPr>
          <a:xfrm>
            <a:off x="9896258" y="3236976"/>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68" name="TextBox 67"/>
          <p:cNvSpPr txBox="1"/>
          <p:nvPr/>
        </p:nvSpPr>
        <p:spPr>
          <a:xfrm>
            <a:off x="10005986" y="3291840"/>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Flag Izipay</a:t>
            </a:r>
          </a:p>
        </p:txBody>
      </p:sp>
      <p:sp>
        <p:nvSpPr>
          <p:cNvPr id="69" name="TextBox 68"/>
          <p:cNvSpPr txBox="1"/>
          <p:nvPr/>
        </p:nvSpPr>
        <p:spPr>
          <a:xfrm>
            <a:off x="10005986" y="3529584"/>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70" name="Rectangle 69"/>
          <p:cNvSpPr/>
          <p:nvPr/>
        </p:nvSpPr>
        <p:spPr>
          <a:xfrm>
            <a:off x="9896258" y="3794760"/>
            <a:ext cx="2512368" cy="493776"/>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71" name="TextBox 70"/>
          <p:cNvSpPr txBox="1"/>
          <p:nvPr/>
        </p:nvSpPr>
        <p:spPr>
          <a:xfrm>
            <a:off x="10005986" y="3849624"/>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Volumen Izipay</a:t>
            </a:r>
          </a:p>
        </p:txBody>
      </p:sp>
      <p:sp>
        <p:nvSpPr>
          <p:cNvPr id="72" name="TextBox 71"/>
          <p:cNvSpPr txBox="1"/>
          <p:nvPr/>
        </p:nvSpPr>
        <p:spPr>
          <a:xfrm>
            <a:off x="10005986" y="4087368"/>
            <a:ext cx="2329488" cy="161583"/>
          </a:xfrm>
          <a:prstGeom prst="rect">
            <a:avLst/>
          </a:prstGeom>
          <a:noFill/>
        </p:spPr>
        <p:txBody>
          <a:bodyPr wrap="square" lIns="0" tIns="0" rIns="0" bIns="0" anchor="t">
            <a:spAutoFit/>
          </a:bodyPr>
          <a:lstStyle/>
          <a:p>
            <a:pPr algn="l">
              <a:lnSpc>
                <a:spcPct val="100000"/>
              </a:lnSpc>
            </a:pPr>
            <a:r>
              <a:rPr sz="1050" b="0" i="0">
                <a:solidFill>
                  <a:srgbClr val="9AA8A7"/>
                </a:solidFill>
                <a:latin typeface="Arial"/>
              </a:rPr>
              <a:t>u3m · u6m · u12m</a:t>
            </a:r>
          </a:p>
        </p:txBody>
      </p:sp>
      <p:sp>
        <p:nvSpPr>
          <p:cNvPr id="73" name="Rectangle 72"/>
          <p:cNvSpPr/>
          <p:nvPr/>
        </p:nvSpPr>
        <p:spPr>
          <a:xfrm>
            <a:off x="9896258" y="4352544"/>
            <a:ext cx="2512368" cy="36576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74" name="TextBox 73"/>
          <p:cNvSpPr txBox="1"/>
          <p:nvPr/>
        </p:nvSpPr>
        <p:spPr>
          <a:xfrm>
            <a:off x="10005986" y="4407408"/>
            <a:ext cx="2329488" cy="165430"/>
          </a:xfrm>
          <a:prstGeom prst="rect">
            <a:avLst/>
          </a:prstGeom>
          <a:noFill/>
        </p:spPr>
        <p:txBody>
          <a:bodyPr wrap="square" lIns="0" tIns="0" rIns="0" bIns="0" anchor="t">
            <a:spAutoFit/>
          </a:bodyPr>
          <a:lstStyle/>
          <a:p>
            <a:pPr algn="l">
              <a:lnSpc>
                <a:spcPct val="105000"/>
              </a:lnSpc>
            </a:pPr>
            <a:r>
              <a:rPr sz="1100" b="0" i="0">
                <a:solidFill>
                  <a:srgbClr val="3E5553"/>
                </a:solidFill>
                <a:latin typeface="Arial"/>
              </a:rPr>
              <a:t>Flag cliente Izipay</a:t>
            </a:r>
          </a:p>
        </p:txBody>
      </p:sp>
      <p:sp>
        <p:nvSpPr>
          <p:cNvPr id="75" name="Rectangle 74"/>
          <p:cNvSpPr/>
          <p:nvPr/>
        </p:nvSpPr>
        <p:spPr>
          <a:xfrm>
            <a:off x="12756099" y="2286000"/>
            <a:ext cx="2841552" cy="43891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76" name="Rectangle 75"/>
          <p:cNvSpPr/>
          <p:nvPr/>
        </p:nvSpPr>
        <p:spPr>
          <a:xfrm>
            <a:off x="12756099" y="2286000"/>
            <a:ext cx="2841552" cy="45720"/>
          </a:xfrm>
          <a:prstGeom prst="rect">
            <a:avLst/>
          </a:prstGeom>
          <a:solidFill>
            <a:srgbClr val="0C51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77" name="TextBox 76"/>
          <p:cNvSpPr txBox="1"/>
          <p:nvPr/>
        </p:nvSpPr>
        <p:spPr>
          <a:xfrm>
            <a:off x="12920691" y="2432304"/>
            <a:ext cx="2512368" cy="240579"/>
          </a:xfrm>
          <a:prstGeom prst="rect">
            <a:avLst/>
          </a:prstGeom>
          <a:noFill/>
        </p:spPr>
        <p:txBody>
          <a:bodyPr wrap="square" lIns="0" tIns="0" rIns="0" bIns="0" anchor="t">
            <a:spAutoFit/>
          </a:bodyPr>
          <a:lstStyle/>
          <a:p>
            <a:pPr algn="l">
              <a:lnSpc>
                <a:spcPct val="105000"/>
              </a:lnSpc>
            </a:pPr>
            <a:r>
              <a:rPr sz="1600" b="1" i="0">
                <a:solidFill>
                  <a:srgbClr val="0B2E2C"/>
                </a:solidFill>
                <a:latin typeface="Arial"/>
              </a:rPr>
              <a:t>Operación</a:t>
            </a:r>
          </a:p>
        </p:txBody>
      </p:sp>
      <p:sp>
        <p:nvSpPr>
          <p:cNvPr id="78" name="Rectangle 77"/>
          <p:cNvSpPr/>
          <p:nvPr/>
        </p:nvSpPr>
        <p:spPr>
          <a:xfrm>
            <a:off x="12920691" y="2852928"/>
            <a:ext cx="1143000" cy="237744"/>
          </a:xfrm>
          <a:prstGeom prst="rect">
            <a:avLst/>
          </a:prstGeom>
          <a:solidFill>
            <a:srgbClr val="F6FBFA"/>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27432" rIns="36576" bIns="27432" rtlCol="0" anchor="ctr"/>
          <a:lstStyle/>
          <a:p>
            <a:pPr algn="ctr">
              <a:lnSpc>
                <a:spcPct val="100000"/>
              </a:lnSpc>
            </a:pPr>
            <a:r>
              <a:rPr sz="1100" b="1" i="0">
                <a:solidFill>
                  <a:srgbClr val="0C514E"/>
                </a:solidFill>
                <a:latin typeface="Arial"/>
              </a:rPr>
              <a:t>2 variables</a:t>
            </a:r>
          </a:p>
        </p:txBody>
      </p:sp>
      <p:sp>
        <p:nvSpPr>
          <p:cNvPr id="79" name="Rectangle 78"/>
          <p:cNvSpPr/>
          <p:nvPr/>
        </p:nvSpPr>
        <p:spPr>
          <a:xfrm>
            <a:off x="12920691" y="3236976"/>
            <a:ext cx="2512368" cy="36576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80" name="Rectangle 79"/>
          <p:cNvSpPr/>
          <p:nvPr/>
        </p:nvSpPr>
        <p:spPr>
          <a:xfrm>
            <a:off x="12920691" y="3236976"/>
            <a:ext cx="41148" cy="36576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81" name="TextBox 80"/>
          <p:cNvSpPr txBox="1"/>
          <p:nvPr/>
        </p:nvSpPr>
        <p:spPr>
          <a:xfrm>
            <a:off x="13030419" y="3291840"/>
            <a:ext cx="2329488" cy="165430"/>
          </a:xfrm>
          <a:prstGeom prst="rect">
            <a:avLst/>
          </a:prstGeom>
          <a:noFill/>
        </p:spPr>
        <p:txBody>
          <a:bodyPr wrap="square" lIns="0" tIns="0" rIns="0" bIns="0" anchor="t">
            <a:spAutoFit/>
          </a:bodyPr>
          <a:lstStyle/>
          <a:p>
            <a:pPr algn="l">
              <a:lnSpc>
                <a:spcPct val="105000"/>
              </a:lnSpc>
            </a:pPr>
            <a:r>
              <a:rPr sz="1100" b="1" i="0">
                <a:solidFill>
                  <a:srgbClr val="0C514E"/>
                </a:solidFill>
                <a:latin typeface="Arial"/>
              </a:rPr>
              <a:t>Monto mínimo ofertado</a:t>
            </a:r>
          </a:p>
        </p:txBody>
      </p:sp>
      <p:sp>
        <p:nvSpPr>
          <p:cNvPr id="82" name="Rectangle 81"/>
          <p:cNvSpPr/>
          <p:nvPr/>
        </p:nvSpPr>
        <p:spPr>
          <a:xfrm>
            <a:off x="12920691" y="3666744"/>
            <a:ext cx="2512368" cy="365760"/>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83" name="TextBox 82"/>
          <p:cNvSpPr txBox="1"/>
          <p:nvPr/>
        </p:nvSpPr>
        <p:spPr>
          <a:xfrm>
            <a:off x="13030419" y="3721607"/>
            <a:ext cx="2329488" cy="165430"/>
          </a:xfrm>
          <a:prstGeom prst="rect">
            <a:avLst/>
          </a:prstGeom>
          <a:noFill/>
        </p:spPr>
        <p:txBody>
          <a:bodyPr wrap="square" lIns="0" tIns="0" rIns="0" bIns="0" anchor="t">
            <a:spAutoFit/>
          </a:bodyPr>
          <a:lstStyle/>
          <a:p>
            <a:pPr algn="l">
              <a:lnSpc>
                <a:spcPct val="105000"/>
              </a:lnSpc>
            </a:pPr>
            <a:r>
              <a:rPr sz="1100" b="0" i="0">
                <a:solidFill>
                  <a:srgbClr val="9AA8A7"/>
                </a:solidFill>
                <a:latin typeface="Arial"/>
              </a:rPr>
              <a:t>Monto desembolsado</a:t>
            </a:r>
          </a:p>
        </p:txBody>
      </p:sp>
      <p:sp>
        <p:nvSpPr>
          <p:cNvPr id="84" name="Rectangle 83"/>
          <p:cNvSpPr/>
          <p:nvPr/>
        </p:nvSpPr>
        <p:spPr>
          <a:xfrm>
            <a:off x="658368" y="6848856"/>
            <a:ext cx="182880" cy="182880"/>
          </a:xfrm>
          <a:prstGeom prst="rect">
            <a:avLst/>
          </a:prstGeom>
          <a:solidFill>
            <a:srgbClr val="ECF6F5"/>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85" name="TextBox 84"/>
          <p:cNvSpPr txBox="1"/>
          <p:nvPr/>
        </p:nvSpPr>
        <p:spPr>
          <a:xfrm>
            <a:off x="932688" y="6821424"/>
            <a:ext cx="4663440" cy="169277"/>
          </a:xfrm>
          <a:prstGeom prst="rect">
            <a:avLst/>
          </a:prstGeom>
          <a:noFill/>
        </p:spPr>
        <p:txBody>
          <a:bodyPr wrap="square" lIns="0" tIns="0" rIns="0" bIns="0" anchor="t">
            <a:spAutoFit/>
          </a:bodyPr>
          <a:lstStyle/>
          <a:p>
            <a:pPr algn="l">
              <a:lnSpc>
                <a:spcPct val="100000"/>
              </a:lnSpc>
            </a:pPr>
            <a:r>
              <a:rPr sz="1100" b="0" i="0">
                <a:solidFill>
                  <a:srgbClr val="6E7E7D"/>
                </a:solidFill>
                <a:latin typeface="Arial"/>
              </a:rPr>
              <a:t>En el árbol final (UAI, ventas, monto, deuda SF, pasivos)</a:t>
            </a:r>
          </a:p>
        </p:txBody>
      </p:sp>
      <p:sp>
        <p:nvSpPr>
          <p:cNvPr id="86" name="Rectangle 85"/>
          <p:cNvSpPr/>
          <p:nvPr/>
        </p:nvSpPr>
        <p:spPr>
          <a:xfrm>
            <a:off x="5687568" y="6848856"/>
            <a:ext cx="182880" cy="182880"/>
          </a:xfrm>
          <a:prstGeom prst="rect">
            <a:avLst/>
          </a:prstGeom>
          <a:solidFill>
            <a:srgbClr val="F8FAFA"/>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87" name="TextBox 86"/>
          <p:cNvSpPr txBox="1"/>
          <p:nvPr/>
        </p:nvSpPr>
        <p:spPr>
          <a:xfrm>
            <a:off x="5961888" y="6821424"/>
            <a:ext cx="4663440" cy="169277"/>
          </a:xfrm>
          <a:prstGeom prst="rect">
            <a:avLst/>
          </a:prstGeom>
          <a:noFill/>
        </p:spPr>
        <p:txBody>
          <a:bodyPr wrap="square" lIns="0" tIns="0" rIns="0" bIns="0" anchor="t">
            <a:spAutoFit/>
          </a:bodyPr>
          <a:lstStyle/>
          <a:p>
            <a:pPr algn="l">
              <a:lnSpc>
                <a:spcPct val="100000"/>
              </a:lnSpc>
            </a:pPr>
            <a:r>
              <a:rPr sz="1100" b="0" i="0">
                <a:solidFill>
                  <a:srgbClr val="6E7E7D"/>
                </a:solidFill>
                <a:latin typeface="Arial"/>
              </a:rPr>
              <a:t>Probada — aporta al perfil, no al corte</a:t>
            </a:r>
          </a:p>
        </p:txBody>
      </p:sp>
      <p:sp>
        <p:nvSpPr>
          <p:cNvPr id="88" name="Rectangle 87"/>
          <p:cNvSpPr/>
          <p:nvPr/>
        </p:nvSpPr>
        <p:spPr>
          <a:xfrm>
            <a:off x="10716768" y="6848856"/>
            <a:ext cx="182880" cy="182880"/>
          </a:xfrm>
          <a:prstGeom prst="rect">
            <a:avLst/>
          </a:prstGeom>
          <a:solidFill>
            <a:srgbClr val="F1F3F3"/>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3200"/>
          </a:p>
        </p:txBody>
      </p:sp>
      <p:sp>
        <p:nvSpPr>
          <p:cNvPr id="89" name="TextBox 88"/>
          <p:cNvSpPr txBox="1"/>
          <p:nvPr/>
        </p:nvSpPr>
        <p:spPr>
          <a:xfrm>
            <a:off x="10991088" y="6821424"/>
            <a:ext cx="4663440" cy="169277"/>
          </a:xfrm>
          <a:prstGeom prst="rect">
            <a:avLst/>
          </a:prstGeom>
          <a:noFill/>
        </p:spPr>
        <p:txBody>
          <a:bodyPr wrap="square" lIns="0" tIns="0" rIns="0" bIns="0" anchor="t">
            <a:spAutoFit/>
          </a:bodyPr>
          <a:lstStyle/>
          <a:p>
            <a:pPr algn="l">
              <a:lnSpc>
                <a:spcPct val="100000"/>
              </a:lnSpc>
            </a:pPr>
            <a:r>
              <a:rPr sz="1100" b="0" i="0">
                <a:solidFill>
                  <a:srgbClr val="6E7E7D"/>
                </a:solidFill>
                <a:latin typeface="Arial"/>
              </a:rPr>
              <a:t>Descartada por correlación</a:t>
            </a:r>
          </a:p>
        </p:txBody>
      </p:sp>
      <p:sp>
        <p:nvSpPr>
          <p:cNvPr id="92" name="TextBox 91"/>
          <p:cNvSpPr txBox="1"/>
          <p:nvPr/>
        </p:nvSpPr>
        <p:spPr>
          <a:xfrm>
            <a:off x="709775" y="7295838"/>
            <a:ext cx="14610100" cy="422680"/>
          </a:xfrm>
          <a:prstGeom prst="rect">
            <a:avLst/>
          </a:prstGeom>
          <a:noFill/>
        </p:spPr>
        <p:txBody>
          <a:bodyPr wrap="square" lIns="0" tIns="0" rIns="0" bIns="0" anchor="ctr">
            <a:spAutoFit/>
          </a:bodyPr>
          <a:lstStyle/>
          <a:p>
            <a:pPr algn="l">
              <a:lnSpc>
                <a:spcPct val="112000"/>
              </a:lnSpc>
              <a:spcAft>
                <a:spcPts val="200"/>
              </a:spcAft>
            </a:pPr>
            <a:r>
              <a:rPr sz="1200" b="1" i="0">
                <a:solidFill>
                  <a:srgbClr val="C87A0B"/>
                </a:solidFill>
                <a:latin typeface="Arial"/>
              </a:rPr>
              <a:t>Sector y </a:t>
            </a:r>
            <a:r>
              <a:rPr sz="1200" b="1" i="0" err="1">
                <a:solidFill>
                  <a:srgbClr val="C87A0B"/>
                </a:solidFill>
                <a:latin typeface="Arial"/>
              </a:rPr>
              <a:t>geografía</a:t>
            </a:r>
            <a:endParaRPr sz="1200" b="1" i="0">
              <a:solidFill>
                <a:srgbClr val="C87A0B"/>
              </a:solidFill>
              <a:latin typeface="Arial"/>
            </a:endParaRPr>
          </a:p>
          <a:p>
            <a:pPr algn="l">
              <a:lnSpc>
                <a:spcPct val="112000"/>
              </a:lnSpc>
              <a:spcAft>
                <a:spcPts val="200"/>
              </a:spcAft>
            </a:pPr>
            <a:r>
              <a:rPr sz="1200" b="0" i="0">
                <a:solidFill>
                  <a:srgbClr val="3E5553"/>
                </a:solidFill>
                <a:latin typeface="Arial"/>
              </a:rPr>
              <a:t>Sector y </a:t>
            </a:r>
            <a:r>
              <a:rPr sz="1200" b="0" i="0" err="1">
                <a:solidFill>
                  <a:srgbClr val="3E5553"/>
                </a:solidFill>
                <a:latin typeface="Arial"/>
              </a:rPr>
              <a:t>departamento</a:t>
            </a:r>
            <a:r>
              <a:rPr sz="1200" b="0" i="0">
                <a:solidFill>
                  <a:srgbClr val="3E5553"/>
                </a:solidFill>
                <a:latin typeface="Arial"/>
              </a:rPr>
              <a:t> se </a:t>
            </a:r>
            <a:r>
              <a:rPr sz="1200" b="0" i="0" err="1">
                <a:solidFill>
                  <a:srgbClr val="3E5553"/>
                </a:solidFill>
                <a:latin typeface="Arial"/>
              </a:rPr>
              <a:t>probaron</a:t>
            </a:r>
            <a:r>
              <a:rPr sz="1200" b="0" i="0">
                <a:solidFill>
                  <a:srgbClr val="3E5553"/>
                </a:solidFill>
                <a:latin typeface="Arial"/>
              </a:rPr>
              <a:t> sin </a:t>
            </a:r>
            <a:r>
              <a:rPr sz="1200" b="0" i="0" err="1">
                <a:solidFill>
                  <a:srgbClr val="3E5553"/>
                </a:solidFill>
                <a:latin typeface="Arial"/>
              </a:rPr>
              <a:t>generar</a:t>
            </a:r>
            <a:r>
              <a:rPr sz="1200" b="0" i="0">
                <a:solidFill>
                  <a:srgbClr val="3E5553"/>
                </a:solidFill>
                <a:latin typeface="Arial"/>
              </a:rPr>
              <a:t> cortes </a:t>
            </a:r>
            <a:r>
              <a:rPr sz="1200" b="0" i="0" err="1">
                <a:solidFill>
                  <a:srgbClr val="3E5553"/>
                </a:solidFill>
                <a:latin typeface="Arial"/>
              </a:rPr>
              <a:t>estables</a:t>
            </a:r>
            <a:r>
              <a:rPr sz="1200" b="0" i="0">
                <a:solidFill>
                  <a:srgbClr val="3E5553"/>
                </a:solidFill>
                <a:latin typeface="Arial"/>
              </a:rPr>
              <a:t>; se </a:t>
            </a:r>
            <a:r>
              <a:rPr sz="1200" b="0" i="0" err="1">
                <a:solidFill>
                  <a:srgbClr val="3E5553"/>
                </a:solidFill>
                <a:latin typeface="Arial"/>
              </a:rPr>
              <a:t>observa</a:t>
            </a:r>
            <a:r>
              <a:rPr sz="1200" b="0" i="0">
                <a:solidFill>
                  <a:srgbClr val="3E5553"/>
                </a:solidFill>
                <a:latin typeface="Arial"/>
              </a:rPr>
              <a:t> </a:t>
            </a:r>
            <a:r>
              <a:rPr sz="1200" b="0" i="0" err="1">
                <a:solidFill>
                  <a:srgbClr val="3E5553"/>
                </a:solidFill>
                <a:latin typeface="Arial"/>
              </a:rPr>
              <a:t>concentración</a:t>
            </a:r>
            <a:r>
              <a:rPr sz="1200" b="0" i="0">
                <a:solidFill>
                  <a:srgbClr val="3E5553"/>
                </a:solidFill>
                <a:latin typeface="Arial"/>
              </a:rPr>
              <a:t> </a:t>
            </a:r>
            <a:r>
              <a:rPr sz="1200" b="0" i="0" err="1">
                <a:solidFill>
                  <a:srgbClr val="3E5553"/>
                </a:solidFill>
                <a:latin typeface="Arial"/>
              </a:rPr>
              <a:t>en</a:t>
            </a:r>
            <a:r>
              <a:rPr sz="1200" b="0" i="0">
                <a:solidFill>
                  <a:srgbClr val="3E5553"/>
                </a:solidFill>
                <a:latin typeface="Arial"/>
              </a:rPr>
              <a:t> Comercio, </a:t>
            </a:r>
            <a:r>
              <a:rPr sz="1200" b="0" i="0" err="1">
                <a:solidFill>
                  <a:srgbClr val="3E5553"/>
                </a:solidFill>
                <a:latin typeface="Arial"/>
              </a:rPr>
              <a:t>que</a:t>
            </a:r>
            <a:r>
              <a:rPr sz="1200" b="0" i="0">
                <a:solidFill>
                  <a:srgbClr val="3E5553"/>
                </a:solidFill>
                <a:latin typeface="Arial"/>
              </a:rPr>
              <a:t> se </a:t>
            </a:r>
            <a:r>
              <a:rPr sz="1200" b="0" i="0" err="1">
                <a:solidFill>
                  <a:srgbClr val="3E5553"/>
                </a:solidFill>
                <a:latin typeface="Arial"/>
              </a:rPr>
              <a:t>monitoreará</a:t>
            </a:r>
            <a:r>
              <a:rPr sz="1200" b="0" i="0">
                <a:solidFill>
                  <a:srgbClr val="3E5553"/>
                </a:solidFill>
                <a:latin typeface="Arial"/>
              </a:rPr>
              <a:t> </a:t>
            </a:r>
            <a:r>
              <a:rPr sz="1200" b="0" i="0" err="1">
                <a:solidFill>
                  <a:srgbClr val="3E5553"/>
                </a:solidFill>
                <a:latin typeface="Arial"/>
              </a:rPr>
              <a:t>como</a:t>
            </a:r>
            <a:r>
              <a:rPr sz="1200" b="0" i="0">
                <a:solidFill>
                  <a:srgbClr val="3E5553"/>
                </a:solidFill>
                <a:latin typeface="Arial"/>
              </a:rPr>
              <a:t> </a:t>
            </a:r>
            <a:r>
              <a:rPr sz="1200" b="0" i="0" err="1">
                <a:solidFill>
                  <a:srgbClr val="3E5553"/>
                </a:solidFill>
                <a:latin typeface="Arial"/>
              </a:rPr>
              <a:t>lectura</a:t>
            </a:r>
            <a:r>
              <a:rPr sz="1200" b="0" i="0">
                <a:solidFill>
                  <a:srgbClr val="3E5553"/>
                </a:solidFill>
                <a:latin typeface="Arial"/>
              </a:rPr>
              <a:t> transversal de los </a:t>
            </a:r>
            <a:r>
              <a:rPr sz="1200" b="0" i="0" err="1">
                <a:solidFill>
                  <a:srgbClr val="3E5553"/>
                </a:solidFill>
                <a:latin typeface="Arial"/>
              </a:rPr>
              <a:t>segmentos</a:t>
            </a:r>
            <a:r>
              <a:rPr sz="1200" b="0" i="0">
                <a:solidFill>
                  <a:srgbClr val="3E5553"/>
                </a:solidFill>
                <a:latin typeface="Arial"/>
              </a:rPr>
              <a:t>.</a:t>
            </a:r>
          </a:p>
        </p:txBody>
      </p:sp>
      <p:pic>
        <p:nvPicPr>
          <p:cNvPr id="90" name="Picture 89">
            <a:extLst>
              <a:ext uri="{FF2B5EF4-FFF2-40B4-BE49-F238E27FC236}">
                <a16:creationId xmlns:a16="http://schemas.microsoft.com/office/drawing/2014/main" id="{FD12E805-6F18-9AF0-3EC9-3887906BADFD}"/>
              </a:ext>
            </a:extLst>
          </p:cNvPr>
          <p:cNvPicPr>
            <a:picLocks noChangeAspect="1"/>
          </p:cNvPicPr>
          <p:nvPr/>
        </p:nvPicPr>
        <p:blipFill>
          <a:blip r:embed="rId3"/>
          <a:stretch>
            <a:fillRect/>
          </a:stretch>
        </p:blipFill>
        <p:spPr>
          <a:xfrm>
            <a:off x="14725019" y="109555"/>
            <a:ext cx="1272511" cy="7172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29184"/>
            <a:ext cx="11951427" cy="201168"/>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SEGMENTACIÓN ESTRATÉGICA · REGLAS DE ASIGNACIÓN</a:t>
            </a:r>
          </a:p>
        </p:txBody>
      </p:sp>
      <p:sp>
        <p:nvSpPr>
          <p:cNvPr id="3" name="TextBox 2"/>
          <p:cNvSpPr txBox="1"/>
          <p:nvPr/>
        </p:nvSpPr>
        <p:spPr>
          <a:xfrm>
            <a:off x="658368" y="566928"/>
            <a:ext cx="13750564" cy="731520"/>
          </a:xfrm>
          <a:prstGeom prst="rect">
            <a:avLst/>
          </a:prstGeom>
          <a:noFill/>
        </p:spPr>
        <p:txBody>
          <a:bodyPr wrap="square" lIns="0" tIns="0" rIns="0" bIns="0" anchor="t">
            <a:spAutoFit/>
          </a:bodyPr>
          <a:lstStyle/>
          <a:p>
            <a:pPr algn="l">
              <a:lnSpc>
                <a:spcPct val="98000"/>
              </a:lnSpc>
            </a:pPr>
            <a:r>
              <a:rPr sz="2000" b="1" i="0">
                <a:solidFill>
                  <a:srgbClr val="0B2E2C"/>
                </a:solidFill>
                <a:latin typeface="Arial"/>
              </a:rPr>
              <a:t>Cuatro preguntas ubican a cada cliente en su segmento: las reglas del árbol son simples, estables y aplicables en campaña</a:t>
            </a:r>
          </a:p>
        </p:txBody>
      </p:sp>
      <p:cxnSp>
        <p:nvCxnSpPr>
          <p:cNvPr id="4" name="Connector 3"/>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p:cNvPicPr>
            <a:picLocks noChangeAspect="1"/>
          </p:cNvPicPr>
          <p:nvPr/>
        </p:nvPicPr>
        <p:blipFill>
          <a:blip r:embed="rId2"/>
          <a:stretch>
            <a:fillRect/>
          </a:stretch>
        </p:blipFill>
        <p:spPr>
          <a:xfrm>
            <a:off x="14774692" y="274320"/>
            <a:ext cx="822960" cy="390279"/>
          </a:xfrm>
          <a:prstGeom prst="rect">
            <a:avLst/>
          </a:prstGeom>
        </p:spPr>
      </p:pic>
      <p:sp>
        <p:nvSpPr>
          <p:cNvPr id="7" name="Rectangle 6"/>
          <p:cNvSpPr/>
          <p:nvPr/>
        </p:nvSpPr>
        <p:spPr>
          <a:xfrm>
            <a:off x="658368" y="1645920"/>
            <a:ext cx="9692640" cy="60350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8" name="Rectangle 7"/>
          <p:cNvSpPr/>
          <p:nvPr/>
        </p:nvSpPr>
        <p:spPr>
          <a:xfrm>
            <a:off x="658368" y="1645920"/>
            <a:ext cx="9692640" cy="347472"/>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CON DEUDA · deuda en el SSFF en los últimos 12 meses</a:t>
            </a:r>
          </a:p>
        </p:txBody>
      </p:sp>
      <p:sp>
        <p:nvSpPr>
          <p:cNvPr id="9" name="Rectangle 8"/>
          <p:cNvSpPr/>
          <p:nvPr/>
        </p:nvSpPr>
        <p:spPr>
          <a:xfrm>
            <a:off x="4636007" y="2212848"/>
            <a:ext cx="219456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445A6E"/>
                </a:solidFill>
                <a:latin typeface="Arial"/>
              </a:rPr>
              <a:t>UAI u12m ≤ S/ 6.9K</a:t>
            </a:r>
          </a:p>
        </p:txBody>
      </p:sp>
      <p:sp>
        <p:nvSpPr>
          <p:cNvPr id="10" name="Rectangle 9"/>
          <p:cNvSpPr/>
          <p:nvPr/>
        </p:nvSpPr>
        <p:spPr>
          <a:xfrm>
            <a:off x="2624328" y="3127248"/>
            <a:ext cx="210312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445A6E"/>
                </a:solidFill>
                <a:latin typeface="Arial"/>
              </a:rPr>
              <a:t>Monto ≤ S/ 130K</a:t>
            </a:r>
          </a:p>
        </p:txBody>
      </p:sp>
      <p:sp>
        <p:nvSpPr>
          <p:cNvPr id="11" name="Rectangle 10"/>
          <p:cNvSpPr/>
          <p:nvPr/>
        </p:nvSpPr>
        <p:spPr>
          <a:xfrm>
            <a:off x="6922007" y="3127248"/>
            <a:ext cx="237744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445A6E"/>
                </a:solidFill>
                <a:latin typeface="Arial"/>
              </a:rPr>
              <a:t>Nivel ventas ≤ S/ 1.4MM</a:t>
            </a:r>
          </a:p>
        </p:txBody>
      </p:sp>
      <p:cxnSp>
        <p:nvCxnSpPr>
          <p:cNvPr id="12" name="Connector 11"/>
          <p:cNvCxnSpPr/>
          <p:nvPr/>
        </p:nvCxnSpPr>
        <p:spPr>
          <a:xfrm flipH="1">
            <a:off x="3675887" y="2633472"/>
            <a:ext cx="2057401" cy="49377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84548" y="2770632"/>
            <a:ext cx="640080" cy="153888"/>
          </a:xfrm>
          <a:prstGeom prst="rect">
            <a:avLst/>
          </a:prstGeom>
          <a:noFill/>
        </p:spPr>
        <p:txBody>
          <a:bodyPr wrap="square" lIns="0" tIns="0" rIns="0" bIns="0" anchor="t">
            <a:spAutoFit/>
          </a:bodyPr>
          <a:lstStyle/>
          <a:p>
            <a:pPr algn="ctr">
              <a:lnSpc>
                <a:spcPct val="100000"/>
              </a:lnSpc>
            </a:pPr>
            <a:r>
              <a:rPr sz="1000" b="1" i="0">
                <a:solidFill>
                  <a:srgbClr val="13807B"/>
                </a:solidFill>
                <a:latin typeface="Arial"/>
              </a:rPr>
              <a:t>Sí</a:t>
            </a:r>
          </a:p>
        </p:txBody>
      </p:sp>
      <p:cxnSp>
        <p:nvCxnSpPr>
          <p:cNvPr id="14" name="Connector 13"/>
          <p:cNvCxnSpPr/>
          <p:nvPr/>
        </p:nvCxnSpPr>
        <p:spPr>
          <a:xfrm>
            <a:off x="5733288" y="2633472"/>
            <a:ext cx="2377439" cy="49377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601968" y="2770632"/>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16" name="Rectangle 15"/>
          <p:cNvSpPr/>
          <p:nvPr/>
        </p:nvSpPr>
        <p:spPr>
          <a:xfrm>
            <a:off x="6099048" y="4133088"/>
            <a:ext cx="19202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Cliente Ancla</a:t>
            </a:r>
          </a:p>
        </p:txBody>
      </p:sp>
      <p:sp>
        <p:nvSpPr>
          <p:cNvPr id="17" name="TextBox 16"/>
          <p:cNvSpPr txBox="1"/>
          <p:nvPr/>
        </p:nvSpPr>
        <p:spPr>
          <a:xfrm>
            <a:off x="6099048" y="4681728"/>
            <a:ext cx="19202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1</a:t>
            </a:r>
          </a:p>
        </p:txBody>
      </p:sp>
      <p:sp>
        <p:nvSpPr>
          <p:cNvPr id="18" name="Rectangle 17"/>
          <p:cNvSpPr/>
          <p:nvPr/>
        </p:nvSpPr>
        <p:spPr>
          <a:xfrm>
            <a:off x="8247888" y="4133088"/>
            <a:ext cx="19202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Cuenta Estratégica</a:t>
            </a:r>
          </a:p>
        </p:txBody>
      </p:sp>
      <p:sp>
        <p:nvSpPr>
          <p:cNvPr id="19" name="TextBox 18"/>
          <p:cNvSpPr txBox="1"/>
          <p:nvPr/>
        </p:nvSpPr>
        <p:spPr>
          <a:xfrm>
            <a:off x="8247888" y="4681728"/>
            <a:ext cx="19202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3</a:t>
            </a:r>
          </a:p>
        </p:txBody>
      </p:sp>
      <p:cxnSp>
        <p:nvCxnSpPr>
          <p:cNvPr id="20" name="Connector 19"/>
          <p:cNvCxnSpPr/>
          <p:nvPr/>
        </p:nvCxnSpPr>
        <p:spPr>
          <a:xfrm flipH="1">
            <a:off x="7059168" y="3547872"/>
            <a:ext cx="1051559" cy="58521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64908" y="3730752"/>
            <a:ext cx="640080" cy="153888"/>
          </a:xfrm>
          <a:prstGeom prst="rect">
            <a:avLst/>
          </a:prstGeom>
          <a:noFill/>
        </p:spPr>
        <p:txBody>
          <a:bodyPr wrap="square" lIns="0" tIns="0" rIns="0" bIns="0" anchor="t">
            <a:spAutoFit/>
          </a:bodyPr>
          <a:lstStyle/>
          <a:p>
            <a:pPr algn="ctr">
              <a:lnSpc>
                <a:spcPct val="100000"/>
              </a:lnSpc>
            </a:pPr>
            <a:r>
              <a:rPr sz="1000" b="1" i="0">
                <a:solidFill>
                  <a:srgbClr val="13807B"/>
                </a:solidFill>
                <a:latin typeface="Arial"/>
              </a:rPr>
              <a:t>Sí</a:t>
            </a:r>
          </a:p>
        </p:txBody>
      </p:sp>
      <p:cxnSp>
        <p:nvCxnSpPr>
          <p:cNvPr id="22" name="Connector 21"/>
          <p:cNvCxnSpPr/>
          <p:nvPr/>
        </p:nvCxnSpPr>
        <p:spPr>
          <a:xfrm>
            <a:off x="8110727" y="3547872"/>
            <a:ext cx="1097281" cy="58521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339328" y="3730752"/>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24" name="Rectangle 23"/>
          <p:cNvSpPr/>
          <p:nvPr/>
        </p:nvSpPr>
        <p:spPr>
          <a:xfrm>
            <a:off x="3630168" y="4230133"/>
            <a:ext cx="228600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445A6E"/>
                </a:solidFill>
                <a:latin typeface="Arial"/>
              </a:rPr>
              <a:t>Nivel ventas ≤ S/ 1.5MM</a:t>
            </a:r>
          </a:p>
        </p:txBody>
      </p:sp>
      <p:sp>
        <p:nvSpPr>
          <p:cNvPr id="25" name="Rectangle 24"/>
          <p:cNvSpPr/>
          <p:nvPr/>
        </p:nvSpPr>
        <p:spPr>
          <a:xfrm>
            <a:off x="1527048" y="4220736"/>
            <a:ext cx="19202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Cliente por Reactivar</a:t>
            </a:r>
          </a:p>
        </p:txBody>
      </p:sp>
      <p:sp>
        <p:nvSpPr>
          <p:cNvPr id="26" name="TextBox 25"/>
          <p:cNvSpPr txBox="1"/>
          <p:nvPr/>
        </p:nvSpPr>
        <p:spPr>
          <a:xfrm>
            <a:off x="1527048" y="4769376"/>
            <a:ext cx="19202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6</a:t>
            </a:r>
          </a:p>
        </p:txBody>
      </p:sp>
      <p:cxnSp>
        <p:nvCxnSpPr>
          <p:cNvPr id="27" name="Connector 26"/>
          <p:cNvCxnSpPr/>
          <p:nvPr/>
        </p:nvCxnSpPr>
        <p:spPr>
          <a:xfrm flipH="1">
            <a:off x="2578608" y="3547872"/>
            <a:ext cx="1097279" cy="58521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07208" y="3730752"/>
            <a:ext cx="640080" cy="153888"/>
          </a:xfrm>
          <a:prstGeom prst="rect">
            <a:avLst/>
          </a:prstGeom>
          <a:noFill/>
        </p:spPr>
        <p:txBody>
          <a:bodyPr wrap="square" lIns="0" tIns="0" rIns="0" bIns="0" anchor="t">
            <a:spAutoFit/>
          </a:bodyPr>
          <a:lstStyle/>
          <a:p>
            <a:pPr algn="ctr">
              <a:lnSpc>
                <a:spcPct val="100000"/>
              </a:lnSpc>
            </a:pPr>
            <a:r>
              <a:rPr sz="1000" b="1" i="0">
                <a:solidFill>
                  <a:srgbClr val="13807B"/>
                </a:solidFill>
                <a:latin typeface="Arial"/>
              </a:rPr>
              <a:t>Sí</a:t>
            </a:r>
          </a:p>
        </p:txBody>
      </p:sp>
      <p:cxnSp>
        <p:nvCxnSpPr>
          <p:cNvPr id="29" name="Connector 28"/>
          <p:cNvCxnSpPr/>
          <p:nvPr/>
        </p:nvCxnSpPr>
        <p:spPr>
          <a:xfrm>
            <a:off x="3675887" y="3547872"/>
            <a:ext cx="1234441" cy="58521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973068" y="3730752"/>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31" name="Rectangle 30"/>
          <p:cNvSpPr/>
          <p:nvPr/>
        </p:nvSpPr>
        <p:spPr>
          <a:xfrm>
            <a:off x="1641348" y="5550968"/>
            <a:ext cx="228600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lang="es-PE" sz="1050" b="1" i="0" err="1">
                <a:solidFill>
                  <a:srgbClr val="445A6E"/>
                </a:solidFill>
                <a:latin typeface="Arial"/>
              </a:rPr>
              <a:t>Deuda</a:t>
            </a:r>
            <a:r>
              <a:rPr sz="1050" b="1" i="0">
                <a:solidFill>
                  <a:srgbClr val="445A6E"/>
                </a:solidFill>
                <a:latin typeface="Arial"/>
              </a:rPr>
              <a:t> SF u3m ≤ S/ 345K</a:t>
            </a:r>
          </a:p>
        </p:txBody>
      </p:sp>
      <p:sp>
        <p:nvSpPr>
          <p:cNvPr id="32" name="Rectangle 31"/>
          <p:cNvSpPr/>
          <p:nvPr/>
        </p:nvSpPr>
        <p:spPr>
          <a:xfrm>
            <a:off x="3134648" y="6694372"/>
            <a:ext cx="19202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Gran Cuenta por Conquistar</a:t>
            </a:r>
          </a:p>
        </p:txBody>
      </p:sp>
      <p:sp>
        <p:nvSpPr>
          <p:cNvPr id="33" name="TextBox 32"/>
          <p:cNvSpPr txBox="1"/>
          <p:nvPr/>
        </p:nvSpPr>
        <p:spPr>
          <a:xfrm>
            <a:off x="4910327" y="6194991"/>
            <a:ext cx="19202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5</a:t>
            </a:r>
          </a:p>
        </p:txBody>
      </p:sp>
      <p:cxnSp>
        <p:nvCxnSpPr>
          <p:cNvPr id="34" name="Connector 33"/>
          <p:cNvCxnSpPr/>
          <p:nvPr/>
        </p:nvCxnSpPr>
        <p:spPr>
          <a:xfrm flipH="1">
            <a:off x="2189988" y="6026861"/>
            <a:ext cx="411480" cy="58521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075687" y="6209741"/>
            <a:ext cx="640080" cy="153888"/>
          </a:xfrm>
          <a:prstGeom prst="rect">
            <a:avLst/>
          </a:prstGeom>
          <a:noFill/>
        </p:spPr>
        <p:txBody>
          <a:bodyPr wrap="square" lIns="0" tIns="0" rIns="0" bIns="0" anchor="t">
            <a:spAutoFit/>
          </a:bodyPr>
          <a:lstStyle/>
          <a:p>
            <a:pPr algn="ctr">
              <a:lnSpc>
                <a:spcPct val="100000"/>
              </a:lnSpc>
            </a:pPr>
            <a:r>
              <a:rPr lang="es-PE" sz="1000" b="1" i="0">
                <a:solidFill>
                  <a:srgbClr val="13807B"/>
                </a:solidFill>
                <a:latin typeface="Arial"/>
              </a:rPr>
              <a:t>Sí</a:t>
            </a:r>
            <a:endParaRPr sz="1000" b="1" i="0">
              <a:solidFill>
                <a:srgbClr val="13807B"/>
              </a:solidFill>
              <a:latin typeface="Arial"/>
            </a:endParaRPr>
          </a:p>
        </p:txBody>
      </p:sp>
      <p:cxnSp>
        <p:nvCxnSpPr>
          <p:cNvPr id="36" name="Connector 35"/>
          <p:cNvCxnSpPr/>
          <p:nvPr/>
        </p:nvCxnSpPr>
        <p:spPr>
          <a:xfrm>
            <a:off x="2601468" y="6026861"/>
            <a:ext cx="2011680" cy="58521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287268" y="6209741"/>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38" name="Rectangle 37"/>
          <p:cNvSpPr/>
          <p:nvPr/>
        </p:nvSpPr>
        <p:spPr>
          <a:xfrm>
            <a:off x="971658" y="6699416"/>
            <a:ext cx="19202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Socio en Crecimiento</a:t>
            </a:r>
          </a:p>
        </p:txBody>
      </p:sp>
      <p:sp>
        <p:nvSpPr>
          <p:cNvPr id="39" name="TextBox 38"/>
          <p:cNvSpPr txBox="1"/>
          <p:nvPr/>
        </p:nvSpPr>
        <p:spPr>
          <a:xfrm>
            <a:off x="1184028" y="7339852"/>
            <a:ext cx="19202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2</a:t>
            </a:r>
          </a:p>
        </p:txBody>
      </p:sp>
      <p:sp>
        <p:nvSpPr>
          <p:cNvPr id="40" name="Rectangle 39"/>
          <p:cNvSpPr/>
          <p:nvPr/>
        </p:nvSpPr>
        <p:spPr>
          <a:xfrm>
            <a:off x="4861125" y="5567260"/>
            <a:ext cx="19202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Maduro Multibanco</a:t>
            </a:r>
          </a:p>
        </p:txBody>
      </p:sp>
      <p:sp>
        <p:nvSpPr>
          <p:cNvPr id="41" name="TextBox 40"/>
          <p:cNvSpPr txBox="1"/>
          <p:nvPr/>
        </p:nvSpPr>
        <p:spPr>
          <a:xfrm>
            <a:off x="3134648" y="7286332"/>
            <a:ext cx="19202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4</a:t>
            </a:r>
          </a:p>
        </p:txBody>
      </p:sp>
      <p:cxnSp>
        <p:nvCxnSpPr>
          <p:cNvPr id="42" name="Connector 41"/>
          <p:cNvCxnSpPr>
            <a:cxnSpLocks/>
          </p:cNvCxnSpPr>
          <p:nvPr/>
        </p:nvCxnSpPr>
        <p:spPr>
          <a:xfrm flipH="1">
            <a:off x="2832298" y="4764023"/>
            <a:ext cx="1643690" cy="707880"/>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437273" y="4906536"/>
            <a:ext cx="640080" cy="153888"/>
          </a:xfrm>
          <a:prstGeom prst="rect">
            <a:avLst/>
          </a:prstGeom>
          <a:noFill/>
        </p:spPr>
        <p:txBody>
          <a:bodyPr wrap="square" lIns="0" tIns="0" rIns="0" bIns="0" anchor="t">
            <a:spAutoFit/>
          </a:bodyPr>
          <a:lstStyle/>
          <a:p>
            <a:pPr algn="ctr">
              <a:lnSpc>
                <a:spcPct val="100000"/>
              </a:lnSpc>
            </a:pPr>
            <a:r>
              <a:rPr lang="es-PE" sz="1000" b="1" i="0" err="1">
                <a:solidFill>
                  <a:srgbClr val="13807B"/>
                </a:solidFill>
                <a:latin typeface="Arial"/>
              </a:rPr>
              <a:t>Sí</a:t>
            </a:r>
            <a:endParaRPr sz="1000" b="1" i="0">
              <a:solidFill>
                <a:srgbClr val="13807B"/>
              </a:solidFill>
              <a:latin typeface="Arial"/>
            </a:endParaRPr>
          </a:p>
        </p:txBody>
      </p:sp>
      <p:cxnSp>
        <p:nvCxnSpPr>
          <p:cNvPr id="44" name="Connector 43"/>
          <p:cNvCxnSpPr>
            <a:cxnSpLocks/>
          </p:cNvCxnSpPr>
          <p:nvPr/>
        </p:nvCxnSpPr>
        <p:spPr>
          <a:xfrm>
            <a:off x="4627082" y="4764023"/>
            <a:ext cx="1243366" cy="716238"/>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24628" y="4881175"/>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48" name="TextBox 47"/>
          <p:cNvSpPr txBox="1"/>
          <p:nvPr/>
        </p:nvSpPr>
        <p:spPr>
          <a:xfrm>
            <a:off x="6240780" y="6803136"/>
            <a:ext cx="4197095" cy="743537"/>
          </a:xfrm>
          <a:prstGeom prst="rect">
            <a:avLst/>
          </a:prstGeom>
          <a:noFill/>
        </p:spPr>
        <p:txBody>
          <a:bodyPr wrap="square" lIns="0" tIns="0" rIns="0" bIns="0" anchor="ctr">
            <a:spAutoFit/>
          </a:bodyPr>
          <a:lstStyle/>
          <a:p>
            <a:pPr algn="l">
              <a:lnSpc>
                <a:spcPct val="112000"/>
              </a:lnSpc>
              <a:spcAft>
                <a:spcPts val="200"/>
              </a:spcAft>
            </a:pPr>
            <a:r>
              <a:rPr sz="1100" b="1" i="0">
                <a:solidFill>
                  <a:srgbClr val="13807B"/>
                </a:solidFill>
                <a:latin typeface="Arial"/>
              </a:rPr>
              <a:t>Lectura </a:t>
            </a:r>
            <a:r>
              <a:rPr sz="1100" b="1" i="0" err="1">
                <a:solidFill>
                  <a:srgbClr val="13807B"/>
                </a:solidFill>
                <a:latin typeface="Arial"/>
              </a:rPr>
              <a:t>comercial</a:t>
            </a:r>
            <a:endParaRPr sz="1100" b="1" i="0">
              <a:solidFill>
                <a:srgbClr val="13807B"/>
              </a:solidFill>
              <a:latin typeface="Arial"/>
            </a:endParaRPr>
          </a:p>
          <a:p>
            <a:pPr algn="l">
              <a:lnSpc>
                <a:spcPct val="112000"/>
              </a:lnSpc>
              <a:spcAft>
                <a:spcPts val="200"/>
              </a:spcAft>
            </a:pPr>
            <a:r>
              <a:rPr sz="1050" b="0" i="0">
                <a:solidFill>
                  <a:srgbClr val="3E5553"/>
                </a:solidFill>
                <a:latin typeface="Arial"/>
              </a:rPr>
              <a:t>Las </a:t>
            </a:r>
            <a:r>
              <a:rPr sz="1050" b="0" i="0" err="1">
                <a:solidFill>
                  <a:srgbClr val="3E5553"/>
                </a:solidFill>
                <a:latin typeface="Arial"/>
              </a:rPr>
              <a:t>reglas</a:t>
            </a:r>
            <a:r>
              <a:rPr sz="1050" b="0" i="0">
                <a:solidFill>
                  <a:srgbClr val="3E5553"/>
                </a:solidFill>
                <a:latin typeface="Arial"/>
              </a:rPr>
              <a:t> </a:t>
            </a:r>
            <a:r>
              <a:rPr sz="1050" b="0" i="0" err="1">
                <a:solidFill>
                  <a:srgbClr val="3E5553"/>
                </a:solidFill>
                <a:latin typeface="Arial"/>
              </a:rPr>
              <a:t>usan</a:t>
            </a:r>
            <a:r>
              <a:rPr sz="1050" b="0" i="0">
                <a:solidFill>
                  <a:srgbClr val="3E5553"/>
                </a:solidFill>
                <a:latin typeface="Arial"/>
              </a:rPr>
              <a:t> </a:t>
            </a:r>
            <a:r>
              <a:rPr sz="1050" b="0" i="0" err="1">
                <a:solidFill>
                  <a:srgbClr val="3E5553"/>
                </a:solidFill>
                <a:latin typeface="Arial"/>
              </a:rPr>
              <a:t>sólo</a:t>
            </a:r>
            <a:r>
              <a:rPr sz="1050" b="0" i="0">
                <a:solidFill>
                  <a:srgbClr val="3E5553"/>
                </a:solidFill>
                <a:latin typeface="Arial"/>
              </a:rPr>
              <a:t> </a:t>
            </a:r>
            <a:r>
              <a:rPr sz="1050" b="0" i="0" err="1">
                <a:solidFill>
                  <a:srgbClr val="3E5553"/>
                </a:solidFill>
                <a:latin typeface="Arial"/>
              </a:rPr>
              <a:t>datos</a:t>
            </a:r>
            <a:r>
              <a:rPr sz="1050" b="0" i="0">
                <a:solidFill>
                  <a:srgbClr val="3E5553"/>
                </a:solidFill>
                <a:latin typeface="Arial"/>
              </a:rPr>
              <a:t> </a:t>
            </a:r>
            <a:r>
              <a:rPr sz="1050" b="0" i="0" err="1">
                <a:solidFill>
                  <a:srgbClr val="3E5553"/>
                </a:solidFill>
                <a:latin typeface="Arial"/>
              </a:rPr>
              <a:t>disponibles</a:t>
            </a:r>
            <a:r>
              <a:rPr sz="1050" b="0" i="0">
                <a:solidFill>
                  <a:srgbClr val="3E5553"/>
                </a:solidFill>
                <a:latin typeface="Arial"/>
              </a:rPr>
              <a:t> </a:t>
            </a:r>
            <a:r>
              <a:rPr sz="1050" b="0" i="0" err="1">
                <a:solidFill>
                  <a:srgbClr val="3E5553"/>
                </a:solidFill>
                <a:latin typeface="Arial"/>
              </a:rPr>
              <a:t>en</a:t>
            </a:r>
            <a:r>
              <a:rPr sz="1050" b="0" i="0">
                <a:solidFill>
                  <a:srgbClr val="3E5553"/>
                </a:solidFill>
                <a:latin typeface="Arial"/>
              </a:rPr>
              <a:t> la </a:t>
            </a:r>
            <a:r>
              <a:rPr sz="1050" b="0" i="0" err="1">
                <a:solidFill>
                  <a:srgbClr val="3E5553"/>
                </a:solidFill>
                <a:latin typeface="Arial"/>
              </a:rPr>
              <a:t>oferta</a:t>
            </a:r>
            <a:r>
              <a:rPr sz="1050" b="0" i="0">
                <a:solidFill>
                  <a:srgbClr val="3E5553"/>
                </a:solidFill>
                <a:latin typeface="Arial"/>
              </a:rPr>
              <a:t> — UAI, </a:t>
            </a:r>
            <a:r>
              <a:rPr sz="1050" b="0" i="0" err="1">
                <a:solidFill>
                  <a:srgbClr val="3E5553"/>
                </a:solidFill>
                <a:latin typeface="Arial"/>
              </a:rPr>
              <a:t>monto</a:t>
            </a:r>
            <a:r>
              <a:rPr sz="1050" b="0" i="0">
                <a:solidFill>
                  <a:srgbClr val="3E5553"/>
                </a:solidFill>
                <a:latin typeface="Arial"/>
              </a:rPr>
              <a:t>, </a:t>
            </a:r>
            <a:r>
              <a:rPr sz="1050" b="0" i="0" err="1">
                <a:solidFill>
                  <a:srgbClr val="3E5553"/>
                </a:solidFill>
                <a:latin typeface="Arial"/>
              </a:rPr>
              <a:t>ventas</a:t>
            </a:r>
            <a:r>
              <a:rPr sz="1050" b="0" i="0">
                <a:solidFill>
                  <a:srgbClr val="3E5553"/>
                </a:solidFill>
                <a:latin typeface="Arial"/>
              </a:rPr>
              <a:t> y </a:t>
            </a:r>
            <a:r>
              <a:rPr sz="1050" b="0" i="0" err="1">
                <a:solidFill>
                  <a:srgbClr val="3E5553"/>
                </a:solidFill>
                <a:latin typeface="Arial"/>
              </a:rPr>
              <a:t>deuda</a:t>
            </a:r>
            <a:r>
              <a:rPr sz="1050" b="0" i="0">
                <a:solidFill>
                  <a:srgbClr val="3E5553"/>
                </a:solidFill>
                <a:latin typeface="Arial"/>
              </a:rPr>
              <a:t>: el </a:t>
            </a:r>
            <a:r>
              <a:rPr sz="1050" b="0" i="0" err="1">
                <a:solidFill>
                  <a:srgbClr val="3E5553"/>
                </a:solidFill>
                <a:latin typeface="Arial"/>
              </a:rPr>
              <a:t>ejecutivo</a:t>
            </a:r>
            <a:r>
              <a:rPr sz="1050" b="0" i="0">
                <a:solidFill>
                  <a:srgbClr val="3E5553"/>
                </a:solidFill>
                <a:latin typeface="Arial"/>
              </a:rPr>
              <a:t> </a:t>
            </a:r>
            <a:r>
              <a:rPr sz="1050" b="0" i="0" err="1">
                <a:solidFill>
                  <a:srgbClr val="3E5553"/>
                </a:solidFill>
                <a:latin typeface="Arial"/>
              </a:rPr>
              <a:t>ubica</a:t>
            </a:r>
            <a:r>
              <a:rPr sz="1050" b="0" i="0">
                <a:solidFill>
                  <a:srgbClr val="3E5553"/>
                </a:solidFill>
                <a:latin typeface="Arial"/>
              </a:rPr>
              <a:t> a </a:t>
            </a:r>
            <a:r>
              <a:rPr sz="1050" b="0" i="0" err="1">
                <a:solidFill>
                  <a:srgbClr val="3E5553"/>
                </a:solidFill>
                <a:latin typeface="Arial"/>
              </a:rPr>
              <a:t>su</a:t>
            </a:r>
            <a:r>
              <a:rPr sz="1050" b="0" i="0">
                <a:solidFill>
                  <a:srgbClr val="3E5553"/>
                </a:solidFill>
                <a:latin typeface="Arial"/>
              </a:rPr>
              <a:t> </a:t>
            </a:r>
            <a:r>
              <a:rPr sz="1050" b="0" i="0" err="1">
                <a:solidFill>
                  <a:srgbClr val="3E5553"/>
                </a:solidFill>
                <a:latin typeface="Arial"/>
              </a:rPr>
              <a:t>cliente</a:t>
            </a:r>
            <a:r>
              <a:rPr sz="1050" b="0" i="0">
                <a:solidFill>
                  <a:srgbClr val="3E5553"/>
                </a:solidFill>
                <a:latin typeface="Arial"/>
              </a:rPr>
              <a:t> sin </a:t>
            </a:r>
            <a:r>
              <a:rPr sz="1050" b="0" i="0" err="1">
                <a:solidFill>
                  <a:srgbClr val="3E5553"/>
                </a:solidFill>
                <a:latin typeface="Arial"/>
              </a:rPr>
              <a:t>correr</a:t>
            </a:r>
            <a:r>
              <a:rPr sz="1050" b="0" i="0">
                <a:solidFill>
                  <a:srgbClr val="3E5553"/>
                </a:solidFill>
                <a:latin typeface="Arial"/>
              </a:rPr>
              <a:t> </a:t>
            </a:r>
            <a:r>
              <a:rPr sz="1050" b="0" i="0" err="1">
                <a:solidFill>
                  <a:srgbClr val="3E5553"/>
                </a:solidFill>
                <a:latin typeface="Arial"/>
              </a:rPr>
              <a:t>ningún</a:t>
            </a:r>
            <a:r>
              <a:rPr sz="1050" b="0" i="0">
                <a:solidFill>
                  <a:srgbClr val="3E5553"/>
                </a:solidFill>
                <a:latin typeface="Arial"/>
              </a:rPr>
              <a:t> </a:t>
            </a:r>
            <a:r>
              <a:rPr sz="1050" b="0" i="0" err="1">
                <a:solidFill>
                  <a:srgbClr val="3E5553"/>
                </a:solidFill>
                <a:latin typeface="Arial"/>
              </a:rPr>
              <a:t>modelo</a:t>
            </a:r>
            <a:r>
              <a:rPr sz="1050" b="0" i="0">
                <a:solidFill>
                  <a:srgbClr val="3E5553"/>
                </a:solidFill>
                <a:latin typeface="Arial"/>
              </a:rPr>
              <a:t>.</a:t>
            </a:r>
          </a:p>
        </p:txBody>
      </p:sp>
      <p:sp>
        <p:nvSpPr>
          <p:cNvPr id="49" name="Rectangle 48"/>
          <p:cNvSpPr/>
          <p:nvPr/>
        </p:nvSpPr>
        <p:spPr>
          <a:xfrm>
            <a:off x="10716768" y="1645920"/>
            <a:ext cx="4880884" cy="603504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50" name="Rectangle 49"/>
          <p:cNvSpPr/>
          <p:nvPr/>
        </p:nvSpPr>
        <p:spPr>
          <a:xfrm>
            <a:off x="10716768" y="1645920"/>
            <a:ext cx="4880884" cy="347472"/>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100" b="1" i="0">
                <a:solidFill>
                  <a:srgbClr val="FFFFFF"/>
                </a:solidFill>
                <a:latin typeface="Arial"/>
              </a:rPr>
              <a:t>SIN DEUDA · sin </a:t>
            </a:r>
            <a:r>
              <a:rPr sz="1100" b="1" i="0" err="1">
                <a:solidFill>
                  <a:srgbClr val="FFFFFF"/>
                </a:solidFill>
                <a:latin typeface="Arial"/>
              </a:rPr>
              <a:t>historial</a:t>
            </a:r>
            <a:r>
              <a:rPr sz="1100" b="1" i="0">
                <a:solidFill>
                  <a:srgbClr val="FFFFFF"/>
                </a:solidFill>
                <a:latin typeface="Arial"/>
              </a:rPr>
              <a:t> </a:t>
            </a:r>
            <a:r>
              <a:rPr sz="1100" b="1" i="0" err="1">
                <a:solidFill>
                  <a:srgbClr val="FFFFFF"/>
                </a:solidFill>
                <a:latin typeface="Arial"/>
              </a:rPr>
              <a:t>en</a:t>
            </a:r>
            <a:r>
              <a:rPr sz="1100" b="1" i="0">
                <a:solidFill>
                  <a:srgbClr val="FFFFFF"/>
                </a:solidFill>
                <a:latin typeface="Arial"/>
              </a:rPr>
              <a:t> el SSFF</a:t>
            </a:r>
            <a:r>
              <a:rPr lang="es-419" sz="1100" b="1" i="0">
                <a:solidFill>
                  <a:srgbClr val="FFFFFF"/>
                </a:solidFill>
                <a:latin typeface="Arial"/>
              </a:rPr>
              <a:t> en los últimos 12 meses</a:t>
            </a:r>
            <a:endParaRPr sz="1100" b="1" i="0">
              <a:solidFill>
                <a:srgbClr val="FFFFFF"/>
              </a:solidFill>
              <a:latin typeface="Arial"/>
            </a:endParaRPr>
          </a:p>
        </p:txBody>
      </p:sp>
      <p:sp>
        <p:nvSpPr>
          <p:cNvPr id="51" name="Rectangle 50"/>
          <p:cNvSpPr/>
          <p:nvPr/>
        </p:nvSpPr>
        <p:spPr>
          <a:xfrm>
            <a:off x="11905488" y="2468880"/>
            <a:ext cx="265176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445A6E"/>
                </a:solidFill>
                <a:latin typeface="Arial"/>
              </a:rPr>
              <a:t>Pasivos prom u3m ≤ S/ 12K</a:t>
            </a:r>
          </a:p>
        </p:txBody>
      </p:sp>
      <p:sp>
        <p:nvSpPr>
          <p:cNvPr id="52" name="Rectangle 51"/>
          <p:cNvSpPr/>
          <p:nvPr/>
        </p:nvSpPr>
        <p:spPr>
          <a:xfrm>
            <a:off x="13734288" y="3566160"/>
            <a:ext cx="16916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Próximo Recurrente</a:t>
            </a:r>
          </a:p>
        </p:txBody>
      </p:sp>
      <p:sp>
        <p:nvSpPr>
          <p:cNvPr id="53" name="TextBox 52"/>
          <p:cNvSpPr txBox="1"/>
          <p:nvPr/>
        </p:nvSpPr>
        <p:spPr>
          <a:xfrm>
            <a:off x="13734288" y="4114800"/>
            <a:ext cx="16916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3 nulo</a:t>
            </a:r>
          </a:p>
        </p:txBody>
      </p:sp>
      <p:sp>
        <p:nvSpPr>
          <p:cNvPr id="54" name="Rectangle 53"/>
          <p:cNvSpPr/>
          <p:nvPr/>
        </p:nvSpPr>
        <p:spPr>
          <a:xfrm>
            <a:off x="11128248" y="3566160"/>
            <a:ext cx="2286000" cy="420624"/>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445A6E"/>
                </a:solidFill>
                <a:latin typeface="Arial"/>
              </a:rPr>
              <a:t>Nivel ventas ≤ S/ 272K</a:t>
            </a:r>
          </a:p>
        </p:txBody>
      </p:sp>
      <p:cxnSp>
        <p:nvCxnSpPr>
          <p:cNvPr id="55" name="Connector 54"/>
          <p:cNvCxnSpPr/>
          <p:nvPr/>
        </p:nvCxnSpPr>
        <p:spPr>
          <a:xfrm flipH="1">
            <a:off x="12271248" y="2889504"/>
            <a:ext cx="960120" cy="67665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2431268" y="3118104"/>
            <a:ext cx="640080" cy="153888"/>
          </a:xfrm>
          <a:prstGeom prst="rect">
            <a:avLst/>
          </a:prstGeom>
          <a:noFill/>
        </p:spPr>
        <p:txBody>
          <a:bodyPr wrap="square" lIns="0" tIns="0" rIns="0" bIns="0" anchor="t">
            <a:spAutoFit/>
          </a:bodyPr>
          <a:lstStyle/>
          <a:p>
            <a:pPr algn="ctr">
              <a:lnSpc>
                <a:spcPct val="100000"/>
              </a:lnSpc>
            </a:pPr>
            <a:r>
              <a:rPr sz="1000" b="1" i="0">
                <a:solidFill>
                  <a:srgbClr val="13807B"/>
                </a:solidFill>
                <a:latin typeface="Arial"/>
              </a:rPr>
              <a:t>Sí</a:t>
            </a:r>
          </a:p>
        </p:txBody>
      </p:sp>
      <p:cxnSp>
        <p:nvCxnSpPr>
          <p:cNvPr id="57" name="Connector 56"/>
          <p:cNvCxnSpPr/>
          <p:nvPr/>
        </p:nvCxnSpPr>
        <p:spPr>
          <a:xfrm>
            <a:off x="13231368" y="2889504"/>
            <a:ext cx="1348740" cy="67665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3585698" y="3118104"/>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59" name="Rectangle 58"/>
          <p:cNvSpPr/>
          <p:nvPr/>
        </p:nvSpPr>
        <p:spPr>
          <a:xfrm>
            <a:off x="11036808" y="4846320"/>
            <a:ext cx="16916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Emprendedor Izipay</a:t>
            </a:r>
          </a:p>
        </p:txBody>
      </p:sp>
      <p:sp>
        <p:nvSpPr>
          <p:cNvPr id="60" name="TextBox 59"/>
          <p:cNvSpPr txBox="1"/>
          <p:nvPr/>
        </p:nvSpPr>
        <p:spPr>
          <a:xfrm>
            <a:off x="11036808" y="5394959"/>
            <a:ext cx="16916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1 nulo</a:t>
            </a:r>
          </a:p>
        </p:txBody>
      </p:sp>
      <p:sp>
        <p:nvSpPr>
          <p:cNvPr id="61" name="Rectangle 60"/>
          <p:cNvSpPr/>
          <p:nvPr/>
        </p:nvSpPr>
        <p:spPr>
          <a:xfrm>
            <a:off x="12957048" y="4846320"/>
            <a:ext cx="1691640" cy="530352"/>
          </a:xfrm>
          <a:prstGeom prst="rect">
            <a:avLst/>
          </a:prstGeom>
          <a:solidFill>
            <a:srgbClr val="ECF6F5"/>
          </a:solidFill>
          <a:ln w="12700">
            <a:solidFill>
              <a:srgbClr val="13807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2000"/>
              </a:lnSpc>
            </a:pPr>
            <a:r>
              <a:rPr sz="1050" b="1" i="0">
                <a:solidFill>
                  <a:srgbClr val="083A38"/>
                </a:solidFill>
                <a:latin typeface="Arial"/>
              </a:rPr>
              <a:t>Nuevo en Expansión</a:t>
            </a:r>
          </a:p>
        </p:txBody>
      </p:sp>
      <p:sp>
        <p:nvSpPr>
          <p:cNvPr id="62" name="TextBox 61"/>
          <p:cNvSpPr txBox="1"/>
          <p:nvPr/>
        </p:nvSpPr>
        <p:spPr>
          <a:xfrm>
            <a:off x="12957048" y="5394959"/>
            <a:ext cx="1691640" cy="153888"/>
          </a:xfrm>
          <a:prstGeom prst="rect">
            <a:avLst/>
          </a:prstGeom>
          <a:noFill/>
        </p:spPr>
        <p:txBody>
          <a:bodyPr wrap="square" lIns="0" tIns="0" rIns="0" bIns="0" anchor="t">
            <a:spAutoFit/>
          </a:bodyPr>
          <a:lstStyle/>
          <a:p>
            <a:pPr algn="ctr">
              <a:lnSpc>
                <a:spcPct val="100000"/>
              </a:lnSpc>
            </a:pPr>
            <a:r>
              <a:rPr sz="1000" b="0" i="0">
                <a:solidFill>
                  <a:srgbClr val="6E7E7D"/>
                </a:solidFill>
                <a:latin typeface="Arial"/>
              </a:rPr>
              <a:t>Cluster 2 nulo</a:t>
            </a:r>
          </a:p>
        </p:txBody>
      </p:sp>
      <p:cxnSp>
        <p:nvCxnSpPr>
          <p:cNvPr id="63" name="Connector 62"/>
          <p:cNvCxnSpPr/>
          <p:nvPr/>
        </p:nvCxnSpPr>
        <p:spPr>
          <a:xfrm flipH="1">
            <a:off x="11882628" y="3986784"/>
            <a:ext cx="388620" cy="85953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1756898" y="4306824"/>
            <a:ext cx="640080" cy="153888"/>
          </a:xfrm>
          <a:prstGeom prst="rect">
            <a:avLst/>
          </a:prstGeom>
          <a:noFill/>
        </p:spPr>
        <p:txBody>
          <a:bodyPr wrap="square" lIns="0" tIns="0" rIns="0" bIns="0" anchor="t">
            <a:spAutoFit/>
          </a:bodyPr>
          <a:lstStyle/>
          <a:p>
            <a:pPr algn="ctr">
              <a:lnSpc>
                <a:spcPct val="100000"/>
              </a:lnSpc>
            </a:pPr>
            <a:r>
              <a:rPr sz="1000" b="1" i="0">
                <a:solidFill>
                  <a:srgbClr val="13807B"/>
                </a:solidFill>
                <a:latin typeface="Arial"/>
              </a:rPr>
              <a:t>Sí</a:t>
            </a:r>
          </a:p>
        </p:txBody>
      </p:sp>
      <p:cxnSp>
        <p:nvCxnSpPr>
          <p:cNvPr id="65" name="Connector 64"/>
          <p:cNvCxnSpPr/>
          <p:nvPr/>
        </p:nvCxnSpPr>
        <p:spPr>
          <a:xfrm>
            <a:off x="12271248" y="3986784"/>
            <a:ext cx="1531620" cy="859536"/>
          </a:xfrm>
          <a:prstGeom prst="line">
            <a:avLst/>
          </a:prstGeom>
          <a:ln w="13970">
            <a:solidFill>
              <a:srgbClr val="9AA8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717018" y="4306824"/>
            <a:ext cx="640080" cy="153888"/>
          </a:xfrm>
          <a:prstGeom prst="rect">
            <a:avLst/>
          </a:prstGeom>
          <a:noFill/>
        </p:spPr>
        <p:txBody>
          <a:bodyPr wrap="square" lIns="0" tIns="0" rIns="0" bIns="0" anchor="t">
            <a:spAutoFit/>
          </a:bodyPr>
          <a:lstStyle/>
          <a:p>
            <a:pPr algn="ctr">
              <a:lnSpc>
                <a:spcPct val="100000"/>
              </a:lnSpc>
            </a:pPr>
            <a:r>
              <a:rPr sz="1000" b="1" i="0">
                <a:solidFill>
                  <a:srgbClr val="C04B4B"/>
                </a:solidFill>
                <a:latin typeface="Arial"/>
              </a:rPr>
              <a:t>No</a:t>
            </a:r>
          </a:p>
        </p:txBody>
      </p:sp>
      <p:sp>
        <p:nvSpPr>
          <p:cNvPr id="69" name="TextBox 68"/>
          <p:cNvSpPr txBox="1"/>
          <p:nvPr/>
        </p:nvSpPr>
        <p:spPr>
          <a:xfrm>
            <a:off x="11130163" y="6838968"/>
            <a:ext cx="4003060" cy="562590"/>
          </a:xfrm>
          <a:prstGeom prst="rect">
            <a:avLst/>
          </a:prstGeom>
          <a:noFill/>
        </p:spPr>
        <p:txBody>
          <a:bodyPr wrap="square" lIns="0" tIns="0" rIns="0" bIns="0" anchor="ctr">
            <a:spAutoFit/>
          </a:bodyPr>
          <a:lstStyle/>
          <a:p>
            <a:pPr algn="l">
              <a:lnSpc>
                <a:spcPct val="112000"/>
              </a:lnSpc>
              <a:spcAft>
                <a:spcPts val="200"/>
              </a:spcAft>
            </a:pPr>
            <a:r>
              <a:rPr sz="1100" b="1" i="0">
                <a:solidFill>
                  <a:srgbClr val="445A6E"/>
                </a:solidFill>
                <a:latin typeface="Arial"/>
              </a:rPr>
              <a:t>Lectura </a:t>
            </a:r>
            <a:r>
              <a:rPr sz="1100" b="1" i="0" err="1">
                <a:solidFill>
                  <a:srgbClr val="445A6E"/>
                </a:solidFill>
                <a:latin typeface="Arial"/>
              </a:rPr>
              <a:t>comercial</a:t>
            </a:r>
            <a:endParaRPr sz="1100" b="1" i="0">
              <a:solidFill>
                <a:srgbClr val="445A6E"/>
              </a:solidFill>
              <a:latin typeface="Arial"/>
            </a:endParaRPr>
          </a:p>
          <a:p>
            <a:pPr algn="l">
              <a:lnSpc>
                <a:spcPct val="112000"/>
              </a:lnSpc>
              <a:spcAft>
                <a:spcPts val="200"/>
              </a:spcAft>
            </a:pPr>
            <a:r>
              <a:rPr sz="1050" b="0" i="0">
                <a:solidFill>
                  <a:srgbClr val="3E5553"/>
                </a:solidFill>
                <a:latin typeface="Arial"/>
              </a:rPr>
              <a:t>Sin </a:t>
            </a:r>
            <a:r>
              <a:rPr sz="1050" b="0" i="0" err="1">
                <a:solidFill>
                  <a:srgbClr val="3E5553"/>
                </a:solidFill>
                <a:latin typeface="Arial"/>
              </a:rPr>
              <a:t>historial</a:t>
            </a:r>
            <a:r>
              <a:rPr sz="1050" b="0" i="0">
                <a:solidFill>
                  <a:srgbClr val="3E5553"/>
                </a:solidFill>
                <a:latin typeface="Arial"/>
              </a:rPr>
              <a:t> de </a:t>
            </a:r>
            <a:r>
              <a:rPr sz="1050" b="0" i="0" err="1">
                <a:solidFill>
                  <a:srgbClr val="3E5553"/>
                </a:solidFill>
                <a:latin typeface="Arial"/>
              </a:rPr>
              <a:t>deuda</a:t>
            </a:r>
            <a:r>
              <a:rPr sz="1050" b="0" i="0">
                <a:solidFill>
                  <a:srgbClr val="3E5553"/>
                </a:solidFill>
                <a:latin typeface="Arial"/>
              </a:rPr>
              <a:t>, el corte lo dan </a:t>
            </a:r>
            <a:r>
              <a:rPr sz="1050" b="0" i="0" err="1">
                <a:solidFill>
                  <a:srgbClr val="3E5553"/>
                </a:solidFill>
                <a:latin typeface="Arial"/>
              </a:rPr>
              <a:t>los</a:t>
            </a:r>
            <a:r>
              <a:rPr sz="1050" b="0" i="0">
                <a:solidFill>
                  <a:srgbClr val="3E5553"/>
                </a:solidFill>
                <a:latin typeface="Arial"/>
              </a:rPr>
              <a:t> </a:t>
            </a:r>
            <a:r>
              <a:rPr sz="1050" b="0" i="0" err="1">
                <a:solidFill>
                  <a:srgbClr val="3E5553"/>
                </a:solidFill>
                <a:latin typeface="Arial"/>
              </a:rPr>
              <a:t>pasivos</a:t>
            </a:r>
            <a:r>
              <a:rPr sz="1050" b="0" i="0">
                <a:solidFill>
                  <a:srgbClr val="3E5553"/>
                </a:solidFill>
                <a:latin typeface="Arial"/>
              </a:rPr>
              <a:t> y las </a:t>
            </a:r>
            <a:r>
              <a:rPr sz="1050" b="0" i="0" err="1">
                <a:solidFill>
                  <a:srgbClr val="3E5553"/>
                </a:solidFill>
                <a:latin typeface="Arial"/>
              </a:rPr>
              <a:t>ventas</a:t>
            </a:r>
            <a:r>
              <a:rPr sz="1050" b="0" i="0">
                <a:solidFill>
                  <a:srgbClr val="3E5553"/>
                </a:solidFill>
                <a:latin typeface="Arial"/>
              </a:rPr>
              <a:t>: </a:t>
            </a:r>
            <a:r>
              <a:rPr sz="1050" b="0" i="0" err="1">
                <a:solidFill>
                  <a:srgbClr val="3E5553"/>
                </a:solidFill>
                <a:latin typeface="Arial"/>
              </a:rPr>
              <a:t>señales</a:t>
            </a:r>
            <a:r>
              <a:rPr sz="1050" b="0" i="0">
                <a:solidFill>
                  <a:srgbClr val="3E5553"/>
                </a:solidFill>
                <a:latin typeface="Arial"/>
              </a:rPr>
              <a:t> de </a:t>
            </a:r>
            <a:r>
              <a:rPr sz="1050" b="0" i="0" err="1">
                <a:solidFill>
                  <a:srgbClr val="3E5553"/>
                </a:solidFill>
                <a:latin typeface="Arial"/>
              </a:rPr>
              <a:t>tamaño</a:t>
            </a:r>
            <a:r>
              <a:rPr sz="1050" b="0" i="0">
                <a:solidFill>
                  <a:srgbClr val="3E5553"/>
                </a:solidFill>
                <a:latin typeface="Arial"/>
              </a:rPr>
              <a:t> y </a:t>
            </a:r>
            <a:r>
              <a:rPr sz="1050" b="0" i="0" err="1">
                <a:solidFill>
                  <a:srgbClr val="3E5553"/>
                </a:solidFill>
                <a:latin typeface="Arial"/>
              </a:rPr>
              <a:t>capacidad</a:t>
            </a:r>
            <a:r>
              <a:rPr sz="1050" b="0" i="0">
                <a:solidFill>
                  <a:srgbClr val="3E5553"/>
                </a:solidFill>
                <a:latin typeface="Arial"/>
              </a:rPr>
              <a:t> antes del </a:t>
            </a:r>
            <a:r>
              <a:rPr lang="es-PE" sz="1050" b="0" i="0" err="1">
                <a:solidFill>
                  <a:srgbClr val="3E5553"/>
                </a:solidFill>
                <a:latin typeface="Arial"/>
              </a:rPr>
              <a:t>crédito</a:t>
            </a:r>
            <a:r>
              <a:rPr sz="1050" b="0" i="0">
                <a:solidFill>
                  <a:srgbClr val="3E5553"/>
                </a:solidFill>
                <a:latin typeface="Arial"/>
              </a:rPr>
              <a:t>.</a:t>
            </a:r>
          </a:p>
        </p:txBody>
      </p:sp>
      <p:pic>
        <p:nvPicPr>
          <p:cNvPr id="6" name="Picture 5">
            <a:extLst>
              <a:ext uri="{FF2B5EF4-FFF2-40B4-BE49-F238E27FC236}">
                <a16:creationId xmlns:a16="http://schemas.microsoft.com/office/drawing/2014/main" id="{8CFCE7D1-B5D8-187A-9CA7-158E791EC327}"/>
              </a:ext>
            </a:extLst>
          </p:cNvPr>
          <p:cNvPicPr>
            <a:picLocks noChangeAspect="1"/>
          </p:cNvPicPr>
          <p:nvPr/>
        </p:nvPicPr>
        <p:blipFill>
          <a:blip r:embed="rId3"/>
          <a:stretch>
            <a:fillRect/>
          </a:stretch>
        </p:blipFill>
        <p:spPr>
          <a:xfrm>
            <a:off x="14725019" y="109555"/>
            <a:ext cx="1272511" cy="7172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29184"/>
            <a:ext cx="11951427" cy="146194"/>
          </a:xfrm>
          <a:prstGeom prst="rect">
            <a:avLst/>
          </a:prstGeom>
          <a:noFill/>
        </p:spPr>
        <p:txBody>
          <a:bodyPr wrap="square" lIns="0" tIns="0" rIns="0" bIns="0" anchor="t">
            <a:spAutoFit/>
          </a:bodyPr>
          <a:lstStyle/>
          <a:p>
            <a:pPr algn="l">
              <a:lnSpc>
                <a:spcPct val="100000"/>
              </a:lnSpc>
            </a:pPr>
            <a:r>
              <a:rPr lang="en-US" sz="950" b="1" i="0">
                <a:solidFill>
                  <a:srgbClr val="13807B"/>
                </a:solidFill>
                <a:latin typeface="Arial"/>
              </a:rPr>
              <a:t>SEGMENTOS CON DEUDA</a:t>
            </a:r>
            <a:r>
              <a:rPr sz="950" b="1" i="0">
                <a:solidFill>
                  <a:srgbClr val="13807B"/>
                </a:solidFill>
                <a:latin typeface="Arial"/>
              </a:rPr>
              <a:t>· </a:t>
            </a:r>
            <a:r>
              <a:rPr lang="es-ES" sz="950" b="1" i="0">
                <a:solidFill>
                  <a:srgbClr val="13807B"/>
                </a:solidFill>
                <a:latin typeface="Arial"/>
              </a:rPr>
              <a:t>MAPA RESUMEN</a:t>
            </a:r>
            <a:endParaRPr sz="950" b="1" i="0">
              <a:solidFill>
                <a:srgbClr val="13807B"/>
              </a:solidFill>
              <a:latin typeface="Arial"/>
            </a:endParaRPr>
          </a:p>
        </p:txBody>
      </p:sp>
      <p:sp>
        <p:nvSpPr>
          <p:cNvPr id="3" name="TextBox 2"/>
          <p:cNvSpPr txBox="1"/>
          <p:nvPr/>
        </p:nvSpPr>
        <p:spPr>
          <a:xfrm>
            <a:off x="658368" y="566928"/>
            <a:ext cx="13750564" cy="603242"/>
          </a:xfrm>
          <a:prstGeom prst="rect">
            <a:avLst/>
          </a:prstGeom>
          <a:noFill/>
        </p:spPr>
        <p:txBody>
          <a:bodyPr wrap="square" lIns="0" tIns="0" rIns="0" bIns="0" anchor="t">
            <a:spAutoFit/>
          </a:bodyPr>
          <a:lstStyle/>
          <a:p>
            <a:pPr algn="l">
              <a:lnSpc>
                <a:spcPct val="98000"/>
              </a:lnSpc>
            </a:pPr>
            <a:r>
              <a:rPr lang="es-ES" sz="2000" b="1" i="0">
                <a:solidFill>
                  <a:srgbClr val="0B2E2C"/>
                </a:solidFill>
                <a:latin typeface="Arial"/>
              </a:rPr>
              <a:t>El mayor valor está donde el share es menor: seis perfiles en dos dimensiones — profundidad de relación y tamaño del cliente</a:t>
            </a:r>
          </a:p>
        </p:txBody>
      </p:sp>
      <p:cxnSp>
        <p:nvCxnSpPr>
          <p:cNvPr id="4" name="Connector 3"/>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p:cNvPicPr>
            <a:picLocks noChangeAspect="1"/>
          </p:cNvPicPr>
          <p:nvPr/>
        </p:nvPicPr>
        <p:blipFill>
          <a:blip r:embed="rId2"/>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E130EBF6-D1A1-3D71-2F4C-99ABF1615404}"/>
              </a:ext>
            </a:extLst>
          </p:cNvPr>
          <p:cNvPicPr>
            <a:picLocks noChangeAspect="1"/>
          </p:cNvPicPr>
          <p:nvPr/>
        </p:nvPicPr>
        <p:blipFill>
          <a:blip r:embed="rId3"/>
          <a:stretch>
            <a:fillRect/>
          </a:stretch>
        </p:blipFill>
        <p:spPr>
          <a:xfrm>
            <a:off x="14725019" y="109555"/>
            <a:ext cx="1272511" cy="717296"/>
          </a:xfrm>
          <a:prstGeom prst="rect">
            <a:avLst/>
          </a:prstGeom>
        </p:spPr>
      </p:pic>
      <p:cxnSp>
        <p:nvCxnSpPr>
          <p:cNvPr id="7" name="Connector 3">
            <a:extLst>
              <a:ext uri="{FF2B5EF4-FFF2-40B4-BE49-F238E27FC236}">
                <a16:creationId xmlns:a16="http://schemas.microsoft.com/office/drawing/2014/main" id="{09916938-9B2D-DED9-FBB9-0F654E994E73}"/>
              </a:ext>
            </a:extLst>
          </p:cNvPr>
          <p:cNvCxnSpPr/>
          <p:nvPr/>
        </p:nvCxnSpPr>
        <p:spPr>
          <a:xfrm>
            <a:off x="631330" y="1489540"/>
            <a:ext cx="15366200"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8" name="Shape 2">
            <a:extLst>
              <a:ext uri="{FF2B5EF4-FFF2-40B4-BE49-F238E27FC236}">
                <a16:creationId xmlns:a16="http://schemas.microsoft.com/office/drawing/2014/main" id="{413E156B-5A8D-A612-2A1C-B1040F89753D}"/>
              </a:ext>
            </a:extLst>
          </p:cNvPr>
          <p:cNvSpPr/>
          <p:nvPr/>
        </p:nvSpPr>
        <p:spPr>
          <a:xfrm>
            <a:off x="7146762" y="2377828"/>
            <a:ext cx="3008240" cy="4923546"/>
          </a:xfrm>
          <a:prstGeom prst="rect">
            <a:avLst/>
          </a:prstGeom>
          <a:solidFill>
            <a:srgbClr val="ECF6F5"/>
          </a:solidFill>
          <a:ln/>
        </p:spPr>
        <p:txBody>
          <a:bodyPr/>
          <a:lstStyle/>
          <a:p>
            <a:endParaRPr lang="es-PE" sz="2800"/>
          </a:p>
        </p:txBody>
      </p:sp>
      <p:sp>
        <p:nvSpPr>
          <p:cNvPr id="9" name="Shape 3">
            <a:extLst>
              <a:ext uri="{FF2B5EF4-FFF2-40B4-BE49-F238E27FC236}">
                <a16:creationId xmlns:a16="http://schemas.microsoft.com/office/drawing/2014/main" id="{F30CF2FB-88B1-964B-DAC5-DF6A84513F69}"/>
              </a:ext>
            </a:extLst>
          </p:cNvPr>
          <p:cNvSpPr/>
          <p:nvPr/>
        </p:nvSpPr>
        <p:spPr>
          <a:xfrm>
            <a:off x="1130285" y="2377829"/>
            <a:ext cx="6016480" cy="1506179"/>
          </a:xfrm>
          <a:prstGeom prst="rect">
            <a:avLst/>
          </a:prstGeom>
          <a:solidFill>
            <a:srgbClr val="FCF3E3"/>
          </a:solidFill>
          <a:ln/>
        </p:spPr>
        <p:txBody>
          <a:bodyPr/>
          <a:lstStyle/>
          <a:p>
            <a:endParaRPr lang="es-PE" sz="2800"/>
          </a:p>
        </p:txBody>
      </p:sp>
      <p:sp>
        <p:nvSpPr>
          <p:cNvPr id="10" name="Shape 4">
            <a:extLst>
              <a:ext uri="{FF2B5EF4-FFF2-40B4-BE49-F238E27FC236}">
                <a16:creationId xmlns:a16="http://schemas.microsoft.com/office/drawing/2014/main" id="{9F6FE7C9-BF62-5EE3-599E-F1D6ABCB8504}"/>
              </a:ext>
            </a:extLst>
          </p:cNvPr>
          <p:cNvSpPr/>
          <p:nvPr/>
        </p:nvSpPr>
        <p:spPr>
          <a:xfrm>
            <a:off x="7146762" y="2377828"/>
            <a:ext cx="0" cy="4923546"/>
          </a:xfrm>
          <a:prstGeom prst="line">
            <a:avLst/>
          </a:prstGeom>
          <a:noFill/>
          <a:ln w="12700">
            <a:solidFill>
              <a:srgbClr val="D5DFDE"/>
            </a:solidFill>
            <a:prstDash val="dash"/>
          </a:ln>
        </p:spPr>
        <p:txBody>
          <a:bodyPr/>
          <a:lstStyle/>
          <a:p>
            <a:endParaRPr lang="es-PE" sz="2800"/>
          </a:p>
        </p:txBody>
      </p:sp>
      <p:sp>
        <p:nvSpPr>
          <p:cNvPr id="11" name="Shape 5">
            <a:extLst>
              <a:ext uri="{FF2B5EF4-FFF2-40B4-BE49-F238E27FC236}">
                <a16:creationId xmlns:a16="http://schemas.microsoft.com/office/drawing/2014/main" id="{C1291CAF-23CF-0FAA-5A89-060E24315BEC}"/>
              </a:ext>
            </a:extLst>
          </p:cNvPr>
          <p:cNvSpPr/>
          <p:nvPr/>
        </p:nvSpPr>
        <p:spPr>
          <a:xfrm>
            <a:off x="1130285" y="3884009"/>
            <a:ext cx="6016480" cy="0"/>
          </a:xfrm>
          <a:prstGeom prst="line">
            <a:avLst/>
          </a:prstGeom>
          <a:noFill/>
          <a:ln w="12700">
            <a:solidFill>
              <a:srgbClr val="D5DFDE"/>
            </a:solidFill>
            <a:prstDash val="dash"/>
          </a:ln>
        </p:spPr>
        <p:txBody>
          <a:bodyPr/>
          <a:lstStyle/>
          <a:p>
            <a:endParaRPr lang="es-PE" sz="2800"/>
          </a:p>
        </p:txBody>
      </p:sp>
      <p:sp>
        <p:nvSpPr>
          <p:cNvPr id="12" name="Text 6">
            <a:extLst>
              <a:ext uri="{FF2B5EF4-FFF2-40B4-BE49-F238E27FC236}">
                <a16:creationId xmlns:a16="http://schemas.microsoft.com/office/drawing/2014/main" id="{387E8E4E-1D6D-4E23-82C3-6C754BFAAE30}"/>
              </a:ext>
            </a:extLst>
          </p:cNvPr>
          <p:cNvSpPr txBox="1"/>
          <p:nvPr/>
        </p:nvSpPr>
        <p:spPr>
          <a:xfrm>
            <a:off x="1130285" y="2020872"/>
            <a:ext cx="6016480" cy="270794"/>
          </a:xfrm>
          <a:prstGeom prst="rect">
            <a:avLst/>
          </a:prstGeom>
          <a:noFill/>
          <a:ln/>
        </p:spPr>
        <p:txBody>
          <a:bodyPr wrap="square" lIns="0" tIns="0" rIns="0" bIns="0" rtlCol="0" anchor="ctr"/>
          <a:lstStyle/>
          <a:p>
            <a:r>
              <a:rPr lang="en-US" sz="1100" b="1" kern="0" spc="38">
                <a:solidFill>
                  <a:srgbClr val="C87A0B"/>
                </a:solidFill>
                <a:latin typeface="Calibri" pitchFamily="34" charset="0"/>
                <a:ea typeface="Calibri" pitchFamily="34" charset="-122"/>
                <a:cs typeface="Calibri" pitchFamily="34" charset="-120"/>
              </a:rPr>
              <a:t>MAYOR TAMAÑO, MENOR SHARE · el valor por capturar</a:t>
            </a:r>
            <a:endParaRPr lang="en-US" sz="1100"/>
          </a:p>
        </p:txBody>
      </p:sp>
      <p:sp>
        <p:nvSpPr>
          <p:cNvPr id="13" name="Text 7">
            <a:extLst>
              <a:ext uri="{FF2B5EF4-FFF2-40B4-BE49-F238E27FC236}">
                <a16:creationId xmlns:a16="http://schemas.microsoft.com/office/drawing/2014/main" id="{C0B49A77-90DC-D4C9-F5BC-68B1359A4914}"/>
              </a:ext>
            </a:extLst>
          </p:cNvPr>
          <p:cNvSpPr txBox="1"/>
          <p:nvPr/>
        </p:nvSpPr>
        <p:spPr>
          <a:xfrm>
            <a:off x="7244992" y="2020872"/>
            <a:ext cx="2910011" cy="270794"/>
          </a:xfrm>
          <a:prstGeom prst="rect">
            <a:avLst/>
          </a:prstGeom>
          <a:noFill/>
          <a:ln/>
        </p:spPr>
        <p:txBody>
          <a:bodyPr wrap="square" lIns="0" tIns="0" rIns="0" bIns="0" rtlCol="0" anchor="ctr"/>
          <a:lstStyle/>
          <a:p>
            <a:r>
              <a:rPr lang="en-US" sz="1100" b="1" kern="0" spc="38">
                <a:solidFill>
                  <a:srgbClr val="13807B"/>
                </a:solidFill>
                <a:latin typeface="Calibri" pitchFamily="34" charset="0"/>
                <a:ea typeface="Calibri" pitchFamily="34" charset="-122"/>
                <a:cs typeface="Calibri" pitchFamily="34" charset="-120"/>
              </a:rPr>
              <a:t>YA NOS PREFIEREN · SOW ≥ 50%</a:t>
            </a:r>
            <a:endParaRPr lang="en-US" sz="1100"/>
          </a:p>
        </p:txBody>
      </p:sp>
      <p:sp>
        <p:nvSpPr>
          <p:cNvPr id="14" name="Text 8">
            <a:extLst>
              <a:ext uri="{FF2B5EF4-FFF2-40B4-BE49-F238E27FC236}">
                <a16:creationId xmlns:a16="http://schemas.microsoft.com/office/drawing/2014/main" id="{72603B53-B834-A76C-75F3-011D70CB8AA7}"/>
              </a:ext>
            </a:extLst>
          </p:cNvPr>
          <p:cNvSpPr txBox="1"/>
          <p:nvPr/>
        </p:nvSpPr>
        <p:spPr>
          <a:xfrm>
            <a:off x="1228513" y="6956727"/>
            <a:ext cx="2210136" cy="246176"/>
          </a:xfrm>
          <a:prstGeom prst="rect">
            <a:avLst/>
          </a:prstGeom>
          <a:noFill/>
          <a:ln/>
        </p:spPr>
        <p:txBody>
          <a:bodyPr wrap="square" lIns="0" tIns="0" rIns="0" bIns="0" rtlCol="0" anchor="ctr"/>
          <a:lstStyle/>
          <a:p>
            <a:r>
              <a:rPr lang="en-US" sz="1100" b="1" kern="0" spc="38">
                <a:solidFill>
                  <a:srgbClr val="A8B5B4"/>
                </a:solidFill>
                <a:latin typeface="Calibri" pitchFamily="34" charset="0"/>
                <a:ea typeface="Calibri" pitchFamily="34" charset="-122"/>
                <a:cs typeface="Calibri" pitchFamily="34" charset="-120"/>
              </a:rPr>
              <a:t>MENOR ESCALA</a:t>
            </a:r>
            <a:endParaRPr lang="en-US" sz="1100"/>
          </a:p>
        </p:txBody>
      </p:sp>
      <p:sp>
        <p:nvSpPr>
          <p:cNvPr id="15" name="Shape 9">
            <a:extLst>
              <a:ext uri="{FF2B5EF4-FFF2-40B4-BE49-F238E27FC236}">
                <a16:creationId xmlns:a16="http://schemas.microsoft.com/office/drawing/2014/main" id="{4CD371E8-C08F-7409-F0DD-6C54D668EE65}"/>
              </a:ext>
            </a:extLst>
          </p:cNvPr>
          <p:cNvSpPr/>
          <p:nvPr/>
        </p:nvSpPr>
        <p:spPr>
          <a:xfrm>
            <a:off x="1130283" y="2377828"/>
            <a:ext cx="0" cy="4923546"/>
          </a:xfrm>
          <a:prstGeom prst="line">
            <a:avLst/>
          </a:prstGeom>
          <a:noFill/>
          <a:ln w="15875">
            <a:solidFill>
              <a:srgbClr val="3E5553"/>
            </a:solidFill>
            <a:prstDash val="solid"/>
            <a:headEnd type="arrow"/>
          </a:ln>
        </p:spPr>
        <p:txBody>
          <a:bodyPr/>
          <a:lstStyle/>
          <a:p>
            <a:endParaRPr lang="es-PE" sz="2800"/>
          </a:p>
        </p:txBody>
      </p:sp>
      <p:sp>
        <p:nvSpPr>
          <p:cNvPr id="16" name="Shape 10">
            <a:extLst>
              <a:ext uri="{FF2B5EF4-FFF2-40B4-BE49-F238E27FC236}">
                <a16:creationId xmlns:a16="http://schemas.microsoft.com/office/drawing/2014/main" id="{69383DD6-EF81-AF3A-EC2C-15CC5A327305}"/>
              </a:ext>
            </a:extLst>
          </p:cNvPr>
          <p:cNvSpPr/>
          <p:nvPr/>
        </p:nvSpPr>
        <p:spPr>
          <a:xfrm>
            <a:off x="1130285" y="7301373"/>
            <a:ext cx="9024718" cy="0"/>
          </a:xfrm>
          <a:prstGeom prst="line">
            <a:avLst/>
          </a:prstGeom>
          <a:noFill/>
          <a:ln w="15875">
            <a:solidFill>
              <a:srgbClr val="3E5553"/>
            </a:solidFill>
            <a:prstDash val="solid"/>
            <a:tailEnd type="arrow"/>
          </a:ln>
        </p:spPr>
        <p:txBody>
          <a:bodyPr/>
          <a:lstStyle/>
          <a:p>
            <a:endParaRPr lang="es-PE" sz="2800"/>
          </a:p>
        </p:txBody>
      </p:sp>
      <p:sp>
        <p:nvSpPr>
          <p:cNvPr id="17" name="Text 11">
            <a:extLst>
              <a:ext uri="{FF2B5EF4-FFF2-40B4-BE49-F238E27FC236}">
                <a16:creationId xmlns:a16="http://schemas.microsoft.com/office/drawing/2014/main" id="{B6C9B34D-9D41-873D-73BB-3364CB04A740}"/>
              </a:ext>
            </a:extLst>
          </p:cNvPr>
          <p:cNvSpPr txBox="1"/>
          <p:nvPr/>
        </p:nvSpPr>
        <p:spPr>
          <a:xfrm>
            <a:off x="761928" y="7338299"/>
            <a:ext cx="736712" cy="221560"/>
          </a:xfrm>
          <a:prstGeom prst="rect">
            <a:avLst/>
          </a:prstGeom>
          <a:noFill/>
          <a:ln/>
        </p:spPr>
        <p:txBody>
          <a:bodyPr wrap="square" lIns="0" tIns="0" rIns="0" bIns="0" rtlCol="0" anchor="ctr"/>
          <a:lstStyle/>
          <a:p>
            <a:pPr algn="ctr"/>
            <a:r>
              <a:rPr lang="en-US" sz="1100">
                <a:solidFill>
                  <a:srgbClr val="6E7E7D"/>
                </a:solidFill>
                <a:latin typeface="Calibri" pitchFamily="34" charset="0"/>
                <a:ea typeface="Calibri" pitchFamily="34" charset="-122"/>
                <a:cs typeface="Calibri" pitchFamily="34" charset="-120"/>
              </a:rPr>
              <a:t>0%</a:t>
            </a:r>
            <a:endParaRPr lang="en-US" sz="1100"/>
          </a:p>
        </p:txBody>
      </p:sp>
      <p:sp>
        <p:nvSpPr>
          <p:cNvPr id="18" name="Text 12">
            <a:extLst>
              <a:ext uri="{FF2B5EF4-FFF2-40B4-BE49-F238E27FC236}">
                <a16:creationId xmlns:a16="http://schemas.microsoft.com/office/drawing/2014/main" id="{0912FC24-BBDF-A5A4-4EE1-C5C2E0832C11}"/>
              </a:ext>
            </a:extLst>
          </p:cNvPr>
          <p:cNvSpPr txBox="1"/>
          <p:nvPr/>
        </p:nvSpPr>
        <p:spPr>
          <a:xfrm>
            <a:off x="3770167" y="7338299"/>
            <a:ext cx="736712" cy="221560"/>
          </a:xfrm>
          <a:prstGeom prst="rect">
            <a:avLst/>
          </a:prstGeom>
          <a:noFill/>
          <a:ln/>
        </p:spPr>
        <p:txBody>
          <a:bodyPr wrap="square" lIns="0" tIns="0" rIns="0" bIns="0" rtlCol="0" anchor="ctr"/>
          <a:lstStyle/>
          <a:p>
            <a:pPr algn="ctr"/>
            <a:r>
              <a:rPr lang="en-US" sz="1100">
                <a:solidFill>
                  <a:srgbClr val="6E7E7D"/>
                </a:solidFill>
                <a:latin typeface="Calibri" pitchFamily="34" charset="0"/>
                <a:ea typeface="Calibri" pitchFamily="34" charset="-122"/>
                <a:cs typeface="Calibri" pitchFamily="34" charset="-120"/>
              </a:rPr>
              <a:t>25%</a:t>
            </a:r>
            <a:endParaRPr lang="en-US" sz="1100"/>
          </a:p>
        </p:txBody>
      </p:sp>
      <p:sp>
        <p:nvSpPr>
          <p:cNvPr id="19" name="Text 13">
            <a:extLst>
              <a:ext uri="{FF2B5EF4-FFF2-40B4-BE49-F238E27FC236}">
                <a16:creationId xmlns:a16="http://schemas.microsoft.com/office/drawing/2014/main" id="{CF19E750-159F-4DA3-422D-C10694DF8AE1}"/>
              </a:ext>
            </a:extLst>
          </p:cNvPr>
          <p:cNvSpPr txBox="1"/>
          <p:nvPr/>
        </p:nvSpPr>
        <p:spPr>
          <a:xfrm>
            <a:off x="6778408" y="7338299"/>
            <a:ext cx="736712" cy="221560"/>
          </a:xfrm>
          <a:prstGeom prst="rect">
            <a:avLst/>
          </a:prstGeom>
          <a:noFill/>
          <a:ln/>
        </p:spPr>
        <p:txBody>
          <a:bodyPr wrap="square" lIns="0" tIns="0" rIns="0" bIns="0" rtlCol="0" anchor="ctr"/>
          <a:lstStyle/>
          <a:p>
            <a:pPr algn="ctr"/>
            <a:r>
              <a:rPr lang="en-US" sz="1100">
                <a:solidFill>
                  <a:srgbClr val="6E7E7D"/>
                </a:solidFill>
                <a:latin typeface="Calibri" pitchFamily="34" charset="0"/>
                <a:ea typeface="Calibri" pitchFamily="34" charset="-122"/>
                <a:cs typeface="Calibri" pitchFamily="34" charset="-120"/>
              </a:rPr>
              <a:t>50%</a:t>
            </a:r>
            <a:endParaRPr lang="en-US" sz="1100"/>
          </a:p>
        </p:txBody>
      </p:sp>
      <p:sp>
        <p:nvSpPr>
          <p:cNvPr id="20" name="Text 14">
            <a:extLst>
              <a:ext uri="{FF2B5EF4-FFF2-40B4-BE49-F238E27FC236}">
                <a16:creationId xmlns:a16="http://schemas.microsoft.com/office/drawing/2014/main" id="{4305062E-121B-8E03-F787-58BB16B943D7}"/>
              </a:ext>
            </a:extLst>
          </p:cNvPr>
          <p:cNvSpPr txBox="1"/>
          <p:nvPr/>
        </p:nvSpPr>
        <p:spPr>
          <a:xfrm>
            <a:off x="9786646" y="7338299"/>
            <a:ext cx="736712" cy="221560"/>
          </a:xfrm>
          <a:prstGeom prst="rect">
            <a:avLst/>
          </a:prstGeom>
          <a:noFill/>
          <a:ln/>
        </p:spPr>
        <p:txBody>
          <a:bodyPr wrap="square" lIns="0" tIns="0" rIns="0" bIns="0" rtlCol="0" anchor="ctr"/>
          <a:lstStyle/>
          <a:p>
            <a:pPr algn="ctr"/>
            <a:r>
              <a:rPr lang="en-US" sz="1100">
                <a:solidFill>
                  <a:srgbClr val="6E7E7D"/>
                </a:solidFill>
                <a:latin typeface="Calibri" pitchFamily="34" charset="0"/>
                <a:ea typeface="Calibri" pitchFamily="34" charset="-122"/>
                <a:cs typeface="Calibri" pitchFamily="34" charset="-120"/>
              </a:rPr>
              <a:t>75%</a:t>
            </a:r>
            <a:endParaRPr lang="en-US" sz="1100"/>
          </a:p>
        </p:txBody>
      </p:sp>
      <p:sp>
        <p:nvSpPr>
          <p:cNvPr id="21" name="Text 15">
            <a:extLst>
              <a:ext uri="{FF2B5EF4-FFF2-40B4-BE49-F238E27FC236}">
                <a16:creationId xmlns:a16="http://schemas.microsoft.com/office/drawing/2014/main" id="{4186AECA-9608-D248-2156-127738F97606}"/>
              </a:ext>
            </a:extLst>
          </p:cNvPr>
          <p:cNvSpPr txBox="1"/>
          <p:nvPr/>
        </p:nvSpPr>
        <p:spPr>
          <a:xfrm>
            <a:off x="123444" y="5991851"/>
            <a:ext cx="933169" cy="221560"/>
          </a:xfrm>
          <a:prstGeom prst="rect">
            <a:avLst/>
          </a:prstGeom>
          <a:noFill/>
          <a:ln/>
        </p:spPr>
        <p:txBody>
          <a:bodyPr wrap="square" lIns="0" tIns="0" rIns="0" bIns="0" rtlCol="0" anchor="ctr"/>
          <a:lstStyle/>
          <a:p>
            <a:pPr algn="r"/>
            <a:r>
              <a:rPr lang="en-US" sz="1100">
                <a:solidFill>
                  <a:srgbClr val="6E7E7D"/>
                </a:solidFill>
                <a:latin typeface="Calibri" pitchFamily="34" charset="0"/>
                <a:ea typeface="Calibri" pitchFamily="34" charset="-122"/>
                <a:cs typeface="Calibri" pitchFamily="34" charset="-120"/>
              </a:rPr>
              <a:t>S/ 0.5 MM</a:t>
            </a:r>
            <a:endParaRPr lang="en-US" sz="1100"/>
          </a:p>
        </p:txBody>
      </p:sp>
      <p:sp>
        <p:nvSpPr>
          <p:cNvPr id="22" name="Text 16">
            <a:extLst>
              <a:ext uri="{FF2B5EF4-FFF2-40B4-BE49-F238E27FC236}">
                <a16:creationId xmlns:a16="http://schemas.microsoft.com/office/drawing/2014/main" id="{F2B6BFB1-924C-7059-E182-A78F9D65FBDF}"/>
              </a:ext>
            </a:extLst>
          </p:cNvPr>
          <p:cNvSpPr txBox="1"/>
          <p:nvPr/>
        </p:nvSpPr>
        <p:spPr>
          <a:xfrm>
            <a:off x="123444" y="4592057"/>
            <a:ext cx="933169" cy="221560"/>
          </a:xfrm>
          <a:prstGeom prst="rect">
            <a:avLst/>
          </a:prstGeom>
          <a:noFill/>
          <a:ln/>
        </p:spPr>
        <p:txBody>
          <a:bodyPr wrap="square" lIns="0" tIns="0" rIns="0" bIns="0" rtlCol="0" anchor="ctr"/>
          <a:lstStyle/>
          <a:p>
            <a:pPr algn="r"/>
            <a:r>
              <a:rPr lang="en-US" sz="1100">
                <a:solidFill>
                  <a:srgbClr val="6E7E7D"/>
                </a:solidFill>
                <a:latin typeface="Calibri" pitchFamily="34" charset="0"/>
                <a:ea typeface="Calibri" pitchFamily="34" charset="-122"/>
                <a:cs typeface="Calibri" pitchFamily="34" charset="-120"/>
              </a:rPr>
              <a:t>S/ 1 MM</a:t>
            </a:r>
            <a:endParaRPr lang="en-US" sz="1100"/>
          </a:p>
        </p:txBody>
      </p:sp>
      <p:sp>
        <p:nvSpPr>
          <p:cNvPr id="23" name="Text 17">
            <a:extLst>
              <a:ext uri="{FF2B5EF4-FFF2-40B4-BE49-F238E27FC236}">
                <a16:creationId xmlns:a16="http://schemas.microsoft.com/office/drawing/2014/main" id="{E0BA06DF-BEAA-B7B7-430B-EAE05500878E}"/>
              </a:ext>
            </a:extLst>
          </p:cNvPr>
          <p:cNvSpPr txBox="1"/>
          <p:nvPr/>
        </p:nvSpPr>
        <p:spPr>
          <a:xfrm>
            <a:off x="123444" y="2512764"/>
            <a:ext cx="933169" cy="221560"/>
          </a:xfrm>
          <a:prstGeom prst="rect">
            <a:avLst/>
          </a:prstGeom>
          <a:noFill/>
          <a:ln/>
        </p:spPr>
        <p:txBody>
          <a:bodyPr wrap="square" lIns="0" tIns="0" rIns="0" bIns="0" rtlCol="0" anchor="ctr"/>
          <a:lstStyle/>
          <a:p>
            <a:pPr algn="r"/>
            <a:r>
              <a:rPr lang="en-US" sz="1100">
                <a:solidFill>
                  <a:srgbClr val="6E7E7D"/>
                </a:solidFill>
                <a:latin typeface="Calibri" pitchFamily="34" charset="0"/>
                <a:ea typeface="Calibri" pitchFamily="34" charset="-122"/>
                <a:cs typeface="Calibri" pitchFamily="34" charset="-120"/>
              </a:rPr>
              <a:t>S/ 2.8 MM</a:t>
            </a:r>
            <a:endParaRPr lang="en-US" sz="1100"/>
          </a:p>
        </p:txBody>
      </p:sp>
      <p:sp>
        <p:nvSpPr>
          <p:cNvPr id="24" name="Text 18">
            <a:extLst>
              <a:ext uri="{FF2B5EF4-FFF2-40B4-BE49-F238E27FC236}">
                <a16:creationId xmlns:a16="http://schemas.microsoft.com/office/drawing/2014/main" id="{FECC4FCE-8110-1D01-2573-B3B18113C6A7}"/>
              </a:ext>
            </a:extLst>
          </p:cNvPr>
          <p:cNvSpPr txBox="1"/>
          <p:nvPr/>
        </p:nvSpPr>
        <p:spPr>
          <a:xfrm>
            <a:off x="1130285" y="7596788"/>
            <a:ext cx="9024718" cy="270794"/>
          </a:xfrm>
          <a:prstGeom prst="rect">
            <a:avLst/>
          </a:prstGeom>
          <a:noFill/>
          <a:ln/>
        </p:spPr>
        <p:txBody>
          <a:bodyPr wrap="square" lIns="0" tIns="0" rIns="0" bIns="0" rtlCol="0" anchor="ctr"/>
          <a:lstStyle/>
          <a:p>
            <a:pPr algn="ctr"/>
            <a:r>
              <a:rPr lang="en-US" sz="1100" b="1">
                <a:solidFill>
                  <a:srgbClr val="3E5553"/>
                </a:solidFill>
                <a:latin typeface="Calibri" pitchFamily="34" charset="0"/>
                <a:ea typeface="Calibri" pitchFamily="34" charset="-122"/>
                <a:cs typeface="Calibri" pitchFamily="34" charset="-120"/>
              </a:rPr>
              <a:t>PROFUNDIDAD DE RELACIÓN</a:t>
            </a:r>
            <a:r>
              <a:rPr lang="en-US" sz="1100">
                <a:solidFill>
                  <a:srgbClr val="6E7E7D"/>
                </a:solidFill>
                <a:latin typeface="Calibri" pitchFamily="34" charset="0"/>
                <a:ea typeface="Calibri" pitchFamily="34" charset="-122"/>
                <a:cs typeface="Calibri" pitchFamily="34" charset="-120"/>
              </a:rPr>
              <a:t>   SOW de deuda (mediana)</a:t>
            </a:r>
            <a:endParaRPr lang="en-US" sz="1100"/>
          </a:p>
        </p:txBody>
      </p:sp>
      <p:sp>
        <p:nvSpPr>
          <p:cNvPr id="25" name="Text 19">
            <a:extLst>
              <a:ext uri="{FF2B5EF4-FFF2-40B4-BE49-F238E27FC236}">
                <a16:creationId xmlns:a16="http://schemas.microsoft.com/office/drawing/2014/main" id="{D9AEE0D4-93B5-E831-90BE-3FD2E8D0E77A}"/>
              </a:ext>
            </a:extLst>
          </p:cNvPr>
          <p:cNvSpPr txBox="1"/>
          <p:nvPr/>
        </p:nvSpPr>
        <p:spPr>
          <a:xfrm rot="16200000">
            <a:off x="-2200198" y="4670878"/>
            <a:ext cx="5046635" cy="288209"/>
          </a:xfrm>
          <a:prstGeom prst="rect">
            <a:avLst/>
          </a:prstGeom>
          <a:noFill/>
          <a:ln/>
        </p:spPr>
        <p:txBody>
          <a:bodyPr wrap="square" lIns="0" tIns="0" rIns="0" bIns="0" rtlCol="0" anchor="ctr"/>
          <a:lstStyle/>
          <a:p>
            <a:pPr algn="ctr"/>
            <a:r>
              <a:rPr lang="en-US" sz="1100" b="1">
                <a:solidFill>
                  <a:srgbClr val="3E5553"/>
                </a:solidFill>
                <a:latin typeface="Calibri" pitchFamily="34" charset="0"/>
                <a:ea typeface="Calibri" pitchFamily="34" charset="-122"/>
                <a:cs typeface="Calibri" pitchFamily="34" charset="-120"/>
              </a:rPr>
              <a:t>TAMAÑO DEL CLIENTE</a:t>
            </a:r>
            <a:r>
              <a:rPr lang="en-US" sz="1100">
                <a:solidFill>
                  <a:srgbClr val="6E7E7D"/>
                </a:solidFill>
                <a:latin typeface="Calibri" pitchFamily="34" charset="0"/>
                <a:ea typeface="Calibri" pitchFamily="34" charset="-122"/>
                <a:cs typeface="Calibri" pitchFamily="34" charset="-120"/>
              </a:rPr>
              <a:t>   Ventas </a:t>
            </a:r>
            <a:r>
              <a:rPr lang="en-US" sz="1100" err="1">
                <a:solidFill>
                  <a:srgbClr val="6E7E7D"/>
                </a:solidFill>
                <a:latin typeface="Calibri" pitchFamily="34" charset="0"/>
                <a:ea typeface="Calibri" pitchFamily="34" charset="-122"/>
                <a:cs typeface="Calibri" pitchFamily="34" charset="-120"/>
              </a:rPr>
              <a:t>medianas</a:t>
            </a:r>
            <a:r>
              <a:rPr lang="en-US" sz="1100">
                <a:solidFill>
                  <a:srgbClr val="6E7E7D"/>
                </a:solidFill>
                <a:latin typeface="Calibri" pitchFamily="34" charset="0"/>
                <a:ea typeface="Calibri" pitchFamily="34" charset="-122"/>
                <a:cs typeface="Calibri" pitchFamily="34" charset="-120"/>
              </a:rPr>
              <a:t> </a:t>
            </a:r>
            <a:endParaRPr lang="en-US" sz="1100"/>
          </a:p>
        </p:txBody>
      </p:sp>
      <p:sp>
        <p:nvSpPr>
          <p:cNvPr id="26" name="Shape 20">
            <a:extLst>
              <a:ext uri="{FF2B5EF4-FFF2-40B4-BE49-F238E27FC236}">
                <a16:creationId xmlns:a16="http://schemas.microsoft.com/office/drawing/2014/main" id="{F77FD343-AFF3-6FC7-2376-325631F5FA8D}"/>
              </a:ext>
            </a:extLst>
          </p:cNvPr>
          <p:cNvSpPr/>
          <p:nvPr/>
        </p:nvSpPr>
        <p:spPr>
          <a:xfrm>
            <a:off x="8330414" y="4909533"/>
            <a:ext cx="1964565" cy="1009328"/>
          </a:xfrm>
          <a:prstGeom prst="roundRect">
            <a:avLst>
              <a:gd name="adj" fmla="val 5488"/>
            </a:avLst>
          </a:prstGeom>
          <a:solidFill>
            <a:srgbClr val="FFFFFF"/>
          </a:solidFill>
          <a:ln w="15875">
            <a:solidFill>
              <a:srgbClr val="0C514E"/>
            </a:solidFill>
            <a:prstDash val="solid"/>
          </a:ln>
        </p:spPr>
        <p:txBody>
          <a:bodyPr/>
          <a:lstStyle/>
          <a:p>
            <a:endParaRPr lang="es-PE" sz="2800"/>
          </a:p>
        </p:txBody>
      </p:sp>
      <p:sp>
        <p:nvSpPr>
          <p:cNvPr id="27" name="Shape 21">
            <a:extLst>
              <a:ext uri="{FF2B5EF4-FFF2-40B4-BE49-F238E27FC236}">
                <a16:creationId xmlns:a16="http://schemas.microsoft.com/office/drawing/2014/main" id="{5A6427B4-C5B6-D49A-4870-BD2CA0237D31}"/>
              </a:ext>
            </a:extLst>
          </p:cNvPr>
          <p:cNvSpPr/>
          <p:nvPr/>
        </p:nvSpPr>
        <p:spPr>
          <a:xfrm>
            <a:off x="8416364" y="4995697"/>
            <a:ext cx="306963" cy="307721"/>
          </a:xfrm>
          <a:prstGeom prst="ellipse">
            <a:avLst/>
          </a:prstGeom>
          <a:solidFill>
            <a:srgbClr val="0C514E"/>
          </a:solidFill>
          <a:ln/>
        </p:spPr>
        <p:txBody>
          <a:bodyPr/>
          <a:lstStyle/>
          <a:p>
            <a:endParaRPr lang="es-PE" sz="2800"/>
          </a:p>
        </p:txBody>
      </p:sp>
      <p:sp>
        <p:nvSpPr>
          <p:cNvPr id="28" name="Text 22">
            <a:extLst>
              <a:ext uri="{FF2B5EF4-FFF2-40B4-BE49-F238E27FC236}">
                <a16:creationId xmlns:a16="http://schemas.microsoft.com/office/drawing/2014/main" id="{BC55102A-7663-6A68-C2A5-37B31A84C76E}"/>
              </a:ext>
            </a:extLst>
          </p:cNvPr>
          <p:cNvSpPr txBox="1"/>
          <p:nvPr/>
        </p:nvSpPr>
        <p:spPr>
          <a:xfrm>
            <a:off x="8416364" y="4995697"/>
            <a:ext cx="306963" cy="307721"/>
          </a:xfrm>
          <a:prstGeom prst="rect">
            <a:avLst/>
          </a:prstGeom>
          <a:noFill/>
          <a:ln/>
        </p:spPr>
        <p:txBody>
          <a:bodyPr wrap="square" lIns="0" tIns="0" rIns="0" bIns="0" rtlCol="0" anchor="ctr"/>
          <a:lstStyle/>
          <a:p>
            <a:pPr algn="ctr"/>
            <a:r>
              <a:rPr lang="en-US" sz="1200" b="1">
                <a:solidFill>
                  <a:srgbClr val="FFFFFF"/>
                </a:solidFill>
                <a:latin typeface="Poppins" pitchFamily="34" charset="0"/>
                <a:ea typeface="Poppins" pitchFamily="34" charset="-122"/>
                <a:cs typeface="Poppins" pitchFamily="34" charset="-120"/>
              </a:rPr>
              <a:t>1</a:t>
            </a:r>
            <a:endParaRPr lang="en-US" sz="1200"/>
          </a:p>
        </p:txBody>
      </p:sp>
      <p:pic>
        <p:nvPicPr>
          <p:cNvPr id="29" name="Image 0" descr="preencoded.png">
            <a:extLst>
              <a:ext uri="{FF2B5EF4-FFF2-40B4-BE49-F238E27FC236}">
                <a16:creationId xmlns:a16="http://schemas.microsoft.com/office/drawing/2014/main" id="{7FDB5350-3DC0-7CAB-B3FB-BD508FD0EBC8}"/>
              </a:ext>
            </a:extLst>
          </p:cNvPr>
          <p:cNvPicPr>
            <a:picLocks noChangeAspect="1"/>
          </p:cNvPicPr>
          <p:nvPr/>
        </p:nvPicPr>
        <p:blipFill>
          <a:blip r:embed="rId4"/>
          <a:stretch>
            <a:fillRect/>
          </a:stretch>
        </p:blipFill>
        <p:spPr>
          <a:xfrm>
            <a:off x="10024850" y="4995695"/>
            <a:ext cx="159621" cy="160016"/>
          </a:xfrm>
          <a:prstGeom prst="rect">
            <a:avLst/>
          </a:prstGeom>
        </p:spPr>
      </p:pic>
      <p:sp>
        <p:nvSpPr>
          <p:cNvPr id="30" name="Text 23">
            <a:extLst>
              <a:ext uri="{FF2B5EF4-FFF2-40B4-BE49-F238E27FC236}">
                <a16:creationId xmlns:a16="http://schemas.microsoft.com/office/drawing/2014/main" id="{E72A4CD1-65BC-F12F-8B46-261C959FEC62}"/>
              </a:ext>
            </a:extLst>
          </p:cNvPr>
          <p:cNvSpPr txBox="1"/>
          <p:nvPr/>
        </p:nvSpPr>
        <p:spPr>
          <a:xfrm>
            <a:off x="8796998" y="4964924"/>
            <a:ext cx="1203296" cy="393883"/>
          </a:xfrm>
          <a:prstGeom prst="rect">
            <a:avLst/>
          </a:prstGeom>
          <a:noFill/>
          <a:ln/>
        </p:spPr>
        <p:txBody>
          <a:bodyPr wrap="square" lIns="0" tIns="0" rIns="0" bIns="0" rtlCol="0" anchor="t"/>
          <a:lstStyle/>
          <a:p>
            <a:pPr>
              <a:lnSpc>
                <a:spcPct val="90000"/>
              </a:lnSpc>
            </a:pPr>
            <a:r>
              <a:rPr lang="en-US" sz="1100" b="1">
                <a:solidFill>
                  <a:srgbClr val="0C514E"/>
                </a:solidFill>
                <a:latin typeface="Calibri" pitchFamily="34" charset="0"/>
                <a:ea typeface="Calibri" pitchFamily="34" charset="-122"/>
                <a:cs typeface="Calibri" pitchFamily="34" charset="-120"/>
              </a:rPr>
              <a:t>Cliente Ancla</a:t>
            </a:r>
            <a:endParaRPr lang="en-US" sz="1100"/>
          </a:p>
        </p:txBody>
      </p:sp>
      <p:sp>
        <p:nvSpPr>
          <p:cNvPr id="31" name="Text 24">
            <a:extLst>
              <a:ext uri="{FF2B5EF4-FFF2-40B4-BE49-F238E27FC236}">
                <a16:creationId xmlns:a16="http://schemas.microsoft.com/office/drawing/2014/main" id="{8D913930-A8FB-1996-F7A7-59765EF5F963}"/>
              </a:ext>
            </a:extLst>
          </p:cNvPr>
          <p:cNvSpPr txBox="1"/>
          <p:nvPr/>
        </p:nvSpPr>
        <p:spPr>
          <a:xfrm>
            <a:off x="8416363" y="5401887"/>
            <a:ext cx="1792665" cy="221560"/>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SOW 68% · Ventas S/ 682k</a:t>
            </a:r>
            <a:endParaRPr lang="en-US" sz="1050"/>
          </a:p>
        </p:txBody>
      </p:sp>
      <p:sp>
        <p:nvSpPr>
          <p:cNvPr id="32" name="Text 25">
            <a:extLst>
              <a:ext uri="{FF2B5EF4-FFF2-40B4-BE49-F238E27FC236}">
                <a16:creationId xmlns:a16="http://schemas.microsoft.com/office/drawing/2014/main" id="{A46FB583-90D7-8CFA-1463-D0F5800D4A87}"/>
              </a:ext>
            </a:extLst>
          </p:cNvPr>
          <p:cNvSpPr txBox="1"/>
          <p:nvPr/>
        </p:nvSpPr>
        <p:spPr>
          <a:xfrm>
            <a:off x="8416363" y="5623447"/>
            <a:ext cx="1792665" cy="221560"/>
          </a:xfrm>
          <a:prstGeom prst="rect">
            <a:avLst/>
          </a:prstGeom>
          <a:noFill/>
          <a:ln/>
        </p:spPr>
        <p:txBody>
          <a:bodyPr wrap="square" lIns="0" tIns="0" rIns="0" bIns="0" rtlCol="0" anchor="ctr"/>
          <a:lstStyle/>
          <a:p>
            <a:r>
              <a:rPr lang="en-US" sz="1050" b="1">
                <a:solidFill>
                  <a:srgbClr val="13807B"/>
                </a:solidFill>
                <a:latin typeface="Calibri" pitchFamily="34" charset="0"/>
                <a:ea typeface="Calibri" pitchFamily="34" charset="-122"/>
                <a:cs typeface="Calibri" pitchFamily="34" charset="-120"/>
              </a:rPr>
              <a:t>Conv. 2.7%</a:t>
            </a:r>
            <a:r>
              <a:rPr lang="en-US" sz="1050">
                <a:solidFill>
                  <a:srgbClr val="6E7E7D"/>
                </a:solidFill>
                <a:latin typeface="Calibri" pitchFamily="34" charset="0"/>
                <a:ea typeface="Calibri" pitchFamily="34" charset="-122"/>
                <a:cs typeface="Calibri" pitchFamily="34" charset="-120"/>
              </a:rPr>
              <a:t> · Retanq. 18.5%</a:t>
            </a:r>
            <a:endParaRPr lang="en-US" sz="1050"/>
          </a:p>
        </p:txBody>
      </p:sp>
      <p:sp>
        <p:nvSpPr>
          <p:cNvPr id="33" name="Shape 26">
            <a:extLst>
              <a:ext uri="{FF2B5EF4-FFF2-40B4-BE49-F238E27FC236}">
                <a16:creationId xmlns:a16="http://schemas.microsoft.com/office/drawing/2014/main" id="{F0940800-57D4-58FE-AEEB-3A3B9C8DFE94}"/>
              </a:ext>
            </a:extLst>
          </p:cNvPr>
          <p:cNvSpPr/>
          <p:nvPr/>
        </p:nvSpPr>
        <p:spPr>
          <a:xfrm>
            <a:off x="7193421" y="5985553"/>
            <a:ext cx="1964565" cy="1009328"/>
          </a:xfrm>
          <a:prstGeom prst="roundRect">
            <a:avLst>
              <a:gd name="adj" fmla="val 5488"/>
            </a:avLst>
          </a:prstGeom>
          <a:solidFill>
            <a:srgbClr val="FFFFFF"/>
          </a:solidFill>
          <a:ln w="15875">
            <a:solidFill>
              <a:srgbClr val="13807B"/>
            </a:solidFill>
            <a:prstDash val="solid"/>
          </a:ln>
        </p:spPr>
        <p:txBody>
          <a:bodyPr/>
          <a:lstStyle/>
          <a:p>
            <a:endParaRPr lang="es-PE" sz="2800"/>
          </a:p>
        </p:txBody>
      </p:sp>
      <p:sp>
        <p:nvSpPr>
          <p:cNvPr id="34" name="Shape 27">
            <a:extLst>
              <a:ext uri="{FF2B5EF4-FFF2-40B4-BE49-F238E27FC236}">
                <a16:creationId xmlns:a16="http://schemas.microsoft.com/office/drawing/2014/main" id="{53E528CB-1B7F-E173-8D89-DEB3BAE42EB1}"/>
              </a:ext>
            </a:extLst>
          </p:cNvPr>
          <p:cNvSpPr/>
          <p:nvPr/>
        </p:nvSpPr>
        <p:spPr>
          <a:xfrm>
            <a:off x="7279371" y="6071715"/>
            <a:ext cx="306963" cy="307721"/>
          </a:xfrm>
          <a:prstGeom prst="ellipse">
            <a:avLst/>
          </a:prstGeom>
          <a:solidFill>
            <a:srgbClr val="13807B"/>
          </a:solidFill>
          <a:ln/>
        </p:spPr>
        <p:txBody>
          <a:bodyPr/>
          <a:lstStyle/>
          <a:p>
            <a:endParaRPr lang="es-PE" sz="2800"/>
          </a:p>
        </p:txBody>
      </p:sp>
      <p:sp>
        <p:nvSpPr>
          <p:cNvPr id="35" name="Text 28">
            <a:extLst>
              <a:ext uri="{FF2B5EF4-FFF2-40B4-BE49-F238E27FC236}">
                <a16:creationId xmlns:a16="http://schemas.microsoft.com/office/drawing/2014/main" id="{EFBAD20A-A755-3DAE-C5D5-50B4E09C36F6}"/>
              </a:ext>
            </a:extLst>
          </p:cNvPr>
          <p:cNvSpPr txBox="1"/>
          <p:nvPr/>
        </p:nvSpPr>
        <p:spPr>
          <a:xfrm>
            <a:off x="7279371" y="6071715"/>
            <a:ext cx="306963" cy="307721"/>
          </a:xfrm>
          <a:prstGeom prst="rect">
            <a:avLst/>
          </a:prstGeom>
          <a:noFill/>
          <a:ln/>
        </p:spPr>
        <p:txBody>
          <a:bodyPr wrap="square" lIns="0" tIns="0" rIns="0" bIns="0" rtlCol="0" anchor="ctr"/>
          <a:lstStyle/>
          <a:p>
            <a:pPr algn="ctr"/>
            <a:r>
              <a:rPr lang="en-US" sz="1200" b="1">
                <a:solidFill>
                  <a:srgbClr val="FFFFFF"/>
                </a:solidFill>
                <a:latin typeface="Poppins" pitchFamily="34" charset="0"/>
                <a:ea typeface="Poppins" pitchFamily="34" charset="-122"/>
                <a:cs typeface="Poppins" pitchFamily="34" charset="-120"/>
              </a:rPr>
              <a:t>2</a:t>
            </a:r>
            <a:endParaRPr lang="en-US" sz="1200"/>
          </a:p>
        </p:txBody>
      </p:sp>
      <p:pic>
        <p:nvPicPr>
          <p:cNvPr id="36" name="Image 1" descr="preencoded.png">
            <a:extLst>
              <a:ext uri="{FF2B5EF4-FFF2-40B4-BE49-F238E27FC236}">
                <a16:creationId xmlns:a16="http://schemas.microsoft.com/office/drawing/2014/main" id="{81BBED6C-F96A-86E0-510D-0D861201A429}"/>
              </a:ext>
            </a:extLst>
          </p:cNvPr>
          <p:cNvPicPr>
            <a:picLocks noChangeAspect="1"/>
          </p:cNvPicPr>
          <p:nvPr/>
        </p:nvPicPr>
        <p:blipFill>
          <a:blip r:embed="rId5"/>
          <a:stretch>
            <a:fillRect/>
          </a:stretch>
        </p:blipFill>
        <p:spPr>
          <a:xfrm>
            <a:off x="8887857" y="6071715"/>
            <a:ext cx="159621" cy="160016"/>
          </a:xfrm>
          <a:prstGeom prst="rect">
            <a:avLst/>
          </a:prstGeom>
        </p:spPr>
      </p:pic>
      <p:sp>
        <p:nvSpPr>
          <p:cNvPr id="37" name="Text 29">
            <a:extLst>
              <a:ext uri="{FF2B5EF4-FFF2-40B4-BE49-F238E27FC236}">
                <a16:creationId xmlns:a16="http://schemas.microsoft.com/office/drawing/2014/main" id="{C2F8E6DB-7D7A-6628-846E-09C14D40CD42}"/>
              </a:ext>
            </a:extLst>
          </p:cNvPr>
          <p:cNvSpPr txBox="1"/>
          <p:nvPr/>
        </p:nvSpPr>
        <p:spPr>
          <a:xfrm>
            <a:off x="7660005" y="6040944"/>
            <a:ext cx="1203296" cy="393883"/>
          </a:xfrm>
          <a:prstGeom prst="rect">
            <a:avLst/>
          </a:prstGeom>
          <a:noFill/>
          <a:ln/>
        </p:spPr>
        <p:txBody>
          <a:bodyPr wrap="square" lIns="0" tIns="0" rIns="0" bIns="0" rtlCol="0" anchor="t"/>
          <a:lstStyle/>
          <a:p>
            <a:pPr>
              <a:lnSpc>
                <a:spcPct val="90000"/>
              </a:lnSpc>
            </a:pPr>
            <a:r>
              <a:rPr lang="en-US" sz="1100" b="1">
                <a:solidFill>
                  <a:srgbClr val="13807B"/>
                </a:solidFill>
                <a:latin typeface="Calibri" pitchFamily="34" charset="0"/>
                <a:ea typeface="Calibri" pitchFamily="34" charset="-122"/>
                <a:cs typeface="Calibri" pitchFamily="34" charset="-120"/>
              </a:rPr>
              <a:t>Socio en Crecimiento</a:t>
            </a:r>
            <a:endParaRPr lang="en-US" sz="1100"/>
          </a:p>
        </p:txBody>
      </p:sp>
      <p:sp>
        <p:nvSpPr>
          <p:cNvPr id="38" name="Text 30">
            <a:extLst>
              <a:ext uri="{FF2B5EF4-FFF2-40B4-BE49-F238E27FC236}">
                <a16:creationId xmlns:a16="http://schemas.microsoft.com/office/drawing/2014/main" id="{1F65112A-0ED3-02E3-817D-83632148CCCB}"/>
              </a:ext>
            </a:extLst>
          </p:cNvPr>
          <p:cNvSpPr txBox="1"/>
          <p:nvPr/>
        </p:nvSpPr>
        <p:spPr>
          <a:xfrm>
            <a:off x="7279370" y="6477907"/>
            <a:ext cx="1792665" cy="221560"/>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SOW 56% · Ventas S/ 444k</a:t>
            </a:r>
            <a:endParaRPr lang="en-US" sz="1050"/>
          </a:p>
        </p:txBody>
      </p:sp>
      <p:sp>
        <p:nvSpPr>
          <p:cNvPr id="39" name="Text 31">
            <a:extLst>
              <a:ext uri="{FF2B5EF4-FFF2-40B4-BE49-F238E27FC236}">
                <a16:creationId xmlns:a16="http://schemas.microsoft.com/office/drawing/2014/main" id="{2FE1BC2C-B4C7-1F77-FAF5-AC53FD93F03D}"/>
              </a:ext>
            </a:extLst>
          </p:cNvPr>
          <p:cNvSpPr txBox="1"/>
          <p:nvPr/>
        </p:nvSpPr>
        <p:spPr>
          <a:xfrm>
            <a:off x="7279370" y="6699466"/>
            <a:ext cx="1792665" cy="221560"/>
          </a:xfrm>
          <a:prstGeom prst="rect">
            <a:avLst/>
          </a:prstGeom>
          <a:noFill/>
          <a:ln/>
        </p:spPr>
        <p:txBody>
          <a:bodyPr wrap="square" lIns="0" tIns="0" rIns="0" bIns="0" rtlCol="0" anchor="ctr"/>
          <a:lstStyle/>
          <a:p>
            <a:r>
              <a:rPr lang="en-US" sz="1050" b="1">
                <a:solidFill>
                  <a:srgbClr val="C87A0B"/>
                </a:solidFill>
                <a:latin typeface="Calibri" pitchFamily="34" charset="0"/>
                <a:ea typeface="Calibri" pitchFamily="34" charset="-122"/>
                <a:cs typeface="Calibri" pitchFamily="34" charset="-120"/>
              </a:rPr>
              <a:t>Conv. 0.4% · Leads 27.5%</a:t>
            </a:r>
            <a:endParaRPr lang="en-US" sz="1050"/>
          </a:p>
        </p:txBody>
      </p:sp>
      <p:sp>
        <p:nvSpPr>
          <p:cNvPr id="40" name="Shape 32">
            <a:extLst>
              <a:ext uri="{FF2B5EF4-FFF2-40B4-BE49-F238E27FC236}">
                <a16:creationId xmlns:a16="http://schemas.microsoft.com/office/drawing/2014/main" id="{B9988733-B8DA-3B54-2471-93B1721E17E4}"/>
              </a:ext>
            </a:extLst>
          </p:cNvPr>
          <p:cNvSpPr/>
          <p:nvPr/>
        </p:nvSpPr>
        <p:spPr>
          <a:xfrm>
            <a:off x="4720526" y="2401575"/>
            <a:ext cx="1964565" cy="1009328"/>
          </a:xfrm>
          <a:prstGeom prst="roundRect">
            <a:avLst>
              <a:gd name="adj" fmla="val 5488"/>
            </a:avLst>
          </a:prstGeom>
          <a:solidFill>
            <a:srgbClr val="FFFFFF"/>
          </a:solidFill>
          <a:ln w="15875">
            <a:solidFill>
              <a:srgbClr val="2F9E98"/>
            </a:solidFill>
            <a:prstDash val="solid"/>
          </a:ln>
        </p:spPr>
        <p:txBody>
          <a:bodyPr/>
          <a:lstStyle/>
          <a:p>
            <a:endParaRPr lang="es-PE" sz="2800"/>
          </a:p>
        </p:txBody>
      </p:sp>
      <p:sp>
        <p:nvSpPr>
          <p:cNvPr id="41" name="Shape 33">
            <a:extLst>
              <a:ext uri="{FF2B5EF4-FFF2-40B4-BE49-F238E27FC236}">
                <a16:creationId xmlns:a16="http://schemas.microsoft.com/office/drawing/2014/main" id="{CE339774-1D1F-5D58-DE1C-EA9D105F758A}"/>
              </a:ext>
            </a:extLst>
          </p:cNvPr>
          <p:cNvSpPr/>
          <p:nvPr/>
        </p:nvSpPr>
        <p:spPr>
          <a:xfrm>
            <a:off x="4806477" y="2487738"/>
            <a:ext cx="306963" cy="307721"/>
          </a:xfrm>
          <a:prstGeom prst="ellipse">
            <a:avLst/>
          </a:prstGeom>
          <a:solidFill>
            <a:srgbClr val="2F9E98"/>
          </a:solidFill>
          <a:ln/>
        </p:spPr>
        <p:txBody>
          <a:bodyPr/>
          <a:lstStyle/>
          <a:p>
            <a:endParaRPr lang="es-PE" sz="2800"/>
          </a:p>
        </p:txBody>
      </p:sp>
      <p:sp>
        <p:nvSpPr>
          <p:cNvPr id="42" name="Text 34">
            <a:extLst>
              <a:ext uri="{FF2B5EF4-FFF2-40B4-BE49-F238E27FC236}">
                <a16:creationId xmlns:a16="http://schemas.microsoft.com/office/drawing/2014/main" id="{76B120B2-AAE1-39AC-1789-DA055A51885E}"/>
              </a:ext>
            </a:extLst>
          </p:cNvPr>
          <p:cNvSpPr txBox="1"/>
          <p:nvPr/>
        </p:nvSpPr>
        <p:spPr>
          <a:xfrm>
            <a:off x="4806477" y="2487738"/>
            <a:ext cx="306963" cy="307721"/>
          </a:xfrm>
          <a:prstGeom prst="rect">
            <a:avLst/>
          </a:prstGeom>
          <a:noFill/>
          <a:ln/>
        </p:spPr>
        <p:txBody>
          <a:bodyPr wrap="square" lIns="0" tIns="0" rIns="0" bIns="0" rtlCol="0" anchor="ctr"/>
          <a:lstStyle/>
          <a:p>
            <a:pPr algn="ctr"/>
            <a:r>
              <a:rPr lang="en-US" sz="1200" b="1">
                <a:solidFill>
                  <a:srgbClr val="FFFFFF"/>
                </a:solidFill>
                <a:latin typeface="Poppins" pitchFamily="34" charset="0"/>
                <a:ea typeface="Poppins" pitchFamily="34" charset="-122"/>
                <a:cs typeface="Poppins" pitchFamily="34" charset="-120"/>
              </a:rPr>
              <a:t>3</a:t>
            </a:r>
            <a:endParaRPr lang="en-US" sz="1200"/>
          </a:p>
        </p:txBody>
      </p:sp>
      <p:pic>
        <p:nvPicPr>
          <p:cNvPr id="43" name="Image 2" descr="preencoded.png">
            <a:extLst>
              <a:ext uri="{FF2B5EF4-FFF2-40B4-BE49-F238E27FC236}">
                <a16:creationId xmlns:a16="http://schemas.microsoft.com/office/drawing/2014/main" id="{7FADA6A0-8781-9957-7F8A-14CB9FCE9A98}"/>
              </a:ext>
            </a:extLst>
          </p:cNvPr>
          <p:cNvPicPr>
            <a:picLocks noChangeAspect="1"/>
          </p:cNvPicPr>
          <p:nvPr/>
        </p:nvPicPr>
        <p:blipFill>
          <a:blip r:embed="rId6"/>
          <a:stretch>
            <a:fillRect/>
          </a:stretch>
        </p:blipFill>
        <p:spPr>
          <a:xfrm>
            <a:off x="6414962" y="2487738"/>
            <a:ext cx="159621" cy="160016"/>
          </a:xfrm>
          <a:prstGeom prst="rect">
            <a:avLst/>
          </a:prstGeom>
        </p:spPr>
      </p:pic>
      <p:sp>
        <p:nvSpPr>
          <p:cNvPr id="44" name="Text 35">
            <a:extLst>
              <a:ext uri="{FF2B5EF4-FFF2-40B4-BE49-F238E27FC236}">
                <a16:creationId xmlns:a16="http://schemas.microsoft.com/office/drawing/2014/main" id="{7AD3CB0A-5E2F-DB36-1863-F3ECA05F12F1}"/>
              </a:ext>
            </a:extLst>
          </p:cNvPr>
          <p:cNvSpPr txBox="1"/>
          <p:nvPr/>
        </p:nvSpPr>
        <p:spPr>
          <a:xfrm>
            <a:off x="5187111" y="2456967"/>
            <a:ext cx="1203296" cy="393883"/>
          </a:xfrm>
          <a:prstGeom prst="rect">
            <a:avLst/>
          </a:prstGeom>
          <a:noFill/>
          <a:ln/>
        </p:spPr>
        <p:txBody>
          <a:bodyPr wrap="square" lIns="0" tIns="0" rIns="0" bIns="0" rtlCol="0" anchor="t"/>
          <a:lstStyle/>
          <a:p>
            <a:pPr>
              <a:lnSpc>
                <a:spcPct val="90000"/>
              </a:lnSpc>
            </a:pPr>
            <a:r>
              <a:rPr lang="en-US" sz="1100" b="1">
                <a:solidFill>
                  <a:srgbClr val="2F9E98"/>
                </a:solidFill>
                <a:latin typeface="Calibri" pitchFamily="34" charset="0"/>
                <a:ea typeface="Calibri" pitchFamily="34" charset="-122"/>
                <a:cs typeface="Calibri" pitchFamily="34" charset="-120"/>
              </a:rPr>
              <a:t>Cuenta Estratégica</a:t>
            </a:r>
            <a:endParaRPr lang="en-US" sz="1100"/>
          </a:p>
        </p:txBody>
      </p:sp>
      <p:sp>
        <p:nvSpPr>
          <p:cNvPr id="45" name="Text 36">
            <a:extLst>
              <a:ext uri="{FF2B5EF4-FFF2-40B4-BE49-F238E27FC236}">
                <a16:creationId xmlns:a16="http://schemas.microsoft.com/office/drawing/2014/main" id="{BE1F6BB8-EA52-C201-EDD3-65727B09C5A5}"/>
              </a:ext>
            </a:extLst>
          </p:cNvPr>
          <p:cNvSpPr txBox="1"/>
          <p:nvPr/>
        </p:nvSpPr>
        <p:spPr>
          <a:xfrm>
            <a:off x="4806476" y="2893930"/>
            <a:ext cx="1792665" cy="221560"/>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SOW 38% · Ventas S/ 2.7 MM</a:t>
            </a:r>
            <a:endParaRPr lang="en-US" sz="1050"/>
          </a:p>
        </p:txBody>
      </p:sp>
      <p:sp>
        <p:nvSpPr>
          <p:cNvPr id="46" name="Text 37">
            <a:extLst>
              <a:ext uri="{FF2B5EF4-FFF2-40B4-BE49-F238E27FC236}">
                <a16:creationId xmlns:a16="http://schemas.microsoft.com/office/drawing/2014/main" id="{082E9822-70D5-9C71-D9A4-56AD836E1F96}"/>
              </a:ext>
            </a:extLst>
          </p:cNvPr>
          <p:cNvSpPr txBox="1"/>
          <p:nvPr/>
        </p:nvSpPr>
        <p:spPr>
          <a:xfrm>
            <a:off x="4806476" y="3115489"/>
            <a:ext cx="1792665" cy="221560"/>
          </a:xfrm>
          <a:prstGeom prst="rect">
            <a:avLst/>
          </a:prstGeom>
          <a:noFill/>
          <a:ln/>
        </p:spPr>
        <p:txBody>
          <a:bodyPr wrap="square" lIns="0" tIns="0" rIns="0" bIns="0" rtlCol="0" anchor="ctr"/>
          <a:lstStyle/>
          <a:p>
            <a:r>
              <a:rPr lang="en-US" sz="1050" b="1">
                <a:solidFill>
                  <a:srgbClr val="13807B"/>
                </a:solidFill>
                <a:latin typeface="Calibri" pitchFamily="34" charset="0"/>
                <a:ea typeface="Calibri" pitchFamily="34" charset="-122"/>
                <a:cs typeface="Calibri" pitchFamily="34" charset="-120"/>
              </a:rPr>
              <a:t>Conv. 4.6% · UAI S/ 1,142</a:t>
            </a:r>
            <a:endParaRPr lang="en-US" sz="1050"/>
          </a:p>
        </p:txBody>
      </p:sp>
      <p:sp>
        <p:nvSpPr>
          <p:cNvPr id="47" name="Shape 38">
            <a:extLst>
              <a:ext uri="{FF2B5EF4-FFF2-40B4-BE49-F238E27FC236}">
                <a16:creationId xmlns:a16="http://schemas.microsoft.com/office/drawing/2014/main" id="{9E6E168E-988D-11F9-C79E-F51FBC765EE6}"/>
              </a:ext>
            </a:extLst>
          </p:cNvPr>
          <p:cNvSpPr/>
          <p:nvPr/>
        </p:nvSpPr>
        <p:spPr>
          <a:xfrm>
            <a:off x="3035911" y="4726966"/>
            <a:ext cx="1964565" cy="1009328"/>
          </a:xfrm>
          <a:prstGeom prst="roundRect">
            <a:avLst>
              <a:gd name="adj" fmla="val 5488"/>
            </a:avLst>
          </a:prstGeom>
          <a:solidFill>
            <a:srgbClr val="FFFFFF"/>
          </a:solidFill>
          <a:ln w="15875">
            <a:solidFill>
              <a:srgbClr val="445A6E"/>
            </a:solidFill>
            <a:prstDash val="solid"/>
          </a:ln>
        </p:spPr>
        <p:txBody>
          <a:bodyPr/>
          <a:lstStyle/>
          <a:p>
            <a:endParaRPr lang="es-PE" sz="2800"/>
          </a:p>
        </p:txBody>
      </p:sp>
      <p:sp>
        <p:nvSpPr>
          <p:cNvPr id="48" name="Shape 39">
            <a:extLst>
              <a:ext uri="{FF2B5EF4-FFF2-40B4-BE49-F238E27FC236}">
                <a16:creationId xmlns:a16="http://schemas.microsoft.com/office/drawing/2014/main" id="{2EF03C81-7FA3-0A63-3052-0BDB3942A93F}"/>
              </a:ext>
            </a:extLst>
          </p:cNvPr>
          <p:cNvSpPr/>
          <p:nvPr/>
        </p:nvSpPr>
        <p:spPr>
          <a:xfrm>
            <a:off x="3121862" y="4813129"/>
            <a:ext cx="306963" cy="307721"/>
          </a:xfrm>
          <a:prstGeom prst="ellipse">
            <a:avLst/>
          </a:prstGeom>
          <a:solidFill>
            <a:srgbClr val="445A6E"/>
          </a:solidFill>
          <a:ln/>
        </p:spPr>
        <p:txBody>
          <a:bodyPr/>
          <a:lstStyle/>
          <a:p>
            <a:endParaRPr lang="es-PE" sz="2800"/>
          </a:p>
        </p:txBody>
      </p:sp>
      <p:sp>
        <p:nvSpPr>
          <p:cNvPr id="49" name="Text 40">
            <a:extLst>
              <a:ext uri="{FF2B5EF4-FFF2-40B4-BE49-F238E27FC236}">
                <a16:creationId xmlns:a16="http://schemas.microsoft.com/office/drawing/2014/main" id="{04BF6F1C-BFC5-2813-DB0A-500086D61C32}"/>
              </a:ext>
            </a:extLst>
          </p:cNvPr>
          <p:cNvSpPr txBox="1"/>
          <p:nvPr/>
        </p:nvSpPr>
        <p:spPr>
          <a:xfrm>
            <a:off x="3121862" y="4813129"/>
            <a:ext cx="306963" cy="307721"/>
          </a:xfrm>
          <a:prstGeom prst="rect">
            <a:avLst/>
          </a:prstGeom>
          <a:noFill/>
          <a:ln/>
        </p:spPr>
        <p:txBody>
          <a:bodyPr wrap="square" lIns="0" tIns="0" rIns="0" bIns="0" rtlCol="0" anchor="ctr"/>
          <a:lstStyle/>
          <a:p>
            <a:pPr algn="ctr"/>
            <a:r>
              <a:rPr lang="en-US" sz="1200" b="1">
                <a:solidFill>
                  <a:srgbClr val="FFFFFF"/>
                </a:solidFill>
                <a:latin typeface="Poppins" pitchFamily="34" charset="0"/>
                <a:ea typeface="Poppins" pitchFamily="34" charset="-122"/>
                <a:cs typeface="Poppins" pitchFamily="34" charset="-120"/>
              </a:rPr>
              <a:t>4</a:t>
            </a:r>
            <a:endParaRPr lang="en-US" sz="1200"/>
          </a:p>
        </p:txBody>
      </p:sp>
      <p:pic>
        <p:nvPicPr>
          <p:cNvPr id="50" name="Image 3" descr="preencoded.png">
            <a:extLst>
              <a:ext uri="{FF2B5EF4-FFF2-40B4-BE49-F238E27FC236}">
                <a16:creationId xmlns:a16="http://schemas.microsoft.com/office/drawing/2014/main" id="{0290E532-510A-32D8-CCC5-DC301D703DF3}"/>
              </a:ext>
            </a:extLst>
          </p:cNvPr>
          <p:cNvPicPr>
            <a:picLocks noChangeAspect="1"/>
          </p:cNvPicPr>
          <p:nvPr/>
        </p:nvPicPr>
        <p:blipFill>
          <a:blip r:embed="rId7"/>
          <a:stretch>
            <a:fillRect/>
          </a:stretch>
        </p:blipFill>
        <p:spPr>
          <a:xfrm>
            <a:off x="4730349" y="4813128"/>
            <a:ext cx="159621" cy="160016"/>
          </a:xfrm>
          <a:prstGeom prst="rect">
            <a:avLst/>
          </a:prstGeom>
        </p:spPr>
      </p:pic>
      <p:sp>
        <p:nvSpPr>
          <p:cNvPr id="51" name="Text 41">
            <a:extLst>
              <a:ext uri="{FF2B5EF4-FFF2-40B4-BE49-F238E27FC236}">
                <a16:creationId xmlns:a16="http://schemas.microsoft.com/office/drawing/2014/main" id="{2B247325-F280-E7B6-6EC3-DEDD5FC01EEB}"/>
              </a:ext>
            </a:extLst>
          </p:cNvPr>
          <p:cNvSpPr txBox="1"/>
          <p:nvPr/>
        </p:nvSpPr>
        <p:spPr>
          <a:xfrm>
            <a:off x="3502495" y="4782356"/>
            <a:ext cx="1203296" cy="393883"/>
          </a:xfrm>
          <a:prstGeom prst="rect">
            <a:avLst/>
          </a:prstGeom>
          <a:noFill/>
          <a:ln/>
        </p:spPr>
        <p:txBody>
          <a:bodyPr wrap="square" lIns="0" tIns="0" rIns="0" bIns="0" rtlCol="0" anchor="t"/>
          <a:lstStyle/>
          <a:p>
            <a:pPr>
              <a:lnSpc>
                <a:spcPct val="90000"/>
              </a:lnSpc>
            </a:pPr>
            <a:r>
              <a:rPr lang="en-US" sz="1100" b="1">
                <a:solidFill>
                  <a:srgbClr val="445A6E"/>
                </a:solidFill>
                <a:latin typeface="Calibri" pitchFamily="34" charset="0"/>
                <a:ea typeface="Calibri" pitchFamily="34" charset="-122"/>
                <a:cs typeface="Calibri" pitchFamily="34" charset="-120"/>
              </a:rPr>
              <a:t>Maduro Multibanco</a:t>
            </a:r>
            <a:endParaRPr lang="en-US" sz="1100"/>
          </a:p>
        </p:txBody>
      </p:sp>
      <p:sp>
        <p:nvSpPr>
          <p:cNvPr id="52" name="Text 42">
            <a:extLst>
              <a:ext uri="{FF2B5EF4-FFF2-40B4-BE49-F238E27FC236}">
                <a16:creationId xmlns:a16="http://schemas.microsoft.com/office/drawing/2014/main" id="{2193B0DB-FF5D-F8FC-ABB6-A593ADC8540A}"/>
              </a:ext>
            </a:extLst>
          </p:cNvPr>
          <p:cNvSpPr txBox="1"/>
          <p:nvPr/>
        </p:nvSpPr>
        <p:spPr>
          <a:xfrm>
            <a:off x="3121862" y="5219321"/>
            <a:ext cx="1792665" cy="221560"/>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SOW 24% · Ventas S/ 711k</a:t>
            </a:r>
            <a:endParaRPr lang="en-US" sz="1050"/>
          </a:p>
        </p:txBody>
      </p:sp>
      <p:sp>
        <p:nvSpPr>
          <p:cNvPr id="53" name="Text 43">
            <a:extLst>
              <a:ext uri="{FF2B5EF4-FFF2-40B4-BE49-F238E27FC236}">
                <a16:creationId xmlns:a16="http://schemas.microsoft.com/office/drawing/2014/main" id="{3EEC0A33-57FB-C652-693A-3E8A714982E0}"/>
              </a:ext>
            </a:extLst>
          </p:cNvPr>
          <p:cNvSpPr txBox="1"/>
          <p:nvPr/>
        </p:nvSpPr>
        <p:spPr>
          <a:xfrm>
            <a:off x="3121862" y="5440881"/>
            <a:ext cx="1792665" cy="221560"/>
          </a:xfrm>
          <a:prstGeom prst="rect">
            <a:avLst/>
          </a:prstGeom>
          <a:noFill/>
          <a:ln/>
        </p:spPr>
        <p:txBody>
          <a:bodyPr wrap="square" lIns="0" tIns="0" rIns="0" bIns="0" rtlCol="0" anchor="ctr"/>
          <a:lstStyle/>
          <a:p>
            <a:r>
              <a:rPr lang="en-US" sz="1050" b="1">
                <a:solidFill>
                  <a:srgbClr val="C87A0B"/>
                </a:solidFill>
                <a:latin typeface="Calibri" pitchFamily="34" charset="0"/>
                <a:ea typeface="Calibri" pitchFamily="34" charset="-122"/>
                <a:cs typeface="Calibri" pitchFamily="34" charset="-120"/>
              </a:rPr>
              <a:t>Conv. 1.1% · Leads 15.0%</a:t>
            </a:r>
            <a:endParaRPr lang="en-US" sz="1050"/>
          </a:p>
        </p:txBody>
      </p:sp>
      <p:sp>
        <p:nvSpPr>
          <p:cNvPr id="54" name="Shape 44">
            <a:extLst>
              <a:ext uri="{FF2B5EF4-FFF2-40B4-BE49-F238E27FC236}">
                <a16:creationId xmlns:a16="http://schemas.microsoft.com/office/drawing/2014/main" id="{AB1BA81A-32D3-CC55-CAC7-61B31F369406}"/>
              </a:ext>
            </a:extLst>
          </p:cNvPr>
          <p:cNvSpPr/>
          <p:nvPr/>
        </p:nvSpPr>
        <p:spPr>
          <a:xfrm>
            <a:off x="1591955" y="2365058"/>
            <a:ext cx="1964565" cy="1009328"/>
          </a:xfrm>
          <a:prstGeom prst="roundRect">
            <a:avLst>
              <a:gd name="adj" fmla="val 5488"/>
            </a:avLst>
          </a:prstGeom>
          <a:solidFill>
            <a:srgbClr val="FFFFFF"/>
          </a:solidFill>
          <a:ln w="15875">
            <a:solidFill>
              <a:srgbClr val="C87A0B"/>
            </a:solidFill>
            <a:prstDash val="solid"/>
          </a:ln>
        </p:spPr>
        <p:txBody>
          <a:bodyPr/>
          <a:lstStyle/>
          <a:p>
            <a:endParaRPr lang="es-PE" sz="2800"/>
          </a:p>
        </p:txBody>
      </p:sp>
      <p:sp>
        <p:nvSpPr>
          <p:cNvPr id="55" name="Shape 45">
            <a:extLst>
              <a:ext uri="{FF2B5EF4-FFF2-40B4-BE49-F238E27FC236}">
                <a16:creationId xmlns:a16="http://schemas.microsoft.com/office/drawing/2014/main" id="{72A53648-83E1-56FC-BC77-EEA3C1C2530C}"/>
              </a:ext>
            </a:extLst>
          </p:cNvPr>
          <p:cNvSpPr/>
          <p:nvPr/>
        </p:nvSpPr>
        <p:spPr>
          <a:xfrm>
            <a:off x="1677906" y="2451221"/>
            <a:ext cx="306963" cy="307721"/>
          </a:xfrm>
          <a:prstGeom prst="ellipse">
            <a:avLst/>
          </a:prstGeom>
          <a:solidFill>
            <a:srgbClr val="C87A0B"/>
          </a:solidFill>
          <a:ln/>
        </p:spPr>
        <p:txBody>
          <a:bodyPr/>
          <a:lstStyle/>
          <a:p>
            <a:endParaRPr lang="es-PE" sz="2800"/>
          </a:p>
        </p:txBody>
      </p:sp>
      <p:sp>
        <p:nvSpPr>
          <p:cNvPr id="56" name="Text 46">
            <a:extLst>
              <a:ext uri="{FF2B5EF4-FFF2-40B4-BE49-F238E27FC236}">
                <a16:creationId xmlns:a16="http://schemas.microsoft.com/office/drawing/2014/main" id="{CAB64F06-8E32-2C73-F2AB-8150C61079EB}"/>
              </a:ext>
            </a:extLst>
          </p:cNvPr>
          <p:cNvSpPr txBox="1"/>
          <p:nvPr/>
        </p:nvSpPr>
        <p:spPr>
          <a:xfrm>
            <a:off x="1677906" y="2451221"/>
            <a:ext cx="306963" cy="307721"/>
          </a:xfrm>
          <a:prstGeom prst="rect">
            <a:avLst/>
          </a:prstGeom>
          <a:noFill/>
          <a:ln/>
        </p:spPr>
        <p:txBody>
          <a:bodyPr wrap="square" lIns="0" tIns="0" rIns="0" bIns="0" rtlCol="0" anchor="ctr"/>
          <a:lstStyle/>
          <a:p>
            <a:pPr algn="ctr"/>
            <a:r>
              <a:rPr lang="en-US" sz="1200" b="1">
                <a:solidFill>
                  <a:srgbClr val="FFFFFF"/>
                </a:solidFill>
                <a:latin typeface="Poppins" pitchFamily="34" charset="0"/>
                <a:ea typeface="Poppins" pitchFamily="34" charset="-122"/>
                <a:cs typeface="Poppins" pitchFamily="34" charset="-120"/>
              </a:rPr>
              <a:t>5</a:t>
            </a:r>
            <a:endParaRPr lang="en-US" sz="1200"/>
          </a:p>
        </p:txBody>
      </p:sp>
      <p:pic>
        <p:nvPicPr>
          <p:cNvPr id="57" name="Image 4" descr="preencoded.png">
            <a:extLst>
              <a:ext uri="{FF2B5EF4-FFF2-40B4-BE49-F238E27FC236}">
                <a16:creationId xmlns:a16="http://schemas.microsoft.com/office/drawing/2014/main" id="{D5F93458-777F-21F4-0908-4F937059E115}"/>
              </a:ext>
            </a:extLst>
          </p:cNvPr>
          <p:cNvPicPr>
            <a:picLocks noChangeAspect="1"/>
          </p:cNvPicPr>
          <p:nvPr/>
        </p:nvPicPr>
        <p:blipFill>
          <a:blip r:embed="rId8"/>
          <a:stretch>
            <a:fillRect/>
          </a:stretch>
        </p:blipFill>
        <p:spPr>
          <a:xfrm>
            <a:off x="3286393" y="2451220"/>
            <a:ext cx="159621" cy="160016"/>
          </a:xfrm>
          <a:prstGeom prst="rect">
            <a:avLst/>
          </a:prstGeom>
        </p:spPr>
      </p:pic>
      <p:sp>
        <p:nvSpPr>
          <p:cNvPr id="58" name="Text 47">
            <a:extLst>
              <a:ext uri="{FF2B5EF4-FFF2-40B4-BE49-F238E27FC236}">
                <a16:creationId xmlns:a16="http://schemas.microsoft.com/office/drawing/2014/main" id="{1ED2B2FF-20D4-989C-22BB-82A85DF794BF}"/>
              </a:ext>
            </a:extLst>
          </p:cNvPr>
          <p:cNvSpPr txBox="1"/>
          <p:nvPr/>
        </p:nvSpPr>
        <p:spPr>
          <a:xfrm>
            <a:off x="2058540" y="2420448"/>
            <a:ext cx="1203296" cy="393883"/>
          </a:xfrm>
          <a:prstGeom prst="rect">
            <a:avLst/>
          </a:prstGeom>
          <a:noFill/>
          <a:ln/>
        </p:spPr>
        <p:txBody>
          <a:bodyPr wrap="square" lIns="0" tIns="0" rIns="0" bIns="0" rtlCol="0" anchor="t"/>
          <a:lstStyle/>
          <a:p>
            <a:pPr>
              <a:lnSpc>
                <a:spcPct val="90000"/>
              </a:lnSpc>
            </a:pPr>
            <a:r>
              <a:rPr lang="en-US" sz="1100" b="1">
                <a:solidFill>
                  <a:srgbClr val="C87A0B"/>
                </a:solidFill>
                <a:latin typeface="Calibri" pitchFamily="34" charset="0"/>
                <a:ea typeface="Calibri" pitchFamily="34" charset="-122"/>
                <a:cs typeface="Calibri" pitchFamily="34" charset="-120"/>
              </a:rPr>
              <a:t>Gran Cuenta por Conquistar</a:t>
            </a:r>
            <a:endParaRPr lang="en-US" sz="1100"/>
          </a:p>
        </p:txBody>
      </p:sp>
      <p:sp>
        <p:nvSpPr>
          <p:cNvPr id="59" name="Text 48">
            <a:extLst>
              <a:ext uri="{FF2B5EF4-FFF2-40B4-BE49-F238E27FC236}">
                <a16:creationId xmlns:a16="http://schemas.microsoft.com/office/drawing/2014/main" id="{1EB694C1-5DD6-86C3-2F66-169A9117F6A1}"/>
              </a:ext>
            </a:extLst>
          </p:cNvPr>
          <p:cNvSpPr txBox="1"/>
          <p:nvPr/>
        </p:nvSpPr>
        <p:spPr>
          <a:xfrm>
            <a:off x="1677906" y="2857412"/>
            <a:ext cx="1792665" cy="221560"/>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SOW 11% · Ventas S/ 2.8 MM</a:t>
            </a:r>
            <a:endParaRPr lang="en-US" sz="1050"/>
          </a:p>
        </p:txBody>
      </p:sp>
      <p:sp>
        <p:nvSpPr>
          <p:cNvPr id="60" name="Text 49">
            <a:extLst>
              <a:ext uri="{FF2B5EF4-FFF2-40B4-BE49-F238E27FC236}">
                <a16:creationId xmlns:a16="http://schemas.microsoft.com/office/drawing/2014/main" id="{A8A92BC6-0A1F-0C1D-C80D-6F8A2E70F2EE}"/>
              </a:ext>
            </a:extLst>
          </p:cNvPr>
          <p:cNvSpPr txBox="1"/>
          <p:nvPr/>
        </p:nvSpPr>
        <p:spPr>
          <a:xfrm>
            <a:off x="1677906" y="3078972"/>
            <a:ext cx="1792665" cy="221560"/>
          </a:xfrm>
          <a:prstGeom prst="rect">
            <a:avLst/>
          </a:prstGeom>
          <a:noFill/>
          <a:ln/>
        </p:spPr>
        <p:txBody>
          <a:bodyPr wrap="square" lIns="0" tIns="0" rIns="0" bIns="0" rtlCol="0" anchor="ctr"/>
          <a:lstStyle/>
          <a:p>
            <a:r>
              <a:rPr lang="en-US" sz="1050" b="1">
                <a:solidFill>
                  <a:srgbClr val="13807B"/>
                </a:solidFill>
                <a:latin typeface="Calibri" pitchFamily="34" charset="0"/>
                <a:ea typeface="Calibri" pitchFamily="34" charset="-122"/>
                <a:cs typeface="Calibri" pitchFamily="34" charset="-120"/>
              </a:rPr>
              <a:t>Conv. 3.0% · Ticket S/ 244k</a:t>
            </a:r>
            <a:endParaRPr lang="en-US" sz="1050"/>
          </a:p>
        </p:txBody>
      </p:sp>
      <p:sp>
        <p:nvSpPr>
          <p:cNvPr id="61" name="Shape 50">
            <a:extLst>
              <a:ext uri="{FF2B5EF4-FFF2-40B4-BE49-F238E27FC236}">
                <a16:creationId xmlns:a16="http://schemas.microsoft.com/office/drawing/2014/main" id="{81E3F8BB-D4C3-443D-6931-0EE9DB892921}"/>
              </a:ext>
            </a:extLst>
          </p:cNvPr>
          <p:cNvSpPr/>
          <p:nvPr/>
        </p:nvSpPr>
        <p:spPr>
          <a:xfrm>
            <a:off x="4752449" y="5738964"/>
            <a:ext cx="1964565" cy="1009328"/>
          </a:xfrm>
          <a:prstGeom prst="roundRect">
            <a:avLst>
              <a:gd name="adj" fmla="val 5488"/>
            </a:avLst>
          </a:prstGeom>
          <a:solidFill>
            <a:srgbClr val="FFFFFF"/>
          </a:solidFill>
          <a:ln w="15875">
            <a:solidFill>
              <a:srgbClr val="C04B4B"/>
            </a:solidFill>
            <a:prstDash val="solid"/>
          </a:ln>
        </p:spPr>
        <p:txBody>
          <a:bodyPr/>
          <a:lstStyle/>
          <a:p>
            <a:endParaRPr lang="es-PE" sz="2800"/>
          </a:p>
        </p:txBody>
      </p:sp>
      <p:sp>
        <p:nvSpPr>
          <p:cNvPr id="62" name="Shape 51">
            <a:extLst>
              <a:ext uri="{FF2B5EF4-FFF2-40B4-BE49-F238E27FC236}">
                <a16:creationId xmlns:a16="http://schemas.microsoft.com/office/drawing/2014/main" id="{61C55415-9111-228E-3117-829CE83A007A}"/>
              </a:ext>
            </a:extLst>
          </p:cNvPr>
          <p:cNvSpPr/>
          <p:nvPr/>
        </p:nvSpPr>
        <p:spPr>
          <a:xfrm>
            <a:off x="4838400" y="5825128"/>
            <a:ext cx="306963" cy="307721"/>
          </a:xfrm>
          <a:prstGeom prst="ellipse">
            <a:avLst/>
          </a:prstGeom>
          <a:solidFill>
            <a:srgbClr val="C04B4B"/>
          </a:solidFill>
          <a:ln/>
        </p:spPr>
        <p:txBody>
          <a:bodyPr/>
          <a:lstStyle/>
          <a:p>
            <a:endParaRPr lang="es-PE" sz="2800"/>
          </a:p>
        </p:txBody>
      </p:sp>
      <p:sp>
        <p:nvSpPr>
          <p:cNvPr id="63" name="Text 52">
            <a:extLst>
              <a:ext uri="{FF2B5EF4-FFF2-40B4-BE49-F238E27FC236}">
                <a16:creationId xmlns:a16="http://schemas.microsoft.com/office/drawing/2014/main" id="{D6827942-95BF-D04B-2AA1-85810731ED93}"/>
              </a:ext>
            </a:extLst>
          </p:cNvPr>
          <p:cNvSpPr txBox="1"/>
          <p:nvPr/>
        </p:nvSpPr>
        <p:spPr>
          <a:xfrm>
            <a:off x="4838400" y="5825128"/>
            <a:ext cx="306963" cy="307721"/>
          </a:xfrm>
          <a:prstGeom prst="rect">
            <a:avLst/>
          </a:prstGeom>
          <a:noFill/>
          <a:ln/>
        </p:spPr>
        <p:txBody>
          <a:bodyPr wrap="square" lIns="0" tIns="0" rIns="0" bIns="0" rtlCol="0" anchor="ctr"/>
          <a:lstStyle/>
          <a:p>
            <a:pPr algn="ctr"/>
            <a:r>
              <a:rPr lang="en-US" sz="1200" b="1">
                <a:solidFill>
                  <a:srgbClr val="FFFFFF"/>
                </a:solidFill>
                <a:latin typeface="Poppins" pitchFamily="34" charset="0"/>
                <a:ea typeface="Poppins" pitchFamily="34" charset="-122"/>
                <a:cs typeface="Poppins" pitchFamily="34" charset="-120"/>
              </a:rPr>
              <a:t>6</a:t>
            </a:r>
            <a:endParaRPr lang="en-US" sz="1200"/>
          </a:p>
        </p:txBody>
      </p:sp>
      <p:pic>
        <p:nvPicPr>
          <p:cNvPr id="65" name="Image 5" descr="preencoded.png">
            <a:extLst>
              <a:ext uri="{FF2B5EF4-FFF2-40B4-BE49-F238E27FC236}">
                <a16:creationId xmlns:a16="http://schemas.microsoft.com/office/drawing/2014/main" id="{0BD1B695-042D-51CA-B411-42C1639EEF38}"/>
              </a:ext>
            </a:extLst>
          </p:cNvPr>
          <p:cNvPicPr>
            <a:picLocks noChangeAspect="1"/>
          </p:cNvPicPr>
          <p:nvPr/>
        </p:nvPicPr>
        <p:blipFill>
          <a:blip r:embed="rId9"/>
          <a:stretch>
            <a:fillRect/>
          </a:stretch>
        </p:blipFill>
        <p:spPr>
          <a:xfrm>
            <a:off x="6446887" y="5825128"/>
            <a:ext cx="159621" cy="160016"/>
          </a:xfrm>
          <a:prstGeom prst="rect">
            <a:avLst/>
          </a:prstGeom>
        </p:spPr>
      </p:pic>
      <p:sp>
        <p:nvSpPr>
          <p:cNvPr id="67" name="Text 53">
            <a:extLst>
              <a:ext uri="{FF2B5EF4-FFF2-40B4-BE49-F238E27FC236}">
                <a16:creationId xmlns:a16="http://schemas.microsoft.com/office/drawing/2014/main" id="{FB3B6967-D894-A60F-4F81-3482D327CA99}"/>
              </a:ext>
            </a:extLst>
          </p:cNvPr>
          <p:cNvSpPr txBox="1"/>
          <p:nvPr/>
        </p:nvSpPr>
        <p:spPr>
          <a:xfrm>
            <a:off x="5219034" y="5794357"/>
            <a:ext cx="1203296" cy="393883"/>
          </a:xfrm>
          <a:prstGeom prst="rect">
            <a:avLst/>
          </a:prstGeom>
          <a:noFill/>
          <a:ln/>
        </p:spPr>
        <p:txBody>
          <a:bodyPr wrap="square" lIns="0" tIns="0" rIns="0" bIns="0" rtlCol="0" anchor="t"/>
          <a:lstStyle/>
          <a:p>
            <a:pPr>
              <a:lnSpc>
                <a:spcPct val="90000"/>
              </a:lnSpc>
            </a:pPr>
            <a:r>
              <a:rPr lang="en-US" sz="1100" b="1">
                <a:solidFill>
                  <a:srgbClr val="C04B4B"/>
                </a:solidFill>
                <a:latin typeface="Calibri" pitchFamily="34" charset="0"/>
                <a:ea typeface="Calibri" pitchFamily="34" charset="-122"/>
                <a:cs typeface="Calibri" pitchFamily="34" charset="-120"/>
              </a:rPr>
              <a:t>Cliente por Reactivar</a:t>
            </a:r>
            <a:endParaRPr lang="en-US" sz="1100"/>
          </a:p>
        </p:txBody>
      </p:sp>
      <p:sp>
        <p:nvSpPr>
          <p:cNvPr id="69" name="Text 54">
            <a:extLst>
              <a:ext uri="{FF2B5EF4-FFF2-40B4-BE49-F238E27FC236}">
                <a16:creationId xmlns:a16="http://schemas.microsoft.com/office/drawing/2014/main" id="{8CD03C52-405D-24F1-B684-EB90B6B008F9}"/>
              </a:ext>
            </a:extLst>
          </p:cNvPr>
          <p:cNvSpPr txBox="1"/>
          <p:nvPr/>
        </p:nvSpPr>
        <p:spPr>
          <a:xfrm>
            <a:off x="4838400" y="6231320"/>
            <a:ext cx="1792665" cy="221560"/>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SOW 40% · Ventas S/ 472k</a:t>
            </a:r>
            <a:endParaRPr lang="en-US" sz="1050"/>
          </a:p>
        </p:txBody>
      </p:sp>
      <p:sp>
        <p:nvSpPr>
          <p:cNvPr id="71" name="Text 55">
            <a:extLst>
              <a:ext uri="{FF2B5EF4-FFF2-40B4-BE49-F238E27FC236}">
                <a16:creationId xmlns:a16="http://schemas.microsoft.com/office/drawing/2014/main" id="{D0ED2408-171A-EF98-1E3D-39A1DAF415DE}"/>
              </a:ext>
            </a:extLst>
          </p:cNvPr>
          <p:cNvSpPr txBox="1"/>
          <p:nvPr/>
        </p:nvSpPr>
        <p:spPr>
          <a:xfrm>
            <a:off x="4838400" y="6452879"/>
            <a:ext cx="1792665" cy="221560"/>
          </a:xfrm>
          <a:prstGeom prst="rect">
            <a:avLst/>
          </a:prstGeom>
          <a:noFill/>
          <a:ln/>
        </p:spPr>
        <p:txBody>
          <a:bodyPr wrap="square" lIns="0" tIns="0" rIns="0" bIns="0" rtlCol="0" anchor="ctr"/>
          <a:lstStyle/>
          <a:p>
            <a:r>
              <a:rPr lang="en-US" sz="1050" b="1">
                <a:solidFill>
                  <a:srgbClr val="13807B"/>
                </a:solidFill>
                <a:latin typeface="Calibri" pitchFamily="34" charset="0"/>
                <a:ea typeface="Calibri" pitchFamily="34" charset="-122"/>
                <a:cs typeface="Calibri" pitchFamily="34" charset="-120"/>
              </a:rPr>
              <a:t>Conv. 3.3% · Retanq. 1.7%</a:t>
            </a:r>
            <a:endParaRPr lang="en-US" sz="1050"/>
          </a:p>
        </p:txBody>
      </p:sp>
      <p:sp>
        <p:nvSpPr>
          <p:cNvPr id="73" name="Text 56">
            <a:extLst>
              <a:ext uri="{FF2B5EF4-FFF2-40B4-BE49-F238E27FC236}">
                <a16:creationId xmlns:a16="http://schemas.microsoft.com/office/drawing/2014/main" id="{282EC926-A691-7327-972E-3CAC457EC003}"/>
              </a:ext>
            </a:extLst>
          </p:cNvPr>
          <p:cNvSpPr txBox="1"/>
          <p:nvPr/>
        </p:nvSpPr>
        <p:spPr>
          <a:xfrm>
            <a:off x="10891714" y="1725460"/>
            <a:ext cx="4764070" cy="295412"/>
          </a:xfrm>
          <a:prstGeom prst="rect">
            <a:avLst/>
          </a:prstGeom>
          <a:noFill/>
          <a:ln/>
        </p:spPr>
        <p:txBody>
          <a:bodyPr wrap="square" lIns="0" tIns="0" rIns="0" bIns="0" rtlCol="0" anchor="ctr"/>
          <a:lstStyle/>
          <a:p>
            <a:r>
              <a:rPr lang="en-US" sz="1200" b="1" kern="0" spc="75">
                <a:solidFill>
                  <a:srgbClr val="0C514E"/>
                </a:solidFill>
                <a:latin typeface="Poppins" pitchFamily="34" charset="0"/>
                <a:ea typeface="Poppins" pitchFamily="34" charset="-122"/>
                <a:cs typeface="Poppins" pitchFamily="34" charset="-120"/>
              </a:rPr>
              <a:t>LECTURAS TRANSVERSALES</a:t>
            </a:r>
            <a:endParaRPr lang="en-US" sz="1200"/>
          </a:p>
        </p:txBody>
      </p:sp>
      <p:sp>
        <p:nvSpPr>
          <p:cNvPr id="75" name="Text 57">
            <a:extLst>
              <a:ext uri="{FF2B5EF4-FFF2-40B4-BE49-F238E27FC236}">
                <a16:creationId xmlns:a16="http://schemas.microsoft.com/office/drawing/2014/main" id="{7FD62053-FC58-3CE9-136F-9E7D4CD7AA81}"/>
              </a:ext>
            </a:extLst>
          </p:cNvPr>
          <p:cNvSpPr txBox="1"/>
          <p:nvPr/>
        </p:nvSpPr>
        <p:spPr>
          <a:xfrm>
            <a:off x="10891714" y="2193196"/>
            <a:ext cx="4764070" cy="246176"/>
          </a:xfrm>
          <a:prstGeom prst="rect">
            <a:avLst/>
          </a:prstGeom>
          <a:noFill/>
          <a:ln/>
        </p:spPr>
        <p:txBody>
          <a:bodyPr wrap="square" lIns="0" tIns="0" rIns="0" bIns="0" rtlCol="0" anchor="ctr"/>
          <a:lstStyle/>
          <a:p>
            <a:r>
              <a:rPr lang="en-US" sz="1200" b="1">
                <a:solidFill>
                  <a:srgbClr val="3E5553"/>
                </a:solidFill>
                <a:latin typeface="Calibri" pitchFamily="34" charset="0"/>
                <a:ea typeface="Calibri" pitchFamily="34" charset="-122"/>
                <a:cs typeface="Calibri" pitchFamily="34" charset="-120"/>
              </a:rPr>
              <a:t>Profundidad no implica valor</a:t>
            </a:r>
            <a:endParaRPr lang="en-US" sz="1200"/>
          </a:p>
        </p:txBody>
      </p:sp>
      <p:sp>
        <p:nvSpPr>
          <p:cNvPr id="77" name="Text 58">
            <a:extLst>
              <a:ext uri="{FF2B5EF4-FFF2-40B4-BE49-F238E27FC236}">
                <a16:creationId xmlns:a16="http://schemas.microsoft.com/office/drawing/2014/main" id="{7C081ADB-C958-9B35-9631-0AE376CB3834}"/>
              </a:ext>
            </a:extLst>
          </p:cNvPr>
          <p:cNvSpPr txBox="1"/>
          <p:nvPr/>
        </p:nvSpPr>
        <p:spPr>
          <a:xfrm>
            <a:off x="10891714" y="2451681"/>
            <a:ext cx="4764070" cy="763150"/>
          </a:xfrm>
          <a:prstGeom prst="rect">
            <a:avLst/>
          </a:prstGeom>
          <a:noFill/>
          <a:ln/>
        </p:spPr>
        <p:txBody>
          <a:bodyPr wrap="square" lIns="0" tIns="0" rIns="0" bIns="0" rtlCol="0" anchor="t"/>
          <a:lstStyle/>
          <a:p>
            <a:r>
              <a:rPr lang="en-US" sz="1100">
                <a:solidFill>
                  <a:srgbClr val="6E7E7D"/>
                </a:solidFill>
                <a:latin typeface="Calibri" pitchFamily="34" charset="0"/>
                <a:ea typeface="Calibri" pitchFamily="34" charset="-122"/>
                <a:cs typeface="Calibri" pitchFamily="34" charset="-120"/>
              </a:rPr>
              <a:t>Los dos perfiles con mayores ventas (S/ 2.7–2.8 MM) operan con los SOW más bajos: 38% (3) y 11% (5). El tamaño no se traduce en share.</a:t>
            </a:r>
            <a:endParaRPr lang="en-US" sz="1100"/>
          </a:p>
        </p:txBody>
      </p:sp>
      <p:sp>
        <p:nvSpPr>
          <p:cNvPr id="79" name="Shape 59">
            <a:extLst>
              <a:ext uri="{FF2B5EF4-FFF2-40B4-BE49-F238E27FC236}">
                <a16:creationId xmlns:a16="http://schemas.microsoft.com/office/drawing/2014/main" id="{4B6F9B7A-1DF3-5165-527A-7D38E370ED66}"/>
              </a:ext>
            </a:extLst>
          </p:cNvPr>
          <p:cNvSpPr/>
          <p:nvPr/>
        </p:nvSpPr>
        <p:spPr>
          <a:xfrm>
            <a:off x="10891714" y="3264067"/>
            <a:ext cx="4764070" cy="0"/>
          </a:xfrm>
          <a:prstGeom prst="line">
            <a:avLst/>
          </a:prstGeom>
          <a:noFill/>
          <a:ln w="9525">
            <a:solidFill>
              <a:srgbClr val="D5DFDE"/>
            </a:solidFill>
            <a:prstDash val="solid"/>
          </a:ln>
        </p:spPr>
        <p:txBody>
          <a:bodyPr/>
          <a:lstStyle/>
          <a:p>
            <a:endParaRPr lang="es-PE" sz="2800"/>
          </a:p>
        </p:txBody>
      </p:sp>
      <p:sp>
        <p:nvSpPr>
          <p:cNvPr id="81" name="Text 60">
            <a:extLst>
              <a:ext uri="{FF2B5EF4-FFF2-40B4-BE49-F238E27FC236}">
                <a16:creationId xmlns:a16="http://schemas.microsoft.com/office/drawing/2014/main" id="{DDA06B9D-344C-D180-7366-9ADB8E3690D4}"/>
              </a:ext>
            </a:extLst>
          </p:cNvPr>
          <p:cNvSpPr txBox="1"/>
          <p:nvPr/>
        </p:nvSpPr>
        <p:spPr>
          <a:xfrm>
            <a:off x="10891714" y="3350230"/>
            <a:ext cx="4764070" cy="246176"/>
          </a:xfrm>
          <a:prstGeom prst="rect">
            <a:avLst/>
          </a:prstGeom>
          <a:noFill/>
          <a:ln/>
        </p:spPr>
        <p:txBody>
          <a:bodyPr wrap="square" lIns="0" tIns="0" rIns="0" bIns="0" rtlCol="0" anchor="ctr"/>
          <a:lstStyle/>
          <a:p>
            <a:r>
              <a:rPr lang="en-US" sz="1200" b="1">
                <a:solidFill>
                  <a:srgbClr val="3E5553"/>
                </a:solidFill>
                <a:latin typeface="Calibri" pitchFamily="34" charset="0"/>
                <a:ea typeface="Calibri" pitchFamily="34" charset="-122"/>
                <a:cs typeface="Calibri" pitchFamily="34" charset="-120"/>
              </a:rPr>
              <a:t>Los leads apuntan donde menos se convierte</a:t>
            </a:r>
            <a:endParaRPr lang="en-US" sz="1200"/>
          </a:p>
        </p:txBody>
      </p:sp>
      <p:sp>
        <p:nvSpPr>
          <p:cNvPr id="83" name="Text 61">
            <a:extLst>
              <a:ext uri="{FF2B5EF4-FFF2-40B4-BE49-F238E27FC236}">
                <a16:creationId xmlns:a16="http://schemas.microsoft.com/office/drawing/2014/main" id="{17122DA8-2CB9-4D25-5E2E-E59A55C9AFD5}"/>
              </a:ext>
            </a:extLst>
          </p:cNvPr>
          <p:cNvSpPr txBox="1"/>
          <p:nvPr/>
        </p:nvSpPr>
        <p:spPr>
          <a:xfrm>
            <a:off x="10891714" y="3608714"/>
            <a:ext cx="4764070" cy="763150"/>
          </a:xfrm>
          <a:prstGeom prst="rect">
            <a:avLst/>
          </a:prstGeom>
          <a:noFill/>
          <a:ln/>
        </p:spPr>
        <p:txBody>
          <a:bodyPr wrap="square" lIns="0" tIns="0" rIns="0" bIns="0" rtlCol="0" anchor="t"/>
          <a:lstStyle/>
          <a:p>
            <a:r>
              <a:rPr lang="en-US" sz="1100">
                <a:solidFill>
                  <a:srgbClr val="6E7E7D"/>
                </a:solidFill>
                <a:latin typeface="Calibri" pitchFamily="34" charset="0"/>
                <a:ea typeface="Calibri" pitchFamily="34" charset="-122"/>
                <a:cs typeface="Calibri" pitchFamily="34" charset="-120"/>
              </a:rPr>
              <a:t>La relación es casi inversa: los perfiles con más leads (2: 27.5% · 4: 15.0%) convierten menos (0.4% y 1.1%); los de mayor conversión (3: 4.6% · 6: 3.3%) reciben pocos leads (5.3% y 3.1%).</a:t>
            </a:r>
            <a:endParaRPr lang="en-US" sz="1100"/>
          </a:p>
        </p:txBody>
      </p:sp>
      <p:sp>
        <p:nvSpPr>
          <p:cNvPr id="85" name="Shape 62">
            <a:extLst>
              <a:ext uri="{FF2B5EF4-FFF2-40B4-BE49-F238E27FC236}">
                <a16:creationId xmlns:a16="http://schemas.microsoft.com/office/drawing/2014/main" id="{F4F40449-406C-548B-19B8-FDBF41FA8228}"/>
              </a:ext>
            </a:extLst>
          </p:cNvPr>
          <p:cNvSpPr/>
          <p:nvPr/>
        </p:nvSpPr>
        <p:spPr>
          <a:xfrm>
            <a:off x="10891714" y="4421100"/>
            <a:ext cx="4764070" cy="0"/>
          </a:xfrm>
          <a:prstGeom prst="line">
            <a:avLst/>
          </a:prstGeom>
          <a:noFill/>
          <a:ln w="9525">
            <a:solidFill>
              <a:srgbClr val="D5DFDE"/>
            </a:solidFill>
            <a:prstDash val="solid"/>
          </a:ln>
        </p:spPr>
        <p:txBody>
          <a:bodyPr/>
          <a:lstStyle/>
          <a:p>
            <a:endParaRPr lang="es-PE" sz="2800"/>
          </a:p>
        </p:txBody>
      </p:sp>
      <p:sp>
        <p:nvSpPr>
          <p:cNvPr id="87" name="Text 63">
            <a:extLst>
              <a:ext uri="{FF2B5EF4-FFF2-40B4-BE49-F238E27FC236}">
                <a16:creationId xmlns:a16="http://schemas.microsoft.com/office/drawing/2014/main" id="{4229EB1A-0429-E2E5-33E3-9EAE355D3A58}"/>
              </a:ext>
            </a:extLst>
          </p:cNvPr>
          <p:cNvSpPr txBox="1"/>
          <p:nvPr/>
        </p:nvSpPr>
        <p:spPr>
          <a:xfrm>
            <a:off x="10891714" y="4507262"/>
            <a:ext cx="4764070" cy="246176"/>
          </a:xfrm>
          <a:prstGeom prst="rect">
            <a:avLst/>
          </a:prstGeom>
          <a:noFill/>
          <a:ln/>
        </p:spPr>
        <p:txBody>
          <a:bodyPr wrap="square" lIns="0" tIns="0" rIns="0" bIns="0" rtlCol="0" anchor="ctr"/>
          <a:lstStyle/>
          <a:p>
            <a:r>
              <a:rPr lang="en-US" sz="1200" b="1">
                <a:solidFill>
                  <a:srgbClr val="3E5553"/>
                </a:solidFill>
                <a:latin typeface="Calibri" pitchFamily="34" charset="0"/>
                <a:ea typeface="Calibri" pitchFamily="34" charset="-122"/>
                <a:cs typeface="Calibri" pitchFamily="34" charset="-120"/>
              </a:rPr>
              <a:t>El flujo anticipa el share</a:t>
            </a:r>
            <a:endParaRPr lang="en-US" sz="1200"/>
          </a:p>
        </p:txBody>
      </p:sp>
      <p:sp>
        <p:nvSpPr>
          <p:cNvPr id="89" name="Text 64">
            <a:extLst>
              <a:ext uri="{FF2B5EF4-FFF2-40B4-BE49-F238E27FC236}">
                <a16:creationId xmlns:a16="http://schemas.microsoft.com/office/drawing/2014/main" id="{8A711CAF-1E6B-7253-F940-A66548DAD986}"/>
              </a:ext>
            </a:extLst>
          </p:cNvPr>
          <p:cNvSpPr txBox="1"/>
          <p:nvPr/>
        </p:nvSpPr>
        <p:spPr>
          <a:xfrm>
            <a:off x="10891714" y="4765748"/>
            <a:ext cx="4764070" cy="763150"/>
          </a:xfrm>
          <a:prstGeom prst="rect">
            <a:avLst/>
          </a:prstGeom>
          <a:noFill/>
          <a:ln/>
        </p:spPr>
        <p:txBody>
          <a:bodyPr wrap="square" lIns="0" tIns="0" rIns="0" bIns="0" rtlCol="0" anchor="t"/>
          <a:lstStyle/>
          <a:p>
            <a:r>
              <a:rPr lang="en-US" sz="1100">
                <a:solidFill>
                  <a:srgbClr val="6E7E7D"/>
                </a:solidFill>
                <a:latin typeface="Calibri" pitchFamily="34" charset="0"/>
                <a:ea typeface="Calibri" pitchFamily="34" charset="-122"/>
                <a:cs typeface="Calibri" pitchFamily="34" charset="-120"/>
              </a:rPr>
              <a:t>SOW y retanqueo van juntos en cinco perfiles. Reactivar (6) los desacopla: SOW 40% con 1.7% de renovación — aunque convierte 3.3% cuando recibe oferta.</a:t>
            </a:r>
            <a:endParaRPr lang="en-US" sz="1100"/>
          </a:p>
        </p:txBody>
      </p:sp>
      <p:sp>
        <p:nvSpPr>
          <p:cNvPr id="91" name="Shape 65">
            <a:extLst>
              <a:ext uri="{FF2B5EF4-FFF2-40B4-BE49-F238E27FC236}">
                <a16:creationId xmlns:a16="http://schemas.microsoft.com/office/drawing/2014/main" id="{5D732C17-62F3-C29F-BEAC-FA73D9461BB7}"/>
              </a:ext>
            </a:extLst>
          </p:cNvPr>
          <p:cNvSpPr/>
          <p:nvPr/>
        </p:nvSpPr>
        <p:spPr>
          <a:xfrm>
            <a:off x="10891714" y="5578132"/>
            <a:ext cx="4764070" cy="0"/>
          </a:xfrm>
          <a:prstGeom prst="line">
            <a:avLst/>
          </a:prstGeom>
          <a:noFill/>
          <a:ln w="9525">
            <a:solidFill>
              <a:srgbClr val="D5DFDE"/>
            </a:solidFill>
            <a:prstDash val="solid"/>
          </a:ln>
        </p:spPr>
        <p:txBody>
          <a:bodyPr/>
          <a:lstStyle/>
          <a:p>
            <a:endParaRPr lang="es-PE" sz="2800"/>
          </a:p>
        </p:txBody>
      </p:sp>
      <p:sp>
        <p:nvSpPr>
          <p:cNvPr id="93" name="Text 66">
            <a:extLst>
              <a:ext uri="{FF2B5EF4-FFF2-40B4-BE49-F238E27FC236}">
                <a16:creationId xmlns:a16="http://schemas.microsoft.com/office/drawing/2014/main" id="{C0BF5E73-AFA7-6193-95BB-101B420DB7A3}"/>
              </a:ext>
            </a:extLst>
          </p:cNvPr>
          <p:cNvSpPr txBox="1"/>
          <p:nvPr/>
        </p:nvSpPr>
        <p:spPr>
          <a:xfrm>
            <a:off x="10891714" y="5664296"/>
            <a:ext cx="4764070" cy="246176"/>
          </a:xfrm>
          <a:prstGeom prst="rect">
            <a:avLst/>
          </a:prstGeom>
          <a:noFill/>
          <a:ln/>
        </p:spPr>
        <p:txBody>
          <a:bodyPr wrap="square" lIns="0" tIns="0" rIns="0" bIns="0" rtlCol="0" anchor="ctr"/>
          <a:lstStyle/>
          <a:p>
            <a:r>
              <a:rPr lang="en-US" sz="1200" b="1">
                <a:solidFill>
                  <a:srgbClr val="3E5553"/>
                </a:solidFill>
                <a:latin typeface="Calibri" pitchFamily="34" charset="0"/>
                <a:ea typeface="Calibri" pitchFamily="34" charset="-122"/>
                <a:cs typeface="Calibri" pitchFamily="34" charset="-120"/>
              </a:rPr>
              <a:t>El descuento sube donde el share cae</a:t>
            </a:r>
            <a:endParaRPr lang="en-US" sz="1200"/>
          </a:p>
        </p:txBody>
      </p:sp>
      <p:sp>
        <p:nvSpPr>
          <p:cNvPr id="95" name="Text 67">
            <a:extLst>
              <a:ext uri="{FF2B5EF4-FFF2-40B4-BE49-F238E27FC236}">
                <a16:creationId xmlns:a16="http://schemas.microsoft.com/office/drawing/2014/main" id="{7D59F64F-1538-363D-93B8-7E33296AD74D}"/>
              </a:ext>
            </a:extLst>
          </p:cNvPr>
          <p:cNvSpPr txBox="1"/>
          <p:nvPr/>
        </p:nvSpPr>
        <p:spPr>
          <a:xfrm>
            <a:off x="10891714" y="5922780"/>
            <a:ext cx="4764070" cy="763150"/>
          </a:xfrm>
          <a:prstGeom prst="rect">
            <a:avLst/>
          </a:prstGeom>
          <a:noFill/>
          <a:ln/>
        </p:spPr>
        <p:txBody>
          <a:bodyPr wrap="square" lIns="0" tIns="0" rIns="0" bIns="0" rtlCol="0" anchor="t"/>
          <a:lstStyle/>
          <a:p>
            <a:r>
              <a:rPr lang="en-US" sz="1100">
                <a:solidFill>
                  <a:srgbClr val="6E7E7D"/>
                </a:solidFill>
                <a:latin typeface="Calibri" pitchFamily="34" charset="0"/>
                <a:ea typeface="Calibri" pitchFamily="34" charset="-122"/>
                <a:cs typeface="Calibri" pitchFamily="34" charset="-120"/>
              </a:rPr>
              <a:t>Tramo 400+: 17% en Ancla (1) vs 31% en Gran Cuenta (5) y 39% en Reactivar (6): el mayor esfuerzo de precio está donde menos share y renovación hay.</a:t>
            </a:r>
            <a:endParaRPr lang="en-US" sz="1100"/>
          </a:p>
        </p:txBody>
      </p:sp>
      <p:sp>
        <p:nvSpPr>
          <p:cNvPr id="97" name="Shape 68">
            <a:extLst>
              <a:ext uri="{FF2B5EF4-FFF2-40B4-BE49-F238E27FC236}">
                <a16:creationId xmlns:a16="http://schemas.microsoft.com/office/drawing/2014/main" id="{3D630DD3-C765-9C9E-2AB8-F46DEE5F4867}"/>
              </a:ext>
            </a:extLst>
          </p:cNvPr>
          <p:cNvSpPr/>
          <p:nvPr/>
        </p:nvSpPr>
        <p:spPr>
          <a:xfrm>
            <a:off x="10891714" y="6735165"/>
            <a:ext cx="4764070" cy="0"/>
          </a:xfrm>
          <a:prstGeom prst="line">
            <a:avLst/>
          </a:prstGeom>
          <a:noFill/>
          <a:ln w="9525">
            <a:solidFill>
              <a:srgbClr val="D5DFDE"/>
            </a:solidFill>
            <a:prstDash val="solid"/>
          </a:ln>
        </p:spPr>
        <p:txBody>
          <a:bodyPr/>
          <a:lstStyle/>
          <a:p>
            <a:endParaRPr lang="es-PE" sz="2800"/>
          </a:p>
        </p:txBody>
      </p:sp>
      <p:sp>
        <p:nvSpPr>
          <p:cNvPr id="99" name="Text 69">
            <a:extLst>
              <a:ext uri="{FF2B5EF4-FFF2-40B4-BE49-F238E27FC236}">
                <a16:creationId xmlns:a16="http://schemas.microsoft.com/office/drawing/2014/main" id="{893B42E4-5250-44F3-6B8D-274C6C325919}"/>
              </a:ext>
            </a:extLst>
          </p:cNvPr>
          <p:cNvSpPr txBox="1"/>
          <p:nvPr/>
        </p:nvSpPr>
        <p:spPr>
          <a:xfrm>
            <a:off x="10891714" y="6821329"/>
            <a:ext cx="4764070" cy="246176"/>
          </a:xfrm>
          <a:prstGeom prst="rect">
            <a:avLst/>
          </a:prstGeom>
          <a:noFill/>
          <a:ln/>
        </p:spPr>
        <p:txBody>
          <a:bodyPr wrap="square" lIns="0" tIns="0" rIns="0" bIns="0" rtlCol="0" anchor="ctr"/>
          <a:lstStyle/>
          <a:p>
            <a:r>
              <a:rPr lang="en-US" sz="1200" b="1">
                <a:solidFill>
                  <a:srgbClr val="3E5553"/>
                </a:solidFill>
                <a:latin typeface="Calibri" pitchFamily="34" charset="0"/>
                <a:ea typeface="Calibri" pitchFamily="34" charset="-122"/>
                <a:cs typeface="Calibri" pitchFamily="34" charset="-120"/>
              </a:rPr>
              <a:t>Relación integral solo en dos perfiles</a:t>
            </a:r>
            <a:endParaRPr lang="en-US" sz="1200"/>
          </a:p>
        </p:txBody>
      </p:sp>
      <p:sp>
        <p:nvSpPr>
          <p:cNvPr id="101" name="Text 70">
            <a:extLst>
              <a:ext uri="{FF2B5EF4-FFF2-40B4-BE49-F238E27FC236}">
                <a16:creationId xmlns:a16="http://schemas.microsoft.com/office/drawing/2014/main" id="{531BD04D-8A3A-6985-4B2B-2870FF1BE267}"/>
              </a:ext>
            </a:extLst>
          </p:cNvPr>
          <p:cNvSpPr txBox="1"/>
          <p:nvPr/>
        </p:nvSpPr>
        <p:spPr>
          <a:xfrm>
            <a:off x="10891714" y="7079814"/>
            <a:ext cx="4764070" cy="763150"/>
          </a:xfrm>
          <a:prstGeom prst="rect">
            <a:avLst/>
          </a:prstGeom>
          <a:noFill/>
          <a:ln/>
        </p:spPr>
        <p:txBody>
          <a:bodyPr wrap="square" lIns="0" tIns="0" rIns="0" bIns="0" rtlCol="0" anchor="t"/>
          <a:lstStyle/>
          <a:p>
            <a:r>
              <a:rPr lang="en-US" sz="1100">
                <a:solidFill>
                  <a:srgbClr val="6E7E7D"/>
                </a:solidFill>
                <a:latin typeface="Calibri" pitchFamily="34" charset="0"/>
                <a:ea typeface="Calibri" pitchFamily="34" charset="-122"/>
                <a:cs typeface="Calibri" pitchFamily="34" charset="-120"/>
              </a:rPr>
              <a:t>Pasivos y UAI se concentran en </a:t>
            </a:r>
            <a:r>
              <a:rPr lang="en-US" sz="1100" b="1">
                <a:solidFill>
                  <a:srgbClr val="0C514E"/>
                </a:solidFill>
                <a:latin typeface="Calibri" pitchFamily="34" charset="0"/>
                <a:ea typeface="Calibri" pitchFamily="34" charset="-122"/>
                <a:cs typeface="Calibri" pitchFamily="34" charset="-120"/>
              </a:rPr>
              <a:t>Ancla (1) y Estratégica (3)</a:t>
            </a:r>
            <a:r>
              <a:rPr lang="en-US" sz="1100">
                <a:solidFill>
                  <a:srgbClr val="6E7E7D"/>
                </a:solidFill>
                <a:latin typeface="Calibri" pitchFamily="34" charset="0"/>
                <a:ea typeface="Calibri" pitchFamily="34" charset="-122"/>
                <a:cs typeface="Calibri" pitchFamily="34" charset="-120"/>
              </a:rPr>
              <a:t>: S/ 19–26k y S/ 891–1,142; en el resto, S/ 4–7k y S/ 204–322.</a:t>
            </a:r>
            <a:endParaRPr lang="en-US" sz="1100"/>
          </a:p>
        </p:txBody>
      </p:sp>
      <p:sp>
        <p:nvSpPr>
          <p:cNvPr id="103" name="Shape 71">
            <a:extLst>
              <a:ext uri="{FF2B5EF4-FFF2-40B4-BE49-F238E27FC236}">
                <a16:creationId xmlns:a16="http://schemas.microsoft.com/office/drawing/2014/main" id="{05C2A857-360E-BFD2-0378-3F923947E2AF}"/>
              </a:ext>
            </a:extLst>
          </p:cNvPr>
          <p:cNvSpPr/>
          <p:nvPr/>
        </p:nvSpPr>
        <p:spPr>
          <a:xfrm>
            <a:off x="516358" y="8101449"/>
            <a:ext cx="15139426" cy="763150"/>
          </a:xfrm>
          <a:prstGeom prst="rect">
            <a:avLst/>
          </a:prstGeom>
          <a:solidFill>
            <a:srgbClr val="ECF6F5"/>
          </a:solidFill>
          <a:ln/>
        </p:spPr>
        <p:txBody>
          <a:bodyPr/>
          <a:lstStyle/>
          <a:p>
            <a:endParaRPr lang="es-PE" sz="2800"/>
          </a:p>
        </p:txBody>
      </p:sp>
      <p:sp>
        <p:nvSpPr>
          <p:cNvPr id="105" name="Text 72">
            <a:extLst>
              <a:ext uri="{FF2B5EF4-FFF2-40B4-BE49-F238E27FC236}">
                <a16:creationId xmlns:a16="http://schemas.microsoft.com/office/drawing/2014/main" id="{CEBC137F-03EB-6DB3-1F09-A7A7C6D440E8}"/>
              </a:ext>
            </a:extLst>
          </p:cNvPr>
          <p:cNvSpPr txBox="1"/>
          <p:nvPr/>
        </p:nvSpPr>
        <p:spPr>
          <a:xfrm>
            <a:off x="786484" y="8101449"/>
            <a:ext cx="10559536" cy="763150"/>
          </a:xfrm>
          <a:prstGeom prst="rect">
            <a:avLst/>
          </a:prstGeom>
          <a:noFill/>
          <a:ln/>
        </p:spPr>
        <p:txBody>
          <a:bodyPr wrap="square" lIns="0" tIns="0" rIns="0" bIns="0" rtlCol="0" anchor="ctr"/>
          <a:lstStyle/>
          <a:p>
            <a:r>
              <a:rPr lang="en-US" sz="1200" b="1">
                <a:solidFill>
                  <a:srgbClr val="0B2E2C"/>
                </a:solidFill>
                <a:latin typeface="Calibri" pitchFamily="34" charset="0"/>
                <a:ea typeface="Calibri" pitchFamily="34" charset="-122"/>
                <a:cs typeface="Calibri" pitchFamily="34" charset="-120"/>
              </a:rPr>
              <a:t>Dos palancas distintas: </a:t>
            </a:r>
            <a:r>
              <a:rPr lang="en-US" sz="1200">
                <a:solidFill>
                  <a:srgbClr val="0B2E2C"/>
                </a:solidFill>
                <a:latin typeface="Calibri" pitchFamily="34" charset="0"/>
                <a:ea typeface="Calibri" pitchFamily="34" charset="-122"/>
                <a:cs typeface="Calibri" pitchFamily="34" charset="-120"/>
              </a:rPr>
              <a:t>hacer crecer a quienes ya nos prefieren (1 · 2), capturar share donde está el tamaño (3 · 5) y sostener el flujo donde se apaga (6).</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04F2-91D0-725F-5D1C-1C78367E6E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A997D1-72C8-C535-FCFC-7A94B00AA76F}"/>
              </a:ext>
            </a:extLst>
          </p:cNvPr>
          <p:cNvSpPr txBox="1"/>
          <p:nvPr/>
        </p:nvSpPr>
        <p:spPr>
          <a:xfrm>
            <a:off x="658368" y="329184"/>
            <a:ext cx="11951427" cy="146194"/>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t>
            </a:r>
            <a:r>
              <a:rPr lang="es-ES" sz="950" b="1" i="0">
                <a:solidFill>
                  <a:srgbClr val="13807B"/>
                </a:solidFill>
                <a:latin typeface="Arial"/>
              </a:rPr>
              <a:t>OS CON DEUDA</a:t>
            </a:r>
            <a:r>
              <a:rPr sz="950" b="1" i="0">
                <a:solidFill>
                  <a:srgbClr val="13807B"/>
                </a:solidFill>
                <a:latin typeface="Arial"/>
              </a:rPr>
              <a:t>· </a:t>
            </a:r>
            <a:r>
              <a:rPr lang="es-ES" sz="950" b="1" i="0">
                <a:solidFill>
                  <a:srgbClr val="13807B"/>
                </a:solidFill>
                <a:latin typeface="Arial"/>
              </a:rPr>
              <a:t>1 DE 2</a:t>
            </a:r>
            <a:endParaRPr sz="950" b="1" i="0">
              <a:solidFill>
                <a:srgbClr val="13807B"/>
              </a:solidFill>
              <a:latin typeface="Arial"/>
            </a:endParaRPr>
          </a:p>
        </p:txBody>
      </p:sp>
      <p:sp>
        <p:nvSpPr>
          <p:cNvPr id="3" name="TextBox 2">
            <a:extLst>
              <a:ext uri="{FF2B5EF4-FFF2-40B4-BE49-F238E27FC236}">
                <a16:creationId xmlns:a16="http://schemas.microsoft.com/office/drawing/2014/main" id="{A10544C9-09B7-C152-7FA9-0D7ED4ADD448}"/>
              </a:ext>
            </a:extLst>
          </p:cNvPr>
          <p:cNvSpPr txBox="1"/>
          <p:nvPr/>
        </p:nvSpPr>
        <p:spPr>
          <a:xfrm>
            <a:off x="658368" y="566928"/>
            <a:ext cx="13750564" cy="301621"/>
          </a:xfrm>
          <a:prstGeom prst="rect">
            <a:avLst/>
          </a:prstGeom>
          <a:noFill/>
        </p:spPr>
        <p:txBody>
          <a:bodyPr wrap="square" lIns="0" tIns="0" rIns="0" bIns="0" anchor="t">
            <a:spAutoFit/>
          </a:bodyPr>
          <a:lstStyle/>
          <a:p>
            <a:pPr algn="l">
              <a:lnSpc>
                <a:spcPct val="98000"/>
              </a:lnSpc>
            </a:pPr>
            <a:r>
              <a:rPr lang="es-ES" sz="2000" b="1" i="0">
                <a:solidFill>
                  <a:srgbClr val="0B2E2C"/>
                </a:solidFill>
                <a:latin typeface="Arial"/>
              </a:rPr>
              <a:t>Tres </a:t>
            </a:r>
            <a:r>
              <a:rPr lang="es-ES" sz="2000" b="1" i="0" err="1">
                <a:solidFill>
                  <a:srgbClr val="0B2E2C"/>
                </a:solidFill>
                <a:latin typeface="Arial"/>
              </a:rPr>
              <a:t>clusters</a:t>
            </a:r>
            <a:r>
              <a:rPr lang="es-ES" sz="2000" b="1" i="0">
                <a:solidFill>
                  <a:srgbClr val="0B2E2C"/>
                </a:solidFill>
                <a:latin typeface="Arial"/>
              </a:rPr>
              <a:t>, tres realidades: ¿en qué se diferencian?</a:t>
            </a:r>
          </a:p>
        </p:txBody>
      </p:sp>
      <p:cxnSp>
        <p:nvCxnSpPr>
          <p:cNvPr id="4" name="Connector 3">
            <a:extLst>
              <a:ext uri="{FF2B5EF4-FFF2-40B4-BE49-F238E27FC236}">
                <a16:creationId xmlns:a16="http://schemas.microsoft.com/office/drawing/2014/main" id="{6FACAF64-56FB-3753-6EA9-DF037A480432}"/>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a:extLst>
              <a:ext uri="{FF2B5EF4-FFF2-40B4-BE49-F238E27FC236}">
                <a16:creationId xmlns:a16="http://schemas.microsoft.com/office/drawing/2014/main" id="{AC871093-6D06-7EF2-0A5B-036115CD9E5E}"/>
              </a:ext>
            </a:extLst>
          </p:cNvPr>
          <p:cNvPicPr>
            <a:picLocks noChangeAspect="1"/>
          </p:cNvPicPr>
          <p:nvPr/>
        </p:nvPicPr>
        <p:blipFill>
          <a:blip r:embed="rId2"/>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921E6FDB-E13E-7972-FB08-45B5E945D771}"/>
              </a:ext>
            </a:extLst>
          </p:cNvPr>
          <p:cNvPicPr>
            <a:picLocks noChangeAspect="1"/>
          </p:cNvPicPr>
          <p:nvPr/>
        </p:nvPicPr>
        <p:blipFill>
          <a:blip r:embed="rId3"/>
          <a:stretch>
            <a:fillRect/>
          </a:stretch>
        </p:blipFill>
        <p:spPr>
          <a:xfrm>
            <a:off x="14725019" y="109555"/>
            <a:ext cx="1272511" cy="717296"/>
          </a:xfrm>
          <a:prstGeom prst="rect">
            <a:avLst/>
          </a:prstGeom>
        </p:spPr>
      </p:pic>
      <p:grpSp>
        <p:nvGrpSpPr>
          <p:cNvPr id="722" name="Grupo 721">
            <a:extLst>
              <a:ext uri="{FF2B5EF4-FFF2-40B4-BE49-F238E27FC236}">
                <a16:creationId xmlns:a16="http://schemas.microsoft.com/office/drawing/2014/main" id="{735995D4-A500-2C68-6FFA-77E1EB0B88B8}"/>
              </a:ext>
            </a:extLst>
          </p:cNvPr>
          <p:cNvGrpSpPr/>
          <p:nvPr/>
        </p:nvGrpSpPr>
        <p:grpSpPr>
          <a:xfrm>
            <a:off x="320040" y="1525773"/>
            <a:ext cx="15677490" cy="7498240"/>
            <a:chOff x="320040" y="1078992"/>
            <a:chExt cx="11219688" cy="5760720"/>
          </a:xfrm>
        </p:grpSpPr>
        <p:sp>
          <p:nvSpPr>
            <p:cNvPr id="11" name="Shape 5">
              <a:extLst>
                <a:ext uri="{FF2B5EF4-FFF2-40B4-BE49-F238E27FC236}">
                  <a16:creationId xmlns:a16="http://schemas.microsoft.com/office/drawing/2014/main" id="{3B385461-7F7A-D32B-D99B-C1027F605EEA}"/>
                </a:ext>
              </a:extLst>
            </p:cNvPr>
            <p:cNvSpPr/>
            <p:nvPr/>
          </p:nvSpPr>
          <p:spPr>
            <a:xfrm>
              <a:off x="1508760" y="1078992"/>
              <a:ext cx="3264408" cy="566928"/>
            </a:xfrm>
            <a:prstGeom prst="roundRect">
              <a:avLst>
                <a:gd name="adj" fmla="val 11290"/>
              </a:avLst>
            </a:prstGeom>
            <a:solidFill>
              <a:srgbClr val="0E5D52"/>
            </a:solidFill>
            <a:ln/>
          </p:spPr>
          <p:txBody>
            <a:bodyPr/>
            <a:lstStyle/>
            <a:p>
              <a:endParaRPr lang="es-PE"/>
            </a:p>
          </p:txBody>
        </p:sp>
        <p:sp>
          <p:nvSpPr>
            <p:cNvPr id="15" name="Shape 6">
              <a:extLst>
                <a:ext uri="{FF2B5EF4-FFF2-40B4-BE49-F238E27FC236}">
                  <a16:creationId xmlns:a16="http://schemas.microsoft.com/office/drawing/2014/main" id="{89D12423-19AB-F1B5-5DAC-28A5DE09B690}"/>
                </a:ext>
              </a:extLst>
            </p:cNvPr>
            <p:cNvSpPr/>
            <p:nvPr/>
          </p:nvSpPr>
          <p:spPr>
            <a:xfrm>
              <a:off x="1627632" y="1197864"/>
              <a:ext cx="329184" cy="329184"/>
            </a:xfrm>
            <a:prstGeom prst="ellipse">
              <a:avLst/>
            </a:prstGeom>
            <a:solidFill>
              <a:srgbClr val="FFFFFF">
                <a:alpha val="85000"/>
              </a:srgbClr>
            </a:solidFill>
            <a:ln/>
          </p:spPr>
          <p:txBody>
            <a:bodyPr/>
            <a:lstStyle/>
            <a:p>
              <a:endParaRPr/>
            </a:p>
          </p:txBody>
        </p:sp>
        <p:pic>
          <p:nvPicPr>
            <p:cNvPr id="19" name="Image 0" descr="/home/claude/voi_deck/icons/anchor.png">
              <a:extLst>
                <a:ext uri="{FF2B5EF4-FFF2-40B4-BE49-F238E27FC236}">
                  <a16:creationId xmlns:a16="http://schemas.microsoft.com/office/drawing/2014/main" id="{B7A6836B-7310-80BD-4E79-722717986FF5}"/>
                </a:ext>
              </a:extLst>
            </p:cNvPr>
            <p:cNvPicPr>
              <a:picLocks noChangeAspect="1"/>
            </p:cNvPicPr>
            <p:nvPr/>
          </p:nvPicPr>
          <p:blipFill>
            <a:blip r:embed="rId4"/>
            <a:stretch>
              <a:fillRect/>
            </a:stretch>
          </p:blipFill>
          <p:spPr>
            <a:xfrm>
              <a:off x="1691640" y="1261872"/>
              <a:ext cx="201168" cy="201168"/>
            </a:xfrm>
            <a:prstGeom prst="rect">
              <a:avLst/>
            </a:prstGeom>
          </p:spPr>
        </p:pic>
        <p:sp>
          <p:nvSpPr>
            <p:cNvPr id="23" name="Text 7">
              <a:extLst>
                <a:ext uri="{FF2B5EF4-FFF2-40B4-BE49-F238E27FC236}">
                  <a16:creationId xmlns:a16="http://schemas.microsoft.com/office/drawing/2014/main" id="{1BD80F37-3B90-1840-DAAD-62C293D94073}"/>
                </a:ext>
              </a:extLst>
            </p:cNvPr>
            <p:cNvSpPr txBox="1"/>
            <p:nvPr/>
          </p:nvSpPr>
          <p:spPr>
            <a:xfrm>
              <a:off x="203911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Cliente ancla</a:t>
              </a:r>
              <a:endParaRPr lang="en-US" sz="1250"/>
            </a:p>
          </p:txBody>
        </p:sp>
        <p:sp>
          <p:nvSpPr>
            <p:cNvPr id="27" name="Text 8">
              <a:extLst>
                <a:ext uri="{FF2B5EF4-FFF2-40B4-BE49-F238E27FC236}">
                  <a16:creationId xmlns:a16="http://schemas.microsoft.com/office/drawing/2014/main" id="{EAD66A82-63B3-3E91-C3B9-0A1DAA38A411}"/>
                </a:ext>
              </a:extLst>
            </p:cNvPr>
            <p:cNvSpPr txBox="1"/>
            <p:nvPr/>
          </p:nvSpPr>
          <p:spPr>
            <a:xfrm>
              <a:off x="203911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1 · Con deuda</a:t>
              </a:r>
              <a:endParaRPr lang="en-US" sz="900"/>
            </a:p>
          </p:txBody>
        </p:sp>
        <p:sp>
          <p:nvSpPr>
            <p:cNvPr id="31" name="Shape 9">
              <a:extLst>
                <a:ext uri="{FF2B5EF4-FFF2-40B4-BE49-F238E27FC236}">
                  <a16:creationId xmlns:a16="http://schemas.microsoft.com/office/drawing/2014/main" id="{9A3CECD9-8802-9494-DACB-BF7D4FC5081C}"/>
                </a:ext>
              </a:extLst>
            </p:cNvPr>
            <p:cNvSpPr/>
            <p:nvPr/>
          </p:nvSpPr>
          <p:spPr>
            <a:xfrm>
              <a:off x="4892040" y="1078992"/>
              <a:ext cx="3264408" cy="566928"/>
            </a:xfrm>
            <a:prstGeom prst="roundRect">
              <a:avLst>
                <a:gd name="adj" fmla="val 11290"/>
              </a:avLst>
            </a:prstGeom>
            <a:solidFill>
              <a:srgbClr val="0E5D52"/>
            </a:solidFill>
            <a:ln/>
          </p:spPr>
          <p:txBody>
            <a:bodyPr/>
            <a:lstStyle/>
            <a:p>
              <a:endParaRPr lang="es-PE"/>
            </a:p>
          </p:txBody>
        </p:sp>
        <p:sp>
          <p:nvSpPr>
            <p:cNvPr id="35" name="Shape 10">
              <a:extLst>
                <a:ext uri="{FF2B5EF4-FFF2-40B4-BE49-F238E27FC236}">
                  <a16:creationId xmlns:a16="http://schemas.microsoft.com/office/drawing/2014/main" id="{C6FC6ADF-2902-3F73-AE51-924B73D0090D}"/>
                </a:ext>
              </a:extLst>
            </p:cNvPr>
            <p:cNvSpPr/>
            <p:nvPr/>
          </p:nvSpPr>
          <p:spPr>
            <a:xfrm>
              <a:off x="5010912" y="1197864"/>
              <a:ext cx="329184" cy="329184"/>
            </a:xfrm>
            <a:prstGeom prst="ellipse">
              <a:avLst/>
            </a:prstGeom>
            <a:solidFill>
              <a:srgbClr val="FFFFFF">
                <a:alpha val="85000"/>
              </a:srgbClr>
            </a:solidFill>
            <a:ln/>
          </p:spPr>
          <p:txBody>
            <a:bodyPr/>
            <a:lstStyle/>
            <a:p>
              <a:endParaRPr/>
            </a:p>
          </p:txBody>
        </p:sp>
        <p:pic>
          <p:nvPicPr>
            <p:cNvPr id="39" name="Image 1" descr="/home/claude/voi_deck/icons/trending_up.png">
              <a:extLst>
                <a:ext uri="{FF2B5EF4-FFF2-40B4-BE49-F238E27FC236}">
                  <a16:creationId xmlns:a16="http://schemas.microsoft.com/office/drawing/2014/main" id="{F8C05055-EFAF-6D5B-EA2A-271D5DBC9915}"/>
                </a:ext>
              </a:extLst>
            </p:cNvPr>
            <p:cNvPicPr>
              <a:picLocks noChangeAspect="1"/>
            </p:cNvPicPr>
            <p:nvPr/>
          </p:nvPicPr>
          <p:blipFill>
            <a:blip r:embed="rId5"/>
            <a:stretch>
              <a:fillRect/>
            </a:stretch>
          </p:blipFill>
          <p:spPr>
            <a:xfrm>
              <a:off x="5074920" y="1261872"/>
              <a:ext cx="201168" cy="201168"/>
            </a:xfrm>
            <a:prstGeom prst="rect">
              <a:avLst/>
            </a:prstGeom>
          </p:spPr>
        </p:pic>
        <p:sp>
          <p:nvSpPr>
            <p:cNvPr id="43" name="Text 11">
              <a:extLst>
                <a:ext uri="{FF2B5EF4-FFF2-40B4-BE49-F238E27FC236}">
                  <a16:creationId xmlns:a16="http://schemas.microsoft.com/office/drawing/2014/main" id="{65695390-FB25-0F43-A2A9-3762C44CF229}"/>
                </a:ext>
              </a:extLst>
            </p:cNvPr>
            <p:cNvSpPr txBox="1"/>
            <p:nvPr/>
          </p:nvSpPr>
          <p:spPr>
            <a:xfrm>
              <a:off x="542239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Socio en crecimiento</a:t>
              </a:r>
              <a:endParaRPr lang="en-US" sz="1250"/>
            </a:p>
          </p:txBody>
        </p:sp>
        <p:sp>
          <p:nvSpPr>
            <p:cNvPr id="47" name="Text 12">
              <a:extLst>
                <a:ext uri="{FF2B5EF4-FFF2-40B4-BE49-F238E27FC236}">
                  <a16:creationId xmlns:a16="http://schemas.microsoft.com/office/drawing/2014/main" id="{EDA87B20-57AA-CF9D-8EDB-6FB1054AB807}"/>
                </a:ext>
              </a:extLst>
            </p:cNvPr>
            <p:cNvSpPr txBox="1"/>
            <p:nvPr/>
          </p:nvSpPr>
          <p:spPr>
            <a:xfrm>
              <a:off x="542239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2 · Con deuda</a:t>
              </a:r>
              <a:endParaRPr lang="en-US" sz="900"/>
            </a:p>
          </p:txBody>
        </p:sp>
        <p:sp>
          <p:nvSpPr>
            <p:cNvPr id="51" name="Shape 13">
              <a:extLst>
                <a:ext uri="{FF2B5EF4-FFF2-40B4-BE49-F238E27FC236}">
                  <a16:creationId xmlns:a16="http://schemas.microsoft.com/office/drawing/2014/main" id="{2BB60595-7B26-2A63-7C6B-CA01FDB527F9}"/>
                </a:ext>
              </a:extLst>
            </p:cNvPr>
            <p:cNvSpPr/>
            <p:nvPr/>
          </p:nvSpPr>
          <p:spPr>
            <a:xfrm>
              <a:off x="8275320" y="1078992"/>
              <a:ext cx="3264408" cy="566928"/>
            </a:xfrm>
            <a:prstGeom prst="roundRect">
              <a:avLst>
                <a:gd name="adj" fmla="val 11290"/>
              </a:avLst>
            </a:prstGeom>
            <a:solidFill>
              <a:srgbClr val="0E5D52"/>
            </a:solidFill>
            <a:ln/>
          </p:spPr>
          <p:txBody>
            <a:bodyPr/>
            <a:lstStyle/>
            <a:p>
              <a:endParaRPr lang="es-PE"/>
            </a:p>
          </p:txBody>
        </p:sp>
        <p:sp>
          <p:nvSpPr>
            <p:cNvPr id="55" name="Shape 14">
              <a:extLst>
                <a:ext uri="{FF2B5EF4-FFF2-40B4-BE49-F238E27FC236}">
                  <a16:creationId xmlns:a16="http://schemas.microsoft.com/office/drawing/2014/main" id="{F6EDD2CF-91BB-949B-943A-E5F003A8B42A}"/>
                </a:ext>
              </a:extLst>
            </p:cNvPr>
            <p:cNvSpPr/>
            <p:nvPr/>
          </p:nvSpPr>
          <p:spPr>
            <a:xfrm>
              <a:off x="8394192" y="1197864"/>
              <a:ext cx="329184" cy="329184"/>
            </a:xfrm>
            <a:prstGeom prst="ellipse">
              <a:avLst/>
            </a:prstGeom>
            <a:solidFill>
              <a:srgbClr val="FFFFFF">
                <a:alpha val="85000"/>
              </a:srgbClr>
            </a:solidFill>
            <a:ln/>
          </p:spPr>
          <p:txBody>
            <a:bodyPr/>
            <a:lstStyle/>
            <a:p>
              <a:endParaRPr/>
            </a:p>
          </p:txBody>
        </p:sp>
        <p:pic>
          <p:nvPicPr>
            <p:cNvPr id="59" name="Image 2" descr="/home/claude/voi_deck/icons/award.png">
              <a:extLst>
                <a:ext uri="{FF2B5EF4-FFF2-40B4-BE49-F238E27FC236}">
                  <a16:creationId xmlns:a16="http://schemas.microsoft.com/office/drawing/2014/main" id="{C753A956-29BB-9AED-59BB-197AB67A7FD5}"/>
                </a:ext>
              </a:extLst>
            </p:cNvPr>
            <p:cNvPicPr>
              <a:picLocks noChangeAspect="1"/>
            </p:cNvPicPr>
            <p:nvPr/>
          </p:nvPicPr>
          <p:blipFill>
            <a:blip r:embed="rId6"/>
            <a:stretch>
              <a:fillRect/>
            </a:stretch>
          </p:blipFill>
          <p:spPr>
            <a:xfrm>
              <a:off x="8458200" y="1261872"/>
              <a:ext cx="201168" cy="201168"/>
            </a:xfrm>
            <a:prstGeom prst="rect">
              <a:avLst/>
            </a:prstGeom>
          </p:spPr>
        </p:pic>
        <p:sp>
          <p:nvSpPr>
            <p:cNvPr id="63" name="Text 15">
              <a:extLst>
                <a:ext uri="{FF2B5EF4-FFF2-40B4-BE49-F238E27FC236}">
                  <a16:creationId xmlns:a16="http://schemas.microsoft.com/office/drawing/2014/main" id="{B359A503-D9EE-AD36-B696-9C52DBFFC6BA}"/>
                </a:ext>
              </a:extLst>
            </p:cNvPr>
            <p:cNvSpPr txBox="1"/>
            <p:nvPr/>
          </p:nvSpPr>
          <p:spPr>
            <a:xfrm>
              <a:off x="880567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Cuenta estratégica</a:t>
              </a:r>
              <a:endParaRPr lang="en-US" sz="1250"/>
            </a:p>
          </p:txBody>
        </p:sp>
        <p:sp>
          <p:nvSpPr>
            <p:cNvPr id="451" name="Text 16">
              <a:extLst>
                <a:ext uri="{FF2B5EF4-FFF2-40B4-BE49-F238E27FC236}">
                  <a16:creationId xmlns:a16="http://schemas.microsoft.com/office/drawing/2014/main" id="{7918D9AB-6182-F67B-D4C0-2F392AD41337}"/>
                </a:ext>
              </a:extLst>
            </p:cNvPr>
            <p:cNvSpPr txBox="1"/>
            <p:nvPr/>
          </p:nvSpPr>
          <p:spPr>
            <a:xfrm>
              <a:off x="880567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3 · Con deuda</a:t>
              </a:r>
              <a:endParaRPr lang="en-US" sz="900"/>
            </a:p>
          </p:txBody>
        </p:sp>
        <p:sp>
          <p:nvSpPr>
            <p:cNvPr id="455" name="Shape 17">
              <a:extLst>
                <a:ext uri="{FF2B5EF4-FFF2-40B4-BE49-F238E27FC236}">
                  <a16:creationId xmlns:a16="http://schemas.microsoft.com/office/drawing/2014/main" id="{8F7A0F36-BF07-3887-7F37-A0994531B4EB}"/>
                </a:ext>
              </a:extLst>
            </p:cNvPr>
            <p:cNvSpPr/>
            <p:nvPr/>
          </p:nvSpPr>
          <p:spPr>
            <a:xfrm>
              <a:off x="320040" y="1696212"/>
              <a:ext cx="11219688" cy="566928"/>
            </a:xfrm>
            <a:prstGeom prst="roundRect">
              <a:avLst>
                <a:gd name="adj" fmla="val 9677"/>
              </a:avLst>
            </a:prstGeom>
            <a:solidFill>
              <a:srgbClr val="FFFFFF"/>
            </a:solidFill>
            <a:ln w="12700">
              <a:solidFill>
                <a:srgbClr val="E4E7E1"/>
              </a:solidFill>
              <a:prstDash val="solid"/>
            </a:ln>
          </p:spPr>
          <p:txBody>
            <a:bodyPr/>
            <a:lstStyle/>
            <a:p>
              <a:endParaRPr lang="es-PE"/>
            </a:p>
          </p:txBody>
        </p:sp>
        <p:sp>
          <p:nvSpPr>
            <p:cNvPr id="459" name="Shape 18">
              <a:extLst>
                <a:ext uri="{FF2B5EF4-FFF2-40B4-BE49-F238E27FC236}">
                  <a16:creationId xmlns:a16="http://schemas.microsoft.com/office/drawing/2014/main" id="{EC38C6EE-281C-E963-5EF2-5A09F3387EF5}"/>
                </a:ext>
              </a:extLst>
            </p:cNvPr>
            <p:cNvSpPr/>
            <p:nvPr/>
          </p:nvSpPr>
          <p:spPr>
            <a:xfrm>
              <a:off x="374904" y="1833372"/>
              <a:ext cx="292608" cy="292608"/>
            </a:xfrm>
            <a:prstGeom prst="ellipse">
              <a:avLst/>
            </a:prstGeom>
            <a:solidFill>
              <a:srgbClr val="0E5D52"/>
            </a:solidFill>
            <a:ln/>
          </p:spPr>
          <p:txBody>
            <a:bodyPr/>
            <a:lstStyle/>
            <a:p>
              <a:endParaRPr lang="es-PE"/>
            </a:p>
          </p:txBody>
        </p:sp>
        <p:pic>
          <p:nvPicPr>
            <p:cNvPr id="463" name="Image 3" descr="/home/claude/voi_deck/icons/list.png">
              <a:extLst>
                <a:ext uri="{FF2B5EF4-FFF2-40B4-BE49-F238E27FC236}">
                  <a16:creationId xmlns:a16="http://schemas.microsoft.com/office/drawing/2014/main" id="{B0713224-9AE9-E1AC-D9FD-AAA9596BBEB3}"/>
                </a:ext>
              </a:extLst>
            </p:cNvPr>
            <p:cNvPicPr>
              <a:picLocks noChangeAspect="1"/>
            </p:cNvPicPr>
            <p:nvPr/>
          </p:nvPicPr>
          <p:blipFill>
            <a:blip r:embed="rId7"/>
            <a:stretch>
              <a:fillRect/>
            </a:stretch>
          </p:blipFill>
          <p:spPr>
            <a:xfrm>
              <a:off x="448056" y="1906524"/>
              <a:ext cx="146304" cy="146304"/>
            </a:xfrm>
            <a:prstGeom prst="rect">
              <a:avLst/>
            </a:prstGeom>
          </p:spPr>
        </p:pic>
        <p:sp>
          <p:nvSpPr>
            <p:cNvPr id="467" name="Text 19">
              <a:extLst>
                <a:ext uri="{FF2B5EF4-FFF2-40B4-BE49-F238E27FC236}">
                  <a16:creationId xmlns:a16="http://schemas.microsoft.com/office/drawing/2014/main" id="{99ED7ED8-EAFD-AF04-637E-99A513BA4270}"/>
                </a:ext>
              </a:extLst>
            </p:cNvPr>
            <p:cNvSpPr txBox="1"/>
            <p:nvPr/>
          </p:nvSpPr>
          <p:spPr>
            <a:xfrm>
              <a:off x="704088" y="1696212"/>
              <a:ext cx="676656" cy="566928"/>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EN RESUMEN</a:t>
              </a:r>
              <a:endParaRPr lang="en-US" sz="750"/>
            </a:p>
          </p:txBody>
        </p:sp>
        <p:sp>
          <p:nvSpPr>
            <p:cNvPr id="471" name="Shape 20">
              <a:extLst>
                <a:ext uri="{FF2B5EF4-FFF2-40B4-BE49-F238E27FC236}">
                  <a16:creationId xmlns:a16="http://schemas.microsoft.com/office/drawing/2014/main" id="{D8EA047D-B07F-052A-8E8F-4F8029352667}"/>
                </a:ext>
              </a:extLst>
            </p:cNvPr>
            <p:cNvSpPr/>
            <p:nvPr/>
          </p:nvSpPr>
          <p:spPr>
            <a:xfrm>
              <a:off x="1527048" y="1741932"/>
              <a:ext cx="3172968" cy="475488"/>
            </a:xfrm>
            <a:prstGeom prst="roundRect">
              <a:avLst>
                <a:gd name="adj" fmla="val 11538"/>
              </a:avLst>
            </a:prstGeom>
            <a:solidFill>
              <a:srgbClr val="E1F5EE"/>
            </a:solidFill>
            <a:ln w="9525">
              <a:solidFill>
                <a:srgbClr val="BFE6D8"/>
              </a:solidFill>
              <a:prstDash val="solid"/>
            </a:ln>
          </p:spPr>
          <p:txBody>
            <a:bodyPr/>
            <a:lstStyle/>
            <a:p>
              <a:endParaRPr/>
            </a:p>
          </p:txBody>
        </p:sp>
        <p:sp>
          <p:nvSpPr>
            <p:cNvPr id="475" name="Text 21">
              <a:extLst>
                <a:ext uri="{FF2B5EF4-FFF2-40B4-BE49-F238E27FC236}">
                  <a16:creationId xmlns:a16="http://schemas.microsoft.com/office/drawing/2014/main" id="{02660C58-0D29-3AC4-9477-2BD84A844418}"/>
                </a:ext>
              </a:extLst>
            </p:cNvPr>
            <p:cNvSpPr txBox="1"/>
            <p:nvPr/>
          </p:nvSpPr>
          <p:spPr>
            <a:xfrm>
              <a:off x="163677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Clientes estables y predecibles. Alta retención y buen equilibrio entre rentabilidad y riesgo.</a:t>
              </a:r>
              <a:endParaRPr lang="en-US" sz="950"/>
            </a:p>
          </p:txBody>
        </p:sp>
        <p:sp>
          <p:nvSpPr>
            <p:cNvPr id="479" name="Shape 22">
              <a:extLst>
                <a:ext uri="{FF2B5EF4-FFF2-40B4-BE49-F238E27FC236}">
                  <a16:creationId xmlns:a16="http://schemas.microsoft.com/office/drawing/2014/main" id="{4F646116-50F7-4FA7-FE75-B24639B6DE7B}"/>
                </a:ext>
              </a:extLst>
            </p:cNvPr>
            <p:cNvSpPr/>
            <p:nvPr/>
          </p:nvSpPr>
          <p:spPr>
            <a:xfrm>
              <a:off x="4315968" y="1842516"/>
              <a:ext cx="274320" cy="274320"/>
            </a:xfrm>
            <a:prstGeom prst="ellipse">
              <a:avLst/>
            </a:prstGeom>
            <a:solidFill>
              <a:srgbClr val="FFFFFF"/>
            </a:solidFill>
            <a:ln/>
          </p:spPr>
          <p:txBody>
            <a:bodyPr/>
            <a:lstStyle/>
            <a:p>
              <a:endParaRPr/>
            </a:p>
          </p:txBody>
        </p:sp>
        <p:pic>
          <p:nvPicPr>
            <p:cNvPr id="483" name="Image 4" descr="/home/claude/voi_deck/icons/check_teal.png">
              <a:extLst>
                <a:ext uri="{FF2B5EF4-FFF2-40B4-BE49-F238E27FC236}">
                  <a16:creationId xmlns:a16="http://schemas.microsoft.com/office/drawing/2014/main" id="{FC61330B-49CF-6051-D534-167D31082F5C}"/>
                </a:ext>
              </a:extLst>
            </p:cNvPr>
            <p:cNvPicPr>
              <a:picLocks noChangeAspect="1"/>
            </p:cNvPicPr>
            <p:nvPr/>
          </p:nvPicPr>
          <p:blipFill>
            <a:blip r:embed="rId8"/>
            <a:stretch>
              <a:fillRect/>
            </a:stretch>
          </p:blipFill>
          <p:spPr>
            <a:xfrm>
              <a:off x="4389120" y="1915668"/>
              <a:ext cx="128016" cy="128016"/>
            </a:xfrm>
            <a:prstGeom prst="rect">
              <a:avLst/>
            </a:prstGeom>
          </p:spPr>
        </p:pic>
        <p:sp>
          <p:nvSpPr>
            <p:cNvPr id="487" name="Shape 23">
              <a:extLst>
                <a:ext uri="{FF2B5EF4-FFF2-40B4-BE49-F238E27FC236}">
                  <a16:creationId xmlns:a16="http://schemas.microsoft.com/office/drawing/2014/main" id="{91EBD4A2-84FA-4D3C-9A81-54C77BD5B5F3}"/>
                </a:ext>
              </a:extLst>
            </p:cNvPr>
            <p:cNvSpPr/>
            <p:nvPr/>
          </p:nvSpPr>
          <p:spPr>
            <a:xfrm>
              <a:off x="4910328" y="1741932"/>
              <a:ext cx="3172968" cy="475488"/>
            </a:xfrm>
            <a:prstGeom prst="roundRect">
              <a:avLst>
                <a:gd name="adj" fmla="val 11538"/>
              </a:avLst>
            </a:prstGeom>
            <a:solidFill>
              <a:srgbClr val="FAEEDA"/>
            </a:solidFill>
            <a:ln w="9525">
              <a:solidFill>
                <a:srgbClr val="F0D9AE"/>
              </a:solidFill>
              <a:prstDash val="solid"/>
            </a:ln>
          </p:spPr>
          <p:txBody>
            <a:bodyPr/>
            <a:lstStyle/>
            <a:p>
              <a:endParaRPr/>
            </a:p>
          </p:txBody>
        </p:sp>
        <p:sp>
          <p:nvSpPr>
            <p:cNvPr id="491" name="Text 24">
              <a:extLst>
                <a:ext uri="{FF2B5EF4-FFF2-40B4-BE49-F238E27FC236}">
                  <a16:creationId xmlns:a16="http://schemas.microsoft.com/office/drawing/2014/main" id="{65FE3686-8FD4-1CC0-6061-E3BDFE9AC754}"/>
                </a:ext>
              </a:extLst>
            </p:cNvPr>
            <p:cNvSpPr txBox="1"/>
            <p:nvPr/>
          </p:nvSpPr>
          <p:spPr>
            <a:xfrm>
              <a:off x="502005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Clientes en desarrollo. Mayor participación en campañas y rentabilidad más ajustada.</a:t>
              </a:r>
              <a:endParaRPr lang="en-US" sz="950"/>
            </a:p>
          </p:txBody>
        </p:sp>
        <p:sp>
          <p:nvSpPr>
            <p:cNvPr id="495" name="Shape 25">
              <a:extLst>
                <a:ext uri="{FF2B5EF4-FFF2-40B4-BE49-F238E27FC236}">
                  <a16:creationId xmlns:a16="http://schemas.microsoft.com/office/drawing/2014/main" id="{CCCFF161-D025-8E5F-72C3-92598E9A2919}"/>
                </a:ext>
              </a:extLst>
            </p:cNvPr>
            <p:cNvSpPr/>
            <p:nvPr/>
          </p:nvSpPr>
          <p:spPr>
            <a:xfrm>
              <a:off x="7699248" y="1842516"/>
              <a:ext cx="274320" cy="274320"/>
            </a:xfrm>
            <a:prstGeom prst="ellipse">
              <a:avLst/>
            </a:prstGeom>
            <a:solidFill>
              <a:srgbClr val="FFFFFF"/>
            </a:solidFill>
            <a:ln/>
          </p:spPr>
          <p:txBody>
            <a:bodyPr/>
            <a:lstStyle/>
            <a:p>
              <a:endParaRPr/>
            </a:p>
          </p:txBody>
        </p:sp>
        <p:pic>
          <p:nvPicPr>
            <p:cNvPr id="499" name="Image 5" descr="/home/claude/voi_deck/icons/minus_amber.png">
              <a:extLst>
                <a:ext uri="{FF2B5EF4-FFF2-40B4-BE49-F238E27FC236}">
                  <a16:creationId xmlns:a16="http://schemas.microsoft.com/office/drawing/2014/main" id="{7D376D30-8333-2696-A030-A8EC1F42E50E}"/>
                </a:ext>
              </a:extLst>
            </p:cNvPr>
            <p:cNvPicPr>
              <a:picLocks noChangeAspect="1"/>
            </p:cNvPicPr>
            <p:nvPr/>
          </p:nvPicPr>
          <p:blipFill>
            <a:blip r:embed="rId9"/>
            <a:stretch>
              <a:fillRect/>
            </a:stretch>
          </p:blipFill>
          <p:spPr>
            <a:xfrm>
              <a:off x="7772400" y="1915668"/>
              <a:ext cx="128016" cy="128016"/>
            </a:xfrm>
            <a:prstGeom prst="rect">
              <a:avLst/>
            </a:prstGeom>
          </p:spPr>
        </p:pic>
        <p:sp>
          <p:nvSpPr>
            <p:cNvPr id="503" name="Shape 26">
              <a:extLst>
                <a:ext uri="{FF2B5EF4-FFF2-40B4-BE49-F238E27FC236}">
                  <a16:creationId xmlns:a16="http://schemas.microsoft.com/office/drawing/2014/main" id="{DF1DEB70-C6EB-E55B-1335-411388C9092A}"/>
                </a:ext>
              </a:extLst>
            </p:cNvPr>
            <p:cNvSpPr/>
            <p:nvPr/>
          </p:nvSpPr>
          <p:spPr>
            <a:xfrm>
              <a:off x="8293608" y="1741932"/>
              <a:ext cx="3172968" cy="475488"/>
            </a:xfrm>
            <a:prstGeom prst="roundRect">
              <a:avLst>
                <a:gd name="adj" fmla="val 11538"/>
              </a:avLst>
            </a:prstGeom>
            <a:solidFill>
              <a:srgbClr val="E6F1FB"/>
            </a:solidFill>
            <a:ln w="9525">
              <a:solidFill>
                <a:srgbClr val="BFDCF4"/>
              </a:solidFill>
              <a:prstDash val="solid"/>
            </a:ln>
          </p:spPr>
          <p:txBody>
            <a:bodyPr/>
            <a:lstStyle/>
            <a:p>
              <a:endParaRPr/>
            </a:p>
          </p:txBody>
        </p:sp>
        <p:sp>
          <p:nvSpPr>
            <p:cNvPr id="507" name="Text 27">
              <a:extLst>
                <a:ext uri="{FF2B5EF4-FFF2-40B4-BE49-F238E27FC236}">
                  <a16:creationId xmlns:a16="http://schemas.microsoft.com/office/drawing/2014/main" id="{5CF45011-A69A-150A-D378-B1678911B3CE}"/>
                </a:ext>
              </a:extLst>
            </p:cNvPr>
            <p:cNvSpPr txBox="1"/>
            <p:nvPr/>
          </p:nvSpPr>
          <p:spPr>
            <a:xfrm>
              <a:off x="840333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Clientes de mayor valor y ticket. Más exigentes en descuento, pero con mayor contribución.</a:t>
              </a:r>
              <a:endParaRPr lang="en-US" sz="950"/>
            </a:p>
          </p:txBody>
        </p:sp>
        <p:sp>
          <p:nvSpPr>
            <p:cNvPr id="511" name="Shape 28">
              <a:extLst>
                <a:ext uri="{FF2B5EF4-FFF2-40B4-BE49-F238E27FC236}">
                  <a16:creationId xmlns:a16="http://schemas.microsoft.com/office/drawing/2014/main" id="{B72160DE-A3D2-599D-5F15-3A1FB812C7DC}"/>
                </a:ext>
              </a:extLst>
            </p:cNvPr>
            <p:cNvSpPr/>
            <p:nvPr/>
          </p:nvSpPr>
          <p:spPr>
            <a:xfrm>
              <a:off x="11082528" y="1842516"/>
              <a:ext cx="274320" cy="274320"/>
            </a:xfrm>
            <a:prstGeom prst="ellipse">
              <a:avLst/>
            </a:prstGeom>
            <a:solidFill>
              <a:srgbClr val="FFFFFF"/>
            </a:solidFill>
            <a:ln/>
          </p:spPr>
          <p:txBody>
            <a:bodyPr/>
            <a:lstStyle/>
            <a:p>
              <a:endParaRPr/>
            </a:p>
          </p:txBody>
        </p:sp>
        <p:pic>
          <p:nvPicPr>
            <p:cNvPr id="66" name="Image 6" descr="/home/claude/voi_deck/icons/star_blue.png">
              <a:extLst>
                <a:ext uri="{FF2B5EF4-FFF2-40B4-BE49-F238E27FC236}">
                  <a16:creationId xmlns:a16="http://schemas.microsoft.com/office/drawing/2014/main" id="{0EE60E16-D3BA-977D-D257-B6334C32C498}"/>
                </a:ext>
              </a:extLst>
            </p:cNvPr>
            <p:cNvPicPr>
              <a:picLocks noChangeAspect="1"/>
            </p:cNvPicPr>
            <p:nvPr/>
          </p:nvPicPr>
          <p:blipFill>
            <a:blip r:embed="rId10"/>
            <a:stretch>
              <a:fillRect/>
            </a:stretch>
          </p:blipFill>
          <p:spPr>
            <a:xfrm>
              <a:off x="11155680" y="1915668"/>
              <a:ext cx="128016" cy="128016"/>
            </a:xfrm>
            <a:prstGeom prst="rect">
              <a:avLst/>
            </a:prstGeom>
          </p:spPr>
        </p:pic>
        <p:sp>
          <p:nvSpPr>
            <p:cNvPr id="68" name="Shape 29">
              <a:extLst>
                <a:ext uri="{FF2B5EF4-FFF2-40B4-BE49-F238E27FC236}">
                  <a16:creationId xmlns:a16="http://schemas.microsoft.com/office/drawing/2014/main" id="{A2C2BDB5-1D31-7DA2-D7EF-016E883E849C}"/>
                </a:ext>
              </a:extLst>
            </p:cNvPr>
            <p:cNvSpPr/>
            <p:nvPr/>
          </p:nvSpPr>
          <p:spPr>
            <a:xfrm>
              <a:off x="320040" y="2313432"/>
              <a:ext cx="11219688" cy="457200"/>
            </a:xfrm>
            <a:prstGeom prst="roundRect">
              <a:avLst>
                <a:gd name="adj" fmla="val 12000"/>
              </a:avLst>
            </a:prstGeom>
            <a:solidFill>
              <a:srgbClr val="FFFFFF"/>
            </a:solidFill>
            <a:ln w="12700">
              <a:solidFill>
                <a:srgbClr val="E4E7E1"/>
              </a:solidFill>
              <a:prstDash val="solid"/>
            </a:ln>
          </p:spPr>
          <p:txBody>
            <a:bodyPr/>
            <a:lstStyle/>
            <a:p>
              <a:endParaRPr lang="es-PE"/>
            </a:p>
          </p:txBody>
        </p:sp>
        <p:sp>
          <p:nvSpPr>
            <p:cNvPr id="71" name="Shape 30">
              <a:extLst>
                <a:ext uri="{FF2B5EF4-FFF2-40B4-BE49-F238E27FC236}">
                  <a16:creationId xmlns:a16="http://schemas.microsoft.com/office/drawing/2014/main" id="{57286882-4B7F-18EB-CA1D-76F56CBF4848}"/>
                </a:ext>
              </a:extLst>
            </p:cNvPr>
            <p:cNvSpPr/>
            <p:nvPr/>
          </p:nvSpPr>
          <p:spPr>
            <a:xfrm>
              <a:off x="374904" y="2395728"/>
              <a:ext cx="292608" cy="292608"/>
            </a:xfrm>
            <a:prstGeom prst="ellipse">
              <a:avLst/>
            </a:prstGeom>
            <a:solidFill>
              <a:srgbClr val="0E5D52"/>
            </a:solidFill>
            <a:ln/>
          </p:spPr>
          <p:txBody>
            <a:bodyPr/>
            <a:lstStyle/>
            <a:p>
              <a:endParaRPr lang="es-PE"/>
            </a:p>
          </p:txBody>
        </p:sp>
        <p:pic>
          <p:nvPicPr>
            <p:cNvPr id="74" name="Image 7" descr="/home/claude/voi_deck/icons/dollar.png">
              <a:extLst>
                <a:ext uri="{FF2B5EF4-FFF2-40B4-BE49-F238E27FC236}">
                  <a16:creationId xmlns:a16="http://schemas.microsoft.com/office/drawing/2014/main" id="{FE29C7A3-BF42-C406-3838-140A7512CCEB}"/>
                </a:ext>
              </a:extLst>
            </p:cNvPr>
            <p:cNvPicPr>
              <a:picLocks noChangeAspect="1"/>
            </p:cNvPicPr>
            <p:nvPr/>
          </p:nvPicPr>
          <p:blipFill>
            <a:blip r:embed="rId11"/>
            <a:stretch>
              <a:fillRect/>
            </a:stretch>
          </p:blipFill>
          <p:spPr>
            <a:xfrm>
              <a:off x="448056" y="2468880"/>
              <a:ext cx="146304" cy="146304"/>
            </a:xfrm>
            <a:prstGeom prst="rect">
              <a:avLst/>
            </a:prstGeom>
          </p:spPr>
        </p:pic>
        <p:sp>
          <p:nvSpPr>
            <p:cNvPr id="76" name="Text 31">
              <a:extLst>
                <a:ext uri="{FF2B5EF4-FFF2-40B4-BE49-F238E27FC236}">
                  <a16:creationId xmlns:a16="http://schemas.microsoft.com/office/drawing/2014/main" id="{CDCFFBCB-F97E-6563-7B86-9DA994B30B32}"/>
                </a:ext>
              </a:extLst>
            </p:cNvPr>
            <p:cNvSpPr txBox="1"/>
            <p:nvPr/>
          </p:nvSpPr>
          <p:spPr>
            <a:xfrm>
              <a:off x="704088" y="2313432"/>
              <a:ext cx="676656" cy="457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RENTABILIDAD Y RELACIÓN</a:t>
              </a:r>
              <a:endParaRPr lang="en-US" sz="750"/>
            </a:p>
          </p:txBody>
        </p:sp>
        <p:sp>
          <p:nvSpPr>
            <p:cNvPr id="79" name="Text 32">
              <a:extLst>
                <a:ext uri="{FF2B5EF4-FFF2-40B4-BE49-F238E27FC236}">
                  <a16:creationId xmlns:a16="http://schemas.microsoft.com/office/drawing/2014/main" id="{AA180189-C81A-F767-26BE-350F4AF63D8B}"/>
                </a:ext>
              </a:extLst>
            </p:cNvPr>
            <p:cNvSpPr txBox="1"/>
            <p:nvPr/>
          </p:nvSpPr>
          <p:spPr>
            <a:xfrm>
              <a:off x="156362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82" name="Text 33">
              <a:extLst>
                <a:ext uri="{FF2B5EF4-FFF2-40B4-BE49-F238E27FC236}">
                  <a16:creationId xmlns:a16="http://schemas.microsoft.com/office/drawing/2014/main" id="{9ADA783D-5DCA-4E89-54BC-CBB21F47E79B}"/>
                </a:ext>
              </a:extLst>
            </p:cNvPr>
            <p:cNvSpPr txBox="1"/>
            <p:nvPr/>
          </p:nvSpPr>
          <p:spPr>
            <a:xfrm>
              <a:off x="156362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17.7%</a:t>
              </a:r>
              <a:endParaRPr lang="en-US" sz="1150"/>
            </a:p>
          </p:txBody>
        </p:sp>
        <p:sp>
          <p:nvSpPr>
            <p:cNvPr id="84" name="Text 34">
              <a:extLst>
                <a:ext uri="{FF2B5EF4-FFF2-40B4-BE49-F238E27FC236}">
                  <a16:creationId xmlns:a16="http://schemas.microsoft.com/office/drawing/2014/main" id="{950923E9-1F63-F0E9-389E-741692DF465B}"/>
                </a:ext>
              </a:extLst>
            </p:cNvPr>
            <p:cNvSpPr txBox="1"/>
            <p:nvPr/>
          </p:nvSpPr>
          <p:spPr>
            <a:xfrm>
              <a:off x="260604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87" name="Text 35">
              <a:extLst>
                <a:ext uri="{FF2B5EF4-FFF2-40B4-BE49-F238E27FC236}">
                  <a16:creationId xmlns:a16="http://schemas.microsoft.com/office/drawing/2014/main" id="{6B3354B6-DF36-8C14-855E-600FC5065FC8}"/>
                </a:ext>
              </a:extLst>
            </p:cNvPr>
            <p:cNvSpPr txBox="1"/>
            <p:nvPr/>
          </p:nvSpPr>
          <p:spPr>
            <a:xfrm>
              <a:off x="260604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20.0%</a:t>
              </a:r>
              <a:endParaRPr lang="en-US" sz="1150"/>
            </a:p>
          </p:txBody>
        </p:sp>
        <p:sp>
          <p:nvSpPr>
            <p:cNvPr id="90" name="Text 36">
              <a:extLst>
                <a:ext uri="{FF2B5EF4-FFF2-40B4-BE49-F238E27FC236}">
                  <a16:creationId xmlns:a16="http://schemas.microsoft.com/office/drawing/2014/main" id="{9DBF5BA6-D0B5-1961-D88A-C821F0677AE1}"/>
                </a:ext>
              </a:extLst>
            </p:cNvPr>
            <p:cNvSpPr txBox="1"/>
            <p:nvPr/>
          </p:nvSpPr>
          <p:spPr>
            <a:xfrm>
              <a:off x="364845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92" name="Text 37">
              <a:extLst>
                <a:ext uri="{FF2B5EF4-FFF2-40B4-BE49-F238E27FC236}">
                  <a16:creationId xmlns:a16="http://schemas.microsoft.com/office/drawing/2014/main" id="{D5ECB048-DA18-AAC0-0BC4-0944549B6DD0}"/>
                </a:ext>
              </a:extLst>
            </p:cNvPr>
            <p:cNvSpPr txBox="1"/>
            <p:nvPr/>
          </p:nvSpPr>
          <p:spPr>
            <a:xfrm>
              <a:off x="364845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891</a:t>
              </a:r>
              <a:endParaRPr lang="en-US" sz="1150"/>
            </a:p>
          </p:txBody>
        </p:sp>
        <p:sp>
          <p:nvSpPr>
            <p:cNvPr id="95" name="Text 38">
              <a:extLst>
                <a:ext uri="{FF2B5EF4-FFF2-40B4-BE49-F238E27FC236}">
                  <a16:creationId xmlns:a16="http://schemas.microsoft.com/office/drawing/2014/main" id="{7FE98CAC-5203-4FAE-464B-1FA60D0EFBA3}"/>
                </a:ext>
              </a:extLst>
            </p:cNvPr>
            <p:cNvSpPr txBox="1"/>
            <p:nvPr/>
          </p:nvSpPr>
          <p:spPr>
            <a:xfrm>
              <a:off x="494690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98" name="Text 39">
              <a:extLst>
                <a:ext uri="{FF2B5EF4-FFF2-40B4-BE49-F238E27FC236}">
                  <a16:creationId xmlns:a16="http://schemas.microsoft.com/office/drawing/2014/main" id="{0EF57C6E-6A09-3189-0282-AA7ADA94558D}"/>
                </a:ext>
              </a:extLst>
            </p:cNvPr>
            <p:cNvSpPr txBox="1"/>
            <p:nvPr/>
          </p:nvSpPr>
          <p:spPr>
            <a:xfrm>
              <a:off x="494690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18.1%</a:t>
              </a:r>
              <a:endParaRPr lang="en-US" sz="1150"/>
            </a:p>
          </p:txBody>
        </p:sp>
        <p:sp>
          <p:nvSpPr>
            <p:cNvPr id="100" name="Text 40">
              <a:extLst>
                <a:ext uri="{FF2B5EF4-FFF2-40B4-BE49-F238E27FC236}">
                  <a16:creationId xmlns:a16="http://schemas.microsoft.com/office/drawing/2014/main" id="{BD96F1A8-F419-2B31-3D69-52808C8FAF38}"/>
                </a:ext>
              </a:extLst>
            </p:cNvPr>
            <p:cNvSpPr txBox="1"/>
            <p:nvPr/>
          </p:nvSpPr>
          <p:spPr>
            <a:xfrm>
              <a:off x="598932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03" name="Text 41">
              <a:extLst>
                <a:ext uri="{FF2B5EF4-FFF2-40B4-BE49-F238E27FC236}">
                  <a16:creationId xmlns:a16="http://schemas.microsoft.com/office/drawing/2014/main" id="{64D7E5D8-C97E-BBCC-7330-57FFAEB93BA2}"/>
                </a:ext>
              </a:extLst>
            </p:cNvPr>
            <p:cNvSpPr txBox="1"/>
            <p:nvPr/>
          </p:nvSpPr>
          <p:spPr>
            <a:xfrm>
              <a:off x="598932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20.5%</a:t>
              </a:r>
              <a:endParaRPr lang="en-US" sz="1150"/>
            </a:p>
          </p:txBody>
        </p:sp>
        <p:sp>
          <p:nvSpPr>
            <p:cNvPr id="106" name="Text 42">
              <a:extLst>
                <a:ext uri="{FF2B5EF4-FFF2-40B4-BE49-F238E27FC236}">
                  <a16:creationId xmlns:a16="http://schemas.microsoft.com/office/drawing/2014/main" id="{64C1EF2A-AEC6-671D-BDD8-5C81DAA74CAE}"/>
                </a:ext>
              </a:extLst>
            </p:cNvPr>
            <p:cNvSpPr txBox="1"/>
            <p:nvPr/>
          </p:nvSpPr>
          <p:spPr>
            <a:xfrm>
              <a:off x="703173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08" name="Text 43">
              <a:extLst>
                <a:ext uri="{FF2B5EF4-FFF2-40B4-BE49-F238E27FC236}">
                  <a16:creationId xmlns:a16="http://schemas.microsoft.com/office/drawing/2014/main" id="{CF50E64F-2124-57D8-77ED-0FE211A8CD08}"/>
                </a:ext>
              </a:extLst>
            </p:cNvPr>
            <p:cNvSpPr txBox="1"/>
            <p:nvPr/>
          </p:nvSpPr>
          <p:spPr>
            <a:xfrm>
              <a:off x="703173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204</a:t>
              </a:r>
              <a:endParaRPr lang="en-US" sz="1150"/>
            </a:p>
          </p:txBody>
        </p:sp>
        <p:sp>
          <p:nvSpPr>
            <p:cNvPr id="111" name="Text 44">
              <a:extLst>
                <a:ext uri="{FF2B5EF4-FFF2-40B4-BE49-F238E27FC236}">
                  <a16:creationId xmlns:a16="http://schemas.microsoft.com/office/drawing/2014/main" id="{88B53207-F623-EB52-B37C-E5021212DEF6}"/>
                </a:ext>
              </a:extLst>
            </p:cNvPr>
            <p:cNvSpPr txBox="1"/>
            <p:nvPr/>
          </p:nvSpPr>
          <p:spPr>
            <a:xfrm>
              <a:off x="833018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14" name="Text 45">
              <a:extLst>
                <a:ext uri="{FF2B5EF4-FFF2-40B4-BE49-F238E27FC236}">
                  <a16:creationId xmlns:a16="http://schemas.microsoft.com/office/drawing/2014/main" id="{B3AF9648-BC74-644F-CEFA-64394C709EB6}"/>
                </a:ext>
              </a:extLst>
            </p:cNvPr>
            <p:cNvSpPr txBox="1"/>
            <p:nvPr/>
          </p:nvSpPr>
          <p:spPr>
            <a:xfrm>
              <a:off x="833018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17.2%</a:t>
              </a:r>
              <a:endParaRPr lang="en-US" sz="1150"/>
            </a:p>
          </p:txBody>
        </p:sp>
        <p:sp>
          <p:nvSpPr>
            <p:cNvPr id="116" name="Text 46">
              <a:extLst>
                <a:ext uri="{FF2B5EF4-FFF2-40B4-BE49-F238E27FC236}">
                  <a16:creationId xmlns:a16="http://schemas.microsoft.com/office/drawing/2014/main" id="{6A8B1B4C-B551-A1FD-7452-DDDB058EC0FE}"/>
                </a:ext>
              </a:extLst>
            </p:cNvPr>
            <p:cNvSpPr txBox="1"/>
            <p:nvPr/>
          </p:nvSpPr>
          <p:spPr>
            <a:xfrm>
              <a:off x="937260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19" name="Text 47">
              <a:extLst>
                <a:ext uri="{FF2B5EF4-FFF2-40B4-BE49-F238E27FC236}">
                  <a16:creationId xmlns:a16="http://schemas.microsoft.com/office/drawing/2014/main" id="{D9F84AE6-2D3A-6F09-92C9-5D883F65DC9F}"/>
                </a:ext>
              </a:extLst>
            </p:cNvPr>
            <p:cNvSpPr txBox="1"/>
            <p:nvPr/>
          </p:nvSpPr>
          <p:spPr>
            <a:xfrm>
              <a:off x="937260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20.0%</a:t>
              </a:r>
              <a:endParaRPr lang="en-US" sz="1150"/>
            </a:p>
          </p:txBody>
        </p:sp>
        <p:sp>
          <p:nvSpPr>
            <p:cNvPr id="122" name="Text 48">
              <a:extLst>
                <a:ext uri="{FF2B5EF4-FFF2-40B4-BE49-F238E27FC236}">
                  <a16:creationId xmlns:a16="http://schemas.microsoft.com/office/drawing/2014/main" id="{C9C3D287-4CE8-57EC-0646-87B9DF591757}"/>
                </a:ext>
              </a:extLst>
            </p:cNvPr>
            <p:cNvSpPr txBox="1"/>
            <p:nvPr/>
          </p:nvSpPr>
          <p:spPr>
            <a:xfrm>
              <a:off x="1041501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24" name="Text 49">
              <a:extLst>
                <a:ext uri="{FF2B5EF4-FFF2-40B4-BE49-F238E27FC236}">
                  <a16:creationId xmlns:a16="http://schemas.microsoft.com/office/drawing/2014/main" id="{E9411D73-80B5-5CC2-7A7C-FFAC3BAB16C8}"/>
                </a:ext>
              </a:extLst>
            </p:cNvPr>
            <p:cNvSpPr txBox="1"/>
            <p:nvPr/>
          </p:nvSpPr>
          <p:spPr>
            <a:xfrm>
              <a:off x="1041501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1,142</a:t>
              </a:r>
              <a:endParaRPr lang="en-US" sz="1150"/>
            </a:p>
          </p:txBody>
        </p:sp>
        <p:sp>
          <p:nvSpPr>
            <p:cNvPr id="127" name="Shape 50">
              <a:extLst>
                <a:ext uri="{FF2B5EF4-FFF2-40B4-BE49-F238E27FC236}">
                  <a16:creationId xmlns:a16="http://schemas.microsoft.com/office/drawing/2014/main" id="{09D20759-51F8-6DCF-FC22-77133507B95E}"/>
                </a:ext>
              </a:extLst>
            </p:cNvPr>
            <p:cNvSpPr/>
            <p:nvPr/>
          </p:nvSpPr>
          <p:spPr>
            <a:xfrm>
              <a:off x="320040" y="2820924"/>
              <a:ext cx="11219688" cy="457200"/>
            </a:xfrm>
            <a:prstGeom prst="roundRect">
              <a:avLst>
                <a:gd name="adj" fmla="val 12000"/>
              </a:avLst>
            </a:prstGeom>
            <a:solidFill>
              <a:srgbClr val="FFFFFF"/>
            </a:solidFill>
            <a:ln w="12700">
              <a:solidFill>
                <a:srgbClr val="E4E7E1"/>
              </a:solidFill>
              <a:prstDash val="solid"/>
            </a:ln>
          </p:spPr>
          <p:txBody>
            <a:bodyPr/>
            <a:lstStyle/>
            <a:p>
              <a:endParaRPr lang="es-PE"/>
            </a:p>
          </p:txBody>
        </p:sp>
        <p:sp>
          <p:nvSpPr>
            <p:cNvPr id="515" name="Shape 51">
              <a:extLst>
                <a:ext uri="{FF2B5EF4-FFF2-40B4-BE49-F238E27FC236}">
                  <a16:creationId xmlns:a16="http://schemas.microsoft.com/office/drawing/2014/main" id="{0B50D5B9-6DCB-3685-2807-E13C7C9DF4BF}"/>
                </a:ext>
              </a:extLst>
            </p:cNvPr>
            <p:cNvSpPr/>
            <p:nvPr/>
          </p:nvSpPr>
          <p:spPr>
            <a:xfrm>
              <a:off x="374904" y="2903220"/>
              <a:ext cx="292608" cy="292608"/>
            </a:xfrm>
            <a:prstGeom prst="ellipse">
              <a:avLst/>
            </a:prstGeom>
            <a:solidFill>
              <a:srgbClr val="0E5D52"/>
            </a:solidFill>
            <a:ln/>
          </p:spPr>
          <p:txBody>
            <a:bodyPr/>
            <a:lstStyle/>
            <a:p>
              <a:endParaRPr lang="es-PE"/>
            </a:p>
          </p:txBody>
        </p:sp>
        <p:pic>
          <p:nvPicPr>
            <p:cNvPr id="519" name="Image 8" descr="/home/claude/voi_deck/icons/bar_chart.png">
              <a:extLst>
                <a:ext uri="{FF2B5EF4-FFF2-40B4-BE49-F238E27FC236}">
                  <a16:creationId xmlns:a16="http://schemas.microsoft.com/office/drawing/2014/main" id="{75A7C173-47CC-0E40-5449-1F4928ACC553}"/>
                </a:ext>
              </a:extLst>
            </p:cNvPr>
            <p:cNvPicPr>
              <a:picLocks noChangeAspect="1"/>
            </p:cNvPicPr>
            <p:nvPr/>
          </p:nvPicPr>
          <p:blipFill>
            <a:blip r:embed="rId12"/>
            <a:stretch>
              <a:fillRect/>
            </a:stretch>
          </p:blipFill>
          <p:spPr>
            <a:xfrm>
              <a:off x="448056" y="2976372"/>
              <a:ext cx="146304" cy="146304"/>
            </a:xfrm>
            <a:prstGeom prst="rect">
              <a:avLst/>
            </a:prstGeom>
          </p:spPr>
        </p:pic>
        <p:sp>
          <p:nvSpPr>
            <p:cNvPr id="523" name="Text 52">
              <a:extLst>
                <a:ext uri="{FF2B5EF4-FFF2-40B4-BE49-F238E27FC236}">
                  <a16:creationId xmlns:a16="http://schemas.microsoft.com/office/drawing/2014/main" id="{E9F29767-CCF5-ECA8-9CFD-A34A89B4D3E6}"/>
                </a:ext>
              </a:extLst>
            </p:cNvPr>
            <p:cNvSpPr txBox="1"/>
            <p:nvPr/>
          </p:nvSpPr>
          <p:spPr>
            <a:xfrm>
              <a:off x="704088" y="2820924"/>
              <a:ext cx="676656" cy="457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TAMAÑO Y VALOR</a:t>
              </a:r>
              <a:endParaRPr lang="en-US" sz="750"/>
            </a:p>
          </p:txBody>
        </p:sp>
        <p:sp>
          <p:nvSpPr>
            <p:cNvPr id="527" name="Text 53">
              <a:extLst>
                <a:ext uri="{FF2B5EF4-FFF2-40B4-BE49-F238E27FC236}">
                  <a16:creationId xmlns:a16="http://schemas.microsoft.com/office/drawing/2014/main" id="{D30D1A53-380D-915F-D3FA-3369F525C451}"/>
                </a:ext>
              </a:extLst>
            </p:cNvPr>
            <p:cNvSpPr txBox="1"/>
            <p:nvPr/>
          </p:nvSpPr>
          <p:spPr>
            <a:xfrm>
              <a:off x="156362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531" name="Text 54">
              <a:extLst>
                <a:ext uri="{FF2B5EF4-FFF2-40B4-BE49-F238E27FC236}">
                  <a16:creationId xmlns:a16="http://schemas.microsoft.com/office/drawing/2014/main" id="{0472F974-0BBC-A2D5-9C86-01E744821BB8}"/>
                </a:ext>
              </a:extLst>
            </p:cNvPr>
            <p:cNvSpPr txBox="1"/>
            <p:nvPr/>
          </p:nvSpPr>
          <p:spPr>
            <a:xfrm>
              <a:off x="156362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150k</a:t>
              </a:r>
              <a:endParaRPr lang="en-US" sz="1150"/>
            </a:p>
          </p:txBody>
        </p:sp>
        <p:sp>
          <p:nvSpPr>
            <p:cNvPr id="535" name="Text 55">
              <a:extLst>
                <a:ext uri="{FF2B5EF4-FFF2-40B4-BE49-F238E27FC236}">
                  <a16:creationId xmlns:a16="http://schemas.microsoft.com/office/drawing/2014/main" id="{0E328CB0-379B-A05C-7933-CE1535D193F0}"/>
                </a:ext>
              </a:extLst>
            </p:cNvPr>
            <p:cNvSpPr txBox="1"/>
            <p:nvPr/>
          </p:nvSpPr>
          <p:spPr>
            <a:xfrm>
              <a:off x="260604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539" name="Text 56">
              <a:extLst>
                <a:ext uri="{FF2B5EF4-FFF2-40B4-BE49-F238E27FC236}">
                  <a16:creationId xmlns:a16="http://schemas.microsoft.com/office/drawing/2014/main" id="{1DDAC4DF-E3A5-BE4F-7FEA-00C54E881A52}"/>
                </a:ext>
              </a:extLst>
            </p:cNvPr>
            <p:cNvSpPr txBox="1"/>
            <p:nvPr/>
          </p:nvSpPr>
          <p:spPr>
            <a:xfrm>
              <a:off x="260604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682k</a:t>
              </a:r>
              <a:endParaRPr lang="en-US" sz="1150"/>
            </a:p>
          </p:txBody>
        </p:sp>
        <p:sp>
          <p:nvSpPr>
            <p:cNvPr id="543" name="Text 57">
              <a:extLst>
                <a:ext uri="{FF2B5EF4-FFF2-40B4-BE49-F238E27FC236}">
                  <a16:creationId xmlns:a16="http://schemas.microsoft.com/office/drawing/2014/main" id="{4074C988-E5B2-B1B8-0488-E620240017C3}"/>
                </a:ext>
              </a:extLst>
            </p:cNvPr>
            <p:cNvSpPr txBox="1"/>
            <p:nvPr/>
          </p:nvSpPr>
          <p:spPr>
            <a:xfrm>
              <a:off x="364845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547" name="Text 58">
              <a:extLst>
                <a:ext uri="{FF2B5EF4-FFF2-40B4-BE49-F238E27FC236}">
                  <a16:creationId xmlns:a16="http://schemas.microsoft.com/office/drawing/2014/main" id="{2E6D5643-AD0E-BCF5-F682-3FE939A1B73C}"/>
                </a:ext>
              </a:extLst>
            </p:cNvPr>
            <p:cNvSpPr txBox="1"/>
            <p:nvPr/>
          </p:nvSpPr>
          <p:spPr>
            <a:xfrm>
              <a:off x="364845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19k</a:t>
              </a:r>
              <a:endParaRPr lang="en-US" sz="1150"/>
            </a:p>
          </p:txBody>
        </p:sp>
        <p:sp>
          <p:nvSpPr>
            <p:cNvPr id="551" name="Text 59">
              <a:extLst>
                <a:ext uri="{FF2B5EF4-FFF2-40B4-BE49-F238E27FC236}">
                  <a16:creationId xmlns:a16="http://schemas.microsoft.com/office/drawing/2014/main" id="{9F7155C0-E1EB-AF0F-3EB6-9AA5BC820AD4}"/>
                </a:ext>
              </a:extLst>
            </p:cNvPr>
            <p:cNvSpPr txBox="1"/>
            <p:nvPr/>
          </p:nvSpPr>
          <p:spPr>
            <a:xfrm>
              <a:off x="494690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555" name="Text 60">
              <a:extLst>
                <a:ext uri="{FF2B5EF4-FFF2-40B4-BE49-F238E27FC236}">
                  <a16:creationId xmlns:a16="http://schemas.microsoft.com/office/drawing/2014/main" id="{376C4391-0842-562A-0D0E-78957C8064D2}"/>
                </a:ext>
              </a:extLst>
            </p:cNvPr>
            <p:cNvSpPr txBox="1"/>
            <p:nvPr/>
          </p:nvSpPr>
          <p:spPr>
            <a:xfrm>
              <a:off x="494690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100k</a:t>
              </a:r>
              <a:endParaRPr lang="en-US" sz="1150"/>
            </a:p>
          </p:txBody>
        </p:sp>
        <p:sp>
          <p:nvSpPr>
            <p:cNvPr id="559" name="Text 61">
              <a:extLst>
                <a:ext uri="{FF2B5EF4-FFF2-40B4-BE49-F238E27FC236}">
                  <a16:creationId xmlns:a16="http://schemas.microsoft.com/office/drawing/2014/main" id="{40D76E71-77AD-2342-7A64-A6BE93F23E30}"/>
                </a:ext>
              </a:extLst>
            </p:cNvPr>
            <p:cNvSpPr txBox="1"/>
            <p:nvPr/>
          </p:nvSpPr>
          <p:spPr>
            <a:xfrm>
              <a:off x="598932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563" name="Text 62">
              <a:extLst>
                <a:ext uri="{FF2B5EF4-FFF2-40B4-BE49-F238E27FC236}">
                  <a16:creationId xmlns:a16="http://schemas.microsoft.com/office/drawing/2014/main" id="{85394808-B883-FFBF-90E9-B6E9BA90FAEF}"/>
                </a:ext>
              </a:extLst>
            </p:cNvPr>
            <p:cNvSpPr txBox="1"/>
            <p:nvPr/>
          </p:nvSpPr>
          <p:spPr>
            <a:xfrm>
              <a:off x="598932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444k</a:t>
              </a:r>
              <a:endParaRPr lang="en-US" sz="1150"/>
            </a:p>
          </p:txBody>
        </p:sp>
        <p:sp>
          <p:nvSpPr>
            <p:cNvPr id="567" name="Text 63">
              <a:extLst>
                <a:ext uri="{FF2B5EF4-FFF2-40B4-BE49-F238E27FC236}">
                  <a16:creationId xmlns:a16="http://schemas.microsoft.com/office/drawing/2014/main" id="{123D9466-EFCA-1D6D-2C8D-848F37B53418}"/>
                </a:ext>
              </a:extLst>
            </p:cNvPr>
            <p:cNvSpPr txBox="1"/>
            <p:nvPr/>
          </p:nvSpPr>
          <p:spPr>
            <a:xfrm>
              <a:off x="703173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571" name="Text 64">
              <a:extLst>
                <a:ext uri="{FF2B5EF4-FFF2-40B4-BE49-F238E27FC236}">
                  <a16:creationId xmlns:a16="http://schemas.microsoft.com/office/drawing/2014/main" id="{5548F3B5-09A8-C7D9-2990-D1D5443B6B5F}"/>
                </a:ext>
              </a:extLst>
            </p:cNvPr>
            <p:cNvSpPr txBox="1"/>
            <p:nvPr/>
          </p:nvSpPr>
          <p:spPr>
            <a:xfrm>
              <a:off x="703173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4k</a:t>
              </a:r>
              <a:endParaRPr lang="en-US" sz="1150"/>
            </a:p>
          </p:txBody>
        </p:sp>
        <p:sp>
          <p:nvSpPr>
            <p:cNvPr id="575" name="Text 65">
              <a:extLst>
                <a:ext uri="{FF2B5EF4-FFF2-40B4-BE49-F238E27FC236}">
                  <a16:creationId xmlns:a16="http://schemas.microsoft.com/office/drawing/2014/main" id="{8564B478-1E50-21CE-41A5-F73EC7BAA910}"/>
                </a:ext>
              </a:extLst>
            </p:cNvPr>
            <p:cNvSpPr txBox="1"/>
            <p:nvPr/>
          </p:nvSpPr>
          <p:spPr>
            <a:xfrm>
              <a:off x="833018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30" name="Text 66">
              <a:extLst>
                <a:ext uri="{FF2B5EF4-FFF2-40B4-BE49-F238E27FC236}">
                  <a16:creationId xmlns:a16="http://schemas.microsoft.com/office/drawing/2014/main" id="{57EF9DC6-6B0D-1A0B-6C6D-35FE106C5B88}"/>
                </a:ext>
              </a:extLst>
            </p:cNvPr>
            <p:cNvSpPr txBox="1"/>
            <p:nvPr/>
          </p:nvSpPr>
          <p:spPr>
            <a:xfrm>
              <a:off x="833018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220k</a:t>
              </a:r>
              <a:endParaRPr lang="en-US" sz="1150"/>
            </a:p>
          </p:txBody>
        </p:sp>
        <p:sp>
          <p:nvSpPr>
            <p:cNvPr id="132" name="Text 67">
              <a:extLst>
                <a:ext uri="{FF2B5EF4-FFF2-40B4-BE49-F238E27FC236}">
                  <a16:creationId xmlns:a16="http://schemas.microsoft.com/office/drawing/2014/main" id="{708259E5-F5DC-5B1B-96AE-68E1C4277745}"/>
                </a:ext>
              </a:extLst>
            </p:cNvPr>
            <p:cNvSpPr txBox="1"/>
            <p:nvPr/>
          </p:nvSpPr>
          <p:spPr>
            <a:xfrm>
              <a:off x="937260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35" name="Text 68">
              <a:extLst>
                <a:ext uri="{FF2B5EF4-FFF2-40B4-BE49-F238E27FC236}">
                  <a16:creationId xmlns:a16="http://schemas.microsoft.com/office/drawing/2014/main" id="{B26C8568-700E-DD22-E0E3-72C34DA73212}"/>
                </a:ext>
              </a:extLst>
            </p:cNvPr>
            <p:cNvSpPr txBox="1"/>
            <p:nvPr/>
          </p:nvSpPr>
          <p:spPr>
            <a:xfrm>
              <a:off x="937260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2.7MM</a:t>
              </a:r>
              <a:endParaRPr lang="en-US" sz="1150"/>
            </a:p>
          </p:txBody>
        </p:sp>
        <p:sp>
          <p:nvSpPr>
            <p:cNvPr id="138" name="Text 69">
              <a:extLst>
                <a:ext uri="{FF2B5EF4-FFF2-40B4-BE49-F238E27FC236}">
                  <a16:creationId xmlns:a16="http://schemas.microsoft.com/office/drawing/2014/main" id="{1366F956-A9E4-33F3-13FA-CF93B099C645}"/>
                </a:ext>
              </a:extLst>
            </p:cNvPr>
            <p:cNvSpPr txBox="1"/>
            <p:nvPr/>
          </p:nvSpPr>
          <p:spPr>
            <a:xfrm>
              <a:off x="1041501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40" name="Text 70">
              <a:extLst>
                <a:ext uri="{FF2B5EF4-FFF2-40B4-BE49-F238E27FC236}">
                  <a16:creationId xmlns:a16="http://schemas.microsoft.com/office/drawing/2014/main" id="{1E12EA12-A592-F529-295E-034F43767C3B}"/>
                </a:ext>
              </a:extLst>
            </p:cNvPr>
            <p:cNvSpPr txBox="1"/>
            <p:nvPr/>
          </p:nvSpPr>
          <p:spPr>
            <a:xfrm>
              <a:off x="1041501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26k</a:t>
              </a:r>
              <a:endParaRPr lang="en-US" sz="1150"/>
            </a:p>
          </p:txBody>
        </p:sp>
        <p:sp>
          <p:nvSpPr>
            <p:cNvPr id="143" name="Shape 71">
              <a:extLst>
                <a:ext uri="{FF2B5EF4-FFF2-40B4-BE49-F238E27FC236}">
                  <a16:creationId xmlns:a16="http://schemas.microsoft.com/office/drawing/2014/main" id="{2B2FAB49-84FC-4649-DB37-0DBD3A446C88}"/>
                </a:ext>
              </a:extLst>
            </p:cNvPr>
            <p:cNvSpPr/>
            <p:nvPr/>
          </p:nvSpPr>
          <p:spPr>
            <a:xfrm>
              <a:off x="320040" y="3328416"/>
              <a:ext cx="11219688" cy="731520"/>
            </a:xfrm>
            <a:prstGeom prst="roundRect">
              <a:avLst>
                <a:gd name="adj" fmla="val 7500"/>
              </a:avLst>
            </a:prstGeom>
            <a:solidFill>
              <a:srgbClr val="FFFFFF"/>
            </a:solidFill>
            <a:ln w="12700">
              <a:solidFill>
                <a:srgbClr val="E4E7E1"/>
              </a:solidFill>
              <a:prstDash val="solid"/>
            </a:ln>
          </p:spPr>
          <p:txBody>
            <a:bodyPr/>
            <a:lstStyle/>
            <a:p>
              <a:endParaRPr lang="es-PE"/>
            </a:p>
          </p:txBody>
        </p:sp>
        <p:sp>
          <p:nvSpPr>
            <p:cNvPr id="146" name="Shape 72">
              <a:extLst>
                <a:ext uri="{FF2B5EF4-FFF2-40B4-BE49-F238E27FC236}">
                  <a16:creationId xmlns:a16="http://schemas.microsoft.com/office/drawing/2014/main" id="{80E7263B-269D-A3E8-09B6-4807E0B1EF28}"/>
                </a:ext>
              </a:extLst>
            </p:cNvPr>
            <p:cNvSpPr/>
            <p:nvPr/>
          </p:nvSpPr>
          <p:spPr>
            <a:xfrm>
              <a:off x="374904" y="3547872"/>
              <a:ext cx="292608" cy="292608"/>
            </a:xfrm>
            <a:prstGeom prst="ellipse">
              <a:avLst/>
            </a:prstGeom>
            <a:solidFill>
              <a:srgbClr val="3E4C59"/>
            </a:solidFill>
            <a:ln/>
          </p:spPr>
          <p:txBody>
            <a:bodyPr/>
            <a:lstStyle/>
            <a:p>
              <a:endParaRPr lang="es-PE"/>
            </a:p>
          </p:txBody>
        </p:sp>
        <p:pic>
          <p:nvPicPr>
            <p:cNvPr id="148" name="Image 9" descr="/home/claude/voi_deck/icons/shield.png">
              <a:extLst>
                <a:ext uri="{FF2B5EF4-FFF2-40B4-BE49-F238E27FC236}">
                  <a16:creationId xmlns:a16="http://schemas.microsoft.com/office/drawing/2014/main" id="{386BF285-9C4F-7C15-2C34-4360788FBD15}"/>
                </a:ext>
              </a:extLst>
            </p:cNvPr>
            <p:cNvPicPr>
              <a:picLocks noChangeAspect="1"/>
            </p:cNvPicPr>
            <p:nvPr/>
          </p:nvPicPr>
          <p:blipFill>
            <a:blip r:embed="rId13"/>
            <a:stretch>
              <a:fillRect/>
            </a:stretch>
          </p:blipFill>
          <p:spPr>
            <a:xfrm>
              <a:off x="448056" y="3621024"/>
              <a:ext cx="146304" cy="146304"/>
            </a:xfrm>
            <a:prstGeom prst="rect">
              <a:avLst/>
            </a:prstGeom>
          </p:spPr>
        </p:pic>
        <p:sp>
          <p:nvSpPr>
            <p:cNvPr id="151" name="Text 73">
              <a:extLst>
                <a:ext uri="{FF2B5EF4-FFF2-40B4-BE49-F238E27FC236}">
                  <a16:creationId xmlns:a16="http://schemas.microsoft.com/office/drawing/2014/main" id="{51A70F25-A930-EDDA-37AA-065CA7BD9AE7}"/>
                </a:ext>
              </a:extLst>
            </p:cNvPr>
            <p:cNvSpPr txBox="1"/>
            <p:nvPr/>
          </p:nvSpPr>
          <p:spPr>
            <a:xfrm>
              <a:off x="704088" y="3328416"/>
              <a:ext cx="676656" cy="73152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COSTO DE RIESGO (SOW)</a:t>
              </a:r>
              <a:endParaRPr lang="en-US" sz="750"/>
            </a:p>
          </p:txBody>
        </p:sp>
        <p:sp>
          <p:nvSpPr>
            <p:cNvPr id="154" name="Text 74">
              <a:extLst>
                <a:ext uri="{FF2B5EF4-FFF2-40B4-BE49-F238E27FC236}">
                  <a16:creationId xmlns:a16="http://schemas.microsoft.com/office/drawing/2014/main" id="{2A48D583-CDC9-1105-90CB-03F151151467}"/>
                </a:ext>
              </a:extLst>
            </p:cNvPr>
            <p:cNvSpPr txBox="1"/>
            <p:nvPr/>
          </p:nvSpPr>
          <p:spPr>
            <a:xfrm>
              <a:off x="156362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56" name="Text 75">
              <a:extLst>
                <a:ext uri="{FF2B5EF4-FFF2-40B4-BE49-F238E27FC236}">
                  <a16:creationId xmlns:a16="http://schemas.microsoft.com/office/drawing/2014/main" id="{84C8F5E4-20E7-5A80-05E0-1AEA6867D1E4}"/>
                </a:ext>
              </a:extLst>
            </p:cNvPr>
            <p:cNvSpPr txBox="1"/>
            <p:nvPr/>
          </p:nvSpPr>
          <p:spPr>
            <a:xfrm>
              <a:off x="156362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graphicFrame>
          <p:nvGraphicFramePr>
            <p:cNvPr id="159" name="Chart 0">
              <a:extLst>
                <a:ext uri="{FF2B5EF4-FFF2-40B4-BE49-F238E27FC236}">
                  <a16:creationId xmlns:a16="http://schemas.microsoft.com/office/drawing/2014/main" id="{0CEFAED5-75A1-FC92-0C9B-173F7AF68381}"/>
                </a:ext>
              </a:extLst>
            </p:cNvPr>
            <p:cNvGraphicFramePr/>
            <p:nvPr>
              <p:extLst>
                <p:ext uri="{D42A27DB-BD31-4B8C-83A1-F6EECF244321}">
                  <p14:modId xmlns:p14="http://schemas.microsoft.com/office/powerpoint/2010/main" val="4265122158"/>
                </p:ext>
              </p:extLst>
            </p:nvPr>
          </p:nvGraphicFramePr>
          <p:xfrm>
            <a:off x="2404872" y="3355848"/>
            <a:ext cx="658368" cy="658368"/>
          </p:xfrm>
          <a:graphic>
            <a:graphicData uri="http://schemas.openxmlformats.org/drawingml/2006/chart">
              <c:chart xmlns:c="http://schemas.openxmlformats.org/drawingml/2006/chart" xmlns:r="http://schemas.openxmlformats.org/officeDocument/2006/relationships" r:id="rId14"/>
            </a:graphicData>
          </a:graphic>
        </p:graphicFrame>
        <p:sp>
          <p:nvSpPr>
            <p:cNvPr id="162" name="Text 76">
              <a:extLst>
                <a:ext uri="{FF2B5EF4-FFF2-40B4-BE49-F238E27FC236}">
                  <a16:creationId xmlns:a16="http://schemas.microsoft.com/office/drawing/2014/main" id="{311EF115-DBFF-3C6A-45AE-16029923026B}"/>
                </a:ext>
              </a:extLst>
            </p:cNvPr>
            <p:cNvSpPr txBox="1"/>
            <p:nvPr/>
          </p:nvSpPr>
          <p:spPr>
            <a:xfrm>
              <a:off x="2350008" y="3694176"/>
              <a:ext cx="768096" cy="256032"/>
            </a:xfrm>
            <a:prstGeom prst="rect">
              <a:avLst/>
            </a:prstGeom>
            <a:noFill/>
            <a:ln/>
          </p:spPr>
          <p:txBody>
            <a:bodyPr wrap="square" lIns="0" tIns="0" rIns="0" bIns="0" rtlCol="0" anchor="ctr"/>
            <a:lstStyle/>
            <a:p>
              <a:pPr marL="0" indent="0" algn="ctr">
                <a:buNone/>
              </a:pPr>
              <a:r>
                <a:rPr lang="en-US" sz="1400" b="1">
                  <a:solidFill>
                    <a:srgbClr val="0E5D52"/>
                  </a:solidFill>
                  <a:latin typeface="Calibri" pitchFamily="34" charset="0"/>
                  <a:ea typeface="Calibri" pitchFamily="34" charset="-122"/>
                  <a:cs typeface="Calibri" pitchFamily="34" charset="-120"/>
                </a:rPr>
                <a:t>68%</a:t>
              </a:r>
              <a:endParaRPr lang="en-US" sz="1400"/>
            </a:p>
          </p:txBody>
        </p:sp>
        <p:sp>
          <p:nvSpPr>
            <p:cNvPr id="164" name="Text 77">
              <a:extLst>
                <a:ext uri="{FF2B5EF4-FFF2-40B4-BE49-F238E27FC236}">
                  <a16:creationId xmlns:a16="http://schemas.microsoft.com/office/drawing/2014/main" id="{2834C778-5A6F-427A-6EEA-4475744A0459}"/>
                </a:ext>
              </a:extLst>
            </p:cNvPr>
            <p:cNvSpPr txBox="1"/>
            <p:nvPr/>
          </p:nvSpPr>
          <p:spPr>
            <a:xfrm>
              <a:off x="320040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0E5D52"/>
                  </a:solidFill>
                  <a:latin typeface="Calibri" pitchFamily="34" charset="0"/>
                  <a:ea typeface="Calibri" pitchFamily="34" charset="-122"/>
                  <a:cs typeface="Calibri" pitchFamily="34" charset="-120"/>
                </a:rPr>
                <a:t>MÁS ALTO ENTRE LOS 3</a:t>
              </a:r>
              <a:endParaRPr lang="en-US" sz="850"/>
            </a:p>
          </p:txBody>
        </p:sp>
        <p:sp>
          <p:nvSpPr>
            <p:cNvPr id="167" name="Text 78">
              <a:extLst>
                <a:ext uri="{FF2B5EF4-FFF2-40B4-BE49-F238E27FC236}">
                  <a16:creationId xmlns:a16="http://schemas.microsoft.com/office/drawing/2014/main" id="{30A6097A-07FF-B127-CB3B-62623A0EB79B}"/>
                </a:ext>
              </a:extLst>
            </p:cNvPr>
            <p:cNvSpPr txBox="1"/>
            <p:nvPr/>
          </p:nvSpPr>
          <p:spPr>
            <a:xfrm>
              <a:off x="494690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70" name="Text 79">
              <a:extLst>
                <a:ext uri="{FF2B5EF4-FFF2-40B4-BE49-F238E27FC236}">
                  <a16:creationId xmlns:a16="http://schemas.microsoft.com/office/drawing/2014/main" id="{A9CAABE0-ACC3-FA8B-E7D2-2D4FAE668B5C}"/>
                </a:ext>
              </a:extLst>
            </p:cNvPr>
            <p:cNvSpPr txBox="1"/>
            <p:nvPr/>
          </p:nvSpPr>
          <p:spPr>
            <a:xfrm>
              <a:off x="494690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graphicFrame>
          <p:nvGraphicFramePr>
            <p:cNvPr id="172" name="Chart 1">
              <a:extLst>
                <a:ext uri="{FF2B5EF4-FFF2-40B4-BE49-F238E27FC236}">
                  <a16:creationId xmlns:a16="http://schemas.microsoft.com/office/drawing/2014/main" id="{2A79D35B-CF3C-17DD-B598-5E1287BC60FE}"/>
                </a:ext>
              </a:extLst>
            </p:cNvPr>
            <p:cNvGraphicFramePr/>
            <p:nvPr>
              <p:extLst>
                <p:ext uri="{D42A27DB-BD31-4B8C-83A1-F6EECF244321}">
                  <p14:modId xmlns:p14="http://schemas.microsoft.com/office/powerpoint/2010/main" val="865661101"/>
                </p:ext>
              </p:extLst>
            </p:nvPr>
          </p:nvGraphicFramePr>
          <p:xfrm>
            <a:off x="5788152" y="3355848"/>
            <a:ext cx="658368" cy="658368"/>
          </p:xfrm>
          <a:graphic>
            <a:graphicData uri="http://schemas.openxmlformats.org/drawingml/2006/chart">
              <c:chart xmlns:c="http://schemas.openxmlformats.org/drawingml/2006/chart" xmlns:r="http://schemas.openxmlformats.org/officeDocument/2006/relationships" r:id="rId15"/>
            </a:graphicData>
          </a:graphic>
        </p:graphicFrame>
        <p:sp>
          <p:nvSpPr>
            <p:cNvPr id="175" name="Text 80">
              <a:extLst>
                <a:ext uri="{FF2B5EF4-FFF2-40B4-BE49-F238E27FC236}">
                  <a16:creationId xmlns:a16="http://schemas.microsoft.com/office/drawing/2014/main" id="{7AAD8FD1-766A-82C8-8E52-181C9D8D95FD}"/>
                </a:ext>
              </a:extLst>
            </p:cNvPr>
            <p:cNvSpPr txBox="1"/>
            <p:nvPr/>
          </p:nvSpPr>
          <p:spPr>
            <a:xfrm>
              <a:off x="5733288" y="3694176"/>
              <a:ext cx="768096" cy="256032"/>
            </a:xfrm>
            <a:prstGeom prst="rect">
              <a:avLst/>
            </a:prstGeom>
            <a:noFill/>
            <a:ln/>
          </p:spPr>
          <p:txBody>
            <a:bodyPr wrap="square" lIns="0" tIns="0" rIns="0" bIns="0" rtlCol="0" anchor="ctr"/>
            <a:lstStyle/>
            <a:p>
              <a:pPr marL="0" indent="0" algn="ctr">
                <a:buNone/>
              </a:pPr>
              <a:r>
                <a:rPr lang="en-US" sz="1400" b="1">
                  <a:solidFill>
                    <a:srgbClr val="0E5D52"/>
                  </a:solidFill>
                  <a:latin typeface="Calibri" pitchFamily="34" charset="0"/>
                  <a:ea typeface="Calibri" pitchFamily="34" charset="-122"/>
                  <a:cs typeface="Calibri" pitchFamily="34" charset="-120"/>
                </a:rPr>
                <a:t>56%</a:t>
              </a:r>
              <a:endParaRPr lang="en-US" sz="1400"/>
            </a:p>
          </p:txBody>
        </p:sp>
        <p:sp>
          <p:nvSpPr>
            <p:cNvPr id="178" name="Text 81">
              <a:extLst>
                <a:ext uri="{FF2B5EF4-FFF2-40B4-BE49-F238E27FC236}">
                  <a16:creationId xmlns:a16="http://schemas.microsoft.com/office/drawing/2014/main" id="{C3E88AD1-133B-BAD4-9889-B03CD16FC5D1}"/>
                </a:ext>
              </a:extLst>
            </p:cNvPr>
            <p:cNvSpPr txBox="1"/>
            <p:nvPr/>
          </p:nvSpPr>
          <p:spPr>
            <a:xfrm>
              <a:off x="658368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0E5D52"/>
                  </a:solidFill>
                  <a:latin typeface="Calibri" pitchFamily="34" charset="0"/>
                  <a:ea typeface="Calibri" pitchFamily="34" charset="-122"/>
                  <a:cs typeface="Calibri" pitchFamily="34" charset="-120"/>
                </a:rPr>
                <a:t>INTERMEDIO</a:t>
              </a:r>
              <a:endParaRPr lang="en-US" sz="850"/>
            </a:p>
          </p:txBody>
        </p:sp>
        <p:sp>
          <p:nvSpPr>
            <p:cNvPr id="180" name="Text 82">
              <a:extLst>
                <a:ext uri="{FF2B5EF4-FFF2-40B4-BE49-F238E27FC236}">
                  <a16:creationId xmlns:a16="http://schemas.microsoft.com/office/drawing/2014/main" id="{26A5BCD8-AD52-7D8A-7721-F6F0BC488B14}"/>
                </a:ext>
              </a:extLst>
            </p:cNvPr>
            <p:cNvSpPr txBox="1"/>
            <p:nvPr/>
          </p:nvSpPr>
          <p:spPr>
            <a:xfrm>
              <a:off x="833018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83" name="Text 83">
              <a:extLst>
                <a:ext uri="{FF2B5EF4-FFF2-40B4-BE49-F238E27FC236}">
                  <a16:creationId xmlns:a16="http://schemas.microsoft.com/office/drawing/2014/main" id="{BE811789-5748-3993-5AA2-83D1993B01B8}"/>
                </a:ext>
              </a:extLst>
            </p:cNvPr>
            <p:cNvSpPr txBox="1"/>
            <p:nvPr/>
          </p:nvSpPr>
          <p:spPr>
            <a:xfrm>
              <a:off x="833018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graphicFrame>
          <p:nvGraphicFramePr>
            <p:cNvPr id="186" name="Chart 2">
              <a:extLst>
                <a:ext uri="{FF2B5EF4-FFF2-40B4-BE49-F238E27FC236}">
                  <a16:creationId xmlns:a16="http://schemas.microsoft.com/office/drawing/2014/main" id="{70C9B131-5E20-A76C-FF7B-665724EFE9B9}"/>
                </a:ext>
              </a:extLst>
            </p:cNvPr>
            <p:cNvGraphicFramePr/>
            <p:nvPr>
              <p:extLst>
                <p:ext uri="{D42A27DB-BD31-4B8C-83A1-F6EECF244321}">
                  <p14:modId xmlns:p14="http://schemas.microsoft.com/office/powerpoint/2010/main" val="2051581313"/>
                </p:ext>
              </p:extLst>
            </p:nvPr>
          </p:nvGraphicFramePr>
          <p:xfrm>
            <a:off x="9171432" y="3355848"/>
            <a:ext cx="658368" cy="658368"/>
          </p:xfrm>
          <a:graphic>
            <a:graphicData uri="http://schemas.openxmlformats.org/drawingml/2006/chart">
              <c:chart xmlns:c="http://schemas.openxmlformats.org/drawingml/2006/chart" xmlns:r="http://schemas.openxmlformats.org/officeDocument/2006/relationships" r:id="rId16"/>
            </a:graphicData>
          </a:graphic>
        </p:graphicFrame>
        <p:sp>
          <p:nvSpPr>
            <p:cNvPr id="188" name="Text 84">
              <a:extLst>
                <a:ext uri="{FF2B5EF4-FFF2-40B4-BE49-F238E27FC236}">
                  <a16:creationId xmlns:a16="http://schemas.microsoft.com/office/drawing/2014/main" id="{D7DB5871-39D3-BC09-ED25-16D5461641F4}"/>
                </a:ext>
              </a:extLst>
            </p:cNvPr>
            <p:cNvSpPr txBox="1"/>
            <p:nvPr/>
          </p:nvSpPr>
          <p:spPr>
            <a:xfrm>
              <a:off x="9116568" y="3694176"/>
              <a:ext cx="768096" cy="256032"/>
            </a:xfrm>
            <a:prstGeom prst="rect">
              <a:avLst/>
            </a:prstGeom>
            <a:noFill/>
            <a:ln/>
          </p:spPr>
          <p:txBody>
            <a:bodyPr wrap="square" lIns="0" tIns="0" rIns="0" bIns="0" rtlCol="0" anchor="ctr"/>
            <a:lstStyle/>
            <a:p>
              <a:pPr marL="0" indent="0" algn="ctr">
                <a:buNone/>
              </a:pPr>
              <a:r>
                <a:rPr lang="en-US" sz="1400" b="1">
                  <a:solidFill>
                    <a:srgbClr val="0E5D52"/>
                  </a:solidFill>
                  <a:latin typeface="Calibri" pitchFamily="34" charset="0"/>
                  <a:ea typeface="Calibri" pitchFamily="34" charset="-122"/>
                  <a:cs typeface="Calibri" pitchFamily="34" charset="-120"/>
                </a:rPr>
                <a:t>38%</a:t>
              </a:r>
              <a:endParaRPr lang="en-US" sz="1400"/>
            </a:p>
          </p:txBody>
        </p:sp>
        <p:sp>
          <p:nvSpPr>
            <p:cNvPr id="191" name="Text 85">
              <a:extLst>
                <a:ext uri="{FF2B5EF4-FFF2-40B4-BE49-F238E27FC236}">
                  <a16:creationId xmlns:a16="http://schemas.microsoft.com/office/drawing/2014/main" id="{086BC317-31DD-A453-35D0-12357B5A8509}"/>
                </a:ext>
              </a:extLst>
            </p:cNvPr>
            <p:cNvSpPr txBox="1"/>
            <p:nvPr/>
          </p:nvSpPr>
          <p:spPr>
            <a:xfrm>
              <a:off x="996696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0E5D52"/>
                  </a:solidFill>
                  <a:latin typeface="Calibri" pitchFamily="34" charset="0"/>
                  <a:ea typeface="Calibri" pitchFamily="34" charset="-122"/>
                  <a:cs typeface="Calibri" pitchFamily="34" charset="-120"/>
                </a:rPr>
                <a:t>MÁS BAJO ENTRE LOS 3</a:t>
              </a:r>
              <a:endParaRPr lang="en-US" sz="850"/>
            </a:p>
          </p:txBody>
        </p:sp>
        <p:sp>
          <p:nvSpPr>
            <p:cNvPr id="579" name="Shape 86">
              <a:extLst>
                <a:ext uri="{FF2B5EF4-FFF2-40B4-BE49-F238E27FC236}">
                  <a16:creationId xmlns:a16="http://schemas.microsoft.com/office/drawing/2014/main" id="{020F335E-B48D-1E2A-CEBF-5F4D5809308F}"/>
                </a:ext>
              </a:extLst>
            </p:cNvPr>
            <p:cNvSpPr/>
            <p:nvPr/>
          </p:nvSpPr>
          <p:spPr>
            <a:xfrm>
              <a:off x="320040" y="4110228"/>
              <a:ext cx="11219688" cy="621792"/>
            </a:xfrm>
            <a:prstGeom prst="roundRect">
              <a:avLst>
                <a:gd name="adj" fmla="val 8824"/>
              </a:avLst>
            </a:prstGeom>
            <a:solidFill>
              <a:srgbClr val="FFFFFF"/>
            </a:solidFill>
            <a:ln w="12700">
              <a:solidFill>
                <a:srgbClr val="E4E7E1"/>
              </a:solidFill>
              <a:prstDash val="solid"/>
            </a:ln>
          </p:spPr>
          <p:txBody>
            <a:bodyPr/>
            <a:lstStyle/>
            <a:p>
              <a:endParaRPr lang="es-PE"/>
            </a:p>
          </p:txBody>
        </p:sp>
        <p:sp>
          <p:nvSpPr>
            <p:cNvPr id="583" name="Shape 87">
              <a:extLst>
                <a:ext uri="{FF2B5EF4-FFF2-40B4-BE49-F238E27FC236}">
                  <a16:creationId xmlns:a16="http://schemas.microsoft.com/office/drawing/2014/main" id="{F7FBC96C-219A-80DA-03DA-4712B7EC3746}"/>
                </a:ext>
              </a:extLst>
            </p:cNvPr>
            <p:cNvSpPr/>
            <p:nvPr/>
          </p:nvSpPr>
          <p:spPr>
            <a:xfrm>
              <a:off x="374904" y="4274820"/>
              <a:ext cx="292608" cy="292608"/>
            </a:xfrm>
            <a:prstGeom prst="ellipse">
              <a:avLst/>
            </a:prstGeom>
            <a:solidFill>
              <a:srgbClr val="3E4C59"/>
            </a:solidFill>
            <a:ln/>
          </p:spPr>
          <p:txBody>
            <a:bodyPr/>
            <a:lstStyle/>
            <a:p>
              <a:endParaRPr lang="es-PE"/>
            </a:p>
          </p:txBody>
        </p:sp>
        <p:pic>
          <p:nvPicPr>
            <p:cNvPr id="587" name="Image 10" descr="/home/claude/voi_deck/icons/users.png">
              <a:extLst>
                <a:ext uri="{FF2B5EF4-FFF2-40B4-BE49-F238E27FC236}">
                  <a16:creationId xmlns:a16="http://schemas.microsoft.com/office/drawing/2014/main" id="{FBB48B37-F555-2D2A-AF6C-453E48639CA1}"/>
                </a:ext>
              </a:extLst>
            </p:cNvPr>
            <p:cNvPicPr>
              <a:picLocks noChangeAspect="1"/>
            </p:cNvPicPr>
            <p:nvPr/>
          </p:nvPicPr>
          <p:blipFill>
            <a:blip r:embed="rId17"/>
            <a:stretch>
              <a:fillRect/>
            </a:stretch>
          </p:blipFill>
          <p:spPr>
            <a:xfrm>
              <a:off x="448056" y="4347972"/>
              <a:ext cx="146304" cy="146304"/>
            </a:xfrm>
            <a:prstGeom prst="rect">
              <a:avLst/>
            </a:prstGeom>
          </p:spPr>
        </p:pic>
        <p:sp>
          <p:nvSpPr>
            <p:cNvPr id="591" name="Text 88">
              <a:extLst>
                <a:ext uri="{FF2B5EF4-FFF2-40B4-BE49-F238E27FC236}">
                  <a16:creationId xmlns:a16="http://schemas.microsoft.com/office/drawing/2014/main" id="{C8D1263C-9694-EF53-076B-B6D89736D0AB}"/>
                </a:ext>
              </a:extLst>
            </p:cNvPr>
            <p:cNvSpPr txBox="1"/>
            <p:nvPr/>
          </p:nvSpPr>
          <p:spPr>
            <a:xfrm>
              <a:off x="704088" y="4110228"/>
              <a:ext cx="676656" cy="621792"/>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RETENCIÓN Y RELACIÓN</a:t>
              </a:r>
              <a:endParaRPr lang="en-US" sz="750"/>
            </a:p>
          </p:txBody>
        </p:sp>
        <p:sp>
          <p:nvSpPr>
            <p:cNvPr id="595" name="Text 89">
              <a:extLst>
                <a:ext uri="{FF2B5EF4-FFF2-40B4-BE49-F238E27FC236}">
                  <a16:creationId xmlns:a16="http://schemas.microsoft.com/office/drawing/2014/main" id="{035F8047-522A-3C35-E913-239411912D5A}"/>
                </a:ext>
              </a:extLst>
            </p:cNvPr>
            <p:cNvSpPr txBox="1"/>
            <p:nvPr/>
          </p:nvSpPr>
          <p:spPr>
            <a:xfrm>
              <a:off x="156362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599" name="Text 90">
              <a:extLst>
                <a:ext uri="{FF2B5EF4-FFF2-40B4-BE49-F238E27FC236}">
                  <a16:creationId xmlns:a16="http://schemas.microsoft.com/office/drawing/2014/main" id="{F9136054-88C3-BF7E-0654-DB26F5EEFA82}"/>
                </a:ext>
              </a:extLst>
            </p:cNvPr>
            <p:cNvSpPr txBox="1"/>
            <p:nvPr/>
          </p:nvSpPr>
          <p:spPr>
            <a:xfrm>
              <a:off x="156362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18.5%</a:t>
              </a:r>
              <a:endParaRPr lang="en-US" sz="1200"/>
            </a:p>
          </p:txBody>
        </p:sp>
        <p:pic>
          <p:nvPicPr>
            <p:cNvPr id="603" name="Image 11" descr="/home/claude/voi_deck/icons/person_teal_dark.png">
              <a:extLst>
                <a:ext uri="{FF2B5EF4-FFF2-40B4-BE49-F238E27FC236}">
                  <a16:creationId xmlns:a16="http://schemas.microsoft.com/office/drawing/2014/main" id="{ADD4FBA4-EFC3-9A81-6D61-A3414749D143}"/>
                </a:ext>
              </a:extLst>
            </p:cNvPr>
            <p:cNvPicPr>
              <a:picLocks noChangeAspect="1"/>
            </p:cNvPicPr>
            <p:nvPr/>
          </p:nvPicPr>
          <p:blipFill>
            <a:blip r:embed="rId18"/>
            <a:stretch>
              <a:fillRect/>
            </a:stretch>
          </p:blipFill>
          <p:spPr>
            <a:xfrm>
              <a:off x="1563624" y="4530852"/>
              <a:ext cx="128016" cy="128016"/>
            </a:xfrm>
            <a:prstGeom prst="rect">
              <a:avLst/>
            </a:prstGeom>
          </p:spPr>
        </p:pic>
        <p:pic>
          <p:nvPicPr>
            <p:cNvPr id="607" name="Image 12" descr="/home/claude/voi_deck/icons/person_teal_dark.png">
              <a:extLst>
                <a:ext uri="{FF2B5EF4-FFF2-40B4-BE49-F238E27FC236}">
                  <a16:creationId xmlns:a16="http://schemas.microsoft.com/office/drawing/2014/main" id="{BFB0B937-17E5-3169-3C90-6207E462A392}"/>
                </a:ext>
              </a:extLst>
            </p:cNvPr>
            <p:cNvPicPr>
              <a:picLocks noChangeAspect="1"/>
            </p:cNvPicPr>
            <p:nvPr/>
          </p:nvPicPr>
          <p:blipFill>
            <a:blip r:embed="rId18"/>
            <a:stretch>
              <a:fillRect/>
            </a:stretch>
          </p:blipFill>
          <p:spPr>
            <a:xfrm>
              <a:off x="1705356" y="4530852"/>
              <a:ext cx="128016" cy="128016"/>
            </a:xfrm>
            <a:prstGeom prst="rect">
              <a:avLst/>
            </a:prstGeom>
          </p:spPr>
        </p:pic>
        <p:pic>
          <p:nvPicPr>
            <p:cNvPr id="610" name="Image 13" descr="/home/claude/voi_deck/icons/person_teal_dark.png">
              <a:extLst>
                <a:ext uri="{FF2B5EF4-FFF2-40B4-BE49-F238E27FC236}">
                  <a16:creationId xmlns:a16="http://schemas.microsoft.com/office/drawing/2014/main" id="{C39A316F-A439-AD9F-CC64-381CCF287995}"/>
                </a:ext>
              </a:extLst>
            </p:cNvPr>
            <p:cNvPicPr>
              <a:picLocks noChangeAspect="1"/>
            </p:cNvPicPr>
            <p:nvPr/>
          </p:nvPicPr>
          <p:blipFill>
            <a:blip r:embed="rId18"/>
            <a:stretch>
              <a:fillRect/>
            </a:stretch>
          </p:blipFill>
          <p:spPr>
            <a:xfrm>
              <a:off x="1847088" y="4530852"/>
              <a:ext cx="128016" cy="128016"/>
            </a:xfrm>
            <a:prstGeom prst="rect">
              <a:avLst/>
            </a:prstGeom>
          </p:spPr>
        </p:pic>
        <p:pic>
          <p:nvPicPr>
            <p:cNvPr id="612" name="Image 14" descr="/home/claude/voi_deck/icons/person_teal_dark.png">
              <a:extLst>
                <a:ext uri="{FF2B5EF4-FFF2-40B4-BE49-F238E27FC236}">
                  <a16:creationId xmlns:a16="http://schemas.microsoft.com/office/drawing/2014/main" id="{26F210A2-E7D1-6C2C-CB23-FCF1A82BE6E7}"/>
                </a:ext>
              </a:extLst>
            </p:cNvPr>
            <p:cNvPicPr>
              <a:picLocks noChangeAspect="1"/>
            </p:cNvPicPr>
            <p:nvPr/>
          </p:nvPicPr>
          <p:blipFill>
            <a:blip r:embed="rId18"/>
            <a:stretch>
              <a:fillRect/>
            </a:stretch>
          </p:blipFill>
          <p:spPr>
            <a:xfrm>
              <a:off x="1988820" y="4530852"/>
              <a:ext cx="128016" cy="128016"/>
            </a:xfrm>
            <a:prstGeom prst="rect">
              <a:avLst/>
            </a:prstGeom>
          </p:spPr>
        </p:pic>
        <p:pic>
          <p:nvPicPr>
            <p:cNvPr id="614" name="Image 15" descr="/home/claude/voi_deck/icons/person_teal_dark.png">
              <a:extLst>
                <a:ext uri="{FF2B5EF4-FFF2-40B4-BE49-F238E27FC236}">
                  <a16:creationId xmlns:a16="http://schemas.microsoft.com/office/drawing/2014/main" id="{1A883BE8-3BA2-AA2D-803D-25F8346F6EBE}"/>
                </a:ext>
              </a:extLst>
            </p:cNvPr>
            <p:cNvPicPr>
              <a:picLocks noChangeAspect="1"/>
            </p:cNvPicPr>
            <p:nvPr/>
          </p:nvPicPr>
          <p:blipFill>
            <a:blip r:embed="rId18"/>
            <a:stretch>
              <a:fillRect/>
            </a:stretch>
          </p:blipFill>
          <p:spPr>
            <a:xfrm>
              <a:off x="2130552" y="4530852"/>
              <a:ext cx="128016" cy="128016"/>
            </a:xfrm>
            <a:prstGeom prst="rect">
              <a:avLst/>
            </a:prstGeom>
          </p:spPr>
        </p:pic>
        <p:pic>
          <p:nvPicPr>
            <p:cNvPr id="616" name="Image 16" descr="/home/claude/voi_deck/icons/person_teal_dark.png">
              <a:extLst>
                <a:ext uri="{FF2B5EF4-FFF2-40B4-BE49-F238E27FC236}">
                  <a16:creationId xmlns:a16="http://schemas.microsoft.com/office/drawing/2014/main" id="{D5B4A55E-49A6-A573-DED6-8142077AFF00}"/>
                </a:ext>
              </a:extLst>
            </p:cNvPr>
            <p:cNvPicPr>
              <a:picLocks noChangeAspect="1"/>
            </p:cNvPicPr>
            <p:nvPr/>
          </p:nvPicPr>
          <p:blipFill>
            <a:blip r:embed="rId18"/>
            <a:stretch>
              <a:fillRect/>
            </a:stretch>
          </p:blipFill>
          <p:spPr>
            <a:xfrm>
              <a:off x="2272284" y="4530852"/>
              <a:ext cx="128016" cy="128016"/>
            </a:xfrm>
            <a:prstGeom prst="rect">
              <a:avLst/>
            </a:prstGeom>
          </p:spPr>
        </p:pic>
        <p:sp>
          <p:nvSpPr>
            <p:cNvPr id="618" name="Text 91">
              <a:extLst>
                <a:ext uri="{FF2B5EF4-FFF2-40B4-BE49-F238E27FC236}">
                  <a16:creationId xmlns:a16="http://schemas.microsoft.com/office/drawing/2014/main" id="{C7132FB2-991C-9FA1-45B5-68833EEB0D0F}"/>
                </a:ext>
              </a:extLst>
            </p:cNvPr>
            <p:cNvSpPr txBox="1"/>
            <p:nvPr/>
          </p:nvSpPr>
          <p:spPr>
            <a:xfrm>
              <a:off x="319582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620" name="Text 92">
              <a:extLst>
                <a:ext uri="{FF2B5EF4-FFF2-40B4-BE49-F238E27FC236}">
                  <a16:creationId xmlns:a16="http://schemas.microsoft.com/office/drawing/2014/main" id="{A1F2AB17-E74B-2032-7DF2-C3DF9BB2B54E}"/>
                </a:ext>
              </a:extLst>
            </p:cNvPr>
            <p:cNvSpPr txBox="1"/>
            <p:nvPr/>
          </p:nvSpPr>
          <p:spPr>
            <a:xfrm>
              <a:off x="319582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38.0%</a:t>
              </a:r>
              <a:endParaRPr lang="en-US" sz="1200"/>
            </a:p>
          </p:txBody>
        </p:sp>
        <p:graphicFrame>
          <p:nvGraphicFramePr>
            <p:cNvPr id="622" name="Chart 3">
              <a:extLst>
                <a:ext uri="{FF2B5EF4-FFF2-40B4-BE49-F238E27FC236}">
                  <a16:creationId xmlns:a16="http://schemas.microsoft.com/office/drawing/2014/main" id="{CD54E52C-6C42-9ADD-9415-5C5469517F8F}"/>
                </a:ext>
              </a:extLst>
            </p:cNvPr>
            <p:cNvGraphicFramePr/>
            <p:nvPr>
              <p:extLst>
                <p:ext uri="{D42A27DB-BD31-4B8C-83A1-F6EECF244321}">
                  <p14:modId xmlns:p14="http://schemas.microsoft.com/office/powerpoint/2010/main" val="1262615722"/>
                </p:ext>
              </p:extLst>
            </p:nvPr>
          </p:nvGraphicFramePr>
          <p:xfrm>
            <a:off x="4279392" y="4274820"/>
            <a:ext cx="420624" cy="420624"/>
          </p:xfrm>
          <a:graphic>
            <a:graphicData uri="http://schemas.openxmlformats.org/drawingml/2006/chart">
              <c:chart xmlns:c="http://schemas.openxmlformats.org/drawingml/2006/chart" xmlns:r="http://schemas.openxmlformats.org/officeDocument/2006/relationships" r:id="rId19"/>
            </a:graphicData>
          </a:graphic>
        </p:graphicFrame>
        <p:sp>
          <p:nvSpPr>
            <p:cNvPr id="624" name="Text 93">
              <a:extLst>
                <a:ext uri="{FF2B5EF4-FFF2-40B4-BE49-F238E27FC236}">
                  <a16:creationId xmlns:a16="http://schemas.microsoft.com/office/drawing/2014/main" id="{ED38426C-684C-FC9F-3738-127651F19B23}"/>
                </a:ext>
              </a:extLst>
            </p:cNvPr>
            <p:cNvSpPr txBox="1"/>
            <p:nvPr/>
          </p:nvSpPr>
          <p:spPr>
            <a:xfrm>
              <a:off x="494690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626" name="Text 94">
              <a:extLst>
                <a:ext uri="{FF2B5EF4-FFF2-40B4-BE49-F238E27FC236}">
                  <a16:creationId xmlns:a16="http://schemas.microsoft.com/office/drawing/2014/main" id="{C95889AB-1E60-1C2E-F994-686AD8E1AC40}"/>
                </a:ext>
              </a:extLst>
            </p:cNvPr>
            <p:cNvSpPr txBox="1"/>
            <p:nvPr/>
          </p:nvSpPr>
          <p:spPr>
            <a:xfrm>
              <a:off x="494690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6.4%</a:t>
              </a:r>
              <a:endParaRPr lang="en-US" sz="1200"/>
            </a:p>
          </p:txBody>
        </p:sp>
        <p:pic>
          <p:nvPicPr>
            <p:cNvPr id="628" name="Image 17" descr="/home/claude/voi_deck/icons/person_teal_dark.png">
              <a:extLst>
                <a:ext uri="{FF2B5EF4-FFF2-40B4-BE49-F238E27FC236}">
                  <a16:creationId xmlns:a16="http://schemas.microsoft.com/office/drawing/2014/main" id="{E99A33E9-837A-657A-7367-142F664FD0FA}"/>
                </a:ext>
              </a:extLst>
            </p:cNvPr>
            <p:cNvPicPr>
              <a:picLocks noChangeAspect="1"/>
            </p:cNvPicPr>
            <p:nvPr/>
          </p:nvPicPr>
          <p:blipFill>
            <a:blip r:embed="rId18"/>
            <a:stretch>
              <a:fillRect/>
            </a:stretch>
          </p:blipFill>
          <p:spPr>
            <a:xfrm>
              <a:off x="4946904" y="4530852"/>
              <a:ext cx="128016" cy="128016"/>
            </a:xfrm>
            <a:prstGeom prst="rect">
              <a:avLst/>
            </a:prstGeom>
          </p:spPr>
        </p:pic>
        <p:pic>
          <p:nvPicPr>
            <p:cNvPr id="630" name="Image 18" descr="/home/claude/voi_deck/icons/person_teal_dark.png">
              <a:extLst>
                <a:ext uri="{FF2B5EF4-FFF2-40B4-BE49-F238E27FC236}">
                  <a16:creationId xmlns:a16="http://schemas.microsoft.com/office/drawing/2014/main" id="{0DC2C87B-6EF1-62D7-B1FC-E1E8A61EDAFA}"/>
                </a:ext>
              </a:extLst>
            </p:cNvPr>
            <p:cNvPicPr>
              <a:picLocks noChangeAspect="1"/>
            </p:cNvPicPr>
            <p:nvPr/>
          </p:nvPicPr>
          <p:blipFill>
            <a:blip r:embed="rId18"/>
            <a:stretch>
              <a:fillRect/>
            </a:stretch>
          </p:blipFill>
          <p:spPr>
            <a:xfrm>
              <a:off x="5088636" y="4530852"/>
              <a:ext cx="128016" cy="128016"/>
            </a:xfrm>
            <a:prstGeom prst="rect">
              <a:avLst/>
            </a:prstGeom>
          </p:spPr>
        </p:pic>
        <p:pic>
          <p:nvPicPr>
            <p:cNvPr id="632" name="Image 19" descr="/home/claude/voi_deck/icons/person_gray.png">
              <a:extLst>
                <a:ext uri="{FF2B5EF4-FFF2-40B4-BE49-F238E27FC236}">
                  <a16:creationId xmlns:a16="http://schemas.microsoft.com/office/drawing/2014/main" id="{9E995802-85AF-B837-509E-E15B3E0665F5}"/>
                </a:ext>
              </a:extLst>
            </p:cNvPr>
            <p:cNvPicPr>
              <a:picLocks noChangeAspect="1"/>
            </p:cNvPicPr>
            <p:nvPr/>
          </p:nvPicPr>
          <p:blipFill>
            <a:blip r:embed="rId20"/>
            <a:stretch>
              <a:fillRect/>
            </a:stretch>
          </p:blipFill>
          <p:spPr>
            <a:xfrm>
              <a:off x="5230368" y="4530852"/>
              <a:ext cx="128016" cy="128016"/>
            </a:xfrm>
            <a:prstGeom prst="rect">
              <a:avLst/>
            </a:prstGeom>
          </p:spPr>
        </p:pic>
        <p:pic>
          <p:nvPicPr>
            <p:cNvPr id="634" name="Image 20" descr="/home/claude/voi_deck/icons/person_gray.png">
              <a:extLst>
                <a:ext uri="{FF2B5EF4-FFF2-40B4-BE49-F238E27FC236}">
                  <a16:creationId xmlns:a16="http://schemas.microsoft.com/office/drawing/2014/main" id="{2ECC643E-8B5B-C3E2-B7F6-ED8FA91FDEB9}"/>
                </a:ext>
              </a:extLst>
            </p:cNvPr>
            <p:cNvPicPr>
              <a:picLocks noChangeAspect="1"/>
            </p:cNvPicPr>
            <p:nvPr/>
          </p:nvPicPr>
          <p:blipFill>
            <a:blip r:embed="rId20"/>
            <a:stretch>
              <a:fillRect/>
            </a:stretch>
          </p:blipFill>
          <p:spPr>
            <a:xfrm>
              <a:off x="5372100" y="4530852"/>
              <a:ext cx="128016" cy="128016"/>
            </a:xfrm>
            <a:prstGeom prst="rect">
              <a:avLst/>
            </a:prstGeom>
          </p:spPr>
        </p:pic>
        <p:pic>
          <p:nvPicPr>
            <p:cNvPr id="636" name="Image 21" descr="/home/claude/voi_deck/icons/person_gray.png">
              <a:extLst>
                <a:ext uri="{FF2B5EF4-FFF2-40B4-BE49-F238E27FC236}">
                  <a16:creationId xmlns:a16="http://schemas.microsoft.com/office/drawing/2014/main" id="{DDBDE166-47F8-EF32-45CB-D82E363FFA12}"/>
                </a:ext>
              </a:extLst>
            </p:cNvPr>
            <p:cNvPicPr>
              <a:picLocks noChangeAspect="1"/>
            </p:cNvPicPr>
            <p:nvPr/>
          </p:nvPicPr>
          <p:blipFill>
            <a:blip r:embed="rId20"/>
            <a:stretch>
              <a:fillRect/>
            </a:stretch>
          </p:blipFill>
          <p:spPr>
            <a:xfrm>
              <a:off x="5513832" y="4530852"/>
              <a:ext cx="128016" cy="128016"/>
            </a:xfrm>
            <a:prstGeom prst="rect">
              <a:avLst/>
            </a:prstGeom>
          </p:spPr>
        </p:pic>
        <p:pic>
          <p:nvPicPr>
            <p:cNvPr id="638" name="Image 22" descr="/home/claude/voi_deck/icons/person_gray.png">
              <a:extLst>
                <a:ext uri="{FF2B5EF4-FFF2-40B4-BE49-F238E27FC236}">
                  <a16:creationId xmlns:a16="http://schemas.microsoft.com/office/drawing/2014/main" id="{86914412-5A39-258C-8710-3A393B2EEC2F}"/>
                </a:ext>
              </a:extLst>
            </p:cNvPr>
            <p:cNvPicPr>
              <a:picLocks noChangeAspect="1"/>
            </p:cNvPicPr>
            <p:nvPr/>
          </p:nvPicPr>
          <p:blipFill>
            <a:blip r:embed="rId20"/>
            <a:stretch>
              <a:fillRect/>
            </a:stretch>
          </p:blipFill>
          <p:spPr>
            <a:xfrm>
              <a:off x="5655564" y="4530852"/>
              <a:ext cx="128016" cy="128016"/>
            </a:xfrm>
            <a:prstGeom prst="rect">
              <a:avLst/>
            </a:prstGeom>
          </p:spPr>
        </p:pic>
        <p:sp>
          <p:nvSpPr>
            <p:cNvPr id="192" name="Text 95">
              <a:extLst>
                <a:ext uri="{FF2B5EF4-FFF2-40B4-BE49-F238E27FC236}">
                  <a16:creationId xmlns:a16="http://schemas.microsoft.com/office/drawing/2014/main" id="{E83A6713-CF19-175C-AA0C-3F4B467A81D6}"/>
                </a:ext>
              </a:extLst>
            </p:cNvPr>
            <p:cNvSpPr txBox="1"/>
            <p:nvPr/>
          </p:nvSpPr>
          <p:spPr>
            <a:xfrm>
              <a:off x="657910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95" name="Text 96">
              <a:extLst>
                <a:ext uri="{FF2B5EF4-FFF2-40B4-BE49-F238E27FC236}">
                  <a16:creationId xmlns:a16="http://schemas.microsoft.com/office/drawing/2014/main" id="{E203E647-01D2-FF33-DF83-8D185F2836DF}"/>
                </a:ext>
              </a:extLst>
            </p:cNvPr>
            <p:cNvSpPr txBox="1"/>
            <p:nvPr/>
          </p:nvSpPr>
          <p:spPr>
            <a:xfrm>
              <a:off x="657910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35.5%</a:t>
              </a:r>
              <a:endParaRPr lang="en-US" sz="1200"/>
            </a:p>
          </p:txBody>
        </p:sp>
        <p:graphicFrame>
          <p:nvGraphicFramePr>
            <p:cNvPr id="198" name="Chart 4">
              <a:extLst>
                <a:ext uri="{FF2B5EF4-FFF2-40B4-BE49-F238E27FC236}">
                  <a16:creationId xmlns:a16="http://schemas.microsoft.com/office/drawing/2014/main" id="{CAC3D1E7-31DA-233C-5A6D-C0AF210E10AF}"/>
                </a:ext>
              </a:extLst>
            </p:cNvPr>
            <p:cNvGraphicFramePr/>
            <p:nvPr>
              <p:extLst>
                <p:ext uri="{D42A27DB-BD31-4B8C-83A1-F6EECF244321}">
                  <p14:modId xmlns:p14="http://schemas.microsoft.com/office/powerpoint/2010/main" val="1885923893"/>
                </p:ext>
              </p:extLst>
            </p:nvPr>
          </p:nvGraphicFramePr>
          <p:xfrm>
            <a:off x="7662672" y="4274820"/>
            <a:ext cx="420624" cy="420624"/>
          </p:xfrm>
          <a:graphic>
            <a:graphicData uri="http://schemas.openxmlformats.org/drawingml/2006/chart">
              <c:chart xmlns:c="http://schemas.openxmlformats.org/drawingml/2006/chart" xmlns:r="http://schemas.openxmlformats.org/officeDocument/2006/relationships" r:id="rId21"/>
            </a:graphicData>
          </a:graphic>
        </p:graphicFrame>
        <p:sp>
          <p:nvSpPr>
            <p:cNvPr id="200" name="Text 97">
              <a:extLst>
                <a:ext uri="{FF2B5EF4-FFF2-40B4-BE49-F238E27FC236}">
                  <a16:creationId xmlns:a16="http://schemas.microsoft.com/office/drawing/2014/main" id="{E7E39927-57AF-3E71-04C6-B572336236C1}"/>
                </a:ext>
              </a:extLst>
            </p:cNvPr>
            <p:cNvSpPr txBox="1"/>
            <p:nvPr/>
          </p:nvSpPr>
          <p:spPr>
            <a:xfrm>
              <a:off x="833018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203" name="Text 98">
              <a:extLst>
                <a:ext uri="{FF2B5EF4-FFF2-40B4-BE49-F238E27FC236}">
                  <a16:creationId xmlns:a16="http://schemas.microsoft.com/office/drawing/2014/main" id="{1E158B2A-EB25-C316-F6A4-38E94CDEE615}"/>
                </a:ext>
              </a:extLst>
            </p:cNvPr>
            <p:cNvSpPr txBox="1"/>
            <p:nvPr/>
          </p:nvSpPr>
          <p:spPr>
            <a:xfrm>
              <a:off x="833018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12.9%</a:t>
              </a:r>
              <a:endParaRPr lang="en-US" sz="1200"/>
            </a:p>
          </p:txBody>
        </p:sp>
        <p:pic>
          <p:nvPicPr>
            <p:cNvPr id="206" name="Image 23" descr="/home/claude/voi_deck/icons/person_teal_dark.png">
              <a:extLst>
                <a:ext uri="{FF2B5EF4-FFF2-40B4-BE49-F238E27FC236}">
                  <a16:creationId xmlns:a16="http://schemas.microsoft.com/office/drawing/2014/main" id="{FD71D363-94D7-200C-F5E4-89DC25F648E3}"/>
                </a:ext>
              </a:extLst>
            </p:cNvPr>
            <p:cNvPicPr>
              <a:picLocks noChangeAspect="1"/>
            </p:cNvPicPr>
            <p:nvPr/>
          </p:nvPicPr>
          <p:blipFill>
            <a:blip r:embed="rId18"/>
            <a:stretch>
              <a:fillRect/>
            </a:stretch>
          </p:blipFill>
          <p:spPr>
            <a:xfrm>
              <a:off x="8330184" y="4530852"/>
              <a:ext cx="128016" cy="128016"/>
            </a:xfrm>
            <a:prstGeom prst="rect">
              <a:avLst/>
            </a:prstGeom>
          </p:spPr>
        </p:pic>
        <p:pic>
          <p:nvPicPr>
            <p:cNvPr id="208" name="Image 24" descr="/home/claude/voi_deck/icons/person_teal_dark.png">
              <a:extLst>
                <a:ext uri="{FF2B5EF4-FFF2-40B4-BE49-F238E27FC236}">
                  <a16:creationId xmlns:a16="http://schemas.microsoft.com/office/drawing/2014/main" id="{7A2C1CDB-E3F4-B6A1-BDC2-C7FAC41B9810}"/>
                </a:ext>
              </a:extLst>
            </p:cNvPr>
            <p:cNvPicPr>
              <a:picLocks noChangeAspect="1"/>
            </p:cNvPicPr>
            <p:nvPr/>
          </p:nvPicPr>
          <p:blipFill>
            <a:blip r:embed="rId18"/>
            <a:stretch>
              <a:fillRect/>
            </a:stretch>
          </p:blipFill>
          <p:spPr>
            <a:xfrm>
              <a:off x="8471916" y="4530852"/>
              <a:ext cx="128016" cy="128016"/>
            </a:xfrm>
            <a:prstGeom prst="rect">
              <a:avLst/>
            </a:prstGeom>
          </p:spPr>
        </p:pic>
        <p:pic>
          <p:nvPicPr>
            <p:cNvPr id="211" name="Image 25" descr="/home/claude/voi_deck/icons/person_teal_dark.png">
              <a:extLst>
                <a:ext uri="{FF2B5EF4-FFF2-40B4-BE49-F238E27FC236}">
                  <a16:creationId xmlns:a16="http://schemas.microsoft.com/office/drawing/2014/main" id="{650442E4-532B-A28A-350D-B924C3FFC739}"/>
                </a:ext>
              </a:extLst>
            </p:cNvPr>
            <p:cNvPicPr>
              <a:picLocks noChangeAspect="1"/>
            </p:cNvPicPr>
            <p:nvPr/>
          </p:nvPicPr>
          <p:blipFill>
            <a:blip r:embed="rId18"/>
            <a:stretch>
              <a:fillRect/>
            </a:stretch>
          </p:blipFill>
          <p:spPr>
            <a:xfrm>
              <a:off x="8613648" y="4530852"/>
              <a:ext cx="128016" cy="128016"/>
            </a:xfrm>
            <a:prstGeom prst="rect">
              <a:avLst/>
            </a:prstGeom>
          </p:spPr>
        </p:pic>
        <p:pic>
          <p:nvPicPr>
            <p:cNvPr id="214" name="Image 26" descr="/home/claude/voi_deck/icons/person_teal_dark.png">
              <a:extLst>
                <a:ext uri="{FF2B5EF4-FFF2-40B4-BE49-F238E27FC236}">
                  <a16:creationId xmlns:a16="http://schemas.microsoft.com/office/drawing/2014/main" id="{5BD7BC12-8DDE-36DD-112D-194716321503}"/>
                </a:ext>
              </a:extLst>
            </p:cNvPr>
            <p:cNvPicPr>
              <a:picLocks noChangeAspect="1"/>
            </p:cNvPicPr>
            <p:nvPr/>
          </p:nvPicPr>
          <p:blipFill>
            <a:blip r:embed="rId18"/>
            <a:stretch>
              <a:fillRect/>
            </a:stretch>
          </p:blipFill>
          <p:spPr>
            <a:xfrm>
              <a:off x="8755380" y="4530852"/>
              <a:ext cx="128016" cy="128016"/>
            </a:xfrm>
            <a:prstGeom prst="rect">
              <a:avLst/>
            </a:prstGeom>
          </p:spPr>
        </p:pic>
        <p:pic>
          <p:nvPicPr>
            <p:cNvPr id="216" name="Image 27" descr="/home/claude/voi_deck/icons/person_gray.png">
              <a:extLst>
                <a:ext uri="{FF2B5EF4-FFF2-40B4-BE49-F238E27FC236}">
                  <a16:creationId xmlns:a16="http://schemas.microsoft.com/office/drawing/2014/main" id="{13EC6190-F3A1-B084-4087-182B05FA8A11}"/>
                </a:ext>
              </a:extLst>
            </p:cNvPr>
            <p:cNvPicPr>
              <a:picLocks noChangeAspect="1"/>
            </p:cNvPicPr>
            <p:nvPr/>
          </p:nvPicPr>
          <p:blipFill>
            <a:blip r:embed="rId20"/>
            <a:stretch>
              <a:fillRect/>
            </a:stretch>
          </p:blipFill>
          <p:spPr>
            <a:xfrm>
              <a:off x="8897112" y="4530852"/>
              <a:ext cx="128016" cy="128016"/>
            </a:xfrm>
            <a:prstGeom prst="rect">
              <a:avLst/>
            </a:prstGeom>
          </p:spPr>
        </p:pic>
        <p:pic>
          <p:nvPicPr>
            <p:cNvPr id="219" name="Image 28" descr="/home/claude/voi_deck/icons/person_gray.png">
              <a:extLst>
                <a:ext uri="{FF2B5EF4-FFF2-40B4-BE49-F238E27FC236}">
                  <a16:creationId xmlns:a16="http://schemas.microsoft.com/office/drawing/2014/main" id="{A3C9CF85-3C5C-5E7E-DAAD-4F59C1EF4DF4}"/>
                </a:ext>
              </a:extLst>
            </p:cNvPr>
            <p:cNvPicPr>
              <a:picLocks noChangeAspect="1"/>
            </p:cNvPicPr>
            <p:nvPr/>
          </p:nvPicPr>
          <p:blipFill>
            <a:blip r:embed="rId20"/>
            <a:stretch>
              <a:fillRect/>
            </a:stretch>
          </p:blipFill>
          <p:spPr>
            <a:xfrm>
              <a:off x="9038844" y="4530852"/>
              <a:ext cx="128016" cy="128016"/>
            </a:xfrm>
            <a:prstGeom prst="rect">
              <a:avLst/>
            </a:prstGeom>
          </p:spPr>
        </p:pic>
        <p:sp>
          <p:nvSpPr>
            <p:cNvPr id="223" name="Text 99">
              <a:extLst>
                <a:ext uri="{FF2B5EF4-FFF2-40B4-BE49-F238E27FC236}">
                  <a16:creationId xmlns:a16="http://schemas.microsoft.com/office/drawing/2014/main" id="{3BB3DBA9-77BA-0BA1-5BA9-341D1961C12E}"/>
                </a:ext>
              </a:extLst>
            </p:cNvPr>
            <p:cNvSpPr txBox="1"/>
            <p:nvPr/>
          </p:nvSpPr>
          <p:spPr>
            <a:xfrm>
              <a:off x="996238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227" name="Text 100">
              <a:extLst>
                <a:ext uri="{FF2B5EF4-FFF2-40B4-BE49-F238E27FC236}">
                  <a16:creationId xmlns:a16="http://schemas.microsoft.com/office/drawing/2014/main" id="{AD5F26EB-52A8-64AA-8655-958E1BADA213}"/>
                </a:ext>
              </a:extLst>
            </p:cNvPr>
            <p:cNvSpPr txBox="1"/>
            <p:nvPr/>
          </p:nvSpPr>
          <p:spPr>
            <a:xfrm>
              <a:off x="996238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35.4%</a:t>
              </a:r>
              <a:endParaRPr lang="en-US" sz="1200"/>
            </a:p>
          </p:txBody>
        </p:sp>
        <p:graphicFrame>
          <p:nvGraphicFramePr>
            <p:cNvPr id="231" name="Chart 5">
              <a:extLst>
                <a:ext uri="{FF2B5EF4-FFF2-40B4-BE49-F238E27FC236}">
                  <a16:creationId xmlns:a16="http://schemas.microsoft.com/office/drawing/2014/main" id="{85C64688-B67A-D2A3-34C0-3FA16149C0BF}"/>
                </a:ext>
              </a:extLst>
            </p:cNvPr>
            <p:cNvGraphicFramePr/>
            <p:nvPr>
              <p:extLst>
                <p:ext uri="{D42A27DB-BD31-4B8C-83A1-F6EECF244321}">
                  <p14:modId xmlns:p14="http://schemas.microsoft.com/office/powerpoint/2010/main" val="3643828530"/>
                </p:ext>
              </p:extLst>
            </p:nvPr>
          </p:nvGraphicFramePr>
          <p:xfrm>
            <a:off x="11045952" y="4274820"/>
            <a:ext cx="420624" cy="420624"/>
          </p:xfrm>
          <a:graphic>
            <a:graphicData uri="http://schemas.openxmlformats.org/drawingml/2006/chart">
              <c:chart xmlns:c="http://schemas.openxmlformats.org/drawingml/2006/chart" xmlns:r="http://schemas.openxmlformats.org/officeDocument/2006/relationships" r:id="rId22"/>
            </a:graphicData>
          </a:graphic>
        </p:graphicFrame>
        <p:sp>
          <p:nvSpPr>
            <p:cNvPr id="235" name="Shape 101">
              <a:extLst>
                <a:ext uri="{FF2B5EF4-FFF2-40B4-BE49-F238E27FC236}">
                  <a16:creationId xmlns:a16="http://schemas.microsoft.com/office/drawing/2014/main" id="{27C29135-1078-E3C7-C457-66260C0EC2A7}"/>
                </a:ext>
              </a:extLst>
            </p:cNvPr>
            <p:cNvSpPr/>
            <p:nvPr/>
          </p:nvSpPr>
          <p:spPr>
            <a:xfrm>
              <a:off x="320040" y="4782312"/>
              <a:ext cx="11219688" cy="1600200"/>
            </a:xfrm>
            <a:prstGeom prst="roundRect">
              <a:avLst>
                <a:gd name="adj" fmla="val 3429"/>
              </a:avLst>
            </a:prstGeom>
            <a:solidFill>
              <a:srgbClr val="FFFFFF"/>
            </a:solidFill>
            <a:ln w="12700">
              <a:solidFill>
                <a:srgbClr val="E4E7E1"/>
              </a:solidFill>
              <a:prstDash val="solid"/>
            </a:ln>
          </p:spPr>
          <p:txBody>
            <a:bodyPr/>
            <a:lstStyle/>
            <a:p>
              <a:endParaRPr lang="es-PE"/>
            </a:p>
          </p:txBody>
        </p:sp>
        <p:sp>
          <p:nvSpPr>
            <p:cNvPr id="239" name="Shape 102">
              <a:extLst>
                <a:ext uri="{FF2B5EF4-FFF2-40B4-BE49-F238E27FC236}">
                  <a16:creationId xmlns:a16="http://schemas.microsoft.com/office/drawing/2014/main" id="{340D18D7-4AAF-73FE-3A00-0B4CD896A95D}"/>
                </a:ext>
              </a:extLst>
            </p:cNvPr>
            <p:cNvSpPr/>
            <p:nvPr/>
          </p:nvSpPr>
          <p:spPr>
            <a:xfrm>
              <a:off x="374904" y="5436108"/>
              <a:ext cx="292608" cy="292608"/>
            </a:xfrm>
            <a:prstGeom prst="ellipse">
              <a:avLst/>
            </a:prstGeom>
            <a:solidFill>
              <a:srgbClr val="3E4C59"/>
            </a:solidFill>
            <a:ln/>
          </p:spPr>
          <p:txBody>
            <a:bodyPr/>
            <a:lstStyle/>
            <a:p>
              <a:endParaRPr lang="es-PE"/>
            </a:p>
          </p:txBody>
        </p:sp>
        <p:pic>
          <p:nvPicPr>
            <p:cNvPr id="243" name="Image 29" descr="/home/claude/voi_deck/icons/percent.png">
              <a:extLst>
                <a:ext uri="{FF2B5EF4-FFF2-40B4-BE49-F238E27FC236}">
                  <a16:creationId xmlns:a16="http://schemas.microsoft.com/office/drawing/2014/main" id="{05EB3512-F981-D95A-224A-CBD64CABE88E}"/>
                </a:ext>
              </a:extLst>
            </p:cNvPr>
            <p:cNvPicPr>
              <a:picLocks noChangeAspect="1"/>
            </p:cNvPicPr>
            <p:nvPr/>
          </p:nvPicPr>
          <p:blipFill>
            <a:blip r:embed="rId23"/>
            <a:stretch>
              <a:fillRect/>
            </a:stretch>
          </p:blipFill>
          <p:spPr>
            <a:xfrm>
              <a:off x="448056" y="5509260"/>
              <a:ext cx="146304" cy="146304"/>
            </a:xfrm>
            <a:prstGeom prst="rect">
              <a:avLst/>
            </a:prstGeom>
          </p:spPr>
        </p:pic>
        <p:sp>
          <p:nvSpPr>
            <p:cNvPr id="247" name="Text 103">
              <a:extLst>
                <a:ext uri="{FF2B5EF4-FFF2-40B4-BE49-F238E27FC236}">
                  <a16:creationId xmlns:a16="http://schemas.microsoft.com/office/drawing/2014/main" id="{6A0B10F5-9FEB-F96F-881D-E9584F5567DB}"/>
                </a:ext>
              </a:extLst>
            </p:cNvPr>
            <p:cNvSpPr txBox="1"/>
            <p:nvPr/>
          </p:nvSpPr>
          <p:spPr>
            <a:xfrm>
              <a:off x="704088" y="4782312"/>
              <a:ext cx="676656" cy="1600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COMPOSICIÓN DEL DESCUENTO</a:t>
              </a:r>
              <a:endParaRPr lang="en-US" sz="750"/>
            </a:p>
          </p:txBody>
        </p:sp>
        <p:sp>
          <p:nvSpPr>
            <p:cNvPr id="251" name="Text 104">
              <a:extLst>
                <a:ext uri="{FF2B5EF4-FFF2-40B4-BE49-F238E27FC236}">
                  <a16:creationId xmlns:a16="http://schemas.microsoft.com/office/drawing/2014/main" id="{8933865F-B1CF-789B-EF21-8A1F44EE7F30}"/>
                </a:ext>
              </a:extLst>
            </p:cNvPr>
            <p:cNvSpPr txBox="1"/>
            <p:nvPr/>
          </p:nvSpPr>
          <p:spPr>
            <a:xfrm>
              <a:off x="156362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255" name="Shape 108">
              <a:extLst>
                <a:ext uri="{FF2B5EF4-FFF2-40B4-BE49-F238E27FC236}">
                  <a16:creationId xmlns:a16="http://schemas.microsoft.com/office/drawing/2014/main" id="{4C84CA7E-2864-B300-7865-5C33ACCE61C1}"/>
                </a:ext>
              </a:extLst>
            </p:cNvPr>
            <p:cNvSpPr/>
            <p:nvPr/>
          </p:nvSpPr>
          <p:spPr>
            <a:xfrm>
              <a:off x="1563624" y="5184648"/>
              <a:ext cx="73152" cy="73152"/>
            </a:xfrm>
            <a:prstGeom prst="rect">
              <a:avLst/>
            </a:prstGeom>
            <a:solidFill>
              <a:srgbClr val="1D9E75"/>
            </a:solidFill>
            <a:ln/>
          </p:spPr>
          <p:txBody>
            <a:bodyPr/>
            <a:lstStyle/>
            <a:p>
              <a:endParaRPr/>
            </a:p>
          </p:txBody>
        </p:sp>
        <p:sp>
          <p:nvSpPr>
            <p:cNvPr id="259" name="Text 109">
              <a:extLst>
                <a:ext uri="{FF2B5EF4-FFF2-40B4-BE49-F238E27FC236}">
                  <a16:creationId xmlns:a16="http://schemas.microsoft.com/office/drawing/2014/main" id="{D5985DD0-382F-0B19-3EB4-04A77DCEAA56}"/>
                </a:ext>
              </a:extLst>
            </p:cNvPr>
            <p:cNvSpPr txBox="1"/>
            <p:nvPr/>
          </p:nvSpPr>
          <p:spPr>
            <a:xfrm>
              <a:off x="166420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263" name="Shape 110">
              <a:extLst>
                <a:ext uri="{FF2B5EF4-FFF2-40B4-BE49-F238E27FC236}">
                  <a16:creationId xmlns:a16="http://schemas.microsoft.com/office/drawing/2014/main" id="{522A7E11-8C9E-B9E5-F7CB-8E5829170C8F}"/>
                </a:ext>
              </a:extLst>
            </p:cNvPr>
            <p:cNvSpPr/>
            <p:nvPr/>
          </p:nvSpPr>
          <p:spPr>
            <a:xfrm>
              <a:off x="1830172" y="5184648"/>
              <a:ext cx="73152" cy="73152"/>
            </a:xfrm>
            <a:prstGeom prst="rect">
              <a:avLst/>
            </a:prstGeom>
            <a:solidFill>
              <a:srgbClr val="D9861F"/>
            </a:solidFill>
            <a:ln/>
          </p:spPr>
          <p:txBody>
            <a:bodyPr/>
            <a:lstStyle/>
            <a:p>
              <a:endParaRPr/>
            </a:p>
          </p:txBody>
        </p:sp>
        <p:sp>
          <p:nvSpPr>
            <p:cNvPr id="267" name="Text 111">
              <a:extLst>
                <a:ext uri="{FF2B5EF4-FFF2-40B4-BE49-F238E27FC236}">
                  <a16:creationId xmlns:a16="http://schemas.microsoft.com/office/drawing/2014/main" id="{2884DADE-C057-DF6C-2469-E2AA0864474A}"/>
                </a:ext>
              </a:extLst>
            </p:cNvPr>
            <p:cNvSpPr txBox="1"/>
            <p:nvPr/>
          </p:nvSpPr>
          <p:spPr>
            <a:xfrm>
              <a:off x="193075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271" name="Shape 112">
              <a:extLst>
                <a:ext uri="{FF2B5EF4-FFF2-40B4-BE49-F238E27FC236}">
                  <a16:creationId xmlns:a16="http://schemas.microsoft.com/office/drawing/2014/main" id="{385D9952-2614-5879-8121-B72500A709A3}"/>
                </a:ext>
              </a:extLst>
            </p:cNvPr>
            <p:cNvSpPr/>
            <p:nvPr/>
          </p:nvSpPr>
          <p:spPr>
            <a:xfrm>
              <a:off x="2096719" y="5184648"/>
              <a:ext cx="73152" cy="73152"/>
            </a:xfrm>
            <a:prstGeom prst="rect">
              <a:avLst/>
            </a:prstGeom>
            <a:solidFill>
              <a:srgbClr val="C0392B"/>
            </a:solidFill>
            <a:ln/>
          </p:spPr>
          <p:txBody>
            <a:bodyPr/>
            <a:lstStyle/>
            <a:p>
              <a:endParaRPr/>
            </a:p>
          </p:txBody>
        </p:sp>
        <p:sp>
          <p:nvSpPr>
            <p:cNvPr id="275" name="Text 113">
              <a:extLst>
                <a:ext uri="{FF2B5EF4-FFF2-40B4-BE49-F238E27FC236}">
                  <a16:creationId xmlns:a16="http://schemas.microsoft.com/office/drawing/2014/main" id="{93B49388-18D4-EC4F-B9FE-356D315D9653}"/>
                </a:ext>
              </a:extLst>
            </p:cNvPr>
            <p:cNvSpPr txBox="1"/>
            <p:nvPr/>
          </p:nvSpPr>
          <p:spPr>
            <a:xfrm>
              <a:off x="219730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279" name="Text 114">
              <a:extLst>
                <a:ext uri="{FF2B5EF4-FFF2-40B4-BE49-F238E27FC236}">
                  <a16:creationId xmlns:a16="http://schemas.microsoft.com/office/drawing/2014/main" id="{02BE7F94-647B-2329-0EEF-4DD66F336A0A}"/>
                </a:ext>
              </a:extLst>
            </p:cNvPr>
            <p:cNvSpPr txBox="1"/>
            <p:nvPr/>
          </p:nvSpPr>
          <p:spPr>
            <a:xfrm>
              <a:off x="156362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283" name="Text 143">
              <a:extLst>
                <a:ext uri="{FF2B5EF4-FFF2-40B4-BE49-F238E27FC236}">
                  <a16:creationId xmlns:a16="http://schemas.microsoft.com/office/drawing/2014/main" id="{9E6CF617-90D7-DC9A-5DE7-C4DDCC07FD70}"/>
                </a:ext>
              </a:extLst>
            </p:cNvPr>
            <p:cNvSpPr txBox="1"/>
            <p:nvPr/>
          </p:nvSpPr>
          <p:spPr>
            <a:xfrm>
              <a:off x="1563624" y="6135624"/>
              <a:ext cx="3099816" cy="2103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El cliente más nuestro: mayor SOW (68%) y retanqueo (18.5%), 2º UAI y los pasivos más altos.</a:t>
              </a:r>
              <a:endParaRPr lang="en-US" sz="850"/>
            </a:p>
          </p:txBody>
        </p:sp>
        <p:sp>
          <p:nvSpPr>
            <p:cNvPr id="287" name="Text 144">
              <a:extLst>
                <a:ext uri="{FF2B5EF4-FFF2-40B4-BE49-F238E27FC236}">
                  <a16:creationId xmlns:a16="http://schemas.microsoft.com/office/drawing/2014/main" id="{9CB6478A-F3B3-B48C-F37B-8605B2DCC39D}"/>
                </a:ext>
              </a:extLst>
            </p:cNvPr>
            <p:cNvSpPr txBox="1"/>
            <p:nvPr/>
          </p:nvSpPr>
          <p:spPr>
            <a:xfrm>
              <a:off x="494690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291" name="Shape 150">
              <a:extLst>
                <a:ext uri="{FF2B5EF4-FFF2-40B4-BE49-F238E27FC236}">
                  <a16:creationId xmlns:a16="http://schemas.microsoft.com/office/drawing/2014/main" id="{79289A43-01C1-4758-9E87-60AEF423CC61}"/>
                </a:ext>
              </a:extLst>
            </p:cNvPr>
            <p:cNvSpPr/>
            <p:nvPr/>
          </p:nvSpPr>
          <p:spPr>
            <a:xfrm>
              <a:off x="4946904" y="5184648"/>
              <a:ext cx="73152" cy="73152"/>
            </a:xfrm>
            <a:prstGeom prst="rect">
              <a:avLst/>
            </a:prstGeom>
            <a:solidFill>
              <a:srgbClr val="1D9E75"/>
            </a:solidFill>
            <a:ln/>
          </p:spPr>
          <p:txBody>
            <a:bodyPr/>
            <a:lstStyle/>
            <a:p>
              <a:endParaRPr/>
            </a:p>
          </p:txBody>
        </p:sp>
        <p:sp>
          <p:nvSpPr>
            <p:cNvPr id="295" name="Text 151">
              <a:extLst>
                <a:ext uri="{FF2B5EF4-FFF2-40B4-BE49-F238E27FC236}">
                  <a16:creationId xmlns:a16="http://schemas.microsoft.com/office/drawing/2014/main" id="{6CD4B8D3-73FC-A5F7-381A-C6FD02242BD8}"/>
                </a:ext>
              </a:extLst>
            </p:cNvPr>
            <p:cNvSpPr txBox="1"/>
            <p:nvPr/>
          </p:nvSpPr>
          <p:spPr>
            <a:xfrm>
              <a:off x="504748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299" name="Shape 152">
              <a:extLst>
                <a:ext uri="{FF2B5EF4-FFF2-40B4-BE49-F238E27FC236}">
                  <a16:creationId xmlns:a16="http://schemas.microsoft.com/office/drawing/2014/main" id="{A0E7034C-B447-6045-A218-9A9CADC2DDF6}"/>
                </a:ext>
              </a:extLst>
            </p:cNvPr>
            <p:cNvSpPr/>
            <p:nvPr/>
          </p:nvSpPr>
          <p:spPr>
            <a:xfrm>
              <a:off x="5213452" y="5184648"/>
              <a:ext cx="73152" cy="73152"/>
            </a:xfrm>
            <a:prstGeom prst="rect">
              <a:avLst/>
            </a:prstGeom>
            <a:solidFill>
              <a:srgbClr val="D9861F"/>
            </a:solidFill>
            <a:ln/>
          </p:spPr>
          <p:txBody>
            <a:bodyPr/>
            <a:lstStyle/>
            <a:p>
              <a:endParaRPr/>
            </a:p>
          </p:txBody>
        </p:sp>
        <p:sp>
          <p:nvSpPr>
            <p:cNvPr id="303" name="Text 153">
              <a:extLst>
                <a:ext uri="{FF2B5EF4-FFF2-40B4-BE49-F238E27FC236}">
                  <a16:creationId xmlns:a16="http://schemas.microsoft.com/office/drawing/2014/main" id="{8AE62106-039A-A2BD-F022-DEB6F6B12145}"/>
                </a:ext>
              </a:extLst>
            </p:cNvPr>
            <p:cNvSpPr txBox="1"/>
            <p:nvPr/>
          </p:nvSpPr>
          <p:spPr>
            <a:xfrm>
              <a:off x="531403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307" name="Shape 154">
              <a:extLst>
                <a:ext uri="{FF2B5EF4-FFF2-40B4-BE49-F238E27FC236}">
                  <a16:creationId xmlns:a16="http://schemas.microsoft.com/office/drawing/2014/main" id="{FAC0A7F2-6661-E963-171C-E120119A1273}"/>
                </a:ext>
              </a:extLst>
            </p:cNvPr>
            <p:cNvSpPr/>
            <p:nvPr/>
          </p:nvSpPr>
          <p:spPr>
            <a:xfrm>
              <a:off x="5479999" y="5184648"/>
              <a:ext cx="73152" cy="73152"/>
            </a:xfrm>
            <a:prstGeom prst="rect">
              <a:avLst/>
            </a:prstGeom>
            <a:solidFill>
              <a:srgbClr val="C0392B"/>
            </a:solidFill>
            <a:ln/>
          </p:spPr>
          <p:txBody>
            <a:bodyPr/>
            <a:lstStyle/>
            <a:p>
              <a:endParaRPr/>
            </a:p>
          </p:txBody>
        </p:sp>
        <p:sp>
          <p:nvSpPr>
            <p:cNvPr id="311" name="Text 155">
              <a:extLst>
                <a:ext uri="{FF2B5EF4-FFF2-40B4-BE49-F238E27FC236}">
                  <a16:creationId xmlns:a16="http://schemas.microsoft.com/office/drawing/2014/main" id="{E4AEC942-46D8-0A2D-7B3F-AFA4A044640D}"/>
                </a:ext>
              </a:extLst>
            </p:cNvPr>
            <p:cNvSpPr txBox="1"/>
            <p:nvPr/>
          </p:nvSpPr>
          <p:spPr>
            <a:xfrm>
              <a:off x="558058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315" name="Text 156">
              <a:extLst>
                <a:ext uri="{FF2B5EF4-FFF2-40B4-BE49-F238E27FC236}">
                  <a16:creationId xmlns:a16="http://schemas.microsoft.com/office/drawing/2014/main" id="{00FA4D4E-F1D1-0560-5BBF-E0511D20DED5}"/>
                </a:ext>
              </a:extLst>
            </p:cNvPr>
            <p:cNvSpPr txBox="1"/>
            <p:nvPr/>
          </p:nvSpPr>
          <p:spPr>
            <a:xfrm>
              <a:off x="494690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319" name="Text 185">
              <a:extLst>
                <a:ext uri="{FF2B5EF4-FFF2-40B4-BE49-F238E27FC236}">
                  <a16:creationId xmlns:a16="http://schemas.microsoft.com/office/drawing/2014/main" id="{8EA9B7EC-C56E-224A-926D-5825C19D8D10}"/>
                </a:ext>
              </a:extLst>
            </p:cNvPr>
            <p:cNvSpPr txBox="1"/>
            <p:nvPr/>
          </p:nvSpPr>
          <p:spPr>
            <a:xfrm>
              <a:off x="4946904" y="6135624"/>
              <a:ext cx="3099816" cy="2103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Nos prefiere (SOW 56%) pero aún es chico: ticket y ventas moderados.</a:t>
              </a:r>
              <a:endParaRPr lang="en-US" sz="850"/>
            </a:p>
          </p:txBody>
        </p:sp>
        <p:sp>
          <p:nvSpPr>
            <p:cNvPr id="323" name="Text 186">
              <a:extLst>
                <a:ext uri="{FF2B5EF4-FFF2-40B4-BE49-F238E27FC236}">
                  <a16:creationId xmlns:a16="http://schemas.microsoft.com/office/drawing/2014/main" id="{4F7E25DA-F7BA-92E3-A780-17441E3E729D}"/>
                </a:ext>
              </a:extLst>
            </p:cNvPr>
            <p:cNvSpPr txBox="1"/>
            <p:nvPr/>
          </p:nvSpPr>
          <p:spPr>
            <a:xfrm>
              <a:off x="833018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327" name="Shape 190">
              <a:extLst>
                <a:ext uri="{FF2B5EF4-FFF2-40B4-BE49-F238E27FC236}">
                  <a16:creationId xmlns:a16="http://schemas.microsoft.com/office/drawing/2014/main" id="{14C25B49-FC6C-0FC2-4793-98269A0AE341}"/>
                </a:ext>
              </a:extLst>
            </p:cNvPr>
            <p:cNvSpPr/>
            <p:nvPr/>
          </p:nvSpPr>
          <p:spPr>
            <a:xfrm>
              <a:off x="8330184" y="5184648"/>
              <a:ext cx="73152" cy="73152"/>
            </a:xfrm>
            <a:prstGeom prst="rect">
              <a:avLst/>
            </a:prstGeom>
            <a:solidFill>
              <a:srgbClr val="1D9E75"/>
            </a:solidFill>
            <a:ln/>
          </p:spPr>
          <p:txBody>
            <a:bodyPr/>
            <a:lstStyle/>
            <a:p>
              <a:endParaRPr/>
            </a:p>
          </p:txBody>
        </p:sp>
        <p:sp>
          <p:nvSpPr>
            <p:cNvPr id="331" name="Text 191">
              <a:extLst>
                <a:ext uri="{FF2B5EF4-FFF2-40B4-BE49-F238E27FC236}">
                  <a16:creationId xmlns:a16="http://schemas.microsoft.com/office/drawing/2014/main" id="{E0E09B91-D217-8D70-0DC9-3BA85C06CC6F}"/>
                </a:ext>
              </a:extLst>
            </p:cNvPr>
            <p:cNvSpPr txBox="1"/>
            <p:nvPr/>
          </p:nvSpPr>
          <p:spPr>
            <a:xfrm>
              <a:off x="843076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335" name="Shape 192">
              <a:extLst>
                <a:ext uri="{FF2B5EF4-FFF2-40B4-BE49-F238E27FC236}">
                  <a16:creationId xmlns:a16="http://schemas.microsoft.com/office/drawing/2014/main" id="{1CB12CE5-878B-E02F-71C4-DF2DF4F6EAB1}"/>
                </a:ext>
              </a:extLst>
            </p:cNvPr>
            <p:cNvSpPr/>
            <p:nvPr/>
          </p:nvSpPr>
          <p:spPr>
            <a:xfrm>
              <a:off x="8596732" y="5184648"/>
              <a:ext cx="73152" cy="73152"/>
            </a:xfrm>
            <a:prstGeom prst="rect">
              <a:avLst/>
            </a:prstGeom>
            <a:solidFill>
              <a:srgbClr val="D9861F"/>
            </a:solidFill>
            <a:ln/>
          </p:spPr>
          <p:txBody>
            <a:bodyPr/>
            <a:lstStyle/>
            <a:p>
              <a:endParaRPr/>
            </a:p>
          </p:txBody>
        </p:sp>
        <p:sp>
          <p:nvSpPr>
            <p:cNvPr id="339" name="Text 193">
              <a:extLst>
                <a:ext uri="{FF2B5EF4-FFF2-40B4-BE49-F238E27FC236}">
                  <a16:creationId xmlns:a16="http://schemas.microsoft.com/office/drawing/2014/main" id="{E3F672A2-E8AB-F417-7EFD-C04BF110CACE}"/>
                </a:ext>
              </a:extLst>
            </p:cNvPr>
            <p:cNvSpPr txBox="1"/>
            <p:nvPr/>
          </p:nvSpPr>
          <p:spPr>
            <a:xfrm>
              <a:off x="869731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343" name="Shape 194">
              <a:extLst>
                <a:ext uri="{FF2B5EF4-FFF2-40B4-BE49-F238E27FC236}">
                  <a16:creationId xmlns:a16="http://schemas.microsoft.com/office/drawing/2014/main" id="{151EEE04-E2DF-9ED6-813B-AFD176C26555}"/>
                </a:ext>
              </a:extLst>
            </p:cNvPr>
            <p:cNvSpPr/>
            <p:nvPr/>
          </p:nvSpPr>
          <p:spPr>
            <a:xfrm>
              <a:off x="8863279" y="5184648"/>
              <a:ext cx="73152" cy="73152"/>
            </a:xfrm>
            <a:prstGeom prst="rect">
              <a:avLst/>
            </a:prstGeom>
            <a:solidFill>
              <a:srgbClr val="C0392B"/>
            </a:solidFill>
            <a:ln/>
          </p:spPr>
          <p:txBody>
            <a:bodyPr/>
            <a:lstStyle/>
            <a:p>
              <a:endParaRPr/>
            </a:p>
          </p:txBody>
        </p:sp>
        <p:sp>
          <p:nvSpPr>
            <p:cNvPr id="347" name="Text 195">
              <a:extLst>
                <a:ext uri="{FF2B5EF4-FFF2-40B4-BE49-F238E27FC236}">
                  <a16:creationId xmlns:a16="http://schemas.microsoft.com/office/drawing/2014/main" id="{B51CB259-D852-C646-62BC-94BFA696EBDD}"/>
                </a:ext>
              </a:extLst>
            </p:cNvPr>
            <p:cNvSpPr txBox="1"/>
            <p:nvPr/>
          </p:nvSpPr>
          <p:spPr>
            <a:xfrm>
              <a:off x="896386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351" name="Text 196">
              <a:extLst>
                <a:ext uri="{FF2B5EF4-FFF2-40B4-BE49-F238E27FC236}">
                  <a16:creationId xmlns:a16="http://schemas.microsoft.com/office/drawing/2014/main" id="{13D11E7B-BF93-8AF8-A490-EE5581111C0F}"/>
                </a:ext>
              </a:extLst>
            </p:cNvPr>
            <p:cNvSpPr txBox="1"/>
            <p:nvPr/>
          </p:nvSpPr>
          <p:spPr>
            <a:xfrm>
              <a:off x="833018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355" name="Text 225">
              <a:extLst>
                <a:ext uri="{FF2B5EF4-FFF2-40B4-BE49-F238E27FC236}">
                  <a16:creationId xmlns:a16="http://schemas.microsoft.com/office/drawing/2014/main" id="{147847FC-12DF-42E2-3F79-75E8FFD1B534}"/>
                </a:ext>
              </a:extLst>
            </p:cNvPr>
            <p:cNvSpPr txBox="1"/>
            <p:nvPr/>
          </p:nvSpPr>
          <p:spPr>
            <a:xfrm>
              <a:off x="8330184" y="6135624"/>
              <a:ext cx="3099816" cy="2103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Ticket de S/ 220k, ventas de S/ 2.7MM y la mejor TEA: la cuenta de mayor valor.</a:t>
              </a:r>
              <a:endParaRPr lang="en-US" sz="850"/>
            </a:p>
          </p:txBody>
        </p:sp>
        <p:sp>
          <p:nvSpPr>
            <p:cNvPr id="359" name="Shape 226">
              <a:extLst>
                <a:ext uri="{FF2B5EF4-FFF2-40B4-BE49-F238E27FC236}">
                  <a16:creationId xmlns:a16="http://schemas.microsoft.com/office/drawing/2014/main" id="{BD4C214B-39AC-0674-3D14-77ACA3A60E93}"/>
                </a:ext>
              </a:extLst>
            </p:cNvPr>
            <p:cNvSpPr/>
            <p:nvPr/>
          </p:nvSpPr>
          <p:spPr>
            <a:xfrm>
              <a:off x="320040" y="6455664"/>
              <a:ext cx="11219688" cy="384048"/>
            </a:xfrm>
            <a:prstGeom prst="roundRect">
              <a:avLst>
                <a:gd name="adj" fmla="val 14286"/>
              </a:avLst>
            </a:prstGeom>
            <a:solidFill>
              <a:srgbClr val="FFFFFF"/>
            </a:solidFill>
            <a:ln w="12700">
              <a:solidFill>
                <a:srgbClr val="E4E7E1"/>
              </a:solidFill>
              <a:prstDash val="solid"/>
            </a:ln>
          </p:spPr>
          <p:txBody>
            <a:bodyPr/>
            <a:lstStyle/>
            <a:p>
              <a:endParaRPr lang="es-PE"/>
            </a:p>
          </p:txBody>
        </p:sp>
        <p:sp>
          <p:nvSpPr>
            <p:cNvPr id="363" name="Shape 227">
              <a:extLst>
                <a:ext uri="{FF2B5EF4-FFF2-40B4-BE49-F238E27FC236}">
                  <a16:creationId xmlns:a16="http://schemas.microsoft.com/office/drawing/2014/main" id="{87394640-8536-7683-A83C-94855D02A70F}"/>
                </a:ext>
              </a:extLst>
            </p:cNvPr>
            <p:cNvSpPr/>
            <p:nvPr/>
          </p:nvSpPr>
          <p:spPr>
            <a:xfrm>
              <a:off x="320040" y="6455664"/>
              <a:ext cx="54864" cy="384048"/>
            </a:xfrm>
            <a:prstGeom prst="rect">
              <a:avLst/>
            </a:prstGeom>
            <a:solidFill>
              <a:srgbClr val="0E5D52"/>
            </a:solidFill>
            <a:ln/>
          </p:spPr>
          <p:txBody>
            <a:bodyPr/>
            <a:lstStyle/>
            <a:p>
              <a:endParaRPr lang="es-PE"/>
            </a:p>
          </p:txBody>
        </p:sp>
        <p:sp>
          <p:nvSpPr>
            <p:cNvPr id="367" name="Shape 228">
              <a:extLst>
                <a:ext uri="{FF2B5EF4-FFF2-40B4-BE49-F238E27FC236}">
                  <a16:creationId xmlns:a16="http://schemas.microsoft.com/office/drawing/2014/main" id="{7D6668EE-C823-CE19-A46F-D2DF2889DF61}"/>
                </a:ext>
              </a:extLst>
            </p:cNvPr>
            <p:cNvSpPr/>
            <p:nvPr/>
          </p:nvSpPr>
          <p:spPr>
            <a:xfrm>
              <a:off x="466344" y="6519672"/>
              <a:ext cx="256032" cy="256032"/>
            </a:xfrm>
            <a:prstGeom prst="ellipse">
              <a:avLst/>
            </a:prstGeom>
            <a:solidFill>
              <a:srgbClr val="0E5D52"/>
            </a:solidFill>
            <a:ln/>
          </p:spPr>
          <p:txBody>
            <a:bodyPr/>
            <a:lstStyle/>
            <a:p>
              <a:endParaRPr lang="es-PE"/>
            </a:p>
          </p:txBody>
        </p:sp>
        <p:pic>
          <p:nvPicPr>
            <p:cNvPr id="371" name="Image 30" descr="/home/claude/voi_deck/icons/clipboard.png">
              <a:extLst>
                <a:ext uri="{FF2B5EF4-FFF2-40B4-BE49-F238E27FC236}">
                  <a16:creationId xmlns:a16="http://schemas.microsoft.com/office/drawing/2014/main" id="{E2A275F4-6C27-D8F7-6C83-436F9D0809A6}"/>
                </a:ext>
              </a:extLst>
            </p:cNvPr>
            <p:cNvPicPr>
              <a:picLocks noChangeAspect="1"/>
            </p:cNvPicPr>
            <p:nvPr/>
          </p:nvPicPr>
          <p:blipFill>
            <a:blip r:embed="rId24"/>
            <a:stretch>
              <a:fillRect/>
            </a:stretch>
          </p:blipFill>
          <p:spPr>
            <a:xfrm>
              <a:off x="530352" y="6583680"/>
              <a:ext cx="128016" cy="128016"/>
            </a:xfrm>
            <a:prstGeom prst="rect">
              <a:avLst/>
            </a:prstGeom>
          </p:spPr>
        </p:pic>
        <p:sp>
          <p:nvSpPr>
            <p:cNvPr id="375" name="Text 229">
              <a:extLst>
                <a:ext uri="{FF2B5EF4-FFF2-40B4-BE49-F238E27FC236}">
                  <a16:creationId xmlns:a16="http://schemas.microsoft.com/office/drawing/2014/main" id="{B2163953-58E4-42C3-BFD1-99D95DE59555}"/>
                </a:ext>
              </a:extLst>
            </p:cNvPr>
            <p:cNvSpPr txBox="1"/>
            <p:nvPr/>
          </p:nvSpPr>
          <p:spPr>
            <a:xfrm>
              <a:off x="832104" y="6455664"/>
              <a:ext cx="10579608" cy="384048"/>
            </a:xfrm>
            <a:prstGeom prst="rect">
              <a:avLst/>
            </a:prstGeom>
            <a:noFill/>
            <a:ln/>
          </p:spPr>
          <p:txBody>
            <a:bodyPr wrap="square" lIns="0" tIns="0" rIns="0" bIns="0" rtlCol="0" anchor="ctr"/>
            <a:lstStyle/>
            <a:p>
              <a:pPr marL="0" indent="0">
                <a:lnSpc>
                  <a:spcPts val="1000"/>
                </a:lnSpc>
                <a:buNone/>
              </a:pPr>
              <a:r>
                <a:rPr lang="en-US" sz="850" b="1">
                  <a:solidFill>
                    <a:srgbClr val="0E5D52"/>
                  </a:solidFill>
                  <a:latin typeface="Calibri" pitchFamily="34" charset="0"/>
                  <a:ea typeface="Calibri" pitchFamily="34" charset="-122"/>
                  <a:cs typeface="Calibri" pitchFamily="34" charset="-120"/>
                </a:rPr>
                <a:t>Nota  </a:t>
              </a:r>
              <a:r>
                <a:rPr lang="en-US" sz="850">
                  <a:solidFill>
                    <a:srgbClr val="6B7563"/>
                  </a:solidFill>
                  <a:latin typeface="Calibri" pitchFamily="34" charset="0"/>
                  <a:ea typeface="Calibri" pitchFamily="34" charset="-122"/>
                  <a:cs typeface="Calibri" pitchFamily="34" charset="-120"/>
                </a:rPr>
                <a:t>Departamento y rubro económico se evaluaron pero no diferencian entre segmentos: Lima concentra 53%–69% y Comercio + Servicios 64%–77% en todos los clusters por igual.</a:t>
              </a:r>
              <a:endParaRPr lang="en-US" sz="850"/>
            </a:p>
          </p:txBody>
        </p:sp>
        <p:sp>
          <p:nvSpPr>
            <p:cNvPr id="379" name="Shape 269">
              <a:extLst>
                <a:ext uri="{FF2B5EF4-FFF2-40B4-BE49-F238E27FC236}">
                  <a16:creationId xmlns:a16="http://schemas.microsoft.com/office/drawing/2014/main" id="{B2E120C2-5F9E-5B44-DE52-521FFA02EAE6}"/>
                </a:ext>
              </a:extLst>
            </p:cNvPr>
            <p:cNvSpPr/>
            <p:nvPr/>
          </p:nvSpPr>
          <p:spPr>
            <a:xfrm>
              <a:off x="1563624" y="4992624"/>
              <a:ext cx="3037820" cy="137160"/>
            </a:xfrm>
            <a:prstGeom prst="rect">
              <a:avLst/>
            </a:prstGeom>
            <a:solidFill>
              <a:srgbClr val="1D9E75"/>
            </a:solidFill>
            <a:ln/>
          </p:spPr>
          <p:txBody>
            <a:bodyPr/>
            <a:lstStyle/>
            <a:p>
              <a:endParaRPr lang="es-PE"/>
            </a:p>
          </p:txBody>
        </p:sp>
        <p:sp>
          <p:nvSpPr>
            <p:cNvPr id="383" name="Text 270">
              <a:extLst>
                <a:ext uri="{FF2B5EF4-FFF2-40B4-BE49-F238E27FC236}">
                  <a16:creationId xmlns:a16="http://schemas.microsoft.com/office/drawing/2014/main" id="{FF8E1B16-284F-5E34-AF76-FFF0E751C961}"/>
                </a:ext>
              </a:extLst>
            </p:cNvPr>
            <p:cNvSpPr txBox="1"/>
            <p:nvPr/>
          </p:nvSpPr>
          <p:spPr>
            <a:xfrm>
              <a:off x="1563624" y="4992624"/>
              <a:ext cx="3037820"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98%</a:t>
              </a:r>
              <a:endParaRPr lang="en-US" sz="800"/>
            </a:p>
          </p:txBody>
        </p:sp>
        <p:sp>
          <p:nvSpPr>
            <p:cNvPr id="387" name="Shape 271">
              <a:extLst>
                <a:ext uri="{FF2B5EF4-FFF2-40B4-BE49-F238E27FC236}">
                  <a16:creationId xmlns:a16="http://schemas.microsoft.com/office/drawing/2014/main" id="{924E7314-BA9A-3E68-EA9E-63CEBCB2F040}"/>
                </a:ext>
              </a:extLst>
            </p:cNvPr>
            <p:cNvSpPr/>
            <p:nvPr/>
          </p:nvSpPr>
          <p:spPr>
            <a:xfrm>
              <a:off x="4601444" y="4992624"/>
              <a:ext cx="61996" cy="137160"/>
            </a:xfrm>
            <a:prstGeom prst="rect">
              <a:avLst/>
            </a:prstGeom>
            <a:solidFill>
              <a:srgbClr val="D9861F"/>
            </a:solidFill>
            <a:ln/>
          </p:spPr>
          <p:txBody>
            <a:bodyPr/>
            <a:lstStyle/>
            <a:p>
              <a:endParaRPr lang="es-PE"/>
            </a:p>
          </p:txBody>
        </p:sp>
        <p:sp>
          <p:nvSpPr>
            <p:cNvPr id="391" name="Shape 272">
              <a:extLst>
                <a:ext uri="{FF2B5EF4-FFF2-40B4-BE49-F238E27FC236}">
                  <a16:creationId xmlns:a16="http://schemas.microsoft.com/office/drawing/2014/main" id="{B2D5B998-8C2D-C91A-4521-36DE1FF7A21B}"/>
                </a:ext>
              </a:extLst>
            </p:cNvPr>
            <p:cNvSpPr/>
            <p:nvPr/>
          </p:nvSpPr>
          <p:spPr>
            <a:xfrm>
              <a:off x="1563624" y="5696712"/>
              <a:ext cx="561067" cy="118872"/>
            </a:xfrm>
            <a:prstGeom prst="rect">
              <a:avLst/>
            </a:prstGeom>
            <a:solidFill>
              <a:srgbClr val="1D9E75"/>
            </a:solidFill>
            <a:ln/>
          </p:spPr>
          <p:txBody>
            <a:bodyPr/>
            <a:lstStyle/>
            <a:p>
              <a:endParaRPr lang="es-PE"/>
            </a:p>
          </p:txBody>
        </p:sp>
        <p:sp>
          <p:nvSpPr>
            <p:cNvPr id="395" name="Text 273">
              <a:extLst>
                <a:ext uri="{FF2B5EF4-FFF2-40B4-BE49-F238E27FC236}">
                  <a16:creationId xmlns:a16="http://schemas.microsoft.com/office/drawing/2014/main" id="{9DCCF68D-1EFF-6121-F585-BF82275B1451}"/>
                </a:ext>
              </a:extLst>
            </p:cNvPr>
            <p:cNvSpPr txBox="1"/>
            <p:nvPr/>
          </p:nvSpPr>
          <p:spPr>
            <a:xfrm>
              <a:off x="1563624" y="5522976"/>
              <a:ext cx="561067"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18%</a:t>
              </a:r>
            </a:p>
            <a:p>
              <a:pPr marL="0" indent="0" algn="ctr">
                <a:lnSpc>
                  <a:spcPct val="100000"/>
                </a:lnSpc>
                <a:buNone/>
              </a:pPr>
              <a:r>
                <a:rPr lang="en-US" sz="500">
                  <a:solidFill>
                    <a:srgbClr val="6B7563"/>
                  </a:solidFill>
                  <a:latin typeface="Calibri" pitchFamily="34" charset="0"/>
                </a:rPr>
                <a:t>(S/ 1.5M)</a:t>
              </a:r>
              <a:endParaRPr lang="en-US" sz="500"/>
            </a:p>
          </p:txBody>
        </p:sp>
        <p:sp>
          <p:nvSpPr>
            <p:cNvPr id="399" name="Shape 274">
              <a:extLst>
                <a:ext uri="{FF2B5EF4-FFF2-40B4-BE49-F238E27FC236}">
                  <a16:creationId xmlns:a16="http://schemas.microsoft.com/office/drawing/2014/main" id="{4DDB94F8-79A9-DD8A-3355-79A34047770D}"/>
                </a:ext>
              </a:extLst>
            </p:cNvPr>
            <p:cNvSpPr/>
            <p:nvPr/>
          </p:nvSpPr>
          <p:spPr>
            <a:xfrm>
              <a:off x="1563624" y="5897880"/>
              <a:ext cx="73152" cy="73152"/>
            </a:xfrm>
            <a:prstGeom prst="rect">
              <a:avLst/>
            </a:prstGeom>
            <a:solidFill>
              <a:srgbClr val="1D9E75"/>
            </a:solidFill>
            <a:ln/>
          </p:spPr>
          <p:txBody>
            <a:bodyPr/>
            <a:lstStyle/>
            <a:p>
              <a:endParaRPr lang="es-PE"/>
            </a:p>
          </p:txBody>
        </p:sp>
        <p:sp>
          <p:nvSpPr>
            <p:cNvPr id="403" name="Text 275">
              <a:extLst>
                <a:ext uri="{FF2B5EF4-FFF2-40B4-BE49-F238E27FC236}">
                  <a16:creationId xmlns:a16="http://schemas.microsoft.com/office/drawing/2014/main" id="{A15F020E-F495-C8D1-B8B4-A935952DDC3B}"/>
                </a:ext>
              </a:extLst>
            </p:cNvPr>
            <p:cNvSpPr txBox="1"/>
            <p:nvPr/>
          </p:nvSpPr>
          <p:spPr>
            <a:xfrm>
              <a:off x="166420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407" name="Shape 276">
              <a:extLst>
                <a:ext uri="{FF2B5EF4-FFF2-40B4-BE49-F238E27FC236}">
                  <a16:creationId xmlns:a16="http://schemas.microsoft.com/office/drawing/2014/main" id="{35173BF4-6FE1-800B-A6E1-26D09913B394}"/>
                </a:ext>
              </a:extLst>
            </p:cNvPr>
            <p:cNvSpPr/>
            <p:nvPr/>
          </p:nvSpPr>
          <p:spPr>
            <a:xfrm>
              <a:off x="2124691" y="5696712"/>
              <a:ext cx="1162431" cy="118872"/>
            </a:xfrm>
            <a:prstGeom prst="rect">
              <a:avLst/>
            </a:prstGeom>
            <a:solidFill>
              <a:srgbClr val="D9861F"/>
            </a:solidFill>
            <a:ln/>
          </p:spPr>
          <p:txBody>
            <a:bodyPr/>
            <a:lstStyle/>
            <a:p>
              <a:endParaRPr lang="es-PE"/>
            </a:p>
          </p:txBody>
        </p:sp>
        <p:sp>
          <p:nvSpPr>
            <p:cNvPr id="411" name="Text 277">
              <a:extLst>
                <a:ext uri="{FF2B5EF4-FFF2-40B4-BE49-F238E27FC236}">
                  <a16:creationId xmlns:a16="http://schemas.microsoft.com/office/drawing/2014/main" id="{1DC3B766-343A-DABD-8F70-3014D42418EB}"/>
                </a:ext>
              </a:extLst>
            </p:cNvPr>
            <p:cNvSpPr txBox="1"/>
            <p:nvPr/>
          </p:nvSpPr>
          <p:spPr>
            <a:xfrm>
              <a:off x="2124691" y="5522976"/>
              <a:ext cx="116243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38%</a:t>
              </a:r>
            </a:p>
            <a:p>
              <a:pPr marL="0" indent="0" algn="ctr">
                <a:lnSpc>
                  <a:spcPct val="100000"/>
                </a:lnSpc>
                <a:buNone/>
              </a:pPr>
              <a:r>
                <a:rPr lang="en-US" sz="500">
                  <a:solidFill>
                    <a:srgbClr val="6B7563"/>
                  </a:solidFill>
                  <a:latin typeface="Calibri" pitchFamily="34" charset="0"/>
                </a:rPr>
                <a:t>(S/ 3.0M)</a:t>
              </a:r>
              <a:endParaRPr lang="en-US" sz="500"/>
            </a:p>
          </p:txBody>
        </p:sp>
        <p:sp>
          <p:nvSpPr>
            <p:cNvPr id="415" name="Shape 278">
              <a:extLst>
                <a:ext uri="{FF2B5EF4-FFF2-40B4-BE49-F238E27FC236}">
                  <a16:creationId xmlns:a16="http://schemas.microsoft.com/office/drawing/2014/main" id="{AF936182-6E43-7B94-B526-E386FF5C73F7}"/>
                </a:ext>
              </a:extLst>
            </p:cNvPr>
            <p:cNvSpPr/>
            <p:nvPr/>
          </p:nvSpPr>
          <p:spPr>
            <a:xfrm>
              <a:off x="2338578" y="5897880"/>
              <a:ext cx="73152" cy="73152"/>
            </a:xfrm>
            <a:prstGeom prst="rect">
              <a:avLst/>
            </a:prstGeom>
            <a:solidFill>
              <a:srgbClr val="D9861F"/>
            </a:solidFill>
            <a:ln/>
          </p:spPr>
          <p:txBody>
            <a:bodyPr/>
            <a:lstStyle/>
            <a:p>
              <a:endParaRPr lang="es-PE"/>
            </a:p>
          </p:txBody>
        </p:sp>
        <p:sp>
          <p:nvSpPr>
            <p:cNvPr id="419" name="Text 279">
              <a:extLst>
                <a:ext uri="{FF2B5EF4-FFF2-40B4-BE49-F238E27FC236}">
                  <a16:creationId xmlns:a16="http://schemas.microsoft.com/office/drawing/2014/main" id="{4A17AFC8-3189-B9FF-4CE4-20F147AF5310}"/>
                </a:ext>
              </a:extLst>
            </p:cNvPr>
            <p:cNvSpPr txBox="1"/>
            <p:nvPr/>
          </p:nvSpPr>
          <p:spPr>
            <a:xfrm>
              <a:off x="243916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423" name="Shape 280">
              <a:extLst>
                <a:ext uri="{FF2B5EF4-FFF2-40B4-BE49-F238E27FC236}">
                  <a16:creationId xmlns:a16="http://schemas.microsoft.com/office/drawing/2014/main" id="{1D5DFB0F-A548-82DB-7FD0-3C3E3522AE9B}"/>
                </a:ext>
              </a:extLst>
            </p:cNvPr>
            <p:cNvSpPr/>
            <p:nvPr/>
          </p:nvSpPr>
          <p:spPr>
            <a:xfrm>
              <a:off x="3287122" y="5696712"/>
              <a:ext cx="846250" cy="118872"/>
            </a:xfrm>
            <a:prstGeom prst="rect">
              <a:avLst/>
            </a:prstGeom>
            <a:solidFill>
              <a:srgbClr val="8A4B0A"/>
            </a:solidFill>
            <a:ln/>
          </p:spPr>
          <p:txBody>
            <a:bodyPr/>
            <a:lstStyle/>
            <a:p>
              <a:endParaRPr lang="es-PE"/>
            </a:p>
          </p:txBody>
        </p:sp>
        <p:sp>
          <p:nvSpPr>
            <p:cNvPr id="427" name="Text 281">
              <a:extLst>
                <a:ext uri="{FF2B5EF4-FFF2-40B4-BE49-F238E27FC236}">
                  <a16:creationId xmlns:a16="http://schemas.microsoft.com/office/drawing/2014/main" id="{8E6C9AB3-D16E-8E6D-BDFD-980EC03E7C02}"/>
                </a:ext>
              </a:extLst>
            </p:cNvPr>
            <p:cNvSpPr txBox="1"/>
            <p:nvPr/>
          </p:nvSpPr>
          <p:spPr>
            <a:xfrm>
              <a:off x="3287122" y="5522976"/>
              <a:ext cx="846250"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27%</a:t>
              </a:r>
            </a:p>
            <a:p>
              <a:pPr marL="0" indent="0" algn="ctr">
                <a:lnSpc>
                  <a:spcPct val="100000"/>
                </a:lnSpc>
                <a:buNone/>
              </a:pPr>
              <a:r>
                <a:rPr lang="en-US" sz="500">
                  <a:solidFill>
                    <a:srgbClr val="6B7563"/>
                  </a:solidFill>
                  <a:latin typeface="Calibri" pitchFamily="34" charset="0"/>
                </a:rPr>
                <a:t>(S/ 2.2M)</a:t>
              </a:r>
              <a:endParaRPr lang="en-US" sz="500"/>
            </a:p>
          </p:txBody>
        </p:sp>
        <p:sp>
          <p:nvSpPr>
            <p:cNvPr id="431" name="Shape 282">
              <a:extLst>
                <a:ext uri="{FF2B5EF4-FFF2-40B4-BE49-F238E27FC236}">
                  <a16:creationId xmlns:a16="http://schemas.microsoft.com/office/drawing/2014/main" id="{F4E31ACF-652E-8F21-1E8E-8406E71725DA}"/>
                </a:ext>
              </a:extLst>
            </p:cNvPr>
            <p:cNvSpPr/>
            <p:nvPr/>
          </p:nvSpPr>
          <p:spPr>
            <a:xfrm>
              <a:off x="3113532" y="5897880"/>
              <a:ext cx="73152" cy="73152"/>
            </a:xfrm>
            <a:prstGeom prst="rect">
              <a:avLst/>
            </a:prstGeom>
            <a:solidFill>
              <a:srgbClr val="8A4B0A"/>
            </a:solidFill>
            <a:ln/>
          </p:spPr>
          <p:txBody>
            <a:bodyPr/>
            <a:lstStyle/>
            <a:p>
              <a:endParaRPr lang="es-PE"/>
            </a:p>
          </p:txBody>
        </p:sp>
        <p:sp>
          <p:nvSpPr>
            <p:cNvPr id="435" name="Text 283">
              <a:extLst>
                <a:ext uri="{FF2B5EF4-FFF2-40B4-BE49-F238E27FC236}">
                  <a16:creationId xmlns:a16="http://schemas.microsoft.com/office/drawing/2014/main" id="{B42CB95E-CDF5-1D3B-5193-8A4249EF1122}"/>
                </a:ext>
              </a:extLst>
            </p:cNvPr>
            <p:cNvSpPr txBox="1"/>
            <p:nvPr/>
          </p:nvSpPr>
          <p:spPr>
            <a:xfrm>
              <a:off x="321411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439" name="Shape 284">
              <a:extLst>
                <a:ext uri="{FF2B5EF4-FFF2-40B4-BE49-F238E27FC236}">
                  <a16:creationId xmlns:a16="http://schemas.microsoft.com/office/drawing/2014/main" id="{2A6616BA-7504-105F-6BFF-2D5CA620B9DC}"/>
                </a:ext>
              </a:extLst>
            </p:cNvPr>
            <p:cNvSpPr/>
            <p:nvPr/>
          </p:nvSpPr>
          <p:spPr>
            <a:xfrm>
              <a:off x="4133371" y="5696712"/>
              <a:ext cx="530069" cy="118872"/>
            </a:xfrm>
            <a:prstGeom prst="rect">
              <a:avLst/>
            </a:prstGeom>
            <a:solidFill>
              <a:srgbClr val="C0392B"/>
            </a:solidFill>
            <a:ln/>
          </p:spPr>
          <p:txBody>
            <a:bodyPr/>
            <a:lstStyle/>
            <a:p>
              <a:endParaRPr lang="es-PE"/>
            </a:p>
          </p:txBody>
        </p:sp>
        <p:sp>
          <p:nvSpPr>
            <p:cNvPr id="443" name="Text 285">
              <a:extLst>
                <a:ext uri="{FF2B5EF4-FFF2-40B4-BE49-F238E27FC236}">
                  <a16:creationId xmlns:a16="http://schemas.microsoft.com/office/drawing/2014/main" id="{CEC49096-820F-9F8E-AFEB-3F5C5E9FB3C9}"/>
                </a:ext>
              </a:extLst>
            </p:cNvPr>
            <p:cNvSpPr txBox="1"/>
            <p:nvPr/>
          </p:nvSpPr>
          <p:spPr>
            <a:xfrm>
              <a:off x="4133371" y="5522976"/>
              <a:ext cx="530069"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17%</a:t>
              </a:r>
            </a:p>
            <a:p>
              <a:pPr marL="0" indent="0" algn="ctr">
                <a:lnSpc>
                  <a:spcPct val="100000"/>
                </a:lnSpc>
                <a:buNone/>
              </a:pPr>
              <a:r>
                <a:rPr lang="en-US" sz="500">
                  <a:solidFill>
                    <a:srgbClr val="6B7563"/>
                  </a:solidFill>
                  <a:latin typeface="Calibri" pitchFamily="34" charset="0"/>
                </a:rPr>
                <a:t>(S/ 1.4M)</a:t>
              </a:r>
              <a:endParaRPr lang="en-US" sz="500"/>
            </a:p>
          </p:txBody>
        </p:sp>
        <p:sp>
          <p:nvSpPr>
            <p:cNvPr id="447" name="Shape 286">
              <a:extLst>
                <a:ext uri="{FF2B5EF4-FFF2-40B4-BE49-F238E27FC236}">
                  <a16:creationId xmlns:a16="http://schemas.microsoft.com/office/drawing/2014/main" id="{EB859999-56C3-FAF2-A76E-9EA9222D2BE7}"/>
                </a:ext>
              </a:extLst>
            </p:cNvPr>
            <p:cNvSpPr/>
            <p:nvPr/>
          </p:nvSpPr>
          <p:spPr>
            <a:xfrm>
              <a:off x="3888486" y="5897880"/>
              <a:ext cx="73152" cy="73152"/>
            </a:xfrm>
            <a:prstGeom prst="rect">
              <a:avLst/>
            </a:prstGeom>
            <a:solidFill>
              <a:srgbClr val="C0392B"/>
            </a:solidFill>
            <a:ln/>
          </p:spPr>
          <p:txBody>
            <a:bodyPr/>
            <a:lstStyle/>
            <a:p>
              <a:endParaRPr lang="es-PE"/>
            </a:p>
          </p:txBody>
        </p:sp>
        <p:sp>
          <p:nvSpPr>
            <p:cNvPr id="641" name="Text 287">
              <a:extLst>
                <a:ext uri="{FF2B5EF4-FFF2-40B4-BE49-F238E27FC236}">
                  <a16:creationId xmlns:a16="http://schemas.microsoft.com/office/drawing/2014/main" id="{9763D591-2ADC-5F5C-E8A1-370A15A50E27}"/>
                </a:ext>
              </a:extLst>
            </p:cNvPr>
            <p:cNvSpPr txBox="1"/>
            <p:nvPr/>
          </p:nvSpPr>
          <p:spPr>
            <a:xfrm>
              <a:off x="398907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sp>
          <p:nvSpPr>
            <p:cNvPr id="643" name="Shape 288">
              <a:extLst>
                <a:ext uri="{FF2B5EF4-FFF2-40B4-BE49-F238E27FC236}">
                  <a16:creationId xmlns:a16="http://schemas.microsoft.com/office/drawing/2014/main" id="{8934C0BE-42EF-8DDD-11E5-346AE4F8AD02}"/>
                </a:ext>
              </a:extLst>
            </p:cNvPr>
            <p:cNvSpPr/>
            <p:nvPr/>
          </p:nvSpPr>
          <p:spPr>
            <a:xfrm>
              <a:off x="4946904" y="4992624"/>
              <a:ext cx="1038438" cy="137160"/>
            </a:xfrm>
            <a:prstGeom prst="rect">
              <a:avLst/>
            </a:prstGeom>
            <a:solidFill>
              <a:srgbClr val="1D9E75"/>
            </a:solidFill>
            <a:ln/>
          </p:spPr>
          <p:txBody>
            <a:bodyPr/>
            <a:lstStyle/>
            <a:p>
              <a:endParaRPr lang="es-PE"/>
            </a:p>
          </p:txBody>
        </p:sp>
        <p:sp>
          <p:nvSpPr>
            <p:cNvPr id="645" name="Text 289">
              <a:extLst>
                <a:ext uri="{FF2B5EF4-FFF2-40B4-BE49-F238E27FC236}">
                  <a16:creationId xmlns:a16="http://schemas.microsoft.com/office/drawing/2014/main" id="{96CBDEC3-E10A-2125-59B4-1A81B8A6A2DA}"/>
                </a:ext>
              </a:extLst>
            </p:cNvPr>
            <p:cNvSpPr txBox="1"/>
            <p:nvPr/>
          </p:nvSpPr>
          <p:spPr>
            <a:xfrm>
              <a:off x="4946904" y="4992624"/>
              <a:ext cx="1038438"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34%</a:t>
              </a:r>
              <a:endParaRPr lang="en-US" sz="800"/>
            </a:p>
          </p:txBody>
        </p:sp>
        <p:sp>
          <p:nvSpPr>
            <p:cNvPr id="647" name="Shape 290">
              <a:extLst>
                <a:ext uri="{FF2B5EF4-FFF2-40B4-BE49-F238E27FC236}">
                  <a16:creationId xmlns:a16="http://schemas.microsoft.com/office/drawing/2014/main" id="{BD524479-DE3D-DDCD-6184-B5E65691918A}"/>
                </a:ext>
              </a:extLst>
            </p:cNvPr>
            <p:cNvSpPr/>
            <p:nvPr/>
          </p:nvSpPr>
          <p:spPr>
            <a:xfrm>
              <a:off x="5985342" y="4992624"/>
              <a:ext cx="1835091" cy="137160"/>
            </a:xfrm>
            <a:prstGeom prst="rect">
              <a:avLst/>
            </a:prstGeom>
            <a:solidFill>
              <a:srgbClr val="D9861F"/>
            </a:solidFill>
            <a:ln/>
          </p:spPr>
          <p:txBody>
            <a:bodyPr/>
            <a:lstStyle/>
            <a:p>
              <a:endParaRPr lang="es-PE"/>
            </a:p>
          </p:txBody>
        </p:sp>
        <p:sp>
          <p:nvSpPr>
            <p:cNvPr id="649" name="Text 291">
              <a:extLst>
                <a:ext uri="{FF2B5EF4-FFF2-40B4-BE49-F238E27FC236}">
                  <a16:creationId xmlns:a16="http://schemas.microsoft.com/office/drawing/2014/main" id="{C6BA6FE5-8FAE-1745-4C1C-08F20A312458}"/>
                </a:ext>
              </a:extLst>
            </p:cNvPr>
            <p:cNvSpPr txBox="1"/>
            <p:nvPr/>
          </p:nvSpPr>
          <p:spPr>
            <a:xfrm>
              <a:off x="5985342" y="4992624"/>
              <a:ext cx="1835091"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59%</a:t>
              </a:r>
              <a:endParaRPr lang="en-US" sz="800"/>
            </a:p>
          </p:txBody>
        </p:sp>
        <p:sp>
          <p:nvSpPr>
            <p:cNvPr id="651" name="Shape 292">
              <a:extLst>
                <a:ext uri="{FF2B5EF4-FFF2-40B4-BE49-F238E27FC236}">
                  <a16:creationId xmlns:a16="http://schemas.microsoft.com/office/drawing/2014/main" id="{31D86E48-CD84-1F61-1072-F25B2D733B09}"/>
                </a:ext>
              </a:extLst>
            </p:cNvPr>
            <p:cNvSpPr/>
            <p:nvPr/>
          </p:nvSpPr>
          <p:spPr>
            <a:xfrm>
              <a:off x="7820433" y="4992624"/>
              <a:ext cx="229386" cy="137160"/>
            </a:xfrm>
            <a:prstGeom prst="rect">
              <a:avLst/>
            </a:prstGeom>
            <a:solidFill>
              <a:srgbClr val="C0392B"/>
            </a:solidFill>
            <a:ln/>
          </p:spPr>
          <p:txBody>
            <a:bodyPr/>
            <a:lstStyle/>
            <a:p>
              <a:endParaRPr lang="es-PE"/>
            </a:p>
          </p:txBody>
        </p:sp>
        <p:sp>
          <p:nvSpPr>
            <p:cNvPr id="653" name="Shape 293">
              <a:extLst>
                <a:ext uri="{FF2B5EF4-FFF2-40B4-BE49-F238E27FC236}">
                  <a16:creationId xmlns:a16="http://schemas.microsoft.com/office/drawing/2014/main" id="{5681389B-89D7-CEDD-E363-58778C10E31D}"/>
                </a:ext>
              </a:extLst>
            </p:cNvPr>
            <p:cNvSpPr/>
            <p:nvPr/>
          </p:nvSpPr>
          <p:spPr>
            <a:xfrm>
              <a:off x="4946904" y="5696712"/>
              <a:ext cx="722257" cy="118872"/>
            </a:xfrm>
            <a:prstGeom prst="rect">
              <a:avLst/>
            </a:prstGeom>
            <a:solidFill>
              <a:srgbClr val="1D9E75"/>
            </a:solidFill>
            <a:ln/>
          </p:spPr>
          <p:txBody>
            <a:bodyPr/>
            <a:lstStyle/>
            <a:p>
              <a:endParaRPr lang="es-PE"/>
            </a:p>
          </p:txBody>
        </p:sp>
        <p:sp>
          <p:nvSpPr>
            <p:cNvPr id="655" name="Text 294">
              <a:extLst>
                <a:ext uri="{FF2B5EF4-FFF2-40B4-BE49-F238E27FC236}">
                  <a16:creationId xmlns:a16="http://schemas.microsoft.com/office/drawing/2014/main" id="{3EB32123-143D-B2C2-95AA-1343CAEF5038}"/>
                </a:ext>
              </a:extLst>
            </p:cNvPr>
            <p:cNvSpPr txBox="1"/>
            <p:nvPr/>
          </p:nvSpPr>
          <p:spPr>
            <a:xfrm>
              <a:off x="4946904" y="5522976"/>
              <a:ext cx="722257"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23%</a:t>
              </a:r>
            </a:p>
            <a:p>
              <a:pPr marL="0" indent="0" algn="ctr">
                <a:lnSpc>
                  <a:spcPct val="100000"/>
                </a:lnSpc>
                <a:buNone/>
              </a:pPr>
              <a:r>
                <a:rPr lang="en-US" sz="500">
                  <a:solidFill>
                    <a:srgbClr val="6B7563"/>
                  </a:solidFill>
                  <a:latin typeface="Calibri" pitchFamily="34" charset="0"/>
                </a:rPr>
                <a:t>(S/ 1.1M)</a:t>
              </a:r>
              <a:endParaRPr lang="en-US" sz="500"/>
            </a:p>
          </p:txBody>
        </p:sp>
        <p:sp>
          <p:nvSpPr>
            <p:cNvPr id="657" name="Shape 295">
              <a:extLst>
                <a:ext uri="{FF2B5EF4-FFF2-40B4-BE49-F238E27FC236}">
                  <a16:creationId xmlns:a16="http://schemas.microsoft.com/office/drawing/2014/main" id="{709BFB03-CDA1-EB81-5DEF-5E0A4923D2A0}"/>
                </a:ext>
              </a:extLst>
            </p:cNvPr>
            <p:cNvSpPr/>
            <p:nvPr/>
          </p:nvSpPr>
          <p:spPr>
            <a:xfrm>
              <a:off x="4946904" y="5897880"/>
              <a:ext cx="73152" cy="73152"/>
            </a:xfrm>
            <a:prstGeom prst="rect">
              <a:avLst/>
            </a:prstGeom>
            <a:solidFill>
              <a:srgbClr val="1D9E75"/>
            </a:solidFill>
            <a:ln/>
          </p:spPr>
          <p:txBody>
            <a:bodyPr/>
            <a:lstStyle/>
            <a:p>
              <a:endParaRPr lang="es-PE"/>
            </a:p>
          </p:txBody>
        </p:sp>
        <p:sp>
          <p:nvSpPr>
            <p:cNvPr id="659" name="Text 296">
              <a:extLst>
                <a:ext uri="{FF2B5EF4-FFF2-40B4-BE49-F238E27FC236}">
                  <a16:creationId xmlns:a16="http://schemas.microsoft.com/office/drawing/2014/main" id="{22FA69E9-7B5C-63AE-44C5-58670AEFFAAE}"/>
                </a:ext>
              </a:extLst>
            </p:cNvPr>
            <p:cNvSpPr txBox="1"/>
            <p:nvPr/>
          </p:nvSpPr>
          <p:spPr>
            <a:xfrm>
              <a:off x="504748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661" name="Shape 297">
              <a:extLst>
                <a:ext uri="{FF2B5EF4-FFF2-40B4-BE49-F238E27FC236}">
                  <a16:creationId xmlns:a16="http://schemas.microsoft.com/office/drawing/2014/main" id="{2390A895-6583-7407-594D-CF629B56536B}"/>
                </a:ext>
              </a:extLst>
            </p:cNvPr>
            <p:cNvSpPr/>
            <p:nvPr/>
          </p:nvSpPr>
          <p:spPr>
            <a:xfrm>
              <a:off x="5669161" y="5696712"/>
              <a:ext cx="948544" cy="118872"/>
            </a:xfrm>
            <a:prstGeom prst="rect">
              <a:avLst/>
            </a:prstGeom>
            <a:solidFill>
              <a:srgbClr val="D9861F"/>
            </a:solidFill>
            <a:ln/>
          </p:spPr>
          <p:txBody>
            <a:bodyPr/>
            <a:lstStyle/>
            <a:p>
              <a:endParaRPr lang="es-PE"/>
            </a:p>
          </p:txBody>
        </p:sp>
        <p:sp>
          <p:nvSpPr>
            <p:cNvPr id="663" name="Text 298">
              <a:extLst>
                <a:ext uri="{FF2B5EF4-FFF2-40B4-BE49-F238E27FC236}">
                  <a16:creationId xmlns:a16="http://schemas.microsoft.com/office/drawing/2014/main" id="{739D19CE-794A-A28C-61E4-DFDC76FEFF41}"/>
                </a:ext>
              </a:extLst>
            </p:cNvPr>
            <p:cNvSpPr txBox="1"/>
            <p:nvPr/>
          </p:nvSpPr>
          <p:spPr>
            <a:xfrm>
              <a:off x="5669161" y="5522976"/>
              <a:ext cx="948544"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31%</a:t>
              </a:r>
            </a:p>
            <a:p>
              <a:pPr marL="0" indent="0" algn="ctr">
                <a:lnSpc>
                  <a:spcPct val="100000"/>
                </a:lnSpc>
                <a:buNone/>
              </a:pPr>
              <a:r>
                <a:rPr lang="en-US" sz="500">
                  <a:solidFill>
                    <a:srgbClr val="6B7563"/>
                  </a:solidFill>
                  <a:latin typeface="Calibri" pitchFamily="34" charset="0"/>
                </a:rPr>
                <a:t>(S/ 1.5M)</a:t>
              </a:r>
              <a:endParaRPr lang="en-US" sz="500"/>
            </a:p>
          </p:txBody>
        </p:sp>
        <p:sp>
          <p:nvSpPr>
            <p:cNvPr id="665" name="Shape 299">
              <a:extLst>
                <a:ext uri="{FF2B5EF4-FFF2-40B4-BE49-F238E27FC236}">
                  <a16:creationId xmlns:a16="http://schemas.microsoft.com/office/drawing/2014/main" id="{0916FA37-FA3C-728E-22B7-25EDB7FF6D57}"/>
                </a:ext>
              </a:extLst>
            </p:cNvPr>
            <p:cNvSpPr/>
            <p:nvPr/>
          </p:nvSpPr>
          <p:spPr>
            <a:xfrm>
              <a:off x="5721858" y="5897880"/>
              <a:ext cx="73152" cy="73152"/>
            </a:xfrm>
            <a:prstGeom prst="rect">
              <a:avLst/>
            </a:prstGeom>
            <a:solidFill>
              <a:srgbClr val="D9861F"/>
            </a:solidFill>
            <a:ln/>
          </p:spPr>
          <p:txBody>
            <a:bodyPr/>
            <a:lstStyle/>
            <a:p>
              <a:endParaRPr lang="es-PE"/>
            </a:p>
          </p:txBody>
        </p:sp>
        <p:sp>
          <p:nvSpPr>
            <p:cNvPr id="667" name="Text 300">
              <a:extLst>
                <a:ext uri="{FF2B5EF4-FFF2-40B4-BE49-F238E27FC236}">
                  <a16:creationId xmlns:a16="http://schemas.microsoft.com/office/drawing/2014/main" id="{22DA6FC4-4A6B-F27B-37BD-054B6845EBC1}"/>
                </a:ext>
              </a:extLst>
            </p:cNvPr>
            <p:cNvSpPr txBox="1"/>
            <p:nvPr/>
          </p:nvSpPr>
          <p:spPr>
            <a:xfrm>
              <a:off x="582244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669" name="Shape 301">
              <a:extLst>
                <a:ext uri="{FF2B5EF4-FFF2-40B4-BE49-F238E27FC236}">
                  <a16:creationId xmlns:a16="http://schemas.microsoft.com/office/drawing/2014/main" id="{13B11AC1-06DA-88E9-9EB3-3B967DC1B980}"/>
                </a:ext>
              </a:extLst>
            </p:cNvPr>
            <p:cNvSpPr/>
            <p:nvPr/>
          </p:nvSpPr>
          <p:spPr>
            <a:xfrm>
              <a:off x="6617705" y="5696712"/>
              <a:ext cx="812152" cy="118872"/>
            </a:xfrm>
            <a:prstGeom prst="rect">
              <a:avLst/>
            </a:prstGeom>
            <a:solidFill>
              <a:srgbClr val="8A4B0A"/>
            </a:solidFill>
            <a:ln/>
          </p:spPr>
          <p:txBody>
            <a:bodyPr/>
            <a:lstStyle/>
            <a:p>
              <a:endParaRPr lang="es-PE"/>
            </a:p>
          </p:txBody>
        </p:sp>
        <p:sp>
          <p:nvSpPr>
            <p:cNvPr id="671" name="Text 302">
              <a:extLst>
                <a:ext uri="{FF2B5EF4-FFF2-40B4-BE49-F238E27FC236}">
                  <a16:creationId xmlns:a16="http://schemas.microsoft.com/office/drawing/2014/main" id="{BA0849D0-BE66-BCA4-9FB0-A6BF5E87270D}"/>
                </a:ext>
              </a:extLst>
            </p:cNvPr>
            <p:cNvSpPr txBox="1"/>
            <p:nvPr/>
          </p:nvSpPr>
          <p:spPr>
            <a:xfrm>
              <a:off x="6617705" y="5522976"/>
              <a:ext cx="812152"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26%</a:t>
              </a:r>
            </a:p>
            <a:p>
              <a:pPr marL="0" indent="0" algn="ctr">
                <a:lnSpc>
                  <a:spcPct val="100000"/>
                </a:lnSpc>
                <a:buNone/>
              </a:pPr>
              <a:r>
                <a:rPr lang="en-US" sz="500">
                  <a:solidFill>
                    <a:srgbClr val="6B7563"/>
                  </a:solidFill>
                  <a:latin typeface="Calibri" pitchFamily="34" charset="0"/>
                </a:rPr>
                <a:t>(S/ 1.3M)</a:t>
              </a:r>
              <a:endParaRPr lang="en-US" sz="500"/>
            </a:p>
          </p:txBody>
        </p:sp>
        <p:sp>
          <p:nvSpPr>
            <p:cNvPr id="673" name="Shape 303">
              <a:extLst>
                <a:ext uri="{FF2B5EF4-FFF2-40B4-BE49-F238E27FC236}">
                  <a16:creationId xmlns:a16="http://schemas.microsoft.com/office/drawing/2014/main" id="{0605D8B5-9DE8-334B-870E-B8304924B0EE}"/>
                </a:ext>
              </a:extLst>
            </p:cNvPr>
            <p:cNvSpPr/>
            <p:nvPr/>
          </p:nvSpPr>
          <p:spPr>
            <a:xfrm>
              <a:off x="6496812" y="5897880"/>
              <a:ext cx="73152" cy="73152"/>
            </a:xfrm>
            <a:prstGeom prst="rect">
              <a:avLst/>
            </a:prstGeom>
            <a:solidFill>
              <a:srgbClr val="8A4B0A"/>
            </a:solidFill>
            <a:ln/>
          </p:spPr>
          <p:txBody>
            <a:bodyPr/>
            <a:lstStyle/>
            <a:p>
              <a:endParaRPr lang="es-PE"/>
            </a:p>
          </p:txBody>
        </p:sp>
        <p:sp>
          <p:nvSpPr>
            <p:cNvPr id="675" name="Text 304">
              <a:extLst>
                <a:ext uri="{FF2B5EF4-FFF2-40B4-BE49-F238E27FC236}">
                  <a16:creationId xmlns:a16="http://schemas.microsoft.com/office/drawing/2014/main" id="{01C1666D-8C32-117E-DA65-830DAF455691}"/>
                </a:ext>
              </a:extLst>
            </p:cNvPr>
            <p:cNvSpPr txBox="1"/>
            <p:nvPr/>
          </p:nvSpPr>
          <p:spPr>
            <a:xfrm>
              <a:off x="659739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677" name="Shape 305">
              <a:extLst>
                <a:ext uri="{FF2B5EF4-FFF2-40B4-BE49-F238E27FC236}">
                  <a16:creationId xmlns:a16="http://schemas.microsoft.com/office/drawing/2014/main" id="{905E46C9-BE18-8956-9A00-2752FD135EE4}"/>
                </a:ext>
              </a:extLst>
            </p:cNvPr>
            <p:cNvSpPr/>
            <p:nvPr/>
          </p:nvSpPr>
          <p:spPr>
            <a:xfrm>
              <a:off x="7429857" y="5696712"/>
              <a:ext cx="613764" cy="118872"/>
            </a:xfrm>
            <a:prstGeom prst="rect">
              <a:avLst/>
            </a:prstGeom>
            <a:solidFill>
              <a:srgbClr val="C0392B"/>
            </a:solidFill>
            <a:ln/>
          </p:spPr>
          <p:txBody>
            <a:bodyPr/>
            <a:lstStyle/>
            <a:p>
              <a:endParaRPr lang="es-PE"/>
            </a:p>
          </p:txBody>
        </p:sp>
        <p:sp>
          <p:nvSpPr>
            <p:cNvPr id="679" name="Text 306">
              <a:extLst>
                <a:ext uri="{FF2B5EF4-FFF2-40B4-BE49-F238E27FC236}">
                  <a16:creationId xmlns:a16="http://schemas.microsoft.com/office/drawing/2014/main" id="{5A8239BF-4243-A3B1-7A4D-C2A94CF3E44A}"/>
                </a:ext>
              </a:extLst>
            </p:cNvPr>
            <p:cNvSpPr txBox="1"/>
            <p:nvPr/>
          </p:nvSpPr>
          <p:spPr>
            <a:xfrm>
              <a:off x="7429857" y="5522976"/>
              <a:ext cx="613764"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20%</a:t>
              </a:r>
            </a:p>
            <a:p>
              <a:pPr marL="0" indent="0" algn="ctr">
                <a:lnSpc>
                  <a:spcPct val="100000"/>
                </a:lnSpc>
                <a:buNone/>
              </a:pPr>
              <a:r>
                <a:rPr lang="en-US" sz="500">
                  <a:solidFill>
                    <a:srgbClr val="6B7563"/>
                  </a:solidFill>
                  <a:latin typeface="Calibri" pitchFamily="34" charset="0"/>
                </a:rPr>
                <a:t>(S/ 954k)</a:t>
              </a:r>
              <a:endParaRPr lang="en-US" sz="500"/>
            </a:p>
          </p:txBody>
        </p:sp>
        <p:sp>
          <p:nvSpPr>
            <p:cNvPr id="681" name="Shape 307">
              <a:extLst>
                <a:ext uri="{FF2B5EF4-FFF2-40B4-BE49-F238E27FC236}">
                  <a16:creationId xmlns:a16="http://schemas.microsoft.com/office/drawing/2014/main" id="{D36879F6-F88E-64E5-159E-BDB6090A250E}"/>
                </a:ext>
              </a:extLst>
            </p:cNvPr>
            <p:cNvSpPr/>
            <p:nvPr/>
          </p:nvSpPr>
          <p:spPr>
            <a:xfrm>
              <a:off x="7271766" y="5897880"/>
              <a:ext cx="73152" cy="73152"/>
            </a:xfrm>
            <a:prstGeom prst="rect">
              <a:avLst/>
            </a:prstGeom>
            <a:solidFill>
              <a:srgbClr val="C0392B"/>
            </a:solidFill>
            <a:ln/>
          </p:spPr>
          <p:txBody>
            <a:bodyPr/>
            <a:lstStyle/>
            <a:p>
              <a:endParaRPr lang="es-PE"/>
            </a:p>
          </p:txBody>
        </p:sp>
        <p:sp>
          <p:nvSpPr>
            <p:cNvPr id="683" name="Text 308">
              <a:extLst>
                <a:ext uri="{FF2B5EF4-FFF2-40B4-BE49-F238E27FC236}">
                  <a16:creationId xmlns:a16="http://schemas.microsoft.com/office/drawing/2014/main" id="{01334D97-9011-39FF-9DD3-36834C1CA36C}"/>
                </a:ext>
              </a:extLst>
            </p:cNvPr>
            <p:cNvSpPr txBox="1"/>
            <p:nvPr/>
          </p:nvSpPr>
          <p:spPr>
            <a:xfrm>
              <a:off x="737235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sp>
          <p:nvSpPr>
            <p:cNvPr id="685" name="Shape 309">
              <a:extLst>
                <a:ext uri="{FF2B5EF4-FFF2-40B4-BE49-F238E27FC236}">
                  <a16:creationId xmlns:a16="http://schemas.microsoft.com/office/drawing/2014/main" id="{F59E9029-BA50-9C64-8D71-8E3F7A759CF8}"/>
                </a:ext>
              </a:extLst>
            </p:cNvPr>
            <p:cNvSpPr/>
            <p:nvPr/>
          </p:nvSpPr>
          <p:spPr>
            <a:xfrm>
              <a:off x="8330184" y="4992624"/>
              <a:ext cx="3087417" cy="137160"/>
            </a:xfrm>
            <a:prstGeom prst="rect">
              <a:avLst/>
            </a:prstGeom>
            <a:solidFill>
              <a:srgbClr val="1D9E75"/>
            </a:solidFill>
            <a:ln/>
          </p:spPr>
          <p:txBody>
            <a:bodyPr/>
            <a:lstStyle/>
            <a:p>
              <a:endParaRPr lang="es-PE"/>
            </a:p>
          </p:txBody>
        </p:sp>
        <p:sp>
          <p:nvSpPr>
            <p:cNvPr id="687" name="Text 310">
              <a:extLst>
                <a:ext uri="{FF2B5EF4-FFF2-40B4-BE49-F238E27FC236}">
                  <a16:creationId xmlns:a16="http://schemas.microsoft.com/office/drawing/2014/main" id="{B635E029-6CB5-3404-A825-BD3BED3814AF}"/>
                </a:ext>
              </a:extLst>
            </p:cNvPr>
            <p:cNvSpPr txBox="1"/>
            <p:nvPr/>
          </p:nvSpPr>
          <p:spPr>
            <a:xfrm>
              <a:off x="8330184" y="4992624"/>
              <a:ext cx="3087417"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100%</a:t>
              </a:r>
              <a:endParaRPr lang="en-US" sz="800"/>
            </a:p>
          </p:txBody>
        </p:sp>
        <p:sp>
          <p:nvSpPr>
            <p:cNvPr id="689" name="Shape 311">
              <a:extLst>
                <a:ext uri="{FF2B5EF4-FFF2-40B4-BE49-F238E27FC236}">
                  <a16:creationId xmlns:a16="http://schemas.microsoft.com/office/drawing/2014/main" id="{98AB7343-7B48-C36B-4382-197F99617922}"/>
                </a:ext>
              </a:extLst>
            </p:cNvPr>
            <p:cNvSpPr/>
            <p:nvPr/>
          </p:nvSpPr>
          <p:spPr>
            <a:xfrm>
              <a:off x="11417601" y="4992624"/>
              <a:ext cx="12399" cy="137160"/>
            </a:xfrm>
            <a:prstGeom prst="rect">
              <a:avLst/>
            </a:prstGeom>
            <a:solidFill>
              <a:srgbClr val="D9861F"/>
            </a:solidFill>
            <a:ln/>
          </p:spPr>
          <p:txBody>
            <a:bodyPr/>
            <a:lstStyle/>
            <a:p>
              <a:endParaRPr lang="es-PE"/>
            </a:p>
          </p:txBody>
        </p:sp>
        <p:sp>
          <p:nvSpPr>
            <p:cNvPr id="691" name="Shape 312">
              <a:extLst>
                <a:ext uri="{FF2B5EF4-FFF2-40B4-BE49-F238E27FC236}">
                  <a16:creationId xmlns:a16="http://schemas.microsoft.com/office/drawing/2014/main" id="{A1F8E086-EAC9-30FE-8A5C-9BE4DEC2D2F8}"/>
                </a:ext>
              </a:extLst>
            </p:cNvPr>
            <p:cNvSpPr/>
            <p:nvPr/>
          </p:nvSpPr>
          <p:spPr>
            <a:xfrm>
              <a:off x="8330184" y="5696712"/>
              <a:ext cx="455673" cy="118872"/>
            </a:xfrm>
            <a:prstGeom prst="rect">
              <a:avLst/>
            </a:prstGeom>
            <a:solidFill>
              <a:srgbClr val="1D9E75"/>
            </a:solidFill>
            <a:ln/>
          </p:spPr>
          <p:txBody>
            <a:bodyPr/>
            <a:lstStyle/>
            <a:p>
              <a:endParaRPr lang="es-PE"/>
            </a:p>
          </p:txBody>
        </p:sp>
        <p:sp>
          <p:nvSpPr>
            <p:cNvPr id="693" name="Text 313">
              <a:extLst>
                <a:ext uri="{FF2B5EF4-FFF2-40B4-BE49-F238E27FC236}">
                  <a16:creationId xmlns:a16="http://schemas.microsoft.com/office/drawing/2014/main" id="{91DC7779-B60C-3A23-A60A-6CD032D4C97A}"/>
                </a:ext>
              </a:extLst>
            </p:cNvPr>
            <p:cNvSpPr txBox="1"/>
            <p:nvPr/>
          </p:nvSpPr>
          <p:spPr>
            <a:xfrm>
              <a:off x="8330184" y="5522976"/>
              <a:ext cx="455673"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15%</a:t>
              </a:r>
            </a:p>
            <a:p>
              <a:pPr marL="0" indent="0" algn="ctr">
                <a:lnSpc>
                  <a:spcPct val="100000"/>
                </a:lnSpc>
                <a:buNone/>
              </a:pPr>
              <a:r>
                <a:rPr lang="en-US" sz="500">
                  <a:solidFill>
                    <a:srgbClr val="6B7563"/>
                  </a:solidFill>
                  <a:latin typeface="Calibri" pitchFamily="34" charset="0"/>
                </a:rPr>
                <a:t>(S/ 1.6M)</a:t>
              </a:r>
              <a:endParaRPr lang="en-US" sz="500"/>
            </a:p>
          </p:txBody>
        </p:sp>
        <p:sp>
          <p:nvSpPr>
            <p:cNvPr id="695" name="Shape 314">
              <a:extLst>
                <a:ext uri="{FF2B5EF4-FFF2-40B4-BE49-F238E27FC236}">
                  <a16:creationId xmlns:a16="http://schemas.microsoft.com/office/drawing/2014/main" id="{5A63DC2F-BE6D-2622-DF09-71C57A85B6B9}"/>
                </a:ext>
              </a:extLst>
            </p:cNvPr>
            <p:cNvSpPr/>
            <p:nvPr/>
          </p:nvSpPr>
          <p:spPr>
            <a:xfrm>
              <a:off x="8330184" y="5897880"/>
              <a:ext cx="73152" cy="73152"/>
            </a:xfrm>
            <a:prstGeom prst="rect">
              <a:avLst/>
            </a:prstGeom>
            <a:solidFill>
              <a:srgbClr val="1D9E75"/>
            </a:solidFill>
            <a:ln/>
          </p:spPr>
          <p:txBody>
            <a:bodyPr/>
            <a:lstStyle/>
            <a:p>
              <a:endParaRPr lang="es-PE"/>
            </a:p>
          </p:txBody>
        </p:sp>
        <p:sp>
          <p:nvSpPr>
            <p:cNvPr id="697" name="Text 315">
              <a:extLst>
                <a:ext uri="{FF2B5EF4-FFF2-40B4-BE49-F238E27FC236}">
                  <a16:creationId xmlns:a16="http://schemas.microsoft.com/office/drawing/2014/main" id="{418F74D9-36DD-4D38-69BF-F0E7B2FD8A16}"/>
                </a:ext>
              </a:extLst>
            </p:cNvPr>
            <p:cNvSpPr txBox="1"/>
            <p:nvPr/>
          </p:nvSpPr>
          <p:spPr>
            <a:xfrm>
              <a:off x="843076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699" name="Shape 316">
              <a:extLst>
                <a:ext uri="{FF2B5EF4-FFF2-40B4-BE49-F238E27FC236}">
                  <a16:creationId xmlns:a16="http://schemas.microsoft.com/office/drawing/2014/main" id="{E65F54DD-8EB7-6118-699C-9FAD2F4C8441}"/>
                </a:ext>
              </a:extLst>
            </p:cNvPr>
            <p:cNvSpPr/>
            <p:nvPr/>
          </p:nvSpPr>
          <p:spPr>
            <a:xfrm>
              <a:off x="8785857" y="5696712"/>
              <a:ext cx="1103534" cy="118872"/>
            </a:xfrm>
            <a:prstGeom prst="rect">
              <a:avLst/>
            </a:prstGeom>
            <a:solidFill>
              <a:srgbClr val="D9861F"/>
            </a:solidFill>
            <a:ln/>
          </p:spPr>
          <p:txBody>
            <a:bodyPr/>
            <a:lstStyle/>
            <a:p>
              <a:endParaRPr lang="es-PE"/>
            </a:p>
          </p:txBody>
        </p:sp>
        <p:sp>
          <p:nvSpPr>
            <p:cNvPr id="701" name="Text 317">
              <a:extLst>
                <a:ext uri="{FF2B5EF4-FFF2-40B4-BE49-F238E27FC236}">
                  <a16:creationId xmlns:a16="http://schemas.microsoft.com/office/drawing/2014/main" id="{51607F13-EEF4-1D5F-7909-ED2589FB1472}"/>
                </a:ext>
              </a:extLst>
            </p:cNvPr>
            <p:cNvSpPr txBox="1"/>
            <p:nvPr/>
          </p:nvSpPr>
          <p:spPr>
            <a:xfrm>
              <a:off x="8785857" y="5522976"/>
              <a:ext cx="1103534"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36%</a:t>
              </a:r>
            </a:p>
            <a:p>
              <a:pPr marL="0" indent="0" algn="ctr">
                <a:lnSpc>
                  <a:spcPct val="100000"/>
                </a:lnSpc>
                <a:buNone/>
              </a:pPr>
              <a:r>
                <a:rPr lang="en-US" sz="500">
                  <a:solidFill>
                    <a:srgbClr val="6B7563"/>
                  </a:solidFill>
                  <a:latin typeface="Calibri" pitchFamily="34" charset="0"/>
                </a:rPr>
                <a:t>(S/ 3.8M)</a:t>
              </a:r>
              <a:endParaRPr lang="en-US" sz="500"/>
            </a:p>
          </p:txBody>
        </p:sp>
        <p:sp>
          <p:nvSpPr>
            <p:cNvPr id="703" name="Shape 318">
              <a:extLst>
                <a:ext uri="{FF2B5EF4-FFF2-40B4-BE49-F238E27FC236}">
                  <a16:creationId xmlns:a16="http://schemas.microsoft.com/office/drawing/2014/main" id="{BD6D7248-7DD6-140F-4985-7894FDF7FD1F}"/>
                </a:ext>
              </a:extLst>
            </p:cNvPr>
            <p:cNvSpPr/>
            <p:nvPr/>
          </p:nvSpPr>
          <p:spPr>
            <a:xfrm>
              <a:off x="9105138" y="5897880"/>
              <a:ext cx="73152" cy="73152"/>
            </a:xfrm>
            <a:prstGeom prst="rect">
              <a:avLst/>
            </a:prstGeom>
            <a:solidFill>
              <a:srgbClr val="D9861F"/>
            </a:solidFill>
            <a:ln/>
          </p:spPr>
          <p:txBody>
            <a:bodyPr/>
            <a:lstStyle/>
            <a:p>
              <a:endParaRPr lang="es-PE"/>
            </a:p>
          </p:txBody>
        </p:sp>
        <p:sp>
          <p:nvSpPr>
            <p:cNvPr id="705" name="Text 319">
              <a:extLst>
                <a:ext uri="{FF2B5EF4-FFF2-40B4-BE49-F238E27FC236}">
                  <a16:creationId xmlns:a16="http://schemas.microsoft.com/office/drawing/2014/main" id="{876AC69D-CC6D-C038-F26E-E44F9BC4A2A3}"/>
                </a:ext>
              </a:extLst>
            </p:cNvPr>
            <p:cNvSpPr txBox="1"/>
            <p:nvPr/>
          </p:nvSpPr>
          <p:spPr>
            <a:xfrm>
              <a:off x="920572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707" name="Shape 320">
              <a:extLst>
                <a:ext uri="{FF2B5EF4-FFF2-40B4-BE49-F238E27FC236}">
                  <a16:creationId xmlns:a16="http://schemas.microsoft.com/office/drawing/2014/main" id="{51CC9239-C3C3-A3D0-2214-C4FA1E3C03FD}"/>
                </a:ext>
              </a:extLst>
            </p:cNvPr>
            <p:cNvSpPr/>
            <p:nvPr/>
          </p:nvSpPr>
          <p:spPr>
            <a:xfrm>
              <a:off x="9889391" y="5696712"/>
              <a:ext cx="818351" cy="118872"/>
            </a:xfrm>
            <a:prstGeom prst="rect">
              <a:avLst/>
            </a:prstGeom>
            <a:solidFill>
              <a:srgbClr val="8A4B0A"/>
            </a:solidFill>
            <a:ln/>
          </p:spPr>
          <p:txBody>
            <a:bodyPr/>
            <a:lstStyle/>
            <a:p>
              <a:endParaRPr lang="es-PE"/>
            </a:p>
          </p:txBody>
        </p:sp>
        <p:sp>
          <p:nvSpPr>
            <p:cNvPr id="709" name="Text 321">
              <a:extLst>
                <a:ext uri="{FF2B5EF4-FFF2-40B4-BE49-F238E27FC236}">
                  <a16:creationId xmlns:a16="http://schemas.microsoft.com/office/drawing/2014/main" id="{A3141EF7-0723-2259-4115-5B83D27529B1}"/>
                </a:ext>
              </a:extLst>
            </p:cNvPr>
            <p:cNvSpPr txBox="1"/>
            <p:nvPr/>
          </p:nvSpPr>
          <p:spPr>
            <a:xfrm>
              <a:off x="9889391" y="5522976"/>
              <a:ext cx="81835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26%</a:t>
              </a:r>
            </a:p>
            <a:p>
              <a:pPr marL="0" indent="0" algn="ctr">
                <a:lnSpc>
                  <a:spcPct val="100000"/>
                </a:lnSpc>
                <a:buNone/>
              </a:pPr>
              <a:r>
                <a:rPr lang="en-US" sz="500">
                  <a:solidFill>
                    <a:srgbClr val="6B7563"/>
                  </a:solidFill>
                  <a:latin typeface="Calibri" pitchFamily="34" charset="0"/>
                </a:rPr>
                <a:t>(S/ 2.8M)</a:t>
              </a:r>
              <a:endParaRPr lang="en-US" sz="500"/>
            </a:p>
          </p:txBody>
        </p:sp>
        <p:sp>
          <p:nvSpPr>
            <p:cNvPr id="711" name="Shape 322">
              <a:extLst>
                <a:ext uri="{FF2B5EF4-FFF2-40B4-BE49-F238E27FC236}">
                  <a16:creationId xmlns:a16="http://schemas.microsoft.com/office/drawing/2014/main" id="{31462ADC-6A74-89BA-7EFF-BEB62D1ABD9D}"/>
                </a:ext>
              </a:extLst>
            </p:cNvPr>
            <p:cNvSpPr/>
            <p:nvPr/>
          </p:nvSpPr>
          <p:spPr>
            <a:xfrm>
              <a:off x="9880092" y="5897880"/>
              <a:ext cx="73152" cy="73152"/>
            </a:xfrm>
            <a:prstGeom prst="rect">
              <a:avLst/>
            </a:prstGeom>
            <a:solidFill>
              <a:srgbClr val="8A4B0A"/>
            </a:solidFill>
            <a:ln/>
          </p:spPr>
          <p:txBody>
            <a:bodyPr/>
            <a:lstStyle/>
            <a:p>
              <a:endParaRPr lang="es-PE"/>
            </a:p>
          </p:txBody>
        </p:sp>
        <p:sp>
          <p:nvSpPr>
            <p:cNvPr id="713" name="Text 323">
              <a:extLst>
                <a:ext uri="{FF2B5EF4-FFF2-40B4-BE49-F238E27FC236}">
                  <a16:creationId xmlns:a16="http://schemas.microsoft.com/office/drawing/2014/main" id="{78545517-165A-E754-2401-B6C5CB075410}"/>
                </a:ext>
              </a:extLst>
            </p:cNvPr>
            <p:cNvSpPr txBox="1"/>
            <p:nvPr/>
          </p:nvSpPr>
          <p:spPr>
            <a:xfrm>
              <a:off x="998067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715" name="Shape 324">
              <a:extLst>
                <a:ext uri="{FF2B5EF4-FFF2-40B4-BE49-F238E27FC236}">
                  <a16:creationId xmlns:a16="http://schemas.microsoft.com/office/drawing/2014/main" id="{9543047D-901B-5B7B-AA9A-10D07BE0926E}"/>
                </a:ext>
              </a:extLst>
            </p:cNvPr>
            <p:cNvSpPr/>
            <p:nvPr/>
          </p:nvSpPr>
          <p:spPr>
            <a:xfrm>
              <a:off x="10707743" y="5696712"/>
              <a:ext cx="722257" cy="118872"/>
            </a:xfrm>
            <a:prstGeom prst="rect">
              <a:avLst/>
            </a:prstGeom>
            <a:solidFill>
              <a:srgbClr val="C0392B"/>
            </a:solidFill>
            <a:ln/>
          </p:spPr>
          <p:txBody>
            <a:bodyPr/>
            <a:lstStyle/>
            <a:p>
              <a:endParaRPr lang="es-PE"/>
            </a:p>
          </p:txBody>
        </p:sp>
        <p:sp>
          <p:nvSpPr>
            <p:cNvPr id="717" name="Text 325">
              <a:extLst>
                <a:ext uri="{FF2B5EF4-FFF2-40B4-BE49-F238E27FC236}">
                  <a16:creationId xmlns:a16="http://schemas.microsoft.com/office/drawing/2014/main" id="{1EBFB87C-F01F-592C-07DE-C2165247A372}"/>
                </a:ext>
              </a:extLst>
            </p:cNvPr>
            <p:cNvSpPr txBox="1"/>
            <p:nvPr/>
          </p:nvSpPr>
          <p:spPr>
            <a:xfrm>
              <a:off x="10707743" y="5522976"/>
              <a:ext cx="722257"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23%</a:t>
              </a:r>
            </a:p>
            <a:p>
              <a:pPr marL="0" indent="0" algn="ctr">
                <a:lnSpc>
                  <a:spcPct val="100000"/>
                </a:lnSpc>
                <a:buNone/>
              </a:pPr>
              <a:r>
                <a:rPr lang="en-US" sz="500">
                  <a:solidFill>
                    <a:srgbClr val="6B7563"/>
                  </a:solidFill>
                  <a:latin typeface="Calibri" pitchFamily="34" charset="0"/>
                </a:rPr>
                <a:t>(S/ 2.5M)</a:t>
              </a:r>
              <a:endParaRPr lang="en-US" sz="500"/>
            </a:p>
          </p:txBody>
        </p:sp>
        <p:sp>
          <p:nvSpPr>
            <p:cNvPr id="719" name="Shape 326">
              <a:extLst>
                <a:ext uri="{FF2B5EF4-FFF2-40B4-BE49-F238E27FC236}">
                  <a16:creationId xmlns:a16="http://schemas.microsoft.com/office/drawing/2014/main" id="{1B9C174C-E7C8-0492-CB22-A44546FE99DE}"/>
                </a:ext>
              </a:extLst>
            </p:cNvPr>
            <p:cNvSpPr/>
            <p:nvPr/>
          </p:nvSpPr>
          <p:spPr>
            <a:xfrm>
              <a:off x="10655046" y="5897880"/>
              <a:ext cx="73152" cy="73152"/>
            </a:xfrm>
            <a:prstGeom prst="rect">
              <a:avLst/>
            </a:prstGeom>
            <a:solidFill>
              <a:srgbClr val="C0392B"/>
            </a:solidFill>
            <a:ln/>
          </p:spPr>
          <p:txBody>
            <a:bodyPr/>
            <a:lstStyle/>
            <a:p>
              <a:endParaRPr lang="es-PE"/>
            </a:p>
          </p:txBody>
        </p:sp>
        <p:sp>
          <p:nvSpPr>
            <p:cNvPr id="721" name="Text 327">
              <a:extLst>
                <a:ext uri="{FF2B5EF4-FFF2-40B4-BE49-F238E27FC236}">
                  <a16:creationId xmlns:a16="http://schemas.microsoft.com/office/drawing/2014/main" id="{D15EEA72-DF49-8FBC-59DC-BC40E8857B44}"/>
                </a:ext>
              </a:extLst>
            </p:cNvPr>
            <p:cNvSpPr txBox="1"/>
            <p:nvPr/>
          </p:nvSpPr>
          <p:spPr>
            <a:xfrm>
              <a:off x="1075563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grpSp>
    </p:spTree>
    <p:extLst>
      <p:ext uri="{BB962C8B-B14F-4D97-AF65-F5344CB8AC3E}">
        <p14:creationId xmlns:p14="http://schemas.microsoft.com/office/powerpoint/2010/main" val="298823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A3BD-1E78-9E98-0536-78F5159448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4D1BE9-98EC-51FF-1B6C-E75DEAD3AD85}"/>
              </a:ext>
            </a:extLst>
          </p:cNvPr>
          <p:cNvSpPr txBox="1"/>
          <p:nvPr/>
        </p:nvSpPr>
        <p:spPr>
          <a:xfrm>
            <a:off x="658368" y="329184"/>
            <a:ext cx="11951427" cy="146194"/>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t>
            </a:r>
            <a:r>
              <a:rPr lang="es-ES" sz="950" b="1" i="0">
                <a:solidFill>
                  <a:srgbClr val="13807B"/>
                </a:solidFill>
                <a:latin typeface="Arial"/>
              </a:rPr>
              <a:t>OS CON DEUDA</a:t>
            </a:r>
            <a:r>
              <a:rPr sz="950" b="1" i="0">
                <a:solidFill>
                  <a:srgbClr val="13807B"/>
                </a:solidFill>
                <a:latin typeface="Arial"/>
              </a:rPr>
              <a:t>· </a:t>
            </a:r>
            <a:r>
              <a:rPr lang="es-ES" sz="950" b="1">
                <a:solidFill>
                  <a:srgbClr val="13807B"/>
                </a:solidFill>
                <a:latin typeface="Arial"/>
              </a:rPr>
              <a:t>2</a:t>
            </a:r>
            <a:r>
              <a:rPr lang="es-ES" sz="950" b="1" i="0">
                <a:solidFill>
                  <a:srgbClr val="13807B"/>
                </a:solidFill>
                <a:latin typeface="Arial"/>
              </a:rPr>
              <a:t> DE 2</a:t>
            </a:r>
            <a:endParaRPr sz="950" b="1" i="0">
              <a:solidFill>
                <a:srgbClr val="13807B"/>
              </a:solidFill>
              <a:latin typeface="Arial"/>
            </a:endParaRPr>
          </a:p>
        </p:txBody>
      </p:sp>
      <p:sp>
        <p:nvSpPr>
          <p:cNvPr id="3" name="TextBox 2">
            <a:extLst>
              <a:ext uri="{FF2B5EF4-FFF2-40B4-BE49-F238E27FC236}">
                <a16:creationId xmlns:a16="http://schemas.microsoft.com/office/drawing/2014/main" id="{DFF9EAA3-7983-69FA-0847-F7E9573993DD}"/>
              </a:ext>
            </a:extLst>
          </p:cNvPr>
          <p:cNvSpPr txBox="1"/>
          <p:nvPr/>
        </p:nvSpPr>
        <p:spPr>
          <a:xfrm>
            <a:off x="658368" y="566928"/>
            <a:ext cx="13750564" cy="301621"/>
          </a:xfrm>
          <a:prstGeom prst="rect">
            <a:avLst/>
          </a:prstGeom>
          <a:noFill/>
        </p:spPr>
        <p:txBody>
          <a:bodyPr wrap="square" lIns="0" tIns="0" rIns="0" bIns="0" anchor="t">
            <a:spAutoFit/>
          </a:bodyPr>
          <a:lstStyle/>
          <a:p>
            <a:pPr algn="l">
              <a:lnSpc>
                <a:spcPct val="98000"/>
              </a:lnSpc>
            </a:pPr>
            <a:r>
              <a:rPr lang="es-ES" sz="2000" b="1" i="0">
                <a:solidFill>
                  <a:srgbClr val="0B2E2C"/>
                </a:solidFill>
                <a:latin typeface="Arial"/>
              </a:rPr>
              <a:t>Tres segmentos donde el share se gana o se pierde</a:t>
            </a:r>
          </a:p>
        </p:txBody>
      </p:sp>
      <p:cxnSp>
        <p:nvCxnSpPr>
          <p:cNvPr id="4" name="Connector 3">
            <a:extLst>
              <a:ext uri="{FF2B5EF4-FFF2-40B4-BE49-F238E27FC236}">
                <a16:creationId xmlns:a16="http://schemas.microsoft.com/office/drawing/2014/main" id="{35CFDF8E-8BCA-4F02-F8A6-6CC8EFF6EC40}"/>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a:extLst>
              <a:ext uri="{FF2B5EF4-FFF2-40B4-BE49-F238E27FC236}">
                <a16:creationId xmlns:a16="http://schemas.microsoft.com/office/drawing/2014/main" id="{5294C39D-C01B-225E-CFDE-8B99938107BE}"/>
              </a:ext>
            </a:extLst>
          </p:cNvPr>
          <p:cNvPicPr>
            <a:picLocks noChangeAspect="1"/>
          </p:cNvPicPr>
          <p:nvPr/>
        </p:nvPicPr>
        <p:blipFill>
          <a:blip r:embed="rId2"/>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928C9BED-4C93-92D1-F1C8-13346520B58E}"/>
              </a:ext>
            </a:extLst>
          </p:cNvPr>
          <p:cNvPicPr>
            <a:picLocks noChangeAspect="1"/>
          </p:cNvPicPr>
          <p:nvPr/>
        </p:nvPicPr>
        <p:blipFill>
          <a:blip r:embed="rId3"/>
          <a:stretch>
            <a:fillRect/>
          </a:stretch>
        </p:blipFill>
        <p:spPr>
          <a:xfrm>
            <a:off x="14725019" y="109555"/>
            <a:ext cx="1272511" cy="717296"/>
          </a:xfrm>
          <a:prstGeom prst="rect">
            <a:avLst/>
          </a:prstGeom>
        </p:spPr>
      </p:pic>
      <p:grpSp>
        <p:nvGrpSpPr>
          <p:cNvPr id="1423" name="Grupo 1422">
            <a:extLst>
              <a:ext uri="{FF2B5EF4-FFF2-40B4-BE49-F238E27FC236}">
                <a16:creationId xmlns:a16="http://schemas.microsoft.com/office/drawing/2014/main" id="{B59314C2-BBA2-86FD-C053-DBE6CEEB3274}"/>
              </a:ext>
            </a:extLst>
          </p:cNvPr>
          <p:cNvGrpSpPr/>
          <p:nvPr/>
        </p:nvGrpSpPr>
        <p:grpSpPr>
          <a:xfrm>
            <a:off x="321733" y="1524010"/>
            <a:ext cx="15675797" cy="7510430"/>
            <a:chOff x="320040" y="1078992"/>
            <a:chExt cx="11219688" cy="5760720"/>
          </a:xfrm>
        </p:grpSpPr>
        <p:sp>
          <p:nvSpPr>
            <p:cNvPr id="1424" name="Shape 5">
              <a:extLst>
                <a:ext uri="{FF2B5EF4-FFF2-40B4-BE49-F238E27FC236}">
                  <a16:creationId xmlns:a16="http://schemas.microsoft.com/office/drawing/2014/main" id="{0661F524-B92D-6546-6F5A-D549E04D352A}"/>
                </a:ext>
              </a:extLst>
            </p:cNvPr>
            <p:cNvSpPr/>
            <p:nvPr/>
          </p:nvSpPr>
          <p:spPr>
            <a:xfrm>
              <a:off x="1508760" y="1078992"/>
              <a:ext cx="3264408" cy="566928"/>
            </a:xfrm>
            <a:prstGeom prst="roundRect">
              <a:avLst>
                <a:gd name="adj" fmla="val 11290"/>
              </a:avLst>
            </a:prstGeom>
            <a:solidFill>
              <a:srgbClr val="3E4C59"/>
            </a:solidFill>
            <a:ln/>
          </p:spPr>
          <p:txBody>
            <a:bodyPr/>
            <a:lstStyle/>
            <a:p>
              <a:endParaRPr lang="es-PE"/>
            </a:p>
          </p:txBody>
        </p:sp>
        <p:sp>
          <p:nvSpPr>
            <p:cNvPr id="1425" name="Shape 6">
              <a:extLst>
                <a:ext uri="{FF2B5EF4-FFF2-40B4-BE49-F238E27FC236}">
                  <a16:creationId xmlns:a16="http://schemas.microsoft.com/office/drawing/2014/main" id="{A27AC527-86AE-7E59-345A-C02AF22ED04C}"/>
                </a:ext>
              </a:extLst>
            </p:cNvPr>
            <p:cNvSpPr/>
            <p:nvPr/>
          </p:nvSpPr>
          <p:spPr>
            <a:xfrm>
              <a:off x="1627632" y="1197864"/>
              <a:ext cx="329184" cy="329184"/>
            </a:xfrm>
            <a:prstGeom prst="ellipse">
              <a:avLst/>
            </a:prstGeom>
            <a:solidFill>
              <a:srgbClr val="FFFFFF">
                <a:alpha val="85000"/>
              </a:srgbClr>
            </a:solidFill>
            <a:ln/>
          </p:spPr>
          <p:txBody>
            <a:bodyPr/>
            <a:lstStyle/>
            <a:p>
              <a:endParaRPr/>
            </a:p>
          </p:txBody>
        </p:sp>
        <p:pic>
          <p:nvPicPr>
            <p:cNvPr id="1426" name="Image 0" descr="/home/claude/voi_deck/icons/credit_card.png">
              <a:extLst>
                <a:ext uri="{FF2B5EF4-FFF2-40B4-BE49-F238E27FC236}">
                  <a16:creationId xmlns:a16="http://schemas.microsoft.com/office/drawing/2014/main" id="{3D67FF1A-4466-F1AE-34D8-F116C3ABAEE3}"/>
                </a:ext>
              </a:extLst>
            </p:cNvPr>
            <p:cNvPicPr>
              <a:picLocks noChangeAspect="1"/>
            </p:cNvPicPr>
            <p:nvPr/>
          </p:nvPicPr>
          <p:blipFill>
            <a:blip r:embed="rId4"/>
            <a:stretch>
              <a:fillRect/>
            </a:stretch>
          </p:blipFill>
          <p:spPr>
            <a:xfrm>
              <a:off x="1691640" y="1261872"/>
              <a:ext cx="201168" cy="201168"/>
            </a:xfrm>
            <a:prstGeom prst="rect">
              <a:avLst/>
            </a:prstGeom>
          </p:spPr>
        </p:pic>
        <p:sp>
          <p:nvSpPr>
            <p:cNvPr id="1427" name="Text 7">
              <a:extLst>
                <a:ext uri="{FF2B5EF4-FFF2-40B4-BE49-F238E27FC236}">
                  <a16:creationId xmlns:a16="http://schemas.microsoft.com/office/drawing/2014/main" id="{1E6B343A-D1D2-0A42-BDFA-9786A30A50F3}"/>
                </a:ext>
              </a:extLst>
            </p:cNvPr>
            <p:cNvSpPr txBox="1"/>
            <p:nvPr/>
          </p:nvSpPr>
          <p:spPr>
            <a:xfrm>
              <a:off x="203911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Maduro multibanco</a:t>
              </a:r>
              <a:endParaRPr lang="en-US" sz="1250"/>
            </a:p>
          </p:txBody>
        </p:sp>
        <p:sp>
          <p:nvSpPr>
            <p:cNvPr id="1428" name="Text 8">
              <a:extLst>
                <a:ext uri="{FF2B5EF4-FFF2-40B4-BE49-F238E27FC236}">
                  <a16:creationId xmlns:a16="http://schemas.microsoft.com/office/drawing/2014/main" id="{0DC85F8B-AE5C-6189-8D91-5A9B1A579767}"/>
                </a:ext>
              </a:extLst>
            </p:cNvPr>
            <p:cNvSpPr txBox="1"/>
            <p:nvPr/>
          </p:nvSpPr>
          <p:spPr>
            <a:xfrm>
              <a:off x="203911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4 · Con deuda</a:t>
              </a:r>
              <a:endParaRPr lang="en-US" sz="900"/>
            </a:p>
          </p:txBody>
        </p:sp>
        <p:sp>
          <p:nvSpPr>
            <p:cNvPr id="1429" name="Shape 9">
              <a:extLst>
                <a:ext uri="{FF2B5EF4-FFF2-40B4-BE49-F238E27FC236}">
                  <a16:creationId xmlns:a16="http://schemas.microsoft.com/office/drawing/2014/main" id="{DA461C9B-81A1-5C2A-0ED0-758A46655815}"/>
                </a:ext>
              </a:extLst>
            </p:cNvPr>
            <p:cNvSpPr/>
            <p:nvPr/>
          </p:nvSpPr>
          <p:spPr>
            <a:xfrm>
              <a:off x="4892040" y="1078992"/>
              <a:ext cx="3264408" cy="566928"/>
            </a:xfrm>
            <a:prstGeom prst="roundRect">
              <a:avLst>
                <a:gd name="adj" fmla="val 11290"/>
              </a:avLst>
            </a:prstGeom>
            <a:solidFill>
              <a:srgbClr val="D9861F"/>
            </a:solidFill>
            <a:ln/>
          </p:spPr>
          <p:txBody>
            <a:bodyPr/>
            <a:lstStyle/>
            <a:p>
              <a:endParaRPr lang="es-PE"/>
            </a:p>
          </p:txBody>
        </p:sp>
        <p:sp>
          <p:nvSpPr>
            <p:cNvPr id="1430" name="Shape 10">
              <a:extLst>
                <a:ext uri="{FF2B5EF4-FFF2-40B4-BE49-F238E27FC236}">
                  <a16:creationId xmlns:a16="http://schemas.microsoft.com/office/drawing/2014/main" id="{CB8C66AB-10EB-B511-2BD3-37D89A729CFD}"/>
                </a:ext>
              </a:extLst>
            </p:cNvPr>
            <p:cNvSpPr/>
            <p:nvPr/>
          </p:nvSpPr>
          <p:spPr>
            <a:xfrm>
              <a:off x="5010912" y="1197864"/>
              <a:ext cx="329184" cy="329184"/>
            </a:xfrm>
            <a:prstGeom prst="ellipse">
              <a:avLst/>
            </a:prstGeom>
            <a:solidFill>
              <a:srgbClr val="FFFFFF">
                <a:alpha val="85000"/>
              </a:srgbClr>
            </a:solidFill>
            <a:ln/>
          </p:spPr>
          <p:txBody>
            <a:bodyPr/>
            <a:lstStyle/>
            <a:p>
              <a:endParaRPr/>
            </a:p>
          </p:txBody>
        </p:sp>
        <p:pic>
          <p:nvPicPr>
            <p:cNvPr id="1431" name="Image 1" descr="/home/claude/voi_deck/icons/target.png">
              <a:extLst>
                <a:ext uri="{FF2B5EF4-FFF2-40B4-BE49-F238E27FC236}">
                  <a16:creationId xmlns:a16="http://schemas.microsoft.com/office/drawing/2014/main" id="{22C3BA09-F4A6-D4F8-A9DE-9A245F85F8D1}"/>
                </a:ext>
              </a:extLst>
            </p:cNvPr>
            <p:cNvPicPr>
              <a:picLocks noChangeAspect="1"/>
            </p:cNvPicPr>
            <p:nvPr/>
          </p:nvPicPr>
          <p:blipFill>
            <a:blip r:embed="rId5"/>
            <a:stretch>
              <a:fillRect/>
            </a:stretch>
          </p:blipFill>
          <p:spPr>
            <a:xfrm>
              <a:off x="5074920" y="1261872"/>
              <a:ext cx="201168" cy="201168"/>
            </a:xfrm>
            <a:prstGeom prst="rect">
              <a:avLst/>
            </a:prstGeom>
          </p:spPr>
        </p:pic>
        <p:sp>
          <p:nvSpPr>
            <p:cNvPr id="1432" name="Text 11">
              <a:extLst>
                <a:ext uri="{FF2B5EF4-FFF2-40B4-BE49-F238E27FC236}">
                  <a16:creationId xmlns:a16="http://schemas.microsoft.com/office/drawing/2014/main" id="{EB7FE33C-C094-625D-127A-DA78362F2F3C}"/>
                </a:ext>
              </a:extLst>
            </p:cNvPr>
            <p:cNvSpPr txBox="1"/>
            <p:nvPr/>
          </p:nvSpPr>
          <p:spPr>
            <a:xfrm>
              <a:off x="542239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Gran cuenta por conquistar</a:t>
              </a:r>
              <a:endParaRPr lang="en-US" sz="1250"/>
            </a:p>
          </p:txBody>
        </p:sp>
        <p:sp>
          <p:nvSpPr>
            <p:cNvPr id="1433" name="Text 12">
              <a:extLst>
                <a:ext uri="{FF2B5EF4-FFF2-40B4-BE49-F238E27FC236}">
                  <a16:creationId xmlns:a16="http://schemas.microsoft.com/office/drawing/2014/main" id="{2ECD84CD-2B7D-8FBB-D579-642EF6BD5FA1}"/>
                </a:ext>
              </a:extLst>
            </p:cNvPr>
            <p:cNvSpPr txBox="1"/>
            <p:nvPr/>
          </p:nvSpPr>
          <p:spPr>
            <a:xfrm>
              <a:off x="542239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5 · Con deuda</a:t>
              </a:r>
              <a:endParaRPr lang="en-US" sz="900"/>
            </a:p>
          </p:txBody>
        </p:sp>
        <p:sp>
          <p:nvSpPr>
            <p:cNvPr id="1434" name="Shape 13">
              <a:extLst>
                <a:ext uri="{FF2B5EF4-FFF2-40B4-BE49-F238E27FC236}">
                  <a16:creationId xmlns:a16="http://schemas.microsoft.com/office/drawing/2014/main" id="{01A9F6FE-695D-7F1D-A536-CB7639A1E170}"/>
                </a:ext>
              </a:extLst>
            </p:cNvPr>
            <p:cNvSpPr/>
            <p:nvPr/>
          </p:nvSpPr>
          <p:spPr>
            <a:xfrm>
              <a:off x="8275320" y="1078992"/>
              <a:ext cx="3264408" cy="566928"/>
            </a:xfrm>
            <a:prstGeom prst="roundRect">
              <a:avLst>
                <a:gd name="adj" fmla="val 11290"/>
              </a:avLst>
            </a:prstGeom>
            <a:solidFill>
              <a:srgbClr val="C0392B"/>
            </a:solidFill>
            <a:ln/>
          </p:spPr>
          <p:txBody>
            <a:bodyPr/>
            <a:lstStyle/>
            <a:p>
              <a:endParaRPr lang="es-PE"/>
            </a:p>
          </p:txBody>
        </p:sp>
        <p:sp>
          <p:nvSpPr>
            <p:cNvPr id="1435" name="Shape 14">
              <a:extLst>
                <a:ext uri="{FF2B5EF4-FFF2-40B4-BE49-F238E27FC236}">
                  <a16:creationId xmlns:a16="http://schemas.microsoft.com/office/drawing/2014/main" id="{EB9E7DCE-07A4-5B2B-FC1A-BD2947A19DD8}"/>
                </a:ext>
              </a:extLst>
            </p:cNvPr>
            <p:cNvSpPr/>
            <p:nvPr/>
          </p:nvSpPr>
          <p:spPr>
            <a:xfrm>
              <a:off x="8394192" y="1197864"/>
              <a:ext cx="329184" cy="329184"/>
            </a:xfrm>
            <a:prstGeom prst="ellipse">
              <a:avLst/>
            </a:prstGeom>
            <a:solidFill>
              <a:srgbClr val="FFFFFF">
                <a:alpha val="85000"/>
              </a:srgbClr>
            </a:solidFill>
            <a:ln/>
          </p:spPr>
          <p:txBody>
            <a:bodyPr/>
            <a:lstStyle/>
            <a:p>
              <a:endParaRPr/>
            </a:p>
          </p:txBody>
        </p:sp>
        <p:pic>
          <p:nvPicPr>
            <p:cNvPr id="1436" name="Image 2" descr="/home/claude/voi_deck/icons/refresh.png">
              <a:extLst>
                <a:ext uri="{FF2B5EF4-FFF2-40B4-BE49-F238E27FC236}">
                  <a16:creationId xmlns:a16="http://schemas.microsoft.com/office/drawing/2014/main" id="{E7F8FB3E-2445-6C40-5D8D-3B0E813125CC}"/>
                </a:ext>
              </a:extLst>
            </p:cNvPr>
            <p:cNvPicPr>
              <a:picLocks noChangeAspect="1"/>
            </p:cNvPicPr>
            <p:nvPr/>
          </p:nvPicPr>
          <p:blipFill>
            <a:blip r:embed="rId6"/>
            <a:stretch>
              <a:fillRect/>
            </a:stretch>
          </p:blipFill>
          <p:spPr>
            <a:xfrm>
              <a:off x="8458200" y="1261872"/>
              <a:ext cx="201168" cy="201168"/>
            </a:xfrm>
            <a:prstGeom prst="rect">
              <a:avLst/>
            </a:prstGeom>
          </p:spPr>
        </p:pic>
        <p:sp>
          <p:nvSpPr>
            <p:cNvPr id="1437" name="Text 15">
              <a:extLst>
                <a:ext uri="{FF2B5EF4-FFF2-40B4-BE49-F238E27FC236}">
                  <a16:creationId xmlns:a16="http://schemas.microsoft.com/office/drawing/2014/main" id="{3E91EE9B-7340-426F-1082-FBE86602B0DB}"/>
                </a:ext>
              </a:extLst>
            </p:cNvPr>
            <p:cNvSpPr txBox="1"/>
            <p:nvPr/>
          </p:nvSpPr>
          <p:spPr>
            <a:xfrm>
              <a:off x="880567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Cliente por reactivar</a:t>
              </a:r>
              <a:endParaRPr lang="en-US" sz="1250"/>
            </a:p>
          </p:txBody>
        </p:sp>
        <p:sp>
          <p:nvSpPr>
            <p:cNvPr id="1438" name="Text 16">
              <a:extLst>
                <a:ext uri="{FF2B5EF4-FFF2-40B4-BE49-F238E27FC236}">
                  <a16:creationId xmlns:a16="http://schemas.microsoft.com/office/drawing/2014/main" id="{D6B0AD04-057F-EEAC-99DC-4CE7887972E6}"/>
                </a:ext>
              </a:extLst>
            </p:cNvPr>
            <p:cNvSpPr txBox="1"/>
            <p:nvPr/>
          </p:nvSpPr>
          <p:spPr>
            <a:xfrm>
              <a:off x="880567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6 · Con deuda</a:t>
              </a:r>
              <a:endParaRPr lang="en-US" sz="900"/>
            </a:p>
          </p:txBody>
        </p:sp>
        <p:sp>
          <p:nvSpPr>
            <p:cNvPr id="1439" name="Shape 17">
              <a:extLst>
                <a:ext uri="{FF2B5EF4-FFF2-40B4-BE49-F238E27FC236}">
                  <a16:creationId xmlns:a16="http://schemas.microsoft.com/office/drawing/2014/main" id="{72A04E2A-46B8-27C5-264C-5ED8163C30A6}"/>
                </a:ext>
              </a:extLst>
            </p:cNvPr>
            <p:cNvSpPr/>
            <p:nvPr/>
          </p:nvSpPr>
          <p:spPr>
            <a:xfrm>
              <a:off x="320040" y="1696212"/>
              <a:ext cx="11219688" cy="566928"/>
            </a:xfrm>
            <a:prstGeom prst="roundRect">
              <a:avLst>
                <a:gd name="adj" fmla="val 9677"/>
              </a:avLst>
            </a:prstGeom>
            <a:solidFill>
              <a:srgbClr val="FFFFFF"/>
            </a:solidFill>
            <a:ln w="12700">
              <a:solidFill>
                <a:srgbClr val="E4E7E1"/>
              </a:solidFill>
              <a:prstDash val="solid"/>
            </a:ln>
          </p:spPr>
          <p:txBody>
            <a:bodyPr/>
            <a:lstStyle/>
            <a:p>
              <a:endParaRPr lang="es-PE"/>
            </a:p>
          </p:txBody>
        </p:sp>
        <p:sp>
          <p:nvSpPr>
            <p:cNvPr id="1440" name="Shape 18">
              <a:extLst>
                <a:ext uri="{FF2B5EF4-FFF2-40B4-BE49-F238E27FC236}">
                  <a16:creationId xmlns:a16="http://schemas.microsoft.com/office/drawing/2014/main" id="{0A455BB2-4ED2-890A-0F86-D0289D9D62BB}"/>
                </a:ext>
              </a:extLst>
            </p:cNvPr>
            <p:cNvSpPr/>
            <p:nvPr/>
          </p:nvSpPr>
          <p:spPr>
            <a:xfrm>
              <a:off x="374904" y="1833372"/>
              <a:ext cx="292608" cy="292608"/>
            </a:xfrm>
            <a:prstGeom prst="ellipse">
              <a:avLst/>
            </a:prstGeom>
            <a:solidFill>
              <a:srgbClr val="0E5D52"/>
            </a:solidFill>
            <a:ln/>
          </p:spPr>
          <p:txBody>
            <a:bodyPr/>
            <a:lstStyle/>
            <a:p>
              <a:endParaRPr lang="es-PE"/>
            </a:p>
          </p:txBody>
        </p:sp>
        <p:pic>
          <p:nvPicPr>
            <p:cNvPr id="1441" name="Image 3" descr="/home/claude/voi_deck/icons/list.png">
              <a:extLst>
                <a:ext uri="{FF2B5EF4-FFF2-40B4-BE49-F238E27FC236}">
                  <a16:creationId xmlns:a16="http://schemas.microsoft.com/office/drawing/2014/main" id="{717F0B30-1BAC-0D07-E059-DC93833BC55B}"/>
                </a:ext>
              </a:extLst>
            </p:cNvPr>
            <p:cNvPicPr>
              <a:picLocks noChangeAspect="1"/>
            </p:cNvPicPr>
            <p:nvPr/>
          </p:nvPicPr>
          <p:blipFill>
            <a:blip r:embed="rId7"/>
            <a:stretch>
              <a:fillRect/>
            </a:stretch>
          </p:blipFill>
          <p:spPr>
            <a:xfrm>
              <a:off x="448056" y="1906524"/>
              <a:ext cx="146304" cy="146304"/>
            </a:xfrm>
            <a:prstGeom prst="rect">
              <a:avLst/>
            </a:prstGeom>
          </p:spPr>
        </p:pic>
        <p:sp>
          <p:nvSpPr>
            <p:cNvPr id="1442" name="Text 19">
              <a:extLst>
                <a:ext uri="{FF2B5EF4-FFF2-40B4-BE49-F238E27FC236}">
                  <a16:creationId xmlns:a16="http://schemas.microsoft.com/office/drawing/2014/main" id="{265FAE67-AD6D-D669-D251-58AD6AF9354E}"/>
                </a:ext>
              </a:extLst>
            </p:cNvPr>
            <p:cNvSpPr txBox="1"/>
            <p:nvPr/>
          </p:nvSpPr>
          <p:spPr>
            <a:xfrm>
              <a:off x="704088" y="1696212"/>
              <a:ext cx="676656" cy="566928"/>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EN RESUMEN</a:t>
              </a:r>
              <a:endParaRPr lang="en-US" sz="750"/>
            </a:p>
          </p:txBody>
        </p:sp>
        <p:sp>
          <p:nvSpPr>
            <p:cNvPr id="1443" name="Shape 20">
              <a:extLst>
                <a:ext uri="{FF2B5EF4-FFF2-40B4-BE49-F238E27FC236}">
                  <a16:creationId xmlns:a16="http://schemas.microsoft.com/office/drawing/2014/main" id="{A2077A89-00CC-EE5B-EB2C-B90854606945}"/>
                </a:ext>
              </a:extLst>
            </p:cNvPr>
            <p:cNvSpPr/>
            <p:nvPr/>
          </p:nvSpPr>
          <p:spPr>
            <a:xfrm>
              <a:off x="1527048" y="1741932"/>
              <a:ext cx="3172968" cy="475488"/>
            </a:xfrm>
            <a:prstGeom prst="roundRect">
              <a:avLst>
                <a:gd name="adj" fmla="val 11538"/>
              </a:avLst>
            </a:prstGeom>
            <a:solidFill>
              <a:srgbClr val="E6F1FB"/>
            </a:solidFill>
            <a:ln w="9525">
              <a:solidFill>
                <a:srgbClr val="BFDCF4"/>
              </a:solidFill>
              <a:prstDash val="solid"/>
            </a:ln>
          </p:spPr>
          <p:txBody>
            <a:bodyPr/>
            <a:lstStyle/>
            <a:p>
              <a:endParaRPr/>
            </a:p>
          </p:txBody>
        </p:sp>
        <p:sp>
          <p:nvSpPr>
            <p:cNvPr id="1444" name="Text 21">
              <a:extLst>
                <a:ext uri="{FF2B5EF4-FFF2-40B4-BE49-F238E27FC236}">
                  <a16:creationId xmlns:a16="http://schemas.microsoft.com/office/drawing/2014/main" id="{E646FE38-BCCD-47B5-625F-9E08A584C7D9}"/>
                </a:ext>
              </a:extLst>
            </p:cNvPr>
            <p:cNvSpPr txBox="1"/>
            <p:nvPr/>
          </p:nvSpPr>
          <p:spPr>
            <a:xfrm>
              <a:off x="163677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Empresas más antiguas y diversificadas en bancos. Menor riesgo, pero con rentabilidad moderada.</a:t>
              </a:r>
              <a:endParaRPr lang="en-US" sz="950"/>
            </a:p>
          </p:txBody>
        </p:sp>
        <p:sp>
          <p:nvSpPr>
            <p:cNvPr id="1445" name="Shape 22">
              <a:extLst>
                <a:ext uri="{FF2B5EF4-FFF2-40B4-BE49-F238E27FC236}">
                  <a16:creationId xmlns:a16="http://schemas.microsoft.com/office/drawing/2014/main" id="{79FF5305-77F3-76D8-C594-42A2A9631B64}"/>
                </a:ext>
              </a:extLst>
            </p:cNvPr>
            <p:cNvSpPr/>
            <p:nvPr/>
          </p:nvSpPr>
          <p:spPr>
            <a:xfrm>
              <a:off x="4315968" y="1842516"/>
              <a:ext cx="274320" cy="274320"/>
            </a:xfrm>
            <a:prstGeom prst="ellipse">
              <a:avLst/>
            </a:prstGeom>
            <a:solidFill>
              <a:srgbClr val="FFFFFF"/>
            </a:solidFill>
            <a:ln/>
          </p:spPr>
          <p:txBody>
            <a:bodyPr/>
            <a:lstStyle/>
            <a:p>
              <a:endParaRPr/>
            </a:p>
          </p:txBody>
        </p:sp>
        <p:pic>
          <p:nvPicPr>
            <p:cNvPr id="1446" name="Image 4" descr="/home/claude/voi_deck/icons/check_teal.png">
              <a:extLst>
                <a:ext uri="{FF2B5EF4-FFF2-40B4-BE49-F238E27FC236}">
                  <a16:creationId xmlns:a16="http://schemas.microsoft.com/office/drawing/2014/main" id="{718B3305-C35F-5F2C-4688-63BD0FD801BB}"/>
                </a:ext>
              </a:extLst>
            </p:cNvPr>
            <p:cNvPicPr>
              <a:picLocks noChangeAspect="1"/>
            </p:cNvPicPr>
            <p:nvPr/>
          </p:nvPicPr>
          <p:blipFill>
            <a:blip r:embed="rId8"/>
            <a:stretch>
              <a:fillRect/>
            </a:stretch>
          </p:blipFill>
          <p:spPr>
            <a:xfrm>
              <a:off x="4389120" y="1915668"/>
              <a:ext cx="128016" cy="128016"/>
            </a:xfrm>
            <a:prstGeom prst="rect">
              <a:avLst/>
            </a:prstGeom>
          </p:spPr>
        </p:pic>
        <p:sp>
          <p:nvSpPr>
            <p:cNvPr id="1447" name="Shape 23">
              <a:extLst>
                <a:ext uri="{FF2B5EF4-FFF2-40B4-BE49-F238E27FC236}">
                  <a16:creationId xmlns:a16="http://schemas.microsoft.com/office/drawing/2014/main" id="{714F31AA-00B7-12C9-006B-91E19E957A26}"/>
                </a:ext>
              </a:extLst>
            </p:cNvPr>
            <p:cNvSpPr/>
            <p:nvPr/>
          </p:nvSpPr>
          <p:spPr>
            <a:xfrm>
              <a:off x="4910328" y="1741932"/>
              <a:ext cx="3172968" cy="475488"/>
            </a:xfrm>
            <a:prstGeom prst="roundRect">
              <a:avLst>
                <a:gd name="adj" fmla="val 11538"/>
              </a:avLst>
            </a:prstGeom>
            <a:solidFill>
              <a:srgbClr val="FAEEDA"/>
            </a:solidFill>
            <a:ln w="9525">
              <a:solidFill>
                <a:srgbClr val="F0D9AE"/>
              </a:solidFill>
              <a:prstDash val="solid"/>
            </a:ln>
          </p:spPr>
          <p:txBody>
            <a:bodyPr/>
            <a:lstStyle/>
            <a:p>
              <a:endParaRPr/>
            </a:p>
          </p:txBody>
        </p:sp>
        <p:sp>
          <p:nvSpPr>
            <p:cNvPr id="1448" name="Text 24">
              <a:extLst>
                <a:ext uri="{FF2B5EF4-FFF2-40B4-BE49-F238E27FC236}">
                  <a16:creationId xmlns:a16="http://schemas.microsoft.com/office/drawing/2014/main" id="{E14D023B-A07A-03C2-ED59-DCC990FA905F}"/>
                </a:ext>
              </a:extLst>
            </p:cNvPr>
            <p:cNvSpPr txBox="1"/>
            <p:nvPr/>
          </p:nvSpPr>
          <p:spPr>
            <a:xfrm>
              <a:off x="502005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Empresas de mayor tamaño y ventas. Aún con bajo riesgo y gran potencial de crecimiento.</a:t>
              </a:r>
              <a:endParaRPr lang="en-US" sz="950"/>
            </a:p>
          </p:txBody>
        </p:sp>
        <p:sp>
          <p:nvSpPr>
            <p:cNvPr id="1449" name="Shape 25">
              <a:extLst>
                <a:ext uri="{FF2B5EF4-FFF2-40B4-BE49-F238E27FC236}">
                  <a16:creationId xmlns:a16="http://schemas.microsoft.com/office/drawing/2014/main" id="{BEE5ED22-7B20-36EA-A217-7B5D86020A3D}"/>
                </a:ext>
              </a:extLst>
            </p:cNvPr>
            <p:cNvSpPr/>
            <p:nvPr/>
          </p:nvSpPr>
          <p:spPr>
            <a:xfrm>
              <a:off x="7699248" y="1842516"/>
              <a:ext cx="274320" cy="274320"/>
            </a:xfrm>
            <a:prstGeom prst="ellipse">
              <a:avLst/>
            </a:prstGeom>
            <a:solidFill>
              <a:srgbClr val="FFFFFF"/>
            </a:solidFill>
            <a:ln/>
          </p:spPr>
          <p:txBody>
            <a:bodyPr/>
            <a:lstStyle/>
            <a:p>
              <a:endParaRPr/>
            </a:p>
          </p:txBody>
        </p:sp>
        <p:pic>
          <p:nvPicPr>
            <p:cNvPr id="1450" name="Image 5" descr="/home/claude/voi_deck/icons/star_blue.png">
              <a:extLst>
                <a:ext uri="{FF2B5EF4-FFF2-40B4-BE49-F238E27FC236}">
                  <a16:creationId xmlns:a16="http://schemas.microsoft.com/office/drawing/2014/main" id="{FD3599D6-FEA4-7E74-3043-BE46D0881234}"/>
                </a:ext>
              </a:extLst>
            </p:cNvPr>
            <p:cNvPicPr>
              <a:picLocks noChangeAspect="1"/>
            </p:cNvPicPr>
            <p:nvPr/>
          </p:nvPicPr>
          <p:blipFill>
            <a:blip r:embed="rId9"/>
            <a:stretch>
              <a:fillRect/>
            </a:stretch>
          </p:blipFill>
          <p:spPr>
            <a:xfrm>
              <a:off x="7772400" y="1915668"/>
              <a:ext cx="128016" cy="128016"/>
            </a:xfrm>
            <a:prstGeom prst="rect">
              <a:avLst/>
            </a:prstGeom>
          </p:spPr>
        </p:pic>
        <p:sp>
          <p:nvSpPr>
            <p:cNvPr id="1451" name="Shape 26">
              <a:extLst>
                <a:ext uri="{FF2B5EF4-FFF2-40B4-BE49-F238E27FC236}">
                  <a16:creationId xmlns:a16="http://schemas.microsoft.com/office/drawing/2014/main" id="{3DF33042-EA71-45D0-8136-C3AC880771BD}"/>
                </a:ext>
              </a:extLst>
            </p:cNvPr>
            <p:cNvSpPr/>
            <p:nvPr/>
          </p:nvSpPr>
          <p:spPr>
            <a:xfrm>
              <a:off x="8293608" y="1741932"/>
              <a:ext cx="3172968" cy="475488"/>
            </a:xfrm>
            <a:prstGeom prst="roundRect">
              <a:avLst>
                <a:gd name="adj" fmla="val 11538"/>
              </a:avLst>
            </a:prstGeom>
            <a:solidFill>
              <a:srgbClr val="FCEBEB"/>
            </a:solidFill>
            <a:ln w="9525">
              <a:solidFill>
                <a:srgbClr val="F3C6C6"/>
              </a:solidFill>
              <a:prstDash val="solid"/>
            </a:ln>
          </p:spPr>
          <p:txBody>
            <a:bodyPr/>
            <a:lstStyle/>
            <a:p>
              <a:endParaRPr/>
            </a:p>
          </p:txBody>
        </p:sp>
        <p:sp>
          <p:nvSpPr>
            <p:cNvPr id="1452" name="Text 27">
              <a:extLst>
                <a:ext uri="{FF2B5EF4-FFF2-40B4-BE49-F238E27FC236}">
                  <a16:creationId xmlns:a16="http://schemas.microsoft.com/office/drawing/2014/main" id="{FF83C9CD-E072-5830-2AAC-CAC35589363B}"/>
                </a:ext>
              </a:extLst>
            </p:cNvPr>
            <p:cNvSpPr txBox="1"/>
            <p:nvPr/>
          </p:nvSpPr>
          <p:spPr>
            <a:xfrm>
              <a:off x="840333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Clientes que pagan más caro y casi no renuevan. Mayor riesgo de pérdida de relación.</a:t>
              </a:r>
              <a:endParaRPr lang="en-US" sz="950"/>
            </a:p>
          </p:txBody>
        </p:sp>
        <p:sp>
          <p:nvSpPr>
            <p:cNvPr id="1453" name="Shape 28">
              <a:extLst>
                <a:ext uri="{FF2B5EF4-FFF2-40B4-BE49-F238E27FC236}">
                  <a16:creationId xmlns:a16="http://schemas.microsoft.com/office/drawing/2014/main" id="{AF18E423-24AA-1B3C-39CC-9C730AF0BD51}"/>
                </a:ext>
              </a:extLst>
            </p:cNvPr>
            <p:cNvSpPr/>
            <p:nvPr/>
          </p:nvSpPr>
          <p:spPr>
            <a:xfrm>
              <a:off x="11082528" y="1842516"/>
              <a:ext cx="274320" cy="274320"/>
            </a:xfrm>
            <a:prstGeom prst="ellipse">
              <a:avLst/>
            </a:prstGeom>
            <a:solidFill>
              <a:srgbClr val="FFFFFF"/>
            </a:solidFill>
            <a:ln/>
          </p:spPr>
          <p:txBody>
            <a:bodyPr/>
            <a:lstStyle/>
            <a:p>
              <a:endParaRPr/>
            </a:p>
          </p:txBody>
        </p:sp>
        <p:pic>
          <p:nvPicPr>
            <p:cNvPr id="1454" name="Image 6" descr="/home/claude/voi_deck/icons/alert_red.png">
              <a:extLst>
                <a:ext uri="{FF2B5EF4-FFF2-40B4-BE49-F238E27FC236}">
                  <a16:creationId xmlns:a16="http://schemas.microsoft.com/office/drawing/2014/main" id="{7ADBCC6A-20DF-FB56-8BF3-C3CA3AEAE16D}"/>
                </a:ext>
              </a:extLst>
            </p:cNvPr>
            <p:cNvPicPr>
              <a:picLocks noChangeAspect="1"/>
            </p:cNvPicPr>
            <p:nvPr/>
          </p:nvPicPr>
          <p:blipFill>
            <a:blip r:embed="rId10"/>
            <a:stretch>
              <a:fillRect/>
            </a:stretch>
          </p:blipFill>
          <p:spPr>
            <a:xfrm>
              <a:off x="11155680" y="1915668"/>
              <a:ext cx="128016" cy="128016"/>
            </a:xfrm>
            <a:prstGeom prst="rect">
              <a:avLst/>
            </a:prstGeom>
          </p:spPr>
        </p:pic>
        <p:sp>
          <p:nvSpPr>
            <p:cNvPr id="1455" name="Shape 29">
              <a:extLst>
                <a:ext uri="{FF2B5EF4-FFF2-40B4-BE49-F238E27FC236}">
                  <a16:creationId xmlns:a16="http://schemas.microsoft.com/office/drawing/2014/main" id="{F0A7000B-B7A8-EC84-7B4B-9A640CC1806F}"/>
                </a:ext>
              </a:extLst>
            </p:cNvPr>
            <p:cNvSpPr/>
            <p:nvPr/>
          </p:nvSpPr>
          <p:spPr>
            <a:xfrm>
              <a:off x="320040" y="2313432"/>
              <a:ext cx="11219688" cy="457200"/>
            </a:xfrm>
            <a:prstGeom prst="roundRect">
              <a:avLst>
                <a:gd name="adj" fmla="val 12000"/>
              </a:avLst>
            </a:prstGeom>
            <a:solidFill>
              <a:srgbClr val="FFFFFF"/>
            </a:solidFill>
            <a:ln w="12700">
              <a:solidFill>
                <a:srgbClr val="E4E7E1"/>
              </a:solidFill>
              <a:prstDash val="solid"/>
            </a:ln>
          </p:spPr>
          <p:txBody>
            <a:bodyPr/>
            <a:lstStyle/>
            <a:p>
              <a:endParaRPr lang="es-PE"/>
            </a:p>
          </p:txBody>
        </p:sp>
        <p:sp>
          <p:nvSpPr>
            <p:cNvPr id="1456" name="Shape 30">
              <a:extLst>
                <a:ext uri="{FF2B5EF4-FFF2-40B4-BE49-F238E27FC236}">
                  <a16:creationId xmlns:a16="http://schemas.microsoft.com/office/drawing/2014/main" id="{1BCBAF72-A558-8AC8-6D17-F6809ED90E00}"/>
                </a:ext>
              </a:extLst>
            </p:cNvPr>
            <p:cNvSpPr/>
            <p:nvPr/>
          </p:nvSpPr>
          <p:spPr>
            <a:xfrm>
              <a:off x="374904" y="2395728"/>
              <a:ext cx="292608" cy="292608"/>
            </a:xfrm>
            <a:prstGeom prst="ellipse">
              <a:avLst/>
            </a:prstGeom>
            <a:solidFill>
              <a:srgbClr val="0E5D52"/>
            </a:solidFill>
            <a:ln/>
          </p:spPr>
          <p:txBody>
            <a:bodyPr/>
            <a:lstStyle/>
            <a:p>
              <a:endParaRPr lang="es-PE"/>
            </a:p>
          </p:txBody>
        </p:sp>
        <p:pic>
          <p:nvPicPr>
            <p:cNvPr id="1457" name="Image 7" descr="/home/claude/voi_deck/icons/dollar.png">
              <a:extLst>
                <a:ext uri="{FF2B5EF4-FFF2-40B4-BE49-F238E27FC236}">
                  <a16:creationId xmlns:a16="http://schemas.microsoft.com/office/drawing/2014/main" id="{236340F5-9374-1ADD-9C9E-47DFDC1FC2F0}"/>
                </a:ext>
              </a:extLst>
            </p:cNvPr>
            <p:cNvPicPr>
              <a:picLocks noChangeAspect="1"/>
            </p:cNvPicPr>
            <p:nvPr/>
          </p:nvPicPr>
          <p:blipFill>
            <a:blip r:embed="rId11"/>
            <a:stretch>
              <a:fillRect/>
            </a:stretch>
          </p:blipFill>
          <p:spPr>
            <a:xfrm>
              <a:off x="448056" y="2468880"/>
              <a:ext cx="146304" cy="146304"/>
            </a:xfrm>
            <a:prstGeom prst="rect">
              <a:avLst/>
            </a:prstGeom>
          </p:spPr>
        </p:pic>
        <p:sp>
          <p:nvSpPr>
            <p:cNvPr id="1458" name="Text 31">
              <a:extLst>
                <a:ext uri="{FF2B5EF4-FFF2-40B4-BE49-F238E27FC236}">
                  <a16:creationId xmlns:a16="http://schemas.microsoft.com/office/drawing/2014/main" id="{7594F0B3-AB35-5E7B-5812-96BDD88928CF}"/>
                </a:ext>
              </a:extLst>
            </p:cNvPr>
            <p:cNvSpPr txBox="1"/>
            <p:nvPr/>
          </p:nvSpPr>
          <p:spPr>
            <a:xfrm>
              <a:off x="704088" y="2313432"/>
              <a:ext cx="676656" cy="457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RENTABILIDAD Y RELACIÓN</a:t>
              </a:r>
              <a:endParaRPr lang="en-US" sz="750"/>
            </a:p>
          </p:txBody>
        </p:sp>
        <p:sp>
          <p:nvSpPr>
            <p:cNvPr id="1459" name="Text 32">
              <a:extLst>
                <a:ext uri="{FF2B5EF4-FFF2-40B4-BE49-F238E27FC236}">
                  <a16:creationId xmlns:a16="http://schemas.microsoft.com/office/drawing/2014/main" id="{4E595352-B11E-E5CA-32AC-DFC25132F25C}"/>
                </a:ext>
              </a:extLst>
            </p:cNvPr>
            <p:cNvSpPr txBox="1"/>
            <p:nvPr/>
          </p:nvSpPr>
          <p:spPr>
            <a:xfrm>
              <a:off x="156362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460" name="Text 33">
              <a:extLst>
                <a:ext uri="{FF2B5EF4-FFF2-40B4-BE49-F238E27FC236}">
                  <a16:creationId xmlns:a16="http://schemas.microsoft.com/office/drawing/2014/main" id="{D0F8C32B-A3F5-6D70-30C4-9C477A654234}"/>
                </a:ext>
              </a:extLst>
            </p:cNvPr>
            <p:cNvSpPr txBox="1"/>
            <p:nvPr/>
          </p:nvSpPr>
          <p:spPr>
            <a:xfrm>
              <a:off x="156362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17.3%</a:t>
              </a:r>
              <a:endParaRPr lang="en-US" sz="1150"/>
            </a:p>
          </p:txBody>
        </p:sp>
        <p:sp>
          <p:nvSpPr>
            <p:cNvPr id="1461" name="Text 34">
              <a:extLst>
                <a:ext uri="{FF2B5EF4-FFF2-40B4-BE49-F238E27FC236}">
                  <a16:creationId xmlns:a16="http://schemas.microsoft.com/office/drawing/2014/main" id="{F0305B9E-EE9E-5975-087D-997C2F0C37CA}"/>
                </a:ext>
              </a:extLst>
            </p:cNvPr>
            <p:cNvSpPr txBox="1"/>
            <p:nvPr/>
          </p:nvSpPr>
          <p:spPr>
            <a:xfrm>
              <a:off x="260604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462" name="Text 35">
              <a:extLst>
                <a:ext uri="{FF2B5EF4-FFF2-40B4-BE49-F238E27FC236}">
                  <a16:creationId xmlns:a16="http://schemas.microsoft.com/office/drawing/2014/main" id="{C2870329-7A79-86E6-5BD6-087B10AB7C1F}"/>
                </a:ext>
              </a:extLst>
            </p:cNvPr>
            <p:cNvSpPr txBox="1"/>
            <p:nvPr/>
          </p:nvSpPr>
          <p:spPr>
            <a:xfrm>
              <a:off x="260604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20.3%</a:t>
              </a:r>
              <a:endParaRPr lang="en-US" sz="1150"/>
            </a:p>
          </p:txBody>
        </p:sp>
        <p:sp>
          <p:nvSpPr>
            <p:cNvPr id="1463" name="Text 36">
              <a:extLst>
                <a:ext uri="{FF2B5EF4-FFF2-40B4-BE49-F238E27FC236}">
                  <a16:creationId xmlns:a16="http://schemas.microsoft.com/office/drawing/2014/main" id="{CAFB748F-320E-151E-23C1-C471CF271DAF}"/>
                </a:ext>
              </a:extLst>
            </p:cNvPr>
            <p:cNvSpPr txBox="1"/>
            <p:nvPr/>
          </p:nvSpPr>
          <p:spPr>
            <a:xfrm>
              <a:off x="364845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464" name="Text 37">
              <a:extLst>
                <a:ext uri="{FF2B5EF4-FFF2-40B4-BE49-F238E27FC236}">
                  <a16:creationId xmlns:a16="http://schemas.microsoft.com/office/drawing/2014/main" id="{914BC00F-BF6E-FB68-6291-F544E08E6C70}"/>
                </a:ext>
              </a:extLst>
            </p:cNvPr>
            <p:cNvSpPr txBox="1"/>
            <p:nvPr/>
          </p:nvSpPr>
          <p:spPr>
            <a:xfrm>
              <a:off x="364845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322</a:t>
              </a:r>
              <a:endParaRPr lang="en-US" sz="1150"/>
            </a:p>
          </p:txBody>
        </p:sp>
        <p:sp>
          <p:nvSpPr>
            <p:cNvPr id="1465" name="Text 38">
              <a:extLst>
                <a:ext uri="{FF2B5EF4-FFF2-40B4-BE49-F238E27FC236}">
                  <a16:creationId xmlns:a16="http://schemas.microsoft.com/office/drawing/2014/main" id="{F870A019-43D6-8076-6C9A-D497B5B5A16C}"/>
                </a:ext>
              </a:extLst>
            </p:cNvPr>
            <p:cNvSpPr txBox="1"/>
            <p:nvPr/>
          </p:nvSpPr>
          <p:spPr>
            <a:xfrm>
              <a:off x="494690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466" name="Text 39">
              <a:extLst>
                <a:ext uri="{FF2B5EF4-FFF2-40B4-BE49-F238E27FC236}">
                  <a16:creationId xmlns:a16="http://schemas.microsoft.com/office/drawing/2014/main" id="{9C735A5F-4DD9-7E7C-D9B4-52E6F625280D}"/>
                </a:ext>
              </a:extLst>
            </p:cNvPr>
            <p:cNvSpPr txBox="1"/>
            <p:nvPr/>
          </p:nvSpPr>
          <p:spPr>
            <a:xfrm>
              <a:off x="494690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17.0%</a:t>
              </a:r>
              <a:endParaRPr lang="en-US" sz="1150"/>
            </a:p>
          </p:txBody>
        </p:sp>
        <p:sp>
          <p:nvSpPr>
            <p:cNvPr id="1467" name="Text 40">
              <a:extLst>
                <a:ext uri="{FF2B5EF4-FFF2-40B4-BE49-F238E27FC236}">
                  <a16:creationId xmlns:a16="http://schemas.microsoft.com/office/drawing/2014/main" id="{A43C42FB-8C33-A45E-16B6-194BAF7DE841}"/>
                </a:ext>
              </a:extLst>
            </p:cNvPr>
            <p:cNvSpPr txBox="1"/>
            <p:nvPr/>
          </p:nvSpPr>
          <p:spPr>
            <a:xfrm>
              <a:off x="598932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468" name="Text 41">
              <a:extLst>
                <a:ext uri="{FF2B5EF4-FFF2-40B4-BE49-F238E27FC236}">
                  <a16:creationId xmlns:a16="http://schemas.microsoft.com/office/drawing/2014/main" id="{08265C17-2C18-9605-CC07-C242711EFEAC}"/>
                </a:ext>
              </a:extLst>
            </p:cNvPr>
            <p:cNvSpPr txBox="1"/>
            <p:nvPr/>
          </p:nvSpPr>
          <p:spPr>
            <a:xfrm>
              <a:off x="598932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20.3%</a:t>
              </a:r>
              <a:endParaRPr lang="en-US" sz="1150"/>
            </a:p>
          </p:txBody>
        </p:sp>
        <p:sp>
          <p:nvSpPr>
            <p:cNvPr id="1469" name="Text 42">
              <a:extLst>
                <a:ext uri="{FF2B5EF4-FFF2-40B4-BE49-F238E27FC236}">
                  <a16:creationId xmlns:a16="http://schemas.microsoft.com/office/drawing/2014/main" id="{224A1BC0-C105-D9AC-6269-3CE8A790E34D}"/>
                </a:ext>
              </a:extLst>
            </p:cNvPr>
            <p:cNvSpPr txBox="1"/>
            <p:nvPr/>
          </p:nvSpPr>
          <p:spPr>
            <a:xfrm>
              <a:off x="703173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470" name="Text 43">
              <a:extLst>
                <a:ext uri="{FF2B5EF4-FFF2-40B4-BE49-F238E27FC236}">
                  <a16:creationId xmlns:a16="http://schemas.microsoft.com/office/drawing/2014/main" id="{944B3F7C-2C49-AD5B-8726-7EE06D3EB2BE}"/>
                </a:ext>
              </a:extLst>
            </p:cNvPr>
            <p:cNvSpPr txBox="1"/>
            <p:nvPr/>
          </p:nvSpPr>
          <p:spPr>
            <a:xfrm>
              <a:off x="703173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223</a:t>
              </a:r>
              <a:endParaRPr lang="en-US" sz="1150"/>
            </a:p>
          </p:txBody>
        </p:sp>
        <p:sp>
          <p:nvSpPr>
            <p:cNvPr id="1471" name="Text 44">
              <a:extLst>
                <a:ext uri="{FF2B5EF4-FFF2-40B4-BE49-F238E27FC236}">
                  <a16:creationId xmlns:a16="http://schemas.microsoft.com/office/drawing/2014/main" id="{0ECE85EF-AF6A-D2E0-46B9-16FAA43F3C31}"/>
                </a:ext>
              </a:extLst>
            </p:cNvPr>
            <p:cNvSpPr txBox="1"/>
            <p:nvPr/>
          </p:nvSpPr>
          <p:spPr>
            <a:xfrm>
              <a:off x="833018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472" name="Text 45">
              <a:extLst>
                <a:ext uri="{FF2B5EF4-FFF2-40B4-BE49-F238E27FC236}">
                  <a16:creationId xmlns:a16="http://schemas.microsoft.com/office/drawing/2014/main" id="{D2831AB5-A3B2-5D2A-12B5-322D5071C89F}"/>
                </a:ext>
              </a:extLst>
            </p:cNvPr>
            <p:cNvSpPr txBox="1"/>
            <p:nvPr/>
          </p:nvSpPr>
          <p:spPr>
            <a:xfrm>
              <a:off x="833018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18.9%</a:t>
              </a:r>
              <a:endParaRPr lang="en-US" sz="1150"/>
            </a:p>
          </p:txBody>
        </p:sp>
        <p:sp>
          <p:nvSpPr>
            <p:cNvPr id="1473" name="Text 46">
              <a:extLst>
                <a:ext uri="{FF2B5EF4-FFF2-40B4-BE49-F238E27FC236}">
                  <a16:creationId xmlns:a16="http://schemas.microsoft.com/office/drawing/2014/main" id="{F02800ED-1BBD-9D7E-E058-76BDA62EA697}"/>
                </a:ext>
              </a:extLst>
            </p:cNvPr>
            <p:cNvSpPr txBox="1"/>
            <p:nvPr/>
          </p:nvSpPr>
          <p:spPr>
            <a:xfrm>
              <a:off x="937260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474" name="Text 47">
              <a:extLst>
                <a:ext uri="{FF2B5EF4-FFF2-40B4-BE49-F238E27FC236}">
                  <a16:creationId xmlns:a16="http://schemas.microsoft.com/office/drawing/2014/main" id="{E8602F1D-3ACF-ADD2-CA6B-B73FE1A5CC3F}"/>
                </a:ext>
              </a:extLst>
            </p:cNvPr>
            <p:cNvSpPr txBox="1"/>
            <p:nvPr/>
          </p:nvSpPr>
          <p:spPr>
            <a:xfrm>
              <a:off x="937260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22.7%</a:t>
              </a:r>
              <a:endParaRPr lang="en-US" sz="1150"/>
            </a:p>
          </p:txBody>
        </p:sp>
        <p:sp>
          <p:nvSpPr>
            <p:cNvPr id="1475" name="Text 48">
              <a:extLst>
                <a:ext uri="{FF2B5EF4-FFF2-40B4-BE49-F238E27FC236}">
                  <a16:creationId xmlns:a16="http://schemas.microsoft.com/office/drawing/2014/main" id="{C64237CE-7D24-457C-6D0C-B4D9A9749AB0}"/>
                </a:ext>
              </a:extLst>
            </p:cNvPr>
            <p:cNvSpPr txBox="1"/>
            <p:nvPr/>
          </p:nvSpPr>
          <p:spPr>
            <a:xfrm>
              <a:off x="1041501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476" name="Text 49">
              <a:extLst>
                <a:ext uri="{FF2B5EF4-FFF2-40B4-BE49-F238E27FC236}">
                  <a16:creationId xmlns:a16="http://schemas.microsoft.com/office/drawing/2014/main" id="{B0E5AD00-C5D4-CE67-1A5B-D1F45E98EC44}"/>
                </a:ext>
              </a:extLst>
            </p:cNvPr>
            <p:cNvSpPr txBox="1"/>
            <p:nvPr/>
          </p:nvSpPr>
          <p:spPr>
            <a:xfrm>
              <a:off x="1041501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242</a:t>
              </a:r>
              <a:endParaRPr lang="en-US" sz="1150"/>
            </a:p>
          </p:txBody>
        </p:sp>
        <p:sp>
          <p:nvSpPr>
            <p:cNvPr id="1477" name="Shape 50">
              <a:extLst>
                <a:ext uri="{FF2B5EF4-FFF2-40B4-BE49-F238E27FC236}">
                  <a16:creationId xmlns:a16="http://schemas.microsoft.com/office/drawing/2014/main" id="{CE249D1E-99EC-8517-FA08-6892DDA83CD6}"/>
                </a:ext>
              </a:extLst>
            </p:cNvPr>
            <p:cNvSpPr/>
            <p:nvPr/>
          </p:nvSpPr>
          <p:spPr>
            <a:xfrm>
              <a:off x="320040" y="2820924"/>
              <a:ext cx="11219688" cy="457200"/>
            </a:xfrm>
            <a:prstGeom prst="roundRect">
              <a:avLst>
                <a:gd name="adj" fmla="val 12000"/>
              </a:avLst>
            </a:prstGeom>
            <a:solidFill>
              <a:srgbClr val="FFFFFF"/>
            </a:solidFill>
            <a:ln w="12700">
              <a:solidFill>
                <a:srgbClr val="E4E7E1"/>
              </a:solidFill>
              <a:prstDash val="solid"/>
            </a:ln>
          </p:spPr>
          <p:txBody>
            <a:bodyPr/>
            <a:lstStyle/>
            <a:p>
              <a:endParaRPr lang="es-PE"/>
            </a:p>
          </p:txBody>
        </p:sp>
        <p:sp>
          <p:nvSpPr>
            <p:cNvPr id="1478" name="Shape 51">
              <a:extLst>
                <a:ext uri="{FF2B5EF4-FFF2-40B4-BE49-F238E27FC236}">
                  <a16:creationId xmlns:a16="http://schemas.microsoft.com/office/drawing/2014/main" id="{8A00E439-591B-F3AF-716C-23AA1070B661}"/>
                </a:ext>
              </a:extLst>
            </p:cNvPr>
            <p:cNvSpPr/>
            <p:nvPr/>
          </p:nvSpPr>
          <p:spPr>
            <a:xfrm>
              <a:off x="374904" y="2903220"/>
              <a:ext cx="292608" cy="292608"/>
            </a:xfrm>
            <a:prstGeom prst="ellipse">
              <a:avLst/>
            </a:prstGeom>
            <a:solidFill>
              <a:srgbClr val="0E5D52"/>
            </a:solidFill>
            <a:ln/>
          </p:spPr>
          <p:txBody>
            <a:bodyPr/>
            <a:lstStyle/>
            <a:p>
              <a:endParaRPr lang="es-PE"/>
            </a:p>
          </p:txBody>
        </p:sp>
        <p:pic>
          <p:nvPicPr>
            <p:cNvPr id="1479" name="Image 8" descr="/home/claude/voi_deck/icons/bar_chart.png">
              <a:extLst>
                <a:ext uri="{FF2B5EF4-FFF2-40B4-BE49-F238E27FC236}">
                  <a16:creationId xmlns:a16="http://schemas.microsoft.com/office/drawing/2014/main" id="{A2149724-2D4A-CFF5-21FB-7285716A5248}"/>
                </a:ext>
              </a:extLst>
            </p:cNvPr>
            <p:cNvPicPr>
              <a:picLocks noChangeAspect="1"/>
            </p:cNvPicPr>
            <p:nvPr/>
          </p:nvPicPr>
          <p:blipFill>
            <a:blip r:embed="rId12"/>
            <a:stretch>
              <a:fillRect/>
            </a:stretch>
          </p:blipFill>
          <p:spPr>
            <a:xfrm>
              <a:off x="448056" y="2976372"/>
              <a:ext cx="146304" cy="146304"/>
            </a:xfrm>
            <a:prstGeom prst="rect">
              <a:avLst/>
            </a:prstGeom>
          </p:spPr>
        </p:pic>
        <p:sp>
          <p:nvSpPr>
            <p:cNvPr id="1480" name="Text 52">
              <a:extLst>
                <a:ext uri="{FF2B5EF4-FFF2-40B4-BE49-F238E27FC236}">
                  <a16:creationId xmlns:a16="http://schemas.microsoft.com/office/drawing/2014/main" id="{590C18DD-7D70-3732-D089-0B645ED84E73}"/>
                </a:ext>
              </a:extLst>
            </p:cNvPr>
            <p:cNvSpPr txBox="1"/>
            <p:nvPr/>
          </p:nvSpPr>
          <p:spPr>
            <a:xfrm>
              <a:off x="704088" y="2820924"/>
              <a:ext cx="676656" cy="457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TAMAÑO Y VALOR</a:t>
              </a:r>
              <a:endParaRPr lang="en-US" sz="750"/>
            </a:p>
          </p:txBody>
        </p:sp>
        <p:sp>
          <p:nvSpPr>
            <p:cNvPr id="1481" name="Text 53">
              <a:extLst>
                <a:ext uri="{FF2B5EF4-FFF2-40B4-BE49-F238E27FC236}">
                  <a16:creationId xmlns:a16="http://schemas.microsoft.com/office/drawing/2014/main" id="{98F2C5C6-0D1A-3013-84FB-B85ECB88B9F3}"/>
                </a:ext>
              </a:extLst>
            </p:cNvPr>
            <p:cNvSpPr txBox="1"/>
            <p:nvPr/>
          </p:nvSpPr>
          <p:spPr>
            <a:xfrm>
              <a:off x="156362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482" name="Text 54">
              <a:extLst>
                <a:ext uri="{FF2B5EF4-FFF2-40B4-BE49-F238E27FC236}">
                  <a16:creationId xmlns:a16="http://schemas.microsoft.com/office/drawing/2014/main" id="{FF3680FA-F7EE-2CD2-1112-F7C34848F8AB}"/>
                </a:ext>
              </a:extLst>
            </p:cNvPr>
            <p:cNvSpPr txBox="1"/>
            <p:nvPr/>
          </p:nvSpPr>
          <p:spPr>
            <a:xfrm>
              <a:off x="156362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153k</a:t>
              </a:r>
              <a:endParaRPr lang="en-US" sz="1150"/>
            </a:p>
          </p:txBody>
        </p:sp>
        <p:sp>
          <p:nvSpPr>
            <p:cNvPr id="1483" name="Text 55">
              <a:extLst>
                <a:ext uri="{FF2B5EF4-FFF2-40B4-BE49-F238E27FC236}">
                  <a16:creationId xmlns:a16="http://schemas.microsoft.com/office/drawing/2014/main" id="{7433461B-9CB2-AACC-3D18-F63BA8EF47A0}"/>
                </a:ext>
              </a:extLst>
            </p:cNvPr>
            <p:cNvSpPr txBox="1"/>
            <p:nvPr/>
          </p:nvSpPr>
          <p:spPr>
            <a:xfrm>
              <a:off x="260604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484" name="Text 56">
              <a:extLst>
                <a:ext uri="{FF2B5EF4-FFF2-40B4-BE49-F238E27FC236}">
                  <a16:creationId xmlns:a16="http://schemas.microsoft.com/office/drawing/2014/main" id="{8BC39ED9-54B4-1E5D-6768-5219A017FD23}"/>
                </a:ext>
              </a:extLst>
            </p:cNvPr>
            <p:cNvSpPr txBox="1"/>
            <p:nvPr/>
          </p:nvSpPr>
          <p:spPr>
            <a:xfrm>
              <a:off x="260604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711k</a:t>
              </a:r>
              <a:endParaRPr lang="en-US" sz="1150"/>
            </a:p>
          </p:txBody>
        </p:sp>
        <p:sp>
          <p:nvSpPr>
            <p:cNvPr id="1485" name="Text 57">
              <a:extLst>
                <a:ext uri="{FF2B5EF4-FFF2-40B4-BE49-F238E27FC236}">
                  <a16:creationId xmlns:a16="http://schemas.microsoft.com/office/drawing/2014/main" id="{3FB6C5E9-8910-5957-80BC-7D06CE5C98DF}"/>
                </a:ext>
              </a:extLst>
            </p:cNvPr>
            <p:cNvSpPr txBox="1"/>
            <p:nvPr/>
          </p:nvSpPr>
          <p:spPr>
            <a:xfrm>
              <a:off x="364845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486" name="Text 58">
              <a:extLst>
                <a:ext uri="{FF2B5EF4-FFF2-40B4-BE49-F238E27FC236}">
                  <a16:creationId xmlns:a16="http://schemas.microsoft.com/office/drawing/2014/main" id="{11B81E2E-1667-BB0D-2A6B-04EA849981AC}"/>
                </a:ext>
              </a:extLst>
            </p:cNvPr>
            <p:cNvSpPr txBox="1"/>
            <p:nvPr/>
          </p:nvSpPr>
          <p:spPr>
            <a:xfrm>
              <a:off x="364845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5k</a:t>
              </a:r>
              <a:endParaRPr lang="en-US" sz="1150"/>
            </a:p>
          </p:txBody>
        </p:sp>
        <p:sp>
          <p:nvSpPr>
            <p:cNvPr id="1487" name="Text 59">
              <a:extLst>
                <a:ext uri="{FF2B5EF4-FFF2-40B4-BE49-F238E27FC236}">
                  <a16:creationId xmlns:a16="http://schemas.microsoft.com/office/drawing/2014/main" id="{4710B201-E705-43E2-8340-85AECF099517}"/>
                </a:ext>
              </a:extLst>
            </p:cNvPr>
            <p:cNvSpPr txBox="1"/>
            <p:nvPr/>
          </p:nvSpPr>
          <p:spPr>
            <a:xfrm>
              <a:off x="494690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488" name="Text 60">
              <a:extLst>
                <a:ext uri="{FF2B5EF4-FFF2-40B4-BE49-F238E27FC236}">
                  <a16:creationId xmlns:a16="http://schemas.microsoft.com/office/drawing/2014/main" id="{4CC3D3AC-8392-195A-531A-2289599D5232}"/>
                </a:ext>
              </a:extLst>
            </p:cNvPr>
            <p:cNvSpPr txBox="1"/>
            <p:nvPr/>
          </p:nvSpPr>
          <p:spPr>
            <a:xfrm>
              <a:off x="494690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244k</a:t>
              </a:r>
              <a:endParaRPr lang="en-US" sz="1150"/>
            </a:p>
          </p:txBody>
        </p:sp>
        <p:sp>
          <p:nvSpPr>
            <p:cNvPr id="1489" name="Text 61">
              <a:extLst>
                <a:ext uri="{FF2B5EF4-FFF2-40B4-BE49-F238E27FC236}">
                  <a16:creationId xmlns:a16="http://schemas.microsoft.com/office/drawing/2014/main" id="{0E9A2ADC-7E4D-4FF0-7CA6-BA75FA3F18E4}"/>
                </a:ext>
              </a:extLst>
            </p:cNvPr>
            <p:cNvSpPr txBox="1"/>
            <p:nvPr/>
          </p:nvSpPr>
          <p:spPr>
            <a:xfrm>
              <a:off x="598932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490" name="Text 62">
              <a:extLst>
                <a:ext uri="{FF2B5EF4-FFF2-40B4-BE49-F238E27FC236}">
                  <a16:creationId xmlns:a16="http://schemas.microsoft.com/office/drawing/2014/main" id="{B29074DA-29B3-3809-A1D1-5506CBE6E788}"/>
                </a:ext>
              </a:extLst>
            </p:cNvPr>
            <p:cNvSpPr txBox="1"/>
            <p:nvPr/>
          </p:nvSpPr>
          <p:spPr>
            <a:xfrm>
              <a:off x="598932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2.8MM</a:t>
              </a:r>
              <a:endParaRPr lang="en-US" sz="1150"/>
            </a:p>
          </p:txBody>
        </p:sp>
        <p:sp>
          <p:nvSpPr>
            <p:cNvPr id="1491" name="Text 63">
              <a:extLst>
                <a:ext uri="{FF2B5EF4-FFF2-40B4-BE49-F238E27FC236}">
                  <a16:creationId xmlns:a16="http://schemas.microsoft.com/office/drawing/2014/main" id="{F25C4543-9EA3-D377-58EA-1DAF156399CC}"/>
                </a:ext>
              </a:extLst>
            </p:cNvPr>
            <p:cNvSpPr txBox="1"/>
            <p:nvPr/>
          </p:nvSpPr>
          <p:spPr>
            <a:xfrm>
              <a:off x="703173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492" name="Text 64">
              <a:extLst>
                <a:ext uri="{FF2B5EF4-FFF2-40B4-BE49-F238E27FC236}">
                  <a16:creationId xmlns:a16="http://schemas.microsoft.com/office/drawing/2014/main" id="{D9C53D01-E6C1-66F5-3C3F-C20097F8931E}"/>
                </a:ext>
              </a:extLst>
            </p:cNvPr>
            <p:cNvSpPr txBox="1"/>
            <p:nvPr/>
          </p:nvSpPr>
          <p:spPr>
            <a:xfrm>
              <a:off x="703173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7k</a:t>
              </a:r>
              <a:endParaRPr lang="en-US" sz="1150"/>
            </a:p>
          </p:txBody>
        </p:sp>
        <p:sp>
          <p:nvSpPr>
            <p:cNvPr id="1493" name="Text 65">
              <a:extLst>
                <a:ext uri="{FF2B5EF4-FFF2-40B4-BE49-F238E27FC236}">
                  <a16:creationId xmlns:a16="http://schemas.microsoft.com/office/drawing/2014/main" id="{E1B8D363-E3FB-CFCD-A3B1-9352B221A089}"/>
                </a:ext>
              </a:extLst>
            </p:cNvPr>
            <p:cNvSpPr txBox="1"/>
            <p:nvPr/>
          </p:nvSpPr>
          <p:spPr>
            <a:xfrm>
              <a:off x="833018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494" name="Text 66">
              <a:extLst>
                <a:ext uri="{FF2B5EF4-FFF2-40B4-BE49-F238E27FC236}">
                  <a16:creationId xmlns:a16="http://schemas.microsoft.com/office/drawing/2014/main" id="{0F1C5BF5-C57F-8E45-200C-666130684FD4}"/>
                </a:ext>
              </a:extLst>
            </p:cNvPr>
            <p:cNvSpPr txBox="1"/>
            <p:nvPr/>
          </p:nvSpPr>
          <p:spPr>
            <a:xfrm>
              <a:off x="833018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90k</a:t>
              </a:r>
              <a:endParaRPr lang="en-US" sz="1150"/>
            </a:p>
          </p:txBody>
        </p:sp>
        <p:sp>
          <p:nvSpPr>
            <p:cNvPr id="1495" name="Text 67">
              <a:extLst>
                <a:ext uri="{FF2B5EF4-FFF2-40B4-BE49-F238E27FC236}">
                  <a16:creationId xmlns:a16="http://schemas.microsoft.com/office/drawing/2014/main" id="{439880E8-82CC-86C1-1DB2-E42CB72CF825}"/>
                </a:ext>
              </a:extLst>
            </p:cNvPr>
            <p:cNvSpPr txBox="1"/>
            <p:nvPr/>
          </p:nvSpPr>
          <p:spPr>
            <a:xfrm>
              <a:off x="937260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496" name="Text 68">
              <a:extLst>
                <a:ext uri="{FF2B5EF4-FFF2-40B4-BE49-F238E27FC236}">
                  <a16:creationId xmlns:a16="http://schemas.microsoft.com/office/drawing/2014/main" id="{FADEB633-A474-475F-EFA0-4724CFD75F56}"/>
                </a:ext>
              </a:extLst>
            </p:cNvPr>
            <p:cNvSpPr txBox="1"/>
            <p:nvPr/>
          </p:nvSpPr>
          <p:spPr>
            <a:xfrm>
              <a:off x="937260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472k</a:t>
              </a:r>
              <a:endParaRPr lang="en-US" sz="1150"/>
            </a:p>
          </p:txBody>
        </p:sp>
        <p:sp>
          <p:nvSpPr>
            <p:cNvPr id="1497" name="Text 69">
              <a:extLst>
                <a:ext uri="{FF2B5EF4-FFF2-40B4-BE49-F238E27FC236}">
                  <a16:creationId xmlns:a16="http://schemas.microsoft.com/office/drawing/2014/main" id="{D443B1E0-D266-82B4-C791-4D9F8DA16EDC}"/>
                </a:ext>
              </a:extLst>
            </p:cNvPr>
            <p:cNvSpPr txBox="1"/>
            <p:nvPr/>
          </p:nvSpPr>
          <p:spPr>
            <a:xfrm>
              <a:off x="1041501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498" name="Text 70">
              <a:extLst>
                <a:ext uri="{FF2B5EF4-FFF2-40B4-BE49-F238E27FC236}">
                  <a16:creationId xmlns:a16="http://schemas.microsoft.com/office/drawing/2014/main" id="{71A5778E-13E2-7764-E1DF-9F720546DF5D}"/>
                </a:ext>
              </a:extLst>
            </p:cNvPr>
            <p:cNvSpPr txBox="1"/>
            <p:nvPr/>
          </p:nvSpPr>
          <p:spPr>
            <a:xfrm>
              <a:off x="1041501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5k</a:t>
              </a:r>
              <a:endParaRPr lang="en-US" sz="1150"/>
            </a:p>
          </p:txBody>
        </p:sp>
        <p:sp>
          <p:nvSpPr>
            <p:cNvPr id="1499" name="Shape 71">
              <a:extLst>
                <a:ext uri="{FF2B5EF4-FFF2-40B4-BE49-F238E27FC236}">
                  <a16:creationId xmlns:a16="http://schemas.microsoft.com/office/drawing/2014/main" id="{A108C421-B0D2-F6E5-F8F9-BB30FD294F02}"/>
                </a:ext>
              </a:extLst>
            </p:cNvPr>
            <p:cNvSpPr/>
            <p:nvPr/>
          </p:nvSpPr>
          <p:spPr>
            <a:xfrm>
              <a:off x="320040" y="3328416"/>
              <a:ext cx="11219688" cy="731520"/>
            </a:xfrm>
            <a:prstGeom prst="roundRect">
              <a:avLst>
                <a:gd name="adj" fmla="val 7500"/>
              </a:avLst>
            </a:prstGeom>
            <a:solidFill>
              <a:srgbClr val="FFFFFF"/>
            </a:solidFill>
            <a:ln w="12700">
              <a:solidFill>
                <a:srgbClr val="E4E7E1"/>
              </a:solidFill>
              <a:prstDash val="solid"/>
            </a:ln>
          </p:spPr>
          <p:txBody>
            <a:bodyPr/>
            <a:lstStyle/>
            <a:p>
              <a:endParaRPr lang="es-PE"/>
            </a:p>
          </p:txBody>
        </p:sp>
        <p:sp>
          <p:nvSpPr>
            <p:cNvPr id="1500" name="Shape 72">
              <a:extLst>
                <a:ext uri="{FF2B5EF4-FFF2-40B4-BE49-F238E27FC236}">
                  <a16:creationId xmlns:a16="http://schemas.microsoft.com/office/drawing/2014/main" id="{DCE301F7-A067-0379-22E8-822D40692EE3}"/>
                </a:ext>
              </a:extLst>
            </p:cNvPr>
            <p:cNvSpPr/>
            <p:nvPr/>
          </p:nvSpPr>
          <p:spPr>
            <a:xfrm>
              <a:off x="374904" y="3547872"/>
              <a:ext cx="292608" cy="292608"/>
            </a:xfrm>
            <a:prstGeom prst="ellipse">
              <a:avLst/>
            </a:prstGeom>
            <a:solidFill>
              <a:srgbClr val="3E4C59"/>
            </a:solidFill>
            <a:ln/>
          </p:spPr>
          <p:txBody>
            <a:bodyPr/>
            <a:lstStyle/>
            <a:p>
              <a:endParaRPr lang="es-PE"/>
            </a:p>
          </p:txBody>
        </p:sp>
        <p:pic>
          <p:nvPicPr>
            <p:cNvPr id="1501" name="Image 9" descr="/home/claude/voi_deck/icons/shield.png">
              <a:extLst>
                <a:ext uri="{FF2B5EF4-FFF2-40B4-BE49-F238E27FC236}">
                  <a16:creationId xmlns:a16="http://schemas.microsoft.com/office/drawing/2014/main" id="{5135066A-7B9C-7E37-B809-127BC26EB9C5}"/>
                </a:ext>
              </a:extLst>
            </p:cNvPr>
            <p:cNvPicPr>
              <a:picLocks noChangeAspect="1"/>
            </p:cNvPicPr>
            <p:nvPr/>
          </p:nvPicPr>
          <p:blipFill>
            <a:blip r:embed="rId13"/>
            <a:stretch>
              <a:fillRect/>
            </a:stretch>
          </p:blipFill>
          <p:spPr>
            <a:xfrm>
              <a:off x="448056" y="3621024"/>
              <a:ext cx="146304" cy="146304"/>
            </a:xfrm>
            <a:prstGeom prst="rect">
              <a:avLst/>
            </a:prstGeom>
          </p:spPr>
        </p:pic>
        <p:sp>
          <p:nvSpPr>
            <p:cNvPr id="1502" name="Text 73">
              <a:extLst>
                <a:ext uri="{FF2B5EF4-FFF2-40B4-BE49-F238E27FC236}">
                  <a16:creationId xmlns:a16="http://schemas.microsoft.com/office/drawing/2014/main" id="{DB5102B0-D68F-CAB1-51B8-1391D5FDE721}"/>
                </a:ext>
              </a:extLst>
            </p:cNvPr>
            <p:cNvSpPr txBox="1"/>
            <p:nvPr/>
          </p:nvSpPr>
          <p:spPr>
            <a:xfrm>
              <a:off x="704088" y="3328416"/>
              <a:ext cx="676656" cy="73152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COSTO DE RIESGO (SOW)</a:t>
              </a:r>
              <a:endParaRPr lang="en-US" sz="750"/>
            </a:p>
          </p:txBody>
        </p:sp>
        <p:sp>
          <p:nvSpPr>
            <p:cNvPr id="1503" name="Text 74">
              <a:extLst>
                <a:ext uri="{FF2B5EF4-FFF2-40B4-BE49-F238E27FC236}">
                  <a16:creationId xmlns:a16="http://schemas.microsoft.com/office/drawing/2014/main" id="{1A84DF40-CEE9-9C28-9600-620AAC72A9A3}"/>
                </a:ext>
              </a:extLst>
            </p:cNvPr>
            <p:cNvSpPr txBox="1"/>
            <p:nvPr/>
          </p:nvSpPr>
          <p:spPr>
            <a:xfrm>
              <a:off x="156362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504" name="Text 75">
              <a:extLst>
                <a:ext uri="{FF2B5EF4-FFF2-40B4-BE49-F238E27FC236}">
                  <a16:creationId xmlns:a16="http://schemas.microsoft.com/office/drawing/2014/main" id="{A8EAA41E-B084-832F-F3BF-1B60BD5669B3}"/>
                </a:ext>
              </a:extLst>
            </p:cNvPr>
            <p:cNvSpPr txBox="1"/>
            <p:nvPr/>
          </p:nvSpPr>
          <p:spPr>
            <a:xfrm>
              <a:off x="156362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graphicFrame>
          <p:nvGraphicFramePr>
            <p:cNvPr id="1505" name="Chart 0">
              <a:extLst>
                <a:ext uri="{FF2B5EF4-FFF2-40B4-BE49-F238E27FC236}">
                  <a16:creationId xmlns:a16="http://schemas.microsoft.com/office/drawing/2014/main" id="{9B3C3055-CCB3-FC48-C694-B0CFA26D6884}"/>
                </a:ext>
              </a:extLst>
            </p:cNvPr>
            <p:cNvGraphicFramePr/>
            <p:nvPr>
              <p:extLst>
                <p:ext uri="{D42A27DB-BD31-4B8C-83A1-F6EECF244321}">
                  <p14:modId xmlns:p14="http://schemas.microsoft.com/office/powerpoint/2010/main" val="2242051622"/>
                </p:ext>
              </p:extLst>
            </p:nvPr>
          </p:nvGraphicFramePr>
          <p:xfrm>
            <a:off x="2404872" y="3355848"/>
            <a:ext cx="658368" cy="658368"/>
          </p:xfrm>
          <a:graphic>
            <a:graphicData uri="http://schemas.openxmlformats.org/drawingml/2006/chart">
              <c:chart xmlns:c="http://schemas.openxmlformats.org/drawingml/2006/chart" xmlns:r="http://schemas.openxmlformats.org/officeDocument/2006/relationships" r:id="rId14"/>
            </a:graphicData>
          </a:graphic>
        </p:graphicFrame>
        <p:sp>
          <p:nvSpPr>
            <p:cNvPr id="1506" name="Text 76">
              <a:extLst>
                <a:ext uri="{FF2B5EF4-FFF2-40B4-BE49-F238E27FC236}">
                  <a16:creationId xmlns:a16="http://schemas.microsoft.com/office/drawing/2014/main" id="{39CF74CF-F71F-45D8-AF55-B0CD0DD34951}"/>
                </a:ext>
              </a:extLst>
            </p:cNvPr>
            <p:cNvSpPr txBox="1"/>
            <p:nvPr/>
          </p:nvSpPr>
          <p:spPr>
            <a:xfrm>
              <a:off x="2350008" y="3694176"/>
              <a:ext cx="768096" cy="256032"/>
            </a:xfrm>
            <a:prstGeom prst="rect">
              <a:avLst/>
            </a:prstGeom>
            <a:noFill/>
            <a:ln/>
          </p:spPr>
          <p:txBody>
            <a:bodyPr wrap="square" lIns="0" tIns="0" rIns="0" bIns="0" rtlCol="0" anchor="ctr"/>
            <a:lstStyle/>
            <a:p>
              <a:pPr marL="0" indent="0" algn="ctr">
                <a:buNone/>
              </a:pPr>
              <a:r>
                <a:rPr lang="en-US" sz="1400" b="1">
                  <a:solidFill>
                    <a:srgbClr val="3E4C59"/>
                  </a:solidFill>
                  <a:latin typeface="Calibri" pitchFamily="34" charset="0"/>
                  <a:ea typeface="Calibri" pitchFamily="34" charset="-122"/>
                  <a:cs typeface="Calibri" pitchFamily="34" charset="-120"/>
                </a:rPr>
                <a:t>24%</a:t>
              </a:r>
              <a:endParaRPr lang="en-US" sz="1400"/>
            </a:p>
          </p:txBody>
        </p:sp>
        <p:sp>
          <p:nvSpPr>
            <p:cNvPr id="1507" name="Text 77">
              <a:extLst>
                <a:ext uri="{FF2B5EF4-FFF2-40B4-BE49-F238E27FC236}">
                  <a16:creationId xmlns:a16="http://schemas.microsoft.com/office/drawing/2014/main" id="{29E92371-89AE-58C3-C8F4-18E6F08BCBD3}"/>
                </a:ext>
              </a:extLst>
            </p:cNvPr>
            <p:cNvSpPr txBox="1"/>
            <p:nvPr/>
          </p:nvSpPr>
          <p:spPr>
            <a:xfrm>
              <a:off x="320040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3E4C59"/>
                  </a:solidFill>
                  <a:latin typeface="Calibri" pitchFamily="34" charset="0"/>
                  <a:ea typeface="Calibri" pitchFamily="34" charset="-122"/>
                  <a:cs typeface="Calibri" pitchFamily="34" charset="-120"/>
                </a:rPr>
                <a:t>MEDIO ENTRE LOS 3</a:t>
              </a:r>
              <a:endParaRPr lang="en-US" sz="850"/>
            </a:p>
          </p:txBody>
        </p:sp>
        <p:sp>
          <p:nvSpPr>
            <p:cNvPr id="1508" name="Text 78">
              <a:extLst>
                <a:ext uri="{FF2B5EF4-FFF2-40B4-BE49-F238E27FC236}">
                  <a16:creationId xmlns:a16="http://schemas.microsoft.com/office/drawing/2014/main" id="{70E78118-8032-5C71-29B7-B27F40F50448}"/>
                </a:ext>
              </a:extLst>
            </p:cNvPr>
            <p:cNvSpPr txBox="1"/>
            <p:nvPr/>
          </p:nvSpPr>
          <p:spPr>
            <a:xfrm>
              <a:off x="494690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509" name="Text 79">
              <a:extLst>
                <a:ext uri="{FF2B5EF4-FFF2-40B4-BE49-F238E27FC236}">
                  <a16:creationId xmlns:a16="http://schemas.microsoft.com/office/drawing/2014/main" id="{5C32213E-C0FE-285D-AA1C-563FD9E59E57}"/>
                </a:ext>
              </a:extLst>
            </p:cNvPr>
            <p:cNvSpPr txBox="1"/>
            <p:nvPr/>
          </p:nvSpPr>
          <p:spPr>
            <a:xfrm>
              <a:off x="494690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graphicFrame>
          <p:nvGraphicFramePr>
            <p:cNvPr id="1510" name="Chart 1">
              <a:extLst>
                <a:ext uri="{FF2B5EF4-FFF2-40B4-BE49-F238E27FC236}">
                  <a16:creationId xmlns:a16="http://schemas.microsoft.com/office/drawing/2014/main" id="{A1C3596D-4590-7B38-CFD6-D2815989EDAD}"/>
                </a:ext>
              </a:extLst>
            </p:cNvPr>
            <p:cNvGraphicFramePr/>
            <p:nvPr>
              <p:extLst>
                <p:ext uri="{D42A27DB-BD31-4B8C-83A1-F6EECF244321}">
                  <p14:modId xmlns:p14="http://schemas.microsoft.com/office/powerpoint/2010/main" val="3090045219"/>
                </p:ext>
              </p:extLst>
            </p:nvPr>
          </p:nvGraphicFramePr>
          <p:xfrm>
            <a:off x="5788152" y="3355848"/>
            <a:ext cx="658368" cy="658368"/>
          </p:xfrm>
          <a:graphic>
            <a:graphicData uri="http://schemas.openxmlformats.org/drawingml/2006/chart">
              <c:chart xmlns:c="http://schemas.openxmlformats.org/drawingml/2006/chart" xmlns:r="http://schemas.openxmlformats.org/officeDocument/2006/relationships" r:id="rId15"/>
            </a:graphicData>
          </a:graphic>
        </p:graphicFrame>
        <p:sp>
          <p:nvSpPr>
            <p:cNvPr id="1511" name="Text 80">
              <a:extLst>
                <a:ext uri="{FF2B5EF4-FFF2-40B4-BE49-F238E27FC236}">
                  <a16:creationId xmlns:a16="http://schemas.microsoft.com/office/drawing/2014/main" id="{AB209006-A3F1-E4E2-5288-1D33EB3A5B54}"/>
                </a:ext>
              </a:extLst>
            </p:cNvPr>
            <p:cNvSpPr txBox="1"/>
            <p:nvPr/>
          </p:nvSpPr>
          <p:spPr>
            <a:xfrm>
              <a:off x="5733288" y="3694176"/>
              <a:ext cx="768096" cy="256032"/>
            </a:xfrm>
            <a:prstGeom prst="rect">
              <a:avLst/>
            </a:prstGeom>
            <a:noFill/>
            <a:ln/>
          </p:spPr>
          <p:txBody>
            <a:bodyPr wrap="square" lIns="0" tIns="0" rIns="0" bIns="0" rtlCol="0" anchor="ctr"/>
            <a:lstStyle/>
            <a:p>
              <a:pPr marL="0" indent="0" algn="ctr">
                <a:buNone/>
              </a:pPr>
              <a:r>
                <a:rPr lang="en-US" sz="1400" b="1">
                  <a:solidFill>
                    <a:srgbClr val="D9861F"/>
                  </a:solidFill>
                  <a:latin typeface="Calibri" pitchFamily="34" charset="0"/>
                  <a:ea typeface="Calibri" pitchFamily="34" charset="-122"/>
                  <a:cs typeface="Calibri" pitchFamily="34" charset="-120"/>
                </a:rPr>
                <a:t>11%</a:t>
              </a:r>
              <a:endParaRPr lang="en-US" sz="1400"/>
            </a:p>
          </p:txBody>
        </p:sp>
        <p:sp>
          <p:nvSpPr>
            <p:cNvPr id="1512" name="Text 81">
              <a:extLst>
                <a:ext uri="{FF2B5EF4-FFF2-40B4-BE49-F238E27FC236}">
                  <a16:creationId xmlns:a16="http://schemas.microsoft.com/office/drawing/2014/main" id="{173D1741-2EB3-58FE-72CA-07290468C928}"/>
                </a:ext>
              </a:extLst>
            </p:cNvPr>
            <p:cNvSpPr txBox="1"/>
            <p:nvPr/>
          </p:nvSpPr>
          <p:spPr>
            <a:xfrm>
              <a:off x="658368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D9861F"/>
                  </a:solidFill>
                  <a:latin typeface="Calibri" pitchFamily="34" charset="0"/>
                  <a:ea typeface="Calibri" pitchFamily="34" charset="-122"/>
                  <a:cs typeface="Calibri" pitchFamily="34" charset="-120"/>
                </a:rPr>
                <a:t>MÁS BAJO ENTRE LOS 3</a:t>
              </a:r>
              <a:endParaRPr lang="en-US" sz="850"/>
            </a:p>
          </p:txBody>
        </p:sp>
        <p:sp>
          <p:nvSpPr>
            <p:cNvPr id="1513" name="Text 82">
              <a:extLst>
                <a:ext uri="{FF2B5EF4-FFF2-40B4-BE49-F238E27FC236}">
                  <a16:creationId xmlns:a16="http://schemas.microsoft.com/office/drawing/2014/main" id="{4C3105D2-ADAC-9E2D-794F-DC81591D6711}"/>
                </a:ext>
              </a:extLst>
            </p:cNvPr>
            <p:cNvSpPr txBox="1"/>
            <p:nvPr/>
          </p:nvSpPr>
          <p:spPr>
            <a:xfrm>
              <a:off x="833018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514" name="Text 83">
              <a:extLst>
                <a:ext uri="{FF2B5EF4-FFF2-40B4-BE49-F238E27FC236}">
                  <a16:creationId xmlns:a16="http://schemas.microsoft.com/office/drawing/2014/main" id="{C10879B2-1DC5-6A06-9D7F-5839805416CD}"/>
                </a:ext>
              </a:extLst>
            </p:cNvPr>
            <p:cNvSpPr txBox="1"/>
            <p:nvPr/>
          </p:nvSpPr>
          <p:spPr>
            <a:xfrm>
              <a:off x="833018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graphicFrame>
          <p:nvGraphicFramePr>
            <p:cNvPr id="1515" name="Chart 2">
              <a:extLst>
                <a:ext uri="{FF2B5EF4-FFF2-40B4-BE49-F238E27FC236}">
                  <a16:creationId xmlns:a16="http://schemas.microsoft.com/office/drawing/2014/main" id="{A215E18A-92E9-9739-153E-A8BEF9DA21F7}"/>
                </a:ext>
              </a:extLst>
            </p:cNvPr>
            <p:cNvGraphicFramePr/>
            <p:nvPr>
              <p:extLst>
                <p:ext uri="{D42A27DB-BD31-4B8C-83A1-F6EECF244321}">
                  <p14:modId xmlns:p14="http://schemas.microsoft.com/office/powerpoint/2010/main" val="3207073958"/>
                </p:ext>
              </p:extLst>
            </p:nvPr>
          </p:nvGraphicFramePr>
          <p:xfrm>
            <a:off x="9171432" y="3355848"/>
            <a:ext cx="658368" cy="658368"/>
          </p:xfrm>
          <a:graphic>
            <a:graphicData uri="http://schemas.openxmlformats.org/drawingml/2006/chart">
              <c:chart xmlns:c="http://schemas.openxmlformats.org/drawingml/2006/chart" xmlns:r="http://schemas.openxmlformats.org/officeDocument/2006/relationships" r:id="rId16"/>
            </a:graphicData>
          </a:graphic>
        </p:graphicFrame>
        <p:sp>
          <p:nvSpPr>
            <p:cNvPr id="1516" name="Text 84">
              <a:extLst>
                <a:ext uri="{FF2B5EF4-FFF2-40B4-BE49-F238E27FC236}">
                  <a16:creationId xmlns:a16="http://schemas.microsoft.com/office/drawing/2014/main" id="{C20C3ED2-3FF7-CBC1-7436-A515E23DD2DD}"/>
                </a:ext>
              </a:extLst>
            </p:cNvPr>
            <p:cNvSpPr txBox="1"/>
            <p:nvPr/>
          </p:nvSpPr>
          <p:spPr>
            <a:xfrm>
              <a:off x="9116568" y="3694176"/>
              <a:ext cx="768096" cy="256032"/>
            </a:xfrm>
            <a:prstGeom prst="rect">
              <a:avLst/>
            </a:prstGeom>
            <a:noFill/>
            <a:ln/>
          </p:spPr>
          <p:txBody>
            <a:bodyPr wrap="square" lIns="0" tIns="0" rIns="0" bIns="0" rtlCol="0" anchor="ctr"/>
            <a:lstStyle/>
            <a:p>
              <a:pPr marL="0" indent="0" algn="ctr">
                <a:buNone/>
              </a:pPr>
              <a:r>
                <a:rPr lang="en-US" sz="1400" b="1">
                  <a:solidFill>
                    <a:srgbClr val="C0392B"/>
                  </a:solidFill>
                  <a:latin typeface="Calibri" pitchFamily="34" charset="0"/>
                  <a:ea typeface="Calibri" pitchFamily="34" charset="-122"/>
                  <a:cs typeface="Calibri" pitchFamily="34" charset="-120"/>
                </a:rPr>
                <a:t>40%</a:t>
              </a:r>
              <a:endParaRPr lang="en-US" sz="1400"/>
            </a:p>
          </p:txBody>
        </p:sp>
        <p:sp>
          <p:nvSpPr>
            <p:cNvPr id="1517" name="Text 85">
              <a:extLst>
                <a:ext uri="{FF2B5EF4-FFF2-40B4-BE49-F238E27FC236}">
                  <a16:creationId xmlns:a16="http://schemas.microsoft.com/office/drawing/2014/main" id="{11BA2CA3-BB16-D6A8-3A27-2CAF6AE8D7B1}"/>
                </a:ext>
              </a:extLst>
            </p:cNvPr>
            <p:cNvSpPr txBox="1"/>
            <p:nvPr/>
          </p:nvSpPr>
          <p:spPr>
            <a:xfrm>
              <a:off x="996696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C0392B"/>
                  </a:solidFill>
                  <a:latin typeface="Calibri" pitchFamily="34" charset="0"/>
                  <a:ea typeface="Calibri" pitchFamily="34" charset="-122"/>
                  <a:cs typeface="Calibri" pitchFamily="34" charset="-120"/>
                </a:rPr>
                <a:t>MEDIO ENTRE LOS 3</a:t>
              </a:r>
              <a:endParaRPr lang="en-US" sz="850"/>
            </a:p>
          </p:txBody>
        </p:sp>
        <p:sp>
          <p:nvSpPr>
            <p:cNvPr id="1518" name="Shape 86">
              <a:extLst>
                <a:ext uri="{FF2B5EF4-FFF2-40B4-BE49-F238E27FC236}">
                  <a16:creationId xmlns:a16="http://schemas.microsoft.com/office/drawing/2014/main" id="{AF31E3C6-CA0D-0606-5EB3-9DD0E62A8FD3}"/>
                </a:ext>
              </a:extLst>
            </p:cNvPr>
            <p:cNvSpPr/>
            <p:nvPr/>
          </p:nvSpPr>
          <p:spPr>
            <a:xfrm>
              <a:off x="320040" y="4110228"/>
              <a:ext cx="11219688" cy="621792"/>
            </a:xfrm>
            <a:prstGeom prst="roundRect">
              <a:avLst>
                <a:gd name="adj" fmla="val 8824"/>
              </a:avLst>
            </a:prstGeom>
            <a:solidFill>
              <a:srgbClr val="FFFFFF"/>
            </a:solidFill>
            <a:ln w="12700">
              <a:solidFill>
                <a:srgbClr val="E4E7E1"/>
              </a:solidFill>
              <a:prstDash val="solid"/>
            </a:ln>
          </p:spPr>
          <p:txBody>
            <a:bodyPr/>
            <a:lstStyle/>
            <a:p>
              <a:endParaRPr lang="es-PE"/>
            </a:p>
          </p:txBody>
        </p:sp>
        <p:sp>
          <p:nvSpPr>
            <p:cNvPr id="1519" name="Shape 87">
              <a:extLst>
                <a:ext uri="{FF2B5EF4-FFF2-40B4-BE49-F238E27FC236}">
                  <a16:creationId xmlns:a16="http://schemas.microsoft.com/office/drawing/2014/main" id="{9BEE4B45-00AC-C5AF-BD5D-1DA9E004FD81}"/>
                </a:ext>
              </a:extLst>
            </p:cNvPr>
            <p:cNvSpPr/>
            <p:nvPr/>
          </p:nvSpPr>
          <p:spPr>
            <a:xfrm>
              <a:off x="374904" y="4274820"/>
              <a:ext cx="292608" cy="292608"/>
            </a:xfrm>
            <a:prstGeom prst="ellipse">
              <a:avLst/>
            </a:prstGeom>
            <a:solidFill>
              <a:srgbClr val="3E4C59"/>
            </a:solidFill>
            <a:ln/>
          </p:spPr>
          <p:txBody>
            <a:bodyPr/>
            <a:lstStyle/>
            <a:p>
              <a:endParaRPr lang="es-PE"/>
            </a:p>
          </p:txBody>
        </p:sp>
        <p:pic>
          <p:nvPicPr>
            <p:cNvPr id="1520" name="Image 10" descr="/home/claude/voi_deck/icons/users.png">
              <a:extLst>
                <a:ext uri="{FF2B5EF4-FFF2-40B4-BE49-F238E27FC236}">
                  <a16:creationId xmlns:a16="http://schemas.microsoft.com/office/drawing/2014/main" id="{2FCAFA58-A3A3-3258-77CB-C0C2CABED4B4}"/>
                </a:ext>
              </a:extLst>
            </p:cNvPr>
            <p:cNvPicPr>
              <a:picLocks noChangeAspect="1"/>
            </p:cNvPicPr>
            <p:nvPr/>
          </p:nvPicPr>
          <p:blipFill>
            <a:blip r:embed="rId17"/>
            <a:stretch>
              <a:fillRect/>
            </a:stretch>
          </p:blipFill>
          <p:spPr>
            <a:xfrm>
              <a:off x="448056" y="4347972"/>
              <a:ext cx="146304" cy="146304"/>
            </a:xfrm>
            <a:prstGeom prst="rect">
              <a:avLst/>
            </a:prstGeom>
          </p:spPr>
        </p:pic>
        <p:sp>
          <p:nvSpPr>
            <p:cNvPr id="1521" name="Text 88">
              <a:extLst>
                <a:ext uri="{FF2B5EF4-FFF2-40B4-BE49-F238E27FC236}">
                  <a16:creationId xmlns:a16="http://schemas.microsoft.com/office/drawing/2014/main" id="{B2966996-1E20-EB1F-D8E5-478195BA2C82}"/>
                </a:ext>
              </a:extLst>
            </p:cNvPr>
            <p:cNvSpPr txBox="1"/>
            <p:nvPr/>
          </p:nvSpPr>
          <p:spPr>
            <a:xfrm>
              <a:off x="704088" y="4110228"/>
              <a:ext cx="676656" cy="621792"/>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RETENCIÓN Y RELACIÓN</a:t>
              </a:r>
              <a:endParaRPr lang="en-US" sz="750"/>
            </a:p>
          </p:txBody>
        </p:sp>
        <p:sp>
          <p:nvSpPr>
            <p:cNvPr id="1522" name="Text 89">
              <a:extLst>
                <a:ext uri="{FF2B5EF4-FFF2-40B4-BE49-F238E27FC236}">
                  <a16:creationId xmlns:a16="http://schemas.microsoft.com/office/drawing/2014/main" id="{441AF44E-6B43-6F16-0671-5EDF4D0B4352}"/>
                </a:ext>
              </a:extLst>
            </p:cNvPr>
            <p:cNvSpPr txBox="1"/>
            <p:nvPr/>
          </p:nvSpPr>
          <p:spPr>
            <a:xfrm>
              <a:off x="156362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1523" name="Text 90">
              <a:extLst>
                <a:ext uri="{FF2B5EF4-FFF2-40B4-BE49-F238E27FC236}">
                  <a16:creationId xmlns:a16="http://schemas.microsoft.com/office/drawing/2014/main" id="{21F16025-1B52-B328-A371-821FC3160483}"/>
                </a:ext>
              </a:extLst>
            </p:cNvPr>
            <p:cNvSpPr txBox="1"/>
            <p:nvPr/>
          </p:nvSpPr>
          <p:spPr>
            <a:xfrm>
              <a:off x="156362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7.2%</a:t>
              </a:r>
              <a:endParaRPr lang="en-US" sz="1200"/>
            </a:p>
          </p:txBody>
        </p:sp>
        <p:pic>
          <p:nvPicPr>
            <p:cNvPr id="1524" name="Image 11" descr="/home/claude/voi_deck/icons/person_navy.png">
              <a:extLst>
                <a:ext uri="{FF2B5EF4-FFF2-40B4-BE49-F238E27FC236}">
                  <a16:creationId xmlns:a16="http://schemas.microsoft.com/office/drawing/2014/main" id="{4C5FE5C1-2FA9-1330-5D4B-00354CE9F643}"/>
                </a:ext>
              </a:extLst>
            </p:cNvPr>
            <p:cNvPicPr>
              <a:picLocks noChangeAspect="1"/>
            </p:cNvPicPr>
            <p:nvPr/>
          </p:nvPicPr>
          <p:blipFill>
            <a:blip r:embed="rId18"/>
            <a:stretch>
              <a:fillRect/>
            </a:stretch>
          </p:blipFill>
          <p:spPr>
            <a:xfrm>
              <a:off x="1563624" y="4530852"/>
              <a:ext cx="128016" cy="128016"/>
            </a:xfrm>
            <a:prstGeom prst="rect">
              <a:avLst/>
            </a:prstGeom>
          </p:spPr>
        </p:pic>
        <p:pic>
          <p:nvPicPr>
            <p:cNvPr id="1525" name="Image 12" descr="/home/claude/voi_deck/icons/person_navy.png">
              <a:extLst>
                <a:ext uri="{FF2B5EF4-FFF2-40B4-BE49-F238E27FC236}">
                  <a16:creationId xmlns:a16="http://schemas.microsoft.com/office/drawing/2014/main" id="{672980F9-7514-BD8B-8EAC-A9E0CBC27006}"/>
                </a:ext>
              </a:extLst>
            </p:cNvPr>
            <p:cNvPicPr>
              <a:picLocks noChangeAspect="1"/>
            </p:cNvPicPr>
            <p:nvPr/>
          </p:nvPicPr>
          <p:blipFill>
            <a:blip r:embed="rId18"/>
            <a:stretch>
              <a:fillRect/>
            </a:stretch>
          </p:blipFill>
          <p:spPr>
            <a:xfrm>
              <a:off x="1705356" y="4530852"/>
              <a:ext cx="128016" cy="128016"/>
            </a:xfrm>
            <a:prstGeom prst="rect">
              <a:avLst/>
            </a:prstGeom>
          </p:spPr>
        </p:pic>
        <p:pic>
          <p:nvPicPr>
            <p:cNvPr id="1526" name="Image 13" descr="/home/claude/voi_deck/icons/person_gray.png">
              <a:extLst>
                <a:ext uri="{FF2B5EF4-FFF2-40B4-BE49-F238E27FC236}">
                  <a16:creationId xmlns:a16="http://schemas.microsoft.com/office/drawing/2014/main" id="{3DF0156E-CA5F-E75A-F670-EC02DDC12F14}"/>
                </a:ext>
              </a:extLst>
            </p:cNvPr>
            <p:cNvPicPr>
              <a:picLocks noChangeAspect="1"/>
            </p:cNvPicPr>
            <p:nvPr/>
          </p:nvPicPr>
          <p:blipFill>
            <a:blip r:embed="rId19"/>
            <a:stretch>
              <a:fillRect/>
            </a:stretch>
          </p:blipFill>
          <p:spPr>
            <a:xfrm>
              <a:off x="1847088" y="4530852"/>
              <a:ext cx="128016" cy="128016"/>
            </a:xfrm>
            <a:prstGeom prst="rect">
              <a:avLst/>
            </a:prstGeom>
          </p:spPr>
        </p:pic>
        <p:pic>
          <p:nvPicPr>
            <p:cNvPr id="1527" name="Image 14" descr="/home/claude/voi_deck/icons/person_gray.png">
              <a:extLst>
                <a:ext uri="{FF2B5EF4-FFF2-40B4-BE49-F238E27FC236}">
                  <a16:creationId xmlns:a16="http://schemas.microsoft.com/office/drawing/2014/main" id="{A87C4838-6F0D-31D7-41D6-527C73AD9F34}"/>
                </a:ext>
              </a:extLst>
            </p:cNvPr>
            <p:cNvPicPr>
              <a:picLocks noChangeAspect="1"/>
            </p:cNvPicPr>
            <p:nvPr/>
          </p:nvPicPr>
          <p:blipFill>
            <a:blip r:embed="rId19"/>
            <a:stretch>
              <a:fillRect/>
            </a:stretch>
          </p:blipFill>
          <p:spPr>
            <a:xfrm>
              <a:off x="1988820" y="4530852"/>
              <a:ext cx="128016" cy="128016"/>
            </a:xfrm>
            <a:prstGeom prst="rect">
              <a:avLst/>
            </a:prstGeom>
          </p:spPr>
        </p:pic>
        <p:pic>
          <p:nvPicPr>
            <p:cNvPr id="1528" name="Image 15" descr="/home/claude/voi_deck/icons/person_gray.png">
              <a:extLst>
                <a:ext uri="{FF2B5EF4-FFF2-40B4-BE49-F238E27FC236}">
                  <a16:creationId xmlns:a16="http://schemas.microsoft.com/office/drawing/2014/main" id="{030B2400-3A7D-E628-714D-158CBDB9BF36}"/>
                </a:ext>
              </a:extLst>
            </p:cNvPr>
            <p:cNvPicPr>
              <a:picLocks noChangeAspect="1"/>
            </p:cNvPicPr>
            <p:nvPr/>
          </p:nvPicPr>
          <p:blipFill>
            <a:blip r:embed="rId19"/>
            <a:stretch>
              <a:fillRect/>
            </a:stretch>
          </p:blipFill>
          <p:spPr>
            <a:xfrm>
              <a:off x="2130552" y="4530852"/>
              <a:ext cx="128016" cy="128016"/>
            </a:xfrm>
            <a:prstGeom prst="rect">
              <a:avLst/>
            </a:prstGeom>
          </p:spPr>
        </p:pic>
        <p:pic>
          <p:nvPicPr>
            <p:cNvPr id="1529" name="Image 16" descr="/home/claude/voi_deck/icons/person_gray.png">
              <a:extLst>
                <a:ext uri="{FF2B5EF4-FFF2-40B4-BE49-F238E27FC236}">
                  <a16:creationId xmlns:a16="http://schemas.microsoft.com/office/drawing/2014/main" id="{B18A97B4-4EE1-1465-7B8E-3AD5CAE03326}"/>
                </a:ext>
              </a:extLst>
            </p:cNvPr>
            <p:cNvPicPr>
              <a:picLocks noChangeAspect="1"/>
            </p:cNvPicPr>
            <p:nvPr/>
          </p:nvPicPr>
          <p:blipFill>
            <a:blip r:embed="rId19"/>
            <a:stretch>
              <a:fillRect/>
            </a:stretch>
          </p:blipFill>
          <p:spPr>
            <a:xfrm>
              <a:off x="2272284" y="4530852"/>
              <a:ext cx="128016" cy="128016"/>
            </a:xfrm>
            <a:prstGeom prst="rect">
              <a:avLst/>
            </a:prstGeom>
          </p:spPr>
        </p:pic>
        <p:sp>
          <p:nvSpPr>
            <p:cNvPr id="1530" name="Text 91">
              <a:extLst>
                <a:ext uri="{FF2B5EF4-FFF2-40B4-BE49-F238E27FC236}">
                  <a16:creationId xmlns:a16="http://schemas.microsoft.com/office/drawing/2014/main" id="{BE446B1A-2777-CCE4-F599-792AF715A870}"/>
                </a:ext>
              </a:extLst>
            </p:cNvPr>
            <p:cNvSpPr txBox="1"/>
            <p:nvPr/>
          </p:nvSpPr>
          <p:spPr>
            <a:xfrm>
              <a:off x="319582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531" name="Text 92">
              <a:extLst>
                <a:ext uri="{FF2B5EF4-FFF2-40B4-BE49-F238E27FC236}">
                  <a16:creationId xmlns:a16="http://schemas.microsoft.com/office/drawing/2014/main" id="{42929624-D17C-F8B3-D67E-1161DB6336AF}"/>
                </a:ext>
              </a:extLst>
            </p:cNvPr>
            <p:cNvSpPr txBox="1"/>
            <p:nvPr/>
          </p:nvSpPr>
          <p:spPr>
            <a:xfrm>
              <a:off x="319582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34.7%</a:t>
              </a:r>
              <a:endParaRPr lang="en-US" sz="1200"/>
            </a:p>
          </p:txBody>
        </p:sp>
        <p:graphicFrame>
          <p:nvGraphicFramePr>
            <p:cNvPr id="1532" name="Chart 3">
              <a:extLst>
                <a:ext uri="{FF2B5EF4-FFF2-40B4-BE49-F238E27FC236}">
                  <a16:creationId xmlns:a16="http://schemas.microsoft.com/office/drawing/2014/main" id="{F878AC8B-2390-78E0-B238-0FD5EC6C4C91}"/>
                </a:ext>
              </a:extLst>
            </p:cNvPr>
            <p:cNvGraphicFramePr/>
            <p:nvPr>
              <p:extLst>
                <p:ext uri="{D42A27DB-BD31-4B8C-83A1-F6EECF244321}">
                  <p14:modId xmlns:p14="http://schemas.microsoft.com/office/powerpoint/2010/main" val="2277524969"/>
                </p:ext>
              </p:extLst>
            </p:nvPr>
          </p:nvGraphicFramePr>
          <p:xfrm>
            <a:off x="4279392" y="4274820"/>
            <a:ext cx="420624" cy="420624"/>
          </p:xfrm>
          <a:graphic>
            <a:graphicData uri="http://schemas.openxmlformats.org/drawingml/2006/chart">
              <c:chart xmlns:c="http://schemas.openxmlformats.org/drawingml/2006/chart" xmlns:r="http://schemas.openxmlformats.org/officeDocument/2006/relationships" r:id="rId20"/>
            </a:graphicData>
          </a:graphic>
        </p:graphicFrame>
        <p:sp>
          <p:nvSpPr>
            <p:cNvPr id="1533" name="Text 93">
              <a:extLst>
                <a:ext uri="{FF2B5EF4-FFF2-40B4-BE49-F238E27FC236}">
                  <a16:creationId xmlns:a16="http://schemas.microsoft.com/office/drawing/2014/main" id="{C5A07EBA-5F20-0525-E54B-DA845F46DCBC}"/>
                </a:ext>
              </a:extLst>
            </p:cNvPr>
            <p:cNvSpPr txBox="1"/>
            <p:nvPr/>
          </p:nvSpPr>
          <p:spPr>
            <a:xfrm>
              <a:off x="494690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1534" name="Text 94">
              <a:extLst>
                <a:ext uri="{FF2B5EF4-FFF2-40B4-BE49-F238E27FC236}">
                  <a16:creationId xmlns:a16="http://schemas.microsoft.com/office/drawing/2014/main" id="{344771DB-BFCE-C5D3-23E6-8A6A71FBE7E6}"/>
                </a:ext>
              </a:extLst>
            </p:cNvPr>
            <p:cNvSpPr txBox="1"/>
            <p:nvPr/>
          </p:nvSpPr>
          <p:spPr>
            <a:xfrm>
              <a:off x="494690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4.5%</a:t>
              </a:r>
              <a:endParaRPr lang="en-US" sz="1200"/>
            </a:p>
          </p:txBody>
        </p:sp>
        <p:pic>
          <p:nvPicPr>
            <p:cNvPr id="1535" name="Image 17" descr="/home/claude/voi_deck/icons/person_amber.png">
              <a:extLst>
                <a:ext uri="{FF2B5EF4-FFF2-40B4-BE49-F238E27FC236}">
                  <a16:creationId xmlns:a16="http://schemas.microsoft.com/office/drawing/2014/main" id="{3DBBB766-2D57-EF8D-FA5B-4B30A03381F6}"/>
                </a:ext>
              </a:extLst>
            </p:cNvPr>
            <p:cNvPicPr>
              <a:picLocks noChangeAspect="1"/>
            </p:cNvPicPr>
            <p:nvPr/>
          </p:nvPicPr>
          <p:blipFill>
            <a:blip r:embed="rId21"/>
            <a:stretch>
              <a:fillRect/>
            </a:stretch>
          </p:blipFill>
          <p:spPr>
            <a:xfrm>
              <a:off x="4946904" y="4530852"/>
              <a:ext cx="128016" cy="128016"/>
            </a:xfrm>
            <a:prstGeom prst="rect">
              <a:avLst/>
            </a:prstGeom>
          </p:spPr>
        </p:pic>
        <p:pic>
          <p:nvPicPr>
            <p:cNvPr id="1536" name="Image 18" descr="/home/claude/voi_deck/icons/person_gray.png">
              <a:extLst>
                <a:ext uri="{FF2B5EF4-FFF2-40B4-BE49-F238E27FC236}">
                  <a16:creationId xmlns:a16="http://schemas.microsoft.com/office/drawing/2014/main" id="{AFB42F37-D253-3185-8826-C16BDB4ADBA0}"/>
                </a:ext>
              </a:extLst>
            </p:cNvPr>
            <p:cNvPicPr>
              <a:picLocks noChangeAspect="1"/>
            </p:cNvPicPr>
            <p:nvPr/>
          </p:nvPicPr>
          <p:blipFill>
            <a:blip r:embed="rId19"/>
            <a:stretch>
              <a:fillRect/>
            </a:stretch>
          </p:blipFill>
          <p:spPr>
            <a:xfrm>
              <a:off x="5088636" y="4530852"/>
              <a:ext cx="128016" cy="128016"/>
            </a:xfrm>
            <a:prstGeom prst="rect">
              <a:avLst/>
            </a:prstGeom>
          </p:spPr>
        </p:pic>
        <p:pic>
          <p:nvPicPr>
            <p:cNvPr id="1537" name="Image 19" descr="/home/claude/voi_deck/icons/person_gray.png">
              <a:extLst>
                <a:ext uri="{FF2B5EF4-FFF2-40B4-BE49-F238E27FC236}">
                  <a16:creationId xmlns:a16="http://schemas.microsoft.com/office/drawing/2014/main" id="{5741A290-E0B4-77AC-037C-C90B16F92294}"/>
                </a:ext>
              </a:extLst>
            </p:cNvPr>
            <p:cNvPicPr>
              <a:picLocks noChangeAspect="1"/>
            </p:cNvPicPr>
            <p:nvPr/>
          </p:nvPicPr>
          <p:blipFill>
            <a:blip r:embed="rId19"/>
            <a:stretch>
              <a:fillRect/>
            </a:stretch>
          </p:blipFill>
          <p:spPr>
            <a:xfrm>
              <a:off x="5230368" y="4530852"/>
              <a:ext cx="128016" cy="128016"/>
            </a:xfrm>
            <a:prstGeom prst="rect">
              <a:avLst/>
            </a:prstGeom>
          </p:spPr>
        </p:pic>
        <p:pic>
          <p:nvPicPr>
            <p:cNvPr id="1538" name="Image 20" descr="/home/claude/voi_deck/icons/person_gray.png">
              <a:extLst>
                <a:ext uri="{FF2B5EF4-FFF2-40B4-BE49-F238E27FC236}">
                  <a16:creationId xmlns:a16="http://schemas.microsoft.com/office/drawing/2014/main" id="{033417A0-AE00-B583-70A6-EB293F7B0A24}"/>
                </a:ext>
              </a:extLst>
            </p:cNvPr>
            <p:cNvPicPr>
              <a:picLocks noChangeAspect="1"/>
            </p:cNvPicPr>
            <p:nvPr/>
          </p:nvPicPr>
          <p:blipFill>
            <a:blip r:embed="rId19"/>
            <a:stretch>
              <a:fillRect/>
            </a:stretch>
          </p:blipFill>
          <p:spPr>
            <a:xfrm>
              <a:off x="5372100" y="4530852"/>
              <a:ext cx="128016" cy="128016"/>
            </a:xfrm>
            <a:prstGeom prst="rect">
              <a:avLst/>
            </a:prstGeom>
          </p:spPr>
        </p:pic>
        <p:pic>
          <p:nvPicPr>
            <p:cNvPr id="1539" name="Image 21" descr="/home/claude/voi_deck/icons/person_gray.png">
              <a:extLst>
                <a:ext uri="{FF2B5EF4-FFF2-40B4-BE49-F238E27FC236}">
                  <a16:creationId xmlns:a16="http://schemas.microsoft.com/office/drawing/2014/main" id="{4B341FC8-093D-2F15-E5F1-6DF9CF73D2FD}"/>
                </a:ext>
              </a:extLst>
            </p:cNvPr>
            <p:cNvPicPr>
              <a:picLocks noChangeAspect="1"/>
            </p:cNvPicPr>
            <p:nvPr/>
          </p:nvPicPr>
          <p:blipFill>
            <a:blip r:embed="rId19"/>
            <a:stretch>
              <a:fillRect/>
            </a:stretch>
          </p:blipFill>
          <p:spPr>
            <a:xfrm>
              <a:off x="5513832" y="4530852"/>
              <a:ext cx="128016" cy="128016"/>
            </a:xfrm>
            <a:prstGeom prst="rect">
              <a:avLst/>
            </a:prstGeom>
          </p:spPr>
        </p:pic>
        <p:pic>
          <p:nvPicPr>
            <p:cNvPr id="1540" name="Image 22" descr="/home/claude/voi_deck/icons/person_gray.png">
              <a:extLst>
                <a:ext uri="{FF2B5EF4-FFF2-40B4-BE49-F238E27FC236}">
                  <a16:creationId xmlns:a16="http://schemas.microsoft.com/office/drawing/2014/main" id="{A9326109-5E86-4830-FEC1-74AA0EC29CAD}"/>
                </a:ext>
              </a:extLst>
            </p:cNvPr>
            <p:cNvPicPr>
              <a:picLocks noChangeAspect="1"/>
            </p:cNvPicPr>
            <p:nvPr/>
          </p:nvPicPr>
          <p:blipFill>
            <a:blip r:embed="rId19"/>
            <a:stretch>
              <a:fillRect/>
            </a:stretch>
          </p:blipFill>
          <p:spPr>
            <a:xfrm>
              <a:off x="5655564" y="4530852"/>
              <a:ext cx="128016" cy="128016"/>
            </a:xfrm>
            <a:prstGeom prst="rect">
              <a:avLst/>
            </a:prstGeom>
          </p:spPr>
        </p:pic>
        <p:sp>
          <p:nvSpPr>
            <p:cNvPr id="1541" name="Text 95">
              <a:extLst>
                <a:ext uri="{FF2B5EF4-FFF2-40B4-BE49-F238E27FC236}">
                  <a16:creationId xmlns:a16="http://schemas.microsoft.com/office/drawing/2014/main" id="{6B30EC96-4934-4E1A-0F60-875371888ECB}"/>
                </a:ext>
              </a:extLst>
            </p:cNvPr>
            <p:cNvSpPr txBox="1"/>
            <p:nvPr/>
          </p:nvSpPr>
          <p:spPr>
            <a:xfrm>
              <a:off x="657910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542" name="Text 96">
              <a:extLst>
                <a:ext uri="{FF2B5EF4-FFF2-40B4-BE49-F238E27FC236}">
                  <a16:creationId xmlns:a16="http://schemas.microsoft.com/office/drawing/2014/main" id="{CD6FA7B7-5591-8793-3502-42B4420EF9EF}"/>
                </a:ext>
              </a:extLst>
            </p:cNvPr>
            <p:cNvSpPr txBox="1"/>
            <p:nvPr/>
          </p:nvSpPr>
          <p:spPr>
            <a:xfrm>
              <a:off x="657910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35.8%</a:t>
              </a:r>
              <a:endParaRPr lang="en-US" sz="1200"/>
            </a:p>
          </p:txBody>
        </p:sp>
        <p:graphicFrame>
          <p:nvGraphicFramePr>
            <p:cNvPr id="1543" name="Chart 4">
              <a:extLst>
                <a:ext uri="{FF2B5EF4-FFF2-40B4-BE49-F238E27FC236}">
                  <a16:creationId xmlns:a16="http://schemas.microsoft.com/office/drawing/2014/main" id="{B035D678-B36E-A72B-DEDD-D30B39FC0C38}"/>
                </a:ext>
              </a:extLst>
            </p:cNvPr>
            <p:cNvGraphicFramePr/>
            <p:nvPr>
              <p:extLst>
                <p:ext uri="{D42A27DB-BD31-4B8C-83A1-F6EECF244321}">
                  <p14:modId xmlns:p14="http://schemas.microsoft.com/office/powerpoint/2010/main" val="22524975"/>
                </p:ext>
              </p:extLst>
            </p:nvPr>
          </p:nvGraphicFramePr>
          <p:xfrm>
            <a:off x="7662672" y="4274820"/>
            <a:ext cx="420624" cy="420624"/>
          </p:xfrm>
          <a:graphic>
            <a:graphicData uri="http://schemas.openxmlformats.org/drawingml/2006/chart">
              <c:chart xmlns:c="http://schemas.openxmlformats.org/drawingml/2006/chart" xmlns:r="http://schemas.openxmlformats.org/officeDocument/2006/relationships" r:id="rId22"/>
            </a:graphicData>
          </a:graphic>
        </p:graphicFrame>
        <p:sp>
          <p:nvSpPr>
            <p:cNvPr id="1544" name="Text 97">
              <a:extLst>
                <a:ext uri="{FF2B5EF4-FFF2-40B4-BE49-F238E27FC236}">
                  <a16:creationId xmlns:a16="http://schemas.microsoft.com/office/drawing/2014/main" id="{ECE815C6-23F2-8077-943A-564952F270AC}"/>
                </a:ext>
              </a:extLst>
            </p:cNvPr>
            <p:cNvSpPr txBox="1"/>
            <p:nvPr/>
          </p:nvSpPr>
          <p:spPr>
            <a:xfrm>
              <a:off x="833018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1545" name="Text 98">
              <a:extLst>
                <a:ext uri="{FF2B5EF4-FFF2-40B4-BE49-F238E27FC236}">
                  <a16:creationId xmlns:a16="http://schemas.microsoft.com/office/drawing/2014/main" id="{116E4875-EC06-2815-6BD3-92E10CC88F9A}"/>
                </a:ext>
              </a:extLst>
            </p:cNvPr>
            <p:cNvSpPr txBox="1"/>
            <p:nvPr/>
          </p:nvSpPr>
          <p:spPr>
            <a:xfrm>
              <a:off x="833018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1.7%</a:t>
              </a:r>
              <a:endParaRPr lang="en-US" sz="1200"/>
            </a:p>
          </p:txBody>
        </p:sp>
        <p:pic>
          <p:nvPicPr>
            <p:cNvPr id="1546" name="Image 23" descr="/home/claude/voi_deck/icons/person_red.png">
              <a:extLst>
                <a:ext uri="{FF2B5EF4-FFF2-40B4-BE49-F238E27FC236}">
                  <a16:creationId xmlns:a16="http://schemas.microsoft.com/office/drawing/2014/main" id="{B56B167A-2A93-14EB-6B73-E2F34AD5F9B1}"/>
                </a:ext>
              </a:extLst>
            </p:cNvPr>
            <p:cNvPicPr>
              <a:picLocks noChangeAspect="1"/>
            </p:cNvPicPr>
            <p:nvPr/>
          </p:nvPicPr>
          <p:blipFill>
            <a:blip r:embed="rId23"/>
            <a:stretch>
              <a:fillRect/>
            </a:stretch>
          </p:blipFill>
          <p:spPr>
            <a:xfrm>
              <a:off x="8330184" y="4530852"/>
              <a:ext cx="128016" cy="128016"/>
            </a:xfrm>
            <a:prstGeom prst="rect">
              <a:avLst/>
            </a:prstGeom>
          </p:spPr>
        </p:pic>
        <p:pic>
          <p:nvPicPr>
            <p:cNvPr id="1547" name="Image 24" descr="/home/claude/voi_deck/icons/person_gray.png">
              <a:extLst>
                <a:ext uri="{FF2B5EF4-FFF2-40B4-BE49-F238E27FC236}">
                  <a16:creationId xmlns:a16="http://schemas.microsoft.com/office/drawing/2014/main" id="{9193FD06-00CE-9DFE-02A3-85C563EAA0E5}"/>
                </a:ext>
              </a:extLst>
            </p:cNvPr>
            <p:cNvPicPr>
              <a:picLocks noChangeAspect="1"/>
            </p:cNvPicPr>
            <p:nvPr/>
          </p:nvPicPr>
          <p:blipFill>
            <a:blip r:embed="rId19"/>
            <a:stretch>
              <a:fillRect/>
            </a:stretch>
          </p:blipFill>
          <p:spPr>
            <a:xfrm>
              <a:off x="8471916" y="4530852"/>
              <a:ext cx="128016" cy="128016"/>
            </a:xfrm>
            <a:prstGeom prst="rect">
              <a:avLst/>
            </a:prstGeom>
          </p:spPr>
        </p:pic>
        <p:pic>
          <p:nvPicPr>
            <p:cNvPr id="1548" name="Image 25" descr="/home/claude/voi_deck/icons/person_gray.png">
              <a:extLst>
                <a:ext uri="{FF2B5EF4-FFF2-40B4-BE49-F238E27FC236}">
                  <a16:creationId xmlns:a16="http://schemas.microsoft.com/office/drawing/2014/main" id="{76948D91-ABE4-E850-3354-39AD9C4DF177}"/>
                </a:ext>
              </a:extLst>
            </p:cNvPr>
            <p:cNvPicPr>
              <a:picLocks noChangeAspect="1"/>
            </p:cNvPicPr>
            <p:nvPr/>
          </p:nvPicPr>
          <p:blipFill>
            <a:blip r:embed="rId19"/>
            <a:stretch>
              <a:fillRect/>
            </a:stretch>
          </p:blipFill>
          <p:spPr>
            <a:xfrm>
              <a:off x="8613648" y="4530852"/>
              <a:ext cx="128016" cy="128016"/>
            </a:xfrm>
            <a:prstGeom prst="rect">
              <a:avLst/>
            </a:prstGeom>
          </p:spPr>
        </p:pic>
        <p:pic>
          <p:nvPicPr>
            <p:cNvPr id="1549" name="Image 26" descr="/home/claude/voi_deck/icons/person_gray.png">
              <a:extLst>
                <a:ext uri="{FF2B5EF4-FFF2-40B4-BE49-F238E27FC236}">
                  <a16:creationId xmlns:a16="http://schemas.microsoft.com/office/drawing/2014/main" id="{134E2F2E-88A4-B24E-52DE-DB34562A3F1D}"/>
                </a:ext>
              </a:extLst>
            </p:cNvPr>
            <p:cNvPicPr>
              <a:picLocks noChangeAspect="1"/>
            </p:cNvPicPr>
            <p:nvPr/>
          </p:nvPicPr>
          <p:blipFill>
            <a:blip r:embed="rId19"/>
            <a:stretch>
              <a:fillRect/>
            </a:stretch>
          </p:blipFill>
          <p:spPr>
            <a:xfrm>
              <a:off x="8755380" y="4530852"/>
              <a:ext cx="128016" cy="128016"/>
            </a:xfrm>
            <a:prstGeom prst="rect">
              <a:avLst/>
            </a:prstGeom>
          </p:spPr>
        </p:pic>
        <p:pic>
          <p:nvPicPr>
            <p:cNvPr id="1550" name="Image 27" descr="/home/claude/voi_deck/icons/person_gray.png">
              <a:extLst>
                <a:ext uri="{FF2B5EF4-FFF2-40B4-BE49-F238E27FC236}">
                  <a16:creationId xmlns:a16="http://schemas.microsoft.com/office/drawing/2014/main" id="{D0C4B4A5-522A-0ED6-6786-9001E01D6BE8}"/>
                </a:ext>
              </a:extLst>
            </p:cNvPr>
            <p:cNvPicPr>
              <a:picLocks noChangeAspect="1"/>
            </p:cNvPicPr>
            <p:nvPr/>
          </p:nvPicPr>
          <p:blipFill>
            <a:blip r:embed="rId19"/>
            <a:stretch>
              <a:fillRect/>
            </a:stretch>
          </p:blipFill>
          <p:spPr>
            <a:xfrm>
              <a:off x="8897112" y="4530852"/>
              <a:ext cx="128016" cy="128016"/>
            </a:xfrm>
            <a:prstGeom prst="rect">
              <a:avLst/>
            </a:prstGeom>
          </p:spPr>
        </p:pic>
        <p:pic>
          <p:nvPicPr>
            <p:cNvPr id="1551" name="Image 28" descr="/home/claude/voi_deck/icons/person_gray.png">
              <a:extLst>
                <a:ext uri="{FF2B5EF4-FFF2-40B4-BE49-F238E27FC236}">
                  <a16:creationId xmlns:a16="http://schemas.microsoft.com/office/drawing/2014/main" id="{797E1C9C-95FB-42BC-2555-3BC4CE22B51E}"/>
                </a:ext>
              </a:extLst>
            </p:cNvPr>
            <p:cNvPicPr>
              <a:picLocks noChangeAspect="1"/>
            </p:cNvPicPr>
            <p:nvPr/>
          </p:nvPicPr>
          <p:blipFill>
            <a:blip r:embed="rId19"/>
            <a:stretch>
              <a:fillRect/>
            </a:stretch>
          </p:blipFill>
          <p:spPr>
            <a:xfrm>
              <a:off x="9038844" y="4530852"/>
              <a:ext cx="128016" cy="128016"/>
            </a:xfrm>
            <a:prstGeom prst="rect">
              <a:avLst/>
            </a:prstGeom>
          </p:spPr>
        </p:pic>
        <p:sp>
          <p:nvSpPr>
            <p:cNvPr id="1552" name="Text 99">
              <a:extLst>
                <a:ext uri="{FF2B5EF4-FFF2-40B4-BE49-F238E27FC236}">
                  <a16:creationId xmlns:a16="http://schemas.microsoft.com/office/drawing/2014/main" id="{DE457D42-775A-F723-01E2-B41CD32E163C}"/>
                </a:ext>
              </a:extLst>
            </p:cNvPr>
            <p:cNvSpPr txBox="1"/>
            <p:nvPr/>
          </p:nvSpPr>
          <p:spPr>
            <a:xfrm>
              <a:off x="996238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553" name="Text 100">
              <a:extLst>
                <a:ext uri="{FF2B5EF4-FFF2-40B4-BE49-F238E27FC236}">
                  <a16:creationId xmlns:a16="http://schemas.microsoft.com/office/drawing/2014/main" id="{73ED90CC-A970-77FE-A5FA-9C7067A6292C}"/>
                </a:ext>
              </a:extLst>
            </p:cNvPr>
            <p:cNvSpPr txBox="1"/>
            <p:nvPr/>
          </p:nvSpPr>
          <p:spPr>
            <a:xfrm>
              <a:off x="996238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35.9%</a:t>
              </a:r>
              <a:endParaRPr lang="en-US" sz="1200"/>
            </a:p>
          </p:txBody>
        </p:sp>
        <p:graphicFrame>
          <p:nvGraphicFramePr>
            <p:cNvPr id="1554" name="Chart 5">
              <a:extLst>
                <a:ext uri="{FF2B5EF4-FFF2-40B4-BE49-F238E27FC236}">
                  <a16:creationId xmlns:a16="http://schemas.microsoft.com/office/drawing/2014/main" id="{330D0A49-E91B-9115-35BE-A3493EAC6603}"/>
                </a:ext>
              </a:extLst>
            </p:cNvPr>
            <p:cNvGraphicFramePr/>
            <p:nvPr>
              <p:extLst>
                <p:ext uri="{D42A27DB-BD31-4B8C-83A1-F6EECF244321}">
                  <p14:modId xmlns:p14="http://schemas.microsoft.com/office/powerpoint/2010/main" val="3954029436"/>
                </p:ext>
              </p:extLst>
            </p:nvPr>
          </p:nvGraphicFramePr>
          <p:xfrm>
            <a:off x="11045952" y="4274820"/>
            <a:ext cx="420624" cy="420624"/>
          </p:xfrm>
          <a:graphic>
            <a:graphicData uri="http://schemas.openxmlformats.org/drawingml/2006/chart">
              <c:chart xmlns:c="http://schemas.openxmlformats.org/drawingml/2006/chart" xmlns:r="http://schemas.openxmlformats.org/officeDocument/2006/relationships" r:id="rId24"/>
            </a:graphicData>
          </a:graphic>
        </p:graphicFrame>
        <p:sp>
          <p:nvSpPr>
            <p:cNvPr id="1555" name="Shape 101">
              <a:extLst>
                <a:ext uri="{FF2B5EF4-FFF2-40B4-BE49-F238E27FC236}">
                  <a16:creationId xmlns:a16="http://schemas.microsoft.com/office/drawing/2014/main" id="{AC812FD1-909A-3D87-EBDB-2981B29B2A91}"/>
                </a:ext>
              </a:extLst>
            </p:cNvPr>
            <p:cNvSpPr/>
            <p:nvPr/>
          </p:nvSpPr>
          <p:spPr>
            <a:xfrm>
              <a:off x="320040" y="4782312"/>
              <a:ext cx="11219688" cy="1600200"/>
            </a:xfrm>
            <a:prstGeom prst="roundRect">
              <a:avLst>
                <a:gd name="adj" fmla="val 3429"/>
              </a:avLst>
            </a:prstGeom>
            <a:solidFill>
              <a:srgbClr val="FFFFFF"/>
            </a:solidFill>
            <a:ln w="12700">
              <a:solidFill>
                <a:srgbClr val="E4E7E1"/>
              </a:solidFill>
              <a:prstDash val="solid"/>
            </a:ln>
          </p:spPr>
          <p:txBody>
            <a:bodyPr/>
            <a:lstStyle/>
            <a:p>
              <a:endParaRPr lang="es-PE"/>
            </a:p>
          </p:txBody>
        </p:sp>
        <p:sp>
          <p:nvSpPr>
            <p:cNvPr id="1556" name="Shape 102">
              <a:extLst>
                <a:ext uri="{FF2B5EF4-FFF2-40B4-BE49-F238E27FC236}">
                  <a16:creationId xmlns:a16="http://schemas.microsoft.com/office/drawing/2014/main" id="{D7FF38CE-B2A0-69E3-6070-9F4F8773DA2A}"/>
                </a:ext>
              </a:extLst>
            </p:cNvPr>
            <p:cNvSpPr/>
            <p:nvPr/>
          </p:nvSpPr>
          <p:spPr>
            <a:xfrm>
              <a:off x="374904" y="5436108"/>
              <a:ext cx="292608" cy="292608"/>
            </a:xfrm>
            <a:prstGeom prst="ellipse">
              <a:avLst/>
            </a:prstGeom>
            <a:solidFill>
              <a:srgbClr val="3E4C59"/>
            </a:solidFill>
            <a:ln/>
          </p:spPr>
          <p:txBody>
            <a:bodyPr/>
            <a:lstStyle/>
            <a:p>
              <a:endParaRPr lang="es-PE"/>
            </a:p>
          </p:txBody>
        </p:sp>
        <p:pic>
          <p:nvPicPr>
            <p:cNvPr id="1557" name="Image 29" descr="/home/claude/voi_deck/icons/percent.png">
              <a:extLst>
                <a:ext uri="{FF2B5EF4-FFF2-40B4-BE49-F238E27FC236}">
                  <a16:creationId xmlns:a16="http://schemas.microsoft.com/office/drawing/2014/main" id="{1B18FFBB-E203-682F-C906-5637B51F6CDE}"/>
                </a:ext>
              </a:extLst>
            </p:cNvPr>
            <p:cNvPicPr>
              <a:picLocks noChangeAspect="1"/>
            </p:cNvPicPr>
            <p:nvPr/>
          </p:nvPicPr>
          <p:blipFill>
            <a:blip r:embed="rId25"/>
            <a:stretch>
              <a:fillRect/>
            </a:stretch>
          </p:blipFill>
          <p:spPr>
            <a:xfrm>
              <a:off x="448056" y="5509260"/>
              <a:ext cx="146304" cy="146304"/>
            </a:xfrm>
            <a:prstGeom prst="rect">
              <a:avLst/>
            </a:prstGeom>
          </p:spPr>
        </p:pic>
        <p:sp>
          <p:nvSpPr>
            <p:cNvPr id="1558" name="Text 103">
              <a:extLst>
                <a:ext uri="{FF2B5EF4-FFF2-40B4-BE49-F238E27FC236}">
                  <a16:creationId xmlns:a16="http://schemas.microsoft.com/office/drawing/2014/main" id="{3275FCBC-1EC8-02F6-41FD-8CDD9E801B80}"/>
                </a:ext>
              </a:extLst>
            </p:cNvPr>
            <p:cNvSpPr txBox="1"/>
            <p:nvPr/>
          </p:nvSpPr>
          <p:spPr>
            <a:xfrm>
              <a:off x="704088" y="4782312"/>
              <a:ext cx="676656" cy="1600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COMPOSICIÓN DEL DESCUENTO</a:t>
              </a:r>
              <a:endParaRPr lang="en-US" sz="750"/>
            </a:p>
          </p:txBody>
        </p:sp>
        <p:sp>
          <p:nvSpPr>
            <p:cNvPr id="1559" name="Text 104">
              <a:extLst>
                <a:ext uri="{FF2B5EF4-FFF2-40B4-BE49-F238E27FC236}">
                  <a16:creationId xmlns:a16="http://schemas.microsoft.com/office/drawing/2014/main" id="{24EE0F43-0D72-1608-DAB6-E30888FF47B9}"/>
                </a:ext>
              </a:extLst>
            </p:cNvPr>
            <p:cNvSpPr txBox="1"/>
            <p:nvPr/>
          </p:nvSpPr>
          <p:spPr>
            <a:xfrm>
              <a:off x="156362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1560" name="Shape 110">
              <a:extLst>
                <a:ext uri="{FF2B5EF4-FFF2-40B4-BE49-F238E27FC236}">
                  <a16:creationId xmlns:a16="http://schemas.microsoft.com/office/drawing/2014/main" id="{66B51319-3C22-7041-44F8-19E70ABE706B}"/>
                </a:ext>
              </a:extLst>
            </p:cNvPr>
            <p:cNvSpPr/>
            <p:nvPr/>
          </p:nvSpPr>
          <p:spPr>
            <a:xfrm>
              <a:off x="1563624" y="5184648"/>
              <a:ext cx="73152" cy="73152"/>
            </a:xfrm>
            <a:prstGeom prst="rect">
              <a:avLst/>
            </a:prstGeom>
            <a:solidFill>
              <a:srgbClr val="1D9E75"/>
            </a:solidFill>
            <a:ln/>
          </p:spPr>
          <p:txBody>
            <a:bodyPr/>
            <a:lstStyle/>
            <a:p>
              <a:endParaRPr/>
            </a:p>
          </p:txBody>
        </p:sp>
        <p:sp>
          <p:nvSpPr>
            <p:cNvPr id="1561" name="Text 111">
              <a:extLst>
                <a:ext uri="{FF2B5EF4-FFF2-40B4-BE49-F238E27FC236}">
                  <a16:creationId xmlns:a16="http://schemas.microsoft.com/office/drawing/2014/main" id="{1D04E4B0-B93C-01DB-E7E8-14A32EF7C9E0}"/>
                </a:ext>
              </a:extLst>
            </p:cNvPr>
            <p:cNvSpPr txBox="1"/>
            <p:nvPr/>
          </p:nvSpPr>
          <p:spPr>
            <a:xfrm>
              <a:off x="166420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1562" name="Shape 112">
              <a:extLst>
                <a:ext uri="{FF2B5EF4-FFF2-40B4-BE49-F238E27FC236}">
                  <a16:creationId xmlns:a16="http://schemas.microsoft.com/office/drawing/2014/main" id="{A8B42D33-67AA-A82A-9D64-D32B39172850}"/>
                </a:ext>
              </a:extLst>
            </p:cNvPr>
            <p:cNvSpPr/>
            <p:nvPr/>
          </p:nvSpPr>
          <p:spPr>
            <a:xfrm>
              <a:off x="1830172" y="5184648"/>
              <a:ext cx="73152" cy="73152"/>
            </a:xfrm>
            <a:prstGeom prst="rect">
              <a:avLst/>
            </a:prstGeom>
            <a:solidFill>
              <a:srgbClr val="D9861F"/>
            </a:solidFill>
            <a:ln/>
          </p:spPr>
          <p:txBody>
            <a:bodyPr/>
            <a:lstStyle/>
            <a:p>
              <a:endParaRPr/>
            </a:p>
          </p:txBody>
        </p:sp>
        <p:sp>
          <p:nvSpPr>
            <p:cNvPr id="1563" name="Text 113">
              <a:extLst>
                <a:ext uri="{FF2B5EF4-FFF2-40B4-BE49-F238E27FC236}">
                  <a16:creationId xmlns:a16="http://schemas.microsoft.com/office/drawing/2014/main" id="{25B617DF-07AB-C40C-94C7-FE48ABB4D54C}"/>
                </a:ext>
              </a:extLst>
            </p:cNvPr>
            <p:cNvSpPr txBox="1"/>
            <p:nvPr/>
          </p:nvSpPr>
          <p:spPr>
            <a:xfrm>
              <a:off x="193075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1564" name="Shape 114">
              <a:extLst>
                <a:ext uri="{FF2B5EF4-FFF2-40B4-BE49-F238E27FC236}">
                  <a16:creationId xmlns:a16="http://schemas.microsoft.com/office/drawing/2014/main" id="{D4F7337B-E092-6C38-9F47-3BC0612B1842}"/>
                </a:ext>
              </a:extLst>
            </p:cNvPr>
            <p:cNvSpPr/>
            <p:nvPr/>
          </p:nvSpPr>
          <p:spPr>
            <a:xfrm>
              <a:off x="2096719" y="5184648"/>
              <a:ext cx="73152" cy="73152"/>
            </a:xfrm>
            <a:prstGeom prst="rect">
              <a:avLst/>
            </a:prstGeom>
            <a:solidFill>
              <a:srgbClr val="C0392B"/>
            </a:solidFill>
            <a:ln/>
          </p:spPr>
          <p:txBody>
            <a:bodyPr/>
            <a:lstStyle/>
            <a:p>
              <a:endParaRPr/>
            </a:p>
          </p:txBody>
        </p:sp>
        <p:sp>
          <p:nvSpPr>
            <p:cNvPr id="1565" name="Text 115">
              <a:extLst>
                <a:ext uri="{FF2B5EF4-FFF2-40B4-BE49-F238E27FC236}">
                  <a16:creationId xmlns:a16="http://schemas.microsoft.com/office/drawing/2014/main" id="{CECB510E-2297-BC5C-D3DB-C7A6D751F9CA}"/>
                </a:ext>
              </a:extLst>
            </p:cNvPr>
            <p:cNvSpPr txBox="1"/>
            <p:nvPr/>
          </p:nvSpPr>
          <p:spPr>
            <a:xfrm>
              <a:off x="219730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1566" name="Text 116">
              <a:extLst>
                <a:ext uri="{FF2B5EF4-FFF2-40B4-BE49-F238E27FC236}">
                  <a16:creationId xmlns:a16="http://schemas.microsoft.com/office/drawing/2014/main" id="{56DB5B24-AE2A-34D3-5425-3E1BAD645FC5}"/>
                </a:ext>
              </a:extLst>
            </p:cNvPr>
            <p:cNvSpPr txBox="1"/>
            <p:nvPr/>
          </p:nvSpPr>
          <p:spPr>
            <a:xfrm>
              <a:off x="156362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1567" name="Text 145">
              <a:extLst>
                <a:ext uri="{FF2B5EF4-FFF2-40B4-BE49-F238E27FC236}">
                  <a16:creationId xmlns:a16="http://schemas.microsoft.com/office/drawing/2014/main" id="{6E2B2960-52B7-1D64-530A-27118EA4A069}"/>
                </a:ext>
              </a:extLst>
            </p:cNvPr>
            <p:cNvSpPr txBox="1"/>
            <p:nvPr/>
          </p:nvSpPr>
          <p:spPr>
            <a:xfrm>
              <a:off x="1563624" y="6135624"/>
              <a:ext cx="3099816" cy="2103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La empresa más antigua (10+ años) reparte su deuda entre bancos: SOW de 24%.</a:t>
              </a:r>
              <a:endParaRPr lang="en-US" sz="850"/>
            </a:p>
          </p:txBody>
        </p:sp>
        <p:sp>
          <p:nvSpPr>
            <p:cNvPr id="1568" name="Text 146">
              <a:extLst>
                <a:ext uri="{FF2B5EF4-FFF2-40B4-BE49-F238E27FC236}">
                  <a16:creationId xmlns:a16="http://schemas.microsoft.com/office/drawing/2014/main" id="{AB01B40D-38B8-3427-5442-3AC5E4006E9B}"/>
                </a:ext>
              </a:extLst>
            </p:cNvPr>
            <p:cNvSpPr txBox="1"/>
            <p:nvPr/>
          </p:nvSpPr>
          <p:spPr>
            <a:xfrm>
              <a:off x="494690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1569" name="Shape 152">
              <a:extLst>
                <a:ext uri="{FF2B5EF4-FFF2-40B4-BE49-F238E27FC236}">
                  <a16:creationId xmlns:a16="http://schemas.microsoft.com/office/drawing/2014/main" id="{C7BB03AA-2354-8B44-666C-731F4AEEF661}"/>
                </a:ext>
              </a:extLst>
            </p:cNvPr>
            <p:cNvSpPr/>
            <p:nvPr/>
          </p:nvSpPr>
          <p:spPr>
            <a:xfrm>
              <a:off x="4946904" y="5184648"/>
              <a:ext cx="73152" cy="73152"/>
            </a:xfrm>
            <a:prstGeom prst="rect">
              <a:avLst/>
            </a:prstGeom>
            <a:solidFill>
              <a:srgbClr val="1D9E75"/>
            </a:solidFill>
            <a:ln/>
          </p:spPr>
          <p:txBody>
            <a:bodyPr/>
            <a:lstStyle/>
            <a:p>
              <a:endParaRPr/>
            </a:p>
          </p:txBody>
        </p:sp>
        <p:sp>
          <p:nvSpPr>
            <p:cNvPr id="1570" name="Text 153">
              <a:extLst>
                <a:ext uri="{FF2B5EF4-FFF2-40B4-BE49-F238E27FC236}">
                  <a16:creationId xmlns:a16="http://schemas.microsoft.com/office/drawing/2014/main" id="{8C1DDC52-2104-3678-7706-B790DE78612A}"/>
                </a:ext>
              </a:extLst>
            </p:cNvPr>
            <p:cNvSpPr txBox="1"/>
            <p:nvPr/>
          </p:nvSpPr>
          <p:spPr>
            <a:xfrm>
              <a:off x="504748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1571" name="Shape 154">
              <a:extLst>
                <a:ext uri="{FF2B5EF4-FFF2-40B4-BE49-F238E27FC236}">
                  <a16:creationId xmlns:a16="http://schemas.microsoft.com/office/drawing/2014/main" id="{DD024E8E-1987-48C0-053A-91C0586F454C}"/>
                </a:ext>
              </a:extLst>
            </p:cNvPr>
            <p:cNvSpPr/>
            <p:nvPr/>
          </p:nvSpPr>
          <p:spPr>
            <a:xfrm>
              <a:off x="5213452" y="5184648"/>
              <a:ext cx="73152" cy="73152"/>
            </a:xfrm>
            <a:prstGeom prst="rect">
              <a:avLst/>
            </a:prstGeom>
            <a:solidFill>
              <a:srgbClr val="D9861F"/>
            </a:solidFill>
            <a:ln/>
          </p:spPr>
          <p:txBody>
            <a:bodyPr/>
            <a:lstStyle/>
            <a:p>
              <a:endParaRPr/>
            </a:p>
          </p:txBody>
        </p:sp>
        <p:sp>
          <p:nvSpPr>
            <p:cNvPr id="1572" name="Text 155">
              <a:extLst>
                <a:ext uri="{FF2B5EF4-FFF2-40B4-BE49-F238E27FC236}">
                  <a16:creationId xmlns:a16="http://schemas.microsoft.com/office/drawing/2014/main" id="{AE70EF95-8C30-38BC-AA36-372DB0730D6E}"/>
                </a:ext>
              </a:extLst>
            </p:cNvPr>
            <p:cNvSpPr txBox="1"/>
            <p:nvPr/>
          </p:nvSpPr>
          <p:spPr>
            <a:xfrm>
              <a:off x="531403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1573" name="Shape 156">
              <a:extLst>
                <a:ext uri="{FF2B5EF4-FFF2-40B4-BE49-F238E27FC236}">
                  <a16:creationId xmlns:a16="http://schemas.microsoft.com/office/drawing/2014/main" id="{82A7EE95-E820-EC84-C49A-6E75331A913D}"/>
                </a:ext>
              </a:extLst>
            </p:cNvPr>
            <p:cNvSpPr/>
            <p:nvPr/>
          </p:nvSpPr>
          <p:spPr>
            <a:xfrm>
              <a:off x="5479999" y="5184648"/>
              <a:ext cx="73152" cy="73152"/>
            </a:xfrm>
            <a:prstGeom prst="rect">
              <a:avLst/>
            </a:prstGeom>
            <a:solidFill>
              <a:srgbClr val="C0392B"/>
            </a:solidFill>
            <a:ln/>
          </p:spPr>
          <p:txBody>
            <a:bodyPr/>
            <a:lstStyle/>
            <a:p>
              <a:endParaRPr/>
            </a:p>
          </p:txBody>
        </p:sp>
        <p:sp>
          <p:nvSpPr>
            <p:cNvPr id="1574" name="Text 157">
              <a:extLst>
                <a:ext uri="{FF2B5EF4-FFF2-40B4-BE49-F238E27FC236}">
                  <a16:creationId xmlns:a16="http://schemas.microsoft.com/office/drawing/2014/main" id="{B9988CEF-DCD6-EF61-7B20-390AF0A09E76}"/>
                </a:ext>
              </a:extLst>
            </p:cNvPr>
            <p:cNvSpPr txBox="1"/>
            <p:nvPr/>
          </p:nvSpPr>
          <p:spPr>
            <a:xfrm>
              <a:off x="558058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1575" name="Text 158">
              <a:extLst>
                <a:ext uri="{FF2B5EF4-FFF2-40B4-BE49-F238E27FC236}">
                  <a16:creationId xmlns:a16="http://schemas.microsoft.com/office/drawing/2014/main" id="{49FB8FC6-FEB3-43C8-6BCC-49B110911432}"/>
                </a:ext>
              </a:extLst>
            </p:cNvPr>
            <p:cNvSpPr txBox="1"/>
            <p:nvPr/>
          </p:nvSpPr>
          <p:spPr>
            <a:xfrm>
              <a:off x="494690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1576" name="Text 187">
              <a:extLst>
                <a:ext uri="{FF2B5EF4-FFF2-40B4-BE49-F238E27FC236}">
                  <a16:creationId xmlns:a16="http://schemas.microsoft.com/office/drawing/2014/main" id="{D83E14F7-C6E5-3EEA-3426-ACB6E6ACF9A5}"/>
                </a:ext>
              </a:extLst>
            </p:cNvPr>
            <p:cNvSpPr txBox="1"/>
            <p:nvPr/>
          </p:nvSpPr>
          <p:spPr>
            <a:xfrm>
              <a:off x="4946904" y="6135624"/>
              <a:ext cx="3099816" cy="2103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El mayor ticket (S/ 244k) y las mayores ventas, con el SOW más bajo (11%).</a:t>
              </a:r>
              <a:endParaRPr lang="en-US" sz="850"/>
            </a:p>
          </p:txBody>
        </p:sp>
        <p:sp>
          <p:nvSpPr>
            <p:cNvPr id="1577" name="Text 188">
              <a:extLst>
                <a:ext uri="{FF2B5EF4-FFF2-40B4-BE49-F238E27FC236}">
                  <a16:creationId xmlns:a16="http://schemas.microsoft.com/office/drawing/2014/main" id="{92399ADE-27F8-73AC-CC99-0BB48832172D}"/>
                </a:ext>
              </a:extLst>
            </p:cNvPr>
            <p:cNvSpPr txBox="1"/>
            <p:nvPr/>
          </p:nvSpPr>
          <p:spPr>
            <a:xfrm>
              <a:off x="833018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1578" name="Shape 194">
              <a:extLst>
                <a:ext uri="{FF2B5EF4-FFF2-40B4-BE49-F238E27FC236}">
                  <a16:creationId xmlns:a16="http://schemas.microsoft.com/office/drawing/2014/main" id="{D3E76A4E-6A2C-9D45-D411-471EE9C29078}"/>
                </a:ext>
              </a:extLst>
            </p:cNvPr>
            <p:cNvSpPr/>
            <p:nvPr/>
          </p:nvSpPr>
          <p:spPr>
            <a:xfrm>
              <a:off x="8330184" y="5184648"/>
              <a:ext cx="73152" cy="73152"/>
            </a:xfrm>
            <a:prstGeom prst="rect">
              <a:avLst/>
            </a:prstGeom>
            <a:solidFill>
              <a:srgbClr val="1D9E75"/>
            </a:solidFill>
            <a:ln/>
          </p:spPr>
          <p:txBody>
            <a:bodyPr/>
            <a:lstStyle/>
            <a:p>
              <a:endParaRPr/>
            </a:p>
          </p:txBody>
        </p:sp>
        <p:sp>
          <p:nvSpPr>
            <p:cNvPr id="1579" name="Text 195">
              <a:extLst>
                <a:ext uri="{FF2B5EF4-FFF2-40B4-BE49-F238E27FC236}">
                  <a16:creationId xmlns:a16="http://schemas.microsoft.com/office/drawing/2014/main" id="{282400F3-79F4-CCA1-9BD0-96D8BF323522}"/>
                </a:ext>
              </a:extLst>
            </p:cNvPr>
            <p:cNvSpPr txBox="1"/>
            <p:nvPr/>
          </p:nvSpPr>
          <p:spPr>
            <a:xfrm>
              <a:off x="843076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1580" name="Shape 196">
              <a:extLst>
                <a:ext uri="{FF2B5EF4-FFF2-40B4-BE49-F238E27FC236}">
                  <a16:creationId xmlns:a16="http://schemas.microsoft.com/office/drawing/2014/main" id="{14A5A347-1EFD-E93A-D866-D0DD8E9DCC5F}"/>
                </a:ext>
              </a:extLst>
            </p:cNvPr>
            <p:cNvSpPr/>
            <p:nvPr/>
          </p:nvSpPr>
          <p:spPr>
            <a:xfrm>
              <a:off x="8596732" y="5184648"/>
              <a:ext cx="73152" cy="73152"/>
            </a:xfrm>
            <a:prstGeom prst="rect">
              <a:avLst/>
            </a:prstGeom>
            <a:solidFill>
              <a:srgbClr val="D9861F"/>
            </a:solidFill>
            <a:ln/>
          </p:spPr>
          <p:txBody>
            <a:bodyPr/>
            <a:lstStyle/>
            <a:p>
              <a:endParaRPr/>
            </a:p>
          </p:txBody>
        </p:sp>
        <p:sp>
          <p:nvSpPr>
            <p:cNvPr id="1581" name="Text 197">
              <a:extLst>
                <a:ext uri="{FF2B5EF4-FFF2-40B4-BE49-F238E27FC236}">
                  <a16:creationId xmlns:a16="http://schemas.microsoft.com/office/drawing/2014/main" id="{1ED4F5A0-5DD5-3EB7-A00D-C0937D9ED675}"/>
                </a:ext>
              </a:extLst>
            </p:cNvPr>
            <p:cNvSpPr txBox="1"/>
            <p:nvPr/>
          </p:nvSpPr>
          <p:spPr>
            <a:xfrm>
              <a:off x="869731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1582" name="Shape 198">
              <a:extLst>
                <a:ext uri="{FF2B5EF4-FFF2-40B4-BE49-F238E27FC236}">
                  <a16:creationId xmlns:a16="http://schemas.microsoft.com/office/drawing/2014/main" id="{36E92D29-CC8C-BEB1-0742-108F1FE80C1A}"/>
                </a:ext>
              </a:extLst>
            </p:cNvPr>
            <p:cNvSpPr/>
            <p:nvPr/>
          </p:nvSpPr>
          <p:spPr>
            <a:xfrm>
              <a:off x="8863279" y="5184648"/>
              <a:ext cx="73152" cy="73152"/>
            </a:xfrm>
            <a:prstGeom prst="rect">
              <a:avLst/>
            </a:prstGeom>
            <a:solidFill>
              <a:srgbClr val="C0392B"/>
            </a:solidFill>
            <a:ln/>
          </p:spPr>
          <p:txBody>
            <a:bodyPr/>
            <a:lstStyle/>
            <a:p>
              <a:endParaRPr/>
            </a:p>
          </p:txBody>
        </p:sp>
        <p:sp>
          <p:nvSpPr>
            <p:cNvPr id="1583" name="Text 199">
              <a:extLst>
                <a:ext uri="{FF2B5EF4-FFF2-40B4-BE49-F238E27FC236}">
                  <a16:creationId xmlns:a16="http://schemas.microsoft.com/office/drawing/2014/main" id="{C0E2D267-13E1-2540-041F-8BC6FF8C3AD4}"/>
                </a:ext>
              </a:extLst>
            </p:cNvPr>
            <p:cNvSpPr txBox="1"/>
            <p:nvPr/>
          </p:nvSpPr>
          <p:spPr>
            <a:xfrm>
              <a:off x="896386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1584" name="Text 200">
              <a:extLst>
                <a:ext uri="{FF2B5EF4-FFF2-40B4-BE49-F238E27FC236}">
                  <a16:creationId xmlns:a16="http://schemas.microsoft.com/office/drawing/2014/main" id="{A7BB122E-434C-EEA6-2422-F3A2D7E0F834}"/>
                </a:ext>
              </a:extLst>
            </p:cNvPr>
            <p:cNvSpPr txBox="1"/>
            <p:nvPr/>
          </p:nvSpPr>
          <p:spPr>
            <a:xfrm>
              <a:off x="833018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1585" name="Text 229">
              <a:extLst>
                <a:ext uri="{FF2B5EF4-FFF2-40B4-BE49-F238E27FC236}">
                  <a16:creationId xmlns:a16="http://schemas.microsoft.com/office/drawing/2014/main" id="{4D6A7E9C-A623-86A0-8906-708B2E837261}"/>
                </a:ext>
              </a:extLst>
            </p:cNvPr>
            <p:cNvSpPr txBox="1"/>
            <p:nvPr/>
          </p:nvSpPr>
          <p:spPr>
            <a:xfrm>
              <a:off x="8330184" y="6135624"/>
              <a:ext cx="3099816" cy="2103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Paga la TEA más alta (18.9%) y casi no renueva (1.7%) pese a un SOW medio.</a:t>
              </a:r>
              <a:endParaRPr lang="en-US" sz="850"/>
            </a:p>
          </p:txBody>
        </p:sp>
        <p:sp>
          <p:nvSpPr>
            <p:cNvPr id="1586" name="Shape 230">
              <a:extLst>
                <a:ext uri="{FF2B5EF4-FFF2-40B4-BE49-F238E27FC236}">
                  <a16:creationId xmlns:a16="http://schemas.microsoft.com/office/drawing/2014/main" id="{177B0137-81BB-8B56-1480-EF1EAC0887CA}"/>
                </a:ext>
              </a:extLst>
            </p:cNvPr>
            <p:cNvSpPr/>
            <p:nvPr/>
          </p:nvSpPr>
          <p:spPr>
            <a:xfrm>
              <a:off x="320040" y="6455664"/>
              <a:ext cx="11219688" cy="384048"/>
            </a:xfrm>
            <a:prstGeom prst="roundRect">
              <a:avLst>
                <a:gd name="adj" fmla="val 14286"/>
              </a:avLst>
            </a:prstGeom>
            <a:solidFill>
              <a:srgbClr val="FFFFFF"/>
            </a:solidFill>
            <a:ln w="12700">
              <a:solidFill>
                <a:srgbClr val="E4E7E1"/>
              </a:solidFill>
              <a:prstDash val="solid"/>
            </a:ln>
          </p:spPr>
          <p:txBody>
            <a:bodyPr/>
            <a:lstStyle/>
            <a:p>
              <a:endParaRPr lang="es-PE"/>
            </a:p>
          </p:txBody>
        </p:sp>
        <p:sp>
          <p:nvSpPr>
            <p:cNvPr id="1587" name="Shape 231">
              <a:extLst>
                <a:ext uri="{FF2B5EF4-FFF2-40B4-BE49-F238E27FC236}">
                  <a16:creationId xmlns:a16="http://schemas.microsoft.com/office/drawing/2014/main" id="{931F5585-2346-B05B-5FD6-0E5E5B528DDE}"/>
                </a:ext>
              </a:extLst>
            </p:cNvPr>
            <p:cNvSpPr/>
            <p:nvPr/>
          </p:nvSpPr>
          <p:spPr>
            <a:xfrm>
              <a:off x="320040" y="6455664"/>
              <a:ext cx="54864" cy="384048"/>
            </a:xfrm>
            <a:prstGeom prst="rect">
              <a:avLst/>
            </a:prstGeom>
            <a:solidFill>
              <a:srgbClr val="0E5D52"/>
            </a:solidFill>
            <a:ln/>
          </p:spPr>
          <p:txBody>
            <a:bodyPr/>
            <a:lstStyle/>
            <a:p>
              <a:endParaRPr lang="es-PE"/>
            </a:p>
          </p:txBody>
        </p:sp>
        <p:sp>
          <p:nvSpPr>
            <p:cNvPr id="1588" name="Shape 232">
              <a:extLst>
                <a:ext uri="{FF2B5EF4-FFF2-40B4-BE49-F238E27FC236}">
                  <a16:creationId xmlns:a16="http://schemas.microsoft.com/office/drawing/2014/main" id="{E8E0A519-B810-D3A2-7370-67680FA59BDA}"/>
                </a:ext>
              </a:extLst>
            </p:cNvPr>
            <p:cNvSpPr/>
            <p:nvPr/>
          </p:nvSpPr>
          <p:spPr>
            <a:xfrm>
              <a:off x="466344" y="6519672"/>
              <a:ext cx="256032" cy="256032"/>
            </a:xfrm>
            <a:prstGeom prst="ellipse">
              <a:avLst/>
            </a:prstGeom>
            <a:solidFill>
              <a:srgbClr val="0E5D52"/>
            </a:solidFill>
            <a:ln/>
          </p:spPr>
          <p:txBody>
            <a:bodyPr/>
            <a:lstStyle/>
            <a:p>
              <a:endParaRPr lang="es-PE"/>
            </a:p>
          </p:txBody>
        </p:sp>
        <p:pic>
          <p:nvPicPr>
            <p:cNvPr id="1589" name="Image 30" descr="/home/claude/voi_deck/icons/clipboard.png">
              <a:extLst>
                <a:ext uri="{FF2B5EF4-FFF2-40B4-BE49-F238E27FC236}">
                  <a16:creationId xmlns:a16="http://schemas.microsoft.com/office/drawing/2014/main" id="{291607F4-9488-ADD0-D1B4-E61368196744}"/>
                </a:ext>
              </a:extLst>
            </p:cNvPr>
            <p:cNvPicPr>
              <a:picLocks noChangeAspect="1"/>
            </p:cNvPicPr>
            <p:nvPr/>
          </p:nvPicPr>
          <p:blipFill>
            <a:blip r:embed="rId26"/>
            <a:stretch>
              <a:fillRect/>
            </a:stretch>
          </p:blipFill>
          <p:spPr>
            <a:xfrm>
              <a:off x="530352" y="6583680"/>
              <a:ext cx="128016" cy="128016"/>
            </a:xfrm>
            <a:prstGeom prst="rect">
              <a:avLst/>
            </a:prstGeom>
          </p:spPr>
        </p:pic>
        <p:sp>
          <p:nvSpPr>
            <p:cNvPr id="1590" name="Text 233">
              <a:extLst>
                <a:ext uri="{FF2B5EF4-FFF2-40B4-BE49-F238E27FC236}">
                  <a16:creationId xmlns:a16="http://schemas.microsoft.com/office/drawing/2014/main" id="{DFB7AA89-25A4-A5AF-332B-F178D196C73F}"/>
                </a:ext>
              </a:extLst>
            </p:cNvPr>
            <p:cNvSpPr txBox="1"/>
            <p:nvPr/>
          </p:nvSpPr>
          <p:spPr>
            <a:xfrm>
              <a:off x="832104" y="6455664"/>
              <a:ext cx="10579608" cy="384048"/>
            </a:xfrm>
            <a:prstGeom prst="rect">
              <a:avLst/>
            </a:prstGeom>
            <a:noFill/>
            <a:ln/>
          </p:spPr>
          <p:txBody>
            <a:bodyPr wrap="square" lIns="0" tIns="0" rIns="0" bIns="0" rtlCol="0" anchor="ctr"/>
            <a:lstStyle/>
            <a:p>
              <a:pPr marL="0" indent="0">
                <a:lnSpc>
                  <a:spcPts val="1000"/>
                </a:lnSpc>
                <a:buNone/>
              </a:pPr>
              <a:r>
                <a:rPr lang="en-US" sz="850" b="1">
                  <a:solidFill>
                    <a:srgbClr val="0E5D52"/>
                  </a:solidFill>
                  <a:latin typeface="Calibri" pitchFamily="34" charset="0"/>
                  <a:ea typeface="Calibri" pitchFamily="34" charset="-122"/>
                  <a:cs typeface="Calibri" pitchFamily="34" charset="-120"/>
                </a:rPr>
                <a:t>Nota  </a:t>
              </a:r>
              <a:r>
                <a:rPr lang="en-US" sz="850">
                  <a:solidFill>
                    <a:srgbClr val="6B7563"/>
                  </a:solidFill>
                  <a:latin typeface="Calibri" pitchFamily="34" charset="0"/>
                  <a:ea typeface="Calibri" pitchFamily="34" charset="-122"/>
                  <a:cs typeface="Calibri" pitchFamily="34" charset="-120"/>
                </a:rPr>
                <a:t>Departamento y rubro económico se evaluaron pero no diferencian entre segmentos: Lima concentra 53%–69% y Comercio + Servicios 64%–77% en todos los clusters por igual.</a:t>
              </a:r>
              <a:endParaRPr lang="en-US" sz="850"/>
            </a:p>
          </p:txBody>
        </p:sp>
        <p:sp>
          <p:nvSpPr>
            <p:cNvPr id="1591" name="Shape 273">
              <a:extLst>
                <a:ext uri="{FF2B5EF4-FFF2-40B4-BE49-F238E27FC236}">
                  <a16:creationId xmlns:a16="http://schemas.microsoft.com/office/drawing/2014/main" id="{394B3CD0-77B3-DEF0-E415-2E227FE2FB3B}"/>
                </a:ext>
              </a:extLst>
            </p:cNvPr>
            <p:cNvSpPr/>
            <p:nvPr/>
          </p:nvSpPr>
          <p:spPr>
            <a:xfrm>
              <a:off x="1563624" y="4992624"/>
              <a:ext cx="2504651" cy="137160"/>
            </a:xfrm>
            <a:prstGeom prst="rect">
              <a:avLst/>
            </a:prstGeom>
            <a:solidFill>
              <a:srgbClr val="1D9E75"/>
            </a:solidFill>
            <a:ln/>
          </p:spPr>
          <p:txBody>
            <a:bodyPr/>
            <a:lstStyle/>
            <a:p>
              <a:endParaRPr lang="es-PE"/>
            </a:p>
          </p:txBody>
        </p:sp>
        <p:sp>
          <p:nvSpPr>
            <p:cNvPr id="1592" name="Text 274">
              <a:extLst>
                <a:ext uri="{FF2B5EF4-FFF2-40B4-BE49-F238E27FC236}">
                  <a16:creationId xmlns:a16="http://schemas.microsoft.com/office/drawing/2014/main" id="{283CC3AE-AFC8-2035-507A-0BAD7F9EFC34}"/>
                </a:ext>
              </a:extLst>
            </p:cNvPr>
            <p:cNvSpPr txBox="1"/>
            <p:nvPr/>
          </p:nvSpPr>
          <p:spPr>
            <a:xfrm>
              <a:off x="1563624" y="4992624"/>
              <a:ext cx="2504651"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81%</a:t>
              </a:r>
              <a:endParaRPr lang="en-US" sz="800"/>
            </a:p>
          </p:txBody>
        </p:sp>
        <p:sp>
          <p:nvSpPr>
            <p:cNvPr id="1593" name="Shape 275">
              <a:extLst>
                <a:ext uri="{FF2B5EF4-FFF2-40B4-BE49-F238E27FC236}">
                  <a16:creationId xmlns:a16="http://schemas.microsoft.com/office/drawing/2014/main" id="{E6E92856-FEC0-E604-2EB6-45780BAFB461}"/>
                </a:ext>
              </a:extLst>
            </p:cNvPr>
            <p:cNvSpPr/>
            <p:nvPr/>
          </p:nvSpPr>
          <p:spPr>
            <a:xfrm>
              <a:off x="4068275" y="4992624"/>
              <a:ext cx="520769" cy="137160"/>
            </a:xfrm>
            <a:prstGeom prst="rect">
              <a:avLst/>
            </a:prstGeom>
            <a:solidFill>
              <a:srgbClr val="D9861F"/>
            </a:solidFill>
            <a:ln/>
          </p:spPr>
          <p:txBody>
            <a:bodyPr/>
            <a:lstStyle/>
            <a:p>
              <a:endParaRPr lang="es-PE"/>
            </a:p>
          </p:txBody>
        </p:sp>
        <p:sp>
          <p:nvSpPr>
            <p:cNvPr id="1594" name="Text 276">
              <a:extLst>
                <a:ext uri="{FF2B5EF4-FFF2-40B4-BE49-F238E27FC236}">
                  <a16:creationId xmlns:a16="http://schemas.microsoft.com/office/drawing/2014/main" id="{735017A9-E9AA-C398-6809-54775699A943}"/>
                </a:ext>
              </a:extLst>
            </p:cNvPr>
            <p:cNvSpPr txBox="1"/>
            <p:nvPr/>
          </p:nvSpPr>
          <p:spPr>
            <a:xfrm>
              <a:off x="4068275" y="4992624"/>
              <a:ext cx="520769"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17%</a:t>
              </a:r>
              <a:endParaRPr lang="en-US" sz="800"/>
            </a:p>
          </p:txBody>
        </p:sp>
        <p:sp>
          <p:nvSpPr>
            <p:cNvPr id="1595" name="Shape 277">
              <a:extLst>
                <a:ext uri="{FF2B5EF4-FFF2-40B4-BE49-F238E27FC236}">
                  <a16:creationId xmlns:a16="http://schemas.microsoft.com/office/drawing/2014/main" id="{D0411322-5F35-D09D-7D55-BFDDF876CB03}"/>
                </a:ext>
              </a:extLst>
            </p:cNvPr>
            <p:cNvSpPr/>
            <p:nvPr/>
          </p:nvSpPr>
          <p:spPr>
            <a:xfrm>
              <a:off x="4589044" y="4992624"/>
              <a:ext cx="74396" cy="137160"/>
            </a:xfrm>
            <a:prstGeom prst="rect">
              <a:avLst/>
            </a:prstGeom>
            <a:solidFill>
              <a:srgbClr val="C0392B"/>
            </a:solidFill>
            <a:ln/>
          </p:spPr>
          <p:txBody>
            <a:bodyPr/>
            <a:lstStyle/>
            <a:p>
              <a:endParaRPr lang="es-PE"/>
            </a:p>
          </p:txBody>
        </p:sp>
        <p:sp>
          <p:nvSpPr>
            <p:cNvPr id="1596" name="Shape 278">
              <a:extLst>
                <a:ext uri="{FF2B5EF4-FFF2-40B4-BE49-F238E27FC236}">
                  <a16:creationId xmlns:a16="http://schemas.microsoft.com/office/drawing/2014/main" id="{A235ED95-5890-87BF-E97C-6D77874870D3}"/>
                </a:ext>
              </a:extLst>
            </p:cNvPr>
            <p:cNvSpPr/>
            <p:nvPr/>
          </p:nvSpPr>
          <p:spPr>
            <a:xfrm>
              <a:off x="1563624" y="5696712"/>
              <a:ext cx="483571" cy="118872"/>
            </a:xfrm>
            <a:prstGeom prst="rect">
              <a:avLst/>
            </a:prstGeom>
            <a:solidFill>
              <a:srgbClr val="1D9E75"/>
            </a:solidFill>
            <a:ln/>
          </p:spPr>
          <p:txBody>
            <a:bodyPr/>
            <a:lstStyle/>
            <a:p>
              <a:endParaRPr lang="es-PE"/>
            </a:p>
          </p:txBody>
        </p:sp>
        <p:sp>
          <p:nvSpPr>
            <p:cNvPr id="1597" name="Text 279">
              <a:extLst>
                <a:ext uri="{FF2B5EF4-FFF2-40B4-BE49-F238E27FC236}">
                  <a16:creationId xmlns:a16="http://schemas.microsoft.com/office/drawing/2014/main" id="{00FC65BD-9505-7E13-0584-BAD055772187}"/>
                </a:ext>
              </a:extLst>
            </p:cNvPr>
            <p:cNvSpPr txBox="1"/>
            <p:nvPr/>
          </p:nvSpPr>
          <p:spPr>
            <a:xfrm>
              <a:off x="1563624" y="5522976"/>
              <a:ext cx="48357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16%</a:t>
              </a:r>
            </a:p>
            <a:p>
              <a:pPr marL="0" indent="0" algn="ctr">
                <a:lnSpc>
                  <a:spcPct val="100000"/>
                </a:lnSpc>
                <a:buNone/>
              </a:pPr>
              <a:r>
                <a:rPr lang="en-US" sz="500">
                  <a:solidFill>
                    <a:srgbClr val="6B7563"/>
                  </a:solidFill>
                  <a:latin typeface="Calibri" pitchFamily="34" charset="0"/>
                </a:rPr>
                <a:t>(S/ 1.1M)</a:t>
              </a:r>
              <a:endParaRPr lang="en-US" sz="500"/>
            </a:p>
          </p:txBody>
        </p:sp>
        <p:sp>
          <p:nvSpPr>
            <p:cNvPr id="1598" name="Shape 280">
              <a:extLst>
                <a:ext uri="{FF2B5EF4-FFF2-40B4-BE49-F238E27FC236}">
                  <a16:creationId xmlns:a16="http://schemas.microsoft.com/office/drawing/2014/main" id="{FE632ECA-0773-7577-E3E1-8904E39779DC}"/>
                </a:ext>
              </a:extLst>
            </p:cNvPr>
            <p:cNvSpPr/>
            <p:nvPr/>
          </p:nvSpPr>
          <p:spPr>
            <a:xfrm>
              <a:off x="1563624" y="5897880"/>
              <a:ext cx="73152" cy="73152"/>
            </a:xfrm>
            <a:prstGeom prst="rect">
              <a:avLst/>
            </a:prstGeom>
            <a:solidFill>
              <a:srgbClr val="1D9E75"/>
            </a:solidFill>
            <a:ln/>
          </p:spPr>
          <p:txBody>
            <a:bodyPr/>
            <a:lstStyle/>
            <a:p>
              <a:endParaRPr lang="es-PE"/>
            </a:p>
          </p:txBody>
        </p:sp>
        <p:sp>
          <p:nvSpPr>
            <p:cNvPr id="1599" name="Text 281">
              <a:extLst>
                <a:ext uri="{FF2B5EF4-FFF2-40B4-BE49-F238E27FC236}">
                  <a16:creationId xmlns:a16="http://schemas.microsoft.com/office/drawing/2014/main" id="{4D22A0D3-D976-78D4-0778-F105C1E9FB5B}"/>
                </a:ext>
              </a:extLst>
            </p:cNvPr>
            <p:cNvSpPr txBox="1"/>
            <p:nvPr/>
          </p:nvSpPr>
          <p:spPr>
            <a:xfrm>
              <a:off x="166420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1600" name="Shape 282">
              <a:extLst>
                <a:ext uri="{FF2B5EF4-FFF2-40B4-BE49-F238E27FC236}">
                  <a16:creationId xmlns:a16="http://schemas.microsoft.com/office/drawing/2014/main" id="{7177DEC0-A50B-6970-2CBB-486AE913C5D4}"/>
                </a:ext>
              </a:extLst>
            </p:cNvPr>
            <p:cNvSpPr/>
            <p:nvPr/>
          </p:nvSpPr>
          <p:spPr>
            <a:xfrm>
              <a:off x="2047195" y="5696712"/>
              <a:ext cx="849350" cy="118872"/>
            </a:xfrm>
            <a:prstGeom prst="rect">
              <a:avLst/>
            </a:prstGeom>
            <a:solidFill>
              <a:srgbClr val="D9861F"/>
            </a:solidFill>
            <a:ln/>
          </p:spPr>
          <p:txBody>
            <a:bodyPr/>
            <a:lstStyle/>
            <a:p>
              <a:endParaRPr lang="es-PE"/>
            </a:p>
          </p:txBody>
        </p:sp>
        <p:sp>
          <p:nvSpPr>
            <p:cNvPr id="1601" name="Text 283">
              <a:extLst>
                <a:ext uri="{FF2B5EF4-FFF2-40B4-BE49-F238E27FC236}">
                  <a16:creationId xmlns:a16="http://schemas.microsoft.com/office/drawing/2014/main" id="{1524B748-5EF8-1A51-E81A-95C6B91FB471}"/>
                </a:ext>
              </a:extLst>
            </p:cNvPr>
            <p:cNvSpPr txBox="1"/>
            <p:nvPr/>
          </p:nvSpPr>
          <p:spPr>
            <a:xfrm>
              <a:off x="2047195" y="5522976"/>
              <a:ext cx="849350"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27%</a:t>
              </a:r>
            </a:p>
            <a:p>
              <a:pPr marL="0" indent="0" algn="ctr">
                <a:lnSpc>
                  <a:spcPct val="100000"/>
                </a:lnSpc>
                <a:buNone/>
              </a:pPr>
              <a:r>
                <a:rPr lang="en-US" sz="500">
                  <a:solidFill>
                    <a:srgbClr val="6B7563"/>
                  </a:solidFill>
                  <a:latin typeface="Calibri" pitchFamily="34" charset="0"/>
                </a:rPr>
                <a:t>(S/ 2.0M)</a:t>
              </a:r>
              <a:endParaRPr lang="en-US" sz="500"/>
            </a:p>
          </p:txBody>
        </p:sp>
        <p:sp>
          <p:nvSpPr>
            <p:cNvPr id="1602" name="Shape 284">
              <a:extLst>
                <a:ext uri="{FF2B5EF4-FFF2-40B4-BE49-F238E27FC236}">
                  <a16:creationId xmlns:a16="http://schemas.microsoft.com/office/drawing/2014/main" id="{FFF0449C-29E4-D505-9D71-9BF153BD91A3}"/>
                </a:ext>
              </a:extLst>
            </p:cNvPr>
            <p:cNvSpPr/>
            <p:nvPr/>
          </p:nvSpPr>
          <p:spPr>
            <a:xfrm>
              <a:off x="2338578" y="5897880"/>
              <a:ext cx="73152" cy="73152"/>
            </a:xfrm>
            <a:prstGeom prst="rect">
              <a:avLst/>
            </a:prstGeom>
            <a:solidFill>
              <a:srgbClr val="D9861F"/>
            </a:solidFill>
            <a:ln/>
          </p:spPr>
          <p:txBody>
            <a:bodyPr/>
            <a:lstStyle/>
            <a:p>
              <a:endParaRPr lang="es-PE"/>
            </a:p>
          </p:txBody>
        </p:sp>
        <p:sp>
          <p:nvSpPr>
            <p:cNvPr id="1603" name="Text 285">
              <a:extLst>
                <a:ext uri="{FF2B5EF4-FFF2-40B4-BE49-F238E27FC236}">
                  <a16:creationId xmlns:a16="http://schemas.microsoft.com/office/drawing/2014/main" id="{AE0CBE98-FC15-5B7E-5E0A-CCCF6405FA94}"/>
                </a:ext>
              </a:extLst>
            </p:cNvPr>
            <p:cNvSpPr txBox="1"/>
            <p:nvPr/>
          </p:nvSpPr>
          <p:spPr>
            <a:xfrm>
              <a:off x="243916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1604" name="Shape 286">
              <a:extLst>
                <a:ext uri="{FF2B5EF4-FFF2-40B4-BE49-F238E27FC236}">
                  <a16:creationId xmlns:a16="http://schemas.microsoft.com/office/drawing/2014/main" id="{5A25E29F-6DBB-18E0-44CC-4A5BC5B7A679}"/>
                </a:ext>
              </a:extLst>
            </p:cNvPr>
            <p:cNvSpPr/>
            <p:nvPr/>
          </p:nvSpPr>
          <p:spPr>
            <a:xfrm>
              <a:off x="2896545" y="5696712"/>
              <a:ext cx="1032239" cy="118872"/>
            </a:xfrm>
            <a:prstGeom prst="rect">
              <a:avLst/>
            </a:prstGeom>
            <a:solidFill>
              <a:srgbClr val="8A4B0A"/>
            </a:solidFill>
            <a:ln/>
          </p:spPr>
          <p:txBody>
            <a:bodyPr/>
            <a:lstStyle/>
            <a:p>
              <a:endParaRPr lang="es-PE"/>
            </a:p>
          </p:txBody>
        </p:sp>
        <p:sp>
          <p:nvSpPr>
            <p:cNvPr id="1605" name="Text 287">
              <a:extLst>
                <a:ext uri="{FF2B5EF4-FFF2-40B4-BE49-F238E27FC236}">
                  <a16:creationId xmlns:a16="http://schemas.microsoft.com/office/drawing/2014/main" id="{5DC41CC5-D2EC-F13E-88C9-BDD31CAE05CB}"/>
                </a:ext>
              </a:extLst>
            </p:cNvPr>
            <p:cNvSpPr txBox="1"/>
            <p:nvPr/>
          </p:nvSpPr>
          <p:spPr>
            <a:xfrm>
              <a:off x="2896545" y="5522976"/>
              <a:ext cx="1032239"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33%</a:t>
              </a:r>
            </a:p>
            <a:p>
              <a:pPr marL="0" indent="0" algn="ctr">
                <a:lnSpc>
                  <a:spcPct val="100000"/>
                </a:lnSpc>
                <a:buNone/>
              </a:pPr>
              <a:r>
                <a:rPr lang="en-US" sz="500">
                  <a:solidFill>
                    <a:srgbClr val="6B7563"/>
                  </a:solidFill>
                  <a:latin typeface="Calibri" pitchFamily="34" charset="0"/>
                </a:rPr>
                <a:t>(S/ 2.4M)</a:t>
              </a:r>
              <a:endParaRPr lang="en-US" sz="500"/>
            </a:p>
          </p:txBody>
        </p:sp>
        <p:sp>
          <p:nvSpPr>
            <p:cNvPr id="1606" name="Shape 288">
              <a:extLst>
                <a:ext uri="{FF2B5EF4-FFF2-40B4-BE49-F238E27FC236}">
                  <a16:creationId xmlns:a16="http://schemas.microsoft.com/office/drawing/2014/main" id="{F29B4D5E-0CF3-C0C5-92DB-D65159DE0058}"/>
                </a:ext>
              </a:extLst>
            </p:cNvPr>
            <p:cNvSpPr/>
            <p:nvPr/>
          </p:nvSpPr>
          <p:spPr>
            <a:xfrm>
              <a:off x="3113532" y="5897880"/>
              <a:ext cx="73152" cy="73152"/>
            </a:xfrm>
            <a:prstGeom prst="rect">
              <a:avLst/>
            </a:prstGeom>
            <a:solidFill>
              <a:srgbClr val="8A4B0A"/>
            </a:solidFill>
            <a:ln/>
          </p:spPr>
          <p:txBody>
            <a:bodyPr/>
            <a:lstStyle/>
            <a:p>
              <a:endParaRPr lang="es-PE"/>
            </a:p>
          </p:txBody>
        </p:sp>
        <p:sp>
          <p:nvSpPr>
            <p:cNvPr id="1607" name="Text 289">
              <a:extLst>
                <a:ext uri="{FF2B5EF4-FFF2-40B4-BE49-F238E27FC236}">
                  <a16:creationId xmlns:a16="http://schemas.microsoft.com/office/drawing/2014/main" id="{6637B6B7-A7C8-3837-26D0-20D7CE42EB0A}"/>
                </a:ext>
              </a:extLst>
            </p:cNvPr>
            <p:cNvSpPr txBox="1"/>
            <p:nvPr/>
          </p:nvSpPr>
          <p:spPr>
            <a:xfrm>
              <a:off x="321411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1608" name="Shape 290">
              <a:extLst>
                <a:ext uri="{FF2B5EF4-FFF2-40B4-BE49-F238E27FC236}">
                  <a16:creationId xmlns:a16="http://schemas.microsoft.com/office/drawing/2014/main" id="{17B2C4EC-BA09-19CE-845D-A44D409BBEAE}"/>
                </a:ext>
              </a:extLst>
            </p:cNvPr>
            <p:cNvSpPr/>
            <p:nvPr/>
          </p:nvSpPr>
          <p:spPr>
            <a:xfrm>
              <a:off x="3928784" y="5696712"/>
              <a:ext cx="737756" cy="118872"/>
            </a:xfrm>
            <a:prstGeom prst="rect">
              <a:avLst/>
            </a:prstGeom>
            <a:solidFill>
              <a:srgbClr val="C0392B"/>
            </a:solidFill>
            <a:ln/>
          </p:spPr>
          <p:txBody>
            <a:bodyPr/>
            <a:lstStyle/>
            <a:p>
              <a:endParaRPr lang="es-PE"/>
            </a:p>
          </p:txBody>
        </p:sp>
        <p:sp>
          <p:nvSpPr>
            <p:cNvPr id="1609" name="Text 291">
              <a:extLst>
                <a:ext uri="{FF2B5EF4-FFF2-40B4-BE49-F238E27FC236}">
                  <a16:creationId xmlns:a16="http://schemas.microsoft.com/office/drawing/2014/main" id="{704C9961-F887-61BA-EA6C-4F4EB4DF4F03}"/>
                </a:ext>
              </a:extLst>
            </p:cNvPr>
            <p:cNvSpPr txBox="1"/>
            <p:nvPr/>
          </p:nvSpPr>
          <p:spPr>
            <a:xfrm>
              <a:off x="3928784" y="5522976"/>
              <a:ext cx="737756"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24%</a:t>
              </a:r>
            </a:p>
            <a:p>
              <a:pPr marL="0" indent="0" algn="ctr">
                <a:lnSpc>
                  <a:spcPct val="100000"/>
                </a:lnSpc>
                <a:buNone/>
              </a:pPr>
              <a:r>
                <a:rPr lang="en-US" sz="500">
                  <a:solidFill>
                    <a:srgbClr val="6B7563"/>
                  </a:solidFill>
                  <a:latin typeface="Calibri" pitchFamily="34" charset="0"/>
                </a:rPr>
                <a:t>(S/ 1.7M)</a:t>
              </a:r>
              <a:endParaRPr lang="en-US" sz="500"/>
            </a:p>
          </p:txBody>
        </p:sp>
        <p:sp>
          <p:nvSpPr>
            <p:cNvPr id="1610" name="Shape 292">
              <a:extLst>
                <a:ext uri="{FF2B5EF4-FFF2-40B4-BE49-F238E27FC236}">
                  <a16:creationId xmlns:a16="http://schemas.microsoft.com/office/drawing/2014/main" id="{C41E9306-BD4C-B697-9A1B-9036FCB7EA37}"/>
                </a:ext>
              </a:extLst>
            </p:cNvPr>
            <p:cNvSpPr/>
            <p:nvPr/>
          </p:nvSpPr>
          <p:spPr>
            <a:xfrm>
              <a:off x="3888486" y="5897880"/>
              <a:ext cx="73152" cy="73152"/>
            </a:xfrm>
            <a:prstGeom prst="rect">
              <a:avLst/>
            </a:prstGeom>
            <a:solidFill>
              <a:srgbClr val="C0392B"/>
            </a:solidFill>
            <a:ln/>
          </p:spPr>
          <p:txBody>
            <a:bodyPr/>
            <a:lstStyle/>
            <a:p>
              <a:endParaRPr lang="es-PE"/>
            </a:p>
          </p:txBody>
        </p:sp>
        <p:sp>
          <p:nvSpPr>
            <p:cNvPr id="1611" name="Text 293">
              <a:extLst>
                <a:ext uri="{FF2B5EF4-FFF2-40B4-BE49-F238E27FC236}">
                  <a16:creationId xmlns:a16="http://schemas.microsoft.com/office/drawing/2014/main" id="{302F376B-4201-E073-F34A-8F1E64BECB91}"/>
                </a:ext>
              </a:extLst>
            </p:cNvPr>
            <p:cNvSpPr txBox="1"/>
            <p:nvPr/>
          </p:nvSpPr>
          <p:spPr>
            <a:xfrm>
              <a:off x="398907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sp>
          <p:nvSpPr>
            <p:cNvPr id="1612" name="Shape 294">
              <a:extLst>
                <a:ext uri="{FF2B5EF4-FFF2-40B4-BE49-F238E27FC236}">
                  <a16:creationId xmlns:a16="http://schemas.microsoft.com/office/drawing/2014/main" id="{6096459D-C98D-6A1D-04E5-2B400FD88ED8}"/>
                </a:ext>
              </a:extLst>
            </p:cNvPr>
            <p:cNvSpPr/>
            <p:nvPr/>
          </p:nvSpPr>
          <p:spPr>
            <a:xfrm>
              <a:off x="4946904" y="4992624"/>
              <a:ext cx="2650343" cy="137160"/>
            </a:xfrm>
            <a:prstGeom prst="rect">
              <a:avLst/>
            </a:prstGeom>
            <a:solidFill>
              <a:srgbClr val="1D9E75"/>
            </a:solidFill>
            <a:ln/>
          </p:spPr>
          <p:txBody>
            <a:bodyPr/>
            <a:lstStyle/>
            <a:p>
              <a:endParaRPr lang="es-PE"/>
            </a:p>
          </p:txBody>
        </p:sp>
        <p:sp>
          <p:nvSpPr>
            <p:cNvPr id="1613" name="Text 295">
              <a:extLst>
                <a:ext uri="{FF2B5EF4-FFF2-40B4-BE49-F238E27FC236}">
                  <a16:creationId xmlns:a16="http://schemas.microsoft.com/office/drawing/2014/main" id="{292528BD-DF24-8AB1-4974-305696573888}"/>
                </a:ext>
              </a:extLst>
            </p:cNvPr>
            <p:cNvSpPr txBox="1"/>
            <p:nvPr/>
          </p:nvSpPr>
          <p:spPr>
            <a:xfrm>
              <a:off x="4946904" y="4992624"/>
              <a:ext cx="2650343"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86%</a:t>
              </a:r>
              <a:endParaRPr lang="en-US" sz="800"/>
            </a:p>
          </p:txBody>
        </p:sp>
        <p:sp>
          <p:nvSpPr>
            <p:cNvPr id="1614" name="Shape 296">
              <a:extLst>
                <a:ext uri="{FF2B5EF4-FFF2-40B4-BE49-F238E27FC236}">
                  <a16:creationId xmlns:a16="http://schemas.microsoft.com/office/drawing/2014/main" id="{23E27D9E-1AD6-BDAC-E91C-440B80FC273A}"/>
                </a:ext>
              </a:extLst>
            </p:cNvPr>
            <p:cNvSpPr/>
            <p:nvPr/>
          </p:nvSpPr>
          <p:spPr>
            <a:xfrm>
              <a:off x="7597247" y="4992624"/>
              <a:ext cx="393677" cy="137160"/>
            </a:xfrm>
            <a:prstGeom prst="rect">
              <a:avLst/>
            </a:prstGeom>
            <a:solidFill>
              <a:srgbClr val="D9861F"/>
            </a:solidFill>
            <a:ln/>
          </p:spPr>
          <p:txBody>
            <a:bodyPr/>
            <a:lstStyle/>
            <a:p>
              <a:endParaRPr lang="es-PE"/>
            </a:p>
          </p:txBody>
        </p:sp>
        <p:sp>
          <p:nvSpPr>
            <p:cNvPr id="1615" name="Text 297">
              <a:extLst>
                <a:ext uri="{FF2B5EF4-FFF2-40B4-BE49-F238E27FC236}">
                  <a16:creationId xmlns:a16="http://schemas.microsoft.com/office/drawing/2014/main" id="{BBC5A0D0-62D7-C3FB-D5E0-33EA8B1C58EC}"/>
                </a:ext>
              </a:extLst>
            </p:cNvPr>
            <p:cNvSpPr txBox="1"/>
            <p:nvPr/>
          </p:nvSpPr>
          <p:spPr>
            <a:xfrm>
              <a:off x="7597247" y="4992624"/>
              <a:ext cx="393677"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13%</a:t>
              </a:r>
              <a:endParaRPr lang="en-US" sz="800"/>
            </a:p>
          </p:txBody>
        </p:sp>
        <p:sp>
          <p:nvSpPr>
            <p:cNvPr id="1616" name="Shape 298">
              <a:extLst>
                <a:ext uri="{FF2B5EF4-FFF2-40B4-BE49-F238E27FC236}">
                  <a16:creationId xmlns:a16="http://schemas.microsoft.com/office/drawing/2014/main" id="{F5D6C1D0-079C-8DE1-C9D7-704F1A76462D}"/>
                </a:ext>
              </a:extLst>
            </p:cNvPr>
            <p:cNvSpPr/>
            <p:nvPr/>
          </p:nvSpPr>
          <p:spPr>
            <a:xfrm>
              <a:off x="7990923" y="4992624"/>
              <a:ext cx="55797" cy="137160"/>
            </a:xfrm>
            <a:prstGeom prst="rect">
              <a:avLst/>
            </a:prstGeom>
            <a:solidFill>
              <a:srgbClr val="C0392B"/>
            </a:solidFill>
            <a:ln/>
          </p:spPr>
          <p:txBody>
            <a:bodyPr/>
            <a:lstStyle/>
            <a:p>
              <a:endParaRPr lang="es-PE"/>
            </a:p>
          </p:txBody>
        </p:sp>
        <p:sp>
          <p:nvSpPr>
            <p:cNvPr id="1617" name="Shape 299">
              <a:extLst>
                <a:ext uri="{FF2B5EF4-FFF2-40B4-BE49-F238E27FC236}">
                  <a16:creationId xmlns:a16="http://schemas.microsoft.com/office/drawing/2014/main" id="{FAE266D4-A5B1-5161-3152-CAFC0773B437}"/>
                </a:ext>
              </a:extLst>
            </p:cNvPr>
            <p:cNvSpPr/>
            <p:nvPr/>
          </p:nvSpPr>
          <p:spPr>
            <a:xfrm>
              <a:off x="4946904" y="5696712"/>
              <a:ext cx="371978" cy="118872"/>
            </a:xfrm>
            <a:prstGeom prst="rect">
              <a:avLst/>
            </a:prstGeom>
            <a:solidFill>
              <a:srgbClr val="1D9E75"/>
            </a:solidFill>
            <a:ln/>
          </p:spPr>
          <p:txBody>
            <a:bodyPr/>
            <a:lstStyle/>
            <a:p>
              <a:endParaRPr lang="es-PE"/>
            </a:p>
          </p:txBody>
        </p:sp>
        <p:sp>
          <p:nvSpPr>
            <p:cNvPr id="1618" name="Text 300">
              <a:extLst>
                <a:ext uri="{FF2B5EF4-FFF2-40B4-BE49-F238E27FC236}">
                  <a16:creationId xmlns:a16="http://schemas.microsoft.com/office/drawing/2014/main" id="{273C6E46-E661-8523-FBED-AB5EA4321853}"/>
                </a:ext>
              </a:extLst>
            </p:cNvPr>
            <p:cNvSpPr txBox="1"/>
            <p:nvPr/>
          </p:nvSpPr>
          <p:spPr>
            <a:xfrm>
              <a:off x="4946904" y="5522976"/>
              <a:ext cx="371978"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12%</a:t>
              </a:r>
            </a:p>
            <a:p>
              <a:pPr marL="0" indent="0" algn="ctr">
                <a:lnSpc>
                  <a:spcPct val="100000"/>
                </a:lnSpc>
                <a:buNone/>
              </a:pPr>
              <a:r>
                <a:rPr lang="en-US" sz="500">
                  <a:solidFill>
                    <a:srgbClr val="6B7563"/>
                  </a:solidFill>
                  <a:latin typeface="Calibri" pitchFamily="34" charset="0"/>
                </a:rPr>
                <a:t>(S/ 1.4M)</a:t>
              </a:r>
              <a:endParaRPr lang="en-US" sz="500"/>
            </a:p>
          </p:txBody>
        </p:sp>
        <p:sp>
          <p:nvSpPr>
            <p:cNvPr id="1619" name="Shape 301">
              <a:extLst>
                <a:ext uri="{FF2B5EF4-FFF2-40B4-BE49-F238E27FC236}">
                  <a16:creationId xmlns:a16="http://schemas.microsoft.com/office/drawing/2014/main" id="{9D603A44-8E1D-B6BB-3B3B-71F48D6E0260}"/>
                </a:ext>
              </a:extLst>
            </p:cNvPr>
            <p:cNvSpPr/>
            <p:nvPr/>
          </p:nvSpPr>
          <p:spPr>
            <a:xfrm>
              <a:off x="4946904" y="5897880"/>
              <a:ext cx="73152" cy="73152"/>
            </a:xfrm>
            <a:prstGeom prst="rect">
              <a:avLst/>
            </a:prstGeom>
            <a:solidFill>
              <a:srgbClr val="1D9E75"/>
            </a:solidFill>
            <a:ln/>
          </p:spPr>
          <p:txBody>
            <a:bodyPr/>
            <a:lstStyle/>
            <a:p>
              <a:endParaRPr lang="es-PE"/>
            </a:p>
          </p:txBody>
        </p:sp>
        <p:sp>
          <p:nvSpPr>
            <p:cNvPr id="1620" name="Text 302">
              <a:extLst>
                <a:ext uri="{FF2B5EF4-FFF2-40B4-BE49-F238E27FC236}">
                  <a16:creationId xmlns:a16="http://schemas.microsoft.com/office/drawing/2014/main" id="{D8F8A59B-B11E-85E7-B04A-C3C17FE9CCBA}"/>
                </a:ext>
              </a:extLst>
            </p:cNvPr>
            <p:cNvSpPr txBox="1"/>
            <p:nvPr/>
          </p:nvSpPr>
          <p:spPr>
            <a:xfrm>
              <a:off x="504748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1621" name="Shape 303">
              <a:extLst>
                <a:ext uri="{FF2B5EF4-FFF2-40B4-BE49-F238E27FC236}">
                  <a16:creationId xmlns:a16="http://schemas.microsoft.com/office/drawing/2014/main" id="{9F8F9D1C-42BE-68D8-2371-2BAE51D71F52}"/>
                </a:ext>
              </a:extLst>
            </p:cNvPr>
            <p:cNvSpPr/>
            <p:nvPr/>
          </p:nvSpPr>
          <p:spPr>
            <a:xfrm>
              <a:off x="5318882" y="5696712"/>
              <a:ext cx="759455" cy="118872"/>
            </a:xfrm>
            <a:prstGeom prst="rect">
              <a:avLst/>
            </a:prstGeom>
            <a:solidFill>
              <a:srgbClr val="D9861F"/>
            </a:solidFill>
            <a:ln/>
          </p:spPr>
          <p:txBody>
            <a:bodyPr/>
            <a:lstStyle/>
            <a:p>
              <a:endParaRPr lang="es-PE"/>
            </a:p>
          </p:txBody>
        </p:sp>
        <p:sp>
          <p:nvSpPr>
            <p:cNvPr id="1622" name="Text 304">
              <a:extLst>
                <a:ext uri="{FF2B5EF4-FFF2-40B4-BE49-F238E27FC236}">
                  <a16:creationId xmlns:a16="http://schemas.microsoft.com/office/drawing/2014/main" id="{701F3EEE-C00A-F8ED-D456-6E37DE9F6810}"/>
                </a:ext>
              </a:extLst>
            </p:cNvPr>
            <p:cNvSpPr txBox="1"/>
            <p:nvPr/>
          </p:nvSpPr>
          <p:spPr>
            <a:xfrm>
              <a:off x="5318882" y="5522976"/>
              <a:ext cx="759455"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24%</a:t>
              </a:r>
            </a:p>
            <a:p>
              <a:pPr marL="0" indent="0" algn="ctr">
                <a:lnSpc>
                  <a:spcPct val="100000"/>
                </a:lnSpc>
                <a:buNone/>
              </a:pPr>
              <a:r>
                <a:rPr lang="en-US" sz="500">
                  <a:solidFill>
                    <a:srgbClr val="6B7563"/>
                  </a:solidFill>
                  <a:latin typeface="Calibri" pitchFamily="34" charset="0"/>
                </a:rPr>
                <a:t>(S/ 2.9M)</a:t>
              </a:r>
              <a:endParaRPr lang="en-US" sz="500"/>
            </a:p>
          </p:txBody>
        </p:sp>
        <p:sp>
          <p:nvSpPr>
            <p:cNvPr id="1623" name="Shape 305">
              <a:extLst>
                <a:ext uri="{FF2B5EF4-FFF2-40B4-BE49-F238E27FC236}">
                  <a16:creationId xmlns:a16="http://schemas.microsoft.com/office/drawing/2014/main" id="{B5CF85AF-3897-FE78-98C5-8009A5A71029}"/>
                </a:ext>
              </a:extLst>
            </p:cNvPr>
            <p:cNvSpPr/>
            <p:nvPr/>
          </p:nvSpPr>
          <p:spPr>
            <a:xfrm>
              <a:off x="5721858" y="5897880"/>
              <a:ext cx="73152" cy="73152"/>
            </a:xfrm>
            <a:prstGeom prst="rect">
              <a:avLst/>
            </a:prstGeom>
            <a:solidFill>
              <a:srgbClr val="D9861F"/>
            </a:solidFill>
            <a:ln/>
          </p:spPr>
          <p:txBody>
            <a:bodyPr/>
            <a:lstStyle/>
            <a:p>
              <a:endParaRPr lang="es-PE"/>
            </a:p>
          </p:txBody>
        </p:sp>
        <p:sp>
          <p:nvSpPr>
            <p:cNvPr id="1624" name="Text 306">
              <a:extLst>
                <a:ext uri="{FF2B5EF4-FFF2-40B4-BE49-F238E27FC236}">
                  <a16:creationId xmlns:a16="http://schemas.microsoft.com/office/drawing/2014/main" id="{ADBBAA45-EC05-9518-B58D-1087D4000228}"/>
                </a:ext>
              </a:extLst>
            </p:cNvPr>
            <p:cNvSpPr txBox="1"/>
            <p:nvPr/>
          </p:nvSpPr>
          <p:spPr>
            <a:xfrm>
              <a:off x="582244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1625" name="Shape 307">
              <a:extLst>
                <a:ext uri="{FF2B5EF4-FFF2-40B4-BE49-F238E27FC236}">
                  <a16:creationId xmlns:a16="http://schemas.microsoft.com/office/drawing/2014/main" id="{283E0E51-3246-B44E-27A4-DE3F477C463D}"/>
                </a:ext>
              </a:extLst>
            </p:cNvPr>
            <p:cNvSpPr/>
            <p:nvPr/>
          </p:nvSpPr>
          <p:spPr>
            <a:xfrm>
              <a:off x="6078337" y="5696712"/>
              <a:ext cx="1001241" cy="118872"/>
            </a:xfrm>
            <a:prstGeom prst="rect">
              <a:avLst/>
            </a:prstGeom>
            <a:solidFill>
              <a:srgbClr val="8A4B0A"/>
            </a:solidFill>
            <a:ln/>
          </p:spPr>
          <p:txBody>
            <a:bodyPr/>
            <a:lstStyle/>
            <a:p>
              <a:endParaRPr lang="es-PE"/>
            </a:p>
          </p:txBody>
        </p:sp>
        <p:sp>
          <p:nvSpPr>
            <p:cNvPr id="1626" name="Text 308">
              <a:extLst>
                <a:ext uri="{FF2B5EF4-FFF2-40B4-BE49-F238E27FC236}">
                  <a16:creationId xmlns:a16="http://schemas.microsoft.com/office/drawing/2014/main" id="{20F5F0CE-7172-9C5F-DAA3-156C6C22E333}"/>
                </a:ext>
              </a:extLst>
            </p:cNvPr>
            <p:cNvSpPr txBox="1"/>
            <p:nvPr/>
          </p:nvSpPr>
          <p:spPr>
            <a:xfrm>
              <a:off x="6078337" y="5522976"/>
              <a:ext cx="100124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32%</a:t>
              </a:r>
            </a:p>
            <a:p>
              <a:pPr marL="0" indent="0" algn="ctr">
                <a:lnSpc>
                  <a:spcPct val="100000"/>
                </a:lnSpc>
                <a:buNone/>
              </a:pPr>
              <a:r>
                <a:rPr lang="en-US" sz="500">
                  <a:solidFill>
                    <a:srgbClr val="6B7563"/>
                  </a:solidFill>
                  <a:latin typeface="Calibri" pitchFamily="34" charset="0"/>
                </a:rPr>
                <a:t>(S/ 3.8M)</a:t>
              </a:r>
              <a:endParaRPr lang="en-US" sz="500"/>
            </a:p>
          </p:txBody>
        </p:sp>
        <p:sp>
          <p:nvSpPr>
            <p:cNvPr id="1627" name="Shape 309">
              <a:extLst>
                <a:ext uri="{FF2B5EF4-FFF2-40B4-BE49-F238E27FC236}">
                  <a16:creationId xmlns:a16="http://schemas.microsoft.com/office/drawing/2014/main" id="{36F0E58B-3F69-0FD2-E480-C7BE1EE07C2C}"/>
                </a:ext>
              </a:extLst>
            </p:cNvPr>
            <p:cNvSpPr/>
            <p:nvPr/>
          </p:nvSpPr>
          <p:spPr>
            <a:xfrm>
              <a:off x="6496812" y="5897880"/>
              <a:ext cx="73152" cy="73152"/>
            </a:xfrm>
            <a:prstGeom prst="rect">
              <a:avLst/>
            </a:prstGeom>
            <a:solidFill>
              <a:srgbClr val="8A4B0A"/>
            </a:solidFill>
            <a:ln/>
          </p:spPr>
          <p:txBody>
            <a:bodyPr/>
            <a:lstStyle/>
            <a:p>
              <a:endParaRPr lang="es-PE"/>
            </a:p>
          </p:txBody>
        </p:sp>
        <p:sp>
          <p:nvSpPr>
            <p:cNvPr id="1628" name="Text 310">
              <a:extLst>
                <a:ext uri="{FF2B5EF4-FFF2-40B4-BE49-F238E27FC236}">
                  <a16:creationId xmlns:a16="http://schemas.microsoft.com/office/drawing/2014/main" id="{69F03160-0E67-D9E5-21E9-1F39D9F340D3}"/>
                </a:ext>
              </a:extLst>
            </p:cNvPr>
            <p:cNvSpPr txBox="1"/>
            <p:nvPr/>
          </p:nvSpPr>
          <p:spPr>
            <a:xfrm>
              <a:off x="659739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1629" name="Shape 311">
              <a:extLst>
                <a:ext uri="{FF2B5EF4-FFF2-40B4-BE49-F238E27FC236}">
                  <a16:creationId xmlns:a16="http://schemas.microsoft.com/office/drawing/2014/main" id="{E4CBDB53-C33C-7A66-1859-386829C59787}"/>
                </a:ext>
              </a:extLst>
            </p:cNvPr>
            <p:cNvSpPr/>
            <p:nvPr/>
          </p:nvSpPr>
          <p:spPr>
            <a:xfrm>
              <a:off x="7079577" y="5696712"/>
              <a:ext cx="967143" cy="118872"/>
            </a:xfrm>
            <a:prstGeom prst="rect">
              <a:avLst/>
            </a:prstGeom>
            <a:solidFill>
              <a:srgbClr val="C0392B"/>
            </a:solidFill>
            <a:ln/>
          </p:spPr>
          <p:txBody>
            <a:bodyPr/>
            <a:lstStyle/>
            <a:p>
              <a:endParaRPr lang="es-PE"/>
            </a:p>
          </p:txBody>
        </p:sp>
        <p:sp>
          <p:nvSpPr>
            <p:cNvPr id="1630" name="Text 312">
              <a:extLst>
                <a:ext uri="{FF2B5EF4-FFF2-40B4-BE49-F238E27FC236}">
                  <a16:creationId xmlns:a16="http://schemas.microsoft.com/office/drawing/2014/main" id="{EC5EBCF4-9B34-D3B4-1105-9B78AF6D79E0}"/>
                </a:ext>
              </a:extLst>
            </p:cNvPr>
            <p:cNvSpPr txBox="1"/>
            <p:nvPr/>
          </p:nvSpPr>
          <p:spPr>
            <a:xfrm>
              <a:off x="7079577" y="5522976"/>
              <a:ext cx="967143"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31%</a:t>
              </a:r>
            </a:p>
            <a:p>
              <a:pPr marL="0" indent="0" algn="ctr">
                <a:lnSpc>
                  <a:spcPct val="100000"/>
                </a:lnSpc>
                <a:buNone/>
              </a:pPr>
              <a:r>
                <a:rPr lang="en-US" sz="500">
                  <a:solidFill>
                    <a:srgbClr val="6B7563"/>
                  </a:solidFill>
                  <a:latin typeface="Calibri" pitchFamily="34" charset="0"/>
                </a:rPr>
                <a:t>(S/ 3.7M)</a:t>
              </a:r>
              <a:endParaRPr lang="en-US" sz="500"/>
            </a:p>
          </p:txBody>
        </p:sp>
        <p:sp>
          <p:nvSpPr>
            <p:cNvPr id="1631" name="Shape 313">
              <a:extLst>
                <a:ext uri="{FF2B5EF4-FFF2-40B4-BE49-F238E27FC236}">
                  <a16:creationId xmlns:a16="http://schemas.microsoft.com/office/drawing/2014/main" id="{F4C9E901-F446-F970-03C8-8A363AAB9C80}"/>
                </a:ext>
              </a:extLst>
            </p:cNvPr>
            <p:cNvSpPr/>
            <p:nvPr/>
          </p:nvSpPr>
          <p:spPr>
            <a:xfrm>
              <a:off x="7271766" y="5897880"/>
              <a:ext cx="73152" cy="73152"/>
            </a:xfrm>
            <a:prstGeom prst="rect">
              <a:avLst/>
            </a:prstGeom>
            <a:solidFill>
              <a:srgbClr val="C0392B"/>
            </a:solidFill>
            <a:ln/>
          </p:spPr>
          <p:txBody>
            <a:bodyPr/>
            <a:lstStyle/>
            <a:p>
              <a:endParaRPr lang="es-PE"/>
            </a:p>
          </p:txBody>
        </p:sp>
        <p:sp>
          <p:nvSpPr>
            <p:cNvPr id="1632" name="Text 314">
              <a:extLst>
                <a:ext uri="{FF2B5EF4-FFF2-40B4-BE49-F238E27FC236}">
                  <a16:creationId xmlns:a16="http://schemas.microsoft.com/office/drawing/2014/main" id="{9AEA2C0D-4B3A-8E98-E763-07132093FD2B}"/>
                </a:ext>
              </a:extLst>
            </p:cNvPr>
            <p:cNvSpPr txBox="1"/>
            <p:nvPr/>
          </p:nvSpPr>
          <p:spPr>
            <a:xfrm>
              <a:off x="737235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sp>
          <p:nvSpPr>
            <p:cNvPr id="1633" name="Shape 315">
              <a:extLst>
                <a:ext uri="{FF2B5EF4-FFF2-40B4-BE49-F238E27FC236}">
                  <a16:creationId xmlns:a16="http://schemas.microsoft.com/office/drawing/2014/main" id="{0C175570-D8C1-AD63-3E81-95CFA95DFE02}"/>
                </a:ext>
              </a:extLst>
            </p:cNvPr>
            <p:cNvSpPr/>
            <p:nvPr/>
          </p:nvSpPr>
          <p:spPr>
            <a:xfrm>
              <a:off x="8330184" y="4992624"/>
              <a:ext cx="1711098" cy="137160"/>
            </a:xfrm>
            <a:prstGeom prst="rect">
              <a:avLst/>
            </a:prstGeom>
            <a:solidFill>
              <a:srgbClr val="1D9E75"/>
            </a:solidFill>
            <a:ln/>
          </p:spPr>
          <p:txBody>
            <a:bodyPr/>
            <a:lstStyle/>
            <a:p>
              <a:endParaRPr lang="es-PE"/>
            </a:p>
          </p:txBody>
        </p:sp>
        <p:sp>
          <p:nvSpPr>
            <p:cNvPr id="1634" name="Text 316">
              <a:extLst>
                <a:ext uri="{FF2B5EF4-FFF2-40B4-BE49-F238E27FC236}">
                  <a16:creationId xmlns:a16="http://schemas.microsoft.com/office/drawing/2014/main" id="{FB422E5E-BDEE-1845-5CA4-50EC468323B9}"/>
                </a:ext>
              </a:extLst>
            </p:cNvPr>
            <p:cNvSpPr txBox="1"/>
            <p:nvPr/>
          </p:nvSpPr>
          <p:spPr>
            <a:xfrm>
              <a:off x="8330184" y="4992624"/>
              <a:ext cx="1711098"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55%</a:t>
              </a:r>
              <a:endParaRPr lang="en-US" sz="800"/>
            </a:p>
          </p:txBody>
        </p:sp>
        <p:sp>
          <p:nvSpPr>
            <p:cNvPr id="1635" name="Shape 317">
              <a:extLst>
                <a:ext uri="{FF2B5EF4-FFF2-40B4-BE49-F238E27FC236}">
                  <a16:creationId xmlns:a16="http://schemas.microsoft.com/office/drawing/2014/main" id="{62E2AB72-E9CA-4985-9EEB-F20B804F76EA}"/>
                </a:ext>
              </a:extLst>
            </p:cNvPr>
            <p:cNvSpPr/>
            <p:nvPr/>
          </p:nvSpPr>
          <p:spPr>
            <a:xfrm>
              <a:off x="10041282" y="4992624"/>
              <a:ext cx="1258525" cy="137160"/>
            </a:xfrm>
            <a:prstGeom prst="rect">
              <a:avLst/>
            </a:prstGeom>
            <a:solidFill>
              <a:srgbClr val="D9861F"/>
            </a:solidFill>
            <a:ln/>
          </p:spPr>
          <p:txBody>
            <a:bodyPr/>
            <a:lstStyle/>
            <a:p>
              <a:endParaRPr lang="es-PE"/>
            </a:p>
          </p:txBody>
        </p:sp>
        <p:sp>
          <p:nvSpPr>
            <p:cNvPr id="1636" name="Text 318">
              <a:extLst>
                <a:ext uri="{FF2B5EF4-FFF2-40B4-BE49-F238E27FC236}">
                  <a16:creationId xmlns:a16="http://schemas.microsoft.com/office/drawing/2014/main" id="{D5774BBF-9EB6-52D5-8786-F7A6A8A33C75}"/>
                </a:ext>
              </a:extLst>
            </p:cNvPr>
            <p:cNvSpPr txBox="1"/>
            <p:nvPr/>
          </p:nvSpPr>
          <p:spPr>
            <a:xfrm>
              <a:off x="10041282" y="4992624"/>
              <a:ext cx="1258525"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41%</a:t>
              </a:r>
              <a:endParaRPr lang="en-US" sz="800"/>
            </a:p>
          </p:txBody>
        </p:sp>
        <p:sp>
          <p:nvSpPr>
            <p:cNvPr id="1637" name="Shape 319">
              <a:extLst>
                <a:ext uri="{FF2B5EF4-FFF2-40B4-BE49-F238E27FC236}">
                  <a16:creationId xmlns:a16="http://schemas.microsoft.com/office/drawing/2014/main" id="{FE3262E3-FAD5-A172-E3BC-51A6C9D57CB1}"/>
                </a:ext>
              </a:extLst>
            </p:cNvPr>
            <p:cNvSpPr/>
            <p:nvPr/>
          </p:nvSpPr>
          <p:spPr>
            <a:xfrm>
              <a:off x="11299808" y="4992624"/>
              <a:ext cx="130192" cy="137160"/>
            </a:xfrm>
            <a:prstGeom prst="rect">
              <a:avLst/>
            </a:prstGeom>
            <a:solidFill>
              <a:srgbClr val="C0392B"/>
            </a:solidFill>
            <a:ln/>
          </p:spPr>
          <p:txBody>
            <a:bodyPr/>
            <a:lstStyle/>
            <a:p>
              <a:endParaRPr lang="es-PE"/>
            </a:p>
          </p:txBody>
        </p:sp>
        <p:sp>
          <p:nvSpPr>
            <p:cNvPr id="1638" name="Shape 320">
              <a:extLst>
                <a:ext uri="{FF2B5EF4-FFF2-40B4-BE49-F238E27FC236}">
                  <a16:creationId xmlns:a16="http://schemas.microsoft.com/office/drawing/2014/main" id="{1E435C3C-3485-2AE3-5B7A-C59922D6A103}"/>
                </a:ext>
              </a:extLst>
            </p:cNvPr>
            <p:cNvSpPr/>
            <p:nvPr/>
          </p:nvSpPr>
          <p:spPr>
            <a:xfrm>
              <a:off x="8330184" y="5696712"/>
              <a:ext cx="616863" cy="118872"/>
            </a:xfrm>
            <a:prstGeom prst="rect">
              <a:avLst/>
            </a:prstGeom>
            <a:solidFill>
              <a:srgbClr val="1D9E75"/>
            </a:solidFill>
            <a:ln/>
          </p:spPr>
          <p:txBody>
            <a:bodyPr/>
            <a:lstStyle/>
            <a:p>
              <a:endParaRPr lang="es-PE"/>
            </a:p>
          </p:txBody>
        </p:sp>
        <p:sp>
          <p:nvSpPr>
            <p:cNvPr id="1639" name="Text 321">
              <a:extLst>
                <a:ext uri="{FF2B5EF4-FFF2-40B4-BE49-F238E27FC236}">
                  <a16:creationId xmlns:a16="http://schemas.microsoft.com/office/drawing/2014/main" id="{FF87457E-FC7A-126E-68A2-E944B7BC5CB4}"/>
                </a:ext>
              </a:extLst>
            </p:cNvPr>
            <p:cNvSpPr txBox="1"/>
            <p:nvPr/>
          </p:nvSpPr>
          <p:spPr>
            <a:xfrm>
              <a:off x="8330184" y="5522976"/>
              <a:ext cx="616863"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20%</a:t>
              </a:r>
            </a:p>
            <a:p>
              <a:pPr marL="0" indent="0" algn="ctr">
                <a:lnSpc>
                  <a:spcPct val="100000"/>
                </a:lnSpc>
                <a:buNone/>
              </a:pPr>
              <a:r>
                <a:rPr lang="en-US" sz="500">
                  <a:solidFill>
                    <a:srgbClr val="6B7563"/>
                  </a:solidFill>
                  <a:latin typeface="Calibri" pitchFamily="34" charset="0"/>
                </a:rPr>
                <a:t>(S/ 881k)</a:t>
              </a:r>
              <a:endParaRPr lang="en-US" sz="500"/>
            </a:p>
          </p:txBody>
        </p:sp>
        <p:sp>
          <p:nvSpPr>
            <p:cNvPr id="1640" name="Shape 322">
              <a:extLst>
                <a:ext uri="{FF2B5EF4-FFF2-40B4-BE49-F238E27FC236}">
                  <a16:creationId xmlns:a16="http://schemas.microsoft.com/office/drawing/2014/main" id="{C048BFAC-7BF7-DEE5-8F7B-44D21110D9D4}"/>
                </a:ext>
              </a:extLst>
            </p:cNvPr>
            <p:cNvSpPr/>
            <p:nvPr/>
          </p:nvSpPr>
          <p:spPr>
            <a:xfrm>
              <a:off x="8330184" y="5897880"/>
              <a:ext cx="73152" cy="73152"/>
            </a:xfrm>
            <a:prstGeom prst="rect">
              <a:avLst/>
            </a:prstGeom>
            <a:solidFill>
              <a:srgbClr val="1D9E75"/>
            </a:solidFill>
            <a:ln/>
          </p:spPr>
          <p:txBody>
            <a:bodyPr/>
            <a:lstStyle/>
            <a:p>
              <a:endParaRPr lang="es-PE"/>
            </a:p>
          </p:txBody>
        </p:sp>
        <p:sp>
          <p:nvSpPr>
            <p:cNvPr id="1641" name="Text 323">
              <a:extLst>
                <a:ext uri="{FF2B5EF4-FFF2-40B4-BE49-F238E27FC236}">
                  <a16:creationId xmlns:a16="http://schemas.microsoft.com/office/drawing/2014/main" id="{DC6F9106-A5D5-251D-541E-20DA4CE10D99}"/>
                </a:ext>
              </a:extLst>
            </p:cNvPr>
            <p:cNvSpPr txBox="1"/>
            <p:nvPr/>
          </p:nvSpPr>
          <p:spPr>
            <a:xfrm>
              <a:off x="843076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1642" name="Shape 324">
              <a:extLst>
                <a:ext uri="{FF2B5EF4-FFF2-40B4-BE49-F238E27FC236}">
                  <a16:creationId xmlns:a16="http://schemas.microsoft.com/office/drawing/2014/main" id="{B909FEFD-9F82-CBDA-331E-BFC022AFF694}"/>
                </a:ext>
              </a:extLst>
            </p:cNvPr>
            <p:cNvSpPr/>
            <p:nvPr/>
          </p:nvSpPr>
          <p:spPr>
            <a:xfrm>
              <a:off x="8947047" y="5696712"/>
              <a:ext cx="641662" cy="118872"/>
            </a:xfrm>
            <a:prstGeom prst="rect">
              <a:avLst/>
            </a:prstGeom>
            <a:solidFill>
              <a:srgbClr val="D9861F"/>
            </a:solidFill>
            <a:ln/>
          </p:spPr>
          <p:txBody>
            <a:bodyPr/>
            <a:lstStyle/>
            <a:p>
              <a:endParaRPr lang="es-PE"/>
            </a:p>
          </p:txBody>
        </p:sp>
        <p:sp>
          <p:nvSpPr>
            <p:cNvPr id="1643" name="Text 325">
              <a:extLst>
                <a:ext uri="{FF2B5EF4-FFF2-40B4-BE49-F238E27FC236}">
                  <a16:creationId xmlns:a16="http://schemas.microsoft.com/office/drawing/2014/main" id="{48463309-6E37-99E5-EC0B-83B6E156B8DE}"/>
                </a:ext>
              </a:extLst>
            </p:cNvPr>
            <p:cNvSpPr txBox="1"/>
            <p:nvPr/>
          </p:nvSpPr>
          <p:spPr>
            <a:xfrm>
              <a:off x="8947047" y="5522976"/>
              <a:ext cx="641662"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21%</a:t>
              </a:r>
            </a:p>
            <a:p>
              <a:pPr marL="0" indent="0" algn="ctr">
                <a:lnSpc>
                  <a:spcPct val="100000"/>
                </a:lnSpc>
                <a:buNone/>
              </a:pPr>
              <a:r>
                <a:rPr lang="en-US" sz="500">
                  <a:solidFill>
                    <a:srgbClr val="6B7563"/>
                  </a:solidFill>
                  <a:latin typeface="Calibri" pitchFamily="34" charset="0"/>
                </a:rPr>
                <a:t>(S/ 915k)</a:t>
              </a:r>
              <a:endParaRPr lang="en-US" sz="500"/>
            </a:p>
          </p:txBody>
        </p:sp>
        <p:sp>
          <p:nvSpPr>
            <p:cNvPr id="1644" name="Shape 326">
              <a:extLst>
                <a:ext uri="{FF2B5EF4-FFF2-40B4-BE49-F238E27FC236}">
                  <a16:creationId xmlns:a16="http://schemas.microsoft.com/office/drawing/2014/main" id="{67797717-AE4F-8B99-08EC-D4E6D5B5737F}"/>
                </a:ext>
              </a:extLst>
            </p:cNvPr>
            <p:cNvSpPr/>
            <p:nvPr/>
          </p:nvSpPr>
          <p:spPr>
            <a:xfrm>
              <a:off x="9105138" y="5897880"/>
              <a:ext cx="73152" cy="73152"/>
            </a:xfrm>
            <a:prstGeom prst="rect">
              <a:avLst/>
            </a:prstGeom>
            <a:solidFill>
              <a:srgbClr val="D9861F"/>
            </a:solidFill>
            <a:ln/>
          </p:spPr>
          <p:txBody>
            <a:bodyPr/>
            <a:lstStyle/>
            <a:p>
              <a:endParaRPr lang="es-PE"/>
            </a:p>
          </p:txBody>
        </p:sp>
        <p:sp>
          <p:nvSpPr>
            <p:cNvPr id="1645" name="Text 327">
              <a:extLst>
                <a:ext uri="{FF2B5EF4-FFF2-40B4-BE49-F238E27FC236}">
                  <a16:creationId xmlns:a16="http://schemas.microsoft.com/office/drawing/2014/main" id="{EDF25366-1EEF-32B5-43C2-7DF9C7F0332A}"/>
                </a:ext>
              </a:extLst>
            </p:cNvPr>
            <p:cNvSpPr txBox="1"/>
            <p:nvPr/>
          </p:nvSpPr>
          <p:spPr>
            <a:xfrm>
              <a:off x="920572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1646" name="Shape 328">
              <a:extLst>
                <a:ext uri="{FF2B5EF4-FFF2-40B4-BE49-F238E27FC236}">
                  <a16:creationId xmlns:a16="http://schemas.microsoft.com/office/drawing/2014/main" id="{439F7904-DBD7-CC11-B504-8F59964FF82B}"/>
                </a:ext>
              </a:extLst>
            </p:cNvPr>
            <p:cNvSpPr/>
            <p:nvPr/>
          </p:nvSpPr>
          <p:spPr>
            <a:xfrm>
              <a:off x="9588709" y="5696712"/>
              <a:ext cx="629263" cy="118872"/>
            </a:xfrm>
            <a:prstGeom prst="rect">
              <a:avLst/>
            </a:prstGeom>
            <a:solidFill>
              <a:srgbClr val="8A4B0A"/>
            </a:solidFill>
            <a:ln/>
          </p:spPr>
          <p:txBody>
            <a:bodyPr/>
            <a:lstStyle/>
            <a:p>
              <a:endParaRPr lang="es-PE"/>
            </a:p>
          </p:txBody>
        </p:sp>
        <p:sp>
          <p:nvSpPr>
            <p:cNvPr id="1647" name="Text 329">
              <a:extLst>
                <a:ext uri="{FF2B5EF4-FFF2-40B4-BE49-F238E27FC236}">
                  <a16:creationId xmlns:a16="http://schemas.microsoft.com/office/drawing/2014/main" id="{59862784-7E69-C8B8-D689-2FBE33D70484}"/>
                </a:ext>
              </a:extLst>
            </p:cNvPr>
            <p:cNvSpPr txBox="1"/>
            <p:nvPr/>
          </p:nvSpPr>
          <p:spPr>
            <a:xfrm>
              <a:off x="9588709" y="5522976"/>
              <a:ext cx="629263"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20%</a:t>
              </a:r>
            </a:p>
            <a:p>
              <a:pPr marL="0" indent="0" algn="ctr">
                <a:lnSpc>
                  <a:spcPct val="100000"/>
                </a:lnSpc>
                <a:buNone/>
              </a:pPr>
              <a:r>
                <a:rPr lang="en-US" sz="500">
                  <a:solidFill>
                    <a:srgbClr val="6B7563"/>
                  </a:solidFill>
                  <a:latin typeface="Calibri" pitchFamily="34" charset="0"/>
                </a:rPr>
                <a:t>(S/ 900k)</a:t>
              </a:r>
              <a:endParaRPr lang="en-US" sz="500"/>
            </a:p>
          </p:txBody>
        </p:sp>
        <p:sp>
          <p:nvSpPr>
            <p:cNvPr id="1648" name="Shape 330">
              <a:extLst>
                <a:ext uri="{FF2B5EF4-FFF2-40B4-BE49-F238E27FC236}">
                  <a16:creationId xmlns:a16="http://schemas.microsoft.com/office/drawing/2014/main" id="{5B9A107C-1922-EFBD-E588-4815FAE8378C}"/>
                </a:ext>
              </a:extLst>
            </p:cNvPr>
            <p:cNvSpPr/>
            <p:nvPr/>
          </p:nvSpPr>
          <p:spPr>
            <a:xfrm>
              <a:off x="9880092" y="5897880"/>
              <a:ext cx="73152" cy="73152"/>
            </a:xfrm>
            <a:prstGeom prst="rect">
              <a:avLst/>
            </a:prstGeom>
            <a:solidFill>
              <a:srgbClr val="8A4B0A"/>
            </a:solidFill>
            <a:ln/>
          </p:spPr>
          <p:txBody>
            <a:bodyPr/>
            <a:lstStyle/>
            <a:p>
              <a:endParaRPr lang="es-PE"/>
            </a:p>
          </p:txBody>
        </p:sp>
        <p:sp>
          <p:nvSpPr>
            <p:cNvPr id="1649" name="Text 331">
              <a:extLst>
                <a:ext uri="{FF2B5EF4-FFF2-40B4-BE49-F238E27FC236}">
                  <a16:creationId xmlns:a16="http://schemas.microsoft.com/office/drawing/2014/main" id="{0ABD56E3-04A5-33AB-D39B-578563DDB875}"/>
                </a:ext>
              </a:extLst>
            </p:cNvPr>
            <p:cNvSpPr txBox="1"/>
            <p:nvPr/>
          </p:nvSpPr>
          <p:spPr>
            <a:xfrm>
              <a:off x="998067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1650" name="Shape 332">
              <a:extLst>
                <a:ext uri="{FF2B5EF4-FFF2-40B4-BE49-F238E27FC236}">
                  <a16:creationId xmlns:a16="http://schemas.microsoft.com/office/drawing/2014/main" id="{B0FF478C-DAD0-9B95-8BA0-869D39801F98}"/>
                </a:ext>
              </a:extLst>
            </p:cNvPr>
            <p:cNvSpPr/>
            <p:nvPr/>
          </p:nvSpPr>
          <p:spPr>
            <a:xfrm>
              <a:off x="10217972" y="5696712"/>
              <a:ext cx="1212028" cy="118872"/>
            </a:xfrm>
            <a:prstGeom prst="rect">
              <a:avLst/>
            </a:prstGeom>
            <a:solidFill>
              <a:srgbClr val="C0392B"/>
            </a:solidFill>
            <a:ln/>
          </p:spPr>
          <p:txBody>
            <a:bodyPr/>
            <a:lstStyle/>
            <a:p>
              <a:endParaRPr lang="es-PE"/>
            </a:p>
          </p:txBody>
        </p:sp>
        <p:sp>
          <p:nvSpPr>
            <p:cNvPr id="1651" name="Text 333">
              <a:extLst>
                <a:ext uri="{FF2B5EF4-FFF2-40B4-BE49-F238E27FC236}">
                  <a16:creationId xmlns:a16="http://schemas.microsoft.com/office/drawing/2014/main" id="{0792FD28-BEF0-9DAF-5DC0-7A580A1EC2CA}"/>
                </a:ext>
              </a:extLst>
            </p:cNvPr>
            <p:cNvSpPr txBox="1"/>
            <p:nvPr/>
          </p:nvSpPr>
          <p:spPr>
            <a:xfrm>
              <a:off x="10217972" y="5522976"/>
              <a:ext cx="1212028"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39%</a:t>
              </a:r>
            </a:p>
            <a:p>
              <a:pPr marL="0" indent="0" algn="ctr">
                <a:lnSpc>
                  <a:spcPct val="100000"/>
                </a:lnSpc>
                <a:buNone/>
              </a:pPr>
              <a:r>
                <a:rPr lang="en-US" sz="500">
                  <a:solidFill>
                    <a:srgbClr val="6B7563"/>
                  </a:solidFill>
                  <a:latin typeface="Calibri" pitchFamily="34" charset="0"/>
                </a:rPr>
                <a:t>(S/ 1.7M)</a:t>
              </a:r>
              <a:endParaRPr lang="en-US" sz="500"/>
            </a:p>
          </p:txBody>
        </p:sp>
        <p:sp>
          <p:nvSpPr>
            <p:cNvPr id="1652" name="Shape 334">
              <a:extLst>
                <a:ext uri="{FF2B5EF4-FFF2-40B4-BE49-F238E27FC236}">
                  <a16:creationId xmlns:a16="http://schemas.microsoft.com/office/drawing/2014/main" id="{09E8D50C-B803-7CCF-254D-F0F74BBF2401}"/>
                </a:ext>
              </a:extLst>
            </p:cNvPr>
            <p:cNvSpPr/>
            <p:nvPr/>
          </p:nvSpPr>
          <p:spPr>
            <a:xfrm>
              <a:off x="10655046" y="5897880"/>
              <a:ext cx="73152" cy="73152"/>
            </a:xfrm>
            <a:prstGeom prst="rect">
              <a:avLst/>
            </a:prstGeom>
            <a:solidFill>
              <a:srgbClr val="C0392B"/>
            </a:solidFill>
            <a:ln/>
          </p:spPr>
          <p:txBody>
            <a:bodyPr/>
            <a:lstStyle/>
            <a:p>
              <a:endParaRPr lang="es-PE"/>
            </a:p>
          </p:txBody>
        </p:sp>
        <p:sp>
          <p:nvSpPr>
            <p:cNvPr id="1653" name="Text 335">
              <a:extLst>
                <a:ext uri="{FF2B5EF4-FFF2-40B4-BE49-F238E27FC236}">
                  <a16:creationId xmlns:a16="http://schemas.microsoft.com/office/drawing/2014/main" id="{94F058C2-A6D7-C4FA-9A02-3DE81A70E4D8}"/>
                </a:ext>
              </a:extLst>
            </p:cNvPr>
            <p:cNvSpPr txBox="1"/>
            <p:nvPr/>
          </p:nvSpPr>
          <p:spPr>
            <a:xfrm>
              <a:off x="1075563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grpSp>
    </p:spTree>
    <p:extLst>
      <p:ext uri="{BB962C8B-B14F-4D97-AF65-F5344CB8AC3E}">
        <p14:creationId xmlns:p14="http://schemas.microsoft.com/office/powerpoint/2010/main" val="299081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1376-B869-8734-9BD0-165EB20BEA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F29C86-F897-8E61-CB15-C3DB31F46C29}"/>
              </a:ext>
            </a:extLst>
          </p:cNvPr>
          <p:cNvSpPr txBox="1"/>
          <p:nvPr/>
        </p:nvSpPr>
        <p:spPr>
          <a:xfrm>
            <a:off x="658368" y="329184"/>
            <a:ext cx="11951427" cy="146194"/>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t>
            </a:r>
            <a:r>
              <a:rPr lang="es-ES" sz="950" b="1" i="0">
                <a:solidFill>
                  <a:srgbClr val="13807B"/>
                </a:solidFill>
                <a:latin typeface="Arial"/>
              </a:rPr>
              <a:t>OS SIN DEUDA</a:t>
            </a:r>
            <a:endParaRPr sz="950" b="1" i="0">
              <a:solidFill>
                <a:srgbClr val="13807B"/>
              </a:solidFill>
              <a:latin typeface="Arial"/>
            </a:endParaRPr>
          </a:p>
        </p:txBody>
      </p:sp>
      <p:sp>
        <p:nvSpPr>
          <p:cNvPr id="3" name="TextBox 2">
            <a:extLst>
              <a:ext uri="{FF2B5EF4-FFF2-40B4-BE49-F238E27FC236}">
                <a16:creationId xmlns:a16="http://schemas.microsoft.com/office/drawing/2014/main" id="{D8909F6C-A52C-C983-5A11-F20632BBA099}"/>
              </a:ext>
            </a:extLst>
          </p:cNvPr>
          <p:cNvSpPr txBox="1"/>
          <p:nvPr/>
        </p:nvSpPr>
        <p:spPr>
          <a:xfrm>
            <a:off x="658368" y="566928"/>
            <a:ext cx="13750564" cy="301621"/>
          </a:xfrm>
          <a:prstGeom prst="rect">
            <a:avLst/>
          </a:prstGeom>
          <a:noFill/>
        </p:spPr>
        <p:txBody>
          <a:bodyPr wrap="square" lIns="0" tIns="0" rIns="0" bIns="0" anchor="t">
            <a:spAutoFit/>
          </a:bodyPr>
          <a:lstStyle/>
          <a:p>
            <a:pPr algn="l">
              <a:lnSpc>
                <a:spcPct val="98000"/>
              </a:lnSpc>
            </a:pPr>
            <a:r>
              <a:rPr lang="es-ES" sz="2000" b="1" i="0">
                <a:solidFill>
                  <a:srgbClr val="0B2E2C"/>
                </a:solidFill>
                <a:latin typeface="Arial"/>
              </a:rPr>
              <a:t>Emprendedor </a:t>
            </a:r>
            <a:r>
              <a:rPr lang="es-ES" sz="2000" b="1" i="0" err="1">
                <a:solidFill>
                  <a:srgbClr val="0B2E2C"/>
                </a:solidFill>
                <a:latin typeface="Arial"/>
              </a:rPr>
              <a:t>Izipay</a:t>
            </a:r>
            <a:r>
              <a:rPr lang="es-ES" sz="2000" b="1" i="0">
                <a:solidFill>
                  <a:srgbClr val="0B2E2C"/>
                </a:solidFill>
                <a:latin typeface="Arial"/>
              </a:rPr>
              <a:t>, nuevo en expansión y próximo recurrente</a:t>
            </a:r>
          </a:p>
        </p:txBody>
      </p:sp>
      <p:cxnSp>
        <p:nvCxnSpPr>
          <p:cNvPr id="4" name="Connector 3">
            <a:extLst>
              <a:ext uri="{FF2B5EF4-FFF2-40B4-BE49-F238E27FC236}">
                <a16:creationId xmlns:a16="http://schemas.microsoft.com/office/drawing/2014/main" id="{78BD4567-947D-4FA3-E776-79E5115F35B3}"/>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a:extLst>
              <a:ext uri="{FF2B5EF4-FFF2-40B4-BE49-F238E27FC236}">
                <a16:creationId xmlns:a16="http://schemas.microsoft.com/office/drawing/2014/main" id="{60BC3C15-5C21-39D6-8906-381981354469}"/>
              </a:ext>
            </a:extLst>
          </p:cNvPr>
          <p:cNvPicPr>
            <a:picLocks noChangeAspect="1"/>
          </p:cNvPicPr>
          <p:nvPr/>
        </p:nvPicPr>
        <p:blipFill>
          <a:blip r:embed="rId2"/>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5A128CC5-B24C-FACD-585F-5FDE96371323}"/>
              </a:ext>
            </a:extLst>
          </p:cNvPr>
          <p:cNvPicPr>
            <a:picLocks noChangeAspect="1"/>
          </p:cNvPicPr>
          <p:nvPr/>
        </p:nvPicPr>
        <p:blipFill>
          <a:blip r:embed="rId3"/>
          <a:stretch>
            <a:fillRect/>
          </a:stretch>
        </p:blipFill>
        <p:spPr>
          <a:xfrm>
            <a:off x="14725019" y="109555"/>
            <a:ext cx="1272511" cy="717296"/>
          </a:xfrm>
          <a:prstGeom prst="rect">
            <a:avLst/>
          </a:prstGeom>
        </p:spPr>
      </p:pic>
      <p:grpSp>
        <p:nvGrpSpPr>
          <p:cNvPr id="1172" name="Grupo 1171">
            <a:extLst>
              <a:ext uri="{FF2B5EF4-FFF2-40B4-BE49-F238E27FC236}">
                <a16:creationId xmlns:a16="http://schemas.microsoft.com/office/drawing/2014/main" id="{5D399916-04AE-D4C3-2731-A0F4CDC453E8}"/>
              </a:ext>
            </a:extLst>
          </p:cNvPr>
          <p:cNvGrpSpPr/>
          <p:nvPr/>
        </p:nvGrpSpPr>
        <p:grpSpPr>
          <a:xfrm>
            <a:off x="313267" y="1524003"/>
            <a:ext cx="15684263" cy="7075862"/>
            <a:chOff x="320040" y="1078992"/>
            <a:chExt cx="11219688" cy="5532120"/>
          </a:xfrm>
        </p:grpSpPr>
        <p:sp>
          <p:nvSpPr>
            <p:cNvPr id="1173" name="Shape 5">
              <a:extLst>
                <a:ext uri="{FF2B5EF4-FFF2-40B4-BE49-F238E27FC236}">
                  <a16:creationId xmlns:a16="http://schemas.microsoft.com/office/drawing/2014/main" id="{5ADF86B1-016A-0226-AF65-337D492564ED}"/>
                </a:ext>
              </a:extLst>
            </p:cNvPr>
            <p:cNvSpPr/>
            <p:nvPr/>
          </p:nvSpPr>
          <p:spPr>
            <a:xfrm>
              <a:off x="1508760" y="1078992"/>
              <a:ext cx="3264408" cy="566928"/>
            </a:xfrm>
            <a:prstGeom prst="roundRect">
              <a:avLst>
                <a:gd name="adj" fmla="val 11290"/>
              </a:avLst>
            </a:prstGeom>
            <a:solidFill>
              <a:srgbClr val="0E5D52"/>
            </a:solidFill>
            <a:ln/>
          </p:spPr>
          <p:txBody>
            <a:bodyPr/>
            <a:lstStyle/>
            <a:p>
              <a:endParaRPr lang="es-PE"/>
            </a:p>
          </p:txBody>
        </p:sp>
        <p:sp>
          <p:nvSpPr>
            <p:cNvPr id="1174" name="Shape 6">
              <a:extLst>
                <a:ext uri="{FF2B5EF4-FFF2-40B4-BE49-F238E27FC236}">
                  <a16:creationId xmlns:a16="http://schemas.microsoft.com/office/drawing/2014/main" id="{A8F3FA1B-2910-938A-1FE1-4605AF1E7E2E}"/>
                </a:ext>
              </a:extLst>
            </p:cNvPr>
            <p:cNvSpPr/>
            <p:nvPr/>
          </p:nvSpPr>
          <p:spPr>
            <a:xfrm>
              <a:off x="1627632" y="1197864"/>
              <a:ext cx="329184" cy="329184"/>
            </a:xfrm>
            <a:prstGeom prst="ellipse">
              <a:avLst/>
            </a:prstGeom>
            <a:solidFill>
              <a:srgbClr val="FFFFFF">
                <a:alpha val="85000"/>
              </a:srgbClr>
            </a:solidFill>
            <a:ln/>
          </p:spPr>
          <p:txBody>
            <a:bodyPr/>
            <a:lstStyle/>
            <a:p>
              <a:endParaRPr/>
            </a:p>
          </p:txBody>
        </p:sp>
        <p:pic>
          <p:nvPicPr>
            <p:cNvPr id="1175" name="Image 0" descr="/home/claude/voi_deck/icons/smartphone.png">
              <a:extLst>
                <a:ext uri="{FF2B5EF4-FFF2-40B4-BE49-F238E27FC236}">
                  <a16:creationId xmlns:a16="http://schemas.microsoft.com/office/drawing/2014/main" id="{2FAF4FF0-91A4-E6CA-62D2-04DFDB7C7EC0}"/>
                </a:ext>
              </a:extLst>
            </p:cNvPr>
            <p:cNvPicPr>
              <a:picLocks noChangeAspect="1"/>
            </p:cNvPicPr>
            <p:nvPr/>
          </p:nvPicPr>
          <p:blipFill>
            <a:blip r:embed="rId4"/>
            <a:stretch>
              <a:fillRect/>
            </a:stretch>
          </p:blipFill>
          <p:spPr>
            <a:xfrm>
              <a:off x="1691640" y="1261872"/>
              <a:ext cx="201168" cy="201168"/>
            </a:xfrm>
            <a:prstGeom prst="rect">
              <a:avLst/>
            </a:prstGeom>
          </p:spPr>
        </p:pic>
        <p:sp>
          <p:nvSpPr>
            <p:cNvPr id="1176" name="Text 7">
              <a:extLst>
                <a:ext uri="{FF2B5EF4-FFF2-40B4-BE49-F238E27FC236}">
                  <a16:creationId xmlns:a16="http://schemas.microsoft.com/office/drawing/2014/main" id="{AE7FF553-FFF5-192E-9D88-10781B2DD3BA}"/>
                </a:ext>
              </a:extLst>
            </p:cNvPr>
            <p:cNvSpPr txBox="1"/>
            <p:nvPr/>
          </p:nvSpPr>
          <p:spPr>
            <a:xfrm>
              <a:off x="203911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Emprendedor Izipay</a:t>
              </a:r>
              <a:endParaRPr lang="en-US" sz="1250"/>
            </a:p>
          </p:txBody>
        </p:sp>
        <p:sp>
          <p:nvSpPr>
            <p:cNvPr id="1177" name="Text 8">
              <a:extLst>
                <a:ext uri="{FF2B5EF4-FFF2-40B4-BE49-F238E27FC236}">
                  <a16:creationId xmlns:a16="http://schemas.microsoft.com/office/drawing/2014/main" id="{FD9C7C39-1B3F-26D9-D6E1-A3A3C215219C}"/>
                </a:ext>
              </a:extLst>
            </p:cNvPr>
            <p:cNvSpPr txBox="1"/>
            <p:nvPr/>
          </p:nvSpPr>
          <p:spPr>
            <a:xfrm>
              <a:off x="203911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1 · Sin deuda</a:t>
              </a:r>
              <a:endParaRPr lang="en-US" sz="900"/>
            </a:p>
          </p:txBody>
        </p:sp>
        <p:sp>
          <p:nvSpPr>
            <p:cNvPr id="1178" name="Shape 9">
              <a:extLst>
                <a:ext uri="{FF2B5EF4-FFF2-40B4-BE49-F238E27FC236}">
                  <a16:creationId xmlns:a16="http://schemas.microsoft.com/office/drawing/2014/main" id="{664FEDEC-26D0-4901-EE06-73FCD95B871D}"/>
                </a:ext>
              </a:extLst>
            </p:cNvPr>
            <p:cNvSpPr/>
            <p:nvPr/>
          </p:nvSpPr>
          <p:spPr>
            <a:xfrm>
              <a:off x="4892040" y="1078992"/>
              <a:ext cx="3264408" cy="566928"/>
            </a:xfrm>
            <a:prstGeom prst="roundRect">
              <a:avLst>
                <a:gd name="adj" fmla="val 11290"/>
              </a:avLst>
            </a:prstGeom>
            <a:solidFill>
              <a:srgbClr val="D9861F"/>
            </a:solidFill>
            <a:ln/>
          </p:spPr>
          <p:txBody>
            <a:bodyPr/>
            <a:lstStyle/>
            <a:p>
              <a:endParaRPr lang="es-PE"/>
            </a:p>
          </p:txBody>
        </p:sp>
        <p:sp>
          <p:nvSpPr>
            <p:cNvPr id="1179" name="Shape 10">
              <a:extLst>
                <a:ext uri="{FF2B5EF4-FFF2-40B4-BE49-F238E27FC236}">
                  <a16:creationId xmlns:a16="http://schemas.microsoft.com/office/drawing/2014/main" id="{79B182A6-0C08-7189-BC5C-CF9AE912359B}"/>
                </a:ext>
              </a:extLst>
            </p:cNvPr>
            <p:cNvSpPr/>
            <p:nvPr/>
          </p:nvSpPr>
          <p:spPr>
            <a:xfrm>
              <a:off x="5010912" y="1197864"/>
              <a:ext cx="329184" cy="329184"/>
            </a:xfrm>
            <a:prstGeom prst="ellipse">
              <a:avLst/>
            </a:prstGeom>
            <a:solidFill>
              <a:srgbClr val="FFFFFF">
                <a:alpha val="85000"/>
              </a:srgbClr>
            </a:solidFill>
            <a:ln/>
          </p:spPr>
          <p:txBody>
            <a:bodyPr/>
            <a:lstStyle/>
            <a:p>
              <a:endParaRPr/>
            </a:p>
          </p:txBody>
        </p:sp>
        <p:pic>
          <p:nvPicPr>
            <p:cNvPr id="1180" name="Image 1" descr="/home/claude/voi_deck/icons/briefcase.png">
              <a:extLst>
                <a:ext uri="{FF2B5EF4-FFF2-40B4-BE49-F238E27FC236}">
                  <a16:creationId xmlns:a16="http://schemas.microsoft.com/office/drawing/2014/main" id="{22AF5CC9-2A8F-E1CC-B7B3-98A5EDF53D8E}"/>
                </a:ext>
              </a:extLst>
            </p:cNvPr>
            <p:cNvPicPr>
              <a:picLocks noChangeAspect="1"/>
            </p:cNvPicPr>
            <p:nvPr/>
          </p:nvPicPr>
          <p:blipFill>
            <a:blip r:embed="rId5"/>
            <a:stretch>
              <a:fillRect/>
            </a:stretch>
          </p:blipFill>
          <p:spPr>
            <a:xfrm>
              <a:off x="5074920" y="1261872"/>
              <a:ext cx="201168" cy="201168"/>
            </a:xfrm>
            <a:prstGeom prst="rect">
              <a:avLst/>
            </a:prstGeom>
          </p:spPr>
        </p:pic>
        <p:sp>
          <p:nvSpPr>
            <p:cNvPr id="1181" name="Text 11">
              <a:extLst>
                <a:ext uri="{FF2B5EF4-FFF2-40B4-BE49-F238E27FC236}">
                  <a16:creationId xmlns:a16="http://schemas.microsoft.com/office/drawing/2014/main" id="{59F8931C-B106-A40E-1B28-629124BEC701}"/>
                </a:ext>
              </a:extLst>
            </p:cNvPr>
            <p:cNvSpPr txBox="1"/>
            <p:nvPr/>
          </p:nvSpPr>
          <p:spPr>
            <a:xfrm>
              <a:off x="542239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Nuevo en expansión</a:t>
              </a:r>
              <a:endParaRPr lang="en-US" sz="1250"/>
            </a:p>
          </p:txBody>
        </p:sp>
        <p:sp>
          <p:nvSpPr>
            <p:cNvPr id="1182" name="Text 12">
              <a:extLst>
                <a:ext uri="{FF2B5EF4-FFF2-40B4-BE49-F238E27FC236}">
                  <a16:creationId xmlns:a16="http://schemas.microsoft.com/office/drawing/2014/main" id="{F6D09C9D-942E-1577-7753-75AF981D947A}"/>
                </a:ext>
              </a:extLst>
            </p:cNvPr>
            <p:cNvSpPr txBox="1"/>
            <p:nvPr/>
          </p:nvSpPr>
          <p:spPr>
            <a:xfrm>
              <a:off x="542239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2 · Sin deuda</a:t>
              </a:r>
              <a:endParaRPr lang="en-US" sz="900"/>
            </a:p>
          </p:txBody>
        </p:sp>
        <p:sp>
          <p:nvSpPr>
            <p:cNvPr id="1183" name="Shape 13">
              <a:extLst>
                <a:ext uri="{FF2B5EF4-FFF2-40B4-BE49-F238E27FC236}">
                  <a16:creationId xmlns:a16="http://schemas.microsoft.com/office/drawing/2014/main" id="{196FBE76-EF92-C370-C7BF-B07B466E0E05}"/>
                </a:ext>
              </a:extLst>
            </p:cNvPr>
            <p:cNvSpPr/>
            <p:nvPr/>
          </p:nvSpPr>
          <p:spPr>
            <a:xfrm>
              <a:off x="8275320" y="1078992"/>
              <a:ext cx="3264408" cy="566928"/>
            </a:xfrm>
            <a:prstGeom prst="roundRect">
              <a:avLst>
                <a:gd name="adj" fmla="val 11290"/>
              </a:avLst>
            </a:prstGeom>
            <a:solidFill>
              <a:srgbClr val="3E4C59"/>
            </a:solidFill>
            <a:ln/>
          </p:spPr>
          <p:txBody>
            <a:bodyPr/>
            <a:lstStyle/>
            <a:p>
              <a:endParaRPr lang="es-PE"/>
            </a:p>
          </p:txBody>
        </p:sp>
        <p:sp>
          <p:nvSpPr>
            <p:cNvPr id="1184" name="Shape 14">
              <a:extLst>
                <a:ext uri="{FF2B5EF4-FFF2-40B4-BE49-F238E27FC236}">
                  <a16:creationId xmlns:a16="http://schemas.microsoft.com/office/drawing/2014/main" id="{44AC86FC-52DC-53A7-BF25-E043207042BB}"/>
                </a:ext>
              </a:extLst>
            </p:cNvPr>
            <p:cNvSpPr/>
            <p:nvPr/>
          </p:nvSpPr>
          <p:spPr>
            <a:xfrm>
              <a:off x="8394192" y="1197864"/>
              <a:ext cx="329184" cy="329184"/>
            </a:xfrm>
            <a:prstGeom prst="ellipse">
              <a:avLst/>
            </a:prstGeom>
            <a:solidFill>
              <a:srgbClr val="FFFFFF">
                <a:alpha val="85000"/>
              </a:srgbClr>
            </a:solidFill>
            <a:ln/>
          </p:spPr>
          <p:txBody>
            <a:bodyPr/>
            <a:lstStyle/>
            <a:p>
              <a:endParaRPr/>
            </a:p>
          </p:txBody>
        </p:sp>
        <p:pic>
          <p:nvPicPr>
            <p:cNvPr id="1185" name="Image 2" descr="/home/claude/voi_deck/icons/refresh.png">
              <a:extLst>
                <a:ext uri="{FF2B5EF4-FFF2-40B4-BE49-F238E27FC236}">
                  <a16:creationId xmlns:a16="http://schemas.microsoft.com/office/drawing/2014/main" id="{DA7DD32A-4C1B-394E-0B27-5425F4E3A475}"/>
                </a:ext>
              </a:extLst>
            </p:cNvPr>
            <p:cNvPicPr>
              <a:picLocks noChangeAspect="1"/>
            </p:cNvPicPr>
            <p:nvPr/>
          </p:nvPicPr>
          <p:blipFill>
            <a:blip r:embed="rId6"/>
            <a:stretch>
              <a:fillRect/>
            </a:stretch>
          </p:blipFill>
          <p:spPr>
            <a:xfrm>
              <a:off x="8458200" y="1261872"/>
              <a:ext cx="201168" cy="201168"/>
            </a:xfrm>
            <a:prstGeom prst="rect">
              <a:avLst/>
            </a:prstGeom>
          </p:spPr>
        </p:pic>
        <p:sp>
          <p:nvSpPr>
            <p:cNvPr id="1186" name="Text 15">
              <a:extLst>
                <a:ext uri="{FF2B5EF4-FFF2-40B4-BE49-F238E27FC236}">
                  <a16:creationId xmlns:a16="http://schemas.microsoft.com/office/drawing/2014/main" id="{2B58A159-7E16-6EE8-A196-E837689EB30E}"/>
                </a:ext>
              </a:extLst>
            </p:cNvPr>
            <p:cNvSpPr txBox="1"/>
            <p:nvPr/>
          </p:nvSpPr>
          <p:spPr>
            <a:xfrm>
              <a:off x="8805672" y="1152144"/>
              <a:ext cx="2624328" cy="256032"/>
            </a:xfrm>
            <a:prstGeom prst="rect">
              <a:avLst/>
            </a:prstGeom>
            <a:noFill/>
            <a:ln/>
          </p:spPr>
          <p:txBody>
            <a:bodyPr wrap="square" lIns="0" tIns="0" rIns="0" bIns="0" rtlCol="0" anchor="ctr"/>
            <a:lstStyle/>
            <a:p>
              <a:pPr marL="0" indent="0">
                <a:buNone/>
              </a:pPr>
              <a:r>
                <a:rPr lang="en-US" sz="1250" b="1">
                  <a:solidFill>
                    <a:srgbClr val="FFFFFF"/>
                  </a:solidFill>
                  <a:latin typeface="Cambria" pitchFamily="34" charset="0"/>
                  <a:ea typeface="Cambria" pitchFamily="34" charset="-122"/>
                  <a:cs typeface="Cambria" pitchFamily="34" charset="-120"/>
                </a:rPr>
                <a:t>Próximo recurrente</a:t>
              </a:r>
              <a:endParaRPr lang="en-US" sz="1250"/>
            </a:p>
          </p:txBody>
        </p:sp>
        <p:sp>
          <p:nvSpPr>
            <p:cNvPr id="1187" name="Text 16">
              <a:extLst>
                <a:ext uri="{FF2B5EF4-FFF2-40B4-BE49-F238E27FC236}">
                  <a16:creationId xmlns:a16="http://schemas.microsoft.com/office/drawing/2014/main" id="{224B5C9D-EC9F-BD09-2D33-DF8E0F1926F8}"/>
                </a:ext>
              </a:extLst>
            </p:cNvPr>
            <p:cNvSpPr txBox="1"/>
            <p:nvPr/>
          </p:nvSpPr>
          <p:spPr>
            <a:xfrm>
              <a:off x="8805672" y="1426464"/>
              <a:ext cx="2624328" cy="182880"/>
            </a:xfrm>
            <a:prstGeom prst="rect">
              <a:avLst/>
            </a:prstGeom>
            <a:noFill/>
            <a:ln/>
          </p:spPr>
          <p:txBody>
            <a:bodyPr wrap="square" lIns="0" tIns="0" rIns="0" bIns="0" rtlCol="0" anchor="ctr"/>
            <a:lstStyle/>
            <a:p>
              <a:pPr marL="0" indent="0">
                <a:buNone/>
              </a:pPr>
              <a:r>
                <a:rPr lang="en-US" sz="900">
                  <a:solidFill>
                    <a:srgbClr val="E7F2ED"/>
                  </a:solidFill>
                  <a:latin typeface="Calibri" pitchFamily="34" charset="0"/>
                  <a:ea typeface="Calibri" pitchFamily="34" charset="-122"/>
                  <a:cs typeface="Calibri" pitchFamily="34" charset="-120"/>
                </a:rPr>
                <a:t>Cluster 3 · Sin deuda</a:t>
              </a:r>
              <a:endParaRPr lang="en-US" sz="900"/>
            </a:p>
          </p:txBody>
        </p:sp>
        <p:sp>
          <p:nvSpPr>
            <p:cNvPr id="1188" name="Shape 17">
              <a:extLst>
                <a:ext uri="{FF2B5EF4-FFF2-40B4-BE49-F238E27FC236}">
                  <a16:creationId xmlns:a16="http://schemas.microsoft.com/office/drawing/2014/main" id="{595E2088-1934-21D0-7B88-3CA6C490F6FE}"/>
                </a:ext>
              </a:extLst>
            </p:cNvPr>
            <p:cNvSpPr/>
            <p:nvPr/>
          </p:nvSpPr>
          <p:spPr>
            <a:xfrm>
              <a:off x="320040" y="1696212"/>
              <a:ext cx="11219688" cy="566928"/>
            </a:xfrm>
            <a:prstGeom prst="roundRect">
              <a:avLst>
                <a:gd name="adj" fmla="val 9677"/>
              </a:avLst>
            </a:prstGeom>
            <a:solidFill>
              <a:srgbClr val="FFFFFF"/>
            </a:solidFill>
            <a:ln w="12700">
              <a:solidFill>
                <a:srgbClr val="E4E7E1"/>
              </a:solidFill>
              <a:prstDash val="solid"/>
            </a:ln>
          </p:spPr>
          <p:txBody>
            <a:bodyPr/>
            <a:lstStyle/>
            <a:p>
              <a:endParaRPr lang="es-PE"/>
            </a:p>
          </p:txBody>
        </p:sp>
        <p:sp>
          <p:nvSpPr>
            <p:cNvPr id="1189" name="Shape 18">
              <a:extLst>
                <a:ext uri="{FF2B5EF4-FFF2-40B4-BE49-F238E27FC236}">
                  <a16:creationId xmlns:a16="http://schemas.microsoft.com/office/drawing/2014/main" id="{0EDB3F50-CE8C-EAC4-CB47-8688ADA8F37A}"/>
                </a:ext>
              </a:extLst>
            </p:cNvPr>
            <p:cNvSpPr/>
            <p:nvPr/>
          </p:nvSpPr>
          <p:spPr>
            <a:xfrm>
              <a:off x="374904" y="1833372"/>
              <a:ext cx="292608" cy="292608"/>
            </a:xfrm>
            <a:prstGeom prst="ellipse">
              <a:avLst/>
            </a:prstGeom>
            <a:solidFill>
              <a:srgbClr val="0E5D52"/>
            </a:solidFill>
            <a:ln/>
          </p:spPr>
          <p:txBody>
            <a:bodyPr/>
            <a:lstStyle/>
            <a:p>
              <a:endParaRPr lang="es-PE"/>
            </a:p>
          </p:txBody>
        </p:sp>
        <p:pic>
          <p:nvPicPr>
            <p:cNvPr id="1190" name="Image 3" descr="/home/claude/voi_deck/icons/list.png">
              <a:extLst>
                <a:ext uri="{FF2B5EF4-FFF2-40B4-BE49-F238E27FC236}">
                  <a16:creationId xmlns:a16="http://schemas.microsoft.com/office/drawing/2014/main" id="{D23AFD5E-D1D7-6A7E-5E4C-119D55D852A7}"/>
                </a:ext>
              </a:extLst>
            </p:cNvPr>
            <p:cNvPicPr>
              <a:picLocks noChangeAspect="1"/>
            </p:cNvPicPr>
            <p:nvPr/>
          </p:nvPicPr>
          <p:blipFill>
            <a:blip r:embed="rId7"/>
            <a:stretch>
              <a:fillRect/>
            </a:stretch>
          </p:blipFill>
          <p:spPr>
            <a:xfrm>
              <a:off x="448056" y="1906524"/>
              <a:ext cx="146304" cy="146304"/>
            </a:xfrm>
            <a:prstGeom prst="rect">
              <a:avLst/>
            </a:prstGeom>
          </p:spPr>
        </p:pic>
        <p:sp>
          <p:nvSpPr>
            <p:cNvPr id="1191" name="Text 19">
              <a:extLst>
                <a:ext uri="{FF2B5EF4-FFF2-40B4-BE49-F238E27FC236}">
                  <a16:creationId xmlns:a16="http://schemas.microsoft.com/office/drawing/2014/main" id="{1ADB8DB8-7550-451A-B466-AC9FE5474073}"/>
                </a:ext>
              </a:extLst>
            </p:cNvPr>
            <p:cNvSpPr txBox="1"/>
            <p:nvPr/>
          </p:nvSpPr>
          <p:spPr>
            <a:xfrm>
              <a:off x="704088" y="1696212"/>
              <a:ext cx="676656" cy="566928"/>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EN RESUMEN</a:t>
              </a:r>
              <a:endParaRPr lang="en-US" sz="750"/>
            </a:p>
          </p:txBody>
        </p:sp>
        <p:sp>
          <p:nvSpPr>
            <p:cNvPr id="1192" name="Shape 20">
              <a:extLst>
                <a:ext uri="{FF2B5EF4-FFF2-40B4-BE49-F238E27FC236}">
                  <a16:creationId xmlns:a16="http://schemas.microsoft.com/office/drawing/2014/main" id="{3BD42705-F2D4-7879-40FB-E432A0E0C22F}"/>
                </a:ext>
              </a:extLst>
            </p:cNvPr>
            <p:cNvSpPr/>
            <p:nvPr/>
          </p:nvSpPr>
          <p:spPr>
            <a:xfrm>
              <a:off x="1527048" y="1741932"/>
              <a:ext cx="3172968" cy="475488"/>
            </a:xfrm>
            <a:prstGeom prst="roundRect">
              <a:avLst>
                <a:gd name="adj" fmla="val 11538"/>
              </a:avLst>
            </a:prstGeom>
            <a:solidFill>
              <a:srgbClr val="E1F5EE"/>
            </a:solidFill>
            <a:ln w="9525">
              <a:solidFill>
                <a:srgbClr val="BFE6D8"/>
              </a:solidFill>
              <a:prstDash val="solid"/>
            </a:ln>
          </p:spPr>
          <p:txBody>
            <a:bodyPr/>
            <a:lstStyle/>
            <a:p>
              <a:endParaRPr/>
            </a:p>
          </p:txBody>
        </p:sp>
        <p:sp>
          <p:nvSpPr>
            <p:cNvPr id="1193" name="Text 21">
              <a:extLst>
                <a:ext uri="{FF2B5EF4-FFF2-40B4-BE49-F238E27FC236}">
                  <a16:creationId xmlns:a16="http://schemas.microsoft.com/office/drawing/2014/main" id="{08546C96-044D-A4F3-7623-6D8B4F9E0CB2}"/>
                </a:ext>
              </a:extLst>
            </p:cNvPr>
            <p:cNvSpPr txBox="1"/>
            <p:nvPr/>
          </p:nvSpPr>
          <p:spPr>
            <a:xfrm>
              <a:off x="163677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Emprendedores digitales que entran por Izipay (POS). Alto uso de la puerta digital del crédito.</a:t>
              </a:r>
              <a:endParaRPr lang="en-US" sz="950"/>
            </a:p>
          </p:txBody>
        </p:sp>
        <p:sp>
          <p:nvSpPr>
            <p:cNvPr id="1194" name="Shape 22">
              <a:extLst>
                <a:ext uri="{FF2B5EF4-FFF2-40B4-BE49-F238E27FC236}">
                  <a16:creationId xmlns:a16="http://schemas.microsoft.com/office/drawing/2014/main" id="{8E639D6A-0E56-60E0-C1DE-8F8A7305B74E}"/>
                </a:ext>
              </a:extLst>
            </p:cNvPr>
            <p:cNvSpPr/>
            <p:nvPr/>
          </p:nvSpPr>
          <p:spPr>
            <a:xfrm>
              <a:off x="4315968" y="1842516"/>
              <a:ext cx="274320" cy="274320"/>
            </a:xfrm>
            <a:prstGeom prst="ellipse">
              <a:avLst/>
            </a:prstGeom>
            <a:solidFill>
              <a:srgbClr val="FFFFFF"/>
            </a:solidFill>
            <a:ln/>
          </p:spPr>
          <p:txBody>
            <a:bodyPr/>
            <a:lstStyle/>
            <a:p>
              <a:endParaRPr/>
            </a:p>
          </p:txBody>
        </p:sp>
        <p:pic>
          <p:nvPicPr>
            <p:cNvPr id="1195" name="Image 4" descr="/home/claude/voi_deck/icons/check_teal.png">
              <a:extLst>
                <a:ext uri="{FF2B5EF4-FFF2-40B4-BE49-F238E27FC236}">
                  <a16:creationId xmlns:a16="http://schemas.microsoft.com/office/drawing/2014/main" id="{5A319B7F-4C7D-BF37-9D0A-109A5B30AF27}"/>
                </a:ext>
              </a:extLst>
            </p:cNvPr>
            <p:cNvPicPr>
              <a:picLocks noChangeAspect="1"/>
            </p:cNvPicPr>
            <p:nvPr/>
          </p:nvPicPr>
          <p:blipFill>
            <a:blip r:embed="rId8"/>
            <a:stretch>
              <a:fillRect/>
            </a:stretch>
          </p:blipFill>
          <p:spPr>
            <a:xfrm>
              <a:off x="4389120" y="1915668"/>
              <a:ext cx="128016" cy="128016"/>
            </a:xfrm>
            <a:prstGeom prst="rect">
              <a:avLst/>
            </a:prstGeom>
          </p:spPr>
        </p:pic>
        <p:sp>
          <p:nvSpPr>
            <p:cNvPr id="1196" name="Shape 23">
              <a:extLst>
                <a:ext uri="{FF2B5EF4-FFF2-40B4-BE49-F238E27FC236}">
                  <a16:creationId xmlns:a16="http://schemas.microsoft.com/office/drawing/2014/main" id="{ECD9BBA8-862E-D222-32F2-1CB0100486A9}"/>
                </a:ext>
              </a:extLst>
            </p:cNvPr>
            <p:cNvSpPr/>
            <p:nvPr/>
          </p:nvSpPr>
          <p:spPr>
            <a:xfrm>
              <a:off x="4910328" y="1741932"/>
              <a:ext cx="3172968" cy="475488"/>
            </a:xfrm>
            <a:prstGeom prst="roundRect">
              <a:avLst>
                <a:gd name="adj" fmla="val 11538"/>
              </a:avLst>
            </a:prstGeom>
            <a:solidFill>
              <a:srgbClr val="FAEEDA"/>
            </a:solidFill>
            <a:ln w="9525">
              <a:solidFill>
                <a:srgbClr val="F0D9AE"/>
              </a:solidFill>
              <a:prstDash val="solid"/>
            </a:ln>
          </p:spPr>
          <p:txBody>
            <a:bodyPr/>
            <a:lstStyle/>
            <a:p>
              <a:endParaRPr/>
            </a:p>
          </p:txBody>
        </p:sp>
        <p:sp>
          <p:nvSpPr>
            <p:cNvPr id="1197" name="Text 24">
              <a:extLst>
                <a:ext uri="{FF2B5EF4-FFF2-40B4-BE49-F238E27FC236}">
                  <a16:creationId xmlns:a16="http://schemas.microsoft.com/office/drawing/2014/main" id="{CB05FB57-A9ED-99BE-39B4-2822558E62EC}"/>
                </a:ext>
              </a:extLst>
            </p:cNvPr>
            <p:cNvSpPr txBox="1"/>
            <p:nvPr/>
          </p:nvSpPr>
          <p:spPr>
            <a:xfrm>
              <a:off x="502005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Negocios en marcha que estrenan financiamiento. Venden en caja y sin historial de crédito.</a:t>
              </a:r>
              <a:endParaRPr lang="en-US" sz="950"/>
            </a:p>
          </p:txBody>
        </p:sp>
        <p:sp>
          <p:nvSpPr>
            <p:cNvPr id="1198" name="Shape 25">
              <a:extLst>
                <a:ext uri="{FF2B5EF4-FFF2-40B4-BE49-F238E27FC236}">
                  <a16:creationId xmlns:a16="http://schemas.microsoft.com/office/drawing/2014/main" id="{A94D8DB2-1250-D15C-25AC-B9DD408EC4DC}"/>
                </a:ext>
              </a:extLst>
            </p:cNvPr>
            <p:cNvSpPr/>
            <p:nvPr/>
          </p:nvSpPr>
          <p:spPr>
            <a:xfrm>
              <a:off x="7699248" y="1842516"/>
              <a:ext cx="274320" cy="274320"/>
            </a:xfrm>
            <a:prstGeom prst="ellipse">
              <a:avLst/>
            </a:prstGeom>
            <a:solidFill>
              <a:srgbClr val="FFFFFF"/>
            </a:solidFill>
            <a:ln/>
          </p:spPr>
          <p:txBody>
            <a:bodyPr/>
            <a:lstStyle/>
            <a:p>
              <a:endParaRPr/>
            </a:p>
          </p:txBody>
        </p:sp>
        <p:pic>
          <p:nvPicPr>
            <p:cNvPr id="1199" name="Image 5" descr="/home/claude/voi_deck/icons/star_blue.png">
              <a:extLst>
                <a:ext uri="{FF2B5EF4-FFF2-40B4-BE49-F238E27FC236}">
                  <a16:creationId xmlns:a16="http://schemas.microsoft.com/office/drawing/2014/main" id="{CDB510F6-4825-A4C0-524D-442AB4DCA2B8}"/>
                </a:ext>
              </a:extLst>
            </p:cNvPr>
            <p:cNvPicPr>
              <a:picLocks noChangeAspect="1"/>
            </p:cNvPicPr>
            <p:nvPr/>
          </p:nvPicPr>
          <p:blipFill>
            <a:blip r:embed="rId9"/>
            <a:stretch>
              <a:fillRect/>
            </a:stretch>
          </p:blipFill>
          <p:spPr>
            <a:xfrm>
              <a:off x="7772400" y="1915668"/>
              <a:ext cx="128016" cy="128016"/>
            </a:xfrm>
            <a:prstGeom prst="rect">
              <a:avLst/>
            </a:prstGeom>
          </p:spPr>
        </p:pic>
        <p:sp>
          <p:nvSpPr>
            <p:cNvPr id="1200" name="Shape 26">
              <a:extLst>
                <a:ext uri="{FF2B5EF4-FFF2-40B4-BE49-F238E27FC236}">
                  <a16:creationId xmlns:a16="http://schemas.microsoft.com/office/drawing/2014/main" id="{F59D5F2A-E832-F6C3-73CB-4E94B8D50F35}"/>
                </a:ext>
              </a:extLst>
            </p:cNvPr>
            <p:cNvSpPr/>
            <p:nvPr/>
          </p:nvSpPr>
          <p:spPr>
            <a:xfrm>
              <a:off x="8293608" y="1741932"/>
              <a:ext cx="3172968" cy="475488"/>
            </a:xfrm>
            <a:prstGeom prst="roundRect">
              <a:avLst>
                <a:gd name="adj" fmla="val 11538"/>
              </a:avLst>
            </a:prstGeom>
            <a:solidFill>
              <a:srgbClr val="E6F1FB"/>
            </a:solidFill>
            <a:ln w="9525">
              <a:solidFill>
                <a:srgbClr val="BFDCF4"/>
              </a:solidFill>
              <a:prstDash val="solid"/>
            </a:ln>
          </p:spPr>
          <p:txBody>
            <a:bodyPr/>
            <a:lstStyle/>
            <a:p>
              <a:endParaRPr/>
            </a:p>
          </p:txBody>
        </p:sp>
        <p:sp>
          <p:nvSpPr>
            <p:cNvPr id="1201" name="Text 27">
              <a:extLst>
                <a:ext uri="{FF2B5EF4-FFF2-40B4-BE49-F238E27FC236}">
                  <a16:creationId xmlns:a16="http://schemas.microsoft.com/office/drawing/2014/main" id="{FF0A75E6-DC0B-59EB-461F-EEE281FC7D8B}"/>
                </a:ext>
              </a:extLst>
            </p:cNvPr>
            <p:cNvSpPr txBox="1"/>
            <p:nvPr/>
          </p:nvSpPr>
          <p:spPr>
            <a:xfrm>
              <a:off x="8403336" y="1769364"/>
              <a:ext cx="2670048" cy="420624"/>
            </a:xfrm>
            <a:prstGeom prst="rect">
              <a:avLst/>
            </a:prstGeom>
            <a:noFill/>
            <a:ln/>
          </p:spPr>
          <p:txBody>
            <a:bodyPr wrap="square" lIns="0" tIns="0" rIns="0" bIns="0" rtlCol="0" anchor="ctr"/>
            <a:lstStyle/>
            <a:p>
              <a:pPr marL="0" indent="0">
                <a:lnSpc>
                  <a:spcPts val="1150"/>
                </a:lnSpc>
                <a:buNone/>
              </a:pPr>
              <a:r>
                <a:rPr lang="en-US" sz="950">
                  <a:solidFill>
                    <a:srgbClr val="1F2A24"/>
                  </a:solidFill>
                  <a:latin typeface="Calibri" pitchFamily="34" charset="0"/>
                  <a:ea typeface="Calibri" pitchFamily="34" charset="-122"/>
                  <a:cs typeface="Calibri" pitchFamily="34" charset="-120"/>
                </a:rPr>
                <a:t>Clientes con más pasivos y mayor ticket. Objetivo: convertirlos en clientes de portafolio.</a:t>
              </a:r>
              <a:endParaRPr lang="en-US" sz="950"/>
            </a:p>
          </p:txBody>
        </p:sp>
        <p:sp>
          <p:nvSpPr>
            <p:cNvPr id="1202" name="Shape 28">
              <a:extLst>
                <a:ext uri="{FF2B5EF4-FFF2-40B4-BE49-F238E27FC236}">
                  <a16:creationId xmlns:a16="http://schemas.microsoft.com/office/drawing/2014/main" id="{35779A07-5591-280D-7D11-DF5FAEB55F07}"/>
                </a:ext>
              </a:extLst>
            </p:cNvPr>
            <p:cNvSpPr/>
            <p:nvPr/>
          </p:nvSpPr>
          <p:spPr>
            <a:xfrm>
              <a:off x="11082528" y="1842516"/>
              <a:ext cx="274320" cy="274320"/>
            </a:xfrm>
            <a:prstGeom prst="ellipse">
              <a:avLst/>
            </a:prstGeom>
            <a:solidFill>
              <a:srgbClr val="FFFFFF"/>
            </a:solidFill>
            <a:ln/>
          </p:spPr>
          <p:txBody>
            <a:bodyPr/>
            <a:lstStyle/>
            <a:p>
              <a:endParaRPr/>
            </a:p>
          </p:txBody>
        </p:sp>
        <p:pic>
          <p:nvPicPr>
            <p:cNvPr id="1203" name="Image 6" descr="/home/claude/voi_deck/icons/minus_amber.png">
              <a:extLst>
                <a:ext uri="{FF2B5EF4-FFF2-40B4-BE49-F238E27FC236}">
                  <a16:creationId xmlns:a16="http://schemas.microsoft.com/office/drawing/2014/main" id="{4BFDD3CC-0640-7947-7BEC-49A27D642DF0}"/>
                </a:ext>
              </a:extLst>
            </p:cNvPr>
            <p:cNvPicPr>
              <a:picLocks noChangeAspect="1"/>
            </p:cNvPicPr>
            <p:nvPr/>
          </p:nvPicPr>
          <p:blipFill>
            <a:blip r:embed="rId10"/>
            <a:stretch>
              <a:fillRect/>
            </a:stretch>
          </p:blipFill>
          <p:spPr>
            <a:xfrm>
              <a:off x="11155680" y="1915668"/>
              <a:ext cx="128016" cy="128016"/>
            </a:xfrm>
            <a:prstGeom prst="rect">
              <a:avLst/>
            </a:prstGeom>
          </p:spPr>
        </p:pic>
        <p:sp>
          <p:nvSpPr>
            <p:cNvPr id="1204" name="Shape 29">
              <a:extLst>
                <a:ext uri="{FF2B5EF4-FFF2-40B4-BE49-F238E27FC236}">
                  <a16:creationId xmlns:a16="http://schemas.microsoft.com/office/drawing/2014/main" id="{88787840-099C-9518-60DC-4DB21DD0C066}"/>
                </a:ext>
              </a:extLst>
            </p:cNvPr>
            <p:cNvSpPr/>
            <p:nvPr/>
          </p:nvSpPr>
          <p:spPr>
            <a:xfrm>
              <a:off x="320040" y="2313432"/>
              <a:ext cx="11219688" cy="457200"/>
            </a:xfrm>
            <a:prstGeom prst="roundRect">
              <a:avLst>
                <a:gd name="adj" fmla="val 12000"/>
              </a:avLst>
            </a:prstGeom>
            <a:solidFill>
              <a:srgbClr val="FFFFFF"/>
            </a:solidFill>
            <a:ln w="12700">
              <a:solidFill>
                <a:srgbClr val="E4E7E1"/>
              </a:solidFill>
              <a:prstDash val="solid"/>
            </a:ln>
          </p:spPr>
          <p:txBody>
            <a:bodyPr/>
            <a:lstStyle/>
            <a:p>
              <a:endParaRPr lang="es-PE"/>
            </a:p>
          </p:txBody>
        </p:sp>
        <p:sp>
          <p:nvSpPr>
            <p:cNvPr id="1205" name="Shape 30">
              <a:extLst>
                <a:ext uri="{FF2B5EF4-FFF2-40B4-BE49-F238E27FC236}">
                  <a16:creationId xmlns:a16="http://schemas.microsoft.com/office/drawing/2014/main" id="{785C5632-7C71-FC94-B408-F589A082CD02}"/>
                </a:ext>
              </a:extLst>
            </p:cNvPr>
            <p:cNvSpPr/>
            <p:nvPr/>
          </p:nvSpPr>
          <p:spPr>
            <a:xfrm>
              <a:off x="374904" y="2395728"/>
              <a:ext cx="292608" cy="292608"/>
            </a:xfrm>
            <a:prstGeom prst="ellipse">
              <a:avLst/>
            </a:prstGeom>
            <a:solidFill>
              <a:srgbClr val="0E5D52"/>
            </a:solidFill>
            <a:ln/>
          </p:spPr>
          <p:txBody>
            <a:bodyPr/>
            <a:lstStyle/>
            <a:p>
              <a:endParaRPr lang="es-PE"/>
            </a:p>
          </p:txBody>
        </p:sp>
        <p:pic>
          <p:nvPicPr>
            <p:cNvPr id="1206" name="Image 7" descr="/home/claude/voi_deck/icons/dollar.png">
              <a:extLst>
                <a:ext uri="{FF2B5EF4-FFF2-40B4-BE49-F238E27FC236}">
                  <a16:creationId xmlns:a16="http://schemas.microsoft.com/office/drawing/2014/main" id="{91FBC4DF-7078-DEE6-CA64-1E08C347818F}"/>
                </a:ext>
              </a:extLst>
            </p:cNvPr>
            <p:cNvPicPr>
              <a:picLocks noChangeAspect="1"/>
            </p:cNvPicPr>
            <p:nvPr/>
          </p:nvPicPr>
          <p:blipFill>
            <a:blip r:embed="rId11"/>
            <a:stretch>
              <a:fillRect/>
            </a:stretch>
          </p:blipFill>
          <p:spPr>
            <a:xfrm>
              <a:off x="448056" y="2468880"/>
              <a:ext cx="146304" cy="146304"/>
            </a:xfrm>
            <a:prstGeom prst="rect">
              <a:avLst/>
            </a:prstGeom>
          </p:spPr>
        </p:pic>
        <p:sp>
          <p:nvSpPr>
            <p:cNvPr id="1207" name="Text 31">
              <a:extLst>
                <a:ext uri="{FF2B5EF4-FFF2-40B4-BE49-F238E27FC236}">
                  <a16:creationId xmlns:a16="http://schemas.microsoft.com/office/drawing/2014/main" id="{DC5C8727-3CDC-3313-6456-F23B2F60116E}"/>
                </a:ext>
              </a:extLst>
            </p:cNvPr>
            <p:cNvSpPr txBox="1"/>
            <p:nvPr/>
          </p:nvSpPr>
          <p:spPr>
            <a:xfrm>
              <a:off x="704088" y="2313432"/>
              <a:ext cx="676656" cy="457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RENTABILIDAD Y RELACIÓN</a:t>
              </a:r>
              <a:endParaRPr lang="en-US" sz="750"/>
            </a:p>
          </p:txBody>
        </p:sp>
        <p:sp>
          <p:nvSpPr>
            <p:cNvPr id="1208" name="Text 32">
              <a:extLst>
                <a:ext uri="{FF2B5EF4-FFF2-40B4-BE49-F238E27FC236}">
                  <a16:creationId xmlns:a16="http://schemas.microsoft.com/office/drawing/2014/main" id="{41F2F941-9CA8-6DB6-61C6-B1905653E84D}"/>
                </a:ext>
              </a:extLst>
            </p:cNvPr>
            <p:cNvSpPr txBox="1"/>
            <p:nvPr/>
          </p:nvSpPr>
          <p:spPr>
            <a:xfrm>
              <a:off x="156362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209" name="Text 33">
              <a:extLst>
                <a:ext uri="{FF2B5EF4-FFF2-40B4-BE49-F238E27FC236}">
                  <a16:creationId xmlns:a16="http://schemas.microsoft.com/office/drawing/2014/main" id="{2B53DBDF-4511-21B0-7543-D7F2A400F5A8}"/>
                </a:ext>
              </a:extLst>
            </p:cNvPr>
            <p:cNvSpPr txBox="1"/>
            <p:nvPr/>
          </p:nvSpPr>
          <p:spPr>
            <a:xfrm>
              <a:off x="156362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21.5%</a:t>
              </a:r>
              <a:endParaRPr lang="en-US" sz="1150"/>
            </a:p>
          </p:txBody>
        </p:sp>
        <p:sp>
          <p:nvSpPr>
            <p:cNvPr id="1210" name="Text 34">
              <a:extLst>
                <a:ext uri="{FF2B5EF4-FFF2-40B4-BE49-F238E27FC236}">
                  <a16:creationId xmlns:a16="http://schemas.microsoft.com/office/drawing/2014/main" id="{BEFCD46A-A92A-C1AF-83B1-21D5DBED4328}"/>
                </a:ext>
              </a:extLst>
            </p:cNvPr>
            <p:cNvSpPr txBox="1"/>
            <p:nvPr/>
          </p:nvSpPr>
          <p:spPr>
            <a:xfrm>
              <a:off x="260604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211" name="Text 35">
              <a:extLst>
                <a:ext uri="{FF2B5EF4-FFF2-40B4-BE49-F238E27FC236}">
                  <a16:creationId xmlns:a16="http://schemas.microsoft.com/office/drawing/2014/main" id="{20BC8D18-8591-D71F-3826-FF226FAA358C}"/>
                </a:ext>
              </a:extLst>
            </p:cNvPr>
            <p:cNvSpPr txBox="1"/>
            <p:nvPr/>
          </p:nvSpPr>
          <p:spPr>
            <a:xfrm>
              <a:off x="260604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23.9%</a:t>
              </a:r>
              <a:endParaRPr lang="en-US" sz="1150"/>
            </a:p>
          </p:txBody>
        </p:sp>
        <p:sp>
          <p:nvSpPr>
            <p:cNvPr id="1212" name="Text 36">
              <a:extLst>
                <a:ext uri="{FF2B5EF4-FFF2-40B4-BE49-F238E27FC236}">
                  <a16:creationId xmlns:a16="http://schemas.microsoft.com/office/drawing/2014/main" id="{4B22DC6F-9277-3375-C306-A86168CA7A1B}"/>
                </a:ext>
              </a:extLst>
            </p:cNvPr>
            <p:cNvSpPr txBox="1"/>
            <p:nvPr/>
          </p:nvSpPr>
          <p:spPr>
            <a:xfrm>
              <a:off x="364845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213" name="Text 37">
              <a:extLst>
                <a:ext uri="{FF2B5EF4-FFF2-40B4-BE49-F238E27FC236}">
                  <a16:creationId xmlns:a16="http://schemas.microsoft.com/office/drawing/2014/main" id="{AD96944B-789A-3742-040D-E76E856FE899}"/>
                </a:ext>
              </a:extLst>
            </p:cNvPr>
            <p:cNvSpPr txBox="1"/>
            <p:nvPr/>
          </p:nvSpPr>
          <p:spPr>
            <a:xfrm>
              <a:off x="364845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24</a:t>
              </a:r>
              <a:endParaRPr lang="en-US" sz="1150"/>
            </a:p>
          </p:txBody>
        </p:sp>
        <p:sp>
          <p:nvSpPr>
            <p:cNvPr id="1214" name="Text 38">
              <a:extLst>
                <a:ext uri="{FF2B5EF4-FFF2-40B4-BE49-F238E27FC236}">
                  <a16:creationId xmlns:a16="http://schemas.microsoft.com/office/drawing/2014/main" id="{C4C9EAFE-0077-1363-96CF-09201CC39656}"/>
                </a:ext>
              </a:extLst>
            </p:cNvPr>
            <p:cNvSpPr txBox="1"/>
            <p:nvPr/>
          </p:nvSpPr>
          <p:spPr>
            <a:xfrm>
              <a:off x="494690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215" name="Text 39">
              <a:extLst>
                <a:ext uri="{FF2B5EF4-FFF2-40B4-BE49-F238E27FC236}">
                  <a16:creationId xmlns:a16="http://schemas.microsoft.com/office/drawing/2014/main" id="{59A46B22-7CFF-BD29-283F-F15B14873EF2}"/>
                </a:ext>
              </a:extLst>
            </p:cNvPr>
            <p:cNvSpPr txBox="1"/>
            <p:nvPr/>
          </p:nvSpPr>
          <p:spPr>
            <a:xfrm>
              <a:off x="494690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20.8%</a:t>
              </a:r>
              <a:endParaRPr lang="en-US" sz="1150"/>
            </a:p>
          </p:txBody>
        </p:sp>
        <p:sp>
          <p:nvSpPr>
            <p:cNvPr id="1216" name="Text 40">
              <a:extLst>
                <a:ext uri="{FF2B5EF4-FFF2-40B4-BE49-F238E27FC236}">
                  <a16:creationId xmlns:a16="http://schemas.microsoft.com/office/drawing/2014/main" id="{7CF5B533-572D-FDCC-E52F-9ABDA3852C1B}"/>
                </a:ext>
              </a:extLst>
            </p:cNvPr>
            <p:cNvSpPr txBox="1"/>
            <p:nvPr/>
          </p:nvSpPr>
          <p:spPr>
            <a:xfrm>
              <a:off x="598932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217" name="Text 41">
              <a:extLst>
                <a:ext uri="{FF2B5EF4-FFF2-40B4-BE49-F238E27FC236}">
                  <a16:creationId xmlns:a16="http://schemas.microsoft.com/office/drawing/2014/main" id="{A8084C31-0C15-D878-325F-4DF5AB910308}"/>
                </a:ext>
              </a:extLst>
            </p:cNvPr>
            <p:cNvSpPr txBox="1"/>
            <p:nvPr/>
          </p:nvSpPr>
          <p:spPr>
            <a:xfrm>
              <a:off x="598932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24.0%</a:t>
              </a:r>
              <a:endParaRPr lang="en-US" sz="1150"/>
            </a:p>
          </p:txBody>
        </p:sp>
        <p:sp>
          <p:nvSpPr>
            <p:cNvPr id="1218" name="Text 42">
              <a:extLst>
                <a:ext uri="{FF2B5EF4-FFF2-40B4-BE49-F238E27FC236}">
                  <a16:creationId xmlns:a16="http://schemas.microsoft.com/office/drawing/2014/main" id="{15FD55E8-E49D-00C4-7F9C-973134568760}"/>
                </a:ext>
              </a:extLst>
            </p:cNvPr>
            <p:cNvSpPr txBox="1"/>
            <p:nvPr/>
          </p:nvSpPr>
          <p:spPr>
            <a:xfrm>
              <a:off x="703173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219" name="Text 43">
              <a:extLst>
                <a:ext uri="{FF2B5EF4-FFF2-40B4-BE49-F238E27FC236}">
                  <a16:creationId xmlns:a16="http://schemas.microsoft.com/office/drawing/2014/main" id="{2CDF2412-3B77-3B47-15DA-535F5F8CAB26}"/>
                </a:ext>
              </a:extLst>
            </p:cNvPr>
            <p:cNvSpPr txBox="1"/>
            <p:nvPr/>
          </p:nvSpPr>
          <p:spPr>
            <a:xfrm>
              <a:off x="703173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28</a:t>
              </a:r>
              <a:endParaRPr lang="en-US" sz="1150"/>
            </a:p>
          </p:txBody>
        </p:sp>
        <p:sp>
          <p:nvSpPr>
            <p:cNvPr id="1220" name="Text 44">
              <a:extLst>
                <a:ext uri="{FF2B5EF4-FFF2-40B4-BE49-F238E27FC236}">
                  <a16:creationId xmlns:a16="http://schemas.microsoft.com/office/drawing/2014/main" id="{FA85D8CC-1BE9-1657-4C07-1D3F031327A6}"/>
                </a:ext>
              </a:extLst>
            </p:cNvPr>
            <p:cNvSpPr txBox="1"/>
            <p:nvPr/>
          </p:nvSpPr>
          <p:spPr>
            <a:xfrm>
              <a:off x="8330184"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prom.</a:t>
              </a:r>
              <a:endParaRPr lang="en-US" sz="750"/>
            </a:p>
          </p:txBody>
        </p:sp>
        <p:sp>
          <p:nvSpPr>
            <p:cNvPr id="1221" name="Text 45">
              <a:extLst>
                <a:ext uri="{FF2B5EF4-FFF2-40B4-BE49-F238E27FC236}">
                  <a16:creationId xmlns:a16="http://schemas.microsoft.com/office/drawing/2014/main" id="{E4B8FBA5-ED1A-FC3C-0668-1CA65E6E1A3F}"/>
                </a:ext>
              </a:extLst>
            </p:cNvPr>
            <p:cNvSpPr txBox="1"/>
            <p:nvPr/>
          </p:nvSpPr>
          <p:spPr>
            <a:xfrm>
              <a:off x="8330184"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19.7%</a:t>
              </a:r>
              <a:endParaRPr lang="en-US" sz="1150"/>
            </a:p>
          </p:txBody>
        </p:sp>
        <p:sp>
          <p:nvSpPr>
            <p:cNvPr id="1222" name="Text 46">
              <a:extLst>
                <a:ext uri="{FF2B5EF4-FFF2-40B4-BE49-F238E27FC236}">
                  <a16:creationId xmlns:a16="http://schemas.microsoft.com/office/drawing/2014/main" id="{9B63089C-86E0-F084-3C46-3AF2D5EFB729}"/>
                </a:ext>
              </a:extLst>
            </p:cNvPr>
            <p:cNvSpPr txBox="1"/>
            <p:nvPr/>
          </p:nvSpPr>
          <p:spPr>
            <a:xfrm>
              <a:off x="9372600"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TEA oferta</a:t>
              </a:r>
              <a:endParaRPr lang="en-US" sz="750"/>
            </a:p>
          </p:txBody>
        </p:sp>
        <p:sp>
          <p:nvSpPr>
            <p:cNvPr id="1223" name="Text 47">
              <a:extLst>
                <a:ext uri="{FF2B5EF4-FFF2-40B4-BE49-F238E27FC236}">
                  <a16:creationId xmlns:a16="http://schemas.microsoft.com/office/drawing/2014/main" id="{5D33A6C6-8791-1C0E-019E-59FCC0D34BA0}"/>
                </a:ext>
              </a:extLst>
            </p:cNvPr>
            <p:cNvSpPr txBox="1"/>
            <p:nvPr/>
          </p:nvSpPr>
          <p:spPr>
            <a:xfrm>
              <a:off x="9372600"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23.8%</a:t>
              </a:r>
              <a:endParaRPr lang="en-US" sz="1150"/>
            </a:p>
          </p:txBody>
        </p:sp>
        <p:sp>
          <p:nvSpPr>
            <p:cNvPr id="1224" name="Text 48">
              <a:extLst>
                <a:ext uri="{FF2B5EF4-FFF2-40B4-BE49-F238E27FC236}">
                  <a16:creationId xmlns:a16="http://schemas.microsoft.com/office/drawing/2014/main" id="{6901AB39-978B-933E-4296-BFB89BDC0607}"/>
                </a:ext>
              </a:extLst>
            </p:cNvPr>
            <p:cNvSpPr txBox="1"/>
            <p:nvPr/>
          </p:nvSpPr>
          <p:spPr>
            <a:xfrm>
              <a:off x="10415016" y="2386584"/>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UAI (mediana)</a:t>
              </a:r>
              <a:endParaRPr lang="en-US" sz="750"/>
            </a:p>
          </p:txBody>
        </p:sp>
        <p:sp>
          <p:nvSpPr>
            <p:cNvPr id="1225" name="Text 49">
              <a:extLst>
                <a:ext uri="{FF2B5EF4-FFF2-40B4-BE49-F238E27FC236}">
                  <a16:creationId xmlns:a16="http://schemas.microsoft.com/office/drawing/2014/main" id="{E464E819-759C-F581-95B9-9F9A2C67AEF1}"/>
                </a:ext>
              </a:extLst>
            </p:cNvPr>
            <p:cNvSpPr txBox="1"/>
            <p:nvPr/>
          </p:nvSpPr>
          <p:spPr>
            <a:xfrm>
              <a:off x="10415016" y="2551176"/>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134</a:t>
              </a:r>
              <a:endParaRPr lang="en-US" sz="1150"/>
            </a:p>
          </p:txBody>
        </p:sp>
        <p:sp>
          <p:nvSpPr>
            <p:cNvPr id="1226" name="Shape 50">
              <a:extLst>
                <a:ext uri="{FF2B5EF4-FFF2-40B4-BE49-F238E27FC236}">
                  <a16:creationId xmlns:a16="http://schemas.microsoft.com/office/drawing/2014/main" id="{E3CC678F-46CA-C338-48CF-99E3F6CD55F6}"/>
                </a:ext>
              </a:extLst>
            </p:cNvPr>
            <p:cNvSpPr/>
            <p:nvPr/>
          </p:nvSpPr>
          <p:spPr>
            <a:xfrm>
              <a:off x="320040" y="2820924"/>
              <a:ext cx="11219688" cy="457200"/>
            </a:xfrm>
            <a:prstGeom prst="roundRect">
              <a:avLst>
                <a:gd name="adj" fmla="val 12000"/>
              </a:avLst>
            </a:prstGeom>
            <a:solidFill>
              <a:srgbClr val="FFFFFF"/>
            </a:solidFill>
            <a:ln w="12700">
              <a:solidFill>
                <a:srgbClr val="E4E7E1"/>
              </a:solidFill>
              <a:prstDash val="solid"/>
            </a:ln>
          </p:spPr>
          <p:txBody>
            <a:bodyPr/>
            <a:lstStyle/>
            <a:p>
              <a:endParaRPr lang="es-PE"/>
            </a:p>
          </p:txBody>
        </p:sp>
        <p:sp>
          <p:nvSpPr>
            <p:cNvPr id="1227" name="Shape 51">
              <a:extLst>
                <a:ext uri="{FF2B5EF4-FFF2-40B4-BE49-F238E27FC236}">
                  <a16:creationId xmlns:a16="http://schemas.microsoft.com/office/drawing/2014/main" id="{0966A5EB-A283-FE8C-5D3C-70D035492E09}"/>
                </a:ext>
              </a:extLst>
            </p:cNvPr>
            <p:cNvSpPr/>
            <p:nvPr/>
          </p:nvSpPr>
          <p:spPr>
            <a:xfrm>
              <a:off x="374904" y="2903220"/>
              <a:ext cx="292608" cy="292608"/>
            </a:xfrm>
            <a:prstGeom prst="ellipse">
              <a:avLst/>
            </a:prstGeom>
            <a:solidFill>
              <a:srgbClr val="0E5D52"/>
            </a:solidFill>
            <a:ln/>
          </p:spPr>
          <p:txBody>
            <a:bodyPr/>
            <a:lstStyle/>
            <a:p>
              <a:endParaRPr lang="es-PE"/>
            </a:p>
          </p:txBody>
        </p:sp>
        <p:pic>
          <p:nvPicPr>
            <p:cNvPr id="1228" name="Image 8" descr="/home/claude/voi_deck/icons/bar_chart.png">
              <a:extLst>
                <a:ext uri="{FF2B5EF4-FFF2-40B4-BE49-F238E27FC236}">
                  <a16:creationId xmlns:a16="http://schemas.microsoft.com/office/drawing/2014/main" id="{AAB749C4-93D6-F0AC-2BDC-337E426A7445}"/>
                </a:ext>
              </a:extLst>
            </p:cNvPr>
            <p:cNvPicPr>
              <a:picLocks noChangeAspect="1"/>
            </p:cNvPicPr>
            <p:nvPr/>
          </p:nvPicPr>
          <p:blipFill>
            <a:blip r:embed="rId12"/>
            <a:stretch>
              <a:fillRect/>
            </a:stretch>
          </p:blipFill>
          <p:spPr>
            <a:xfrm>
              <a:off x="448056" y="2976372"/>
              <a:ext cx="146304" cy="146304"/>
            </a:xfrm>
            <a:prstGeom prst="rect">
              <a:avLst/>
            </a:prstGeom>
          </p:spPr>
        </p:pic>
        <p:sp>
          <p:nvSpPr>
            <p:cNvPr id="1229" name="Text 52">
              <a:extLst>
                <a:ext uri="{FF2B5EF4-FFF2-40B4-BE49-F238E27FC236}">
                  <a16:creationId xmlns:a16="http://schemas.microsoft.com/office/drawing/2014/main" id="{74676EDB-5FC9-F731-BF36-857C14AED4F9}"/>
                </a:ext>
              </a:extLst>
            </p:cNvPr>
            <p:cNvSpPr txBox="1"/>
            <p:nvPr/>
          </p:nvSpPr>
          <p:spPr>
            <a:xfrm>
              <a:off x="704088" y="2820924"/>
              <a:ext cx="676656" cy="4572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TAMAÑO Y VALOR</a:t>
              </a:r>
              <a:endParaRPr lang="en-US" sz="750"/>
            </a:p>
          </p:txBody>
        </p:sp>
        <p:sp>
          <p:nvSpPr>
            <p:cNvPr id="1230" name="Text 53">
              <a:extLst>
                <a:ext uri="{FF2B5EF4-FFF2-40B4-BE49-F238E27FC236}">
                  <a16:creationId xmlns:a16="http://schemas.microsoft.com/office/drawing/2014/main" id="{D8AB3638-B492-AAC0-C41C-A3D390170BFD}"/>
                </a:ext>
              </a:extLst>
            </p:cNvPr>
            <p:cNvSpPr txBox="1"/>
            <p:nvPr/>
          </p:nvSpPr>
          <p:spPr>
            <a:xfrm>
              <a:off x="156362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231" name="Text 54">
              <a:extLst>
                <a:ext uri="{FF2B5EF4-FFF2-40B4-BE49-F238E27FC236}">
                  <a16:creationId xmlns:a16="http://schemas.microsoft.com/office/drawing/2014/main" id="{589A8006-F77D-DF8D-3511-4464798F9FDF}"/>
                </a:ext>
              </a:extLst>
            </p:cNvPr>
            <p:cNvSpPr txBox="1"/>
            <p:nvPr/>
          </p:nvSpPr>
          <p:spPr>
            <a:xfrm>
              <a:off x="156362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30k</a:t>
              </a:r>
              <a:endParaRPr lang="en-US" sz="1150"/>
            </a:p>
          </p:txBody>
        </p:sp>
        <p:sp>
          <p:nvSpPr>
            <p:cNvPr id="1232" name="Text 55">
              <a:extLst>
                <a:ext uri="{FF2B5EF4-FFF2-40B4-BE49-F238E27FC236}">
                  <a16:creationId xmlns:a16="http://schemas.microsoft.com/office/drawing/2014/main" id="{92821402-BCEC-B1FE-3903-187E4B603B0E}"/>
                </a:ext>
              </a:extLst>
            </p:cNvPr>
            <p:cNvSpPr txBox="1"/>
            <p:nvPr/>
          </p:nvSpPr>
          <p:spPr>
            <a:xfrm>
              <a:off x="260604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233" name="Text 56">
              <a:extLst>
                <a:ext uri="{FF2B5EF4-FFF2-40B4-BE49-F238E27FC236}">
                  <a16:creationId xmlns:a16="http://schemas.microsoft.com/office/drawing/2014/main" id="{D31DFA92-DCA9-84CE-4E4E-56164B37D044}"/>
                </a:ext>
              </a:extLst>
            </p:cNvPr>
            <p:cNvSpPr txBox="1"/>
            <p:nvPr/>
          </p:nvSpPr>
          <p:spPr>
            <a:xfrm>
              <a:off x="260604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126k</a:t>
              </a:r>
              <a:endParaRPr lang="en-US" sz="1150"/>
            </a:p>
          </p:txBody>
        </p:sp>
        <p:sp>
          <p:nvSpPr>
            <p:cNvPr id="1234" name="Text 57">
              <a:extLst>
                <a:ext uri="{FF2B5EF4-FFF2-40B4-BE49-F238E27FC236}">
                  <a16:creationId xmlns:a16="http://schemas.microsoft.com/office/drawing/2014/main" id="{AA913A4B-2C62-EFFA-FD3A-0FDFA5909AE0}"/>
                </a:ext>
              </a:extLst>
            </p:cNvPr>
            <p:cNvSpPr txBox="1"/>
            <p:nvPr/>
          </p:nvSpPr>
          <p:spPr>
            <a:xfrm>
              <a:off x="364845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235" name="Text 58">
              <a:extLst>
                <a:ext uri="{FF2B5EF4-FFF2-40B4-BE49-F238E27FC236}">
                  <a16:creationId xmlns:a16="http://schemas.microsoft.com/office/drawing/2014/main" id="{E33764CC-7557-4E91-714D-C047A31CE1C3}"/>
                </a:ext>
              </a:extLst>
            </p:cNvPr>
            <p:cNvSpPr txBox="1"/>
            <p:nvPr/>
          </p:nvSpPr>
          <p:spPr>
            <a:xfrm>
              <a:off x="364845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2k</a:t>
              </a:r>
              <a:endParaRPr lang="en-US" sz="1150"/>
            </a:p>
          </p:txBody>
        </p:sp>
        <p:sp>
          <p:nvSpPr>
            <p:cNvPr id="1236" name="Text 59">
              <a:extLst>
                <a:ext uri="{FF2B5EF4-FFF2-40B4-BE49-F238E27FC236}">
                  <a16:creationId xmlns:a16="http://schemas.microsoft.com/office/drawing/2014/main" id="{BB878F18-2524-86F4-BD28-DEA1AAB3AC07}"/>
                </a:ext>
              </a:extLst>
            </p:cNvPr>
            <p:cNvSpPr txBox="1"/>
            <p:nvPr/>
          </p:nvSpPr>
          <p:spPr>
            <a:xfrm>
              <a:off x="494690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237" name="Text 60">
              <a:extLst>
                <a:ext uri="{FF2B5EF4-FFF2-40B4-BE49-F238E27FC236}">
                  <a16:creationId xmlns:a16="http://schemas.microsoft.com/office/drawing/2014/main" id="{BB6B873C-AA0C-587A-C787-F59710A9E0A0}"/>
                </a:ext>
              </a:extLst>
            </p:cNvPr>
            <p:cNvSpPr txBox="1"/>
            <p:nvPr/>
          </p:nvSpPr>
          <p:spPr>
            <a:xfrm>
              <a:off x="494690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50k</a:t>
              </a:r>
              <a:endParaRPr lang="en-US" sz="1150"/>
            </a:p>
          </p:txBody>
        </p:sp>
        <p:sp>
          <p:nvSpPr>
            <p:cNvPr id="1238" name="Text 61">
              <a:extLst>
                <a:ext uri="{FF2B5EF4-FFF2-40B4-BE49-F238E27FC236}">
                  <a16:creationId xmlns:a16="http://schemas.microsoft.com/office/drawing/2014/main" id="{720C7564-7B4A-AF21-A305-36B25F391E2A}"/>
                </a:ext>
              </a:extLst>
            </p:cNvPr>
            <p:cNvSpPr txBox="1"/>
            <p:nvPr/>
          </p:nvSpPr>
          <p:spPr>
            <a:xfrm>
              <a:off x="598932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239" name="Text 62">
              <a:extLst>
                <a:ext uri="{FF2B5EF4-FFF2-40B4-BE49-F238E27FC236}">
                  <a16:creationId xmlns:a16="http://schemas.microsoft.com/office/drawing/2014/main" id="{3415FA3F-FD4E-E52A-7518-6008525B5F82}"/>
                </a:ext>
              </a:extLst>
            </p:cNvPr>
            <p:cNvSpPr txBox="1"/>
            <p:nvPr/>
          </p:nvSpPr>
          <p:spPr>
            <a:xfrm>
              <a:off x="598932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487k</a:t>
              </a:r>
              <a:endParaRPr lang="en-US" sz="1150"/>
            </a:p>
          </p:txBody>
        </p:sp>
        <p:sp>
          <p:nvSpPr>
            <p:cNvPr id="1240" name="Text 63">
              <a:extLst>
                <a:ext uri="{FF2B5EF4-FFF2-40B4-BE49-F238E27FC236}">
                  <a16:creationId xmlns:a16="http://schemas.microsoft.com/office/drawing/2014/main" id="{9D7C8F7D-C21A-83C9-6EF7-71D94624D8BE}"/>
                </a:ext>
              </a:extLst>
            </p:cNvPr>
            <p:cNvSpPr txBox="1"/>
            <p:nvPr/>
          </p:nvSpPr>
          <p:spPr>
            <a:xfrm>
              <a:off x="703173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241" name="Text 64">
              <a:extLst>
                <a:ext uri="{FF2B5EF4-FFF2-40B4-BE49-F238E27FC236}">
                  <a16:creationId xmlns:a16="http://schemas.microsoft.com/office/drawing/2014/main" id="{22FE84A3-F2A3-5920-3A12-358DCE2AEBFD}"/>
                </a:ext>
              </a:extLst>
            </p:cNvPr>
            <p:cNvSpPr txBox="1"/>
            <p:nvPr/>
          </p:nvSpPr>
          <p:spPr>
            <a:xfrm>
              <a:off x="703173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3k</a:t>
              </a:r>
              <a:endParaRPr lang="en-US" sz="1150"/>
            </a:p>
          </p:txBody>
        </p:sp>
        <p:sp>
          <p:nvSpPr>
            <p:cNvPr id="1242" name="Text 65">
              <a:extLst>
                <a:ext uri="{FF2B5EF4-FFF2-40B4-BE49-F238E27FC236}">
                  <a16:creationId xmlns:a16="http://schemas.microsoft.com/office/drawing/2014/main" id="{C9FE75F5-959F-16DB-1D94-C1AFD1CC47D9}"/>
                </a:ext>
              </a:extLst>
            </p:cNvPr>
            <p:cNvSpPr txBox="1"/>
            <p:nvPr/>
          </p:nvSpPr>
          <p:spPr>
            <a:xfrm>
              <a:off x="8330184"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Monto desemb.</a:t>
              </a:r>
              <a:endParaRPr lang="en-US" sz="750"/>
            </a:p>
          </p:txBody>
        </p:sp>
        <p:sp>
          <p:nvSpPr>
            <p:cNvPr id="1243" name="Text 66">
              <a:extLst>
                <a:ext uri="{FF2B5EF4-FFF2-40B4-BE49-F238E27FC236}">
                  <a16:creationId xmlns:a16="http://schemas.microsoft.com/office/drawing/2014/main" id="{CFB5CEA3-20E1-3D5A-4662-34977E190CF9}"/>
                </a:ext>
              </a:extLst>
            </p:cNvPr>
            <p:cNvSpPr txBox="1"/>
            <p:nvPr/>
          </p:nvSpPr>
          <p:spPr>
            <a:xfrm>
              <a:off x="8330184"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70k</a:t>
              </a:r>
              <a:endParaRPr lang="en-US" sz="1150"/>
            </a:p>
          </p:txBody>
        </p:sp>
        <p:sp>
          <p:nvSpPr>
            <p:cNvPr id="1244" name="Text 67">
              <a:extLst>
                <a:ext uri="{FF2B5EF4-FFF2-40B4-BE49-F238E27FC236}">
                  <a16:creationId xmlns:a16="http://schemas.microsoft.com/office/drawing/2014/main" id="{8ADD6B5E-5F13-CB3E-24BE-B78EC83D3202}"/>
                </a:ext>
              </a:extLst>
            </p:cNvPr>
            <p:cNvSpPr txBox="1"/>
            <p:nvPr/>
          </p:nvSpPr>
          <p:spPr>
            <a:xfrm>
              <a:off x="9372600"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Ventas</a:t>
              </a:r>
              <a:endParaRPr lang="en-US" sz="750"/>
            </a:p>
          </p:txBody>
        </p:sp>
        <p:sp>
          <p:nvSpPr>
            <p:cNvPr id="1245" name="Text 68">
              <a:extLst>
                <a:ext uri="{FF2B5EF4-FFF2-40B4-BE49-F238E27FC236}">
                  <a16:creationId xmlns:a16="http://schemas.microsoft.com/office/drawing/2014/main" id="{5AB94618-3731-829F-8092-1DE0CA5288A0}"/>
                </a:ext>
              </a:extLst>
            </p:cNvPr>
            <p:cNvSpPr txBox="1"/>
            <p:nvPr/>
          </p:nvSpPr>
          <p:spPr>
            <a:xfrm>
              <a:off x="9372600"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497k</a:t>
              </a:r>
              <a:endParaRPr lang="en-US" sz="1150"/>
            </a:p>
          </p:txBody>
        </p:sp>
        <p:sp>
          <p:nvSpPr>
            <p:cNvPr id="1246" name="Text 69">
              <a:extLst>
                <a:ext uri="{FF2B5EF4-FFF2-40B4-BE49-F238E27FC236}">
                  <a16:creationId xmlns:a16="http://schemas.microsoft.com/office/drawing/2014/main" id="{26A59313-DE3A-5A61-D6F8-0B2772565836}"/>
                </a:ext>
              </a:extLst>
            </p:cNvPr>
            <p:cNvSpPr txBox="1"/>
            <p:nvPr/>
          </p:nvSpPr>
          <p:spPr>
            <a:xfrm>
              <a:off x="10415016" y="2894076"/>
              <a:ext cx="987552" cy="164592"/>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Pasivos prom.</a:t>
              </a:r>
              <a:endParaRPr lang="en-US" sz="750"/>
            </a:p>
          </p:txBody>
        </p:sp>
        <p:sp>
          <p:nvSpPr>
            <p:cNvPr id="1247" name="Text 70">
              <a:extLst>
                <a:ext uri="{FF2B5EF4-FFF2-40B4-BE49-F238E27FC236}">
                  <a16:creationId xmlns:a16="http://schemas.microsoft.com/office/drawing/2014/main" id="{9A4EB10D-74D2-4A36-FDCC-31A42529DA8C}"/>
                </a:ext>
              </a:extLst>
            </p:cNvPr>
            <p:cNvSpPr txBox="1"/>
            <p:nvPr/>
          </p:nvSpPr>
          <p:spPr>
            <a:xfrm>
              <a:off x="10415016" y="3058668"/>
              <a:ext cx="987552" cy="182880"/>
            </a:xfrm>
            <a:prstGeom prst="rect">
              <a:avLst/>
            </a:prstGeom>
            <a:noFill/>
            <a:ln/>
          </p:spPr>
          <p:txBody>
            <a:bodyPr wrap="square" lIns="0" tIns="0" rIns="0" bIns="0" rtlCol="0" anchor="ctr"/>
            <a:lstStyle/>
            <a:p>
              <a:pPr marL="0" indent="0">
                <a:buNone/>
              </a:pPr>
              <a:r>
                <a:rPr lang="en-US" sz="1150" b="1">
                  <a:solidFill>
                    <a:srgbClr val="1F2A24"/>
                  </a:solidFill>
                  <a:latin typeface="Calibri" pitchFamily="34" charset="0"/>
                  <a:ea typeface="Calibri" pitchFamily="34" charset="-122"/>
                  <a:cs typeface="Calibri" pitchFamily="34" charset="-120"/>
                </a:rPr>
                <a:t>S/ 22k</a:t>
              </a:r>
              <a:endParaRPr lang="en-US" sz="1150"/>
            </a:p>
          </p:txBody>
        </p:sp>
        <p:sp>
          <p:nvSpPr>
            <p:cNvPr id="1248" name="Shape 71">
              <a:extLst>
                <a:ext uri="{FF2B5EF4-FFF2-40B4-BE49-F238E27FC236}">
                  <a16:creationId xmlns:a16="http://schemas.microsoft.com/office/drawing/2014/main" id="{D37958B7-EF7E-4BD3-2C41-F11587993B95}"/>
                </a:ext>
              </a:extLst>
            </p:cNvPr>
            <p:cNvSpPr/>
            <p:nvPr/>
          </p:nvSpPr>
          <p:spPr>
            <a:xfrm>
              <a:off x="320040" y="3328416"/>
              <a:ext cx="11219688" cy="731520"/>
            </a:xfrm>
            <a:prstGeom prst="roundRect">
              <a:avLst>
                <a:gd name="adj" fmla="val 7500"/>
              </a:avLst>
            </a:prstGeom>
            <a:solidFill>
              <a:srgbClr val="FFFFFF"/>
            </a:solidFill>
            <a:ln w="12700">
              <a:solidFill>
                <a:srgbClr val="E4E7E1"/>
              </a:solidFill>
              <a:prstDash val="solid"/>
            </a:ln>
          </p:spPr>
          <p:txBody>
            <a:bodyPr/>
            <a:lstStyle/>
            <a:p>
              <a:endParaRPr lang="es-PE"/>
            </a:p>
          </p:txBody>
        </p:sp>
        <p:sp>
          <p:nvSpPr>
            <p:cNvPr id="1249" name="Shape 72">
              <a:extLst>
                <a:ext uri="{FF2B5EF4-FFF2-40B4-BE49-F238E27FC236}">
                  <a16:creationId xmlns:a16="http://schemas.microsoft.com/office/drawing/2014/main" id="{9174A1FD-1E34-6322-BE0A-51B45A7F0B2E}"/>
                </a:ext>
              </a:extLst>
            </p:cNvPr>
            <p:cNvSpPr/>
            <p:nvPr/>
          </p:nvSpPr>
          <p:spPr>
            <a:xfrm>
              <a:off x="374904" y="3547872"/>
              <a:ext cx="292608" cy="292608"/>
            </a:xfrm>
            <a:prstGeom prst="ellipse">
              <a:avLst/>
            </a:prstGeom>
            <a:solidFill>
              <a:srgbClr val="3E4C59"/>
            </a:solidFill>
            <a:ln/>
          </p:spPr>
          <p:txBody>
            <a:bodyPr/>
            <a:lstStyle/>
            <a:p>
              <a:endParaRPr lang="es-PE"/>
            </a:p>
          </p:txBody>
        </p:sp>
        <p:pic>
          <p:nvPicPr>
            <p:cNvPr id="1250" name="Image 9" descr="/home/claude/voi_deck/icons/shield.png">
              <a:extLst>
                <a:ext uri="{FF2B5EF4-FFF2-40B4-BE49-F238E27FC236}">
                  <a16:creationId xmlns:a16="http://schemas.microsoft.com/office/drawing/2014/main" id="{BFCC9CBF-EE80-FC8E-540E-8637F3E38411}"/>
                </a:ext>
              </a:extLst>
            </p:cNvPr>
            <p:cNvPicPr>
              <a:picLocks noChangeAspect="1"/>
            </p:cNvPicPr>
            <p:nvPr/>
          </p:nvPicPr>
          <p:blipFill>
            <a:blip r:embed="rId13"/>
            <a:stretch>
              <a:fillRect/>
            </a:stretch>
          </p:blipFill>
          <p:spPr>
            <a:xfrm>
              <a:off x="448056" y="3621024"/>
              <a:ext cx="146304" cy="146304"/>
            </a:xfrm>
            <a:prstGeom prst="rect">
              <a:avLst/>
            </a:prstGeom>
          </p:spPr>
        </p:pic>
        <p:sp>
          <p:nvSpPr>
            <p:cNvPr id="1251" name="Text 73">
              <a:extLst>
                <a:ext uri="{FF2B5EF4-FFF2-40B4-BE49-F238E27FC236}">
                  <a16:creationId xmlns:a16="http://schemas.microsoft.com/office/drawing/2014/main" id="{C989C872-54BD-FD74-9EE9-E58C800A6927}"/>
                </a:ext>
              </a:extLst>
            </p:cNvPr>
            <p:cNvSpPr txBox="1"/>
            <p:nvPr/>
          </p:nvSpPr>
          <p:spPr>
            <a:xfrm>
              <a:off x="704088" y="3328416"/>
              <a:ext cx="676656" cy="73152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COSTO DE RIESGO (SOW)</a:t>
              </a:r>
              <a:endParaRPr lang="en-US" sz="750"/>
            </a:p>
          </p:txBody>
        </p:sp>
        <p:sp>
          <p:nvSpPr>
            <p:cNvPr id="1252" name="Text 74">
              <a:extLst>
                <a:ext uri="{FF2B5EF4-FFF2-40B4-BE49-F238E27FC236}">
                  <a16:creationId xmlns:a16="http://schemas.microsoft.com/office/drawing/2014/main" id="{09E587AF-9989-844C-EB6F-1446E7DCE77D}"/>
                </a:ext>
              </a:extLst>
            </p:cNvPr>
            <p:cNvSpPr txBox="1"/>
            <p:nvPr/>
          </p:nvSpPr>
          <p:spPr>
            <a:xfrm>
              <a:off x="156362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253" name="Text 75">
              <a:extLst>
                <a:ext uri="{FF2B5EF4-FFF2-40B4-BE49-F238E27FC236}">
                  <a16:creationId xmlns:a16="http://schemas.microsoft.com/office/drawing/2014/main" id="{DA47497A-78FB-C8CC-0CD5-2B4D97AB486C}"/>
                </a:ext>
              </a:extLst>
            </p:cNvPr>
            <p:cNvSpPr txBox="1"/>
            <p:nvPr/>
          </p:nvSpPr>
          <p:spPr>
            <a:xfrm>
              <a:off x="156362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sp>
          <p:nvSpPr>
            <p:cNvPr id="1254" name="Shape 76">
              <a:extLst>
                <a:ext uri="{FF2B5EF4-FFF2-40B4-BE49-F238E27FC236}">
                  <a16:creationId xmlns:a16="http://schemas.microsoft.com/office/drawing/2014/main" id="{6D67970B-63D6-4456-F4EB-D6CF2F4377F9}"/>
                </a:ext>
              </a:extLst>
            </p:cNvPr>
            <p:cNvSpPr/>
            <p:nvPr/>
          </p:nvSpPr>
          <p:spPr>
            <a:xfrm>
              <a:off x="2404872" y="3355848"/>
              <a:ext cx="658368" cy="658368"/>
            </a:xfrm>
            <a:prstGeom prst="arc">
              <a:avLst>
                <a:gd name="adj1" fmla="val 10800000"/>
                <a:gd name="adj2" fmla="val 21600000"/>
              </a:avLst>
            </a:prstGeom>
            <a:ln w="63500">
              <a:solidFill>
                <a:srgbClr val="DDE1D9"/>
              </a:solidFill>
              <a:prstDash val="solid"/>
            </a:ln>
          </p:spPr>
          <p:txBody>
            <a:bodyPr/>
            <a:lstStyle/>
            <a:p>
              <a:endParaRPr/>
            </a:p>
          </p:txBody>
        </p:sp>
        <p:sp>
          <p:nvSpPr>
            <p:cNvPr id="1255" name="Text 77">
              <a:extLst>
                <a:ext uri="{FF2B5EF4-FFF2-40B4-BE49-F238E27FC236}">
                  <a16:creationId xmlns:a16="http://schemas.microsoft.com/office/drawing/2014/main" id="{2F763C13-3574-8D58-E351-02A59C5FF93D}"/>
                </a:ext>
              </a:extLst>
            </p:cNvPr>
            <p:cNvSpPr txBox="1"/>
            <p:nvPr/>
          </p:nvSpPr>
          <p:spPr>
            <a:xfrm>
              <a:off x="2313432" y="3694176"/>
              <a:ext cx="841248" cy="201168"/>
            </a:xfrm>
            <a:prstGeom prst="rect">
              <a:avLst/>
            </a:prstGeom>
            <a:noFill/>
            <a:ln/>
          </p:spPr>
          <p:txBody>
            <a:bodyPr wrap="square" lIns="0" tIns="0" rIns="0" bIns="0" rtlCol="0" anchor="ctr"/>
            <a:lstStyle/>
            <a:p>
              <a:pPr marL="0" indent="0" algn="ctr">
                <a:buNone/>
              </a:pPr>
              <a:r>
                <a:rPr lang="en-US" sz="800" i="1">
                  <a:solidFill>
                    <a:srgbClr val="6B7563"/>
                  </a:solidFill>
                  <a:latin typeface="Calibri" pitchFamily="34" charset="0"/>
                  <a:ea typeface="Calibri" pitchFamily="34" charset="-122"/>
                  <a:cs typeface="Calibri" pitchFamily="34" charset="-120"/>
                </a:rPr>
                <a:t>Sin historial</a:t>
              </a:r>
              <a:endParaRPr lang="en-US" sz="800"/>
            </a:p>
          </p:txBody>
        </p:sp>
        <p:sp>
          <p:nvSpPr>
            <p:cNvPr id="1256" name="Text 78">
              <a:extLst>
                <a:ext uri="{FF2B5EF4-FFF2-40B4-BE49-F238E27FC236}">
                  <a16:creationId xmlns:a16="http://schemas.microsoft.com/office/drawing/2014/main" id="{05DE3E83-CD83-9222-82F3-CB137C77D22F}"/>
                </a:ext>
              </a:extLst>
            </p:cNvPr>
            <p:cNvSpPr txBox="1"/>
            <p:nvPr/>
          </p:nvSpPr>
          <p:spPr>
            <a:xfrm>
              <a:off x="320040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0E5D52"/>
                  </a:solidFill>
                  <a:latin typeface="Calibri" pitchFamily="34" charset="0"/>
                  <a:ea typeface="Calibri" pitchFamily="34" charset="-122"/>
                  <a:cs typeface="Calibri" pitchFamily="34" charset="-120"/>
                </a:rPr>
                <a:t>SIN HISTORIAL SF</a:t>
              </a:r>
              <a:endParaRPr lang="en-US" sz="850"/>
            </a:p>
          </p:txBody>
        </p:sp>
        <p:sp>
          <p:nvSpPr>
            <p:cNvPr id="1257" name="Text 79">
              <a:extLst>
                <a:ext uri="{FF2B5EF4-FFF2-40B4-BE49-F238E27FC236}">
                  <a16:creationId xmlns:a16="http://schemas.microsoft.com/office/drawing/2014/main" id="{4EE0826D-DDEB-5BB4-D683-DC4D83653BFB}"/>
                </a:ext>
              </a:extLst>
            </p:cNvPr>
            <p:cNvSpPr txBox="1"/>
            <p:nvPr/>
          </p:nvSpPr>
          <p:spPr>
            <a:xfrm>
              <a:off x="494690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258" name="Text 80">
              <a:extLst>
                <a:ext uri="{FF2B5EF4-FFF2-40B4-BE49-F238E27FC236}">
                  <a16:creationId xmlns:a16="http://schemas.microsoft.com/office/drawing/2014/main" id="{1C775C81-2F7F-2E80-4ED1-28DF2AD1D372}"/>
                </a:ext>
              </a:extLst>
            </p:cNvPr>
            <p:cNvSpPr txBox="1"/>
            <p:nvPr/>
          </p:nvSpPr>
          <p:spPr>
            <a:xfrm>
              <a:off x="494690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sp>
          <p:nvSpPr>
            <p:cNvPr id="1259" name="Shape 81">
              <a:extLst>
                <a:ext uri="{FF2B5EF4-FFF2-40B4-BE49-F238E27FC236}">
                  <a16:creationId xmlns:a16="http://schemas.microsoft.com/office/drawing/2014/main" id="{A748D426-6D78-DB7A-7AE6-A884AF0A283C}"/>
                </a:ext>
              </a:extLst>
            </p:cNvPr>
            <p:cNvSpPr/>
            <p:nvPr/>
          </p:nvSpPr>
          <p:spPr>
            <a:xfrm>
              <a:off x="5788152" y="3355848"/>
              <a:ext cx="658368" cy="658368"/>
            </a:xfrm>
            <a:prstGeom prst="arc">
              <a:avLst>
                <a:gd name="adj1" fmla="val 10800000"/>
                <a:gd name="adj2" fmla="val 21600000"/>
              </a:avLst>
            </a:prstGeom>
            <a:ln w="63500">
              <a:solidFill>
                <a:srgbClr val="DDE1D9"/>
              </a:solidFill>
              <a:prstDash val="solid"/>
            </a:ln>
          </p:spPr>
          <p:txBody>
            <a:bodyPr/>
            <a:lstStyle/>
            <a:p>
              <a:endParaRPr/>
            </a:p>
          </p:txBody>
        </p:sp>
        <p:sp>
          <p:nvSpPr>
            <p:cNvPr id="1260" name="Text 82">
              <a:extLst>
                <a:ext uri="{FF2B5EF4-FFF2-40B4-BE49-F238E27FC236}">
                  <a16:creationId xmlns:a16="http://schemas.microsoft.com/office/drawing/2014/main" id="{2E9CED64-FD56-94A1-B960-8E78EE7E9B67}"/>
                </a:ext>
              </a:extLst>
            </p:cNvPr>
            <p:cNvSpPr txBox="1"/>
            <p:nvPr/>
          </p:nvSpPr>
          <p:spPr>
            <a:xfrm>
              <a:off x="5696712" y="3694176"/>
              <a:ext cx="841248" cy="201168"/>
            </a:xfrm>
            <a:prstGeom prst="rect">
              <a:avLst/>
            </a:prstGeom>
            <a:noFill/>
            <a:ln/>
          </p:spPr>
          <p:txBody>
            <a:bodyPr wrap="square" lIns="0" tIns="0" rIns="0" bIns="0" rtlCol="0" anchor="ctr"/>
            <a:lstStyle/>
            <a:p>
              <a:pPr marL="0" indent="0" algn="ctr">
                <a:buNone/>
              </a:pPr>
              <a:r>
                <a:rPr lang="en-US" sz="800" i="1">
                  <a:solidFill>
                    <a:srgbClr val="6B7563"/>
                  </a:solidFill>
                  <a:latin typeface="Calibri" pitchFamily="34" charset="0"/>
                  <a:ea typeface="Calibri" pitchFamily="34" charset="-122"/>
                  <a:cs typeface="Calibri" pitchFamily="34" charset="-120"/>
                </a:rPr>
                <a:t>Sin historial</a:t>
              </a:r>
              <a:endParaRPr lang="en-US" sz="800"/>
            </a:p>
          </p:txBody>
        </p:sp>
        <p:sp>
          <p:nvSpPr>
            <p:cNvPr id="1261" name="Text 83">
              <a:extLst>
                <a:ext uri="{FF2B5EF4-FFF2-40B4-BE49-F238E27FC236}">
                  <a16:creationId xmlns:a16="http://schemas.microsoft.com/office/drawing/2014/main" id="{6BD414AF-23BF-E16D-C371-D2846DC1BD12}"/>
                </a:ext>
              </a:extLst>
            </p:cNvPr>
            <p:cNvSpPr txBox="1"/>
            <p:nvPr/>
          </p:nvSpPr>
          <p:spPr>
            <a:xfrm>
              <a:off x="658368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D9861F"/>
                  </a:solidFill>
                  <a:latin typeface="Calibri" pitchFamily="34" charset="0"/>
                  <a:ea typeface="Calibri" pitchFamily="34" charset="-122"/>
                  <a:cs typeface="Calibri" pitchFamily="34" charset="-120"/>
                </a:rPr>
                <a:t>SIN HISTORIAL SF</a:t>
              </a:r>
              <a:endParaRPr lang="en-US" sz="850"/>
            </a:p>
          </p:txBody>
        </p:sp>
        <p:sp>
          <p:nvSpPr>
            <p:cNvPr id="1262" name="Text 84">
              <a:extLst>
                <a:ext uri="{FF2B5EF4-FFF2-40B4-BE49-F238E27FC236}">
                  <a16:creationId xmlns:a16="http://schemas.microsoft.com/office/drawing/2014/main" id="{005FCF8A-3256-28DA-EE0E-0B6590BAFACF}"/>
                </a:ext>
              </a:extLst>
            </p:cNvPr>
            <p:cNvSpPr txBox="1"/>
            <p:nvPr/>
          </p:nvSpPr>
          <p:spPr>
            <a:xfrm>
              <a:off x="8330184" y="341985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SOW deuda</a:t>
              </a:r>
              <a:endParaRPr lang="en-US" sz="750"/>
            </a:p>
          </p:txBody>
        </p:sp>
        <p:sp>
          <p:nvSpPr>
            <p:cNvPr id="1263" name="Text 85">
              <a:extLst>
                <a:ext uri="{FF2B5EF4-FFF2-40B4-BE49-F238E27FC236}">
                  <a16:creationId xmlns:a16="http://schemas.microsoft.com/office/drawing/2014/main" id="{9B7F6A23-90DB-1A34-18EE-2E5FD0CBD719}"/>
                </a:ext>
              </a:extLst>
            </p:cNvPr>
            <p:cNvSpPr txBox="1"/>
            <p:nvPr/>
          </p:nvSpPr>
          <p:spPr>
            <a:xfrm>
              <a:off x="8330184" y="3557016"/>
              <a:ext cx="777240"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(mediana)</a:t>
              </a:r>
              <a:endParaRPr lang="en-US" sz="750"/>
            </a:p>
          </p:txBody>
        </p:sp>
        <p:sp>
          <p:nvSpPr>
            <p:cNvPr id="1264" name="Shape 86">
              <a:extLst>
                <a:ext uri="{FF2B5EF4-FFF2-40B4-BE49-F238E27FC236}">
                  <a16:creationId xmlns:a16="http://schemas.microsoft.com/office/drawing/2014/main" id="{0254262C-9BB1-6A3C-0B2B-A356056D99AD}"/>
                </a:ext>
              </a:extLst>
            </p:cNvPr>
            <p:cNvSpPr/>
            <p:nvPr/>
          </p:nvSpPr>
          <p:spPr>
            <a:xfrm>
              <a:off x="9171432" y="3355848"/>
              <a:ext cx="658368" cy="658368"/>
            </a:xfrm>
            <a:prstGeom prst="arc">
              <a:avLst>
                <a:gd name="adj1" fmla="val 10800000"/>
                <a:gd name="adj2" fmla="val 21600000"/>
              </a:avLst>
            </a:prstGeom>
            <a:ln w="63500">
              <a:solidFill>
                <a:srgbClr val="DDE1D9"/>
              </a:solidFill>
              <a:prstDash val="solid"/>
            </a:ln>
          </p:spPr>
          <p:txBody>
            <a:bodyPr/>
            <a:lstStyle/>
            <a:p>
              <a:endParaRPr/>
            </a:p>
          </p:txBody>
        </p:sp>
        <p:sp>
          <p:nvSpPr>
            <p:cNvPr id="1265" name="Text 87">
              <a:extLst>
                <a:ext uri="{FF2B5EF4-FFF2-40B4-BE49-F238E27FC236}">
                  <a16:creationId xmlns:a16="http://schemas.microsoft.com/office/drawing/2014/main" id="{68958C9F-F0D2-7364-17A4-9136F3ABFF98}"/>
                </a:ext>
              </a:extLst>
            </p:cNvPr>
            <p:cNvSpPr txBox="1"/>
            <p:nvPr/>
          </p:nvSpPr>
          <p:spPr>
            <a:xfrm>
              <a:off x="9079992" y="3694176"/>
              <a:ext cx="841248" cy="201168"/>
            </a:xfrm>
            <a:prstGeom prst="rect">
              <a:avLst/>
            </a:prstGeom>
            <a:noFill/>
            <a:ln/>
          </p:spPr>
          <p:txBody>
            <a:bodyPr wrap="square" lIns="0" tIns="0" rIns="0" bIns="0" rtlCol="0" anchor="ctr"/>
            <a:lstStyle/>
            <a:p>
              <a:pPr marL="0" indent="0" algn="ctr">
                <a:buNone/>
              </a:pPr>
              <a:r>
                <a:rPr lang="en-US" sz="800" i="1">
                  <a:solidFill>
                    <a:srgbClr val="6B7563"/>
                  </a:solidFill>
                  <a:latin typeface="Calibri" pitchFamily="34" charset="0"/>
                  <a:ea typeface="Calibri" pitchFamily="34" charset="-122"/>
                  <a:cs typeface="Calibri" pitchFamily="34" charset="-120"/>
                </a:rPr>
                <a:t>Sin historial</a:t>
              </a:r>
              <a:endParaRPr lang="en-US" sz="800"/>
            </a:p>
          </p:txBody>
        </p:sp>
        <p:sp>
          <p:nvSpPr>
            <p:cNvPr id="1266" name="Text 88">
              <a:extLst>
                <a:ext uri="{FF2B5EF4-FFF2-40B4-BE49-F238E27FC236}">
                  <a16:creationId xmlns:a16="http://schemas.microsoft.com/office/drawing/2014/main" id="{85F2D6E0-B95E-5416-3EEE-F7EB5E0F142C}"/>
                </a:ext>
              </a:extLst>
            </p:cNvPr>
            <p:cNvSpPr txBox="1"/>
            <p:nvPr/>
          </p:nvSpPr>
          <p:spPr>
            <a:xfrm>
              <a:off x="9966960" y="3529584"/>
              <a:ext cx="1536192" cy="329184"/>
            </a:xfrm>
            <a:prstGeom prst="rect">
              <a:avLst/>
            </a:prstGeom>
            <a:noFill/>
            <a:ln/>
          </p:spPr>
          <p:txBody>
            <a:bodyPr wrap="square" lIns="0" tIns="0" rIns="0" bIns="0" rtlCol="0" anchor="ctr"/>
            <a:lstStyle/>
            <a:p>
              <a:pPr marL="0" indent="0">
                <a:lnSpc>
                  <a:spcPts val="1000"/>
                </a:lnSpc>
                <a:buNone/>
              </a:pPr>
              <a:r>
                <a:rPr lang="en-US" sz="850" b="1">
                  <a:solidFill>
                    <a:srgbClr val="3E4C59"/>
                  </a:solidFill>
                  <a:latin typeface="Calibri" pitchFamily="34" charset="0"/>
                  <a:ea typeface="Calibri" pitchFamily="34" charset="-122"/>
                  <a:cs typeface="Calibri" pitchFamily="34" charset="-120"/>
                </a:rPr>
                <a:t>SIN HISTORIAL SF</a:t>
              </a:r>
              <a:endParaRPr lang="en-US" sz="850"/>
            </a:p>
          </p:txBody>
        </p:sp>
        <p:sp>
          <p:nvSpPr>
            <p:cNvPr id="1267" name="Shape 89">
              <a:extLst>
                <a:ext uri="{FF2B5EF4-FFF2-40B4-BE49-F238E27FC236}">
                  <a16:creationId xmlns:a16="http://schemas.microsoft.com/office/drawing/2014/main" id="{AF2DB120-75D2-E84E-189C-AD851D245869}"/>
                </a:ext>
              </a:extLst>
            </p:cNvPr>
            <p:cNvSpPr/>
            <p:nvPr/>
          </p:nvSpPr>
          <p:spPr>
            <a:xfrm>
              <a:off x="320040" y="4110228"/>
              <a:ext cx="11219688" cy="621792"/>
            </a:xfrm>
            <a:prstGeom prst="roundRect">
              <a:avLst>
                <a:gd name="adj" fmla="val 8824"/>
              </a:avLst>
            </a:prstGeom>
            <a:solidFill>
              <a:srgbClr val="FFFFFF"/>
            </a:solidFill>
            <a:ln w="12700">
              <a:solidFill>
                <a:srgbClr val="E4E7E1"/>
              </a:solidFill>
              <a:prstDash val="solid"/>
            </a:ln>
          </p:spPr>
          <p:txBody>
            <a:bodyPr/>
            <a:lstStyle/>
            <a:p>
              <a:endParaRPr lang="es-PE"/>
            </a:p>
          </p:txBody>
        </p:sp>
        <p:sp>
          <p:nvSpPr>
            <p:cNvPr id="1268" name="Shape 90">
              <a:extLst>
                <a:ext uri="{FF2B5EF4-FFF2-40B4-BE49-F238E27FC236}">
                  <a16:creationId xmlns:a16="http://schemas.microsoft.com/office/drawing/2014/main" id="{07A1A837-9D9E-408A-7750-26357E122516}"/>
                </a:ext>
              </a:extLst>
            </p:cNvPr>
            <p:cNvSpPr/>
            <p:nvPr/>
          </p:nvSpPr>
          <p:spPr>
            <a:xfrm>
              <a:off x="374904" y="4274820"/>
              <a:ext cx="292608" cy="292608"/>
            </a:xfrm>
            <a:prstGeom prst="ellipse">
              <a:avLst/>
            </a:prstGeom>
            <a:solidFill>
              <a:srgbClr val="3E4C59"/>
            </a:solidFill>
            <a:ln/>
          </p:spPr>
          <p:txBody>
            <a:bodyPr/>
            <a:lstStyle/>
            <a:p>
              <a:endParaRPr lang="es-PE"/>
            </a:p>
          </p:txBody>
        </p:sp>
        <p:pic>
          <p:nvPicPr>
            <p:cNvPr id="1269" name="Image 10" descr="/home/claude/voi_deck/icons/users.png">
              <a:extLst>
                <a:ext uri="{FF2B5EF4-FFF2-40B4-BE49-F238E27FC236}">
                  <a16:creationId xmlns:a16="http://schemas.microsoft.com/office/drawing/2014/main" id="{8E7BE5E3-EAF7-82BC-9799-6E7131F8B68C}"/>
                </a:ext>
              </a:extLst>
            </p:cNvPr>
            <p:cNvPicPr>
              <a:picLocks noChangeAspect="1"/>
            </p:cNvPicPr>
            <p:nvPr/>
          </p:nvPicPr>
          <p:blipFill>
            <a:blip r:embed="rId14"/>
            <a:stretch>
              <a:fillRect/>
            </a:stretch>
          </p:blipFill>
          <p:spPr>
            <a:xfrm>
              <a:off x="448056" y="4347972"/>
              <a:ext cx="146304" cy="146304"/>
            </a:xfrm>
            <a:prstGeom prst="rect">
              <a:avLst/>
            </a:prstGeom>
          </p:spPr>
        </p:pic>
        <p:sp>
          <p:nvSpPr>
            <p:cNvPr id="1270" name="Text 91">
              <a:extLst>
                <a:ext uri="{FF2B5EF4-FFF2-40B4-BE49-F238E27FC236}">
                  <a16:creationId xmlns:a16="http://schemas.microsoft.com/office/drawing/2014/main" id="{321A2988-5BC3-DC6D-15D6-06DAC914AB74}"/>
                </a:ext>
              </a:extLst>
            </p:cNvPr>
            <p:cNvSpPr txBox="1"/>
            <p:nvPr/>
          </p:nvSpPr>
          <p:spPr>
            <a:xfrm>
              <a:off x="704088" y="4110228"/>
              <a:ext cx="676656" cy="621792"/>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RETENCIÓN Y RELACIÓN</a:t>
              </a:r>
              <a:endParaRPr lang="en-US" sz="750"/>
            </a:p>
          </p:txBody>
        </p:sp>
        <p:sp>
          <p:nvSpPr>
            <p:cNvPr id="1271" name="Text 92">
              <a:extLst>
                <a:ext uri="{FF2B5EF4-FFF2-40B4-BE49-F238E27FC236}">
                  <a16:creationId xmlns:a16="http://schemas.microsoft.com/office/drawing/2014/main" id="{882C9F40-04DD-FD89-D539-0589B2DA70F8}"/>
                </a:ext>
              </a:extLst>
            </p:cNvPr>
            <p:cNvSpPr txBox="1"/>
            <p:nvPr/>
          </p:nvSpPr>
          <p:spPr>
            <a:xfrm>
              <a:off x="156362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1272" name="Text 93">
              <a:extLst>
                <a:ext uri="{FF2B5EF4-FFF2-40B4-BE49-F238E27FC236}">
                  <a16:creationId xmlns:a16="http://schemas.microsoft.com/office/drawing/2014/main" id="{1D904965-64BE-83A7-0EDF-63432C202FA9}"/>
                </a:ext>
              </a:extLst>
            </p:cNvPr>
            <p:cNvSpPr txBox="1"/>
            <p:nvPr/>
          </p:nvSpPr>
          <p:spPr>
            <a:xfrm>
              <a:off x="156362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0.0%</a:t>
              </a:r>
              <a:endParaRPr lang="en-US" sz="1200"/>
            </a:p>
          </p:txBody>
        </p:sp>
        <p:pic>
          <p:nvPicPr>
            <p:cNvPr id="1273" name="Image 11" descr="/home/claude/voi_deck/icons/person_gray.png">
              <a:extLst>
                <a:ext uri="{FF2B5EF4-FFF2-40B4-BE49-F238E27FC236}">
                  <a16:creationId xmlns:a16="http://schemas.microsoft.com/office/drawing/2014/main" id="{6EECE11A-31FD-1173-64CA-DADEC4B69110}"/>
                </a:ext>
              </a:extLst>
            </p:cNvPr>
            <p:cNvPicPr>
              <a:picLocks noChangeAspect="1"/>
            </p:cNvPicPr>
            <p:nvPr/>
          </p:nvPicPr>
          <p:blipFill>
            <a:blip r:embed="rId15"/>
            <a:stretch>
              <a:fillRect/>
            </a:stretch>
          </p:blipFill>
          <p:spPr>
            <a:xfrm>
              <a:off x="1563624" y="4530852"/>
              <a:ext cx="128016" cy="128016"/>
            </a:xfrm>
            <a:prstGeom prst="rect">
              <a:avLst/>
            </a:prstGeom>
          </p:spPr>
        </p:pic>
        <p:pic>
          <p:nvPicPr>
            <p:cNvPr id="1274" name="Image 12" descr="/home/claude/voi_deck/icons/person_gray.png">
              <a:extLst>
                <a:ext uri="{FF2B5EF4-FFF2-40B4-BE49-F238E27FC236}">
                  <a16:creationId xmlns:a16="http://schemas.microsoft.com/office/drawing/2014/main" id="{6D9CCB94-012C-B125-8F84-75493A1C4185}"/>
                </a:ext>
              </a:extLst>
            </p:cNvPr>
            <p:cNvPicPr>
              <a:picLocks noChangeAspect="1"/>
            </p:cNvPicPr>
            <p:nvPr/>
          </p:nvPicPr>
          <p:blipFill>
            <a:blip r:embed="rId15"/>
            <a:stretch>
              <a:fillRect/>
            </a:stretch>
          </p:blipFill>
          <p:spPr>
            <a:xfrm>
              <a:off x="1705356" y="4530852"/>
              <a:ext cx="128016" cy="128016"/>
            </a:xfrm>
            <a:prstGeom prst="rect">
              <a:avLst/>
            </a:prstGeom>
          </p:spPr>
        </p:pic>
        <p:pic>
          <p:nvPicPr>
            <p:cNvPr id="1275" name="Image 13" descr="/home/claude/voi_deck/icons/person_gray.png">
              <a:extLst>
                <a:ext uri="{FF2B5EF4-FFF2-40B4-BE49-F238E27FC236}">
                  <a16:creationId xmlns:a16="http://schemas.microsoft.com/office/drawing/2014/main" id="{53B66DC0-A63D-2FCB-98BF-D18B8097F433}"/>
                </a:ext>
              </a:extLst>
            </p:cNvPr>
            <p:cNvPicPr>
              <a:picLocks noChangeAspect="1"/>
            </p:cNvPicPr>
            <p:nvPr/>
          </p:nvPicPr>
          <p:blipFill>
            <a:blip r:embed="rId15"/>
            <a:stretch>
              <a:fillRect/>
            </a:stretch>
          </p:blipFill>
          <p:spPr>
            <a:xfrm>
              <a:off x="1847088" y="4530852"/>
              <a:ext cx="128016" cy="128016"/>
            </a:xfrm>
            <a:prstGeom prst="rect">
              <a:avLst/>
            </a:prstGeom>
          </p:spPr>
        </p:pic>
        <p:pic>
          <p:nvPicPr>
            <p:cNvPr id="1276" name="Image 14" descr="/home/claude/voi_deck/icons/person_gray.png">
              <a:extLst>
                <a:ext uri="{FF2B5EF4-FFF2-40B4-BE49-F238E27FC236}">
                  <a16:creationId xmlns:a16="http://schemas.microsoft.com/office/drawing/2014/main" id="{335B793F-9D9E-7E42-929D-F04AC1B49384}"/>
                </a:ext>
              </a:extLst>
            </p:cNvPr>
            <p:cNvPicPr>
              <a:picLocks noChangeAspect="1"/>
            </p:cNvPicPr>
            <p:nvPr/>
          </p:nvPicPr>
          <p:blipFill>
            <a:blip r:embed="rId15"/>
            <a:stretch>
              <a:fillRect/>
            </a:stretch>
          </p:blipFill>
          <p:spPr>
            <a:xfrm>
              <a:off x="1988820" y="4530852"/>
              <a:ext cx="128016" cy="128016"/>
            </a:xfrm>
            <a:prstGeom prst="rect">
              <a:avLst/>
            </a:prstGeom>
          </p:spPr>
        </p:pic>
        <p:pic>
          <p:nvPicPr>
            <p:cNvPr id="1277" name="Image 15" descr="/home/claude/voi_deck/icons/person_gray.png">
              <a:extLst>
                <a:ext uri="{FF2B5EF4-FFF2-40B4-BE49-F238E27FC236}">
                  <a16:creationId xmlns:a16="http://schemas.microsoft.com/office/drawing/2014/main" id="{5918C454-58D5-63DD-7015-77DE77EB25E9}"/>
                </a:ext>
              </a:extLst>
            </p:cNvPr>
            <p:cNvPicPr>
              <a:picLocks noChangeAspect="1"/>
            </p:cNvPicPr>
            <p:nvPr/>
          </p:nvPicPr>
          <p:blipFill>
            <a:blip r:embed="rId15"/>
            <a:stretch>
              <a:fillRect/>
            </a:stretch>
          </p:blipFill>
          <p:spPr>
            <a:xfrm>
              <a:off x="2130552" y="4530852"/>
              <a:ext cx="128016" cy="128016"/>
            </a:xfrm>
            <a:prstGeom prst="rect">
              <a:avLst/>
            </a:prstGeom>
          </p:spPr>
        </p:pic>
        <p:pic>
          <p:nvPicPr>
            <p:cNvPr id="1278" name="Image 16" descr="/home/claude/voi_deck/icons/person_gray.png">
              <a:extLst>
                <a:ext uri="{FF2B5EF4-FFF2-40B4-BE49-F238E27FC236}">
                  <a16:creationId xmlns:a16="http://schemas.microsoft.com/office/drawing/2014/main" id="{93E2E846-9EE4-9BFA-1E72-C97A8BABF88A}"/>
                </a:ext>
              </a:extLst>
            </p:cNvPr>
            <p:cNvPicPr>
              <a:picLocks noChangeAspect="1"/>
            </p:cNvPicPr>
            <p:nvPr/>
          </p:nvPicPr>
          <p:blipFill>
            <a:blip r:embed="rId15"/>
            <a:stretch>
              <a:fillRect/>
            </a:stretch>
          </p:blipFill>
          <p:spPr>
            <a:xfrm>
              <a:off x="2272284" y="4530852"/>
              <a:ext cx="128016" cy="128016"/>
            </a:xfrm>
            <a:prstGeom prst="rect">
              <a:avLst/>
            </a:prstGeom>
          </p:spPr>
        </p:pic>
        <p:sp>
          <p:nvSpPr>
            <p:cNvPr id="1279" name="Text 94">
              <a:extLst>
                <a:ext uri="{FF2B5EF4-FFF2-40B4-BE49-F238E27FC236}">
                  <a16:creationId xmlns:a16="http://schemas.microsoft.com/office/drawing/2014/main" id="{F898D199-C5F2-600E-07C2-2F7AB49F9F96}"/>
                </a:ext>
              </a:extLst>
            </p:cNvPr>
            <p:cNvSpPr txBox="1"/>
            <p:nvPr/>
          </p:nvSpPr>
          <p:spPr>
            <a:xfrm>
              <a:off x="319582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280" name="Text 95">
              <a:extLst>
                <a:ext uri="{FF2B5EF4-FFF2-40B4-BE49-F238E27FC236}">
                  <a16:creationId xmlns:a16="http://schemas.microsoft.com/office/drawing/2014/main" id="{FEB7FAC1-06FF-406B-85CF-344F8C31403A}"/>
                </a:ext>
              </a:extLst>
            </p:cNvPr>
            <p:cNvSpPr txBox="1"/>
            <p:nvPr/>
          </p:nvSpPr>
          <p:spPr>
            <a:xfrm>
              <a:off x="319582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55.8%</a:t>
              </a:r>
              <a:endParaRPr lang="en-US" sz="1200"/>
            </a:p>
          </p:txBody>
        </p:sp>
        <p:graphicFrame>
          <p:nvGraphicFramePr>
            <p:cNvPr id="1281" name="Chart 0">
              <a:extLst>
                <a:ext uri="{FF2B5EF4-FFF2-40B4-BE49-F238E27FC236}">
                  <a16:creationId xmlns:a16="http://schemas.microsoft.com/office/drawing/2014/main" id="{D079AE05-C476-BFEE-A813-2E46F7601F0C}"/>
                </a:ext>
              </a:extLst>
            </p:cNvPr>
            <p:cNvGraphicFramePr/>
            <p:nvPr>
              <p:extLst>
                <p:ext uri="{D42A27DB-BD31-4B8C-83A1-F6EECF244321}">
                  <p14:modId xmlns:p14="http://schemas.microsoft.com/office/powerpoint/2010/main" val="1915885603"/>
                </p:ext>
              </p:extLst>
            </p:nvPr>
          </p:nvGraphicFramePr>
          <p:xfrm>
            <a:off x="4279392" y="4274820"/>
            <a:ext cx="420624" cy="420624"/>
          </p:xfrm>
          <a:graphic>
            <a:graphicData uri="http://schemas.openxmlformats.org/drawingml/2006/chart">
              <c:chart xmlns:c="http://schemas.openxmlformats.org/drawingml/2006/chart" xmlns:r="http://schemas.openxmlformats.org/officeDocument/2006/relationships" r:id="rId16"/>
            </a:graphicData>
          </a:graphic>
        </p:graphicFrame>
        <p:sp>
          <p:nvSpPr>
            <p:cNvPr id="1282" name="Text 96">
              <a:extLst>
                <a:ext uri="{FF2B5EF4-FFF2-40B4-BE49-F238E27FC236}">
                  <a16:creationId xmlns:a16="http://schemas.microsoft.com/office/drawing/2014/main" id="{D0F72740-72EA-FB03-243D-5BB933076204}"/>
                </a:ext>
              </a:extLst>
            </p:cNvPr>
            <p:cNvSpPr txBox="1"/>
            <p:nvPr/>
          </p:nvSpPr>
          <p:spPr>
            <a:xfrm>
              <a:off x="494690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1283" name="Text 97">
              <a:extLst>
                <a:ext uri="{FF2B5EF4-FFF2-40B4-BE49-F238E27FC236}">
                  <a16:creationId xmlns:a16="http://schemas.microsoft.com/office/drawing/2014/main" id="{D7C75ABE-4B17-BAE9-7B9D-52B91F7DF299}"/>
                </a:ext>
              </a:extLst>
            </p:cNvPr>
            <p:cNvSpPr txBox="1"/>
            <p:nvPr/>
          </p:nvSpPr>
          <p:spPr>
            <a:xfrm>
              <a:off x="494690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0.0%</a:t>
              </a:r>
              <a:endParaRPr lang="en-US" sz="1200"/>
            </a:p>
          </p:txBody>
        </p:sp>
        <p:pic>
          <p:nvPicPr>
            <p:cNvPr id="1284" name="Image 17" descr="/home/claude/voi_deck/icons/person_gray.png">
              <a:extLst>
                <a:ext uri="{FF2B5EF4-FFF2-40B4-BE49-F238E27FC236}">
                  <a16:creationId xmlns:a16="http://schemas.microsoft.com/office/drawing/2014/main" id="{6D8A3BAB-3CAE-476C-A31E-29BB3B0B71C4}"/>
                </a:ext>
              </a:extLst>
            </p:cNvPr>
            <p:cNvPicPr>
              <a:picLocks noChangeAspect="1"/>
            </p:cNvPicPr>
            <p:nvPr/>
          </p:nvPicPr>
          <p:blipFill>
            <a:blip r:embed="rId15"/>
            <a:stretch>
              <a:fillRect/>
            </a:stretch>
          </p:blipFill>
          <p:spPr>
            <a:xfrm>
              <a:off x="4946904" y="4530852"/>
              <a:ext cx="128016" cy="128016"/>
            </a:xfrm>
            <a:prstGeom prst="rect">
              <a:avLst/>
            </a:prstGeom>
          </p:spPr>
        </p:pic>
        <p:pic>
          <p:nvPicPr>
            <p:cNvPr id="1285" name="Image 18" descr="/home/claude/voi_deck/icons/person_gray.png">
              <a:extLst>
                <a:ext uri="{FF2B5EF4-FFF2-40B4-BE49-F238E27FC236}">
                  <a16:creationId xmlns:a16="http://schemas.microsoft.com/office/drawing/2014/main" id="{B587805E-35EC-41FE-F917-CD6249682183}"/>
                </a:ext>
              </a:extLst>
            </p:cNvPr>
            <p:cNvPicPr>
              <a:picLocks noChangeAspect="1"/>
            </p:cNvPicPr>
            <p:nvPr/>
          </p:nvPicPr>
          <p:blipFill>
            <a:blip r:embed="rId15"/>
            <a:stretch>
              <a:fillRect/>
            </a:stretch>
          </p:blipFill>
          <p:spPr>
            <a:xfrm>
              <a:off x="5088636" y="4530852"/>
              <a:ext cx="128016" cy="128016"/>
            </a:xfrm>
            <a:prstGeom prst="rect">
              <a:avLst/>
            </a:prstGeom>
          </p:spPr>
        </p:pic>
        <p:pic>
          <p:nvPicPr>
            <p:cNvPr id="1286" name="Image 19" descr="/home/claude/voi_deck/icons/person_gray.png">
              <a:extLst>
                <a:ext uri="{FF2B5EF4-FFF2-40B4-BE49-F238E27FC236}">
                  <a16:creationId xmlns:a16="http://schemas.microsoft.com/office/drawing/2014/main" id="{B46B99FF-7CD9-F4CC-19ED-0002028E1FA3}"/>
                </a:ext>
              </a:extLst>
            </p:cNvPr>
            <p:cNvPicPr>
              <a:picLocks noChangeAspect="1"/>
            </p:cNvPicPr>
            <p:nvPr/>
          </p:nvPicPr>
          <p:blipFill>
            <a:blip r:embed="rId15"/>
            <a:stretch>
              <a:fillRect/>
            </a:stretch>
          </p:blipFill>
          <p:spPr>
            <a:xfrm>
              <a:off x="5230368" y="4530852"/>
              <a:ext cx="128016" cy="128016"/>
            </a:xfrm>
            <a:prstGeom prst="rect">
              <a:avLst/>
            </a:prstGeom>
          </p:spPr>
        </p:pic>
        <p:pic>
          <p:nvPicPr>
            <p:cNvPr id="1287" name="Image 20" descr="/home/claude/voi_deck/icons/person_gray.png">
              <a:extLst>
                <a:ext uri="{FF2B5EF4-FFF2-40B4-BE49-F238E27FC236}">
                  <a16:creationId xmlns:a16="http://schemas.microsoft.com/office/drawing/2014/main" id="{3DD9766F-3B57-2427-E1EB-A6B3072E4A67}"/>
                </a:ext>
              </a:extLst>
            </p:cNvPr>
            <p:cNvPicPr>
              <a:picLocks noChangeAspect="1"/>
            </p:cNvPicPr>
            <p:nvPr/>
          </p:nvPicPr>
          <p:blipFill>
            <a:blip r:embed="rId15"/>
            <a:stretch>
              <a:fillRect/>
            </a:stretch>
          </p:blipFill>
          <p:spPr>
            <a:xfrm>
              <a:off x="5372100" y="4530852"/>
              <a:ext cx="128016" cy="128016"/>
            </a:xfrm>
            <a:prstGeom prst="rect">
              <a:avLst/>
            </a:prstGeom>
          </p:spPr>
        </p:pic>
        <p:pic>
          <p:nvPicPr>
            <p:cNvPr id="1288" name="Image 21" descr="/home/claude/voi_deck/icons/person_gray.png">
              <a:extLst>
                <a:ext uri="{FF2B5EF4-FFF2-40B4-BE49-F238E27FC236}">
                  <a16:creationId xmlns:a16="http://schemas.microsoft.com/office/drawing/2014/main" id="{95F2EF6C-94CB-9B7C-CEE9-476A01A2FF5F}"/>
                </a:ext>
              </a:extLst>
            </p:cNvPr>
            <p:cNvPicPr>
              <a:picLocks noChangeAspect="1"/>
            </p:cNvPicPr>
            <p:nvPr/>
          </p:nvPicPr>
          <p:blipFill>
            <a:blip r:embed="rId15"/>
            <a:stretch>
              <a:fillRect/>
            </a:stretch>
          </p:blipFill>
          <p:spPr>
            <a:xfrm>
              <a:off x="5513832" y="4530852"/>
              <a:ext cx="128016" cy="128016"/>
            </a:xfrm>
            <a:prstGeom prst="rect">
              <a:avLst/>
            </a:prstGeom>
          </p:spPr>
        </p:pic>
        <p:pic>
          <p:nvPicPr>
            <p:cNvPr id="1289" name="Image 22" descr="/home/claude/voi_deck/icons/person_gray.png">
              <a:extLst>
                <a:ext uri="{FF2B5EF4-FFF2-40B4-BE49-F238E27FC236}">
                  <a16:creationId xmlns:a16="http://schemas.microsoft.com/office/drawing/2014/main" id="{D18C4430-A903-5C45-831F-B79BEC368D5D}"/>
                </a:ext>
              </a:extLst>
            </p:cNvPr>
            <p:cNvPicPr>
              <a:picLocks noChangeAspect="1"/>
            </p:cNvPicPr>
            <p:nvPr/>
          </p:nvPicPr>
          <p:blipFill>
            <a:blip r:embed="rId15"/>
            <a:stretch>
              <a:fillRect/>
            </a:stretch>
          </p:blipFill>
          <p:spPr>
            <a:xfrm>
              <a:off x="5655564" y="4530852"/>
              <a:ext cx="128016" cy="128016"/>
            </a:xfrm>
            <a:prstGeom prst="rect">
              <a:avLst/>
            </a:prstGeom>
          </p:spPr>
        </p:pic>
        <p:sp>
          <p:nvSpPr>
            <p:cNvPr id="1290" name="Text 98">
              <a:extLst>
                <a:ext uri="{FF2B5EF4-FFF2-40B4-BE49-F238E27FC236}">
                  <a16:creationId xmlns:a16="http://schemas.microsoft.com/office/drawing/2014/main" id="{AE7E47EF-7298-8FF2-932A-152D1243041E}"/>
                </a:ext>
              </a:extLst>
            </p:cNvPr>
            <p:cNvSpPr txBox="1"/>
            <p:nvPr/>
          </p:nvSpPr>
          <p:spPr>
            <a:xfrm>
              <a:off x="657910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291" name="Text 99">
              <a:extLst>
                <a:ext uri="{FF2B5EF4-FFF2-40B4-BE49-F238E27FC236}">
                  <a16:creationId xmlns:a16="http://schemas.microsoft.com/office/drawing/2014/main" id="{BFE37AF4-3BC1-DFCE-9A44-EB1C607A5F91}"/>
                </a:ext>
              </a:extLst>
            </p:cNvPr>
            <p:cNvSpPr txBox="1"/>
            <p:nvPr/>
          </p:nvSpPr>
          <p:spPr>
            <a:xfrm>
              <a:off x="657910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42.5%</a:t>
              </a:r>
              <a:endParaRPr lang="en-US" sz="1200"/>
            </a:p>
          </p:txBody>
        </p:sp>
        <p:graphicFrame>
          <p:nvGraphicFramePr>
            <p:cNvPr id="1292" name="Chart 1">
              <a:extLst>
                <a:ext uri="{FF2B5EF4-FFF2-40B4-BE49-F238E27FC236}">
                  <a16:creationId xmlns:a16="http://schemas.microsoft.com/office/drawing/2014/main" id="{A8B55556-23C7-7174-904D-2D1EF11F8CB3}"/>
                </a:ext>
              </a:extLst>
            </p:cNvPr>
            <p:cNvGraphicFramePr/>
            <p:nvPr>
              <p:extLst>
                <p:ext uri="{D42A27DB-BD31-4B8C-83A1-F6EECF244321}">
                  <p14:modId xmlns:p14="http://schemas.microsoft.com/office/powerpoint/2010/main" val="278395067"/>
                </p:ext>
              </p:extLst>
            </p:nvPr>
          </p:nvGraphicFramePr>
          <p:xfrm>
            <a:off x="7662672" y="4274820"/>
            <a:ext cx="420624" cy="420624"/>
          </p:xfrm>
          <a:graphic>
            <a:graphicData uri="http://schemas.openxmlformats.org/drawingml/2006/chart">
              <c:chart xmlns:c="http://schemas.openxmlformats.org/drawingml/2006/chart" xmlns:r="http://schemas.openxmlformats.org/officeDocument/2006/relationships" r:id="rId17"/>
            </a:graphicData>
          </a:graphic>
        </p:graphicFrame>
        <p:sp>
          <p:nvSpPr>
            <p:cNvPr id="1293" name="Text 100">
              <a:extLst>
                <a:ext uri="{FF2B5EF4-FFF2-40B4-BE49-F238E27FC236}">
                  <a16:creationId xmlns:a16="http://schemas.microsoft.com/office/drawing/2014/main" id="{DFB5C0CA-2B57-4115-7DCF-2183BEC09522}"/>
                </a:ext>
              </a:extLst>
            </p:cNvPr>
            <p:cNvSpPr txBox="1"/>
            <p:nvPr/>
          </p:nvSpPr>
          <p:spPr>
            <a:xfrm>
              <a:off x="8330184" y="4183380"/>
              <a:ext cx="154076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Retanqueo</a:t>
              </a:r>
              <a:endParaRPr lang="en-US" sz="750"/>
            </a:p>
          </p:txBody>
        </p:sp>
        <p:sp>
          <p:nvSpPr>
            <p:cNvPr id="1294" name="Text 101">
              <a:extLst>
                <a:ext uri="{FF2B5EF4-FFF2-40B4-BE49-F238E27FC236}">
                  <a16:creationId xmlns:a16="http://schemas.microsoft.com/office/drawing/2014/main" id="{B98C5BB4-89DB-BC4F-A0C7-973FEC1FABE0}"/>
                </a:ext>
              </a:extLst>
            </p:cNvPr>
            <p:cNvSpPr txBox="1"/>
            <p:nvPr/>
          </p:nvSpPr>
          <p:spPr>
            <a:xfrm>
              <a:off x="8330184" y="4338828"/>
              <a:ext cx="154076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0.3%</a:t>
              </a:r>
              <a:endParaRPr lang="en-US" sz="1200"/>
            </a:p>
          </p:txBody>
        </p:sp>
        <p:pic>
          <p:nvPicPr>
            <p:cNvPr id="1295" name="Image 23" descr="/home/claude/voi_deck/icons/person_navy.png">
              <a:extLst>
                <a:ext uri="{FF2B5EF4-FFF2-40B4-BE49-F238E27FC236}">
                  <a16:creationId xmlns:a16="http://schemas.microsoft.com/office/drawing/2014/main" id="{621A81CB-45EC-AE89-C4F8-6DC35AA803E7}"/>
                </a:ext>
              </a:extLst>
            </p:cNvPr>
            <p:cNvPicPr>
              <a:picLocks noChangeAspect="1"/>
            </p:cNvPicPr>
            <p:nvPr/>
          </p:nvPicPr>
          <p:blipFill>
            <a:blip r:embed="rId18"/>
            <a:stretch>
              <a:fillRect/>
            </a:stretch>
          </p:blipFill>
          <p:spPr>
            <a:xfrm>
              <a:off x="8330184" y="4530852"/>
              <a:ext cx="128016" cy="128016"/>
            </a:xfrm>
            <a:prstGeom prst="rect">
              <a:avLst/>
            </a:prstGeom>
          </p:spPr>
        </p:pic>
        <p:pic>
          <p:nvPicPr>
            <p:cNvPr id="1296" name="Image 24" descr="/home/claude/voi_deck/icons/person_gray.png">
              <a:extLst>
                <a:ext uri="{FF2B5EF4-FFF2-40B4-BE49-F238E27FC236}">
                  <a16:creationId xmlns:a16="http://schemas.microsoft.com/office/drawing/2014/main" id="{185B75BB-AF19-C0F0-EEB7-413F75BFB028}"/>
                </a:ext>
              </a:extLst>
            </p:cNvPr>
            <p:cNvPicPr>
              <a:picLocks noChangeAspect="1"/>
            </p:cNvPicPr>
            <p:nvPr/>
          </p:nvPicPr>
          <p:blipFill>
            <a:blip r:embed="rId15"/>
            <a:stretch>
              <a:fillRect/>
            </a:stretch>
          </p:blipFill>
          <p:spPr>
            <a:xfrm>
              <a:off x="8471916" y="4530852"/>
              <a:ext cx="128016" cy="128016"/>
            </a:xfrm>
            <a:prstGeom prst="rect">
              <a:avLst/>
            </a:prstGeom>
          </p:spPr>
        </p:pic>
        <p:pic>
          <p:nvPicPr>
            <p:cNvPr id="1297" name="Image 25" descr="/home/claude/voi_deck/icons/person_gray.png">
              <a:extLst>
                <a:ext uri="{FF2B5EF4-FFF2-40B4-BE49-F238E27FC236}">
                  <a16:creationId xmlns:a16="http://schemas.microsoft.com/office/drawing/2014/main" id="{9F454C9A-E188-11AC-58B8-1412F27A2253}"/>
                </a:ext>
              </a:extLst>
            </p:cNvPr>
            <p:cNvPicPr>
              <a:picLocks noChangeAspect="1"/>
            </p:cNvPicPr>
            <p:nvPr/>
          </p:nvPicPr>
          <p:blipFill>
            <a:blip r:embed="rId15"/>
            <a:stretch>
              <a:fillRect/>
            </a:stretch>
          </p:blipFill>
          <p:spPr>
            <a:xfrm>
              <a:off x="8613648" y="4530852"/>
              <a:ext cx="128016" cy="128016"/>
            </a:xfrm>
            <a:prstGeom prst="rect">
              <a:avLst/>
            </a:prstGeom>
          </p:spPr>
        </p:pic>
        <p:pic>
          <p:nvPicPr>
            <p:cNvPr id="1298" name="Image 26" descr="/home/claude/voi_deck/icons/person_gray.png">
              <a:extLst>
                <a:ext uri="{FF2B5EF4-FFF2-40B4-BE49-F238E27FC236}">
                  <a16:creationId xmlns:a16="http://schemas.microsoft.com/office/drawing/2014/main" id="{3C9C17DE-54F6-81A0-2A42-2BEB06816C9D}"/>
                </a:ext>
              </a:extLst>
            </p:cNvPr>
            <p:cNvPicPr>
              <a:picLocks noChangeAspect="1"/>
            </p:cNvPicPr>
            <p:nvPr/>
          </p:nvPicPr>
          <p:blipFill>
            <a:blip r:embed="rId15"/>
            <a:stretch>
              <a:fillRect/>
            </a:stretch>
          </p:blipFill>
          <p:spPr>
            <a:xfrm>
              <a:off x="8755380" y="4530852"/>
              <a:ext cx="128016" cy="128016"/>
            </a:xfrm>
            <a:prstGeom prst="rect">
              <a:avLst/>
            </a:prstGeom>
          </p:spPr>
        </p:pic>
        <p:pic>
          <p:nvPicPr>
            <p:cNvPr id="1299" name="Image 27" descr="/home/claude/voi_deck/icons/person_gray.png">
              <a:extLst>
                <a:ext uri="{FF2B5EF4-FFF2-40B4-BE49-F238E27FC236}">
                  <a16:creationId xmlns:a16="http://schemas.microsoft.com/office/drawing/2014/main" id="{74E62F63-54CE-E17D-58BF-29E748B11BA8}"/>
                </a:ext>
              </a:extLst>
            </p:cNvPr>
            <p:cNvPicPr>
              <a:picLocks noChangeAspect="1"/>
            </p:cNvPicPr>
            <p:nvPr/>
          </p:nvPicPr>
          <p:blipFill>
            <a:blip r:embed="rId15"/>
            <a:stretch>
              <a:fillRect/>
            </a:stretch>
          </p:blipFill>
          <p:spPr>
            <a:xfrm>
              <a:off x="8897112" y="4530852"/>
              <a:ext cx="128016" cy="128016"/>
            </a:xfrm>
            <a:prstGeom prst="rect">
              <a:avLst/>
            </a:prstGeom>
          </p:spPr>
        </p:pic>
        <p:pic>
          <p:nvPicPr>
            <p:cNvPr id="1300" name="Image 28" descr="/home/claude/voi_deck/icons/person_gray.png">
              <a:extLst>
                <a:ext uri="{FF2B5EF4-FFF2-40B4-BE49-F238E27FC236}">
                  <a16:creationId xmlns:a16="http://schemas.microsoft.com/office/drawing/2014/main" id="{54483F07-52E5-056E-482E-BBEE4A638EE3}"/>
                </a:ext>
              </a:extLst>
            </p:cNvPr>
            <p:cNvPicPr>
              <a:picLocks noChangeAspect="1"/>
            </p:cNvPicPr>
            <p:nvPr/>
          </p:nvPicPr>
          <p:blipFill>
            <a:blip r:embed="rId15"/>
            <a:stretch>
              <a:fillRect/>
            </a:stretch>
          </p:blipFill>
          <p:spPr>
            <a:xfrm>
              <a:off x="9038844" y="4530852"/>
              <a:ext cx="128016" cy="128016"/>
            </a:xfrm>
            <a:prstGeom prst="rect">
              <a:avLst/>
            </a:prstGeom>
          </p:spPr>
        </p:pic>
        <p:sp>
          <p:nvSpPr>
            <p:cNvPr id="1301" name="Text 102">
              <a:extLst>
                <a:ext uri="{FF2B5EF4-FFF2-40B4-BE49-F238E27FC236}">
                  <a16:creationId xmlns:a16="http://schemas.microsoft.com/office/drawing/2014/main" id="{B96D3364-BADD-089B-E379-DEFCD2E25C79}"/>
                </a:ext>
              </a:extLst>
            </p:cNvPr>
            <p:cNvSpPr txBox="1"/>
            <p:nvPr/>
          </p:nvSpPr>
          <p:spPr>
            <a:xfrm>
              <a:off x="9962388" y="4183380"/>
              <a:ext cx="1037844" cy="146304"/>
            </a:xfrm>
            <a:prstGeom prst="rect">
              <a:avLst/>
            </a:prstGeom>
            <a:noFill/>
            <a:ln/>
          </p:spPr>
          <p:txBody>
            <a:bodyPr wrap="square" lIns="0" tIns="0" rIns="0" bIns="0" rtlCol="0" anchor="ctr"/>
            <a:lstStyle/>
            <a:p>
              <a:pPr marL="0" indent="0">
                <a:buNone/>
              </a:pPr>
              <a:r>
                <a:rPr lang="en-US" sz="750">
                  <a:solidFill>
                    <a:srgbClr val="6B7563"/>
                  </a:solidFill>
                  <a:latin typeface="Calibri" pitchFamily="34" charset="0"/>
                  <a:ea typeface="Calibri" pitchFamily="34" charset="-122"/>
                  <a:cs typeface="Calibri" pitchFamily="34" charset="-120"/>
                </a:rPr>
                <a:t>% Cliente Izipay</a:t>
              </a:r>
              <a:endParaRPr lang="en-US" sz="750"/>
            </a:p>
          </p:txBody>
        </p:sp>
        <p:sp>
          <p:nvSpPr>
            <p:cNvPr id="1302" name="Text 103">
              <a:extLst>
                <a:ext uri="{FF2B5EF4-FFF2-40B4-BE49-F238E27FC236}">
                  <a16:creationId xmlns:a16="http://schemas.microsoft.com/office/drawing/2014/main" id="{F20993BB-D652-13A8-9E2D-84BB9FC6405B}"/>
                </a:ext>
              </a:extLst>
            </p:cNvPr>
            <p:cNvSpPr txBox="1"/>
            <p:nvPr/>
          </p:nvSpPr>
          <p:spPr>
            <a:xfrm>
              <a:off x="9962388" y="4338828"/>
              <a:ext cx="1037844" cy="201168"/>
            </a:xfrm>
            <a:prstGeom prst="rect">
              <a:avLst/>
            </a:prstGeom>
            <a:noFill/>
            <a:ln/>
          </p:spPr>
          <p:txBody>
            <a:bodyPr wrap="square" lIns="0" tIns="0" rIns="0" bIns="0" rtlCol="0" anchor="ctr"/>
            <a:lstStyle/>
            <a:p>
              <a:pPr marL="0" indent="0">
                <a:buNone/>
              </a:pPr>
              <a:r>
                <a:rPr lang="en-US" sz="1200" b="1">
                  <a:solidFill>
                    <a:srgbClr val="1F2A24"/>
                  </a:solidFill>
                  <a:latin typeface="Calibri" pitchFamily="34" charset="0"/>
                  <a:ea typeface="Calibri" pitchFamily="34" charset="-122"/>
                  <a:cs typeface="Calibri" pitchFamily="34" charset="-120"/>
                </a:rPr>
                <a:t>34.4%</a:t>
              </a:r>
              <a:endParaRPr lang="en-US" sz="1200"/>
            </a:p>
          </p:txBody>
        </p:sp>
        <p:graphicFrame>
          <p:nvGraphicFramePr>
            <p:cNvPr id="1303" name="Chart 2">
              <a:extLst>
                <a:ext uri="{FF2B5EF4-FFF2-40B4-BE49-F238E27FC236}">
                  <a16:creationId xmlns:a16="http://schemas.microsoft.com/office/drawing/2014/main" id="{EF9E8A7B-67A9-7583-B0BC-BAEA31475FD7}"/>
                </a:ext>
              </a:extLst>
            </p:cNvPr>
            <p:cNvGraphicFramePr/>
            <p:nvPr>
              <p:extLst>
                <p:ext uri="{D42A27DB-BD31-4B8C-83A1-F6EECF244321}">
                  <p14:modId xmlns:p14="http://schemas.microsoft.com/office/powerpoint/2010/main" val="1391394140"/>
                </p:ext>
              </p:extLst>
            </p:nvPr>
          </p:nvGraphicFramePr>
          <p:xfrm>
            <a:off x="11045952" y="4274820"/>
            <a:ext cx="420624" cy="420624"/>
          </p:xfrm>
          <a:graphic>
            <a:graphicData uri="http://schemas.openxmlformats.org/drawingml/2006/chart">
              <c:chart xmlns:c="http://schemas.openxmlformats.org/drawingml/2006/chart" xmlns:r="http://schemas.openxmlformats.org/officeDocument/2006/relationships" r:id="rId19"/>
            </a:graphicData>
          </a:graphic>
        </p:graphicFrame>
        <p:sp>
          <p:nvSpPr>
            <p:cNvPr id="1304" name="Shape 104">
              <a:extLst>
                <a:ext uri="{FF2B5EF4-FFF2-40B4-BE49-F238E27FC236}">
                  <a16:creationId xmlns:a16="http://schemas.microsoft.com/office/drawing/2014/main" id="{B4673C68-D7CA-4B50-CCA8-9D104DC3D01D}"/>
                </a:ext>
              </a:extLst>
            </p:cNvPr>
            <p:cNvSpPr/>
            <p:nvPr/>
          </p:nvSpPr>
          <p:spPr>
            <a:xfrm>
              <a:off x="320040" y="4782312"/>
              <a:ext cx="11219688" cy="1828800"/>
            </a:xfrm>
            <a:prstGeom prst="roundRect">
              <a:avLst>
                <a:gd name="adj" fmla="val 3000"/>
              </a:avLst>
            </a:prstGeom>
            <a:solidFill>
              <a:srgbClr val="FFFFFF"/>
            </a:solidFill>
            <a:ln w="12700">
              <a:solidFill>
                <a:srgbClr val="E4E7E1"/>
              </a:solidFill>
              <a:prstDash val="solid"/>
            </a:ln>
          </p:spPr>
          <p:txBody>
            <a:bodyPr/>
            <a:lstStyle/>
            <a:p>
              <a:endParaRPr lang="es-PE"/>
            </a:p>
          </p:txBody>
        </p:sp>
        <p:sp>
          <p:nvSpPr>
            <p:cNvPr id="1305" name="Shape 105">
              <a:extLst>
                <a:ext uri="{FF2B5EF4-FFF2-40B4-BE49-F238E27FC236}">
                  <a16:creationId xmlns:a16="http://schemas.microsoft.com/office/drawing/2014/main" id="{CA5EAA10-2726-19DF-2EBF-72EA21B96EF9}"/>
                </a:ext>
              </a:extLst>
            </p:cNvPr>
            <p:cNvSpPr/>
            <p:nvPr/>
          </p:nvSpPr>
          <p:spPr>
            <a:xfrm>
              <a:off x="374904" y="5550408"/>
              <a:ext cx="292608" cy="292608"/>
            </a:xfrm>
            <a:prstGeom prst="ellipse">
              <a:avLst/>
            </a:prstGeom>
            <a:solidFill>
              <a:srgbClr val="3E4C59"/>
            </a:solidFill>
            <a:ln/>
          </p:spPr>
          <p:txBody>
            <a:bodyPr/>
            <a:lstStyle/>
            <a:p>
              <a:endParaRPr lang="es-PE"/>
            </a:p>
          </p:txBody>
        </p:sp>
        <p:pic>
          <p:nvPicPr>
            <p:cNvPr id="1306" name="Image 29" descr="/home/claude/voi_deck/icons/percent.png">
              <a:extLst>
                <a:ext uri="{FF2B5EF4-FFF2-40B4-BE49-F238E27FC236}">
                  <a16:creationId xmlns:a16="http://schemas.microsoft.com/office/drawing/2014/main" id="{84013393-C3B2-2530-4B7B-3A253F932369}"/>
                </a:ext>
              </a:extLst>
            </p:cNvPr>
            <p:cNvPicPr>
              <a:picLocks noChangeAspect="1"/>
            </p:cNvPicPr>
            <p:nvPr/>
          </p:nvPicPr>
          <p:blipFill>
            <a:blip r:embed="rId20"/>
            <a:stretch>
              <a:fillRect/>
            </a:stretch>
          </p:blipFill>
          <p:spPr>
            <a:xfrm>
              <a:off x="448056" y="5623560"/>
              <a:ext cx="146304" cy="146304"/>
            </a:xfrm>
            <a:prstGeom prst="rect">
              <a:avLst/>
            </a:prstGeom>
          </p:spPr>
        </p:pic>
        <p:sp>
          <p:nvSpPr>
            <p:cNvPr id="1307" name="Text 106">
              <a:extLst>
                <a:ext uri="{FF2B5EF4-FFF2-40B4-BE49-F238E27FC236}">
                  <a16:creationId xmlns:a16="http://schemas.microsoft.com/office/drawing/2014/main" id="{6502612E-74DA-5511-F31D-5878643150B0}"/>
                </a:ext>
              </a:extLst>
            </p:cNvPr>
            <p:cNvSpPr txBox="1"/>
            <p:nvPr/>
          </p:nvSpPr>
          <p:spPr>
            <a:xfrm>
              <a:off x="704088" y="4782312"/>
              <a:ext cx="676656" cy="1828800"/>
            </a:xfrm>
            <a:prstGeom prst="rect">
              <a:avLst/>
            </a:prstGeom>
            <a:noFill/>
            <a:ln/>
          </p:spPr>
          <p:txBody>
            <a:bodyPr wrap="square" lIns="0" tIns="0" rIns="0" bIns="0" rtlCol="0" anchor="ctr"/>
            <a:lstStyle/>
            <a:p>
              <a:pPr marL="0" indent="0">
                <a:lnSpc>
                  <a:spcPts val="900"/>
                </a:lnSpc>
                <a:buNone/>
              </a:pPr>
              <a:r>
                <a:rPr lang="en-US" sz="750" b="1">
                  <a:solidFill>
                    <a:srgbClr val="3E4C59"/>
                  </a:solidFill>
                  <a:latin typeface="Calibri" pitchFamily="34" charset="0"/>
                  <a:ea typeface="Calibri" pitchFamily="34" charset="-122"/>
                  <a:cs typeface="Calibri" pitchFamily="34" charset="-120"/>
                </a:rPr>
                <a:t>COMPOSICIÓN DEL DESCUENTO</a:t>
              </a:r>
              <a:endParaRPr lang="en-US" sz="750"/>
            </a:p>
          </p:txBody>
        </p:sp>
        <p:sp>
          <p:nvSpPr>
            <p:cNvPr id="1308" name="Text 107">
              <a:extLst>
                <a:ext uri="{FF2B5EF4-FFF2-40B4-BE49-F238E27FC236}">
                  <a16:creationId xmlns:a16="http://schemas.microsoft.com/office/drawing/2014/main" id="{C04D83C0-C4ED-4490-9F7D-35873F3D86CE}"/>
                </a:ext>
              </a:extLst>
            </p:cNvPr>
            <p:cNvSpPr txBox="1"/>
            <p:nvPr/>
          </p:nvSpPr>
          <p:spPr>
            <a:xfrm>
              <a:off x="156362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1309" name="Shape 112">
              <a:extLst>
                <a:ext uri="{FF2B5EF4-FFF2-40B4-BE49-F238E27FC236}">
                  <a16:creationId xmlns:a16="http://schemas.microsoft.com/office/drawing/2014/main" id="{6E4AB9F8-DF20-FBA6-537C-FDE6B9000C53}"/>
                </a:ext>
              </a:extLst>
            </p:cNvPr>
            <p:cNvSpPr/>
            <p:nvPr/>
          </p:nvSpPr>
          <p:spPr>
            <a:xfrm>
              <a:off x="1563624" y="5184648"/>
              <a:ext cx="73152" cy="73152"/>
            </a:xfrm>
            <a:prstGeom prst="rect">
              <a:avLst/>
            </a:prstGeom>
            <a:solidFill>
              <a:srgbClr val="1D9E75"/>
            </a:solidFill>
            <a:ln/>
          </p:spPr>
          <p:txBody>
            <a:bodyPr/>
            <a:lstStyle/>
            <a:p>
              <a:endParaRPr/>
            </a:p>
          </p:txBody>
        </p:sp>
        <p:sp>
          <p:nvSpPr>
            <p:cNvPr id="1310" name="Text 113">
              <a:extLst>
                <a:ext uri="{FF2B5EF4-FFF2-40B4-BE49-F238E27FC236}">
                  <a16:creationId xmlns:a16="http://schemas.microsoft.com/office/drawing/2014/main" id="{9990CF1D-159C-D768-534B-F2649238EFA1}"/>
                </a:ext>
              </a:extLst>
            </p:cNvPr>
            <p:cNvSpPr txBox="1"/>
            <p:nvPr/>
          </p:nvSpPr>
          <p:spPr>
            <a:xfrm>
              <a:off x="166420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1311" name="Shape 114">
              <a:extLst>
                <a:ext uri="{FF2B5EF4-FFF2-40B4-BE49-F238E27FC236}">
                  <a16:creationId xmlns:a16="http://schemas.microsoft.com/office/drawing/2014/main" id="{815D00A6-80AE-7375-9606-47522197C773}"/>
                </a:ext>
              </a:extLst>
            </p:cNvPr>
            <p:cNvSpPr/>
            <p:nvPr/>
          </p:nvSpPr>
          <p:spPr>
            <a:xfrm>
              <a:off x="1830172" y="5184648"/>
              <a:ext cx="73152" cy="73152"/>
            </a:xfrm>
            <a:prstGeom prst="rect">
              <a:avLst/>
            </a:prstGeom>
            <a:solidFill>
              <a:srgbClr val="D9861F"/>
            </a:solidFill>
            <a:ln/>
          </p:spPr>
          <p:txBody>
            <a:bodyPr/>
            <a:lstStyle/>
            <a:p>
              <a:endParaRPr/>
            </a:p>
          </p:txBody>
        </p:sp>
        <p:sp>
          <p:nvSpPr>
            <p:cNvPr id="1312" name="Text 115">
              <a:extLst>
                <a:ext uri="{FF2B5EF4-FFF2-40B4-BE49-F238E27FC236}">
                  <a16:creationId xmlns:a16="http://schemas.microsoft.com/office/drawing/2014/main" id="{5A13B406-B83D-5534-13D1-E3CDAAAED745}"/>
                </a:ext>
              </a:extLst>
            </p:cNvPr>
            <p:cNvSpPr txBox="1"/>
            <p:nvPr/>
          </p:nvSpPr>
          <p:spPr>
            <a:xfrm>
              <a:off x="193075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1313" name="Shape 116">
              <a:extLst>
                <a:ext uri="{FF2B5EF4-FFF2-40B4-BE49-F238E27FC236}">
                  <a16:creationId xmlns:a16="http://schemas.microsoft.com/office/drawing/2014/main" id="{2936DA5A-33AB-958F-D565-FD2820AAB392}"/>
                </a:ext>
              </a:extLst>
            </p:cNvPr>
            <p:cNvSpPr/>
            <p:nvPr/>
          </p:nvSpPr>
          <p:spPr>
            <a:xfrm>
              <a:off x="2096719" y="5184648"/>
              <a:ext cx="73152" cy="73152"/>
            </a:xfrm>
            <a:prstGeom prst="rect">
              <a:avLst/>
            </a:prstGeom>
            <a:solidFill>
              <a:srgbClr val="C0392B"/>
            </a:solidFill>
            <a:ln/>
          </p:spPr>
          <p:txBody>
            <a:bodyPr/>
            <a:lstStyle/>
            <a:p>
              <a:endParaRPr/>
            </a:p>
          </p:txBody>
        </p:sp>
        <p:sp>
          <p:nvSpPr>
            <p:cNvPr id="1314" name="Text 117">
              <a:extLst>
                <a:ext uri="{FF2B5EF4-FFF2-40B4-BE49-F238E27FC236}">
                  <a16:creationId xmlns:a16="http://schemas.microsoft.com/office/drawing/2014/main" id="{598E9CD9-4F02-C721-5949-B75C5F9EBD2E}"/>
                </a:ext>
              </a:extLst>
            </p:cNvPr>
            <p:cNvSpPr txBox="1"/>
            <p:nvPr/>
          </p:nvSpPr>
          <p:spPr>
            <a:xfrm>
              <a:off x="219730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1315" name="Text 118">
              <a:extLst>
                <a:ext uri="{FF2B5EF4-FFF2-40B4-BE49-F238E27FC236}">
                  <a16:creationId xmlns:a16="http://schemas.microsoft.com/office/drawing/2014/main" id="{777F6217-B8CC-6E53-A24A-5215760A1F19}"/>
                </a:ext>
              </a:extLst>
            </p:cNvPr>
            <p:cNvSpPr txBox="1"/>
            <p:nvPr/>
          </p:nvSpPr>
          <p:spPr>
            <a:xfrm>
              <a:off x="156362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1316" name="Text 146">
              <a:extLst>
                <a:ext uri="{FF2B5EF4-FFF2-40B4-BE49-F238E27FC236}">
                  <a16:creationId xmlns:a16="http://schemas.microsoft.com/office/drawing/2014/main" id="{78937D0A-187C-6697-E7DA-4A48C6CD6536}"/>
                </a:ext>
              </a:extLst>
            </p:cNvPr>
            <p:cNvSpPr txBox="1"/>
            <p:nvPr/>
          </p:nvSpPr>
          <p:spPr>
            <a:xfrm>
              <a:off x="1563624" y="6135624"/>
              <a:ext cx="3099816" cy="4389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Entra por el POS: 56% usa Izipay, la puerta digital al crédito del negocio.</a:t>
              </a:r>
              <a:endParaRPr lang="en-US" sz="850"/>
            </a:p>
          </p:txBody>
        </p:sp>
        <p:sp>
          <p:nvSpPr>
            <p:cNvPr id="1317" name="Text 147">
              <a:extLst>
                <a:ext uri="{FF2B5EF4-FFF2-40B4-BE49-F238E27FC236}">
                  <a16:creationId xmlns:a16="http://schemas.microsoft.com/office/drawing/2014/main" id="{68D84E4A-20E0-F88D-5618-87226534409A}"/>
                </a:ext>
              </a:extLst>
            </p:cNvPr>
            <p:cNvSpPr txBox="1"/>
            <p:nvPr/>
          </p:nvSpPr>
          <p:spPr>
            <a:xfrm>
              <a:off x="494690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1318" name="Shape 153">
              <a:extLst>
                <a:ext uri="{FF2B5EF4-FFF2-40B4-BE49-F238E27FC236}">
                  <a16:creationId xmlns:a16="http://schemas.microsoft.com/office/drawing/2014/main" id="{DD7746AA-1F7F-1FBA-4A50-306066DB880A}"/>
                </a:ext>
              </a:extLst>
            </p:cNvPr>
            <p:cNvSpPr/>
            <p:nvPr/>
          </p:nvSpPr>
          <p:spPr>
            <a:xfrm>
              <a:off x="4946904" y="5184648"/>
              <a:ext cx="73152" cy="73152"/>
            </a:xfrm>
            <a:prstGeom prst="rect">
              <a:avLst/>
            </a:prstGeom>
            <a:solidFill>
              <a:srgbClr val="1D9E75"/>
            </a:solidFill>
            <a:ln/>
          </p:spPr>
          <p:txBody>
            <a:bodyPr/>
            <a:lstStyle/>
            <a:p>
              <a:endParaRPr/>
            </a:p>
          </p:txBody>
        </p:sp>
        <p:sp>
          <p:nvSpPr>
            <p:cNvPr id="1319" name="Text 154">
              <a:extLst>
                <a:ext uri="{FF2B5EF4-FFF2-40B4-BE49-F238E27FC236}">
                  <a16:creationId xmlns:a16="http://schemas.microsoft.com/office/drawing/2014/main" id="{C0BC6EEB-2170-36CA-00D4-418151A399E2}"/>
                </a:ext>
              </a:extLst>
            </p:cNvPr>
            <p:cNvSpPr txBox="1"/>
            <p:nvPr/>
          </p:nvSpPr>
          <p:spPr>
            <a:xfrm>
              <a:off x="504748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1320" name="Shape 155">
              <a:extLst>
                <a:ext uri="{FF2B5EF4-FFF2-40B4-BE49-F238E27FC236}">
                  <a16:creationId xmlns:a16="http://schemas.microsoft.com/office/drawing/2014/main" id="{9372E62C-6FD3-6D30-E503-1EE95E955398}"/>
                </a:ext>
              </a:extLst>
            </p:cNvPr>
            <p:cNvSpPr/>
            <p:nvPr/>
          </p:nvSpPr>
          <p:spPr>
            <a:xfrm>
              <a:off x="5213452" y="5184648"/>
              <a:ext cx="73152" cy="73152"/>
            </a:xfrm>
            <a:prstGeom prst="rect">
              <a:avLst/>
            </a:prstGeom>
            <a:solidFill>
              <a:srgbClr val="D9861F"/>
            </a:solidFill>
            <a:ln/>
          </p:spPr>
          <p:txBody>
            <a:bodyPr/>
            <a:lstStyle/>
            <a:p>
              <a:endParaRPr/>
            </a:p>
          </p:txBody>
        </p:sp>
        <p:sp>
          <p:nvSpPr>
            <p:cNvPr id="1321" name="Text 156">
              <a:extLst>
                <a:ext uri="{FF2B5EF4-FFF2-40B4-BE49-F238E27FC236}">
                  <a16:creationId xmlns:a16="http://schemas.microsoft.com/office/drawing/2014/main" id="{F1A24C3F-6BAB-FF2B-C463-B3097A6DF3D1}"/>
                </a:ext>
              </a:extLst>
            </p:cNvPr>
            <p:cNvSpPr txBox="1"/>
            <p:nvPr/>
          </p:nvSpPr>
          <p:spPr>
            <a:xfrm>
              <a:off x="531403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1322" name="Shape 157">
              <a:extLst>
                <a:ext uri="{FF2B5EF4-FFF2-40B4-BE49-F238E27FC236}">
                  <a16:creationId xmlns:a16="http://schemas.microsoft.com/office/drawing/2014/main" id="{35BEE1CF-18CD-3C2A-454D-33ADF4D84F01}"/>
                </a:ext>
              </a:extLst>
            </p:cNvPr>
            <p:cNvSpPr/>
            <p:nvPr/>
          </p:nvSpPr>
          <p:spPr>
            <a:xfrm>
              <a:off x="5479999" y="5184648"/>
              <a:ext cx="73152" cy="73152"/>
            </a:xfrm>
            <a:prstGeom prst="rect">
              <a:avLst/>
            </a:prstGeom>
            <a:solidFill>
              <a:srgbClr val="C0392B"/>
            </a:solidFill>
            <a:ln/>
          </p:spPr>
          <p:txBody>
            <a:bodyPr/>
            <a:lstStyle/>
            <a:p>
              <a:endParaRPr/>
            </a:p>
          </p:txBody>
        </p:sp>
        <p:sp>
          <p:nvSpPr>
            <p:cNvPr id="1323" name="Text 158">
              <a:extLst>
                <a:ext uri="{FF2B5EF4-FFF2-40B4-BE49-F238E27FC236}">
                  <a16:creationId xmlns:a16="http://schemas.microsoft.com/office/drawing/2014/main" id="{83BC2426-B1EE-6EEF-1DE7-46AA09DF0B5F}"/>
                </a:ext>
              </a:extLst>
            </p:cNvPr>
            <p:cNvSpPr txBox="1"/>
            <p:nvPr/>
          </p:nvSpPr>
          <p:spPr>
            <a:xfrm>
              <a:off x="558058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1324" name="Text 159">
              <a:extLst>
                <a:ext uri="{FF2B5EF4-FFF2-40B4-BE49-F238E27FC236}">
                  <a16:creationId xmlns:a16="http://schemas.microsoft.com/office/drawing/2014/main" id="{77F8B845-A745-79BC-3139-E0E1853CF6D8}"/>
                </a:ext>
              </a:extLst>
            </p:cNvPr>
            <p:cNvSpPr txBox="1"/>
            <p:nvPr/>
          </p:nvSpPr>
          <p:spPr>
            <a:xfrm>
              <a:off x="494690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1325" name="Text 187">
              <a:extLst>
                <a:ext uri="{FF2B5EF4-FFF2-40B4-BE49-F238E27FC236}">
                  <a16:creationId xmlns:a16="http://schemas.microsoft.com/office/drawing/2014/main" id="{7BDB88C9-2B18-F3B8-C5E5-B36E9D528604}"/>
                </a:ext>
              </a:extLst>
            </p:cNvPr>
            <p:cNvSpPr txBox="1"/>
            <p:nvPr/>
          </p:nvSpPr>
          <p:spPr>
            <a:xfrm>
              <a:off x="4946904" y="6135624"/>
              <a:ext cx="3099816" cy="4389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Vende casi S/ 500k sin historial de crédito: negocio en marcha que estrena financiamiento.</a:t>
              </a:r>
              <a:endParaRPr lang="en-US" sz="850"/>
            </a:p>
          </p:txBody>
        </p:sp>
        <p:sp>
          <p:nvSpPr>
            <p:cNvPr id="1326" name="Text 188">
              <a:extLst>
                <a:ext uri="{FF2B5EF4-FFF2-40B4-BE49-F238E27FC236}">
                  <a16:creationId xmlns:a16="http://schemas.microsoft.com/office/drawing/2014/main" id="{6B6A8EF4-7479-0DE1-85A9-A1DD2C0AA68F}"/>
                </a:ext>
              </a:extLst>
            </p:cNvPr>
            <p:cNvSpPr txBox="1"/>
            <p:nvPr/>
          </p:nvSpPr>
          <p:spPr>
            <a:xfrm>
              <a:off x="8330184" y="4837176"/>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SEGMENTO ABC</a:t>
              </a:r>
              <a:endParaRPr lang="en-US" sz="700"/>
            </a:p>
          </p:txBody>
        </p:sp>
        <p:sp>
          <p:nvSpPr>
            <p:cNvPr id="1327" name="Shape 194">
              <a:extLst>
                <a:ext uri="{FF2B5EF4-FFF2-40B4-BE49-F238E27FC236}">
                  <a16:creationId xmlns:a16="http://schemas.microsoft.com/office/drawing/2014/main" id="{AB725C1D-9AD6-E6E3-CB48-58ACDCA28F97}"/>
                </a:ext>
              </a:extLst>
            </p:cNvPr>
            <p:cNvSpPr/>
            <p:nvPr/>
          </p:nvSpPr>
          <p:spPr>
            <a:xfrm>
              <a:off x="8330184" y="5184648"/>
              <a:ext cx="73152" cy="73152"/>
            </a:xfrm>
            <a:prstGeom prst="rect">
              <a:avLst/>
            </a:prstGeom>
            <a:solidFill>
              <a:srgbClr val="1D9E75"/>
            </a:solidFill>
            <a:ln/>
          </p:spPr>
          <p:txBody>
            <a:bodyPr/>
            <a:lstStyle/>
            <a:p>
              <a:endParaRPr/>
            </a:p>
          </p:txBody>
        </p:sp>
        <p:sp>
          <p:nvSpPr>
            <p:cNvPr id="1328" name="Text 195">
              <a:extLst>
                <a:ext uri="{FF2B5EF4-FFF2-40B4-BE49-F238E27FC236}">
                  <a16:creationId xmlns:a16="http://schemas.microsoft.com/office/drawing/2014/main" id="{7207E54E-F521-4A45-602E-D3E7AEC701D6}"/>
                </a:ext>
              </a:extLst>
            </p:cNvPr>
            <p:cNvSpPr txBox="1"/>
            <p:nvPr/>
          </p:nvSpPr>
          <p:spPr>
            <a:xfrm>
              <a:off x="8430768"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A</a:t>
              </a:r>
              <a:endParaRPr lang="en-US" sz="650"/>
            </a:p>
          </p:txBody>
        </p:sp>
        <p:sp>
          <p:nvSpPr>
            <p:cNvPr id="1329" name="Shape 196">
              <a:extLst>
                <a:ext uri="{FF2B5EF4-FFF2-40B4-BE49-F238E27FC236}">
                  <a16:creationId xmlns:a16="http://schemas.microsoft.com/office/drawing/2014/main" id="{6EA142E1-C4FB-709B-656E-83213C03B081}"/>
                </a:ext>
              </a:extLst>
            </p:cNvPr>
            <p:cNvSpPr/>
            <p:nvPr/>
          </p:nvSpPr>
          <p:spPr>
            <a:xfrm>
              <a:off x="8596732" y="5184648"/>
              <a:ext cx="73152" cy="73152"/>
            </a:xfrm>
            <a:prstGeom prst="rect">
              <a:avLst/>
            </a:prstGeom>
            <a:solidFill>
              <a:srgbClr val="D9861F"/>
            </a:solidFill>
            <a:ln/>
          </p:spPr>
          <p:txBody>
            <a:bodyPr/>
            <a:lstStyle/>
            <a:p>
              <a:endParaRPr/>
            </a:p>
          </p:txBody>
        </p:sp>
        <p:sp>
          <p:nvSpPr>
            <p:cNvPr id="1330" name="Text 197">
              <a:extLst>
                <a:ext uri="{FF2B5EF4-FFF2-40B4-BE49-F238E27FC236}">
                  <a16:creationId xmlns:a16="http://schemas.microsoft.com/office/drawing/2014/main" id="{0429BF68-E73E-1413-8EA4-BD58704DDEE1}"/>
                </a:ext>
              </a:extLst>
            </p:cNvPr>
            <p:cNvSpPr txBox="1"/>
            <p:nvPr/>
          </p:nvSpPr>
          <p:spPr>
            <a:xfrm>
              <a:off x="8697316"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B</a:t>
              </a:r>
              <a:endParaRPr lang="en-US" sz="650"/>
            </a:p>
          </p:txBody>
        </p:sp>
        <p:sp>
          <p:nvSpPr>
            <p:cNvPr id="1331" name="Shape 198">
              <a:extLst>
                <a:ext uri="{FF2B5EF4-FFF2-40B4-BE49-F238E27FC236}">
                  <a16:creationId xmlns:a16="http://schemas.microsoft.com/office/drawing/2014/main" id="{FEE50925-69D8-003D-F89C-B38322C67CB6}"/>
                </a:ext>
              </a:extLst>
            </p:cNvPr>
            <p:cNvSpPr/>
            <p:nvPr/>
          </p:nvSpPr>
          <p:spPr>
            <a:xfrm>
              <a:off x="8863279" y="5184648"/>
              <a:ext cx="73152" cy="73152"/>
            </a:xfrm>
            <a:prstGeom prst="rect">
              <a:avLst/>
            </a:prstGeom>
            <a:solidFill>
              <a:srgbClr val="C0392B"/>
            </a:solidFill>
            <a:ln/>
          </p:spPr>
          <p:txBody>
            <a:bodyPr/>
            <a:lstStyle/>
            <a:p>
              <a:endParaRPr/>
            </a:p>
          </p:txBody>
        </p:sp>
        <p:sp>
          <p:nvSpPr>
            <p:cNvPr id="1332" name="Text 199">
              <a:extLst>
                <a:ext uri="{FF2B5EF4-FFF2-40B4-BE49-F238E27FC236}">
                  <a16:creationId xmlns:a16="http://schemas.microsoft.com/office/drawing/2014/main" id="{27A216FE-C2EB-E2E1-CF00-AFCB95920617}"/>
                </a:ext>
              </a:extLst>
            </p:cNvPr>
            <p:cNvSpPr txBox="1"/>
            <p:nvPr/>
          </p:nvSpPr>
          <p:spPr>
            <a:xfrm>
              <a:off x="8963863" y="5148072"/>
              <a:ext cx="120244" cy="146304"/>
            </a:xfrm>
            <a:prstGeom prst="rect">
              <a:avLst/>
            </a:prstGeom>
            <a:noFill/>
            <a:ln/>
          </p:spPr>
          <p:txBody>
            <a:bodyPr wrap="square" lIns="0" tIns="0" rIns="0" bIns="0" rtlCol="0" anchor="ctr"/>
            <a:lstStyle/>
            <a:p>
              <a:pPr marL="0" indent="0">
                <a:buNone/>
              </a:pPr>
              <a:r>
                <a:rPr lang="en-US" sz="650">
                  <a:solidFill>
                    <a:srgbClr val="6B7563"/>
                  </a:solidFill>
                  <a:latin typeface="Calibri" pitchFamily="34" charset="0"/>
                  <a:ea typeface="Calibri" pitchFamily="34" charset="-122"/>
                  <a:cs typeface="Calibri" pitchFamily="34" charset="-120"/>
                </a:rPr>
                <a:t>C</a:t>
              </a:r>
              <a:endParaRPr lang="en-US" sz="650"/>
            </a:p>
          </p:txBody>
        </p:sp>
        <p:sp>
          <p:nvSpPr>
            <p:cNvPr id="1333" name="Text 200">
              <a:extLst>
                <a:ext uri="{FF2B5EF4-FFF2-40B4-BE49-F238E27FC236}">
                  <a16:creationId xmlns:a16="http://schemas.microsoft.com/office/drawing/2014/main" id="{8B070824-902E-3260-C03D-9F085192AAE0}"/>
                </a:ext>
              </a:extLst>
            </p:cNvPr>
            <p:cNvSpPr txBox="1"/>
            <p:nvPr/>
          </p:nvSpPr>
          <p:spPr>
            <a:xfrm>
              <a:off x="8330184" y="5376672"/>
              <a:ext cx="3099816" cy="128016"/>
            </a:xfrm>
            <a:prstGeom prst="rect">
              <a:avLst/>
            </a:prstGeom>
            <a:noFill/>
            <a:ln/>
          </p:spPr>
          <p:txBody>
            <a:bodyPr wrap="square" lIns="0" tIns="0" rIns="0" bIns="0" rtlCol="0" anchor="ctr"/>
            <a:lstStyle/>
            <a:p>
              <a:pPr marL="0" indent="0">
                <a:buNone/>
              </a:pPr>
              <a:r>
                <a:rPr lang="en-US" sz="700" b="1">
                  <a:solidFill>
                    <a:srgbClr val="3E4C59"/>
                  </a:solidFill>
                  <a:latin typeface="Calibri" pitchFamily="34" charset="0"/>
                  <a:ea typeface="Calibri" pitchFamily="34" charset="-122"/>
                  <a:cs typeface="Calibri" pitchFamily="34" charset="-120"/>
                </a:rPr>
                <a:t>COMPOSICIÓN POR TRAMO DE DESCUENTO</a:t>
              </a:r>
              <a:endParaRPr lang="en-US" sz="700"/>
            </a:p>
          </p:txBody>
        </p:sp>
        <p:sp>
          <p:nvSpPr>
            <p:cNvPr id="1334" name="Text 228">
              <a:extLst>
                <a:ext uri="{FF2B5EF4-FFF2-40B4-BE49-F238E27FC236}">
                  <a16:creationId xmlns:a16="http://schemas.microsoft.com/office/drawing/2014/main" id="{E1B267B5-36C3-EA89-EE22-00C8ECFE5F6A}"/>
                </a:ext>
              </a:extLst>
            </p:cNvPr>
            <p:cNvSpPr txBox="1"/>
            <p:nvPr/>
          </p:nvSpPr>
          <p:spPr>
            <a:xfrm>
              <a:off x="8330184" y="6135624"/>
              <a:ext cx="3099816" cy="438912"/>
            </a:xfrm>
            <a:prstGeom prst="rect">
              <a:avLst/>
            </a:prstGeom>
            <a:noFill/>
            <a:ln/>
          </p:spPr>
          <p:txBody>
            <a:bodyPr wrap="square" lIns="0" tIns="0" rIns="0" bIns="0" rtlCol="0" anchor="ctr"/>
            <a:lstStyle/>
            <a:p>
              <a:pPr marL="0" indent="0">
                <a:lnSpc>
                  <a:spcPts val="1000"/>
                </a:lnSpc>
                <a:buNone/>
              </a:pPr>
              <a:r>
                <a:rPr lang="en-US" sz="850" i="1">
                  <a:solidFill>
                    <a:srgbClr val="1F2A24"/>
                  </a:solidFill>
                  <a:latin typeface="Calibri" pitchFamily="34" charset="0"/>
                  <a:ea typeface="Calibri" pitchFamily="34" charset="-122"/>
                  <a:cs typeface="Calibri" pitchFamily="34" charset="-120"/>
                </a:rPr>
                <a:t>El nuevo con más pasivos y mayor ticket: a un crédito de convertirse en cliente de portafolio.</a:t>
              </a:r>
              <a:endParaRPr lang="en-US" sz="850"/>
            </a:p>
          </p:txBody>
        </p:sp>
        <p:sp>
          <p:nvSpPr>
            <p:cNvPr id="1335" name="Shape 264">
              <a:extLst>
                <a:ext uri="{FF2B5EF4-FFF2-40B4-BE49-F238E27FC236}">
                  <a16:creationId xmlns:a16="http://schemas.microsoft.com/office/drawing/2014/main" id="{D561A676-8913-6702-18C1-FD252CAD6DC2}"/>
                </a:ext>
              </a:extLst>
            </p:cNvPr>
            <p:cNvSpPr/>
            <p:nvPr/>
          </p:nvSpPr>
          <p:spPr>
            <a:xfrm>
              <a:off x="1563624" y="4992624"/>
              <a:ext cx="27898" cy="137160"/>
            </a:xfrm>
            <a:prstGeom prst="rect">
              <a:avLst/>
            </a:prstGeom>
            <a:solidFill>
              <a:srgbClr val="1D9E75"/>
            </a:solidFill>
            <a:ln/>
          </p:spPr>
          <p:txBody>
            <a:bodyPr/>
            <a:lstStyle/>
            <a:p>
              <a:endParaRPr lang="es-PE"/>
            </a:p>
          </p:txBody>
        </p:sp>
        <p:sp>
          <p:nvSpPr>
            <p:cNvPr id="1336" name="Shape 265">
              <a:extLst>
                <a:ext uri="{FF2B5EF4-FFF2-40B4-BE49-F238E27FC236}">
                  <a16:creationId xmlns:a16="http://schemas.microsoft.com/office/drawing/2014/main" id="{5EB57B1C-B378-BF73-59EF-9C584AC5B9D2}"/>
                </a:ext>
              </a:extLst>
            </p:cNvPr>
            <p:cNvSpPr/>
            <p:nvPr/>
          </p:nvSpPr>
          <p:spPr>
            <a:xfrm>
              <a:off x="1591522" y="4992624"/>
              <a:ext cx="1472413" cy="137160"/>
            </a:xfrm>
            <a:prstGeom prst="rect">
              <a:avLst/>
            </a:prstGeom>
            <a:solidFill>
              <a:srgbClr val="D9861F"/>
            </a:solidFill>
            <a:ln/>
          </p:spPr>
          <p:txBody>
            <a:bodyPr/>
            <a:lstStyle/>
            <a:p>
              <a:endParaRPr lang="es-PE"/>
            </a:p>
          </p:txBody>
        </p:sp>
        <p:sp>
          <p:nvSpPr>
            <p:cNvPr id="1337" name="Text 266">
              <a:extLst>
                <a:ext uri="{FF2B5EF4-FFF2-40B4-BE49-F238E27FC236}">
                  <a16:creationId xmlns:a16="http://schemas.microsoft.com/office/drawing/2014/main" id="{250765E7-5A27-BB78-B712-F7B144541934}"/>
                </a:ext>
              </a:extLst>
            </p:cNvPr>
            <p:cNvSpPr txBox="1"/>
            <p:nvPr/>
          </p:nvSpPr>
          <p:spPr>
            <a:xfrm>
              <a:off x="1591522" y="4992624"/>
              <a:ext cx="1472413"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48%</a:t>
              </a:r>
              <a:endParaRPr lang="en-US" sz="800"/>
            </a:p>
          </p:txBody>
        </p:sp>
        <p:sp>
          <p:nvSpPr>
            <p:cNvPr id="1338" name="Shape 267">
              <a:extLst>
                <a:ext uri="{FF2B5EF4-FFF2-40B4-BE49-F238E27FC236}">
                  <a16:creationId xmlns:a16="http://schemas.microsoft.com/office/drawing/2014/main" id="{1225B5A6-E61E-4AB9-6AC2-87200A32E0DD}"/>
                </a:ext>
              </a:extLst>
            </p:cNvPr>
            <p:cNvSpPr/>
            <p:nvPr/>
          </p:nvSpPr>
          <p:spPr>
            <a:xfrm>
              <a:off x="3063935" y="4992624"/>
              <a:ext cx="1599505" cy="137160"/>
            </a:xfrm>
            <a:prstGeom prst="rect">
              <a:avLst/>
            </a:prstGeom>
            <a:solidFill>
              <a:srgbClr val="C0392B"/>
            </a:solidFill>
            <a:ln/>
          </p:spPr>
          <p:txBody>
            <a:bodyPr/>
            <a:lstStyle/>
            <a:p>
              <a:endParaRPr lang="es-PE"/>
            </a:p>
          </p:txBody>
        </p:sp>
        <p:sp>
          <p:nvSpPr>
            <p:cNvPr id="1339" name="Text 268">
              <a:extLst>
                <a:ext uri="{FF2B5EF4-FFF2-40B4-BE49-F238E27FC236}">
                  <a16:creationId xmlns:a16="http://schemas.microsoft.com/office/drawing/2014/main" id="{ECB841B9-DB3F-F7C2-DBEB-ABD889C515B1}"/>
                </a:ext>
              </a:extLst>
            </p:cNvPr>
            <p:cNvSpPr txBox="1"/>
            <p:nvPr/>
          </p:nvSpPr>
          <p:spPr>
            <a:xfrm>
              <a:off x="3063935" y="4992624"/>
              <a:ext cx="1599505"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52%</a:t>
              </a:r>
              <a:endParaRPr lang="en-US" sz="800"/>
            </a:p>
          </p:txBody>
        </p:sp>
        <p:sp>
          <p:nvSpPr>
            <p:cNvPr id="1340" name="Shape 269">
              <a:extLst>
                <a:ext uri="{FF2B5EF4-FFF2-40B4-BE49-F238E27FC236}">
                  <a16:creationId xmlns:a16="http://schemas.microsoft.com/office/drawing/2014/main" id="{E8D027DA-243B-B246-7EB1-5817315D9C56}"/>
                </a:ext>
              </a:extLst>
            </p:cNvPr>
            <p:cNvSpPr/>
            <p:nvPr/>
          </p:nvSpPr>
          <p:spPr>
            <a:xfrm>
              <a:off x="1563624" y="5696712"/>
              <a:ext cx="830751" cy="118872"/>
            </a:xfrm>
            <a:prstGeom prst="rect">
              <a:avLst/>
            </a:prstGeom>
            <a:solidFill>
              <a:srgbClr val="1D9E75"/>
            </a:solidFill>
            <a:ln/>
          </p:spPr>
          <p:txBody>
            <a:bodyPr/>
            <a:lstStyle/>
            <a:p>
              <a:endParaRPr lang="es-PE"/>
            </a:p>
          </p:txBody>
        </p:sp>
        <p:sp>
          <p:nvSpPr>
            <p:cNvPr id="1341" name="Text 270">
              <a:extLst>
                <a:ext uri="{FF2B5EF4-FFF2-40B4-BE49-F238E27FC236}">
                  <a16:creationId xmlns:a16="http://schemas.microsoft.com/office/drawing/2014/main" id="{391D1199-6477-CC03-2CF7-F730EF846170}"/>
                </a:ext>
              </a:extLst>
            </p:cNvPr>
            <p:cNvSpPr txBox="1"/>
            <p:nvPr/>
          </p:nvSpPr>
          <p:spPr>
            <a:xfrm>
              <a:off x="1563624" y="5522976"/>
              <a:ext cx="83075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27%</a:t>
              </a:r>
            </a:p>
            <a:p>
              <a:pPr marL="0" indent="0" algn="ctr">
                <a:lnSpc>
                  <a:spcPct val="100000"/>
                </a:lnSpc>
                <a:buNone/>
              </a:pPr>
              <a:r>
                <a:rPr lang="en-US" sz="500">
                  <a:solidFill>
                    <a:srgbClr val="6B7563"/>
                  </a:solidFill>
                  <a:latin typeface="Calibri" pitchFamily="34" charset="0"/>
                </a:rPr>
                <a:t>(S/ 230k)</a:t>
              </a:r>
              <a:endParaRPr lang="en-US" sz="500"/>
            </a:p>
          </p:txBody>
        </p:sp>
        <p:sp>
          <p:nvSpPr>
            <p:cNvPr id="1342" name="Shape 271">
              <a:extLst>
                <a:ext uri="{FF2B5EF4-FFF2-40B4-BE49-F238E27FC236}">
                  <a16:creationId xmlns:a16="http://schemas.microsoft.com/office/drawing/2014/main" id="{95267D94-0A0D-483F-2E6D-4E0B1D2DD8EB}"/>
                </a:ext>
              </a:extLst>
            </p:cNvPr>
            <p:cNvSpPr/>
            <p:nvPr/>
          </p:nvSpPr>
          <p:spPr>
            <a:xfrm>
              <a:off x="1563624" y="5897880"/>
              <a:ext cx="73152" cy="73152"/>
            </a:xfrm>
            <a:prstGeom prst="rect">
              <a:avLst/>
            </a:prstGeom>
            <a:solidFill>
              <a:srgbClr val="1D9E75"/>
            </a:solidFill>
            <a:ln/>
          </p:spPr>
          <p:txBody>
            <a:bodyPr/>
            <a:lstStyle/>
            <a:p>
              <a:endParaRPr lang="es-PE"/>
            </a:p>
          </p:txBody>
        </p:sp>
        <p:sp>
          <p:nvSpPr>
            <p:cNvPr id="1343" name="Text 272">
              <a:extLst>
                <a:ext uri="{FF2B5EF4-FFF2-40B4-BE49-F238E27FC236}">
                  <a16:creationId xmlns:a16="http://schemas.microsoft.com/office/drawing/2014/main" id="{4F075C5D-80F3-C487-E95D-4D73FB2DC82D}"/>
                </a:ext>
              </a:extLst>
            </p:cNvPr>
            <p:cNvSpPr txBox="1"/>
            <p:nvPr/>
          </p:nvSpPr>
          <p:spPr>
            <a:xfrm>
              <a:off x="166420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1344" name="Shape 273">
              <a:extLst>
                <a:ext uri="{FF2B5EF4-FFF2-40B4-BE49-F238E27FC236}">
                  <a16:creationId xmlns:a16="http://schemas.microsoft.com/office/drawing/2014/main" id="{B56B6D90-15F4-8677-0010-491AC0A7F74E}"/>
                </a:ext>
              </a:extLst>
            </p:cNvPr>
            <p:cNvSpPr/>
            <p:nvPr/>
          </p:nvSpPr>
          <p:spPr>
            <a:xfrm>
              <a:off x="2394375" y="5696712"/>
              <a:ext cx="1075636" cy="118872"/>
            </a:xfrm>
            <a:prstGeom prst="rect">
              <a:avLst/>
            </a:prstGeom>
            <a:solidFill>
              <a:srgbClr val="D9861F"/>
            </a:solidFill>
            <a:ln/>
          </p:spPr>
          <p:txBody>
            <a:bodyPr/>
            <a:lstStyle/>
            <a:p>
              <a:endParaRPr lang="es-PE"/>
            </a:p>
          </p:txBody>
        </p:sp>
        <p:sp>
          <p:nvSpPr>
            <p:cNvPr id="1345" name="Text 274">
              <a:extLst>
                <a:ext uri="{FF2B5EF4-FFF2-40B4-BE49-F238E27FC236}">
                  <a16:creationId xmlns:a16="http://schemas.microsoft.com/office/drawing/2014/main" id="{0EBE2D5C-A077-B687-3520-DD3F350CDB95}"/>
                </a:ext>
              </a:extLst>
            </p:cNvPr>
            <p:cNvSpPr txBox="1"/>
            <p:nvPr/>
          </p:nvSpPr>
          <p:spPr>
            <a:xfrm>
              <a:off x="2394375" y="5522976"/>
              <a:ext cx="1075636"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35%</a:t>
              </a:r>
            </a:p>
            <a:p>
              <a:pPr marL="0" indent="0" algn="ctr">
                <a:lnSpc>
                  <a:spcPct val="100000"/>
                </a:lnSpc>
                <a:buNone/>
              </a:pPr>
              <a:r>
                <a:rPr lang="en-US" sz="500">
                  <a:solidFill>
                    <a:srgbClr val="6B7563"/>
                  </a:solidFill>
                  <a:latin typeface="Calibri" pitchFamily="34" charset="0"/>
                </a:rPr>
                <a:t>(S/ 298k)</a:t>
              </a:r>
              <a:endParaRPr lang="en-US" sz="500"/>
            </a:p>
          </p:txBody>
        </p:sp>
        <p:sp>
          <p:nvSpPr>
            <p:cNvPr id="1346" name="Shape 275">
              <a:extLst>
                <a:ext uri="{FF2B5EF4-FFF2-40B4-BE49-F238E27FC236}">
                  <a16:creationId xmlns:a16="http://schemas.microsoft.com/office/drawing/2014/main" id="{2E40947E-2512-D786-0ACD-079E61E6A12C}"/>
                </a:ext>
              </a:extLst>
            </p:cNvPr>
            <p:cNvSpPr/>
            <p:nvPr/>
          </p:nvSpPr>
          <p:spPr>
            <a:xfrm>
              <a:off x="2338578" y="5897880"/>
              <a:ext cx="73152" cy="73152"/>
            </a:xfrm>
            <a:prstGeom prst="rect">
              <a:avLst/>
            </a:prstGeom>
            <a:solidFill>
              <a:srgbClr val="D9861F"/>
            </a:solidFill>
            <a:ln/>
          </p:spPr>
          <p:txBody>
            <a:bodyPr/>
            <a:lstStyle/>
            <a:p>
              <a:endParaRPr lang="es-PE"/>
            </a:p>
          </p:txBody>
        </p:sp>
        <p:sp>
          <p:nvSpPr>
            <p:cNvPr id="1347" name="Text 276">
              <a:extLst>
                <a:ext uri="{FF2B5EF4-FFF2-40B4-BE49-F238E27FC236}">
                  <a16:creationId xmlns:a16="http://schemas.microsoft.com/office/drawing/2014/main" id="{1E1DE48A-23A6-D5D5-AC45-7BF1DE6B12B6}"/>
                </a:ext>
              </a:extLst>
            </p:cNvPr>
            <p:cNvSpPr txBox="1"/>
            <p:nvPr/>
          </p:nvSpPr>
          <p:spPr>
            <a:xfrm>
              <a:off x="243916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1348" name="Shape 277">
              <a:extLst>
                <a:ext uri="{FF2B5EF4-FFF2-40B4-BE49-F238E27FC236}">
                  <a16:creationId xmlns:a16="http://schemas.microsoft.com/office/drawing/2014/main" id="{C2F150F6-C660-6F49-3DF3-0C0801FFA458}"/>
                </a:ext>
              </a:extLst>
            </p:cNvPr>
            <p:cNvSpPr/>
            <p:nvPr/>
          </p:nvSpPr>
          <p:spPr>
            <a:xfrm>
              <a:off x="3470011" y="5696712"/>
              <a:ext cx="598264" cy="118872"/>
            </a:xfrm>
            <a:prstGeom prst="rect">
              <a:avLst/>
            </a:prstGeom>
            <a:solidFill>
              <a:srgbClr val="8A4B0A"/>
            </a:solidFill>
            <a:ln/>
          </p:spPr>
          <p:txBody>
            <a:bodyPr/>
            <a:lstStyle/>
            <a:p>
              <a:endParaRPr lang="es-PE"/>
            </a:p>
          </p:txBody>
        </p:sp>
        <p:sp>
          <p:nvSpPr>
            <p:cNvPr id="1349" name="Text 278">
              <a:extLst>
                <a:ext uri="{FF2B5EF4-FFF2-40B4-BE49-F238E27FC236}">
                  <a16:creationId xmlns:a16="http://schemas.microsoft.com/office/drawing/2014/main" id="{A4C4BDB1-631A-EE11-D95D-72560A96370A}"/>
                </a:ext>
              </a:extLst>
            </p:cNvPr>
            <p:cNvSpPr txBox="1"/>
            <p:nvPr/>
          </p:nvSpPr>
          <p:spPr>
            <a:xfrm>
              <a:off x="3470011" y="5522976"/>
              <a:ext cx="598264"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19%</a:t>
              </a:r>
            </a:p>
            <a:p>
              <a:pPr marL="0" indent="0" algn="ctr">
                <a:lnSpc>
                  <a:spcPct val="100000"/>
                </a:lnSpc>
                <a:buNone/>
              </a:pPr>
              <a:r>
                <a:rPr lang="en-US" sz="500">
                  <a:solidFill>
                    <a:srgbClr val="6B7563"/>
                  </a:solidFill>
                  <a:latin typeface="Calibri" pitchFamily="34" charset="0"/>
                </a:rPr>
                <a:t>(S/ 166k)</a:t>
              </a:r>
              <a:endParaRPr lang="en-US" sz="500"/>
            </a:p>
          </p:txBody>
        </p:sp>
        <p:sp>
          <p:nvSpPr>
            <p:cNvPr id="1350" name="Shape 279">
              <a:extLst>
                <a:ext uri="{FF2B5EF4-FFF2-40B4-BE49-F238E27FC236}">
                  <a16:creationId xmlns:a16="http://schemas.microsoft.com/office/drawing/2014/main" id="{0FF282F7-8FA2-988B-7036-BF59F0743876}"/>
                </a:ext>
              </a:extLst>
            </p:cNvPr>
            <p:cNvSpPr/>
            <p:nvPr/>
          </p:nvSpPr>
          <p:spPr>
            <a:xfrm>
              <a:off x="3113532" y="5897880"/>
              <a:ext cx="73152" cy="73152"/>
            </a:xfrm>
            <a:prstGeom prst="rect">
              <a:avLst/>
            </a:prstGeom>
            <a:solidFill>
              <a:srgbClr val="8A4B0A"/>
            </a:solidFill>
            <a:ln/>
          </p:spPr>
          <p:txBody>
            <a:bodyPr/>
            <a:lstStyle/>
            <a:p>
              <a:endParaRPr lang="es-PE"/>
            </a:p>
          </p:txBody>
        </p:sp>
        <p:sp>
          <p:nvSpPr>
            <p:cNvPr id="1351" name="Text 280">
              <a:extLst>
                <a:ext uri="{FF2B5EF4-FFF2-40B4-BE49-F238E27FC236}">
                  <a16:creationId xmlns:a16="http://schemas.microsoft.com/office/drawing/2014/main" id="{A0B60765-BA68-5316-15D7-96BA2ACE54BF}"/>
                </a:ext>
              </a:extLst>
            </p:cNvPr>
            <p:cNvSpPr txBox="1"/>
            <p:nvPr/>
          </p:nvSpPr>
          <p:spPr>
            <a:xfrm>
              <a:off x="321411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1352" name="Shape 281">
              <a:extLst>
                <a:ext uri="{FF2B5EF4-FFF2-40B4-BE49-F238E27FC236}">
                  <a16:creationId xmlns:a16="http://schemas.microsoft.com/office/drawing/2014/main" id="{32D8F221-02DB-FAE6-BF7C-3276071EB7FB}"/>
                </a:ext>
              </a:extLst>
            </p:cNvPr>
            <p:cNvSpPr/>
            <p:nvPr/>
          </p:nvSpPr>
          <p:spPr>
            <a:xfrm>
              <a:off x="4068275" y="5696712"/>
              <a:ext cx="595165" cy="118872"/>
            </a:xfrm>
            <a:prstGeom prst="rect">
              <a:avLst/>
            </a:prstGeom>
            <a:solidFill>
              <a:srgbClr val="C0392B"/>
            </a:solidFill>
            <a:ln/>
          </p:spPr>
          <p:txBody>
            <a:bodyPr/>
            <a:lstStyle/>
            <a:p>
              <a:endParaRPr lang="es-PE"/>
            </a:p>
          </p:txBody>
        </p:sp>
        <p:sp>
          <p:nvSpPr>
            <p:cNvPr id="1353" name="Text 282">
              <a:extLst>
                <a:ext uri="{FF2B5EF4-FFF2-40B4-BE49-F238E27FC236}">
                  <a16:creationId xmlns:a16="http://schemas.microsoft.com/office/drawing/2014/main" id="{8E2F5BDD-71FF-3678-B5EC-9B3216B39264}"/>
                </a:ext>
              </a:extLst>
            </p:cNvPr>
            <p:cNvSpPr txBox="1"/>
            <p:nvPr/>
          </p:nvSpPr>
          <p:spPr>
            <a:xfrm>
              <a:off x="4068275" y="5522976"/>
              <a:ext cx="595165"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19%</a:t>
              </a:r>
            </a:p>
            <a:p>
              <a:pPr marL="0" indent="0" algn="ctr">
                <a:lnSpc>
                  <a:spcPct val="100000"/>
                </a:lnSpc>
                <a:buNone/>
              </a:pPr>
              <a:r>
                <a:rPr lang="en-US" sz="500">
                  <a:solidFill>
                    <a:srgbClr val="6B7563"/>
                  </a:solidFill>
                  <a:latin typeface="Calibri" pitchFamily="34" charset="0"/>
                </a:rPr>
                <a:t>(S/ 165k)</a:t>
              </a:r>
              <a:endParaRPr lang="en-US" sz="500"/>
            </a:p>
          </p:txBody>
        </p:sp>
        <p:sp>
          <p:nvSpPr>
            <p:cNvPr id="1354" name="Shape 283">
              <a:extLst>
                <a:ext uri="{FF2B5EF4-FFF2-40B4-BE49-F238E27FC236}">
                  <a16:creationId xmlns:a16="http://schemas.microsoft.com/office/drawing/2014/main" id="{0255B6E6-0E3A-CBA4-E74B-2BB9E5A9C5F3}"/>
                </a:ext>
              </a:extLst>
            </p:cNvPr>
            <p:cNvSpPr/>
            <p:nvPr/>
          </p:nvSpPr>
          <p:spPr>
            <a:xfrm>
              <a:off x="3888486" y="5897880"/>
              <a:ext cx="73152" cy="73152"/>
            </a:xfrm>
            <a:prstGeom prst="rect">
              <a:avLst/>
            </a:prstGeom>
            <a:solidFill>
              <a:srgbClr val="C0392B"/>
            </a:solidFill>
            <a:ln/>
          </p:spPr>
          <p:txBody>
            <a:bodyPr/>
            <a:lstStyle/>
            <a:p>
              <a:endParaRPr lang="es-PE"/>
            </a:p>
          </p:txBody>
        </p:sp>
        <p:sp>
          <p:nvSpPr>
            <p:cNvPr id="1355" name="Text 284">
              <a:extLst>
                <a:ext uri="{FF2B5EF4-FFF2-40B4-BE49-F238E27FC236}">
                  <a16:creationId xmlns:a16="http://schemas.microsoft.com/office/drawing/2014/main" id="{99E324D2-62DF-8BF1-6DC9-EC85FFFD01AD}"/>
                </a:ext>
              </a:extLst>
            </p:cNvPr>
            <p:cNvSpPr txBox="1"/>
            <p:nvPr/>
          </p:nvSpPr>
          <p:spPr>
            <a:xfrm>
              <a:off x="398907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sp>
          <p:nvSpPr>
            <p:cNvPr id="1356" name="Shape 285">
              <a:extLst>
                <a:ext uri="{FF2B5EF4-FFF2-40B4-BE49-F238E27FC236}">
                  <a16:creationId xmlns:a16="http://schemas.microsoft.com/office/drawing/2014/main" id="{35759B0B-FA59-132A-13E4-EE174EFA2AAC}"/>
                </a:ext>
              </a:extLst>
            </p:cNvPr>
            <p:cNvSpPr/>
            <p:nvPr/>
          </p:nvSpPr>
          <p:spPr>
            <a:xfrm>
              <a:off x="4946904" y="4992624"/>
              <a:ext cx="378178" cy="137160"/>
            </a:xfrm>
            <a:prstGeom prst="rect">
              <a:avLst/>
            </a:prstGeom>
            <a:solidFill>
              <a:srgbClr val="1D9E75"/>
            </a:solidFill>
            <a:ln/>
          </p:spPr>
          <p:txBody>
            <a:bodyPr/>
            <a:lstStyle/>
            <a:p>
              <a:endParaRPr lang="es-PE"/>
            </a:p>
          </p:txBody>
        </p:sp>
        <p:sp>
          <p:nvSpPr>
            <p:cNvPr id="1357" name="Text 286">
              <a:extLst>
                <a:ext uri="{FF2B5EF4-FFF2-40B4-BE49-F238E27FC236}">
                  <a16:creationId xmlns:a16="http://schemas.microsoft.com/office/drawing/2014/main" id="{FE858025-0B5A-8724-57E1-541AEA5BA55A}"/>
                </a:ext>
              </a:extLst>
            </p:cNvPr>
            <p:cNvSpPr txBox="1"/>
            <p:nvPr/>
          </p:nvSpPr>
          <p:spPr>
            <a:xfrm>
              <a:off x="4946904" y="4992624"/>
              <a:ext cx="378178"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12%</a:t>
              </a:r>
              <a:endParaRPr lang="en-US" sz="800"/>
            </a:p>
          </p:txBody>
        </p:sp>
        <p:sp>
          <p:nvSpPr>
            <p:cNvPr id="1358" name="Shape 287">
              <a:extLst>
                <a:ext uri="{FF2B5EF4-FFF2-40B4-BE49-F238E27FC236}">
                  <a16:creationId xmlns:a16="http://schemas.microsoft.com/office/drawing/2014/main" id="{4F7BC769-4AEE-2941-DB5A-DA62D40B80E3}"/>
                </a:ext>
              </a:extLst>
            </p:cNvPr>
            <p:cNvSpPr/>
            <p:nvPr/>
          </p:nvSpPr>
          <p:spPr>
            <a:xfrm>
              <a:off x="5325082" y="4992624"/>
              <a:ext cx="1323621" cy="137160"/>
            </a:xfrm>
            <a:prstGeom prst="rect">
              <a:avLst/>
            </a:prstGeom>
            <a:solidFill>
              <a:srgbClr val="D9861F"/>
            </a:solidFill>
            <a:ln/>
          </p:spPr>
          <p:txBody>
            <a:bodyPr/>
            <a:lstStyle/>
            <a:p>
              <a:endParaRPr lang="es-PE"/>
            </a:p>
          </p:txBody>
        </p:sp>
        <p:sp>
          <p:nvSpPr>
            <p:cNvPr id="1359" name="Text 288">
              <a:extLst>
                <a:ext uri="{FF2B5EF4-FFF2-40B4-BE49-F238E27FC236}">
                  <a16:creationId xmlns:a16="http://schemas.microsoft.com/office/drawing/2014/main" id="{A2EA3F06-2927-0717-AA19-38512F055E0B}"/>
                </a:ext>
              </a:extLst>
            </p:cNvPr>
            <p:cNvSpPr txBox="1"/>
            <p:nvPr/>
          </p:nvSpPr>
          <p:spPr>
            <a:xfrm>
              <a:off x="5325082" y="4992624"/>
              <a:ext cx="1323621"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43%</a:t>
              </a:r>
              <a:endParaRPr lang="en-US" sz="800"/>
            </a:p>
          </p:txBody>
        </p:sp>
        <p:sp>
          <p:nvSpPr>
            <p:cNvPr id="1360" name="Shape 289">
              <a:extLst>
                <a:ext uri="{FF2B5EF4-FFF2-40B4-BE49-F238E27FC236}">
                  <a16:creationId xmlns:a16="http://schemas.microsoft.com/office/drawing/2014/main" id="{21129AFF-22CD-1EC8-3DEC-3D68A088F5EE}"/>
                </a:ext>
              </a:extLst>
            </p:cNvPr>
            <p:cNvSpPr/>
            <p:nvPr/>
          </p:nvSpPr>
          <p:spPr>
            <a:xfrm>
              <a:off x="6648703" y="4992624"/>
              <a:ext cx="1398017" cy="137160"/>
            </a:xfrm>
            <a:prstGeom prst="rect">
              <a:avLst/>
            </a:prstGeom>
            <a:solidFill>
              <a:srgbClr val="C0392B"/>
            </a:solidFill>
            <a:ln/>
          </p:spPr>
          <p:txBody>
            <a:bodyPr/>
            <a:lstStyle/>
            <a:p>
              <a:endParaRPr lang="es-PE"/>
            </a:p>
          </p:txBody>
        </p:sp>
        <p:sp>
          <p:nvSpPr>
            <p:cNvPr id="1361" name="Text 290">
              <a:extLst>
                <a:ext uri="{FF2B5EF4-FFF2-40B4-BE49-F238E27FC236}">
                  <a16:creationId xmlns:a16="http://schemas.microsoft.com/office/drawing/2014/main" id="{CEC05048-C1FB-38C8-C8B3-DF7E4A53B404}"/>
                </a:ext>
              </a:extLst>
            </p:cNvPr>
            <p:cNvSpPr txBox="1"/>
            <p:nvPr/>
          </p:nvSpPr>
          <p:spPr>
            <a:xfrm>
              <a:off x="6648703" y="4992624"/>
              <a:ext cx="1398017"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45%</a:t>
              </a:r>
              <a:endParaRPr lang="en-US" sz="800"/>
            </a:p>
          </p:txBody>
        </p:sp>
        <p:sp>
          <p:nvSpPr>
            <p:cNvPr id="1362" name="Shape 291">
              <a:extLst>
                <a:ext uri="{FF2B5EF4-FFF2-40B4-BE49-F238E27FC236}">
                  <a16:creationId xmlns:a16="http://schemas.microsoft.com/office/drawing/2014/main" id="{D37E3AA4-B657-7B45-B513-93A85FCAB564}"/>
                </a:ext>
              </a:extLst>
            </p:cNvPr>
            <p:cNvSpPr/>
            <p:nvPr/>
          </p:nvSpPr>
          <p:spPr>
            <a:xfrm>
              <a:off x="4946904" y="5696712"/>
              <a:ext cx="626163" cy="118872"/>
            </a:xfrm>
            <a:prstGeom prst="rect">
              <a:avLst/>
            </a:prstGeom>
            <a:solidFill>
              <a:srgbClr val="1D9E75"/>
            </a:solidFill>
            <a:ln/>
          </p:spPr>
          <p:txBody>
            <a:bodyPr/>
            <a:lstStyle/>
            <a:p>
              <a:endParaRPr lang="es-PE"/>
            </a:p>
          </p:txBody>
        </p:sp>
        <p:sp>
          <p:nvSpPr>
            <p:cNvPr id="1363" name="Text 292">
              <a:extLst>
                <a:ext uri="{FF2B5EF4-FFF2-40B4-BE49-F238E27FC236}">
                  <a16:creationId xmlns:a16="http://schemas.microsoft.com/office/drawing/2014/main" id="{876F9C16-D1CF-BE4D-F8D5-624AE5AD6907}"/>
                </a:ext>
              </a:extLst>
            </p:cNvPr>
            <p:cNvSpPr txBox="1"/>
            <p:nvPr/>
          </p:nvSpPr>
          <p:spPr>
            <a:xfrm>
              <a:off x="4946904" y="5522976"/>
              <a:ext cx="626163"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20%</a:t>
              </a:r>
            </a:p>
            <a:p>
              <a:pPr marL="0" indent="0" algn="ctr">
                <a:lnSpc>
                  <a:spcPct val="100000"/>
                </a:lnSpc>
                <a:buNone/>
              </a:pPr>
              <a:r>
                <a:rPr lang="en-US" sz="500">
                  <a:solidFill>
                    <a:srgbClr val="6B7563"/>
                  </a:solidFill>
                  <a:latin typeface="Calibri" pitchFamily="34" charset="0"/>
                </a:rPr>
                <a:t>(S/ 233k)</a:t>
              </a:r>
              <a:endParaRPr lang="en-US" sz="500"/>
            </a:p>
          </p:txBody>
        </p:sp>
        <p:sp>
          <p:nvSpPr>
            <p:cNvPr id="1364" name="Shape 293">
              <a:extLst>
                <a:ext uri="{FF2B5EF4-FFF2-40B4-BE49-F238E27FC236}">
                  <a16:creationId xmlns:a16="http://schemas.microsoft.com/office/drawing/2014/main" id="{00EE5EC0-74D2-664F-0F5B-90567FEB2D4E}"/>
                </a:ext>
              </a:extLst>
            </p:cNvPr>
            <p:cNvSpPr/>
            <p:nvPr/>
          </p:nvSpPr>
          <p:spPr>
            <a:xfrm>
              <a:off x="4946904" y="5897880"/>
              <a:ext cx="73152" cy="73152"/>
            </a:xfrm>
            <a:prstGeom prst="rect">
              <a:avLst/>
            </a:prstGeom>
            <a:solidFill>
              <a:srgbClr val="1D9E75"/>
            </a:solidFill>
            <a:ln/>
          </p:spPr>
          <p:txBody>
            <a:bodyPr/>
            <a:lstStyle/>
            <a:p>
              <a:endParaRPr lang="es-PE"/>
            </a:p>
          </p:txBody>
        </p:sp>
        <p:sp>
          <p:nvSpPr>
            <p:cNvPr id="1365" name="Text 294">
              <a:extLst>
                <a:ext uri="{FF2B5EF4-FFF2-40B4-BE49-F238E27FC236}">
                  <a16:creationId xmlns:a16="http://schemas.microsoft.com/office/drawing/2014/main" id="{D4AF3D6B-3ACC-F467-2817-4B2169F49921}"/>
                </a:ext>
              </a:extLst>
            </p:cNvPr>
            <p:cNvSpPr txBox="1"/>
            <p:nvPr/>
          </p:nvSpPr>
          <p:spPr>
            <a:xfrm>
              <a:off x="504748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1366" name="Shape 295">
              <a:extLst>
                <a:ext uri="{FF2B5EF4-FFF2-40B4-BE49-F238E27FC236}">
                  <a16:creationId xmlns:a16="http://schemas.microsoft.com/office/drawing/2014/main" id="{A7CE1019-CA61-56F3-7EAB-C0467E774A50}"/>
                </a:ext>
              </a:extLst>
            </p:cNvPr>
            <p:cNvSpPr/>
            <p:nvPr/>
          </p:nvSpPr>
          <p:spPr>
            <a:xfrm>
              <a:off x="5573067" y="5696712"/>
              <a:ext cx="957843" cy="118872"/>
            </a:xfrm>
            <a:prstGeom prst="rect">
              <a:avLst/>
            </a:prstGeom>
            <a:solidFill>
              <a:srgbClr val="D9861F"/>
            </a:solidFill>
            <a:ln/>
          </p:spPr>
          <p:txBody>
            <a:bodyPr/>
            <a:lstStyle/>
            <a:p>
              <a:endParaRPr lang="es-PE"/>
            </a:p>
          </p:txBody>
        </p:sp>
        <p:sp>
          <p:nvSpPr>
            <p:cNvPr id="1367" name="Text 296">
              <a:extLst>
                <a:ext uri="{FF2B5EF4-FFF2-40B4-BE49-F238E27FC236}">
                  <a16:creationId xmlns:a16="http://schemas.microsoft.com/office/drawing/2014/main" id="{44F42252-5A4C-31CA-D3C6-DF3E151D0DE3}"/>
                </a:ext>
              </a:extLst>
            </p:cNvPr>
            <p:cNvSpPr txBox="1"/>
            <p:nvPr/>
          </p:nvSpPr>
          <p:spPr>
            <a:xfrm>
              <a:off x="5573067" y="5522976"/>
              <a:ext cx="957843"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31%</a:t>
              </a:r>
            </a:p>
            <a:p>
              <a:pPr marL="0" indent="0" algn="ctr">
                <a:lnSpc>
                  <a:spcPct val="100000"/>
                </a:lnSpc>
                <a:buNone/>
              </a:pPr>
              <a:r>
                <a:rPr lang="en-US" sz="500">
                  <a:solidFill>
                    <a:srgbClr val="6B7563"/>
                  </a:solidFill>
                  <a:latin typeface="Calibri" pitchFamily="34" charset="0"/>
                </a:rPr>
                <a:t>(S/ 358k)</a:t>
              </a:r>
              <a:endParaRPr lang="en-US" sz="500"/>
            </a:p>
          </p:txBody>
        </p:sp>
        <p:sp>
          <p:nvSpPr>
            <p:cNvPr id="1368" name="Shape 297">
              <a:extLst>
                <a:ext uri="{FF2B5EF4-FFF2-40B4-BE49-F238E27FC236}">
                  <a16:creationId xmlns:a16="http://schemas.microsoft.com/office/drawing/2014/main" id="{DC9DFDF5-7F74-4B79-90FE-AD8017AD3570}"/>
                </a:ext>
              </a:extLst>
            </p:cNvPr>
            <p:cNvSpPr/>
            <p:nvPr/>
          </p:nvSpPr>
          <p:spPr>
            <a:xfrm>
              <a:off x="5721858" y="5897880"/>
              <a:ext cx="73152" cy="73152"/>
            </a:xfrm>
            <a:prstGeom prst="rect">
              <a:avLst/>
            </a:prstGeom>
            <a:solidFill>
              <a:srgbClr val="D9861F"/>
            </a:solidFill>
            <a:ln/>
          </p:spPr>
          <p:txBody>
            <a:bodyPr/>
            <a:lstStyle/>
            <a:p>
              <a:endParaRPr lang="es-PE"/>
            </a:p>
          </p:txBody>
        </p:sp>
        <p:sp>
          <p:nvSpPr>
            <p:cNvPr id="1369" name="Text 298">
              <a:extLst>
                <a:ext uri="{FF2B5EF4-FFF2-40B4-BE49-F238E27FC236}">
                  <a16:creationId xmlns:a16="http://schemas.microsoft.com/office/drawing/2014/main" id="{4DCB428B-D9E5-F084-BBF7-DE4F950E74A0}"/>
                </a:ext>
              </a:extLst>
            </p:cNvPr>
            <p:cNvSpPr txBox="1"/>
            <p:nvPr/>
          </p:nvSpPr>
          <p:spPr>
            <a:xfrm>
              <a:off x="582244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1370" name="Shape 299">
              <a:extLst>
                <a:ext uri="{FF2B5EF4-FFF2-40B4-BE49-F238E27FC236}">
                  <a16:creationId xmlns:a16="http://schemas.microsoft.com/office/drawing/2014/main" id="{CFC0C4F2-DF35-039C-22BB-DCBE0F79B227}"/>
                </a:ext>
              </a:extLst>
            </p:cNvPr>
            <p:cNvSpPr/>
            <p:nvPr/>
          </p:nvSpPr>
          <p:spPr>
            <a:xfrm>
              <a:off x="6530910" y="5696712"/>
              <a:ext cx="421575" cy="118872"/>
            </a:xfrm>
            <a:prstGeom prst="rect">
              <a:avLst/>
            </a:prstGeom>
            <a:solidFill>
              <a:srgbClr val="8A4B0A"/>
            </a:solidFill>
            <a:ln/>
          </p:spPr>
          <p:txBody>
            <a:bodyPr/>
            <a:lstStyle/>
            <a:p>
              <a:endParaRPr lang="es-PE"/>
            </a:p>
          </p:txBody>
        </p:sp>
        <p:sp>
          <p:nvSpPr>
            <p:cNvPr id="1371" name="Text 300">
              <a:extLst>
                <a:ext uri="{FF2B5EF4-FFF2-40B4-BE49-F238E27FC236}">
                  <a16:creationId xmlns:a16="http://schemas.microsoft.com/office/drawing/2014/main" id="{B05B5BB8-2229-ABBD-E52B-5ECB5B5B971C}"/>
                </a:ext>
              </a:extLst>
            </p:cNvPr>
            <p:cNvSpPr txBox="1"/>
            <p:nvPr/>
          </p:nvSpPr>
          <p:spPr>
            <a:xfrm>
              <a:off x="6530910" y="5522976"/>
              <a:ext cx="421575"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14%</a:t>
              </a:r>
            </a:p>
            <a:p>
              <a:pPr marL="0" indent="0" algn="ctr">
                <a:lnSpc>
                  <a:spcPct val="100000"/>
                </a:lnSpc>
                <a:buNone/>
              </a:pPr>
              <a:r>
                <a:rPr lang="en-US" sz="500">
                  <a:solidFill>
                    <a:srgbClr val="6B7563"/>
                  </a:solidFill>
                  <a:latin typeface="Calibri" pitchFamily="34" charset="0"/>
                </a:rPr>
                <a:t>(S/ 157k)</a:t>
              </a:r>
              <a:endParaRPr lang="en-US" sz="500"/>
            </a:p>
          </p:txBody>
        </p:sp>
        <p:sp>
          <p:nvSpPr>
            <p:cNvPr id="1372" name="Shape 301">
              <a:extLst>
                <a:ext uri="{FF2B5EF4-FFF2-40B4-BE49-F238E27FC236}">
                  <a16:creationId xmlns:a16="http://schemas.microsoft.com/office/drawing/2014/main" id="{65023615-38D0-0304-68A5-4C6472286864}"/>
                </a:ext>
              </a:extLst>
            </p:cNvPr>
            <p:cNvSpPr/>
            <p:nvPr/>
          </p:nvSpPr>
          <p:spPr>
            <a:xfrm>
              <a:off x="6496812" y="5897880"/>
              <a:ext cx="73152" cy="73152"/>
            </a:xfrm>
            <a:prstGeom prst="rect">
              <a:avLst/>
            </a:prstGeom>
            <a:solidFill>
              <a:srgbClr val="8A4B0A"/>
            </a:solidFill>
            <a:ln/>
          </p:spPr>
          <p:txBody>
            <a:bodyPr/>
            <a:lstStyle/>
            <a:p>
              <a:endParaRPr lang="es-PE"/>
            </a:p>
          </p:txBody>
        </p:sp>
        <p:sp>
          <p:nvSpPr>
            <p:cNvPr id="1373" name="Text 302">
              <a:extLst>
                <a:ext uri="{FF2B5EF4-FFF2-40B4-BE49-F238E27FC236}">
                  <a16:creationId xmlns:a16="http://schemas.microsoft.com/office/drawing/2014/main" id="{FF085686-9719-3E17-AE12-E2BE769EC859}"/>
                </a:ext>
              </a:extLst>
            </p:cNvPr>
            <p:cNvSpPr txBox="1"/>
            <p:nvPr/>
          </p:nvSpPr>
          <p:spPr>
            <a:xfrm>
              <a:off x="659739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1374" name="Shape 303">
              <a:extLst>
                <a:ext uri="{FF2B5EF4-FFF2-40B4-BE49-F238E27FC236}">
                  <a16:creationId xmlns:a16="http://schemas.microsoft.com/office/drawing/2014/main" id="{E40B1A2B-AFF3-86BC-F6C9-06F5E9CFCEDF}"/>
                </a:ext>
              </a:extLst>
            </p:cNvPr>
            <p:cNvSpPr/>
            <p:nvPr/>
          </p:nvSpPr>
          <p:spPr>
            <a:xfrm>
              <a:off x="6952485" y="5696712"/>
              <a:ext cx="1094235" cy="118872"/>
            </a:xfrm>
            <a:prstGeom prst="rect">
              <a:avLst/>
            </a:prstGeom>
            <a:solidFill>
              <a:srgbClr val="C0392B"/>
            </a:solidFill>
            <a:ln/>
          </p:spPr>
          <p:txBody>
            <a:bodyPr/>
            <a:lstStyle/>
            <a:p>
              <a:endParaRPr lang="es-PE"/>
            </a:p>
          </p:txBody>
        </p:sp>
        <p:sp>
          <p:nvSpPr>
            <p:cNvPr id="1375" name="Text 304">
              <a:extLst>
                <a:ext uri="{FF2B5EF4-FFF2-40B4-BE49-F238E27FC236}">
                  <a16:creationId xmlns:a16="http://schemas.microsoft.com/office/drawing/2014/main" id="{F52D5F27-365B-6134-549B-86C360172EFE}"/>
                </a:ext>
              </a:extLst>
            </p:cNvPr>
            <p:cNvSpPr txBox="1"/>
            <p:nvPr/>
          </p:nvSpPr>
          <p:spPr>
            <a:xfrm>
              <a:off x="6952485" y="5522976"/>
              <a:ext cx="1094235"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35%</a:t>
              </a:r>
            </a:p>
            <a:p>
              <a:pPr marL="0" indent="0" algn="ctr">
                <a:lnSpc>
                  <a:spcPct val="100000"/>
                </a:lnSpc>
                <a:buNone/>
              </a:pPr>
              <a:r>
                <a:rPr lang="en-US" sz="500">
                  <a:solidFill>
                    <a:srgbClr val="6B7563"/>
                  </a:solidFill>
                  <a:latin typeface="Calibri" pitchFamily="34" charset="0"/>
                </a:rPr>
                <a:t>(S/ 408k)</a:t>
              </a:r>
              <a:endParaRPr lang="en-US" sz="500"/>
            </a:p>
          </p:txBody>
        </p:sp>
        <p:sp>
          <p:nvSpPr>
            <p:cNvPr id="1376" name="Shape 305">
              <a:extLst>
                <a:ext uri="{FF2B5EF4-FFF2-40B4-BE49-F238E27FC236}">
                  <a16:creationId xmlns:a16="http://schemas.microsoft.com/office/drawing/2014/main" id="{FA777E97-3B8D-4FE3-5CA7-44B2D916763F}"/>
                </a:ext>
              </a:extLst>
            </p:cNvPr>
            <p:cNvSpPr/>
            <p:nvPr/>
          </p:nvSpPr>
          <p:spPr>
            <a:xfrm>
              <a:off x="7271766" y="5897880"/>
              <a:ext cx="73152" cy="73152"/>
            </a:xfrm>
            <a:prstGeom prst="rect">
              <a:avLst/>
            </a:prstGeom>
            <a:solidFill>
              <a:srgbClr val="C0392B"/>
            </a:solidFill>
            <a:ln/>
          </p:spPr>
          <p:txBody>
            <a:bodyPr/>
            <a:lstStyle/>
            <a:p>
              <a:endParaRPr lang="es-PE"/>
            </a:p>
          </p:txBody>
        </p:sp>
        <p:sp>
          <p:nvSpPr>
            <p:cNvPr id="1377" name="Text 306">
              <a:extLst>
                <a:ext uri="{FF2B5EF4-FFF2-40B4-BE49-F238E27FC236}">
                  <a16:creationId xmlns:a16="http://schemas.microsoft.com/office/drawing/2014/main" id="{7E8B8CDC-099E-B7FF-AA30-DD3C7A4EF669}"/>
                </a:ext>
              </a:extLst>
            </p:cNvPr>
            <p:cNvSpPr txBox="1"/>
            <p:nvPr/>
          </p:nvSpPr>
          <p:spPr>
            <a:xfrm>
              <a:off x="737235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sp>
          <p:nvSpPr>
            <p:cNvPr id="1378" name="Shape 307">
              <a:extLst>
                <a:ext uri="{FF2B5EF4-FFF2-40B4-BE49-F238E27FC236}">
                  <a16:creationId xmlns:a16="http://schemas.microsoft.com/office/drawing/2014/main" id="{291FE0F6-0C23-F232-6EC2-F07DBC26C1D0}"/>
                </a:ext>
              </a:extLst>
            </p:cNvPr>
            <p:cNvSpPr/>
            <p:nvPr/>
          </p:nvSpPr>
          <p:spPr>
            <a:xfrm>
              <a:off x="8330184" y="4992624"/>
              <a:ext cx="852449" cy="137160"/>
            </a:xfrm>
            <a:prstGeom prst="rect">
              <a:avLst/>
            </a:prstGeom>
            <a:solidFill>
              <a:srgbClr val="1D9E75"/>
            </a:solidFill>
            <a:ln/>
          </p:spPr>
          <p:txBody>
            <a:bodyPr/>
            <a:lstStyle/>
            <a:p>
              <a:endParaRPr lang="es-PE"/>
            </a:p>
          </p:txBody>
        </p:sp>
        <p:sp>
          <p:nvSpPr>
            <p:cNvPr id="1379" name="Text 308">
              <a:extLst>
                <a:ext uri="{FF2B5EF4-FFF2-40B4-BE49-F238E27FC236}">
                  <a16:creationId xmlns:a16="http://schemas.microsoft.com/office/drawing/2014/main" id="{D84B058B-EB02-7AE0-F076-3AA94D635DFB}"/>
                </a:ext>
              </a:extLst>
            </p:cNvPr>
            <p:cNvSpPr txBox="1"/>
            <p:nvPr/>
          </p:nvSpPr>
          <p:spPr>
            <a:xfrm>
              <a:off x="8330184" y="4992624"/>
              <a:ext cx="852449"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28%</a:t>
              </a:r>
              <a:endParaRPr lang="en-US" sz="800"/>
            </a:p>
          </p:txBody>
        </p:sp>
        <p:sp>
          <p:nvSpPr>
            <p:cNvPr id="1380" name="Shape 309">
              <a:extLst>
                <a:ext uri="{FF2B5EF4-FFF2-40B4-BE49-F238E27FC236}">
                  <a16:creationId xmlns:a16="http://schemas.microsoft.com/office/drawing/2014/main" id="{F72FFEA5-F85F-00A7-9AD9-9F08973A6767}"/>
                </a:ext>
              </a:extLst>
            </p:cNvPr>
            <p:cNvSpPr/>
            <p:nvPr/>
          </p:nvSpPr>
          <p:spPr>
            <a:xfrm>
              <a:off x="9182633" y="4992624"/>
              <a:ext cx="2079977" cy="137160"/>
            </a:xfrm>
            <a:prstGeom prst="rect">
              <a:avLst/>
            </a:prstGeom>
            <a:solidFill>
              <a:srgbClr val="D9861F"/>
            </a:solidFill>
            <a:ln/>
          </p:spPr>
          <p:txBody>
            <a:bodyPr/>
            <a:lstStyle/>
            <a:p>
              <a:endParaRPr lang="es-PE"/>
            </a:p>
          </p:txBody>
        </p:sp>
        <p:sp>
          <p:nvSpPr>
            <p:cNvPr id="1381" name="Text 310">
              <a:extLst>
                <a:ext uri="{FF2B5EF4-FFF2-40B4-BE49-F238E27FC236}">
                  <a16:creationId xmlns:a16="http://schemas.microsoft.com/office/drawing/2014/main" id="{C915A9F9-0E3B-1985-F528-3B88999F40D5}"/>
                </a:ext>
              </a:extLst>
            </p:cNvPr>
            <p:cNvSpPr txBox="1"/>
            <p:nvPr/>
          </p:nvSpPr>
          <p:spPr>
            <a:xfrm>
              <a:off x="9182633" y="4992624"/>
              <a:ext cx="2079977" cy="13716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67%</a:t>
              </a:r>
              <a:endParaRPr lang="en-US" sz="800"/>
            </a:p>
          </p:txBody>
        </p:sp>
        <p:sp>
          <p:nvSpPr>
            <p:cNvPr id="1382" name="Shape 311">
              <a:extLst>
                <a:ext uri="{FF2B5EF4-FFF2-40B4-BE49-F238E27FC236}">
                  <a16:creationId xmlns:a16="http://schemas.microsoft.com/office/drawing/2014/main" id="{AD8A9132-C91F-B41B-5D6C-24C1FBCFBC3F}"/>
                </a:ext>
              </a:extLst>
            </p:cNvPr>
            <p:cNvSpPr/>
            <p:nvPr/>
          </p:nvSpPr>
          <p:spPr>
            <a:xfrm>
              <a:off x="11262610" y="4992624"/>
              <a:ext cx="164290" cy="137160"/>
            </a:xfrm>
            <a:prstGeom prst="rect">
              <a:avLst/>
            </a:prstGeom>
            <a:solidFill>
              <a:srgbClr val="C0392B"/>
            </a:solidFill>
            <a:ln/>
          </p:spPr>
          <p:txBody>
            <a:bodyPr/>
            <a:lstStyle/>
            <a:p>
              <a:endParaRPr lang="es-PE"/>
            </a:p>
          </p:txBody>
        </p:sp>
        <p:sp>
          <p:nvSpPr>
            <p:cNvPr id="1383" name="Shape 312">
              <a:extLst>
                <a:ext uri="{FF2B5EF4-FFF2-40B4-BE49-F238E27FC236}">
                  <a16:creationId xmlns:a16="http://schemas.microsoft.com/office/drawing/2014/main" id="{10E69B5C-2E5C-07E6-D91F-05087758D74E}"/>
                </a:ext>
              </a:extLst>
            </p:cNvPr>
            <p:cNvSpPr/>
            <p:nvPr/>
          </p:nvSpPr>
          <p:spPr>
            <a:xfrm>
              <a:off x="8330184" y="5696712"/>
              <a:ext cx="694359" cy="118872"/>
            </a:xfrm>
            <a:prstGeom prst="rect">
              <a:avLst/>
            </a:prstGeom>
            <a:solidFill>
              <a:srgbClr val="1D9E75"/>
            </a:solidFill>
            <a:ln/>
          </p:spPr>
          <p:txBody>
            <a:bodyPr/>
            <a:lstStyle/>
            <a:p>
              <a:endParaRPr lang="es-PE"/>
            </a:p>
          </p:txBody>
        </p:sp>
        <p:sp>
          <p:nvSpPr>
            <p:cNvPr id="1384" name="Text 313">
              <a:extLst>
                <a:ext uri="{FF2B5EF4-FFF2-40B4-BE49-F238E27FC236}">
                  <a16:creationId xmlns:a16="http://schemas.microsoft.com/office/drawing/2014/main" id="{F083CE87-6A3F-2DAB-31B6-964DD3E7A0D2}"/>
                </a:ext>
              </a:extLst>
            </p:cNvPr>
            <p:cNvSpPr txBox="1"/>
            <p:nvPr/>
          </p:nvSpPr>
          <p:spPr>
            <a:xfrm>
              <a:off x="8330184" y="5522976"/>
              <a:ext cx="694359"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22%</a:t>
              </a:r>
            </a:p>
            <a:p>
              <a:pPr marL="0" indent="0" algn="ctr">
                <a:lnSpc>
                  <a:spcPct val="100000"/>
                </a:lnSpc>
                <a:buNone/>
              </a:pPr>
              <a:r>
                <a:rPr lang="en-US" sz="500">
                  <a:solidFill>
                    <a:srgbClr val="6B7563"/>
                  </a:solidFill>
                  <a:latin typeface="Calibri" pitchFamily="34" charset="0"/>
                </a:rPr>
                <a:t>(S/ 398k)</a:t>
              </a:r>
              <a:endParaRPr lang="en-US" sz="500"/>
            </a:p>
          </p:txBody>
        </p:sp>
        <p:sp>
          <p:nvSpPr>
            <p:cNvPr id="1385" name="Shape 314">
              <a:extLst>
                <a:ext uri="{FF2B5EF4-FFF2-40B4-BE49-F238E27FC236}">
                  <a16:creationId xmlns:a16="http://schemas.microsoft.com/office/drawing/2014/main" id="{5D7CB356-45F4-585C-423D-2DD76EC833DF}"/>
                </a:ext>
              </a:extLst>
            </p:cNvPr>
            <p:cNvSpPr/>
            <p:nvPr/>
          </p:nvSpPr>
          <p:spPr>
            <a:xfrm>
              <a:off x="8330184" y="5897880"/>
              <a:ext cx="73152" cy="73152"/>
            </a:xfrm>
            <a:prstGeom prst="rect">
              <a:avLst/>
            </a:prstGeom>
            <a:solidFill>
              <a:srgbClr val="1D9E75"/>
            </a:solidFill>
            <a:ln/>
          </p:spPr>
          <p:txBody>
            <a:bodyPr/>
            <a:lstStyle/>
            <a:p>
              <a:endParaRPr lang="es-PE"/>
            </a:p>
          </p:txBody>
        </p:sp>
        <p:sp>
          <p:nvSpPr>
            <p:cNvPr id="1386" name="Text 315">
              <a:extLst>
                <a:ext uri="{FF2B5EF4-FFF2-40B4-BE49-F238E27FC236}">
                  <a16:creationId xmlns:a16="http://schemas.microsoft.com/office/drawing/2014/main" id="{F1807CEC-6050-B0DC-7ADD-F4B37BAC531F}"/>
                </a:ext>
              </a:extLst>
            </p:cNvPr>
            <p:cNvSpPr txBox="1"/>
            <p:nvPr/>
          </p:nvSpPr>
          <p:spPr>
            <a:xfrm>
              <a:off x="8430768"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Sin desc.</a:t>
              </a:r>
              <a:endParaRPr lang="en-US" sz="600"/>
            </a:p>
          </p:txBody>
        </p:sp>
        <p:sp>
          <p:nvSpPr>
            <p:cNvPr id="1387" name="Shape 316">
              <a:extLst>
                <a:ext uri="{FF2B5EF4-FFF2-40B4-BE49-F238E27FC236}">
                  <a16:creationId xmlns:a16="http://schemas.microsoft.com/office/drawing/2014/main" id="{BFDC3CFE-4BFB-A103-DCD5-5874B699B77E}"/>
                </a:ext>
              </a:extLst>
            </p:cNvPr>
            <p:cNvSpPr/>
            <p:nvPr/>
          </p:nvSpPr>
          <p:spPr>
            <a:xfrm>
              <a:off x="9024543" y="5696712"/>
              <a:ext cx="251085" cy="118872"/>
            </a:xfrm>
            <a:prstGeom prst="rect">
              <a:avLst/>
            </a:prstGeom>
            <a:solidFill>
              <a:srgbClr val="D9861F"/>
            </a:solidFill>
            <a:ln/>
          </p:spPr>
          <p:txBody>
            <a:bodyPr/>
            <a:lstStyle/>
            <a:p>
              <a:endParaRPr lang="es-PE"/>
            </a:p>
          </p:txBody>
        </p:sp>
        <p:sp>
          <p:nvSpPr>
            <p:cNvPr id="1388" name="Text 317">
              <a:extLst>
                <a:ext uri="{FF2B5EF4-FFF2-40B4-BE49-F238E27FC236}">
                  <a16:creationId xmlns:a16="http://schemas.microsoft.com/office/drawing/2014/main" id="{E52BDE85-EA46-384D-0DF4-970B72A306AB}"/>
                </a:ext>
              </a:extLst>
            </p:cNvPr>
            <p:cNvSpPr txBox="1"/>
            <p:nvPr/>
          </p:nvSpPr>
          <p:spPr>
            <a:xfrm>
              <a:off x="9024543" y="5522976"/>
              <a:ext cx="251085"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8%</a:t>
              </a:r>
            </a:p>
            <a:p>
              <a:pPr marL="0" indent="0" algn="ctr">
                <a:lnSpc>
                  <a:spcPct val="100000"/>
                </a:lnSpc>
                <a:buNone/>
              </a:pPr>
              <a:r>
                <a:rPr lang="en-US" sz="500">
                  <a:solidFill>
                    <a:srgbClr val="6B7563"/>
                  </a:solidFill>
                  <a:latin typeface="Calibri" pitchFamily="34" charset="0"/>
                </a:rPr>
                <a:t>(S/ 144k)</a:t>
              </a:r>
              <a:endParaRPr lang="en-US" sz="500"/>
            </a:p>
          </p:txBody>
        </p:sp>
        <p:sp>
          <p:nvSpPr>
            <p:cNvPr id="1389" name="Shape 318">
              <a:extLst>
                <a:ext uri="{FF2B5EF4-FFF2-40B4-BE49-F238E27FC236}">
                  <a16:creationId xmlns:a16="http://schemas.microsoft.com/office/drawing/2014/main" id="{CDA86247-09CE-F041-7E10-CFBA3AD8B569}"/>
                </a:ext>
              </a:extLst>
            </p:cNvPr>
            <p:cNvSpPr/>
            <p:nvPr/>
          </p:nvSpPr>
          <p:spPr>
            <a:xfrm>
              <a:off x="9105138" y="5897880"/>
              <a:ext cx="73152" cy="73152"/>
            </a:xfrm>
            <a:prstGeom prst="rect">
              <a:avLst/>
            </a:prstGeom>
            <a:solidFill>
              <a:srgbClr val="D9861F"/>
            </a:solidFill>
            <a:ln/>
          </p:spPr>
          <p:txBody>
            <a:bodyPr/>
            <a:lstStyle/>
            <a:p>
              <a:endParaRPr lang="es-PE"/>
            </a:p>
          </p:txBody>
        </p:sp>
        <p:sp>
          <p:nvSpPr>
            <p:cNvPr id="1390" name="Text 319">
              <a:extLst>
                <a:ext uri="{FF2B5EF4-FFF2-40B4-BE49-F238E27FC236}">
                  <a16:creationId xmlns:a16="http://schemas.microsoft.com/office/drawing/2014/main" id="{0EEEA618-6FDD-ABC3-B2CB-A1C5C0B0A876}"/>
                </a:ext>
              </a:extLst>
            </p:cNvPr>
            <p:cNvSpPr txBox="1"/>
            <p:nvPr/>
          </p:nvSpPr>
          <p:spPr>
            <a:xfrm>
              <a:off x="9205722"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(0-200]</a:t>
              </a:r>
              <a:endParaRPr lang="en-US" sz="600"/>
            </a:p>
          </p:txBody>
        </p:sp>
        <p:sp>
          <p:nvSpPr>
            <p:cNvPr id="1391" name="Shape 320">
              <a:extLst>
                <a:ext uri="{FF2B5EF4-FFF2-40B4-BE49-F238E27FC236}">
                  <a16:creationId xmlns:a16="http://schemas.microsoft.com/office/drawing/2014/main" id="{6D0BC938-1C2F-132E-6D9D-4E3B91FB649B}"/>
                </a:ext>
              </a:extLst>
            </p:cNvPr>
            <p:cNvSpPr/>
            <p:nvPr/>
          </p:nvSpPr>
          <p:spPr>
            <a:xfrm>
              <a:off x="9275628" y="5696712"/>
              <a:ext cx="650961" cy="118872"/>
            </a:xfrm>
            <a:prstGeom prst="rect">
              <a:avLst/>
            </a:prstGeom>
            <a:solidFill>
              <a:srgbClr val="8A4B0A"/>
            </a:solidFill>
            <a:ln/>
          </p:spPr>
          <p:txBody>
            <a:bodyPr/>
            <a:lstStyle/>
            <a:p>
              <a:endParaRPr lang="es-PE"/>
            </a:p>
          </p:txBody>
        </p:sp>
        <p:sp>
          <p:nvSpPr>
            <p:cNvPr id="1392" name="Text 321">
              <a:extLst>
                <a:ext uri="{FF2B5EF4-FFF2-40B4-BE49-F238E27FC236}">
                  <a16:creationId xmlns:a16="http://schemas.microsoft.com/office/drawing/2014/main" id="{ABA9112B-B5B4-EB37-06E9-21DBACF300D5}"/>
                </a:ext>
              </a:extLst>
            </p:cNvPr>
            <p:cNvSpPr txBox="1"/>
            <p:nvPr/>
          </p:nvSpPr>
          <p:spPr>
            <a:xfrm>
              <a:off x="9275628" y="5522976"/>
              <a:ext cx="65096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21%</a:t>
              </a:r>
            </a:p>
            <a:p>
              <a:pPr marL="0" indent="0" algn="ctr">
                <a:lnSpc>
                  <a:spcPct val="100000"/>
                </a:lnSpc>
                <a:buNone/>
              </a:pPr>
              <a:r>
                <a:rPr lang="en-US" sz="500">
                  <a:solidFill>
                    <a:srgbClr val="6B7563"/>
                  </a:solidFill>
                  <a:latin typeface="Calibri" pitchFamily="34" charset="0"/>
                </a:rPr>
                <a:t>(S/ 372k)</a:t>
              </a:r>
              <a:endParaRPr lang="en-US" sz="500"/>
            </a:p>
          </p:txBody>
        </p:sp>
        <p:sp>
          <p:nvSpPr>
            <p:cNvPr id="1393" name="Shape 322">
              <a:extLst>
                <a:ext uri="{FF2B5EF4-FFF2-40B4-BE49-F238E27FC236}">
                  <a16:creationId xmlns:a16="http://schemas.microsoft.com/office/drawing/2014/main" id="{25F73BFB-9600-7224-3AB8-ED4293CF6536}"/>
                </a:ext>
              </a:extLst>
            </p:cNvPr>
            <p:cNvSpPr/>
            <p:nvPr/>
          </p:nvSpPr>
          <p:spPr>
            <a:xfrm>
              <a:off x="9880092" y="5897880"/>
              <a:ext cx="73152" cy="73152"/>
            </a:xfrm>
            <a:prstGeom prst="rect">
              <a:avLst/>
            </a:prstGeom>
            <a:solidFill>
              <a:srgbClr val="8A4B0A"/>
            </a:solidFill>
            <a:ln/>
          </p:spPr>
          <p:txBody>
            <a:bodyPr/>
            <a:lstStyle/>
            <a:p>
              <a:endParaRPr lang="es-PE"/>
            </a:p>
          </p:txBody>
        </p:sp>
        <p:sp>
          <p:nvSpPr>
            <p:cNvPr id="1394" name="Text 323">
              <a:extLst>
                <a:ext uri="{FF2B5EF4-FFF2-40B4-BE49-F238E27FC236}">
                  <a16:creationId xmlns:a16="http://schemas.microsoft.com/office/drawing/2014/main" id="{A636B2F2-49DE-469F-C564-6C399D052DF9}"/>
                </a:ext>
              </a:extLst>
            </p:cNvPr>
            <p:cNvSpPr txBox="1"/>
            <p:nvPr/>
          </p:nvSpPr>
          <p:spPr>
            <a:xfrm>
              <a:off x="9980676"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(200-400]</a:t>
              </a:r>
              <a:endParaRPr lang="en-US" sz="600"/>
            </a:p>
          </p:txBody>
        </p:sp>
        <p:sp>
          <p:nvSpPr>
            <p:cNvPr id="1395" name="Shape 324">
              <a:extLst>
                <a:ext uri="{FF2B5EF4-FFF2-40B4-BE49-F238E27FC236}">
                  <a16:creationId xmlns:a16="http://schemas.microsoft.com/office/drawing/2014/main" id="{331A187C-F474-0B72-4F66-AFFCE2F5E914}"/>
                </a:ext>
              </a:extLst>
            </p:cNvPr>
            <p:cNvSpPr/>
            <p:nvPr/>
          </p:nvSpPr>
          <p:spPr>
            <a:xfrm>
              <a:off x="9926589" y="5696712"/>
              <a:ext cx="1503411" cy="118872"/>
            </a:xfrm>
            <a:prstGeom prst="rect">
              <a:avLst/>
            </a:prstGeom>
            <a:solidFill>
              <a:srgbClr val="C0392B"/>
            </a:solidFill>
            <a:ln/>
          </p:spPr>
          <p:txBody>
            <a:bodyPr/>
            <a:lstStyle/>
            <a:p>
              <a:endParaRPr lang="es-PE"/>
            </a:p>
          </p:txBody>
        </p:sp>
        <p:sp>
          <p:nvSpPr>
            <p:cNvPr id="1396" name="Text 325">
              <a:extLst>
                <a:ext uri="{FF2B5EF4-FFF2-40B4-BE49-F238E27FC236}">
                  <a16:creationId xmlns:a16="http://schemas.microsoft.com/office/drawing/2014/main" id="{0DE9FA7C-4037-F638-5B33-0987F187AB01}"/>
                </a:ext>
              </a:extLst>
            </p:cNvPr>
            <p:cNvSpPr txBox="1"/>
            <p:nvPr/>
          </p:nvSpPr>
          <p:spPr>
            <a:xfrm>
              <a:off x="9926589" y="5522976"/>
              <a:ext cx="1503411" cy="173736"/>
            </a:xfrm>
            <a:prstGeom prst="rect">
              <a:avLst/>
            </a:prstGeom>
            <a:noFill/>
            <a:ln/>
          </p:spPr>
          <p:txBody>
            <a:bodyPr wrap="square" lIns="0" tIns="0" rIns="0" bIns="0" rtlCol="0" anchor="ctr"/>
            <a:lstStyle/>
            <a:p>
              <a:pPr marL="0" indent="0" algn="ctr">
                <a:lnSpc>
                  <a:spcPct val="100000"/>
                </a:lnSpc>
                <a:buNone/>
              </a:pPr>
              <a:r>
                <a:rPr lang="en-US" sz="600" b="1">
                  <a:solidFill>
                    <a:srgbClr val="6B7563"/>
                  </a:solidFill>
                  <a:latin typeface="Calibri" pitchFamily="34" charset="0"/>
                </a:rPr>
                <a:t>48%</a:t>
              </a:r>
            </a:p>
            <a:p>
              <a:pPr marL="0" indent="0" algn="ctr">
                <a:lnSpc>
                  <a:spcPct val="100000"/>
                </a:lnSpc>
                <a:buNone/>
              </a:pPr>
              <a:r>
                <a:rPr lang="en-US" sz="500">
                  <a:solidFill>
                    <a:srgbClr val="6B7563"/>
                  </a:solidFill>
                  <a:latin typeface="Calibri" pitchFamily="34" charset="0"/>
                </a:rPr>
                <a:t>(S/ 861k)</a:t>
              </a:r>
              <a:endParaRPr lang="en-US" sz="500"/>
            </a:p>
          </p:txBody>
        </p:sp>
        <p:sp>
          <p:nvSpPr>
            <p:cNvPr id="1397" name="Shape 326">
              <a:extLst>
                <a:ext uri="{FF2B5EF4-FFF2-40B4-BE49-F238E27FC236}">
                  <a16:creationId xmlns:a16="http://schemas.microsoft.com/office/drawing/2014/main" id="{ACE8544D-1589-32F8-7661-4857D846727D}"/>
                </a:ext>
              </a:extLst>
            </p:cNvPr>
            <p:cNvSpPr/>
            <p:nvPr/>
          </p:nvSpPr>
          <p:spPr>
            <a:xfrm>
              <a:off x="10655046" y="5897880"/>
              <a:ext cx="73152" cy="73152"/>
            </a:xfrm>
            <a:prstGeom prst="rect">
              <a:avLst/>
            </a:prstGeom>
            <a:solidFill>
              <a:srgbClr val="C0392B"/>
            </a:solidFill>
            <a:ln/>
          </p:spPr>
          <p:txBody>
            <a:bodyPr/>
            <a:lstStyle/>
            <a:p>
              <a:endParaRPr lang="es-PE"/>
            </a:p>
          </p:txBody>
        </p:sp>
        <p:sp>
          <p:nvSpPr>
            <p:cNvPr id="1398" name="Text 327">
              <a:extLst>
                <a:ext uri="{FF2B5EF4-FFF2-40B4-BE49-F238E27FC236}">
                  <a16:creationId xmlns:a16="http://schemas.microsoft.com/office/drawing/2014/main" id="{5657D66B-69E2-DDC9-75F5-53E322AAAB41}"/>
                </a:ext>
              </a:extLst>
            </p:cNvPr>
            <p:cNvSpPr txBox="1"/>
            <p:nvPr/>
          </p:nvSpPr>
          <p:spPr>
            <a:xfrm>
              <a:off x="10755630" y="5861304"/>
              <a:ext cx="656082" cy="146304"/>
            </a:xfrm>
            <a:prstGeom prst="rect">
              <a:avLst/>
            </a:prstGeom>
            <a:noFill/>
            <a:ln/>
          </p:spPr>
          <p:txBody>
            <a:bodyPr wrap="square" lIns="0" tIns="0" rIns="0" bIns="0" rtlCol="0" anchor="ctr"/>
            <a:lstStyle/>
            <a:p>
              <a:pPr marL="0" indent="0" algn="l">
                <a:buNone/>
              </a:pPr>
              <a:r>
                <a:rPr lang="en-US" sz="600">
                  <a:solidFill>
                    <a:srgbClr val="6B7563"/>
                  </a:solidFill>
                  <a:latin typeface="Calibri" pitchFamily="34" charset="0"/>
                  <a:ea typeface="Calibri" pitchFamily="34" charset="-122"/>
                  <a:cs typeface="Calibri" pitchFamily="34" charset="-120"/>
                </a:rPr>
                <a:t>(400+]</a:t>
              </a:r>
              <a:endParaRPr lang="en-US" sz="600"/>
            </a:p>
          </p:txBody>
        </p:sp>
      </p:grpSp>
    </p:spTree>
    <p:extLst>
      <p:ext uri="{BB962C8B-B14F-4D97-AF65-F5344CB8AC3E}">
        <p14:creationId xmlns:p14="http://schemas.microsoft.com/office/powerpoint/2010/main" val="2847877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BEA1B-5148-5524-6C32-8CCDFAED7D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5722D4-C098-AE8A-BEE1-33022A1B60A1}"/>
              </a:ext>
            </a:extLst>
          </p:cNvPr>
          <p:cNvSpPr txBox="1"/>
          <p:nvPr/>
        </p:nvSpPr>
        <p:spPr>
          <a:xfrm>
            <a:off x="658368" y="329184"/>
            <a:ext cx="11951427" cy="146194"/>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t>
            </a:r>
            <a:r>
              <a:rPr lang="es-ES" sz="950" b="1" i="0">
                <a:solidFill>
                  <a:srgbClr val="13807B"/>
                </a:solidFill>
                <a:latin typeface="Arial"/>
              </a:rPr>
              <a:t>OS CON DEUDA</a:t>
            </a:r>
            <a:r>
              <a:rPr sz="950" b="1" i="0">
                <a:solidFill>
                  <a:srgbClr val="13807B"/>
                </a:solidFill>
                <a:latin typeface="Arial"/>
              </a:rPr>
              <a:t>· </a:t>
            </a:r>
            <a:r>
              <a:rPr lang="es-ES" sz="950" b="1" i="0">
                <a:solidFill>
                  <a:srgbClr val="13807B"/>
                </a:solidFill>
                <a:latin typeface="Arial"/>
              </a:rPr>
              <a:t>COMPORTAMIENTO POR PERFIL</a:t>
            </a:r>
            <a:endParaRPr sz="950" b="1" i="0">
              <a:solidFill>
                <a:srgbClr val="13807B"/>
              </a:solidFill>
              <a:latin typeface="Arial"/>
            </a:endParaRPr>
          </a:p>
        </p:txBody>
      </p:sp>
      <p:sp>
        <p:nvSpPr>
          <p:cNvPr id="3" name="TextBox 2">
            <a:extLst>
              <a:ext uri="{FF2B5EF4-FFF2-40B4-BE49-F238E27FC236}">
                <a16:creationId xmlns:a16="http://schemas.microsoft.com/office/drawing/2014/main" id="{DB53E156-9015-464A-28E2-1C2215436214}"/>
              </a:ext>
            </a:extLst>
          </p:cNvPr>
          <p:cNvSpPr txBox="1"/>
          <p:nvPr/>
        </p:nvSpPr>
        <p:spPr>
          <a:xfrm>
            <a:off x="658368" y="566928"/>
            <a:ext cx="13750564" cy="301621"/>
          </a:xfrm>
          <a:prstGeom prst="rect">
            <a:avLst/>
          </a:prstGeom>
          <a:noFill/>
        </p:spPr>
        <p:txBody>
          <a:bodyPr wrap="square" lIns="0" tIns="0" rIns="0" bIns="0" anchor="t">
            <a:spAutoFit/>
          </a:bodyPr>
          <a:lstStyle/>
          <a:p>
            <a:pPr algn="l">
              <a:lnSpc>
                <a:spcPct val="98000"/>
              </a:lnSpc>
            </a:pPr>
            <a:r>
              <a:rPr lang="es-ES" sz="2000" b="1" i="0">
                <a:solidFill>
                  <a:srgbClr val="0B2E2C"/>
                </a:solidFill>
                <a:latin typeface="Arial"/>
              </a:rPr>
              <a:t>Cómo se comporta cada perfil: embudo comercial, negociación de tasa y ADN de relación</a:t>
            </a:r>
          </a:p>
        </p:txBody>
      </p:sp>
      <p:cxnSp>
        <p:nvCxnSpPr>
          <p:cNvPr id="4" name="Connector 3">
            <a:extLst>
              <a:ext uri="{FF2B5EF4-FFF2-40B4-BE49-F238E27FC236}">
                <a16:creationId xmlns:a16="http://schemas.microsoft.com/office/drawing/2014/main" id="{72E5D965-4F46-22CA-0E67-E6D35F20863E}"/>
              </a:ext>
            </a:extLst>
          </p:cNvPr>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a:extLst>
              <a:ext uri="{FF2B5EF4-FFF2-40B4-BE49-F238E27FC236}">
                <a16:creationId xmlns:a16="http://schemas.microsoft.com/office/drawing/2014/main" id="{FDBA1AB4-D7C4-8D75-27B6-CDDF3F5CD3A1}"/>
              </a:ext>
            </a:extLst>
          </p:cNvPr>
          <p:cNvPicPr>
            <a:picLocks noChangeAspect="1"/>
          </p:cNvPicPr>
          <p:nvPr/>
        </p:nvPicPr>
        <p:blipFill>
          <a:blip r:embed="rId2"/>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5022D57D-8F5E-97D6-4460-DDEA2A7EC1D2}"/>
              </a:ext>
            </a:extLst>
          </p:cNvPr>
          <p:cNvPicPr>
            <a:picLocks noChangeAspect="1"/>
          </p:cNvPicPr>
          <p:nvPr/>
        </p:nvPicPr>
        <p:blipFill>
          <a:blip r:embed="rId3"/>
          <a:stretch>
            <a:fillRect/>
          </a:stretch>
        </p:blipFill>
        <p:spPr>
          <a:xfrm>
            <a:off x="14725019" y="109555"/>
            <a:ext cx="1272511" cy="717296"/>
          </a:xfrm>
          <a:prstGeom prst="rect">
            <a:avLst/>
          </a:prstGeom>
        </p:spPr>
      </p:pic>
      <p:sp>
        <p:nvSpPr>
          <p:cNvPr id="9" name="Shape 2">
            <a:extLst>
              <a:ext uri="{FF2B5EF4-FFF2-40B4-BE49-F238E27FC236}">
                <a16:creationId xmlns:a16="http://schemas.microsoft.com/office/drawing/2014/main" id="{C9513602-9F4E-7902-DE71-6CFF61D18D83}"/>
              </a:ext>
            </a:extLst>
          </p:cNvPr>
          <p:cNvSpPr/>
          <p:nvPr/>
        </p:nvSpPr>
        <p:spPr>
          <a:xfrm>
            <a:off x="3892146" y="1635859"/>
            <a:ext cx="270185" cy="264098"/>
          </a:xfrm>
          <a:prstGeom prst="ellipse">
            <a:avLst/>
          </a:prstGeom>
          <a:solidFill>
            <a:srgbClr val="0C514E"/>
          </a:solidFill>
          <a:ln/>
        </p:spPr>
        <p:txBody>
          <a:bodyPr/>
          <a:lstStyle/>
          <a:p>
            <a:endParaRPr lang="es-PE" sz="2400"/>
          </a:p>
        </p:txBody>
      </p:sp>
      <p:sp>
        <p:nvSpPr>
          <p:cNvPr id="13" name="Text 3">
            <a:extLst>
              <a:ext uri="{FF2B5EF4-FFF2-40B4-BE49-F238E27FC236}">
                <a16:creationId xmlns:a16="http://schemas.microsoft.com/office/drawing/2014/main" id="{6AF6F674-FDE1-1B11-5DA2-23206FA7C008}"/>
              </a:ext>
            </a:extLst>
          </p:cNvPr>
          <p:cNvSpPr txBox="1"/>
          <p:nvPr/>
        </p:nvSpPr>
        <p:spPr>
          <a:xfrm>
            <a:off x="3892146" y="1635859"/>
            <a:ext cx="270185" cy="264098"/>
          </a:xfrm>
          <a:prstGeom prst="rect">
            <a:avLst/>
          </a:prstGeom>
          <a:noFill/>
          <a:ln/>
        </p:spPr>
        <p:txBody>
          <a:bodyPr wrap="square" lIns="0" tIns="0" rIns="0" bIns="0" rtlCol="0" anchor="ctr"/>
          <a:lstStyle/>
          <a:p>
            <a:pPr algn="ctr"/>
            <a:r>
              <a:rPr lang="en-US" sz="1100" b="1">
                <a:solidFill>
                  <a:srgbClr val="FFFFFF"/>
                </a:solidFill>
                <a:latin typeface="Poppins" pitchFamily="34" charset="0"/>
                <a:ea typeface="Poppins" pitchFamily="34" charset="-122"/>
                <a:cs typeface="Poppins" pitchFamily="34" charset="-120"/>
              </a:rPr>
              <a:t>1</a:t>
            </a:r>
            <a:endParaRPr lang="en-US" sz="1100"/>
          </a:p>
        </p:txBody>
      </p:sp>
      <p:pic>
        <p:nvPicPr>
          <p:cNvPr id="17" name="Image 0" descr="preencoded.png">
            <a:extLst>
              <a:ext uri="{FF2B5EF4-FFF2-40B4-BE49-F238E27FC236}">
                <a16:creationId xmlns:a16="http://schemas.microsoft.com/office/drawing/2014/main" id="{15B1F75F-3145-DFCF-20E6-DB2DF7053706}"/>
              </a:ext>
            </a:extLst>
          </p:cNvPr>
          <p:cNvPicPr>
            <a:picLocks noChangeAspect="1"/>
          </p:cNvPicPr>
          <p:nvPr/>
        </p:nvPicPr>
        <p:blipFill>
          <a:blip r:embed="rId4"/>
          <a:stretch>
            <a:fillRect/>
          </a:stretch>
        </p:blipFill>
        <p:spPr>
          <a:xfrm>
            <a:off x="5513255" y="1659869"/>
            <a:ext cx="147374" cy="144054"/>
          </a:xfrm>
          <a:prstGeom prst="rect">
            <a:avLst/>
          </a:prstGeom>
        </p:spPr>
      </p:pic>
      <p:sp>
        <p:nvSpPr>
          <p:cNvPr id="21" name="Text 4">
            <a:extLst>
              <a:ext uri="{FF2B5EF4-FFF2-40B4-BE49-F238E27FC236}">
                <a16:creationId xmlns:a16="http://schemas.microsoft.com/office/drawing/2014/main" id="{265F0A57-9AA6-EFA4-3567-7506ECF0DA39}"/>
              </a:ext>
            </a:extLst>
          </p:cNvPr>
          <p:cNvSpPr txBox="1"/>
          <p:nvPr/>
        </p:nvSpPr>
        <p:spPr>
          <a:xfrm>
            <a:off x="4223735" y="1587841"/>
            <a:ext cx="1252676" cy="576215"/>
          </a:xfrm>
          <a:prstGeom prst="rect">
            <a:avLst/>
          </a:prstGeom>
          <a:noFill/>
          <a:ln/>
        </p:spPr>
        <p:txBody>
          <a:bodyPr wrap="square" lIns="0" tIns="0" rIns="0" bIns="0" rtlCol="0" anchor="t"/>
          <a:lstStyle/>
          <a:p>
            <a:pPr>
              <a:lnSpc>
                <a:spcPct val="90000"/>
              </a:lnSpc>
            </a:pPr>
            <a:r>
              <a:rPr lang="en-US" sz="1050" b="1">
                <a:solidFill>
                  <a:srgbClr val="0C514E"/>
                </a:solidFill>
                <a:latin typeface="Calibri" pitchFamily="34" charset="0"/>
                <a:ea typeface="Calibri" pitchFamily="34" charset="-122"/>
                <a:cs typeface="Calibri" pitchFamily="34" charset="-120"/>
              </a:rPr>
              <a:t>Cliente Ancla</a:t>
            </a:r>
            <a:endParaRPr lang="en-US" sz="1050"/>
          </a:p>
        </p:txBody>
      </p:sp>
      <p:sp>
        <p:nvSpPr>
          <p:cNvPr id="25" name="Shape 5">
            <a:extLst>
              <a:ext uri="{FF2B5EF4-FFF2-40B4-BE49-F238E27FC236}">
                <a16:creationId xmlns:a16="http://schemas.microsoft.com/office/drawing/2014/main" id="{14D95F8C-F65B-9642-B27E-45ED4EA04603}"/>
              </a:ext>
            </a:extLst>
          </p:cNvPr>
          <p:cNvSpPr/>
          <p:nvPr/>
        </p:nvSpPr>
        <p:spPr>
          <a:xfrm>
            <a:off x="5832564" y="1635859"/>
            <a:ext cx="270185" cy="264098"/>
          </a:xfrm>
          <a:prstGeom prst="ellipse">
            <a:avLst/>
          </a:prstGeom>
          <a:solidFill>
            <a:srgbClr val="13807B"/>
          </a:solidFill>
          <a:ln/>
        </p:spPr>
        <p:txBody>
          <a:bodyPr/>
          <a:lstStyle/>
          <a:p>
            <a:endParaRPr lang="es-PE" sz="2400"/>
          </a:p>
        </p:txBody>
      </p:sp>
      <p:sp>
        <p:nvSpPr>
          <p:cNvPr id="29" name="Text 6">
            <a:extLst>
              <a:ext uri="{FF2B5EF4-FFF2-40B4-BE49-F238E27FC236}">
                <a16:creationId xmlns:a16="http://schemas.microsoft.com/office/drawing/2014/main" id="{8BCC9805-53EB-BAF3-13F6-89A23B1037E6}"/>
              </a:ext>
            </a:extLst>
          </p:cNvPr>
          <p:cNvSpPr txBox="1"/>
          <p:nvPr/>
        </p:nvSpPr>
        <p:spPr>
          <a:xfrm>
            <a:off x="5832564" y="1635859"/>
            <a:ext cx="270185" cy="264098"/>
          </a:xfrm>
          <a:prstGeom prst="rect">
            <a:avLst/>
          </a:prstGeom>
          <a:noFill/>
          <a:ln/>
        </p:spPr>
        <p:txBody>
          <a:bodyPr wrap="square" lIns="0" tIns="0" rIns="0" bIns="0" rtlCol="0" anchor="ctr"/>
          <a:lstStyle/>
          <a:p>
            <a:pPr algn="ctr"/>
            <a:r>
              <a:rPr lang="en-US" sz="1100" b="1">
                <a:solidFill>
                  <a:srgbClr val="FFFFFF"/>
                </a:solidFill>
                <a:latin typeface="Poppins" pitchFamily="34" charset="0"/>
                <a:ea typeface="Poppins" pitchFamily="34" charset="-122"/>
                <a:cs typeface="Poppins" pitchFamily="34" charset="-120"/>
              </a:rPr>
              <a:t>2</a:t>
            </a:r>
            <a:endParaRPr lang="en-US" sz="1100"/>
          </a:p>
        </p:txBody>
      </p:sp>
      <p:pic>
        <p:nvPicPr>
          <p:cNvPr id="33" name="Image 1" descr="preencoded.png">
            <a:extLst>
              <a:ext uri="{FF2B5EF4-FFF2-40B4-BE49-F238E27FC236}">
                <a16:creationId xmlns:a16="http://schemas.microsoft.com/office/drawing/2014/main" id="{8617D4DA-BA04-B569-E8A1-B183D3322B8E}"/>
              </a:ext>
            </a:extLst>
          </p:cNvPr>
          <p:cNvPicPr>
            <a:picLocks noChangeAspect="1"/>
          </p:cNvPicPr>
          <p:nvPr/>
        </p:nvPicPr>
        <p:blipFill>
          <a:blip r:embed="rId5"/>
          <a:stretch>
            <a:fillRect/>
          </a:stretch>
        </p:blipFill>
        <p:spPr>
          <a:xfrm>
            <a:off x="7453674" y="1659869"/>
            <a:ext cx="147374" cy="144054"/>
          </a:xfrm>
          <a:prstGeom prst="rect">
            <a:avLst/>
          </a:prstGeom>
        </p:spPr>
      </p:pic>
      <p:sp>
        <p:nvSpPr>
          <p:cNvPr id="37" name="Text 7">
            <a:extLst>
              <a:ext uri="{FF2B5EF4-FFF2-40B4-BE49-F238E27FC236}">
                <a16:creationId xmlns:a16="http://schemas.microsoft.com/office/drawing/2014/main" id="{5AC8F43B-E092-318E-C6C2-E1B0E3D0CB47}"/>
              </a:ext>
            </a:extLst>
          </p:cNvPr>
          <p:cNvSpPr txBox="1"/>
          <p:nvPr/>
        </p:nvSpPr>
        <p:spPr>
          <a:xfrm>
            <a:off x="6164154" y="1587841"/>
            <a:ext cx="1252676" cy="576215"/>
          </a:xfrm>
          <a:prstGeom prst="rect">
            <a:avLst/>
          </a:prstGeom>
          <a:noFill/>
          <a:ln/>
        </p:spPr>
        <p:txBody>
          <a:bodyPr wrap="square" lIns="0" tIns="0" rIns="0" bIns="0" rtlCol="0" anchor="t"/>
          <a:lstStyle/>
          <a:p>
            <a:pPr>
              <a:lnSpc>
                <a:spcPct val="90000"/>
              </a:lnSpc>
            </a:pPr>
            <a:r>
              <a:rPr lang="en-US" sz="1050" b="1">
                <a:solidFill>
                  <a:srgbClr val="13807B"/>
                </a:solidFill>
                <a:latin typeface="Calibri" pitchFamily="34" charset="0"/>
                <a:ea typeface="Calibri" pitchFamily="34" charset="-122"/>
                <a:cs typeface="Calibri" pitchFamily="34" charset="-120"/>
              </a:rPr>
              <a:t>Socio en Crecimiento</a:t>
            </a:r>
            <a:endParaRPr lang="en-US" sz="1050"/>
          </a:p>
        </p:txBody>
      </p:sp>
      <p:sp>
        <p:nvSpPr>
          <p:cNvPr id="41" name="Shape 8">
            <a:extLst>
              <a:ext uri="{FF2B5EF4-FFF2-40B4-BE49-F238E27FC236}">
                <a16:creationId xmlns:a16="http://schemas.microsoft.com/office/drawing/2014/main" id="{50E78945-D792-15EA-26B3-CB95A6D6ACF4}"/>
              </a:ext>
            </a:extLst>
          </p:cNvPr>
          <p:cNvSpPr/>
          <p:nvPr/>
        </p:nvSpPr>
        <p:spPr>
          <a:xfrm>
            <a:off x="7772983" y="1635859"/>
            <a:ext cx="270185" cy="264098"/>
          </a:xfrm>
          <a:prstGeom prst="ellipse">
            <a:avLst/>
          </a:prstGeom>
          <a:solidFill>
            <a:srgbClr val="2F9E98"/>
          </a:solidFill>
          <a:ln/>
        </p:spPr>
        <p:txBody>
          <a:bodyPr/>
          <a:lstStyle/>
          <a:p>
            <a:endParaRPr lang="es-PE" sz="2400"/>
          </a:p>
        </p:txBody>
      </p:sp>
      <p:sp>
        <p:nvSpPr>
          <p:cNvPr id="45" name="Text 9">
            <a:extLst>
              <a:ext uri="{FF2B5EF4-FFF2-40B4-BE49-F238E27FC236}">
                <a16:creationId xmlns:a16="http://schemas.microsoft.com/office/drawing/2014/main" id="{90254424-D93E-D857-87DB-D232A5E055B3}"/>
              </a:ext>
            </a:extLst>
          </p:cNvPr>
          <p:cNvSpPr txBox="1"/>
          <p:nvPr/>
        </p:nvSpPr>
        <p:spPr>
          <a:xfrm>
            <a:off x="7772983" y="1635859"/>
            <a:ext cx="270185" cy="264098"/>
          </a:xfrm>
          <a:prstGeom prst="rect">
            <a:avLst/>
          </a:prstGeom>
          <a:noFill/>
          <a:ln/>
        </p:spPr>
        <p:txBody>
          <a:bodyPr wrap="square" lIns="0" tIns="0" rIns="0" bIns="0" rtlCol="0" anchor="ctr"/>
          <a:lstStyle/>
          <a:p>
            <a:pPr algn="ctr"/>
            <a:r>
              <a:rPr lang="en-US" sz="1100" b="1">
                <a:solidFill>
                  <a:srgbClr val="FFFFFF"/>
                </a:solidFill>
                <a:latin typeface="Poppins" pitchFamily="34" charset="0"/>
                <a:ea typeface="Poppins" pitchFamily="34" charset="-122"/>
                <a:cs typeface="Poppins" pitchFamily="34" charset="-120"/>
              </a:rPr>
              <a:t>3</a:t>
            </a:r>
            <a:endParaRPr lang="en-US" sz="1100"/>
          </a:p>
        </p:txBody>
      </p:sp>
      <p:pic>
        <p:nvPicPr>
          <p:cNvPr id="49" name="Image 2" descr="preencoded.png">
            <a:extLst>
              <a:ext uri="{FF2B5EF4-FFF2-40B4-BE49-F238E27FC236}">
                <a16:creationId xmlns:a16="http://schemas.microsoft.com/office/drawing/2014/main" id="{71DD4F5F-B833-C263-D71A-7679C0663052}"/>
              </a:ext>
            </a:extLst>
          </p:cNvPr>
          <p:cNvPicPr>
            <a:picLocks noChangeAspect="1"/>
          </p:cNvPicPr>
          <p:nvPr/>
        </p:nvPicPr>
        <p:blipFill>
          <a:blip r:embed="rId6"/>
          <a:stretch>
            <a:fillRect/>
          </a:stretch>
        </p:blipFill>
        <p:spPr>
          <a:xfrm>
            <a:off x="9394093" y="1659869"/>
            <a:ext cx="147374" cy="144054"/>
          </a:xfrm>
          <a:prstGeom prst="rect">
            <a:avLst/>
          </a:prstGeom>
        </p:spPr>
      </p:pic>
      <p:sp>
        <p:nvSpPr>
          <p:cNvPr id="53" name="Text 10">
            <a:extLst>
              <a:ext uri="{FF2B5EF4-FFF2-40B4-BE49-F238E27FC236}">
                <a16:creationId xmlns:a16="http://schemas.microsoft.com/office/drawing/2014/main" id="{B9FE08BF-88D4-6F70-B23C-A082A300B35E}"/>
              </a:ext>
            </a:extLst>
          </p:cNvPr>
          <p:cNvSpPr txBox="1"/>
          <p:nvPr/>
        </p:nvSpPr>
        <p:spPr>
          <a:xfrm>
            <a:off x="8104573" y="1587841"/>
            <a:ext cx="1252676" cy="576215"/>
          </a:xfrm>
          <a:prstGeom prst="rect">
            <a:avLst/>
          </a:prstGeom>
          <a:noFill/>
          <a:ln/>
        </p:spPr>
        <p:txBody>
          <a:bodyPr wrap="square" lIns="0" tIns="0" rIns="0" bIns="0" rtlCol="0" anchor="t"/>
          <a:lstStyle/>
          <a:p>
            <a:pPr>
              <a:lnSpc>
                <a:spcPct val="90000"/>
              </a:lnSpc>
            </a:pPr>
            <a:r>
              <a:rPr lang="en-US" sz="1050" b="1">
                <a:solidFill>
                  <a:srgbClr val="2F9E98"/>
                </a:solidFill>
                <a:latin typeface="Calibri" pitchFamily="34" charset="0"/>
                <a:ea typeface="Calibri" pitchFamily="34" charset="-122"/>
                <a:cs typeface="Calibri" pitchFamily="34" charset="-120"/>
              </a:rPr>
              <a:t>Cuenta Estratégica</a:t>
            </a:r>
            <a:endParaRPr lang="en-US" sz="1050"/>
          </a:p>
        </p:txBody>
      </p:sp>
      <p:sp>
        <p:nvSpPr>
          <p:cNvPr id="57" name="Shape 11">
            <a:extLst>
              <a:ext uri="{FF2B5EF4-FFF2-40B4-BE49-F238E27FC236}">
                <a16:creationId xmlns:a16="http://schemas.microsoft.com/office/drawing/2014/main" id="{DB2D1BB4-6F45-3AF7-880D-0552B734A1F4}"/>
              </a:ext>
            </a:extLst>
          </p:cNvPr>
          <p:cNvSpPr/>
          <p:nvPr/>
        </p:nvSpPr>
        <p:spPr>
          <a:xfrm>
            <a:off x="9713402" y="1635859"/>
            <a:ext cx="270185" cy="264098"/>
          </a:xfrm>
          <a:prstGeom prst="ellipse">
            <a:avLst/>
          </a:prstGeom>
          <a:solidFill>
            <a:srgbClr val="445A6E"/>
          </a:solidFill>
          <a:ln/>
        </p:spPr>
        <p:txBody>
          <a:bodyPr/>
          <a:lstStyle/>
          <a:p>
            <a:endParaRPr lang="es-PE" sz="2400"/>
          </a:p>
        </p:txBody>
      </p:sp>
      <p:sp>
        <p:nvSpPr>
          <p:cNvPr id="61" name="Text 12">
            <a:extLst>
              <a:ext uri="{FF2B5EF4-FFF2-40B4-BE49-F238E27FC236}">
                <a16:creationId xmlns:a16="http://schemas.microsoft.com/office/drawing/2014/main" id="{A7D0A989-95C7-80CD-E403-F9121651188B}"/>
              </a:ext>
            </a:extLst>
          </p:cNvPr>
          <p:cNvSpPr txBox="1"/>
          <p:nvPr/>
        </p:nvSpPr>
        <p:spPr>
          <a:xfrm>
            <a:off x="9713402" y="1635859"/>
            <a:ext cx="270185" cy="264098"/>
          </a:xfrm>
          <a:prstGeom prst="rect">
            <a:avLst/>
          </a:prstGeom>
          <a:noFill/>
          <a:ln/>
        </p:spPr>
        <p:txBody>
          <a:bodyPr wrap="square" lIns="0" tIns="0" rIns="0" bIns="0" rtlCol="0" anchor="ctr"/>
          <a:lstStyle/>
          <a:p>
            <a:pPr algn="ctr"/>
            <a:r>
              <a:rPr lang="en-US" sz="1100" b="1">
                <a:solidFill>
                  <a:srgbClr val="FFFFFF"/>
                </a:solidFill>
                <a:latin typeface="Poppins" pitchFamily="34" charset="0"/>
                <a:ea typeface="Poppins" pitchFamily="34" charset="-122"/>
                <a:cs typeface="Poppins" pitchFamily="34" charset="-120"/>
              </a:rPr>
              <a:t>4</a:t>
            </a:r>
            <a:endParaRPr lang="en-US" sz="1100"/>
          </a:p>
        </p:txBody>
      </p:sp>
      <p:pic>
        <p:nvPicPr>
          <p:cNvPr id="449" name="Image 3" descr="preencoded.png">
            <a:extLst>
              <a:ext uri="{FF2B5EF4-FFF2-40B4-BE49-F238E27FC236}">
                <a16:creationId xmlns:a16="http://schemas.microsoft.com/office/drawing/2014/main" id="{6904547D-FD53-659A-8427-E07D7673E2FE}"/>
              </a:ext>
            </a:extLst>
          </p:cNvPr>
          <p:cNvPicPr>
            <a:picLocks noChangeAspect="1"/>
          </p:cNvPicPr>
          <p:nvPr/>
        </p:nvPicPr>
        <p:blipFill>
          <a:blip r:embed="rId7"/>
          <a:stretch>
            <a:fillRect/>
          </a:stretch>
        </p:blipFill>
        <p:spPr>
          <a:xfrm>
            <a:off x="11334511" y="1659869"/>
            <a:ext cx="147374" cy="144054"/>
          </a:xfrm>
          <a:prstGeom prst="rect">
            <a:avLst/>
          </a:prstGeom>
        </p:spPr>
      </p:pic>
      <p:sp>
        <p:nvSpPr>
          <p:cNvPr id="453" name="Text 13">
            <a:extLst>
              <a:ext uri="{FF2B5EF4-FFF2-40B4-BE49-F238E27FC236}">
                <a16:creationId xmlns:a16="http://schemas.microsoft.com/office/drawing/2014/main" id="{991091C4-8E0D-8F28-9576-35444D6AC883}"/>
              </a:ext>
            </a:extLst>
          </p:cNvPr>
          <p:cNvSpPr txBox="1"/>
          <p:nvPr/>
        </p:nvSpPr>
        <p:spPr>
          <a:xfrm>
            <a:off x="10044992" y="1587841"/>
            <a:ext cx="1252676" cy="576215"/>
          </a:xfrm>
          <a:prstGeom prst="rect">
            <a:avLst/>
          </a:prstGeom>
          <a:noFill/>
          <a:ln/>
        </p:spPr>
        <p:txBody>
          <a:bodyPr wrap="square" lIns="0" tIns="0" rIns="0" bIns="0" rtlCol="0" anchor="t"/>
          <a:lstStyle/>
          <a:p>
            <a:pPr>
              <a:lnSpc>
                <a:spcPct val="90000"/>
              </a:lnSpc>
            </a:pPr>
            <a:r>
              <a:rPr lang="en-US" sz="1050" b="1">
                <a:solidFill>
                  <a:srgbClr val="445A6E"/>
                </a:solidFill>
                <a:latin typeface="Calibri" pitchFamily="34" charset="0"/>
                <a:ea typeface="Calibri" pitchFamily="34" charset="-122"/>
                <a:cs typeface="Calibri" pitchFamily="34" charset="-120"/>
              </a:rPr>
              <a:t>Maduro Multibanco</a:t>
            </a:r>
            <a:endParaRPr lang="en-US" sz="1050"/>
          </a:p>
        </p:txBody>
      </p:sp>
      <p:sp>
        <p:nvSpPr>
          <p:cNvPr id="457" name="Shape 14">
            <a:extLst>
              <a:ext uri="{FF2B5EF4-FFF2-40B4-BE49-F238E27FC236}">
                <a16:creationId xmlns:a16="http://schemas.microsoft.com/office/drawing/2014/main" id="{86E7ECEB-F288-B8FE-5318-B2095F35F6B5}"/>
              </a:ext>
            </a:extLst>
          </p:cNvPr>
          <p:cNvSpPr/>
          <p:nvPr/>
        </p:nvSpPr>
        <p:spPr>
          <a:xfrm>
            <a:off x="11653821" y="1635859"/>
            <a:ext cx="270185" cy="264098"/>
          </a:xfrm>
          <a:prstGeom prst="ellipse">
            <a:avLst/>
          </a:prstGeom>
          <a:solidFill>
            <a:srgbClr val="C87A0B"/>
          </a:solidFill>
          <a:ln/>
        </p:spPr>
        <p:txBody>
          <a:bodyPr/>
          <a:lstStyle/>
          <a:p>
            <a:endParaRPr lang="es-PE" sz="2400"/>
          </a:p>
        </p:txBody>
      </p:sp>
      <p:sp>
        <p:nvSpPr>
          <p:cNvPr id="459" name="Text 15">
            <a:extLst>
              <a:ext uri="{FF2B5EF4-FFF2-40B4-BE49-F238E27FC236}">
                <a16:creationId xmlns:a16="http://schemas.microsoft.com/office/drawing/2014/main" id="{E1A9B61D-5C32-EF5E-CB70-10296A529436}"/>
              </a:ext>
            </a:extLst>
          </p:cNvPr>
          <p:cNvSpPr txBox="1"/>
          <p:nvPr/>
        </p:nvSpPr>
        <p:spPr>
          <a:xfrm>
            <a:off x="11653821" y="1635859"/>
            <a:ext cx="270185" cy="264098"/>
          </a:xfrm>
          <a:prstGeom prst="rect">
            <a:avLst/>
          </a:prstGeom>
          <a:noFill/>
          <a:ln/>
        </p:spPr>
        <p:txBody>
          <a:bodyPr wrap="square" lIns="0" tIns="0" rIns="0" bIns="0" rtlCol="0" anchor="ctr"/>
          <a:lstStyle/>
          <a:p>
            <a:pPr algn="ctr"/>
            <a:r>
              <a:rPr lang="en-US" sz="1100" b="1">
                <a:solidFill>
                  <a:srgbClr val="FFFFFF"/>
                </a:solidFill>
                <a:latin typeface="Poppins" pitchFamily="34" charset="0"/>
                <a:ea typeface="Poppins" pitchFamily="34" charset="-122"/>
                <a:cs typeface="Poppins" pitchFamily="34" charset="-120"/>
              </a:rPr>
              <a:t>5</a:t>
            </a:r>
            <a:endParaRPr lang="en-US" sz="1100"/>
          </a:p>
        </p:txBody>
      </p:sp>
      <p:pic>
        <p:nvPicPr>
          <p:cNvPr id="461" name="Image 4" descr="preencoded.png">
            <a:extLst>
              <a:ext uri="{FF2B5EF4-FFF2-40B4-BE49-F238E27FC236}">
                <a16:creationId xmlns:a16="http://schemas.microsoft.com/office/drawing/2014/main" id="{0F39F832-EE27-3575-C78C-B6AAF90038AB}"/>
              </a:ext>
            </a:extLst>
          </p:cNvPr>
          <p:cNvPicPr>
            <a:picLocks noChangeAspect="1"/>
          </p:cNvPicPr>
          <p:nvPr/>
        </p:nvPicPr>
        <p:blipFill>
          <a:blip r:embed="rId8"/>
          <a:stretch>
            <a:fillRect/>
          </a:stretch>
        </p:blipFill>
        <p:spPr>
          <a:xfrm>
            <a:off x="13274929" y="1659869"/>
            <a:ext cx="147374" cy="144054"/>
          </a:xfrm>
          <a:prstGeom prst="rect">
            <a:avLst/>
          </a:prstGeom>
        </p:spPr>
      </p:pic>
      <p:sp>
        <p:nvSpPr>
          <p:cNvPr id="463" name="Text 16">
            <a:extLst>
              <a:ext uri="{FF2B5EF4-FFF2-40B4-BE49-F238E27FC236}">
                <a16:creationId xmlns:a16="http://schemas.microsoft.com/office/drawing/2014/main" id="{B2289AD0-2CF6-89C1-C794-BB897A1855BE}"/>
              </a:ext>
            </a:extLst>
          </p:cNvPr>
          <p:cNvSpPr txBox="1"/>
          <p:nvPr/>
        </p:nvSpPr>
        <p:spPr>
          <a:xfrm>
            <a:off x="11985411" y="1587841"/>
            <a:ext cx="1252676" cy="576215"/>
          </a:xfrm>
          <a:prstGeom prst="rect">
            <a:avLst/>
          </a:prstGeom>
          <a:noFill/>
          <a:ln/>
        </p:spPr>
        <p:txBody>
          <a:bodyPr wrap="square" lIns="0" tIns="0" rIns="0" bIns="0" rtlCol="0" anchor="t"/>
          <a:lstStyle/>
          <a:p>
            <a:pPr>
              <a:lnSpc>
                <a:spcPct val="90000"/>
              </a:lnSpc>
            </a:pPr>
            <a:r>
              <a:rPr lang="en-US" sz="1050" b="1">
                <a:solidFill>
                  <a:srgbClr val="C87A0B"/>
                </a:solidFill>
                <a:latin typeface="Calibri" pitchFamily="34" charset="0"/>
                <a:ea typeface="Calibri" pitchFamily="34" charset="-122"/>
                <a:cs typeface="Calibri" pitchFamily="34" charset="-120"/>
              </a:rPr>
              <a:t>Gran Cuenta por Conquistar</a:t>
            </a:r>
            <a:endParaRPr lang="en-US" sz="1050"/>
          </a:p>
        </p:txBody>
      </p:sp>
      <p:sp>
        <p:nvSpPr>
          <p:cNvPr id="465" name="Shape 17">
            <a:extLst>
              <a:ext uri="{FF2B5EF4-FFF2-40B4-BE49-F238E27FC236}">
                <a16:creationId xmlns:a16="http://schemas.microsoft.com/office/drawing/2014/main" id="{E3A49DAF-AC98-E0B6-0649-D8C95FA92838}"/>
              </a:ext>
            </a:extLst>
          </p:cNvPr>
          <p:cNvSpPr/>
          <p:nvPr/>
        </p:nvSpPr>
        <p:spPr>
          <a:xfrm>
            <a:off x="13594239" y="1635859"/>
            <a:ext cx="270185" cy="264098"/>
          </a:xfrm>
          <a:prstGeom prst="ellipse">
            <a:avLst/>
          </a:prstGeom>
          <a:solidFill>
            <a:srgbClr val="C04B4B"/>
          </a:solidFill>
          <a:ln/>
        </p:spPr>
        <p:txBody>
          <a:bodyPr/>
          <a:lstStyle/>
          <a:p>
            <a:endParaRPr lang="es-PE" sz="2400"/>
          </a:p>
        </p:txBody>
      </p:sp>
      <p:sp>
        <p:nvSpPr>
          <p:cNvPr id="467" name="Text 18">
            <a:extLst>
              <a:ext uri="{FF2B5EF4-FFF2-40B4-BE49-F238E27FC236}">
                <a16:creationId xmlns:a16="http://schemas.microsoft.com/office/drawing/2014/main" id="{A27D6F0E-56AA-8670-D138-9661911753DB}"/>
              </a:ext>
            </a:extLst>
          </p:cNvPr>
          <p:cNvSpPr txBox="1"/>
          <p:nvPr/>
        </p:nvSpPr>
        <p:spPr>
          <a:xfrm>
            <a:off x="13594239" y="1635859"/>
            <a:ext cx="270185" cy="264098"/>
          </a:xfrm>
          <a:prstGeom prst="rect">
            <a:avLst/>
          </a:prstGeom>
          <a:noFill/>
          <a:ln/>
        </p:spPr>
        <p:txBody>
          <a:bodyPr wrap="square" lIns="0" tIns="0" rIns="0" bIns="0" rtlCol="0" anchor="ctr"/>
          <a:lstStyle/>
          <a:p>
            <a:pPr algn="ctr"/>
            <a:r>
              <a:rPr lang="en-US" sz="1100" b="1">
                <a:solidFill>
                  <a:srgbClr val="FFFFFF"/>
                </a:solidFill>
                <a:latin typeface="Poppins" pitchFamily="34" charset="0"/>
                <a:ea typeface="Poppins" pitchFamily="34" charset="-122"/>
                <a:cs typeface="Poppins" pitchFamily="34" charset="-120"/>
              </a:rPr>
              <a:t>6</a:t>
            </a:r>
            <a:endParaRPr lang="en-US" sz="1100"/>
          </a:p>
        </p:txBody>
      </p:sp>
      <p:pic>
        <p:nvPicPr>
          <p:cNvPr id="469" name="Image 5" descr="preencoded.png">
            <a:extLst>
              <a:ext uri="{FF2B5EF4-FFF2-40B4-BE49-F238E27FC236}">
                <a16:creationId xmlns:a16="http://schemas.microsoft.com/office/drawing/2014/main" id="{6299F4DA-4ABD-1B90-3960-1360AD757597}"/>
              </a:ext>
            </a:extLst>
          </p:cNvPr>
          <p:cNvPicPr>
            <a:picLocks noChangeAspect="1"/>
          </p:cNvPicPr>
          <p:nvPr/>
        </p:nvPicPr>
        <p:blipFill>
          <a:blip r:embed="rId9"/>
          <a:stretch>
            <a:fillRect/>
          </a:stretch>
        </p:blipFill>
        <p:spPr>
          <a:xfrm>
            <a:off x="15215348" y="1659869"/>
            <a:ext cx="147374" cy="144054"/>
          </a:xfrm>
          <a:prstGeom prst="rect">
            <a:avLst/>
          </a:prstGeom>
        </p:spPr>
      </p:pic>
      <p:sp>
        <p:nvSpPr>
          <p:cNvPr id="471" name="Text 19">
            <a:extLst>
              <a:ext uri="{FF2B5EF4-FFF2-40B4-BE49-F238E27FC236}">
                <a16:creationId xmlns:a16="http://schemas.microsoft.com/office/drawing/2014/main" id="{BF25B7F9-14D2-9663-95AC-2390F50C6D14}"/>
              </a:ext>
            </a:extLst>
          </p:cNvPr>
          <p:cNvSpPr txBox="1"/>
          <p:nvPr/>
        </p:nvSpPr>
        <p:spPr>
          <a:xfrm>
            <a:off x="13925829" y="1587841"/>
            <a:ext cx="1252676" cy="576215"/>
          </a:xfrm>
          <a:prstGeom prst="rect">
            <a:avLst/>
          </a:prstGeom>
          <a:noFill/>
          <a:ln/>
        </p:spPr>
        <p:txBody>
          <a:bodyPr wrap="square" lIns="0" tIns="0" rIns="0" bIns="0" rtlCol="0" anchor="t"/>
          <a:lstStyle/>
          <a:p>
            <a:pPr>
              <a:lnSpc>
                <a:spcPct val="90000"/>
              </a:lnSpc>
            </a:pPr>
            <a:r>
              <a:rPr lang="en-US" sz="1050" b="1">
                <a:solidFill>
                  <a:srgbClr val="C04B4B"/>
                </a:solidFill>
                <a:latin typeface="Calibri" pitchFamily="34" charset="0"/>
                <a:ea typeface="Calibri" pitchFamily="34" charset="-122"/>
                <a:cs typeface="Calibri" pitchFamily="34" charset="-120"/>
              </a:rPr>
              <a:t>Cliente por Reactivar</a:t>
            </a:r>
            <a:endParaRPr lang="en-US" sz="1050"/>
          </a:p>
        </p:txBody>
      </p:sp>
      <p:sp>
        <p:nvSpPr>
          <p:cNvPr id="473" name="Shape 20">
            <a:extLst>
              <a:ext uri="{FF2B5EF4-FFF2-40B4-BE49-F238E27FC236}">
                <a16:creationId xmlns:a16="http://schemas.microsoft.com/office/drawing/2014/main" id="{5CDBE74A-2513-246F-F1FC-7EFF70BB212D}"/>
              </a:ext>
            </a:extLst>
          </p:cNvPr>
          <p:cNvSpPr/>
          <p:nvPr/>
        </p:nvSpPr>
        <p:spPr>
          <a:xfrm>
            <a:off x="2823688" y="2392140"/>
            <a:ext cx="12661845" cy="0"/>
          </a:xfrm>
          <a:prstGeom prst="line">
            <a:avLst/>
          </a:prstGeom>
          <a:noFill/>
          <a:ln w="9525">
            <a:solidFill>
              <a:srgbClr val="D5DFDE"/>
            </a:solidFill>
            <a:prstDash val="solid"/>
          </a:ln>
        </p:spPr>
        <p:txBody>
          <a:bodyPr/>
          <a:lstStyle/>
          <a:p>
            <a:endParaRPr lang="es-PE" sz="2400"/>
          </a:p>
        </p:txBody>
      </p:sp>
      <p:sp>
        <p:nvSpPr>
          <p:cNvPr id="475" name="Shape 21">
            <a:extLst>
              <a:ext uri="{FF2B5EF4-FFF2-40B4-BE49-F238E27FC236}">
                <a16:creationId xmlns:a16="http://schemas.microsoft.com/office/drawing/2014/main" id="{4FD4CCC3-4842-2D2B-6F1C-5115656951CE}"/>
              </a:ext>
            </a:extLst>
          </p:cNvPr>
          <p:cNvSpPr/>
          <p:nvPr/>
        </p:nvSpPr>
        <p:spPr>
          <a:xfrm>
            <a:off x="2823688" y="4312856"/>
            <a:ext cx="12661845" cy="0"/>
          </a:xfrm>
          <a:prstGeom prst="line">
            <a:avLst/>
          </a:prstGeom>
          <a:noFill/>
          <a:ln w="9525">
            <a:solidFill>
              <a:srgbClr val="D5DFDE"/>
            </a:solidFill>
            <a:prstDash val="solid"/>
          </a:ln>
        </p:spPr>
        <p:txBody>
          <a:bodyPr/>
          <a:lstStyle/>
          <a:p>
            <a:endParaRPr lang="es-PE" sz="2400"/>
          </a:p>
        </p:txBody>
      </p:sp>
      <p:sp>
        <p:nvSpPr>
          <p:cNvPr id="477" name="Shape 22">
            <a:extLst>
              <a:ext uri="{FF2B5EF4-FFF2-40B4-BE49-F238E27FC236}">
                <a16:creationId xmlns:a16="http://schemas.microsoft.com/office/drawing/2014/main" id="{C2C8C938-753C-35B2-E00C-4BA4293C1E26}"/>
              </a:ext>
            </a:extLst>
          </p:cNvPr>
          <p:cNvSpPr/>
          <p:nvPr/>
        </p:nvSpPr>
        <p:spPr>
          <a:xfrm>
            <a:off x="2823688" y="6233571"/>
            <a:ext cx="12661845" cy="0"/>
          </a:xfrm>
          <a:prstGeom prst="line">
            <a:avLst/>
          </a:prstGeom>
          <a:noFill/>
          <a:ln w="9525">
            <a:solidFill>
              <a:srgbClr val="D5DFDE"/>
            </a:solidFill>
            <a:prstDash val="solid"/>
          </a:ln>
        </p:spPr>
        <p:txBody>
          <a:bodyPr/>
          <a:lstStyle/>
          <a:p>
            <a:endParaRPr lang="es-PE" sz="2400"/>
          </a:p>
        </p:txBody>
      </p:sp>
      <p:sp>
        <p:nvSpPr>
          <p:cNvPr id="479" name="Shape 23">
            <a:extLst>
              <a:ext uri="{FF2B5EF4-FFF2-40B4-BE49-F238E27FC236}">
                <a16:creationId xmlns:a16="http://schemas.microsoft.com/office/drawing/2014/main" id="{1C3B78C3-7B78-E986-3F4C-9F8BFAB523F9}"/>
              </a:ext>
            </a:extLst>
          </p:cNvPr>
          <p:cNvSpPr/>
          <p:nvPr/>
        </p:nvSpPr>
        <p:spPr>
          <a:xfrm>
            <a:off x="2823688" y="8754511"/>
            <a:ext cx="12661845" cy="0"/>
          </a:xfrm>
          <a:prstGeom prst="line">
            <a:avLst/>
          </a:prstGeom>
          <a:noFill/>
          <a:ln w="9525">
            <a:solidFill>
              <a:srgbClr val="D5DFDE"/>
            </a:solidFill>
            <a:prstDash val="solid"/>
          </a:ln>
        </p:spPr>
        <p:txBody>
          <a:bodyPr/>
          <a:lstStyle/>
          <a:p>
            <a:endParaRPr lang="es-PE" sz="2400"/>
          </a:p>
        </p:txBody>
      </p:sp>
      <p:sp>
        <p:nvSpPr>
          <p:cNvPr id="481" name="Shape 24">
            <a:extLst>
              <a:ext uri="{FF2B5EF4-FFF2-40B4-BE49-F238E27FC236}">
                <a16:creationId xmlns:a16="http://schemas.microsoft.com/office/drawing/2014/main" id="{4A0F4715-C04B-97EF-93F4-7A1CF026C401}"/>
              </a:ext>
            </a:extLst>
          </p:cNvPr>
          <p:cNvSpPr/>
          <p:nvPr/>
        </p:nvSpPr>
        <p:spPr>
          <a:xfrm>
            <a:off x="5783440" y="2392141"/>
            <a:ext cx="0" cy="6362371"/>
          </a:xfrm>
          <a:prstGeom prst="line">
            <a:avLst/>
          </a:prstGeom>
          <a:noFill/>
          <a:ln w="9525">
            <a:solidFill>
              <a:srgbClr val="EDF1F1"/>
            </a:solidFill>
            <a:prstDash val="solid"/>
          </a:ln>
        </p:spPr>
        <p:txBody>
          <a:bodyPr/>
          <a:lstStyle/>
          <a:p>
            <a:endParaRPr lang="es-PE" sz="2400"/>
          </a:p>
        </p:txBody>
      </p:sp>
      <p:sp>
        <p:nvSpPr>
          <p:cNvPr id="483" name="Shape 25">
            <a:extLst>
              <a:ext uri="{FF2B5EF4-FFF2-40B4-BE49-F238E27FC236}">
                <a16:creationId xmlns:a16="http://schemas.microsoft.com/office/drawing/2014/main" id="{923F08F7-BD97-6979-D502-1E34502E379F}"/>
              </a:ext>
            </a:extLst>
          </p:cNvPr>
          <p:cNvSpPr/>
          <p:nvPr/>
        </p:nvSpPr>
        <p:spPr>
          <a:xfrm>
            <a:off x="7723859" y="2392141"/>
            <a:ext cx="0" cy="6362371"/>
          </a:xfrm>
          <a:prstGeom prst="line">
            <a:avLst/>
          </a:prstGeom>
          <a:noFill/>
          <a:ln w="9525">
            <a:solidFill>
              <a:srgbClr val="EDF1F1"/>
            </a:solidFill>
            <a:prstDash val="solid"/>
          </a:ln>
        </p:spPr>
        <p:txBody>
          <a:bodyPr/>
          <a:lstStyle/>
          <a:p>
            <a:endParaRPr lang="es-PE" sz="2400"/>
          </a:p>
        </p:txBody>
      </p:sp>
      <p:sp>
        <p:nvSpPr>
          <p:cNvPr id="485" name="Shape 26">
            <a:extLst>
              <a:ext uri="{FF2B5EF4-FFF2-40B4-BE49-F238E27FC236}">
                <a16:creationId xmlns:a16="http://schemas.microsoft.com/office/drawing/2014/main" id="{EFA0099F-91E9-ECE6-F9B1-1A378A3DBDE5}"/>
              </a:ext>
            </a:extLst>
          </p:cNvPr>
          <p:cNvSpPr/>
          <p:nvPr/>
        </p:nvSpPr>
        <p:spPr>
          <a:xfrm>
            <a:off x="9664276" y="2392141"/>
            <a:ext cx="0" cy="6362371"/>
          </a:xfrm>
          <a:prstGeom prst="line">
            <a:avLst/>
          </a:prstGeom>
          <a:noFill/>
          <a:ln w="9525">
            <a:solidFill>
              <a:srgbClr val="EDF1F1"/>
            </a:solidFill>
            <a:prstDash val="solid"/>
          </a:ln>
        </p:spPr>
        <p:txBody>
          <a:bodyPr/>
          <a:lstStyle/>
          <a:p>
            <a:endParaRPr lang="es-PE" sz="2400"/>
          </a:p>
        </p:txBody>
      </p:sp>
      <p:sp>
        <p:nvSpPr>
          <p:cNvPr id="487" name="Shape 27">
            <a:extLst>
              <a:ext uri="{FF2B5EF4-FFF2-40B4-BE49-F238E27FC236}">
                <a16:creationId xmlns:a16="http://schemas.microsoft.com/office/drawing/2014/main" id="{0249C9A8-1088-440D-8DCD-8F643D1A4783}"/>
              </a:ext>
            </a:extLst>
          </p:cNvPr>
          <p:cNvSpPr/>
          <p:nvPr/>
        </p:nvSpPr>
        <p:spPr>
          <a:xfrm>
            <a:off x="11604695" y="2392141"/>
            <a:ext cx="0" cy="6362371"/>
          </a:xfrm>
          <a:prstGeom prst="line">
            <a:avLst/>
          </a:prstGeom>
          <a:noFill/>
          <a:ln w="9525">
            <a:solidFill>
              <a:srgbClr val="EDF1F1"/>
            </a:solidFill>
            <a:prstDash val="solid"/>
          </a:ln>
        </p:spPr>
        <p:txBody>
          <a:bodyPr/>
          <a:lstStyle/>
          <a:p>
            <a:endParaRPr lang="es-PE" sz="2400"/>
          </a:p>
        </p:txBody>
      </p:sp>
      <p:sp>
        <p:nvSpPr>
          <p:cNvPr id="489" name="Shape 28">
            <a:extLst>
              <a:ext uri="{FF2B5EF4-FFF2-40B4-BE49-F238E27FC236}">
                <a16:creationId xmlns:a16="http://schemas.microsoft.com/office/drawing/2014/main" id="{E7D5C822-20BC-58AB-6188-D4B139B49C36}"/>
              </a:ext>
            </a:extLst>
          </p:cNvPr>
          <p:cNvSpPr/>
          <p:nvPr/>
        </p:nvSpPr>
        <p:spPr>
          <a:xfrm>
            <a:off x="13545114" y="2392141"/>
            <a:ext cx="0" cy="6362371"/>
          </a:xfrm>
          <a:prstGeom prst="line">
            <a:avLst/>
          </a:prstGeom>
          <a:noFill/>
          <a:ln w="9525">
            <a:solidFill>
              <a:srgbClr val="EDF1F1"/>
            </a:solidFill>
            <a:prstDash val="solid"/>
          </a:ln>
        </p:spPr>
        <p:txBody>
          <a:bodyPr/>
          <a:lstStyle/>
          <a:p>
            <a:endParaRPr lang="es-PE" sz="2400"/>
          </a:p>
        </p:txBody>
      </p:sp>
      <p:sp>
        <p:nvSpPr>
          <p:cNvPr id="491" name="Text 29">
            <a:extLst>
              <a:ext uri="{FF2B5EF4-FFF2-40B4-BE49-F238E27FC236}">
                <a16:creationId xmlns:a16="http://schemas.microsoft.com/office/drawing/2014/main" id="{F8628911-4C2D-9CE5-0E2D-77CB79D3B2B0}"/>
              </a:ext>
            </a:extLst>
          </p:cNvPr>
          <p:cNvSpPr txBox="1"/>
          <p:nvPr/>
        </p:nvSpPr>
        <p:spPr>
          <a:xfrm>
            <a:off x="342899" y="2512186"/>
            <a:ext cx="2456226" cy="264098"/>
          </a:xfrm>
          <a:prstGeom prst="rect">
            <a:avLst/>
          </a:prstGeom>
          <a:noFill/>
          <a:ln/>
        </p:spPr>
        <p:txBody>
          <a:bodyPr wrap="square" lIns="0" tIns="0" rIns="0" bIns="0" rtlCol="0" anchor="ctr"/>
          <a:lstStyle/>
          <a:p>
            <a:r>
              <a:rPr lang="en-US" sz="1100" b="1" kern="0" spc="38">
                <a:solidFill>
                  <a:srgbClr val="0C514E"/>
                </a:solidFill>
                <a:latin typeface="Poppins" pitchFamily="34" charset="0"/>
                <a:ea typeface="Poppins" pitchFamily="34" charset="-122"/>
                <a:cs typeface="Poppins" pitchFamily="34" charset="-120"/>
              </a:rPr>
              <a:t>EMBUDO COMERCIAL</a:t>
            </a:r>
            <a:endParaRPr lang="en-US" sz="1100"/>
          </a:p>
        </p:txBody>
      </p:sp>
      <p:sp>
        <p:nvSpPr>
          <p:cNvPr id="493" name="Text 30">
            <a:extLst>
              <a:ext uri="{FF2B5EF4-FFF2-40B4-BE49-F238E27FC236}">
                <a16:creationId xmlns:a16="http://schemas.microsoft.com/office/drawing/2014/main" id="{AB376602-F684-3816-6C41-94AC356A9378}"/>
              </a:ext>
            </a:extLst>
          </p:cNvPr>
          <p:cNvSpPr txBox="1"/>
          <p:nvPr/>
        </p:nvSpPr>
        <p:spPr>
          <a:xfrm>
            <a:off x="342899" y="2800293"/>
            <a:ext cx="2456226" cy="1320492"/>
          </a:xfrm>
          <a:prstGeom prst="rect">
            <a:avLst/>
          </a:prstGeom>
          <a:noFill/>
          <a:ln/>
        </p:spPr>
        <p:txBody>
          <a:bodyPr wrap="square" lIns="0" tIns="0" rIns="0" bIns="0" rtlCol="0" anchor="t"/>
          <a:lstStyle/>
          <a:p>
            <a:r>
              <a:rPr lang="en-US" sz="1050">
                <a:solidFill>
                  <a:srgbClr val="6E7E7D"/>
                </a:solidFill>
                <a:latin typeface="Calibri" pitchFamily="34" charset="0"/>
                <a:ea typeface="Calibri" pitchFamily="34" charset="-122"/>
                <a:cs typeface="Calibri" pitchFamily="34" charset="-120"/>
              </a:rPr>
              <a:t>Los leads no siguen al negocio: 2 y 4 concentran las campañas (43% de los leads) y convierten 0.4–1.1%; 3 y 5 concentran 44% del desembolso con menos de 10% de leads cada uno.</a:t>
            </a:r>
            <a:endParaRPr lang="en-US" sz="1050"/>
          </a:p>
        </p:txBody>
      </p:sp>
      <p:sp>
        <p:nvSpPr>
          <p:cNvPr id="495" name="Text 31">
            <a:extLst>
              <a:ext uri="{FF2B5EF4-FFF2-40B4-BE49-F238E27FC236}">
                <a16:creationId xmlns:a16="http://schemas.microsoft.com/office/drawing/2014/main" id="{D9B69028-62D3-A06E-6B32-9B52BA86F36B}"/>
              </a:ext>
            </a:extLst>
          </p:cNvPr>
          <p:cNvSpPr txBox="1"/>
          <p:nvPr/>
        </p:nvSpPr>
        <p:spPr>
          <a:xfrm>
            <a:off x="2823688" y="2692252"/>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Leads</a:t>
            </a:r>
            <a:endParaRPr lang="en-US" sz="1000"/>
          </a:p>
        </p:txBody>
      </p:sp>
      <p:sp>
        <p:nvSpPr>
          <p:cNvPr id="497" name="Text 32">
            <a:extLst>
              <a:ext uri="{FF2B5EF4-FFF2-40B4-BE49-F238E27FC236}">
                <a16:creationId xmlns:a16="http://schemas.microsoft.com/office/drawing/2014/main" id="{8CE7B632-BDFE-5A91-BC16-467FCD2E132A}"/>
              </a:ext>
            </a:extLst>
          </p:cNvPr>
          <p:cNvSpPr txBox="1"/>
          <p:nvPr/>
        </p:nvSpPr>
        <p:spPr>
          <a:xfrm>
            <a:off x="2823688" y="3220449"/>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Conversión</a:t>
            </a:r>
            <a:endParaRPr lang="en-US" sz="1000"/>
          </a:p>
        </p:txBody>
      </p:sp>
      <p:sp>
        <p:nvSpPr>
          <p:cNvPr id="499" name="Text 33">
            <a:extLst>
              <a:ext uri="{FF2B5EF4-FFF2-40B4-BE49-F238E27FC236}">
                <a16:creationId xmlns:a16="http://schemas.microsoft.com/office/drawing/2014/main" id="{F82DF229-C308-89D6-8D3A-E9FD8341F896}"/>
              </a:ext>
            </a:extLst>
          </p:cNvPr>
          <p:cNvSpPr txBox="1"/>
          <p:nvPr/>
        </p:nvSpPr>
        <p:spPr>
          <a:xfrm>
            <a:off x="2823688" y="3748646"/>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Part. desemb.</a:t>
            </a:r>
            <a:endParaRPr lang="en-US" sz="1000"/>
          </a:p>
        </p:txBody>
      </p:sp>
      <p:sp>
        <p:nvSpPr>
          <p:cNvPr id="501" name="Shape 34">
            <a:extLst>
              <a:ext uri="{FF2B5EF4-FFF2-40B4-BE49-F238E27FC236}">
                <a16:creationId xmlns:a16="http://schemas.microsoft.com/office/drawing/2014/main" id="{EC9D2607-AD48-D28E-6F08-603F45F2475E}"/>
              </a:ext>
            </a:extLst>
          </p:cNvPr>
          <p:cNvSpPr/>
          <p:nvPr/>
        </p:nvSpPr>
        <p:spPr>
          <a:xfrm>
            <a:off x="3904427" y="2722264"/>
            <a:ext cx="267161" cy="132049"/>
          </a:xfrm>
          <a:prstGeom prst="rect">
            <a:avLst/>
          </a:prstGeom>
          <a:solidFill>
            <a:srgbClr val="0C514E"/>
          </a:solidFill>
          <a:ln/>
        </p:spPr>
        <p:txBody>
          <a:bodyPr/>
          <a:lstStyle/>
          <a:p>
            <a:endParaRPr lang="es-PE" sz="2400"/>
          </a:p>
        </p:txBody>
      </p:sp>
      <p:sp>
        <p:nvSpPr>
          <p:cNvPr id="503" name="Text 35">
            <a:extLst>
              <a:ext uri="{FF2B5EF4-FFF2-40B4-BE49-F238E27FC236}">
                <a16:creationId xmlns:a16="http://schemas.microsoft.com/office/drawing/2014/main" id="{E93DD861-97E2-C5CD-62D3-B85C0832E9CD}"/>
              </a:ext>
            </a:extLst>
          </p:cNvPr>
          <p:cNvSpPr txBox="1"/>
          <p:nvPr/>
        </p:nvSpPr>
        <p:spPr>
          <a:xfrm>
            <a:off x="4220712" y="2686250"/>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6.9%</a:t>
            </a:r>
            <a:endParaRPr lang="en-US" sz="1000"/>
          </a:p>
        </p:txBody>
      </p:sp>
      <p:sp>
        <p:nvSpPr>
          <p:cNvPr id="505" name="Shape 36">
            <a:extLst>
              <a:ext uri="{FF2B5EF4-FFF2-40B4-BE49-F238E27FC236}">
                <a16:creationId xmlns:a16="http://schemas.microsoft.com/office/drawing/2014/main" id="{D93EA91D-B80A-18B9-AEB5-B54590277313}"/>
              </a:ext>
            </a:extLst>
          </p:cNvPr>
          <p:cNvSpPr/>
          <p:nvPr/>
        </p:nvSpPr>
        <p:spPr>
          <a:xfrm>
            <a:off x="3904427" y="3250462"/>
            <a:ext cx="677918" cy="132049"/>
          </a:xfrm>
          <a:prstGeom prst="rect">
            <a:avLst/>
          </a:prstGeom>
          <a:solidFill>
            <a:srgbClr val="0C514E"/>
          </a:solidFill>
          <a:ln/>
        </p:spPr>
        <p:txBody>
          <a:bodyPr/>
          <a:lstStyle/>
          <a:p>
            <a:endParaRPr lang="es-PE" sz="2400"/>
          </a:p>
        </p:txBody>
      </p:sp>
      <p:sp>
        <p:nvSpPr>
          <p:cNvPr id="507" name="Text 37">
            <a:extLst>
              <a:ext uri="{FF2B5EF4-FFF2-40B4-BE49-F238E27FC236}">
                <a16:creationId xmlns:a16="http://schemas.microsoft.com/office/drawing/2014/main" id="{D8201F68-125A-F8FC-2DD4-4B035ADEF292}"/>
              </a:ext>
            </a:extLst>
          </p:cNvPr>
          <p:cNvSpPr txBox="1"/>
          <p:nvPr/>
        </p:nvSpPr>
        <p:spPr>
          <a:xfrm>
            <a:off x="4631470" y="32144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2.7%</a:t>
            </a:r>
            <a:endParaRPr lang="en-US" sz="1000"/>
          </a:p>
        </p:txBody>
      </p:sp>
      <p:sp>
        <p:nvSpPr>
          <p:cNvPr id="509" name="Shape 38">
            <a:extLst>
              <a:ext uri="{FF2B5EF4-FFF2-40B4-BE49-F238E27FC236}">
                <a16:creationId xmlns:a16="http://schemas.microsoft.com/office/drawing/2014/main" id="{A7448BEC-62E7-0228-E303-0F1414250AA2}"/>
              </a:ext>
            </a:extLst>
          </p:cNvPr>
          <p:cNvSpPr/>
          <p:nvPr/>
        </p:nvSpPr>
        <p:spPr>
          <a:xfrm>
            <a:off x="3904427" y="3778656"/>
            <a:ext cx="771024" cy="132049"/>
          </a:xfrm>
          <a:prstGeom prst="rect">
            <a:avLst/>
          </a:prstGeom>
          <a:solidFill>
            <a:srgbClr val="0C514E"/>
          </a:solidFill>
          <a:ln/>
        </p:spPr>
        <p:txBody>
          <a:bodyPr/>
          <a:lstStyle/>
          <a:p>
            <a:endParaRPr lang="es-PE" sz="2400"/>
          </a:p>
        </p:txBody>
      </p:sp>
      <p:sp>
        <p:nvSpPr>
          <p:cNvPr id="511" name="Text 39">
            <a:extLst>
              <a:ext uri="{FF2B5EF4-FFF2-40B4-BE49-F238E27FC236}">
                <a16:creationId xmlns:a16="http://schemas.microsoft.com/office/drawing/2014/main" id="{EDEC94B0-5C9B-15D5-F7AE-24BBFC8054BD}"/>
              </a:ext>
            </a:extLst>
          </p:cNvPr>
          <p:cNvSpPr txBox="1"/>
          <p:nvPr/>
        </p:nvSpPr>
        <p:spPr>
          <a:xfrm>
            <a:off x="4724575" y="3742644"/>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15.9%</a:t>
            </a:r>
            <a:endParaRPr lang="en-US" sz="1000"/>
          </a:p>
        </p:txBody>
      </p:sp>
      <p:sp>
        <p:nvSpPr>
          <p:cNvPr id="66" name="Shape 40">
            <a:extLst>
              <a:ext uri="{FF2B5EF4-FFF2-40B4-BE49-F238E27FC236}">
                <a16:creationId xmlns:a16="http://schemas.microsoft.com/office/drawing/2014/main" id="{94892E03-D95C-86E6-153F-0C8D44625858}"/>
              </a:ext>
            </a:extLst>
          </p:cNvPr>
          <p:cNvSpPr/>
          <p:nvPr/>
        </p:nvSpPr>
        <p:spPr>
          <a:xfrm>
            <a:off x="5844846" y="2722264"/>
            <a:ext cx="1129864" cy="132049"/>
          </a:xfrm>
          <a:prstGeom prst="rect">
            <a:avLst/>
          </a:prstGeom>
          <a:solidFill>
            <a:srgbClr val="13807B"/>
          </a:solidFill>
          <a:ln/>
        </p:spPr>
        <p:txBody>
          <a:bodyPr/>
          <a:lstStyle/>
          <a:p>
            <a:endParaRPr lang="es-PE" sz="2400"/>
          </a:p>
        </p:txBody>
      </p:sp>
      <p:sp>
        <p:nvSpPr>
          <p:cNvPr id="68" name="Text 41">
            <a:extLst>
              <a:ext uri="{FF2B5EF4-FFF2-40B4-BE49-F238E27FC236}">
                <a16:creationId xmlns:a16="http://schemas.microsoft.com/office/drawing/2014/main" id="{F4FF0216-BFA7-545C-B9E3-FC66FDB4BFF7}"/>
              </a:ext>
            </a:extLst>
          </p:cNvPr>
          <p:cNvSpPr txBox="1"/>
          <p:nvPr/>
        </p:nvSpPr>
        <p:spPr>
          <a:xfrm>
            <a:off x="7023834" y="2686250"/>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27.5%</a:t>
            </a:r>
            <a:endParaRPr lang="en-US" sz="1000"/>
          </a:p>
        </p:txBody>
      </p:sp>
      <p:sp>
        <p:nvSpPr>
          <p:cNvPr id="71" name="Shape 42">
            <a:extLst>
              <a:ext uri="{FF2B5EF4-FFF2-40B4-BE49-F238E27FC236}">
                <a16:creationId xmlns:a16="http://schemas.microsoft.com/office/drawing/2014/main" id="{BEB23DB9-6492-7801-5662-D5566BB30281}"/>
              </a:ext>
            </a:extLst>
          </p:cNvPr>
          <p:cNvSpPr/>
          <p:nvPr/>
        </p:nvSpPr>
        <p:spPr>
          <a:xfrm>
            <a:off x="5844846" y="3250462"/>
            <a:ext cx="100433" cy="132049"/>
          </a:xfrm>
          <a:prstGeom prst="rect">
            <a:avLst/>
          </a:prstGeom>
          <a:solidFill>
            <a:srgbClr val="13807B"/>
          </a:solidFill>
          <a:ln/>
        </p:spPr>
        <p:txBody>
          <a:bodyPr/>
          <a:lstStyle/>
          <a:p>
            <a:endParaRPr lang="es-PE" sz="2400"/>
          </a:p>
        </p:txBody>
      </p:sp>
      <p:sp>
        <p:nvSpPr>
          <p:cNvPr id="74" name="Text 43">
            <a:extLst>
              <a:ext uri="{FF2B5EF4-FFF2-40B4-BE49-F238E27FC236}">
                <a16:creationId xmlns:a16="http://schemas.microsoft.com/office/drawing/2014/main" id="{03EB28A6-071B-7E37-0728-CDE09B8D2002}"/>
              </a:ext>
            </a:extLst>
          </p:cNvPr>
          <p:cNvSpPr txBox="1"/>
          <p:nvPr/>
        </p:nvSpPr>
        <p:spPr>
          <a:xfrm>
            <a:off x="5994404" y="3214448"/>
            <a:ext cx="675463" cy="204077"/>
          </a:xfrm>
          <a:prstGeom prst="rect">
            <a:avLst/>
          </a:prstGeom>
          <a:noFill/>
          <a:ln/>
        </p:spPr>
        <p:txBody>
          <a:bodyPr wrap="square" lIns="0" tIns="0" rIns="0" bIns="0" rtlCol="0" anchor="ctr"/>
          <a:lstStyle/>
          <a:p>
            <a:r>
              <a:rPr lang="en-US" sz="1000" b="1">
                <a:solidFill>
                  <a:srgbClr val="C87A0B"/>
                </a:solidFill>
                <a:latin typeface="Calibri" pitchFamily="34" charset="0"/>
                <a:ea typeface="Calibri" pitchFamily="34" charset="-122"/>
                <a:cs typeface="Calibri" pitchFamily="34" charset="-120"/>
              </a:rPr>
              <a:t>0.4%</a:t>
            </a:r>
            <a:endParaRPr lang="en-US" sz="1000"/>
          </a:p>
        </p:txBody>
      </p:sp>
      <p:sp>
        <p:nvSpPr>
          <p:cNvPr id="76" name="Shape 44">
            <a:extLst>
              <a:ext uri="{FF2B5EF4-FFF2-40B4-BE49-F238E27FC236}">
                <a16:creationId xmlns:a16="http://schemas.microsoft.com/office/drawing/2014/main" id="{E7BDCAB2-458E-E60F-2DD3-D7A31C9F67FB}"/>
              </a:ext>
            </a:extLst>
          </p:cNvPr>
          <p:cNvSpPr/>
          <p:nvPr/>
        </p:nvSpPr>
        <p:spPr>
          <a:xfrm>
            <a:off x="5844846" y="3778656"/>
            <a:ext cx="460674" cy="132049"/>
          </a:xfrm>
          <a:prstGeom prst="rect">
            <a:avLst/>
          </a:prstGeom>
          <a:solidFill>
            <a:srgbClr val="13807B"/>
          </a:solidFill>
          <a:ln/>
        </p:spPr>
        <p:txBody>
          <a:bodyPr/>
          <a:lstStyle/>
          <a:p>
            <a:endParaRPr lang="es-PE" sz="2400"/>
          </a:p>
        </p:txBody>
      </p:sp>
      <p:sp>
        <p:nvSpPr>
          <p:cNvPr id="79" name="Text 45">
            <a:extLst>
              <a:ext uri="{FF2B5EF4-FFF2-40B4-BE49-F238E27FC236}">
                <a16:creationId xmlns:a16="http://schemas.microsoft.com/office/drawing/2014/main" id="{F60BE65A-5BFB-2146-EA2D-52B7AECA867D}"/>
              </a:ext>
            </a:extLst>
          </p:cNvPr>
          <p:cNvSpPr txBox="1"/>
          <p:nvPr/>
        </p:nvSpPr>
        <p:spPr>
          <a:xfrm>
            <a:off x="6354645" y="3742644"/>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9.5%</a:t>
            </a:r>
            <a:endParaRPr lang="en-US" sz="1000"/>
          </a:p>
        </p:txBody>
      </p:sp>
      <p:sp>
        <p:nvSpPr>
          <p:cNvPr id="82" name="Shape 46">
            <a:extLst>
              <a:ext uri="{FF2B5EF4-FFF2-40B4-BE49-F238E27FC236}">
                <a16:creationId xmlns:a16="http://schemas.microsoft.com/office/drawing/2014/main" id="{D64FCCE5-0EEF-6D7B-63FE-B980CD772E5D}"/>
              </a:ext>
            </a:extLst>
          </p:cNvPr>
          <p:cNvSpPr/>
          <p:nvPr/>
        </p:nvSpPr>
        <p:spPr>
          <a:xfrm>
            <a:off x="7785265" y="2722264"/>
            <a:ext cx="194804" cy="132049"/>
          </a:xfrm>
          <a:prstGeom prst="rect">
            <a:avLst/>
          </a:prstGeom>
          <a:solidFill>
            <a:srgbClr val="2F9E98"/>
          </a:solidFill>
          <a:ln/>
        </p:spPr>
        <p:txBody>
          <a:bodyPr/>
          <a:lstStyle/>
          <a:p>
            <a:endParaRPr lang="es-PE" sz="2400"/>
          </a:p>
        </p:txBody>
      </p:sp>
      <p:sp>
        <p:nvSpPr>
          <p:cNvPr id="84" name="Text 47">
            <a:extLst>
              <a:ext uri="{FF2B5EF4-FFF2-40B4-BE49-F238E27FC236}">
                <a16:creationId xmlns:a16="http://schemas.microsoft.com/office/drawing/2014/main" id="{DBCD6071-6314-7F21-4698-0170ACFBDE28}"/>
              </a:ext>
            </a:extLst>
          </p:cNvPr>
          <p:cNvSpPr txBox="1"/>
          <p:nvPr/>
        </p:nvSpPr>
        <p:spPr>
          <a:xfrm>
            <a:off x="8029194" y="2686250"/>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5.3%</a:t>
            </a:r>
            <a:endParaRPr lang="en-US" sz="1000"/>
          </a:p>
        </p:txBody>
      </p:sp>
      <p:sp>
        <p:nvSpPr>
          <p:cNvPr id="87" name="Shape 48">
            <a:extLst>
              <a:ext uri="{FF2B5EF4-FFF2-40B4-BE49-F238E27FC236}">
                <a16:creationId xmlns:a16="http://schemas.microsoft.com/office/drawing/2014/main" id="{AD36DCFF-D2B7-D19E-A021-B7C324BDDB0E}"/>
              </a:ext>
            </a:extLst>
          </p:cNvPr>
          <p:cNvSpPr/>
          <p:nvPr/>
        </p:nvSpPr>
        <p:spPr>
          <a:xfrm>
            <a:off x="7785264" y="3250462"/>
            <a:ext cx="1129864" cy="132049"/>
          </a:xfrm>
          <a:prstGeom prst="rect">
            <a:avLst/>
          </a:prstGeom>
          <a:solidFill>
            <a:srgbClr val="2F9E98"/>
          </a:solidFill>
          <a:ln/>
        </p:spPr>
        <p:txBody>
          <a:bodyPr/>
          <a:lstStyle/>
          <a:p>
            <a:endParaRPr lang="es-PE" sz="2400"/>
          </a:p>
        </p:txBody>
      </p:sp>
      <p:sp>
        <p:nvSpPr>
          <p:cNvPr id="90" name="Text 49">
            <a:extLst>
              <a:ext uri="{FF2B5EF4-FFF2-40B4-BE49-F238E27FC236}">
                <a16:creationId xmlns:a16="http://schemas.microsoft.com/office/drawing/2014/main" id="{160158FE-81A5-4850-122B-C821E748616F}"/>
              </a:ext>
            </a:extLst>
          </p:cNvPr>
          <p:cNvSpPr txBox="1"/>
          <p:nvPr/>
        </p:nvSpPr>
        <p:spPr>
          <a:xfrm>
            <a:off x="8964253" y="32144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4.6%</a:t>
            </a:r>
            <a:endParaRPr lang="en-US" sz="1000"/>
          </a:p>
        </p:txBody>
      </p:sp>
      <p:sp>
        <p:nvSpPr>
          <p:cNvPr id="92" name="Shape 50">
            <a:extLst>
              <a:ext uri="{FF2B5EF4-FFF2-40B4-BE49-F238E27FC236}">
                <a16:creationId xmlns:a16="http://schemas.microsoft.com/office/drawing/2014/main" id="{FBCAAB03-4B40-04F3-8B54-E0BCBB10BD5A}"/>
              </a:ext>
            </a:extLst>
          </p:cNvPr>
          <p:cNvSpPr/>
          <p:nvPr/>
        </p:nvSpPr>
        <p:spPr>
          <a:xfrm>
            <a:off x="7785264" y="3778656"/>
            <a:ext cx="1003786" cy="132049"/>
          </a:xfrm>
          <a:prstGeom prst="rect">
            <a:avLst/>
          </a:prstGeom>
          <a:solidFill>
            <a:srgbClr val="2F9E98"/>
          </a:solidFill>
          <a:ln/>
        </p:spPr>
        <p:txBody>
          <a:bodyPr/>
          <a:lstStyle/>
          <a:p>
            <a:endParaRPr lang="es-PE" sz="2400"/>
          </a:p>
        </p:txBody>
      </p:sp>
      <p:sp>
        <p:nvSpPr>
          <p:cNvPr id="95" name="Text 51">
            <a:extLst>
              <a:ext uri="{FF2B5EF4-FFF2-40B4-BE49-F238E27FC236}">
                <a16:creationId xmlns:a16="http://schemas.microsoft.com/office/drawing/2014/main" id="{7321491A-0E50-CB5E-C6B1-5730B99C758E}"/>
              </a:ext>
            </a:extLst>
          </p:cNvPr>
          <p:cNvSpPr txBox="1"/>
          <p:nvPr/>
        </p:nvSpPr>
        <p:spPr>
          <a:xfrm>
            <a:off x="8838174" y="3742644"/>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20.7%</a:t>
            </a:r>
            <a:endParaRPr lang="en-US" sz="1000"/>
          </a:p>
        </p:txBody>
      </p:sp>
      <p:sp>
        <p:nvSpPr>
          <p:cNvPr id="98" name="Shape 52">
            <a:extLst>
              <a:ext uri="{FF2B5EF4-FFF2-40B4-BE49-F238E27FC236}">
                <a16:creationId xmlns:a16="http://schemas.microsoft.com/office/drawing/2014/main" id="{30291C68-6FFF-5462-0E9B-9F835894666E}"/>
              </a:ext>
            </a:extLst>
          </p:cNvPr>
          <p:cNvSpPr/>
          <p:nvPr/>
        </p:nvSpPr>
        <p:spPr>
          <a:xfrm>
            <a:off x="9725682" y="2722264"/>
            <a:ext cx="617808" cy="132049"/>
          </a:xfrm>
          <a:prstGeom prst="rect">
            <a:avLst/>
          </a:prstGeom>
          <a:solidFill>
            <a:srgbClr val="445A6E"/>
          </a:solidFill>
          <a:ln/>
        </p:spPr>
        <p:txBody>
          <a:bodyPr/>
          <a:lstStyle/>
          <a:p>
            <a:endParaRPr lang="es-PE" sz="2400"/>
          </a:p>
        </p:txBody>
      </p:sp>
      <p:sp>
        <p:nvSpPr>
          <p:cNvPr id="100" name="Text 53">
            <a:extLst>
              <a:ext uri="{FF2B5EF4-FFF2-40B4-BE49-F238E27FC236}">
                <a16:creationId xmlns:a16="http://schemas.microsoft.com/office/drawing/2014/main" id="{061E4A5A-F265-D71F-A691-AF20613F6F74}"/>
              </a:ext>
            </a:extLst>
          </p:cNvPr>
          <p:cNvSpPr txBox="1"/>
          <p:nvPr/>
        </p:nvSpPr>
        <p:spPr>
          <a:xfrm>
            <a:off x="10392616" y="2686250"/>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15.0%</a:t>
            </a:r>
            <a:endParaRPr lang="en-US" sz="1000"/>
          </a:p>
        </p:txBody>
      </p:sp>
      <p:sp>
        <p:nvSpPr>
          <p:cNvPr id="103" name="Shape 54">
            <a:extLst>
              <a:ext uri="{FF2B5EF4-FFF2-40B4-BE49-F238E27FC236}">
                <a16:creationId xmlns:a16="http://schemas.microsoft.com/office/drawing/2014/main" id="{34989EA7-F9E0-5E5E-FCF0-407903BA43AE}"/>
              </a:ext>
            </a:extLst>
          </p:cNvPr>
          <p:cNvSpPr/>
          <p:nvPr/>
        </p:nvSpPr>
        <p:spPr>
          <a:xfrm>
            <a:off x="9725682" y="3250462"/>
            <a:ext cx="276189" cy="132049"/>
          </a:xfrm>
          <a:prstGeom prst="rect">
            <a:avLst/>
          </a:prstGeom>
          <a:solidFill>
            <a:srgbClr val="445A6E"/>
          </a:solidFill>
          <a:ln/>
        </p:spPr>
        <p:txBody>
          <a:bodyPr/>
          <a:lstStyle/>
          <a:p>
            <a:endParaRPr lang="es-PE" sz="2400"/>
          </a:p>
        </p:txBody>
      </p:sp>
      <p:sp>
        <p:nvSpPr>
          <p:cNvPr id="106" name="Text 55">
            <a:extLst>
              <a:ext uri="{FF2B5EF4-FFF2-40B4-BE49-F238E27FC236}">
                <a16:creationId xmlns:a16="http://schemas.microsoft.com/office/drawing/2014/main" id="{749825B8-52EB-94FE-315D-9E2F1580C761}"/>
              </a:ext>
            </a:extLst>
          </p:cNvPr>
          <p:cNvSpPr txBox="1"/>
          <p:nvPr/>
        </p:nvSpPr>
        <p:spPr>
          <a:xfrm>
            <a:off x="10050995" y="3214448"/>
            <a:ext cx="675463" cy="204077"/>
          </a:xfrm>
          <a:prstGeom prst="rect">
            <a:avLst/>
          </a:prstGeom>
          <a:noFill/>
          <a:ln/>
        </p:spPr>
        <p:txBody>
          <a:bodyPr wrap="square" lIns="0" tIns="0" rIns="0" bIns="0" rtlCol="0" anchor="ctr"/>
          <a:lstStyle/>
          <a:p>
            <a:r>
              <a:rPr lang="en-US" sz="1000" b="1">
                <a:solidFill>
                  <a:srgbClr val="C87A0B"/>
                </a:solidFill>
                <a:latin typeface="Calibri" pitchFamily="34" charset="0"/>
                <a:ea typeface="Calibri" pitchFamily="34" charset="-122"/>
                <a:cs typeface="Calibri" pitchFamily="34" charset="-120"/>
              </a:rPr>
              <a:t>1.1%</a:t>
            </a:r>
            <a:endParaRPr lang="en-US" sz="1000"/>
          </a:p>
        </p:txBody>
      </p:sp>
      <p:sp>
        <p:nvSpPr>
          <p:cNvPr id="108" name="Shape 56">
            <a:extLst>
              <a:ext uri="{FF2B5EF4-FFF2-40B4-BE49-F238E27FC236}">
                <a16:creationId xmlns:a16="http://schemas.microsoft.com/office/drawing/2014/main" id="{99A72E42-CC6C-E087-094A-4728AB9AF535}"/>
              </a:ext>
            </a:extLst>
          </p:cNvPr>
          <p:cNvSpPr/>
          <p:nvPr/>
        </p:nvSpPr>
        <p:spPr>
          <a:xfrm>
            <a:off x="9725684" y="3778656"/>
            <a:ext cx="698285" cy="132049"/>
          </a:xfrm>
          <a:prstGeom prst="rect">
            <a:avLst/>
          </a:prstGeom>
          <a:solidFill>
            <a:srgbClr val="445A6E"/>
          </a:solidFill>
          <a:ln/>
        </p:spPr>
        <p:txBody>
          <a:bodyPr/>
          <a:lstStyle/>
          <a:p>
            <a:endParaRPr lang="es-PE" sz="2400"/>
          </a:p>
        </p:txBody>
      </p:sp>
      <p:sp>
        <p:nvSpPr>
          <p:cNvPr id="111" name="Text 57">
            <a:extLst>
              <a:ext uri="{FF2B5EF4-FFF2-40B4-BE49-F238E27FC236}">
                <a16:creationId xmlns:a16="http://schemas.microsoft.com/office/drawing/2014/main" id="{1081ED7E-C3E7-F314-15E9-52B83824AA92}"/>
              </a:ext>
            </a:extLst>
          </p:cNvPr>
          <p:cNvSpPr txBox="1"/>
          <p:nvPr/>
        </p:nvSpPr>
        <p:spPr>
          <a:xfrm>
            <a:off x="10473094" y="3742644"/>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14.4%</a:t>
            </a:r>
            <a:endParaRPr lang="en-US" sz="1000"/>
          </a:p>
        </p:txBody>
      </p:sp>
      <p:sp>
        <p:nvSpPr>
          <p:cNvPr id="114" name="Shape 58">
            <a:extLst>
              <a:ext uri="{FF2B5EF4-FFF2-40B4-BE49-F238E27FC236}">
                <a16:creationId xmlns:a16="http://schemas.microsoft.com/office/drawing/2014/main" id="{458A9622-321A-35B8-ECAA-140D1BB09408}"/>
              </a:ext>
            </a:extLst>
          </p:cNvPr>
          <p:cNvSpPr/>
          <p:nvPr/>
        </p:nvSpPr>
        <p:spPr>
          <a:xfrm>
            <a:off x="11666103" y="2722264"/>
            <a:ext cx="333949" cy="132049"/>
          </a:xfrm>
          <a:prstGeom prst="rect">
            <a:avLst/>
          </a:prstGeom>
          <a:solidFill>
            <a:srgbClr val="C87A0B"/>
          </a:solidFill>
          <a:ln/>
        </p:spPr>
        <p:txBody>
          <a:bodyPr/>
          <a:lstStyle/>
          <a:p>
            <a:endParaRPr lang="es-PE" sz="2400"/>
          </a:p>
        </p:txBody>
      </p:sp>
      <p:sp>
        <p:nvSpPr>
          <p:cNvPr id="116" name="Text 59">
            <a:extLst>
              <a:ext uri="{FF2B5EF4-FFF2-40B4-BE49-F238E27FC236}">
                <a16:creationId xmlns:a16="http://schemas.microsoft.com/office/drawing/2014/main" id="{3A6C6CC5-2212-F731-5444-EF5C8417C8ED}"/>
              </a:ext>
            </a:extLst>
          </p:cNvPr>
          <p:cNvSpPr txBox="1"/>
          <p:nvPr/>
        </p:nvSpPr>
        <p:spPr>
          <a:xfrm>
            <a:off x="12049177" y="2686250"/>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9.0%</a:t>
            </a:r>
            <a:endParaRPr lang="en-US" sz="1000"/>
          </a:p>
        </p:txBody>
      </p:sp>
      <p:sp>
        <p:nvSpPr>
          <p:cNvPr id="119" name="Shape 60">
            <a:extLst>
              <a:ext uri="{FF2B5EF4-FFF2-40B4-BE49-F238E27FC236}">
                <a16:creationId xmlns:a16="http://schemas.microsoft.com/office/drawing/2014/main" id="{F769A2B8-2529-54CD-FE80-49859AE016DC}"/>
              </a:ext>
            </a:extLst>
          </p:cNvPr>
          <p:cNvSpPr/>
          <p:nvPr/>
        </p:nvSpPr>
        <p:spPr>
          <a:xfrm>
            <a:off x="11666101" y="3250462"/>
            <a:ext cx="703026" cy="132049"/>
          </a:xfrm>
          <a:prstGeom prst="rect">
            <a:avLst/>
          </a:prstGeom>
          <a:solidFill>
            <a:srgbClr val="C87A0B"/>
          </a:solidFill>
          <a:ln/>
        </p:spPr>
        <p:txBody>
          <a:bodyPr/>
          <a:lstStyle/>
          <a:p>
            <a:endParaRPr lang="es-PE" sz="2400"/>
          </a:p>
        </p:txBody>
      </p:sp>
      <p:sp>
        <p:nvSpPr>
          <p:cNvPr id="122" name="Text 61">
            <a:extLst>
              <a:ext uri="{FF2B5EF4-FFF2-40B4-BE49-F238E27FC236}">
                <a16:creationId xmlns:a16="http://schemas.microsoft.com/office/drawing/2014/main" id="{2027C614-4098-9418-C9FD-9404859DE52E}"/>
              </a:ext>
            </a:extLst>
          </p:cNvPr>
          <p:cNvSpPr txBox="1"/>
          <p:nvPr/>
        </p:nvSpPr>
        <p:spPr>
          <a:xfrm>
            <a:off x="12418253" y="32144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3.0%</a:t>
            </a:r>
            <a:endParaRPr lang="en-US" sz="1000"/>
          </a:p>
        </p:txBody>
      </p:sp>
      <p:sp>
        <p:nvSpPr>
          <p:cNvPr id="124" name="Shape 62">
            <a:extLst>
              <a:ext uri="{FF2B5EF4-FFF2-40B4-BE49-F238E27FC236}">
                <a16:creationId xmlns:a16="http://schemas.microsoft.com/office/drawing/2014/main" id="{F7286F77-74C8-E74D-E4B6-FFD6159B7BDB}"/>
              </a:ext>
            </a:extLst>
          </p:cNvPr>
          <p:cNvSpPr/>
          <p:nvPr/>
        </p:nvSpPr>
        <p:spPr>
          <a:xfrm>
            <a:off x="11666101" y="3778656"/>
            <a:ext cx="1129864" cy="132049"/>
          </a:xfrm>
          <a:prstGeom prst="rect">
            <a:avLst/>
          </a:prstGeom>
          <a:solidFill>
            <a:srgbClr val="C87A0B"/>
          </a:solidFill>
          <a:ln/>
        </p:spPr>
        <p:txBody>
          <a:bodyPr/>
          <a:lstStyle/>
          <a:p>
            <a:endParaRPr lang="es-PE" sz="2400"/>
          </a:p>
        </p:txBody>
      </p:sp>
      <p:sp>
        <p:nvSpPr>
          <p:cNvPr id="127" name="Text 63">
            <a:extLst>
              <a:ext uri="{FF2B5EF4-FFF2-40B4-BE49-F238E27FC236}">
                <a16:creationId xmlns:a16="http://schemas.microsoft.com/office/drawing/2014/main" id="{2538AAD6-7FA9-49C0-B236-4FEC7F55AE1E}"/>
              </a:ext>
            </a:extLst>
          </p:cNvPr>
          <p:cNvSpPr txBox="1"/>
          <p:nvPr/>
        </p:nvSpPr>
        <p:spPr>
          <a:xfrm>
            <a:off x="12845090" y="3742644"/>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23.3%</a:t>
            </a:r>
            <a:endParaRPr lang="en-US" sz="1000"/>
          </a:p>
        </p:txBody>
      </p:sp>
      <p:sp>
        <p:nvSpPr>
          <p:cNvPr id="130" name="Shape 64">
            <a:extLst>
              <a:ext uri="{FF2B5EF4-FFF2-40B4-BE49-F238E27FC236}">
                <a16:creationId xmlns:a16="http://schemas.microsoft.com/office/drawing/2014/main" id="{158DFC5C-F031-F0B2-F63B-088D800735D1}"/>
              </a:ext>
            </a:extLst>
          </p:cNvPr>
          <p:cNvSpPr/>
          <p:nvPr/>
        </p:nvSpPr>
        <p:spPr>
          <a:xfrm>
            <a:off x="13606520" y="2722264"/>
            <a:ext cx="372910" cy="132049"/>
          </a:xfrm>
          <a:prstGeom prst="rect">
            <a:avLst/>
          </a:prstGeom>
          <a:solidFill>
            <a:srgbClr val="C04B4B"/>
          </a:solidFill>
          <a:ln/>
        </p:spPr>
        <p:txBody>
          <a:bodyPr/>
          <a:lstStyle/>
          <a:p>
            <a:endParaRPr lang="es-PE" sz="2400"/>
          </a:p>
        </p:txBody>
      </p:sp>
      <p:sp>
        <p:nvSpPr>
          <p:cNvPr id="132" name="Text 65">
            <a:extLst>
              <a:ext uri="{FF2B5EF4-FFF2-40B4-BE49-F238E27FC236}">
                <a16:creationId xmlns:a16="http://schemas.microsoft.com/office/drawing/2014/main" id="{F9B17F2B-A79C-6CAF-765F-B664AEFA12FE}"/>
              </a:ext>
            </a:extLst>
          </p:cNvPr>
          <p:cNvSpPr txBox="1"/>
          <p:nvPr/>
        </p:nvSpPr>
        <p:spPr>
          <a:xfrm>
            <a:off x="14028555" y="2686250"/>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3.1%</a:t>
            </a:r>
            <a:endParaRPr lang="en-US" sz="1000"/>
          </a:p>
        </p:txBody>
      </p:sp>
      <p:sp>
        <p:nvSpPr>
          <p:cNvPr id="135" name="Shape 66">
            <a:extLst>
              <a:ext uri="{FF2B5EF4-FFF2-40B4-BE49-F238E27FC236}">
                <a16:creationId xmlns:a16="http://schemas.microsoft.com/office/drawing/2014/main" id="{545482EE-C428-5B16-51A9-6E59726BA4F4}"/>
              </a:ext>
            </a:extLst>
          </p:cNvPr>
          <p:cNvSpPr/>
          <p:nvPr/>
        </p:nvSpPr>
        <p:spPr>
          <a:xfrm>
            <a:off x="13606519" y="3250462"/>
            <a:ext cx="853676" cy="132049"/>
          </a:xfrm>
          <a:prstGeom prst="rect">
            <a:avLst/>
          </a:prstGeom>
          <a:solidFill>
            <a:srgbClr val="C04B4B"/>
          </a:solidFill>
          <a:ln/>
        </p:spPr>
        <p:txBody>
          <a:bodyPr/>
          <a:lstStyle/>
          <a:p>
            <a:endParaRPr lang="es-PE" sz="2400"/>
          </a:p>
        </p:txBody>
      </p:sp>
      <p:sp>
        <p:nvSpPr>
          <p:cNvPr id="138" name="Text 67">
            <a:extLst>
              <a:ext uri="{FF2B5EF4-FFF2-40B4-BE49-F238E27FC236}">
                <a16:creationId xmlns:a16="http://schemas.microsoft.com/office/drawing/2014/main" id="{EC3FCAE7-BA6B-E974-E98B-F279F8E82009}"/>
              </a:ext>
            </a:extLst>
          </p:cNvPr>
          <p:cNvSpPr txBox="1"/>
          <p:nvPr/>
        </p:nvSpPr>
        <p:spPr>
          <a:xfrm>
            <a:off x="14509321" y="32144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3.3%</a:t>
            </a:r>
            <a:endParaRPr lang="en-US" sz="1000"/>
          </a:p>
        </p:txBody>
      </p:sp>
      <p:sp>
        <p:nvSpPr>
          <p:cNvPr id="140" name="Shape 68">
            <a:extLst>
              <a:ext uri="{FF2B5EF4-FFF2-40B4-BE49-F238E27FC236}">
                <a16:creationId xmlns:a16="http://schemas.microsoft.com/office/drawing/2014/main" id="{67895B3A-2462-CBFC-1D45-A8EDD1A45270}"/>
              </a:ext>
            </a:extLst>
          </p:cNvPr>
          <p:cNvSpPr/>
          <p:nvPr/>
        </p:nvSpPr>
        <p:spPr>
          <a:xfrm>
            <a:off x="13606520" y="3778656"/>
            <a:ext cx="421880" cy="132049"/>
          </a:xfrm>
          <a:prstGeom prst="rect">
            <a:avLst/>
          </a:prstGeom>
          <a:solidFill>
            <a:srgbClr val="C04B4B"/>
          </a:solidFill>
          <a:ln/>
        </p:spPr>
        <p:txBody>
          <a:bodyPr/>
          <a:lstStyle/>
          <a:p>
            <a:endParaRPr lang="es-PE" sz="2400"/>
          </a:p>
        </p:txBody>
      </p:sp>
      <p:sp>
        <p:nvSpPr>
          <p:cNvPr id="143" name="Text 69">
            <a:extLst>
              <a:ext uri="{FF2B5EF4-FFF2-40B4-BE49-F238E27FC236}">
                <a16:creationId xmlns:a16="http://schemas.microsoft.com/office/drawing/2014/main" id="{AE0F84C7-ECCE-DF4F-98A1-37E877D6A7E6}"/>
              </a:ext>
            </a:extLst>
          </p:cNvPr>
          <p:cNvSpPr txBox="1"/>
          <p:nvPr/>
        </p:nvSpPr>
        <p:spPr>
          <a:xfrm>
            <a:off x="14077525" y="3742644"/>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8.7%</a:t>
            </a:r>
            <a:endParaRPr lang="en-US" sz="1000"/>
          </a:p>
        </p:txBody>
      </p:sp>
      <p:sp>
        <p:nvSpPr>
          <p:cNvPr id="146" name="Text 70">
            <a:extLst>
              <a:ext uri="{FF2B5EF4-FFF2-40B4-BE49-F238E27FC236}">
                <a16:creationId xmlns:a16="http://schemas.microsoft.com/office/drawing/2014/main" id="{82B5115A-5ED3-FC06-67E5-268E0AA2D72A}"/>
              </a:ext>
            </a:extLst>
          </p:cNvPr>
          <p:cNvSpPr txBox="1"/>
          <p:nvPr/>
        </p:nvSpPr>
        <p:spPr>
          <a:xfrm>
            <a:off x="342899" y="4432901"/>
            <a:ext cx="2456226" cy="264098"/>
          </a:xfrm>
          <a:prstGeom prst="rect">
            <a:avLst/>
          </a:prstGeom>
          <a:noFill/>
          <a:ln/>
        </p:spPr>
        <p:txBody>
          <a:bodyPr wrap="square" lIns="0" tIns="0" rIns="0" bIns="0" rtlCol="0" anchor="ctr"/>
          <a:lstStyle/>
          <a:p>
            <a:r>
              <a:rPr lang="en-US" sz="1100" b="1" kern="0" spc="38">
                <a:solidFill>
                  <a:srgbClr val="0C514E"/>
                </a:solidFill>
                <a:latin typeface="Poppins" pitchFamily="34" charset="0"/>
                <a:ea typeface="Poppins" pitchFamily="34" charset="-122"/>
                <a:cs typeface="Poppins" pitchFamily="34" charset="-120"/>
              </a:rPr>
              <a:t>NEGOCIACIÓN DE TASA</a:t>
            </a:r>
            <a:endParaRPr lang="en-US" sz="1100"/>
          </a:p>
        </p:txBody>
      </p:sp>
      <p:sp>
        <p:nvSpPr>
          <p:cNvPr id="148" name="Text 71">
            <a:extLst>
              <a:ext uri="{FF2B5EF4-FFF2-40B4-BE49-F238E27FC236}">
                <a16:creationId xmlns:a16="http://schemas.microsoft.com/office/drawing/2014/main" id="{4CEC6BA5-33A1-3838-2839-14F51020612C}"/>
              </a:ext>
            </a:extLst>
          </p:cNvPr>
          <p:cNvSpPr txBox="1"/>
          <p:nvPr/>
        </p:nvSpPr>
        <p:spPr>
          <a:xfrm>
            <a:off x="342899" y="4721009"/>
            <a:ext cx="2456226" cy="1440536"/>
          </a:xfrm>
          <a:prstGeom prst="rect">
            <a:avLst/>
          </a:prstGeom>
          <a:noFill/>
          <a:ln/>
        </p:spPr>
        <p:txBody>
          <a:bodyPr wrap="square" lIns="0" tIns="0" rIns="0" bIns="0" rtlCol="0" anchor="t"/>
          <a:lstStyle/>
          <a:p>
            <a:r>
              <a:rPr lang="en-US" sz="1050">
                <a:solidFill>
                  <a:srgbClr val="6E7E7D"/>
                </a:solidFill>
                <a:latin typeface="Calibri" pitchFamily="34" charset="0"/>
                <a:ea typeface="Calibri" pitchFamily="34" charset="-122"/>
                <a:cs typeface="Calibri" pitchFamily="34" charset="-120"/>
              </a:rPr>
              <a:t>Todos negocian 2.3–3.8 pp bajo la oferta. A Reactivar (6) se le oferta más caro (22.7%), negocia 3.8 pp y aun así paga la TEA más alta. El descuento 400+ escala de 17% (1) a 39% (6).</a:t>
            </a:r>
            <a:endParaRPr lang="en-US" sz="1050"/>
          </a:p>
        </p:txBody>
      </p:sp>
      <p:sp>
        <p:nvSpPr>
          <p:cNvPr id="151" name="Text 72">
            <a:extLst>
              <a:ext uri="{FF2B5EF4-FFF2-40B4-BE49-F238E27FC236}">
                <a16:creationId xmlns:a16="http://schemas.microsoft.com/office/drawing/2014/main" id="{DAA31C2F-7690-54AC-8F58-D1ED247E03E6}"/>
              </a:ext>
            </a:extLst>
          </p:cNvPr>
          <p:cNvSpPr txBox="1"/>
          <p:nvPr/>
        </p:nvSpPr>
        <p:spPr>
          <a:xfrm>
            <a:off x="2823688" y="4853056"/>
            <a:ext cx="921085" cy="216081"/>
          </a:xfrm>
          <a:prstGeom prst="rect">
            <a:avLst/>
          </a:prstGeom>
          <a:noFill/>
          <a:ln/>
        </p:spPr>
        <p:txBody>
          <a:bodyPr wrap="square" lIns="0" tIns="0" rIns="0" bIns="0" rtlCol="0" anchor="ctr"/>
          <a:lstStyle/>
          <a:p>
            <a:pPr algn="r"/>
            <a:r>
              <a:rPr lang="en-US" sz="800">
                <a:solidFill>
                  <a:srgbClr val="6E7E7D"/>
                </a:solidFill>
                <a:latin typeface="Calibri" pitchFamily="34" charset="0"/>
                <a:ea typeface="Calibri" pitchFamily="34" charset="-122"/>
                <a:cs typeface="Calibri" pitchFamily="34" charset="-120"/>
              </a:rPr>
              <a:t>TEA </a:t>
            </a:r>
            <a:r>
              <a:rPr lang="en-US" sz="800" err="1">
                <a:solidFill>
                  <a:srgbClr val="6E7E7D"/>
                </a:solidFill>
                <a:latin typeface="Calibri" pitchFamily="34" charset="0"/>
                <a:ea typeface="Calibri" pitchFamily="34" charset="-122"/>
                <a:cs typeface="Calibri" pitchFamily="34" charset="-120"/>
              </a:rPr>
              <a:t>oferta</a:t>
            </a:r>
            <a:r>
              <a:rPr lang="en-US" sz="800">
                <a:solidFill>
                  <a:srgbClr val="6E7E7D"/>
                </a:solidFill>
                <a:latin typeface="Calibri" pitchFamily="34" charset="0"/>
                <a:ea typeface="Calibri" pitchFamily="34" charset="-122"/>
                <a:cs typeface="Calibri" pitchFamily="34" charset="-120"/>
              </a:rPr>
              <a:t> → </a:t>
            </a:r>
            <a:r>
              <a:rPr lang="en-US" sz="800" err="1">
                <a:solidFill>
                  <a:srgbClr val="6E7E7D"/>
                </a:solidFill>
                <a:latin typeface="Calibri" pitchFamily="34" charset="0"/>
                <a:ea typeface="Calibri" pitchFamily="34" charset="-122"/>
                <a:cs typeface="Calibri" pitchFamily="34" charset="-120"/>
              </a:rPr>
              <a:t>pactada</a:t>
            </a:r>
            <a:endParaRPr lang="en-US" sz="800"/>
          </a:p>
        </p:txBody>
      </p:sp>
      <p:sp>
        <p:nvSpPr>
          <p:cNvPr id="154" name="Text 73">
            <a:extLst>
              <a:ext uri="{FF2B5EF4-FFF2-40B4-BE49-F238E27FC236}">
                <a16:creationId xmlns:a16="http://schemas.microsoft.com/office/drawing/2014/main" id="{6B98E7FE-C788-5176-2621-D8B51260F04F}"/>
              </a:ext>
            </a:extLst>
          </p:cNvPr>
          <p:cNvSpPr txBox="1"/>
          <p:nvPr/>
        </p:nvSpPr>
        <p:spPr>
          <a:xfrm>
            <a:off x="2823688" y="5405262"/>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Δ negociado</a:t>
            </a:r>
            <a:endParaRPr lang="en-US" sz="1000"/>
          </a:p>
        </p:txBody>
      </p:sp>
      <p:sp>
        <p:nvSpPr>
          <p:cNvPr id="156" name="Text 74">
            <a:extLst>
              <a:ext uri="{FF2B5EF4-FFF2-40B4-BE49-F238E27FC236}">
                <a16:creationId xmlns:a16="http://schemas.microsoft.com/office/drawing/2014/main" id="{C40681EB-5F4A-FA80-0E0D-DD197FE27944}"/>
              </a:ext>
            </a:extLst>
          </p:cNvPr>
          <p:cNvSpPr txBox="1"/>
          <p:nvPr/>
        </p:nvSpPr>
        <p:spPr>
          <a:xfrm>
            <a:off x="2823688" y="5789406"/>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Desc. 400+ (% monto)</a:t>
            </a:r>
            <a:endParaRPr lang="en-US" sz="1000"/>
          </a:p>
        </p:txBody>
      </p:sp>
      <p:sp>
        <p:nvSpPr>
          <p:cNvPr id="159" name="Shape 75">
            <a:extLst>
              <a:ext uri="{FF2B5EF4-FFF2-40B4-BE49-F238E27FC236}">
                <a16:creationId xmlns:a16="http://schemas.microsoft.com/office/drawing/2014/main" id="{AF3D4B02-E1C8-E893-CF81-996FF71BFB87}"/>
              </a:ext>
            </a:extLst>
          </p:cNvPr>
          <p:cNvSpPr/>
          <p:nvPr/>
        </p:nvSpPr>
        <p:spPr>
          <a:xfrm>
            <a:off x="4186894" y="4961098"/>
            <a:ext cx="423699" cy="0"/>
          </a:xfrm>
          <a:prstGeom prst="line">
            <a:avLst/>
          </a:prstGeom>
          <a:noFill/>
          <a:ln w="19050">
            <a:solidFill>
              <a:srgbClr val="B9C6C5"/>
            </a:solidFill>
            <a:prstDash val="solid"/>
          </a:ln>
        </p:spPr>
        <p:txBody>
          <a:bodyPr/>
          <a:lstStyle/>
          <a:p>
            <a:endParaRPr lang="es-PE" sz="2400"/>
          </a:p>
        </p:txBody>
      </p:sp>
      <p:sp>
        <p:nvSpPr>
          <p:cNvPr id="162" name="Shape 76">
            <a:extLst>
              <a:ext uri="{FF2B5EF4-FFF2-40B4-BE49-F238E27FC236}">
                <a16:creationId xmlns:a16="http://schemas.microsoft.com/office/drawing/2014/main" id="{31423B12-6814-B338-2B9C-D830EA49F9BC}"/>
              </a:ext>
            </a:extLst>
          </p:cNvPr>
          <p:cNvSpPr/>
          <p:nvPr/>
        </p:nvSpPr>
        <p:spPr>
          <a:xfrm>
            <a:off x="4567608" y="4919082"/>
            <a:ext cx="85968" cy="84032"/>
          </a:xfrm>
          <a:prstGeom prst="ellipse">
            <a:avLst/>
          </a:prstGeom>
          <a:solidFill>
            <a:srgbClr val="B9C6C5"/>
          </a:solidFill>
          <a:ln/>
        </p:spPr>
        <p:txBody>
          <a:bodyPr/>
          <a:lstStyle/>
          <a:p>
            <a:endParaRPr lang="es-PE" sz="2400"/>
          </a:p>
        </p:txBody>
      </p:sp>
      <p:sp>
        <p:nvSpPr>
          <p:cNvPr id="164" name="Shape 77">
            <a:extLst>
              <a:ext uri="{FF2B5EF4-FFF2-40B4-BE49-F238E27FC236}">
                <a16:creationId xmlns:a16="http://schemas.microsoft.com/office/drawing/2014/main" id="{3BB95826-F62A-FD13-8FEC-FABC50D42CB5}"/>
              </a:ext>
            </a:extLst>
          </p:cNvPr>
          <p:cNvSpPr/>
          <p:nvPr/>
        </p:nvSpPr>
        <p:spPr>
          <a:xfrm>
            <a:off x="4125487" y="4901075"/>
            <a:ext cx="122812" cy="120044"/>
          </a:xfrm>
          <a:prstGeom prst="ellipse">
            <a:avLst/>
          </a:prstGeom>
          <a:solidFill>
            <a:srgbClr val="0C514E"/>
          </a:solidFill>
          <a:ln/>
        </p:spPr>
        <p:txBody>
          <a:bodyPr/>
          <a:lstStyle/>
          <a:p>
            <a:endParaRPr lang="es-PE" sz="2400"/>
          </a:p>
        </p:txBody>
      </p:sp>
      <p:sp>
        <p:nvSpPr>
          <p:cNvPr id="167" name="Text 78">
            <a:extLst>
              <a:ext uri="{FF2B5EF4-FFF2-40B4-BE49-F238E27FC236}">
                <a16:creationId xmlns:a16="http://schemas.microsoft.com/office/drawing/2014/main" id="{EE19E78B-EF59-89F0-9554-E5AF6C4C9102}"/>
              </a:ext>
            </a:extLst>
          </p:cNvPr>
          <p:cNvSpPr txBox="1"/>
          <p:nvPr/>
        </p:nvSpPr>
        <p:spPr>
          <a:xfrm>
            <a:off x="4364969" y="4636977"/>
            <a:ext cx="491245" cy="180067"/>
          </a:xfrm>
          <a:prstGeom prst="rect">
            <a:avLst/>
          </a:prstGeom>
          <a:noFill/>
          <a:ln/>
        </p:spPr>
        <p:txBody>
          <a:bodyPr wrap="square" lIns="0" tIns="0" rIns="0" bIns="0" rtlCol="0" anchor="ctr"/>
          <a:lstStyle/>
          <a:p>
            <a:pPr algn="ctr"/>
            <a:r>
              <a:rPr lang="en-US" sz="1000">
                <a:solidFill>
                  <a:srgbClr val="6E7E7D"/>
                </a:solidFill>
                <a:latin typeface="Calibri" pitchFamily="34" charset="0"/>
                <a:ea typeface="Calibri" pitchFamily="34" charset="-122"/>
                <a:cs typeface="Calibri" pitchFamily="34" charset="-120"/>
              </a:rPr>
              <a:t>20.0</a:t>
            </a:r>
            <a:endParaRPr lang="en-US" sz="1000"/>
          </a:p>
        </p:txBody>
      </p:sp>
      <p:sp>
        <p:nvSpPr>
          <p:cNvPr id="170" name="Text 79">
            <a:extLst>
              <a:ext uri="{FF2B5EF4-FFF2-40B4-BE49-F238E27FC236}">
                <a16:creationId xmlns:a16="http://schemas.microsoft.com/office/drawing/2014/main" id="{54A23A58-5CF4-DE9A-9E4D-B8A75EF54B79}"/>
              </a:ext>
            </a:extLst>
          </p:cNvPr>
          <p:cNvSpPr txBox="1"/>
          <p:nvPr/>
        </p:nvSpPr>
        <p:spPr>
          <a:xfrm>
            <a:off x="3818459" y="5069138"/>
            <a:ext cx="736869" cy="192072"/>
          </a:xfrm>
          <a:prstGeom prst="rect">
            <a:avLst/>
          </a:prstGeom>
          <a:noFill/>
          <a:ln/>
        </p:spPr>
        <p:txBody>
          <a:bodyPr wrap="square" lIns="0" tIns="0" rIns="0" bIns="0" rtlCol="0" anchor="ctr"/>
          <a:lstStyle/>
          <a:p>
            <a:pPr algn="ctr"/>
            <a:r>
              <a:rPr lang="en-US" sz="1050" b="1">
                <a:solidFill>
                  <a:srgbClr val="0C514E"/>
                </a:solidFill>
                <a:latin typeface="Calibri" pitchFamily="34" charset="0"/>
                <a:ea typeface="Calibri" pitchFamily="34" charset="-122"/>
                <a:cs typeface="Calibri" pitchFamily="34" charset="-120"/>
              </a:rPr>
              <a:t>17.7%</a:t>
            </a:r>
            <a:endParaRPr lang="en-US" sz="1050"/>
          </a:p>
        </p:txBody>
      </p:sp>
      <p:sp>
        <p:nvSpPr>
          <p:cNvPr id="172" name="Text 80">
            <a:extLst>
              <a:ext uri="{FF2B5EF4-FFF2-40B4-BE49-F238E27FC236}">
                <a16:creationId xmlns:a16="http://schemas.microsoft.com/office/drawing/2014/main" id="{C370ED7B-3DA2-8BDC-2562-9C91B33BF56C}"/>
              </a:ext>
            </a:extLst>
          </p:cNvPr>
          <p:cNvSpPr txBox="1"/>
          <p:nvPr/>
        </p:nvSpPr>
        <p:spPr>
          <a:xfrm>
            <a:off x="3904427" y="5369251"/>
            <a:ext cx="1817608" cy="204077"/>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−2.3 pp</a:t>
            </a:r>
            <a:endParaRPr lang="en-US" sz="1050"/>
          </a:p>
        </p:txBody>
      </p:sp>
      <p:sp>
        <p:nvSpPr>
          <p:cNvPr id="175" name="Text 81">
            <a:extLst>
              <a:ext uri="{FF2B5EF4-FFF2-40B4-BE49-F238E27FC236}">
                <a16:creationId xmlns:a16="http://schemas.microsoft.com/office/drawing/2014/main" id="{EB6A908D-3B8E-9E33-AE6D-66309F7D494E}"/>
              </a:ext>
            </a:extLst>
          </p:cNvPr>
          <p:cNvSpPr txBox="1"/>
          <p:nvPr/>
        </p:nvSpPr>
        <p:spPr>
          <a:xfrm>
            <a:off x="3904427" y="5753393"/>
            <a:ext cx="1817608" cy="204077"/>
          </a:xfrm>
          <a:prstGeom prst="rect">
            <a:avLst/>
          </a:prstGeom>
          <a:noFill/>
          <a:ln/>
        </p:spPr>
        <p:txBody>
          <a:bodyPr wrap="square" lIns="0" tIns="0" rIns="0" bIns="0" rtlCol="0" anchor="ctr"/>
          <a:lstStyle/>
          <a:p>
            <a:r>
              <a:rPr lang="en-US" sz="1050">
                <a:solidFill>
                  <a:srgbClr val="3E5553"/>
                </a:solidFill>
                <a:latin typeface="Calibri" pitchFamily="34" charset="0"/>
                <a:ea typeface="Calibri" pitchFamily="34" charset="-122"/>
                <a:cs typeface="Calibri" pitchFamily="34" charset="-120"/>
              </a:rPr>
              <a:t>17%</a:t>
            </a:r>
            <a:endParaRPr lang="en-US" sz="1050"/>
          </a:p>
        </p:txBody>
      </p:sp>
      <p:sp>
        <p:nvSpPr>
          <p:cNvPr id="178" name="Shape 82">
            <a:extLst>
              <a:ext uri="{FF2B5EF4-FFF2-40B4-BE49-F238E27FC236}">
                <a16:creationId xmlns:a16="http://schemas.microsoft.com/office/drawing/2014/main" id="{A8E17D65-3480-3942-2A49-30AEB55D053B}"/>
              </a:ext>
            </a:extLst>
          </p:cNvPr>
          <p:cNvSpPr/>
          <p:nvPr/>
        </p:nvSpPr>
        <p:spPr>
          <a:xfrm>
            <a:off x="6200999" y="4961098"/>
            <a:ext cx="497386" cy="0"/>
          </a:xfrm>
          <a:prstGeom prst="line">
            <a:avLst/>
          </a:prstGeom>
          <a:noFill/>
          <a:ln w="19050">
            <a:solidFill>
              <a:srgbClr val="B9C6C5"/>
            </a:solidFill>
            <a:prstDash val="solid"/>
          </a:ln>
        </p:spPr>
        <p:txBody>
          <a:bodyPr/>
          <a:lstStyle/>
          <a:p>
            <a:endParaRPr lang="es-PE" sz="2400"/>
          </a:p>
        </p:txBody>
      </p:sp>
      <p:sp>
        <p:nvSpPr>
          <p:cNvPr id="180" name="Shape 83">
            <a:extLst>
              <a:ext uri="{FF2B5EF4-FFF2-40B4-BE49-F238E27FC236}">
                <a16:creationId xmlns:a16="http://schemas.microsoft.com/office/drawing/2014/main" id="{83B8F0C9-7ECF-F0C4-7099-FA12C9A09C3A}"/>
              </a:ext>
            </a:extLst>
          </p:cNvPr>
          <p:cNvSpPr/>
          <p:nvPr/>
        </p:nvSpPr>
        <p:spPr>
          <a:xfrm>
            <a:off x="6655401" y="4919082"/>
            <a:ext cx="85968" cy="84032"/>
          </a:xfrm>
          <a:prstGeom prst="ellipse">
            <a:avLst/>
          </a:prstGeom>
          <a:solidFill>
            <a:srgbClr val="B9C6C5"/>
          </a:solidFill>
          <a:ln/>
        </p:spPr>
        <p:txBody>
          <a:bodyPr/>
          <a:lstStyle/>
          <a:p>
            <a:endParaRPr lang="es-PE" sz="2400"/>
          </a:p>
        </p:txBody>
      </p:sp>
      <p:sp>
        <p:nvSpPr>
          <p:cNvPr id="183" name="Shape 84">
            <a:extLst>
              <a:ext uri="{FF2B5EF4-FFF2-40B4-BE49-F238E27FC236}">
                <a16:creationId xmlns:a16="http://schemas.microsoft.com/office/drawing/2014/main" id="{6D0A11C2-5893-7A38-9DEE-A686A4AF9512}"/>
              </a:ext>
            </a:extLst>
          </p:cNvPr>
          <p:cNvSpPr/>
          <p:nvPr/>
        </p:nvSpPr>
        <p:spPr>
          <a:xfrm>
            <a:off x="6139593" y="4901075"/>
            <a:ext cx="122812" cy="120044"/>
          </a:xfrm>
          <a:prstGeom prst="ellipse">
            <a:avLst/>
          </a:prstGeom>
          <a:solidFill>
            <a:srgbClr val="13807B"/>
          </a:solidFill>
          <a:ln/>
        </p:spPr>
        <p:txBody>
          <a:bodyPr/>
          <a:lstStyle/>
          <a:p>
            <a:endParaRPr lang="es-PE" sz="2400"/>
          </a:p>
        </p:txBody>
      </p:sp>
      <p:sp>
        <p:nvSpPr>
          <p:cNvPr id="186" name="Text 85">
            <a:extLst>
              <a:ext uri="{FF2B5EF4-FFF2-40B4-BE49-F238E27FC236}">
                <a16:creationId xmlns:a16="http://schemas.microsoft.com/office/drawing/2014/main" id="{36E5625F-8416-C4CD-A67C-B3CF535FFD98}"/>
              </a:ext>
            </a:extLst>
          </p:cNvPr>
          <p:cNvSpPr txBox="1"/>
          <p:nvPr/>
        </p:nvSpPr>
        <p:spPr>
          <a:xfrm>
            <a:off x="6452760" y="4636977"/>
            <a:ext cx="491245" cy="180067"/>
          </a:xfrm>
          <a:prstGeom prst="rect">
            <a:avLst/>
          </a:prstGeom>
          <a:noFill/>
          <a:ln/>
        </p:spPr>
        <p:txBody>
          <a:bodyPr wrap="square" lIns="0" tIns="0" rIns="0" bIns="0" rtlCol="0" anchor="ctr"/>
          <a:lstStyle/>
          <a:p>
            <a:pPr algn="ctr"/>
            <a:r>
              <a:rPr lang="en-US" sz="1000">
                <a:solidFill>
                  <a:srgbClr val="6E7E7D"/>
                </a:solidFill>
                <a:latin typeface="Calibri" pitchFamily="34" charset="0"/>
                <a:ea typeface="Calibri" pitchFamily="34" charset="-122"/>
                <a:cs typeface="Calibri" pitchFamily="34" charset="-120"/>
              </a:rPr>
              <a:t>20.5</a:t>
            </a:r>
            <a:endParaRPr lang="en-US" sz="1000"/>
          </a:p>
        </p:txBody>
      </p:sp>
      <p:sp>
        <p:nvSpPr>
          <p:cNvPr id="188" name="Text 86">
            <a:extLst>
              <a:ext uri="{FF2B5EF4-FFF2-40B4-BE49-F238E27FC236}">
                <a16:creationId xmlns:a16="http://schemas.microsoft.com/office/drawing/2014/main" id="{DE5B2DDA-2418-8460-3E67-629277878D9F}"/>
              </a:ext>
            </a:extLst>
          </p:cNvPr>
          <p:cNvSpPr txBox="1"/>
          <p:nvPr/>
        </p:nvSpPr>
        <p:spPr>
          <a:xfrm>
            <a:off x="5832564" y="5069138"/>
            <a:ext cx="736869" cy="192072"/>
          </a:xfrm>
          <a:prstGeom prst="rect">
            <a:avLst/>
          </a:prstGeom>
          <a:noFill/>
          <a:ln/>
        </p:spPr>
        <p:txBody>
          <a:bodyPr wrap="square" lIns="0" tIns="0" rIns="0" bIns="0" rtlCol="0" anchor="ctr"/>
          <a:lstStyle/>
          <a:p>
            <a:pPr algn="ctr"/>
            <a:r>
              <a:rPr lang="en-US" sz="1050" b="1">
                <a:solidFill>
                  <a:srgbClr val="13807B"/>
                </a:solidFill>
                <a:latin typeface="Calibri" pitchFamily="34" charset="0"/>
                <a:ea typeface="Calibri" pitchFamily="34" charset="-122"/>
                <a:cs typeface="Calibri" pitchFamily="34" charset="-120"/>
              </a:rPr>
              <a:t>18.1%</a:t>
            </a:r>
            <a:endParaRPr lang="en-US" sz="1050"/>
          </a:p>
        </p:txBody>
      </p:sp>
      <p:sp>
        <p:nvSpPr>
          <p:cNvPr id="191" name="Text 87">
            <a:extLst>
              <a:ext uri="{FF2B5EF4-FFF2-40B4-BE49-F238E27FC236}">
                <a16:creationId xmlns:a16="http://schemas.microsoft.com/office/drawing/2014/main" id="{FCA4E8F2-A04E-128A-8B71-F296F94C67A6}"/>
              </a:ext>
            </a:extLst>
          </p:cNvPr>
          <p:cNvSpPr txBox="1"/>
          <p:nvPr/>
        </p:nvSpPr>
        <p:spPr>
          <a:xfrm>
            <a:off x="5844846" y="5369251"/>
            <a:ext cx="1817608" cy="204077"/>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−2.4 pp</a:t>
            </a:r>
            <a:endParaRPr lang="en-US" sz="1050"/>
          </a:p>
        </p:txBody>
      </p:sp>
      <p:sp>
        <p:nvSpPr>
          <p:cNvPr id="194" name="Text 88">
            <a:extLst>
              <a:ext uri="{FF2B5EF4-FFF2-40B4-BE49-F238E27FC236}">
                <a16:creationId xmlns:a16="http://schemas.microsoft.com/office/drawing/2014/main" id="{E008540B-AAC7-7E6F-02F9-8A54D9104C0C}"/>
              </a:ext>
            </a:extLst>
          </p:cNvPr>
          <p:cNvSpPr txBox="1"/>
          <p:nvPr/>
        </p:nvSpPr>
        <p:spPr>
          <a:xfrm>
            <a:off x="5844846" y="5753393"/>
            <a:ext cx="1817608" cy="204077"/>
          </a:xfrm>
          <a:prstGeom prst="rect">
            <a:avLst/>
          </a:prstGeom>
          <a:noFill/>
          <a:ln/>
        </p:spPr>
        <p:txBody>
          <a:bodyPr wrap="square" lIns="0" tIns="0" rIns="0" bIns="0" rtlCol="0" anchor="ctr"/>
          <a:lstStyle/>
          <a:p>
            <a:r>
              <a:rPr lang="en-US" sz="1050">
                <a:solidFill>
                  <a:srgbClr val="3E5553"/>
                </a:solidFill>
                <a:latin typeface="Calibri" pitchFamily="34" charset="0"/>
                <a:ea typeface="Calibri" pitchFamily="34" charset="-122"/>
                <a:cs typeface="Calibri" pitchFamily="34" charset="-120"/>
              </a:rPr>
              <a:t>20%</a:t>
            </a:r>
            <a:endParaRPr lang="en-US" sz="1050"/>
          </a:p>
        </p:txBody>
      </p:sp>
      <p:sp>
        <p:nvSpPr>
          <p:cNvPr id="196" name="Shape 89">
            <a:extLst>
              <a:ext uri="{FF2B5EF4-FFF2-40B4-BE49-F238E27FC236}">
                <a16:creationId xmlns:a16="http://schemas.microsoft.com/office/drawing/2014/main" id="{0FB3DDA8-FB6C-0636-CA90-EC7F1C201C68}"/>
              </a:ext>
            </a:extLst>
          </p:cNvPr>
          <p:cNvSpPr/>
          <p:nvPr/>
        </p:nvSpPr>
        <p:spPr>
          <a:xfrm>
            <a:off x="7975622" y="4961098"/>
            <a:ext cx="478964" cy="0"/>
          </a:xfrm>
          <a:prstGeom prst="line">
            <a:avLst/>
          </a:prstGeom>
          <a:noFill/>
          <a:ln w="19050">
            <a:solidFill>
              <a:srgbClr val="B9C6C5"/>
            </a:solidFill>
            <a:prstDash val="solid"/>
          </a:ln>
        </p:spPr>
        <p:txBody>
          <a:bodyPr/>
          <a:lstStyle/>
          <a:p>
            <a:endParaRPr lang="es-PE" sz="2400"/>
          </a:p>
        </p:txBody>
      </p:sp>
      <p:sp>
        <p:nvSpPr>
          <p:cNvPr id="199" name="Shape 90">
            <a:extLst>
              <a:ext uri="{FF2B5EF4-FFF2-40B4-BE49-F238E27FC236}">
                <a16:creationId xmlns:a16="http://schemas.microsoft.com/office/drawing/2014/main" id="{80FD591D-40EE-8EB8-D462-0ED82DC910CA}"/>
              </a:ext>
            </a:extLst>
          </p:cNvPr>
          <p:cNvSpPr/>
          <p:nvPr/>
        </p:nvSpPr>
        <p:spPr>
          <a:xfrm>
            <a:off x="8411602" y="4919082"/>
            <a:ext cx="85968" cy="84032"/>
          </a:xfrm>
          <a:prstGeom prst="ellipse">
            <a:avLst/>
          </a:prstGeom>
          <a:solidFill>
            <a:srgbClr val="B9C6C5"/>
          </a:solidFill>
          <a:ln/>
        </p:spPr>
        <p:txBody>
          <a:bodyPr/>
          <a:lstStyle/>
          <a:p>
            <a:endParaRPr lang="es-PE" sz="2400"/>
          </a:p>
        </p:txBody>
      </p:sp>
      <p:sp>
        <p:nvSpPr>
          <p:cNvPr id="202" name="Shape 91">
            <a:extLst>
              <a:ext uri="{FF2B5EF4-FFF2-40B4-BE49-F238E27FC236}">
                <a16:creationId xmlns:a16="http://schemas.microsoft.com/office/drawing/2014/main" id="{EF270FE8-A4CC-B593-9136-EB368806787F}"/>
              </a:ext>
            </a:extLst>
          </p:cNvPr>
          <p:cNvSpPr/>
          <p:nvPr/>
        </p:nvSpPr>
        <p:spPr>
          <a:xfrm>
            <a:off x="7914217" y="4901075"/>
            <a:ext cx="122812" cy="120044"/>
          </a:xfrm>
          <a:prstGeom prst="ellipse">
            <a:avLst/>
          </a:prstGeom>
          <a:solidFill>
            <a:srgbClr val="2F9E98"/>
          </a:solidFill>
          <a:ln/>
        </p:spPr>
        <p:txBody>
          <a:bodyPr/>
          <a:lstStyle/>
          <a:p>
            <a:endParaRPr lang="es-PE" sz="2400"/>
          </a:p>
        </p:txBody>
      </p:sp>
      <p:sp>
        <p:nvSpPr>
          <p:cNvPr id="204" name="Text 92">
            <a:extLst>
              <a:ext uri="{FF2B5EF4-FFF2-40B4-BE49-F238E27FC236}">
                <a16:creationId xmlns:a16="http://schemas.microsoft.com/office/drawing/2014/main" id="{333B0EC7-EA6E-50D1-B076-CAC912B241CC}"/>
              </a:ext>
            </a:extLst>
          </p:cNvPr>
          <p:cNvSpPr txBox="1"/>
          <p:nvPr/>
        </p:nvSpPr>
        <p:spPr>
          <a:xfrm>
            <a:off x="8208963" y="4636977"/>
            <a:ext cx="491245" cy="180067"/>
          </a:xfrm>
          <a:prstGeom prst="rect">
            <a:avLst/>
          </a:prstGeom>
          <a:noFill/>
          <a:ln/>
        </p:spPr>
        <p:txBody>
          <a:bodyPr wrap="square" lIns="0" tIns="0" rIns="0" bIns="0" rtlCol="0" anchor="ctr"/>
          <a:lstStyle/>
          <a:p>
            <a:pPr algn="ctr"/>
            <a:r>
              <a:rPr lang="en-US" sz="1000">
                <a:solidFill>
                  <a:srgbClr val="6E7E7D"/>
                </a:solidFill>
                <a:latin typeface="Calibri" pitchFamily="34" charset="0"/>
                <a:ea typeface="Calibri" pitchFamily="34" charset="-122"/>
                <a:cs typeface="Calibri" pitchFamily="34" charset="-120"/>
              </a:rPr>
              <a:t>20.0</a:t>
            </a:r>
            <a:endParaRPr lang="en-US" sz="1000"/>
          </a:p>
        </p:txBody>
      </p:sp>
      <p:sp>
        <p:nvSpPr>
          <p:cNvPr id="207" name="Text 93">
            <a:extLst>
              <a:ext uri="{FF2B5EF4-FFF2-40B4-BE49-F238E27FC236}">
                <a16:creationId xmlns:a16="http://schemas.microsoft.com/office/drawing/2014/main" id="{55408870-9666-5F79-03BE-3EF85E534AEC}"/>
              </a:ext>
            </a:extLst>
          </p:cNvPr>
          <p:cNvSpPr txBox="1"/>
          <p:nvPr/>
        </p:nvSpPr>
        <p:spPr>
          <a:xfrm>
            <a:off x="7607188" y="5069138"/>
            <a:ext cx="736869" cy="192072"/>
          </a:xfrm>
          <a:prstGeom prst="rect">
            <a:avLst/>
          </a:prstGeom>
          <a:noFill/>
          <a:ln/>
        </p:spPr>
        <p:txBody>
          <a:bodyPr wrap="square" lIns="0" tIns="0" rIns="0" bIns="0" rtlCol="0" anchor="ctr"/>
          <a:lstStyle/>
          <a:p>
            <a:pPr algn="ctr"/>
            <a:r>
              <a:rPr lang="en-US" sz="1050" b="1">
                <a:solidFill>
                  <a:srgbClr val="2F9E98"/>
                </a:solidFill>
                <a:latin typeface="Calibri" pitchFamily="34" charset="0"/>
                <a:ea typeface="Calibri" pitchFamily="34" charset="-122"/>
                <a:cs typeface="Calibri" pitchFamily="34" charset="-120"/>
              </a:rPr>
              <a:t>17.2%</a:t>
            </a:r>
            <a:endParaRPr lang="en-US" sz="1050"/>
          </a:p>
        </p:txBody>
      </p:sp>
      <p:sp>
        <p:nvSpPr>
          <p:cNvPr id="210" name="Text 94">
            <a:extLst>
              <a:ext uri="{FF2B5EF4-FFF2-40B4-BE49-F238E27FC236}">
                <a16:creationId xmlns:a16="http://schemas.microsoft.com/office/drawing/2014/main" id="{E172B6C5-8E67-08BC-5D74-78AE687DC88B}"/>
              </a:ext>
            </a:extLst>
          </p:cNvPr>
          <p:cNvSpPr txBox="1"/>
          <p:nvPr/>
        </p:nvSpPr>
        <p:spPr>
          <a:xfrm>
            <a:off x="7785264" y="5369251"/>
            <a:ext cx="1817608" cy="204077"/>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−2.8 pp</a:t>
            </a:r>
            <a:endParaRPr lang="en-US" sz="1050"/>
          </a:p>
        </p:txBody>
      </p:sp>
      <p:sp>
        <p:nvSpPr>
          <p:cNvPr id="212" name="Text 95">
            <a:extLst>
              <a:ext uri="{FF2B5EF4-FFF2-40B4-BE49-F238E27FC236}">
                <a16:creationId xmlns:a16="http://schemas.microsoft.com/office/drawing/2014/main" id="{26262F15-DD48-E32F-F23D-052BB333F4D5}"/>
              </a:ext>
            </a:extLst>
          </p:cNvPr>
          <p:cNvSpPr txBox="1"/>
          <p:nvPr/>
        </p:nvSpPr>
        <p:spPr>
          <a:xfrm>
            <a:off x="7785264" y="5753393"/>
            <a:ext cx="1817608" cy="204077"/>
          </a:xfrm>
          <a:prstGeom prst="rect">
            <a:avLst/>
          </a:prstGeom>
          <a:noFill/>
          <a:ln/>
        </p:spPr>
        <p:txBody>
          <a:bodyPr wrap="square" lIns="0" tIns="0" rIns="0" bIns="0" rtlCol="0" anchor="ctr"/>
          <a:lstStyle/>
          <a:p>
            <a:r>
              <a:rPr lang="en-US" sz="1050">
                <a:solidFill>
                  <a:srgbClr val="3E5553"/>
                </a:solidFill>
                <a:latin typeface="Calibri" pitchFamily="34" charset="0"/>
                <a:ea typeface="Calibri" pitchFamily="34" charset="-122"/>
                <a:cs typeface="Calibri" pitchFamily="34" charset="-120"/>
              </a:rPr>
              <a:t>23%</a:t>
            </a:r>
            <a:endParaRPr lang="en-US" sz="1050"/>
          </a:p>
        </p:txBody>
      </p:sp>
      <p:sp>
        <p:nvSpPr>
          <p:cNvPr id="215" name="Shape 96">
            <a:extLst>
              <a:ext uri="{FF2B5EF4-FFF2-40B4-BE49-F238E27FC236}">
                <a16:creationId xmlns:a16="http://schemas.microsoft.com/office/drawing/2014/main" id="{79D484F3-3EE8-390F-A3F3-F8398E65086B}"/>
              </a:ext>
            </a:extLst>
          </p:cNvPr>
          <p:cNvSpPr/>
          <p:nvPr/>
        </p:nvSpPr>
        <p:spPr>
          <a:xfrm>
            <a:off x="9934461" y="4961098"/>
            <a:ext cx="534229" cy="0"/>
          </a:xfrm>
          <a:prstGeom prst="line">
            <a:avLst/>
          </a:prstGeom>
          <a:noFill/>
          <a:ln w="19050">
            <a:solidFill>
              <a:srgbClr val="B9C6C5"/>
            </a:solidFill>
            <a:prstDash val="solid"/>
          </a:ln>
        </p:spPr>
        <p:txBody>
          <a:bodyPr/>
          <a:lstStyle/>
          <a:p>
            <a:endParaRPr lang="es-PE" sz="2400"/>
          </a:p>
        </p:txBody>
      </p:sp>
      <p:sp>
        <p:nvSpPr>
          <p:cNvPr id="218" name="Shape 97">
            <a:extLst>
              <a:ext uri="{FF2B5EF4-FFF2-40B4-BE49-F238E27FC236}">
                <a16:creationId xmlns:a16="http://schemas.microsoft.com/office/drawing/2014/main" id="{4217650D-A7ED-AB91-DD19-DFCA32EDB3B9}"/>
              </a:ext>
            </a:extLst>
          </p:cNvPr>
          <p:cNvSpPr/>
          <p:nvPr/>
        </p:nvSpPr>
        <p:spPr>
          <a:xfrm>
            <a:off x="10425708" y="4919082"/>
            <a:ext cx="85968" cy="84032"/>
          </a:xfrm>
          <a:prstGeom prst="ellipse">
            <a:avLst/>
          </a:prstGeom>
          <a:solidFill>
            <a:srgbClr val="B9C6C5"/>
          </a:solidFill>
          <a:ln/>
        </p:spPr>
        <p:txBody>
          <a:bodyPr/>
          <a:lstStyle/>
          <a:p>
            <a:endParaRPr lang="es-PE" sz="2400"/>
          </a:p>
        </p:txBody>
      </p:sp>
      <p:sp>
        <p:nvSpPr>
          <p:cNvPr id="221" name="Shape 98">
            <a:extLst>
              <a:ext uri="{FF2B5EF4-FFF2-40B4-BE49-F238E27FC236}">
                <a16:creationId xmlns:a16="http://schemas.microsoft.com/office/drawing/2014/main" id="{2CE3A86E-54E7-22FC-06D5-6FAC7F44908B}"/>
              </a:ext>
            </a:extLst>
          </p:cNvPr>
          <p:cNvSpPr/>
          <p:nvPr/>
        </p:nvSpPr>
        <p:spPr>
          <a:xfrm>
            <a:off x="9873057" y="4901075"/>
            <a:ext cx="122812" cy="120044"/>
          </a:xfrm>
          <a:prstGeom prst="ellipse">
            <a:avLst/>
          </a:prstGeom>
          <a:solidFill>
            <a:srgbClr val="445A6E"/>
          </a:solidFill>
          <a:ln/>
        </p:spPr>
        <p:txBody>
          <a:bodyPr/>
          <a:lstStyle/>
          <a:p>
            <a:endParaRPr lang="es-PE" sz="2400"/>
          </a:p>
        </p:txBody>
      </p:sp>
      <p:sp>
        <p:nvSpPr>
          <p:cNvPr id="225" name="Text 99">
            <a:extLst>
              <a:ext uri="{FF2B5EF4-FFF2-40B4-BE49-F238E27FC236}">
                <a16:creationId xmlns:a16="http://schemas.microsoft.com/office/drawing/2014/main" id="{3C806547-9C52-3B27-EA28-B228458B9E3C}"/>
              </a:ext>
            </a:extLst>
          </p:cNvPr>
          <p:cNvSpPr txBox="1"/>
          <p:nvPr/>
        </p:nvSpPr>
        <p:spPr>
          <a:xfrm>
            <a:off x="10223069" y="4636977"/>
            <a:ext cx="491245" cy="180067"/>
          </a:xfrm>
          <a:prstGeom prst="rect">
            <a:avLst/>
          </a:prstGeom>
          <a:noFill/>
          <a:ln/>
        </p:spPr>
        <p:txBody>
          <a:bodyPr wrap="square" lIns="0" tIns="0" rIns="0" bIns="0" rtlCol="0" anchor="ctr"/>
          <a:lstStyle/>
          <a:p>
            <a:pPr algn="ctr"/>
            <a:r>
              <a:rPr lang="en-US" sz="1000">
                <a:solidFill>
                  <a:srgbClr val="6E7E7D"/>
                </a:solidFill>
                <a:latin typeface="Calibri" pitchFamily="34" charset="0"/>
                <a:ea typeface="Calibri" pitchFamily="34" charset="-122"/>
                <a:cs typeface="Calibri" pitchFamily="34" charset="-120"/>
              </a:rPr>
              <a:t>20.3</a:t>
            </a:r>
            <a:endParaRPr lang="en-US" sz="1000"/>
          </a:p>
        </p:txBody>
      </p:sp>
      <p:sp>
        <p:nvSpPr>
          <p:cNvPr id="229" name="Text 100">
            <a:extLst>
              <a:ext uri="{FF2B5EF4-FFF2-40B4-BE49-F238E27FC236}">
                <a16:creationId xmlns:a16="http://schemas.microsoft.com/office/drawing/2014/main" id="{DC5204AE-827A-D8AE-F31A-9232CD4A547D}"/>
              </a:ext>
            </a:extLst>
          </p:cNvPr>
          <p:cNvSpPr txBox="1"/>
          <p:nvPr/>
        </p:nvSpPr>
        <p:spPr>
          <a:xfrm>
            <a:off x="9566028" y="5069138"/>
            <a:ext cx="736869" cy="192072"/>
          </a:xfrm>
          <a:prstGeom prst="rect">
            <a:avLst/>
          </a:prstGeom>
          <a:noFill/>
          <a:ln/>
        </p:spPr>
        <p:txBody>
          <a:bodyPr wrap="square" lIns="0" tIns="0" rIns="0" bIns="0" rtlCol="0" anchor="ctr"/>
          <a:lstStyle/>
          <a:p>
            <a:pPr algn="ctr"/>
            <a:r>
              <a:rPr lang="en-US" sz="1050" b="1">
                <a:solidFill>
                  <a:srgbClr val="445A6E"/>
                </a:solidFill>
                <a:latin typeface="Calibri" pitchFamily="34" charset="0"/>
                <a:ea typeface="Calibri" pitchFamily="34" charset="-122"/>
                <a:cs typeface="Calibri" pitchFamily="34" charset="-120"/>
              </a:rPr>
              <a:t>17.3%</a:t>
            </a:r>
            <a:endParaRPr lang="en-US" sz="1050"/>
          </a:p>
        </p:txBody>
      </p:sp>
      <p:sp>
        <p:nvSpPr>
          <p:cNvPr id="233" name="Text 101">
            <a:extLst>
              <a:ext uri="{FF2B5EF4-FFF2-40B4-BE49-F238E27FC236}">
                <a16:creationId xmlns:a16="http://schemas.microsoft.com/office/drawing/2014/main" id="{82528E55-9945-AC12-855C-98C1BE86D540}"/>
              </a:ext>
            </a:extLst>
          </p:cNvPr>
          <p:cNvSpPr txBox="1"/>
          <p:nvPr/>
        </p:nvSpPr>
        <p:spPr>
          <a:xfrm>
            <a:off x="9725682" y="5369251"/>
            <a:ext cx="1817608" cy="204077"/>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−3.0 pp</a:t>
            </a:r>
            <a:endParaRPr lang="en-US" sz="1050"/>
          </a:p>
        </p:txBody>
      </p:sp>
      <p:sp>
        <p:nvSpPr>
          <p:cNvPr id="237" name="Text 102">
            <a:extLst>
              <a:ext uri="{FF2B5EF4-FFF2-40B4-BE49-F238E27FC236}">
                <a16:creationId xmlns:a16="http://schemas.microsoft.com/office/drawing/2014/main" id="{B9F65605-4B39-B675-0D3E-2AD5291D4B4C}"/>
              </a:ext>
            </a:extLst>
          </p:cNvPr>
          <p:cNvSpPr txBox="1"/>
          <p:nvPr/>
        </p:nvSpPr>
        <p:spPr>
          <a:xfrm>
            <a:off x="9725682" y="5753393"/>
            <a:ext cx="1817608" cy="204077"/>
          </a:xfrm>
          <a:prstGeom prst="rect">
            <a:avLst/>
          </a:prstGeom>
          <a:noFill/>
          <a:ln/>
        </p:spPr>
        <p:txBody>
          <a:bodyPr wrap="square" lIns="0" tIns="0" rIns="0" bIns="0" rtlCol="0" anchor="ctr"/>
          <a:lstStyle/>
          <a:p>
            <a:r>
              <a:rPr lang="en-US" sz="1050">
                <a:solidFill>
                  <a:srgbClr val="3E5553"/>
                </a:solidFill>
                <a:latin typeface="Calibri" pitchFamily="34" charset="0"/>
                <a:ea typeface="Calibri" pitchFamily="34" charset="-122"/>
                <a:cs typeface="Calibri" pitchFamily="34" charset="-120"/>
              </a:rPr>
              <a:t>24%</a:t>
            </a:r>
            <a:endParaRPr lang="en-US" sz="1050"/>
          </a:p>
        </p:txBody>
      </p:sp>
      <p:sp>
        <p:nvSpPr>
          <p:cNvPr id="241" name="Shape 103">
            <a:extLst>
              <a:ext uri="{FF2B5EF4-FFF2-40B4-BE49-F238E27FC236}">
                <a16:creationId xmlns:a16="http://schemas.microsoft.com/office/drawing/2014/main" id="{939B1361-2419-2BCE-5C5F-A3393308A4B4}"/>
              </a:ext>
            </a:extLst>
          </p:cNvPr>
          <p:cNvSpPr/>
          <p:nvPr/>
        </p:nvSpPr>
        <p:spPr>
          <a:xfrm>
            <a:off x="11819616" y="4961098"/>
            <a:ext cx="515807" cy="0"/>
          </a:xfrm>
          <a:prstGeom prst="line">
            <a:avLst/>
          </a:prstGeom>
          <a:noFill/>
          <a:ln w="19050">
            <a:solidFill>
              <a:srgbClr val="B9C6C5"/>
            </a:solidFill>
            <a:prstDash val="solid"/>
          </a:ln>
        </p:spPr>
        <p:txBody>
          <a:bodyPr/>
          <a:lstStyle/>
          <a:p>
            <a:endParaRPr lang="es-PE" sz="2400"/>
          </a:p>
        </p:txBody>
      </p:sp>
      <p:sp>
        <p:nvSpPr>
          <p:cNvPr id="245" name="Shape 104">
            <a:extLst>
              <a:ext uri="{FF2B5EF4-FFF2-40B4-BE49-F238E27FC236}">
                <a16:creationId xmlns:a16="http://schemas.microsoft.com/office/drawing/2014/main" id="{1B3158A9-C5C2-1CDE-51E2-EF86DF4243B7}"/>
              </a:ext>
            </a:extLst>
          </p:cNvPr>
          <p:cNvSpPr/>
          <p:nvPr/>
        </p:nvSpPr>
        <p:spPr>
          <a:xfrm>
            <a:off x="12292439" y="4919082"/>
            <a:ext cx="85968" cy="84032"/>
          </a:xfrm>
          <a:prstGeom prst="ellipse">
            <a:avLst/>
          </a:prstGeom>
          <a:solidFill>
            <a:srgbClr val="B9C6C5"/>
          </a:solidFill>
          <a:ln/>
        </p:spPr>
        <p:txBody>
          <a:bodyPr/>
          <a:lstStyle/>
          <a:p>
            <a:endParaRPr lang="es-PE" sz="2400"/>
          </a:p>
        </p:txBody>
      </p:sp>
      <p:sp>
        <p:nvSpPr>
          <p:cNvPr id="249" name="Shape 105">
            <a:extLst>
              <a:ext uri="{FF2B5EF4-FFF2-40B4-BE49-F238E27FC236}">
                <a16:creationId xmlns:a16="http://schemas.microsoft.com/office/drawing/2014/main" id="{189D4B23-8E2C-565D-FBCD-5555E085FDD3}"/>
              </a:ext>
            </a:extLst>
          </p:cNvPr>
          <p:cNvSpPr/>
          <p:nvPr/>
        </p:nvSpPr>
        <p:spPr>
          <a:xfrm>
            <a:off x="11758210" y="4901075"/>
            <a:ext cx="122812" cy="120044"/>
          </a:xfrm>
          <a:prstGeom prst="ellipse">
            <a:avLst/>
          </a:prstGeom>
          <a:solidFill>
            <a:srgbClr val="C87A0B"/>
          </a:solidFill>
          <a:ln/>
        </p:spPr>
        <p:txBody>
          <a:bodyPr/>
          <a:lstStyle/>
          <a:p>
            <a:endParaRPr lang="es-PE" sz="2400"/>
          </a:p>
        </p:txBody>
      </p:sp>
      <p:sp>
        <p:nvSpPr>
          <p:cNvPr id="253" name="Text 106">
            <a:extLst>
              <a:ext uri="{FF2B5EF4-FFF2-40B4-BE49-F238E27FC236}">
                <a16:creationId xmlns:a16="http://schemas.microsoft.com/office/drawing/2014/main" id="{E9BAE71F-DEA7-66BE-DE5B-6C535700E247}"/>
              </a:ext>
            </a:extLst>
          </p:cNvPr>
          <p:cNvSpPr txBox="1"/>
          <p:nvPr/>
        </p:nvSpPr>
        <p:spPr>
          <a:xfrm>
            <a:off x="12089800" y="4636977"/>
            <a:ext cx="491245" cy="180067"/>
          </a:xfrm>
          <a:prstGeom prst="rect">
            <a:avLst/>
          </a:prstGeom>
          <a:noFill/>
          <a:ln/>
        </p:spPr>
        <p:txBody>
          <a:bodyPr wrap="square" lIns="0" tIns="0" rIns="0" bIns="0" rtlCol="0" anchor="ctr"/>
          <a:lstStyle/>
          <a:p>
            <a:pPr algn="ctr"/>
            <a:r>
              <a:rPr lang="en-US" sz="1000">
                <a:solidFill>
                  <a:srgbClr val="6E7E7D"/>
                </a:solidFill>
                <a:latin typeface="Calibri" pitchFamily="34" charset="0"/>
                <a:ea typeface="Calibri" pitchFamily="34" charset="-122"/>
                <a:cs typeface="Calibri" pitchFamily="34" charset="-120"/>
              </a:rPr>
              <a:t>20.3</a:t>
            </a:r>
            <a:endParaRPr lang="en-US" sz="1000"/>
          </a:p>
        </p:txBody>
      </p:sp>
      <p:sp>
        <p:nvSpPr>
          <p:cNvPr id="257" name="Text 107">
            <a:extLst>
              <a:ext uri="{FF2B5EF4-FFF2-40B4-BE49-F238E27FC236}">
                <a16:creationId xmlns:a16="http://schemas.microsoft.com/office/drawing/2014/main" id="{0AC8BBE3-A653-7FEC-BB55-DAEAE3144A28}"/>
              </a:ext>
            </a:extLst>
          </p:cNvPr>
          <p:cNvSpPr txBox="1"/>
          <p:nvPr/>
        </p:nvSpPr>
        <p:spPr>
          <a:xfrm>
            <a:off x="11451182" y="5069138"/>
            <a:ext cx="736869" cy="192072"/>
          </a:xfrm>
          <a:prstGeom prst="rect">
            <a:avLst/>
          </a:prstGeom>
          <a:noFill/>
          <a:ln/>
        </p:spPr>
        <p:txBody>
          <a:bodyPr wrap="square" lIns="0" tIns="0" rIns="0" bIns="0" rtlCol="0" anchor="ctr"/>
          <a:lstStyle/>
          <a:p>
            <a:pPr algn="ctr"/>
            <a:r>
              <a:rPr lang="en-US" sz="1050" b="1">
                <a:solidFill>
                  <a:srgbClr val="C87A0B"/>
                </a:solidFill>
                <a:latin typeface="Calibri" pitchFamily="34" charset="0"/>
                <a:ea typeface="Calibri" pitchFamily="34" charset="-122"/>
                <a:cs typeface="Calibri" pitchFamily="34" charset="-120"/>
              </a:rPr>
              <a:t>17.0%</a:t>
            </a:r>
            <a:endParaRPr lang="en-US" sz="1050"/>
          </a:p>
        </p:txBody>
      </p:sp>
      <p:sp>
        <p:nvSpPr>
          <p:cNvPr id="261" name="Text 108">
            <a:extLst>
              <a:ext uri="{FF2B5EF4-FFF2-40B4-BE49-F238E27FC236}">
                <a16:creationId xmlns:a16="http://schemas.microsoft.com/office/drawing/2014/main" id="{861D0551-76AC-B484-74F8-75950790D21E}"/>
              </a:ext>
            </a:extLst>
          </p:cNvPr>
          <p:cNvSpPr txBox="1"/>
          <p:nvPr/>
        </p:nvSpPr>
        <p:spPr>
          <a:xfrm>
            <a:off x="11666101" y="5369251"/>
            <a:ext cx="1817608" cy="204077"/>
          </a:xfrm>
          <a:prstGeom prst="rect">
            <a:avLst/>
          </a:prstGeom>
          <a:noFill/>
          <a:ln/>
        </p:spPr>
        <p:txBody>
          <a:bodyPr wrap="square" lIns="0" tIns="0" rIns="0" bIns="0" rtlCol="0" anchor="ctr"/>
          <a:lstStyle/>
          <a:p>
            <a:r>
              <a:rPr lang="en-US" sz="1050" b="1">
                <a:solidFill>
                  <a:srgbClr val="3E5553"/>
                </a:solidFill>
                <a:latin typeface="Calibri" pitchFamily="34" charset="0"/>
                <a:ea typeface="Calibri" pitchFamily="34" charset="-122"/>
                <a:cs typeface="Calibri" pitchFamily="34" charset="-120"/>
              </a:rPr>
              <a:t>−3.3 pp</a:t>
            </a:r>
            <a:endParaRPr lang="en-US" sz="1050"/>
          </a:p>
        </p:txBody>
      </p:sp>
      <p:sp>
        <p:nvSpPr>
          <p:cNvPr id="265" name="Text 109">
            <a:extLst>
              <a:ext uri="{FF2B5EF4-FFF2-40B4-BE49-F238E27FC236}">
                <a16:creationId xmlns:a16="http://schemas.microsoft.com/office/drawing/2014/main" id="{7A186AFF-6900-0571-DDB6-55D3FE40E6A4}"/>
              </a:ext>
            </a:extLst>
          </p:cNvPr>
          <p:cNvSpPr txBox="1"/>
          <p:nvPr/>
        </p:nvSpPr>
        <p:spPr>
          <a:xfrm>
            <a:off x="11666101" y="5753393"/>
            <a:ext cx="1817608" cy="204077"/>
          </a:xfrm>
          <a:prstGeom prst="rect">
            <a:avLst/>
          </a:prstGeom>
          <a:noFill/>
          <a:ln/>
        </p:spPr>
        <p:txBody>
          <a:bodyPr wrap="square" lIns="0" tIns="0" rIns="0" bIns="0" rtlCol="0" anchor="ctr"/>
          <a:lstStyle/>
          <a:p>
            <a:r>
              <a:rPr lang="en-US" sz="1050" b="1">
                <a:solidFill>
                  <a:srgbClr val="C87A0B"/>
                </a:solidFill>
                <a:latin typeface="Calibri" pitchFamily="34" charset="0"/>
                <a:ea typeface="Calibri" pitchFamily="34" charset="-122"/>
                <a:cs typeface="Calibri" pitchFamily="34" charset="-120"/>
              </a:rPr>
              <a:t>31%</a:t>
            </a:r>
            <a:endParaRPr lang="en-US" sz="1050"/>
          </a:p>
        </p:txBody>
      </p:sp>
      <p:sp>
        <p:nvSpPr>
          <p:cNvPr id="269" name="Shape 110">
            <a:extLst>
              <a:ext uri="{FF2B5EF4-FFF2-40B4-BE49-F238E27FC236}">
                <a16:creationId xmlns:a16="http://schemas.microsoft.com/office/drawing/2014/main" id="{54B2A8A9-5C2A-B135-EB8E-14231CABE7D6}"/>
              </a:ext>
            </a:extLst>
          </p:cNvPr>
          <p:cNvSpPr/>
          <p:nvPr/>
        </p:nvSpPr>
        <p:spPr>
          <a:xfrm>
            <a:off x="14110046" y="4961098"/>
            <a:ext cx="847398" cy="0"/>
          </a:xfrm>
          <a:prstGeom prst="line">
            <a:avLst/>
          </a:prstGeom>
          <a:noFill/>
          <a:ln w="19050">
            <a:solidFill>
              <a:srgbClr val="B9C6C5"/>
            </a:solidFill>
            <a:prstDash val="solid"/>
          </a:ln>
        </p:spPr>
        <p:txBody>
          <a:bodyPr/>
          <a:lstStyle/>
          <a:p>
            <a:endParaRPr lang="es-PE" sz="2400"/>
          </a:p>
        </p:txBody>
      </p:sp>
      <p:sp>
        <p:nvSpPr>
          <p:cNvPr id="273" name="Shape 111">
            <a:extLst>
              <a:ext uri="{FF2B5EF4-FFF2-40B4-BE49-F238E27FC236}">
                <a16:creationId xmlns:a16="http://schemas.microsoft.com/office/drawing/2014/main" id="{0CC913B0-951C-4063-2032-9DACE107103A}"/>
              </a:ext>
            </a:extLst>
          </p:cNvPr>
          <p:cNvSpPr/>
          <p:nvPr/>
        </p:nvSpPr>
        <p:spPr>
          <a:xfrm>
            <a:off x="14914460" y="4919082"/>
            <a:ext cx="85968" cy="84032"/>
          </a:xfrm>
          <a:prstGeom prst="ellipse">
            <a:avLst/>
          </a:prstGeom>
          <a:solidFill>
            <a:srgbClr val="B9C6C5"/>
          </a:solidFill>
          <a:ln/>
        </p:spPr>
        <p:txBody>
          <a:bodyPr/>
          <a:lstStyle/>
          <a:p>
            <a:endParaRPr lang="es-PE" sz="2400"/>
          </a:p>
        </p:txBody>
      </p:sp>
      <p:sp>
        <p:nvSpPr>
          <p:cNvPr id="277" name="Shape 112">
            <a:extLst>
              <a:ext uri="{FF2B5EF4-FFF2-40B4-BE49-F238E27FC236}">
                <a16:creationId xmlns:a16="http://schemas.microsoft.com/office/drawing/2014/main" id="{E9255834-73E2-2FE6-DB22-918E0F087206}"/>
              </a:ext>
            </a:extLst>
          </p:cNvPr>
          <p:cNvSpPr/>
          <p:nvPr/>
        </p:nvSpPr>
        <p:spPr>
          <a:xfrm>
            <a:off x="14048640" y="4901075"/>
            <a:ext cx="122812" cy="120044"/>
          </a:xfrm>
          <a:prstGeom prst="ellipse">
            <a:avLst/>
          </a:prstGeom>
          <a:solidFill>
            <a:srgbClr val="C04B4B"/>
          </a:solidFill>
          <a:ln/>
        </p:spPr>
        <p:txBody>
          <a:bodyPr/>
          <a:lstStyle/>
          <a:p>
            <a:endParaRPr lang="es-PE" sz="2400"/>
          </a:p>
        </p:txBody>
      </p:sp>
      <p:sp>
        <p:nvSpPr>
          <p:cNvPr id="281" name="Text 113">
            <a:extLst>
              <a:ext uri="{FF2B5EF4-FFF2-40B4-BE49-F238E27FC236}">
                <a16:creationId xmlns:a16="http://schemas.microsoft.com/office/drawing/2014/main" id="{9625D62A-BE76-4BDF-C4BB-3CEB57227709}"/>
              </a:ext>
            </a:extLst>
          </p:cNvPr>
          <p:cNvSpPr txBox="1"/>
          <p:nvPr/>
        </p:nvSpPr>
        <p:spPr>
          <a:xfrm>
            <a:off x="14711821" y="4636977"/>
            <a:ext cx="491245" cy="180067"/>
          </a:xfrm>
          <a:prstGeom prst="rect">
            <a:avLst/>
          </a:prstGeom>
          <a:noFill/>
          <a:ln/>
        </p:spPr>
        <p:txBody>
          <a:bodyPr wrap="square" lIns="0" tIns="0" rIns="0" bIns="0" rtlCol="0" anchor="ctr"/>
          <a:lstStyle/>
          <a:p>
            <a:pPr algn="ctr"/>
            <a:r>
              <a:rPr lang="en-US" sz="1000">
                <a:solidFill>
                  <a:srgbClr val="6E7E7D"/>
                </a:solidFill>
                <a:latin typeface="Calibri" pitchFamily="34" charset="0"/>
                <a:ea typeface="Calibri" pitchFamily="34" charset="-122"/>
                <a:cs typeface="Calibri" pitchFamily="34" charset="-120"/>
              </a:rPr>
              <a:t>22.7</a:t>
            </a:r>
            <a:endParaRPr lang="en-US" sz="1000"/>
          </a:p>
        </p:txBody>
      </p:sp>
      <p:sp>
        <p:nvSpPr>
          <p:cNvPr id="285" name="Text 114">
            <a:extLst>
              <a:ext uri="{FF2B5EF4-FFF2-40B4-BE49-F238E27FC236}">
                <a16:creationId xmlns:a16="http://schemas.microsoft.com/office/drawing/2014/main" id="{13D0727B-04FA-E3B5-E815-64286CC3176F}"/>
              </a:ext>
            </a:extLst>
          </p:cNvPr>
          <p:cNvSpPr txBox="1"/>
          <p:nvPr/>
        </p:nvSpPr>
        <p:spPr>
          <a:xfrm>
            <a:off x="13741611" y="5069138"/>
            <a:ext cx="736869" cy="192072"/>
          </a:xfrm>
          <a:prstGeom prst="rect">
            <a:avLst/>
          </a:prstGeom>
          <a:noFill/>
          <a:ln/>
        </p:spPr>
        <p:txBody>
          <a:bodyPr wrap="square" lIns="0" tIns="0" rIns="0" bIns="0" rtlCol="0" anchor="ctr"/>
          <a:lstStyle/>
          <a:p>
            <a:pPr algn="ctr"/>
            <a:r>
              <a:rPr lang="en-US" sz="1050" b="1">
                <a:solidFill>
                  <a:srgbClr val="C04B4B"/>
                </a:solidFill>
                <a:latin typeface="Calibri" pitchFamily="34" charset="0"/>
                <a:ea typeface="Calibri" pitchFamily="34" charset="-122"/>
                <a:cs typeface="Calibri" pitchFamily="34" charset="-120"/>
              </a:rPr>
              <a:t>18.9%</a:t>
            </a:r>
            <a:endParaRPr lang="en-US" sz="1050"/>
          </a:p>
        </p:txBody>
      </p:sp>
      <p:sp>
        <p:nvSpPr>
          <p:cNvPr id="289" name="Text 115">
            <a:extLst>
              <a:ext uri="{FF2B5EF4-FFF2-40B4-BE49-F238E27FC236}">
                <a16:creationId xmlns:a16="http://schemas.microsoft.com/office/drawing/2014/main" id="{0ABFB15C-CF60-787C-E333-8F7F88FC93F6}"/>
              </a:ext>
            </a:extLst>
          </p:cNvPr>
          <p:cNvSpPr txBox="1"/>
          <p:nvPr/>
        </p:nvSpPr>
        <p:spPr>
          <a:xfrm>
            <a:off x="13606519" y="5369251"/>
            <a:ext cx="1817608" cy="204077"/>
          </a:xfrm>
          <a:prstGeom prst="rect">
            <a:avLst/>
          </a:prstGeom>
          <a:noFill/>
          <a:ln/>
        </p:spPr>
        <p:txBody>
          <a:bodyPr wrap="square" lIns="0" tIns="0" rIns="0" bIns="0" rtlCol="0" anchor="ctr"/>
          <a:lstStyle/>
          <a:p>
            <a:r>
              <a:rPr lang="en-US" sz="1050" b="1">
                <a:solidFill>
                  <a:srgbClr val="C87A0B"/>
                </a:solidFill>
                <a:latin typeface="Calibri" pitchFamily="34" charset="0"/>
                <a:ea typeface="Calibri" pitchFamily="34" charset="-122"/>
                <a:cs typeface="Calibri" pitchFamily="34" charset="-120"/>
              </a:rPr>
              <a:t>−3.8 pp</a:t>
            </a:r>
            <a:endParaRPr lang="en-US" sz="1050"/>
          </a:p>
        </p:txBody>
      </p:sp>
      <p:sp>
        <p:nvSpPr>
          <p:cNvPr id="293" name="Text 116">
            <a:extLst>
              <a:ext uri="{FF2B5EF4-FFF2-40B4-BE49-F238E27FC236}">
                <a16:creationId xmlns:a16="http://schemas.microsoft.com/office/drawing/2014/main" id="{411FD9BA-CA56-9AD6-35C3-52295B42AF5E}"/>
              </a:ext>
            </a:extLst>
          </p:cNvPr>
          <p:cNvSpPr txBox="1"/>
          <p:nvPr/>
        </p:nvSpPr>
        <p:spPr>
          <a:xfrm>
            <a:off x="13606519" y="5753393"/>
            <a:ext cx="1817608" cy="204077"/>
          </a:xfrm>
          <a:prstGeom prst="rect">
            <a:avLst/>
          </a:prstGeom>
          <a:noFill/>
          <a:ln/>
        </p:spPr>
        <p:txBody>
          <a:bodyPr wrap="square" lIns="0" tIns="0" rIns="0" bIns="0" rtlCol="0" anchor="ctr"/>
          <a:lstStyle/>
          <a:p>
            <a:r>
              <a:rPr lang="en-US" sz="1050" b="1">
                <a:solidFill>
                  <a:srgbClr val="C04B4B"/>
                </a:solidFill>
                <a:latin typeface="Calibri" pitchFamily="34" charset="0"/>
                <a:ea typeface="Calibri" pitchFamily="34" charset="-122"/>
                <a:cs typeface="Calibri" pitchFamily="34" charset="-120"/>
              </a:rPr>
              <a:t>39%</a:t>
            </a:r>
            <a:endParaRPr lang="en-US" sz="1050"/>
          </a:p>
        </p:txBody>
      </p:sp>
      <p:sp>
        <p:nvSpPr>
          <p:cNvPr id="297" name="Text 117">
            <a:extLst>
              <a:ext uri="{FF2B5EF4-FFF2-40B4-BE49-F238E27FC236}">
                <a16:creationId xmlns:a16="http://schemas.microsoft.com/office/drawing/2014/main" id="{21A92ED4-B277-854F-4781-E5F46BE6E1E3}"/>
              </a:ext>
            </a:extLst>
          </p:cNvPr>
          <p:cNvSpPr txBox="1"/>
          <p:nvPr/>
        </p:nvSpPr>
        <p:spPr>
          <a:xfrm>
            <a:off x="342899" y="6353617"/>
            <a:ext cx="2456226" cy="264098"/>
          </a:xfrm>
          <a:prstGeom prst="rect">
            <a:avLst/>
          </a:prstGeom>
          <a:noFill/>
          <a:ln/>
        </p:spPr>
        <p:txBody>
          <a:bodyPr wrap="square" lIns="0" tIns="0" rIns="0" bIns="0" rtlCol="0" anchor="ctr"/>
          <a:lstStyle/>
          <a:p>
            <a:r>
              <a:rPr lang="en-US" sz="1100" b="1" kern="0" spc="38">
                <a:solidFill>
                  <a:srgbClr val="0C514E"/>
                </a:solidFill>
                <a:latin typeface="Poppins" pitchFamily="34" charset="0"/>
                <a:ea typeface="Poppins" pitchFamily="34" charset="-122"/>
                <a:cs typeface="Poppins" pitchFamily="34" charset="-120"/>
              </a:rPr>
              <a:t>ADN DE RELACIÓN</a:t>
            </a:r>
            <a:endParaRPr lang="en-US" sz="1100"/>
          </a:p>
        </p:txBody>
      </p:sp>
      <p:sp>
        <p:nvSpPr>
          <p:cNvPr id="301" name="Text 118">
            <a:extLst>
              <a:ext uri="{FF2B5EF4-FFF2-40B4-BE49-F238E27FC236}">
                <a16:creationId xmlns:a16="http://schemas.microsoft.com/office/drawing/2014/main" id="{8B7C5A9A-46CD-8CE3-FB06-8120AA47BAD3}"/>
              </a:ext>
            </a:extLst>
          </p:cNvPr>
          <p:cNvSpPr txBox="1"/>
          <p:nvPr/>
        </p:nvSpPr>
        <p:spPr>
          <a:xfrm>
            <a:off x="342899" y="6641723"/>
            <a:ext cx="2456226" cy="1800671"/>
          </a:xfrm>
          <a:prstGeom prst="rect">
            <a:avLst/>
          </a:prstGeom>
          <a:noFill/>
          <a:ln/>
        </p:spPr>
        <p:txBody>
          <a:bodyPr wrap="square" lIns="0" tIns="0" rIns="0" bIns="0" rtlCol="0" anchor="t"/>
          <a:lstStyle/>
          <a:p>
            <a:r>
              <a:rPr lang="en-US" sz="1050">
                <a:solidFill>
                  <a:srgbClr val="6E7E7D"/>
                </a:solidFill>
                <a:latin typeface="Calibri" pitchFamily="34" charset="0"/>
                <a:ea typeface="Calibri" pitchFamily="34" charset="-122"/>
                <a:cs typeface="Calibri" pitchFamily="34" charset="-120"/>
              </a:rPr>
              <a:t>Dos ADN distintos: 1 y 3 concentran pasivos y UAI (relación integral); 2 sigue siendo perfil B (59%), mientras 6 pasa a ser mixto (55% A / 41% B). Izipay va de 35% a 38% y no diferencia.</a:t>
            </a:r>
            <a:endParaRPr lang="en-US" sz="1050"/>
          </a:p>
        </p:txBody>
      </p:sp>
      <p:sp>
        <p:nvSpPr>
          <p:cNvPr id="305" name="Text 119">
            <a:extLst>
              <a:ext uri="{FF2B5EF4-FFF2-40B4-BE49-F238E27FC236}">
                <a16:creationId xmlns:a16="http://schemas.microsoft.com/office/drawing/2014/main" id="{74BE4212-B838-57DF-8C61-8585FE14ED63}"/>
              </a:ext>
            </a:extLst>
          </p:cNvPr>
          <p:cNvSpPr txBox="1"/>
          <p:nvPr/>
        </p:nvSpPr>
        <p:spPr>
          <a:xfrm>
            <a:off x="2823688" y="6509674"/>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SOW deuda</a:t>
            </a:r>
            <a:endParaRPr lang="en-US" sz="1000"/>
          </a:p>
        </p:txBody>
      </p:sp>
      <p:sp>
        <p:nvSpPr>
          <p:cNvPr id="309" name="Text 120">
            <a:extLst>
              <a:ext uri="{FF2B5EF4-FFF2-40B4-BE49-F238E27FC236}">
                <a16:creationId xmlns:a16="http://schemas.microsoft.com/office/drawing/2014/main" id="{BB7A802C-1880-10A2-1AD7-1CF16478257F}"/>
              </a:ext>
            </a:extLst>
          </p:cNvPr>
          <p:cNvSpPr txBox="1"/>
          <p:nvPr/>
        </p:nvSpPr>
        <p:spPr>
          <a:xfrm>
            <a:off x="2823688" y="7013861"/>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Retanqueo</a:t>
            </a:r>
            <a:endParaRPr lang="en-US" sz="1000"/>
          </a:p>
        </p:txBody>
      </p:sp>
      <p:sp>
        <p:nvSpPr>
          <p:cNvPr id="313" name="Text 121">
            <a:extLst>
              <a:ext uri="{FF2B5EF4-FFF2-40B4-BE49-F238E27FC236}">
                <a16:creationId xmlns:a16="http://schemas.microsoft.com/office/drawing/2014/main" id="{833CEFA2-BD8A-9593-BDBD-4EC54191BAF3}"/>
              </a:ext>
            </a:extLst>
          </p:cNvPr>
          <p:cNvSpPr txBox="1"/>
          <p:nvPr/>
        </p:nvSpPr>
        <p:spPr>
          <a:xfrm>
            <a:off x="2823688" y="7518049"/>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Mix ABC</a:t>
            </a:r>
            <a:endParaRPr lang="en-US" sz="1000"/>
          </a:p>
        </p:txBody>
      </p:sp>
      <p:sp>
        <p:nvSpPr>
          <p:cNvPr id="317" name="Text 122">
            <a:extLst>
              <a:ext uri="{FF2B5EF4-FFF2-40B4-BE49-F238E27FC236}">
                <a16:creationId xmlns:a16="http://schemas.microsoft.com/office/drawing/2014/main" id="{8A282550-98D0-583D-B5E8-F34FB4B27E16}"/>
              </a:ext>
            </a:extLst>
          </p:cNvPr>
          <p:cNvSpPr txBox="1"/>
          <p:nvPr/>
        </p:nvSpPr>
        <p:spPr>
          <a:xfrm>
            <a:off x="2823688" y="7998229"/>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Pasivos · UAI</a:t>
            </a:r>
            <a:endParaRPr lang="en-US" sz="1000"/>
          </a:p>
        </p:txBody>
      </p:sp>
      <p:sp>
        <p:nvSpPr>
          <p:cNvPr id="321" name="Text 123">
            <a:extLst>
              <a:ext uri="{FF2B5EF4-FFF2-40B4-BE49-F238E27FC236}">
                <a16:creationId xmlns:a16="http://schemas.microsoft.com/office/drawing/2014/main" id="{A5CB7C4A-D0E5-4EBE-8D96-2C92E0AB7DCC}"/>
              </a:ext>
            </a:extLst>
          </p:cNvPr>
          <p:cNvSpPr txBox="1"/>
          <p:nvPr/>
        </p:nvSpPr>
        <p:spPr>
          <a:xfrm>
            <a:off x="2823688" y="8406380"/>
            <a:ext cx="921085" cy="216081"/>
          </a:xfrm>
          <a:prstGeom prst="rect">
            <a:avLst/>
          </a:prstGeom>
          <a:noFill/>
          <a:ln/>
        </p:spPr>
        <p:txBody>
          <a:bodyPr wrap="square" lIns="0" tIns="0" rIns="0" bIns="0" rtlCol="0" anchor="ctr"/>
          <a:lstStyle/>
          <a:p>
            <a:pPr algn="r"/>
            <a:r>
              <a:rPr lang="en-US" sz="1000">
                <a:solidFill>
                  <a:srgbClr val="6E7E7D"/>
                </a:solidFill>
                <a:latin typeface="Calibri" pitchFamily="34" charset="0"/>
                <a:ea typeface="Calibri" pitchFamily="34" charset="-122"/>
                <a:cs typeface="Calibri" pitchFamily="34" charset="-120"/>
              </a:rPr>
              <a:t>% Izipay</a:t>
            </a:r>
            <a:endParaRPr lang="en-US" sz="1000"/>
          </a:p>
        </p:txBody>
      </p:sp>
      <p:sp>
        <p:nvSpPr>
          <p:cNvPr id="325" name="Shape 124">
            <a:extLst>
              <a:ext uri="{FF2B5EF4-FFF2-40B4-BE49-F238E27FC236}">
                <a16:creationId xmlns:a16="http://schemas.microsoft.com/office/drawing/2014/main" id="{2B93F957-93A0-E78D-2772-73E80F79729C}"/>
              </a:ext>
            </a:extLst>
          </p:cNvPr>
          <p:cNvSpPr/>
          <p:nvPr/>
        </p:nvSpPr>
        <p:spPr>
          <a:xfrm>
            <a:off x="3904427" y="6539686"/>
            <a:ext cx="1129864" cy="132049"/>
          </a:xfrm>
          <a:prstGeom prst="rect">
            <a:avLst/>
          </a:prstGeom>
          <a:solidFill>
            <a:srgbClr val="0C514E"/>
          </a:solidFill>
          <a:ln/>
        </p:spPr>
        <p:txBody>
          <a:bodyPr/>
          <a:lstStyle/>
          <a:p>
            <a:endParaRPr lang="es-PE" sz="2400"/>
          </a:p>
        </p:txBody>
      </p:sp>
      <p:sp>
        <p:nvSpPr>
          <p:cNvPr id="329" name="Text 125">
            <a:extLst>
              <a:ext uri="{FF2B5EF4-FFF2-40B4-BE49-F238E27FC236}">
                <a16:creationId xmlns:a16="http://schemas.microsoft.com/office/drawing/2014/main" id="{AD98D713-99B1-8C4F-9CFD-241A67DD67D6}"/>
              </a:ext>
            </a:extLst>
          </p:cNvPr>
          <p:cNvSpPr txBox="1"/>
          <p:nvPr/>
        </p:nvSpPr>
        <p:spPr>
          <a:xfrm>
            <a:off x="5083415" y="6503672"/>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68%</a:t>
            </a:r>
            <a:endParaRPr lang="en-US" sz="1000"/>
          </a:p>
        </p:txBody>
      </p:sp>
      <p:sp>
        <p:nvSpPr>
          <p:cNvPr id="333" name="Shape 126">
            <a:extLst>
              <a:ext uri="{FF2B5EF4-FFF2-40B4-BE49-F238E27FC236}">
                <a16:creationId xmlns:a16="http://schemas.microsoft.com/office/drawing/2014/main" id="{DADED65C-39E8-362F-C90C-CA96F6960CD7}"/>
              </a:ext>
            </a:extLst>
          </p:cNvPr>
          <p:cNvSpPr/>
          <p:nvPr/>
        </p:nvSpPr>
        <p:spPr>
          <a:xfrm>
            <a:off x="3904427" y="7043875"/>
            <a:ext cx="1129864" cy="132049"/>
          </a:xfrm>
          <a:prstGeom prst="rect">
            <a:avLst/>
          </a:prstGeom>
          <a:solidFill>
            <a:srgbClr val="0C514E"/>
          </a:solidFill>
          <a:ln/>
        </p:spPr>
        <p:txBody>
          <a:bodyPr/>
          <a:lstStyle/>
          <a:p>
            <a:endParaRPr lang="es-PE" sz="2400"/>
          </a:p>
        </p:txBody>
      </p:sp>
      <p:sp>
        <p:nvSpPr>
          <p:cNvPr id="337" name="Text 127">
            <a:extLst>
              <a:ext uri="{FF2B5EF4-FFF2-40B4-BE49-F238E27FC236}">
                <a16:creationId xmlns:a16="http://schemas.microsoft.com/office/drawing/2014/main" id="{9510B351-F378-8E1D-2348-6D09A93FA8CE}"/>
              </a:ext>
            </a:extLst>
          </p:cNvPr>
          <p:cNvSpPr txBox="1"/>
          <p:nvPr/>
        </p:nvSpPr>
        <p:spPr>
          <a:xfrm>
            <a:off x="5083415" y="7007861"/>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18.5%</a:t>
            </a:r>
            <a:endParaRPr lang="en-US" sz="1000"/>
          </a:p>
        </p:txBody>
      </p:sp>
      <p:sp>
        <p:nvSpPr>
          <p:cNvPr id="341" name="Text 130">
            <a:extLst>
              <a:ext uri="{FF2B5EF4-FFF2-40B4-BE49-F238E27FC236}">
                <a16:creationId xmlns:a16="http://schemas.microsoft.com/office/drawing/2014/main" id="{BF6F64FC-5986-CEA4-0EDC-B5709557EF1D}"/>
              </a:ext>
            </a:extLst>
          </p:cNvPr>
          <p:cNvSpPr txBox="1"/>
          <p:nvPr/>
        </p:nvSpPr>
        <p:spPr>
          <a:xfrm>
            <a:off x="5071134" y="75120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98% A</a:t>
            </a:r>
            <a:endParaRPr lang="en-US" sz="1000"/>
          </a:p>
        </p:txBody>
      </p:sp>
      <p:sp>
        <p:nvSpPr>
          <p:cNvPr id="345" name="Text 131">
            <a:extLst>
              <a:ext uri="{FF2B5EF4-FFF2-40B4-BE49-F238E27FC236}">
                <a16:creationId xmlns:a16="http://schemas.microsoft.com/office/drawing/2014/main" id="{6FF60D86-C231-2779-213B-CF40AD9F2490}"/>
              </a:ext>
            </a:extLst>
          </p:cNvPr>
          <p:cNvSpPr txBox="1"/>
          <p:nvPr/>
        </p:nvSpPr>
        <p:spPr>
          <a:xfrm>
            <a:off x="3904427" y="8010233"/>
            <a:ext cx="1817608"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S/ 19k · S/ 891</a:t>
            </a:r>
            <a:endParaRPr lang="en-US" sz="1000"/>
          </a:p>
        </p:txBody>
      </p:sp>
      <p:sp>
        <p:nvSpPr>
          <p:cNvPr id="349" name="Text 132">
            <a:extLst>
              <a:ext uri="{FF2B5EF4-FFF2-40B4-BE49-F238E27FC236}">
                <a16:creationId xmlns:a16="http://schemas.microsoft.com/office/drawing/2014/main" id="{F74FD7F8-5993-4C89-E54F-D3CB7D9E9DDF}"/>
              </a:ext>
            </a:extLst>
          </p:cNvPr>
          <p:cNvSpPr txBox="1"/>
          <p:nvPr/>
        </p:nvSpPr>
        <p:spPr>
          <a:xfrm>
            <a:off x="3904427" y="8418386"/>
            <a:ext cx="1817608" cy="204077"/>
          </a:xfrm>
          <a:prstGeom prst="rect">
            <a:avLst/>
          </a:prstGeom>
          <a:noFill/>
          <a:ln/>
        </p:spPr>
        <p:txBody>
          <a:bodyPr wrap="square" lIns="0" tIns="0" rIns="0" bIns="0" rtlCol="0" anchor="ctr"/>
          <a:lstStyle/>
          <a:p>
            <a:r>
              <a:rPr lang="en-US" sz="1000">
                <a:solidFill>
                  <a:srgbClr val="6E7E7D"/>
                </a:solidFill>
                <a:latin typeface="Calibri" pitchFamily="34" charset="0"/>
                <a:ea typeface="Calibri" pitchFamily="34" charset="-122"/>
                <a:cs typeface="Calibri" pitchFamily="34" charset="-120"/>
              </a:rPr>
              <a:t>38.0%</a:t>
            </a:r>
            <a:endParaRPr lang="en-US" sz="1000"/>
          </a:p>
        </p:txBody>
      </p:sp>
      <p:sp>
        <p:nvSpPr>
          <p:cNvPr id="353" name="Shape 133">
            <a:extLst>
              <a:ext uri="{FF2B5EF4-FFF2-40B4-BE49-F238E27FC236}">
                <a16:creationId xmlns:a16="http://schemas.microsoft.com/office/drawing/2014/main" id="{7A519A12-2D98-B5BB-465A-8BA521AD29AD}"/>
              </a:ext>
            </a:extLst>
          </p:cNvPr>
          <p:cNvSpPr/>
          <p:nvPr/>
        </p:nvSpPr>
        <p:spPr>
          <a:xfrm>
            <a:off x="5844846" y="6539686"/>
            <a:ext cx="930476" cy="132049"/>
          </a:xfrm>
          <a:prstGeom prst="rect">
            <a:avLst/>
          </a:prstGeom>
          <a:solidFill>
            <a:srgbClr val="13807B"/>
          </a:solidFill>
          <a:ln/>
        </p:spPr>
        <p:txBody>
          <a:bodyPr/>
          <a:lstStyle/>
          <a:p>
            <a:endParaRPr lang="es-PE" sz="2400"/>
          </a:p>
        </p:txBody>
      </p:sp>
      <p:sp>
        <p:nvSpPr>
          <p:cNvPr id="357" name="Text 134">
            <a:extLst>
              <a:ext uri="{FF2B5EF4-FFF2-40B4-BE49-F238E27FC236}">
                <a16:creationId xmlns:a16="http://schemas.microsoft.com/office/drawing/2014/main" id="{9340FD8C-A8BB-BF8E-EC42-1ED4636099B4}"/>
              </a:ext>
            </a:extLst>
          </p:cNvPr>
          <p:cNvSpPr txBox="1"/>
          <p:nvPr/>
        </p:nvSpPr>
        <p:spPr>
          <a:xfrm>
            <a:off x="6824446" y="6503672"/>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56%</a:t>
            </a:r>
            <a:endParaRPr lang="en-US" sz="1000"/>
          </a:p>
        </p:txBody>
      </p:sp>
      <p:sp>
        <p:nvSpPr>
          <p:cNvPr id="361" name="Shape 135">
            <a:extLst>
              <a:ext uri="{FF2B5EF4-FFF2-40B4-BE49-F238E27FC236}">
                <a16:creationId xmlns:a16="http://schemas.microsoft.com/office/drawing/2014/main" id="{D71A96A7-04A3-EDD2-FBBC-BE295AA53854}"/>
              </a:ext>
            </a:extLst>
          </p:cNvPr>
          <p:cNvSpPr/>
          <p:nvPr/>
        </p:nvSpPr>
        <p:spPr>
          <a:xfrm>
            <a:off x="5844846" y="7043875"/>
            <a:ext cx="390872" cy="132049"/>
          </a:xfrm>
          <a:prstGeom prst="rect">
            <a:avLst/>
          </a:prstGeom>
          <a:solidFill>
            <a:srgbClr val="13807B"/>
          </a:solidFill>
          <a:ln/>
        </p:spPr>
        <p:txBody>
          <a:bodyPr/>
          <a:lstStyle/>
          <a:p>
            <a:endParaRPr lang="es-PE" sz="2400"/>
          </a:p>
        </p:txBody>
      </p:sp>
      <p:sp>
        <p:nvSpPr>
          <p:cNvPr id="365" name="Text 136">
            <a:extLst>
              <a:ext uri="{FF2B5EF4-FFF2-40B4-BE49-F238E27FC236}">
                <a16:creationId xmlns:a16="http://schemas.microsoft.com/office/drawing/2014/main" id="{12F36575-868C-D60D-092F-2AEF046BED9D}"/>
              </a:ext>
            </a:extLst>
          </p:cNvPr>
          <p:cNvSpPr txBox="1"/>
          <p:nvPr/>
        </p:nvSpPr>
        <p:spPr>
          <a:xfrm>
            <a:off x="6284843" y="7007861"/>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6.4%</a:t>
            </a:r>
            <a:endParaRPr lang="en-US" sz="1000"/>
          </a:p>
        </p:txBody>
      </p:sp>
      <p:sp>
        <p:nvSpPr>
          <p:cNvPr id="369" name="Text 140">
            <a:extLst>
              <a:ext uri="{FF2B5EF4-FFF2-40B4-BE49-F238E27FC236}">
                <a16:creationId xmlns:a16="http://schemas.microsoft.com/office/drawing/2014/main" id="{54A0F7D5-13E2-F95A-4333-6F734186CF63}"/>
              </a:ext>
            </a:extLst>
          </p:cNvPr>
          <p:cNvSpPr txBox="1"/>
          <p:nvPr/>
        </p:nvSpPr>
        <p:spPr>
          <a:xfrm>
            <a:off x="7011553" y="75120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59% B</a:t>
            </a:r>
            <a:endParaRPr lang="en-US" sz="1000"/>
          </a:p>
        </p:txBody>
      </p:sp>
      <p:sp>
        <p:nvSpPr>
          <p:cNvPr id="373" name="Text 141">
            <a:extLst>
              <a:ext uri="{FF2B5EF4-FFF2-40B4-BE49-F238E27FC236}">
                <a16:creationId xmlns:a16="http://schemas.microsoft.com/office/drawing/2014/main" id="{0381098F-0E5F-6D98-B97F-3C878FFE4287}"/>
              </a:ext>
            </a:extLst>
          </p:cNvPr>
          <p:cNvSpPr txBox="1"/>
          <p:nvPr/>
        </p:nvSpPr>
        <p:spPr>
          <a:xfrm>
            <a:off x="5844846" y="8010233"/>
            <a:ext cx="1817608"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S/ 4k · S/ 204</a:t>
            </a:r>
            <a:endParaRPr lang="en-US" sz="1000"/>
          </a:p>
        </p:txBody>
      </p:sp>
      <p:sp>
        <p:nvSpPr>
          <p:cNvPr id="377" name="Text 142">
            <a:extLst>
              <a:ext uri="{FF2B5EF4-FFF2-40B4-BE49-F238E27FC236}">
                <a16:creationId xmlns:a16="http://schemas.microsoft.com/office/drawing/2014/main" id="{B2A0E1E0-C47B-E014-7735-D23B83B399E6}"/>
              </a:ext>
            </a:extLst>
          </p:cNvPr>
          <p:cNvSpPr txBox="1"/>
          <p:nvPr/>
        </p:nvSpPr>
        <p:spPr>
          <a:xfrm>
            <a:off x="5844846" y="8418386"/>
            <a:ext cx="1817608" cy="204077"/>
          </a:xfrm>
          <a:prstGeom prst="rect">
            <a:avLst/>
          </a:prstGeom>
          <a:noFill/>
          <a:ln/>
        </p:spPr>
        <p:txBody>
          <a:bodyPr wrap="square" lIns="0" tIns="0" rIns="0" bIns="0" rtlCol="0" anchor="ctr"/>
          <a:lstStyle/>
          <a:p>
            <a:r>
              <a:rPr lang="en-US" sz="1000">
                <a:solidFill>
                  <a:srgbClr val="6E7E7D"/>
                </a:solidFill>
                <a:latin typeface="Calibri" pitchFamily="34" charset="0"/>
                <a:ea typeface="Calibri" pitchFamily="34" charset="-122"/>
                <a:cs typeface="Calibri" pitchFamily="34" charset="-120"/>
              </a:rPr>
              <a:t>35.5%</a:t>
            </a:r>
            <a:endParaRPr lang="en-US" sz="1000"/>
          </a:p>
        </p:txBody>
      </p:sp>
      <p:sp>
        <p:nvSpPr>
          <p:cNvPr id="381" name="Shape 143">
            <a:extLst>
              <a:ext uri="{FF2B5EF4-FFF2-40B4-BE49-F238E27FC236}">
                <a16:creationId xmlns:a16="http://schemas.microsoft.com/office/drawing/2014/main" id="{6079FEC4-9F42-58BD-B803-A78E8687781F}"/>
              </a:ext>
            </a:extLst>
          </p:cNvPr>
          <p:cNvSpPr/>
          <p:nvPr/>
        </p:nvSpPr>
        <p:spPr>
          <a:xfrm>
            <a:off x="7785265" y="6539686"/>
            <a:ext cx="631394" cy="132049"/>
          </a:xfrm>
          <a:prstGeom prst="rect">
            <a:avLst/>
          </a:prstGeom>
          <a:solidFill>
            <a:srgbClr val="2F9E98"/>
          </a:solidFill>
          <a:ln/>
        </p:spPr>
        <p:txBody>
          <a:bodyPr/>
          <a:lstStyle/>
          <a:p>
            <a:endParaRPr lang="es-PE" sz="2400"/>
          </a:p>
        </p:txBody>
      </p:sp>
      <p:sp>
        <p:nvSpPr>
          <p:cNvPr id="385" name="Text 144">
            <a:extLst>
              <a:ext uri="{FF2B5EF4-FFF2-40B4-BE49-F238E27FC236}">
                <a16:creationId xmlns:a16="http://schemas.microsoft.com/office/drawing/2014/main" id="{45B2432D-3FCE-0732-8235-2724D932B65B}"/>
              </a:ext>
            </a:extLst>
          </p:cNvPr>
          <p:cNvSpPr txBox="1"/>
          <p:nvPr/>
        </p:nvSpPr>
        <p:spPr>
          <a:xfrm>
            <a:off x="8465784" y="6503672"/>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38%</a:t>
            </a:r>
            <a:endParaRPr lang="en-US" sz="1000"/>
          </a:p>
        </p:txBody>
      </p:sp>
      <p:sp>
        <p:nvSpPr>
          <p:cNvPr id="389" name="Shape 145">
            <a:extLst>
              <a:ext uri="{FF2B5EF4-FFF2-40B4-BE49-F238E27FC236}">
                <a16:creationId xmlns:a16="http://schemas.microsoft.com/office/drawing/2014/main" id="{D4CC9336-5F07-C4DF-24D3-08E607A38FF9}"/>
              </a:ext>
            </a:extLst>
          </p:cNvPr>
          <p:cNvSpPr/>
          <p:nvPr/>
        </p:nvSpPr>
        <p:spPr>
          <a:xfrm>
            <a:off x="7785264" y="7043875"/>
            <a:ext cx="787851" cy="132049"/>
          </a:xfrm>
          <a:prstGeom prst="rect">
            <a:avLst/>
          </a:prstGeom>
          <a:solidFill>
            <a:srgbClr val="2F9E98"/>
          </a:solidFill>
          <a:ln/>
        </p:spPr>
        <p:txBody>
          <a:bodyPr/>
          <a:lstStyle/>
          <a:p>
            <a:endParaRPr lang="es-PE" sz="2400"/>
          </a:p>
        </p:txBody>
      </p:sp>
      <p:sp>
        <p:nvSpPr>
          <p:cNvPr id="393" name="Text 146">
            <a:extLst>
              <a:ext uri="{FF2B5EF4-FFF2-40B4-BE49-F238E27FC236}">
                <a16:creationId xmlns:a16="http://schemas.microsoft.com/office/drawing/2014/main" id="{9A2E2239-9C88-D8A1-D4B8-CE28A34F60D1}"/>
              </a:ext>
            </a:extLst>
          </p:cNvPr>
          <p:cNvSpPr txBox="1"/>
          <p:nvPr/>
        </p:nvSpPr>
        <p:spPr>
          <a:xfrm>
            <a:off x="8622240" y="7007861"/>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12.9%</a:t>
            </a:r>
            <a:endParaRPr lang="en-US" sz="1000"/>
          </a:p>
        </p:txBody>
      </p:sp>
      <p:sp>
        <p:nvSpPr>
          <p:cNvPr id="397" name="Text 149">
            <a:extLst>
              <a:ext uri="{FF2B5EF4-FFF2-40B4-BE49-F238E27FC236}">
                <a16:creationId xmlns:a16="http://schemas.microsoft.com/office/drawing/2014/main" id="{43B26875-B3ED-7A8D-05CD-45863E6A8FE0}"/>
              </a:ext>
            </a:extLst>
          </p:cNvPr>
          <p:cNvSpPr txBox="1"/>
          <p:nvPr/>
        </p:nvSpPr>
        <p:spPr>
          <a:xfrm>
            <a:off x="8951972" y="75120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100% A</a:t>
            </a:r>
            <a:endParaRPr lang="en-US" sz="1000"/>
          </a:p>
        </p:txBody>
      </p:sp>
      <p:sp>
        <p:nvSpPr>
          <p:cNvPr id="401" name="Text 150">
            <a:extLst>
              <a:ext uri="{FF2B5EF4-FFF2-40B4-BE49-F238E27FC236}">
                <a16:creationId xmlns:a16="http://schemas.microsoft.com/office/drawing/2014/main" id="{E0E19009-F4FA-3539-71FA-9EED721851BC}"/>
              </a:ext>
            </a:extLst>
          </p:cNvPr>
          <p:cNvSpPr txBox="1"/>
          <p:nvPr/>
        </p:nvSpPr>
        <p:spPr>
          <a:xfrm>
            <a:off x="7785264" y="8010233"/>
            <a:ext cx="1817608"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S/ 26k · S/ 1,142</a:t>
            </a:r>
            <a:endParaRPr lang="en-US" sz="1000"/>
          </a:p>
        </p:txBody>
      </p:sp>
      <p:sp>
        <p:nvSpPr>
          <p:cNvPr id="405" name="Text 151">
            <a:extLst>
              <a:ext uri="{FF2B5EF4-FFF2-40B4-BE49-F238E27FC236}">
                <a16:creationId xmlns:a16="http://schemas.microsoft.com/office/drawing/2014/main" id="{FDC717E7-2D61-2F4F-956C-F0AA8FE22872}"/>
              </a:ext>
            </a:extLst>
          </p:cNvPr>
          <p:cNvSpPr txBox="1"/>
          <p:nvPr/>
        </p:nvSpPr>
        <p:spPr>
          <a:xfrm>
            <a:off x="7785264" y="8418386"/>
            <a:ext cx="1817608" cy="204077"/>
          </a:xfrm>
          <a:prstGeom prst="rect">
            <a:avLst/>
          </a:prstGeom>
          <a:noFill/>
          <a:ln/>
        </p:spPr>
        <p:txBody>
          <a:bodyPr wrap="square" lIns="0" tIns="0" rIns="0" bIns="0" rtlCol="0" anchor="ctr"/>
          <a:lstStyle/>
          <a:p>
            <a:r>
              <a:rPr lang="en-US" sz="1000">
                <a:solidFill>
                  <a:srgbClr val="6E7E7D"/>
                </a:solidFill>
                <a:latin typeface="Calibri" pitchFamily="34" charset="0"/>
                <a:ea typeface="Calibri" pitchFamily="34" charset="-122"/>
                <a:cs typeface="Calibri" pitchFamily="34" charset="-120"/>
              </a:rPr>
              <a:t>35.4%</a:t>
            </a:r>
            <a:endParaRPr lang="en-US" sz="1000"/>
          </a:p>
        </p:txBody>
      </p:sp>
      <p:sp>
        <p:nvSpPr>
          <p:cNvPr id="409" name="Shape 152">
            <a:extLst>
              <a:ext uri="{FF2B5EF4-FFF2-40B4-BE49-F238E27FC236}">
                <a16:creationId xmlns:a16="http://schemas.microsoft.com/office/drawing/2014/main" id="{A1AE1C38-F5C5-CF98-F74B-63D76F657CC7}"/>
              </a:ext>
            </a:extLst>
          </p:cNvPr>
          <p:cNvSpPr/>
          <p:nvPr/>
        </p:nvSpPr>
        <p:spPr>
          <a:xfrm>
            <a:off x="9725682" y="6539686"/>
            <a:ext cx="398776" cy="132049"/>
          </a:xfrm>
          <a:prstGeom prst="rect">
            <a:avLst/>
          </a:prstGeom>
          <a:solidFill>
            <a:srgbClr val="445A6E"/>
          </a:solidFill>
          <a:ln/>
        </p:spPr>
        <p:txBody>
          <a:bodyPr/>
          <a:lstStyle/>
          <a:p>
            <a:endParaRPr lang="es-PE" sz="2400"/>
          </a:p>
        </p:txBody>
      </p:sp>
      <p:sp>
        <p:nvSpPr>
          <p:cNvPr id="413" name="Text 153">
            <a:extLst>
              <a:ext uri="{FF2B5EF4-FFF2-40B4-BE49-F238E27FC236}">
                <a16:creationId xmlns:a16="http://schemas.microsoft.com/office/drawing/2014/main" id="{450D3649-D946-6A4C-823B-2A51BE54F41A}"/>
              </a:ext>
            </a:extLst>
          </p:cNvPr>
          <p:cNvSpPr txBox="1"/>
          <p:nvPr/>
        </p:nvSpPr>
        <p:spPr>
          <a:xfrm>
            <a:off x="10173583" y="6503672"/>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24%</a:t>
            </a:r>
            <a:endParaRPr lang="en-US" sz="1000"/>
          </a:p>
        </p:txBody>
      </p:sp>
      <p:sp>
        <p:nvSpPr>
          <p:cNvPr id="417" name="Shape 154">
            <a:extLst>
              <a:ext uri="{FF2B5EF4-FFF2-40B4-BE49-F238E27FC236}">
                <a16:creationId xmlns:a16="http://schemas.microsoft.com/office/drawing/2014/main" id="{7E455A25-2F30-295E-4C4A-8B886EC0F9B3}"/>
              </a:ext>
            </a:extLst>
          </p:cNvPr>
          <p:cNvSpPr/>
          <p:nvPr/>
        </p:nvSpPr>
        <p:spPr>
          <a:xfrm>
            <a:off x="9725682" y="7043875"/>
            <a:ext cx="439732" cy="132049"/>
          </a:xfrm>
          <a:prstGeom prst="rect">
            <a:avLst/>
          </a:prstGeom>
          <a:solidFill>
            <a:srgbClr val="445A6E"/>
          </a:solidFill>
          <a:ln/>
        </p:spPr>
        <p:txBody>
          <a:bodyPr/>
          <a:lstStyle/>
          <a:p>
            <a:endParaRPr lang="es-PE" sz="2400"/>
          </a:p>
        </p:txBody>
      </p:sp>
      <p:sp>
        <p:nvSpPr>
          <p:cNvPr id="421" name="Text 155">
            <a:extLst>
              <a:ext uri="{FF2B5EF4-FFF2-40B4-BE49-F238E27FC236}">
                <a16:creationId xmlns:a16="http://schemas.microsoft.com/office/drawing/2014/main" id="{960EE4C7-D699-FEE1-0C3F-65326E427E7B}"/>
              </a:ext>
            </a:extLst>
          </p:cNvPr>
          <p:cNvSpPr txBox="1"/>
          <p:nvPr/>
        </p:nvSpPr>
        <p:spPr>
          <a:xfrm>
            <a:off x="10214539" y="7007861"/>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7.2%</a:t>
            </a:r>
            <a:endParaRPr lang="en-US" sz="1000"/>
          </a:p>
        </p:txBody>
      </p:sp>
      <p:sp>
        <p:nvSpPr>
          <p:cNvPr id="425" name="Text 159">
            <a:extLst>
              <a:ext uri="{FF2B5EF4-FFF2-40B4-BE49-F238E27FC236}">
                <a16:creationId xmlns:a16="http://schemas.microsoft.com/office/drawing/2014/main" id="{40BAD979-56E1-1526-9E1B-EA325299DA76}"/>
              </a:ext>
            </a:extLst>
          </p:cNvPr>
          <p:cNvSpPr txBox="1"/>
          <p:nvPr/>
        </p:nvSpPr>
        <p:spPr>
          <a:xfrm>
            <a:off x="10892391" y="75120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81% A</a:t>
            </a:r>
            <a:endParaRPr lang="en-US" sz="1000"/>
          </a:p>
        </p:txBody>
      </p:sp>
      <p:sp>
        <p:nvSpPr>
          <p:cNvPr id="429" name="Text 160">
            <a:extLst>
              <a:ext uri="{FF2B5EF4-FFF2-40B4-BE49-F238E27FC236}">
                <a16:creationId xmlns:a16="http://schemas.microsoft.com/office/drawing/2014/main" id="{8062AA9D-E6B8-82E0-CE29-7EA80212586A}"/>
              </a:ext>
            </a:extLst>
          </p:cNvPr>
          <p:cNvSpPr txBox="1"/>
          <p:nvPr/>
        </p:nvSpPr>
        <p:spPr>
          <a:xfrm>
            <a:off x="9725682" y="8010233"/>
            <a:ext cx="1817608"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S/ 5k · S/ 322</a:t>
            </a:r>
            <a:endParaRPr lang="en-US" sz="1000"/>
          </a:p>
        </p:txBody>
      </p:sp>
      <p:sp>
        <p:nvSpPr>
          <p:cNvPr id="433" name="Text 161">
            <a:extLst>
              <a:ext uri="{FF2B5EF4-FFF2-40B4-BE49-F238E27FC236}">
                <a16:creationId xmlns:a16="http://schemas.microsoft.com/office/drawing/2014/main" id="{7348C9F4-E51B-99AE-E993-E96BF14380B7}"/>
              </a:ext>
            </a:extLst>
          </p:cNvPr>
          <p:cNvSpPr txBox="1"/>
          <p:nvPr/>
        </p:nvSpPr>
        <p:spPr>
          <a:xfrm>
            <a:off x="9725682" y="8418386"/>
            <a:ext cx="1817608" cy="204077"/>
          </a:xfrm>
          <a:prstGeom prst="rect">
            <a:avLst/>
          </a:prstGeom>
          <a:noFill/>
          <a:ln/>
        </p:spPr>
        <p:txBody>
          <a:bodyPr wrap="square" lIns="0" tIns="0" rIns="0" bIns="0" rtlCol="0" anchor="ctr"/>
          <a:lstStyle/>
          <a:p>
            <a:r>
              <a:rPr lang="en-US" sz="1000">
                <a:solidFill>
                  <a:srgbClr val="6E7E7D"/>
                </a:solidFill>
                <a:latin typeface="Calibri" pitchFamily="34" charset="0"/>
                <a:ea typeface="Calibri" pitchFamily="34" charset="-122"/>
                <a:cs typeface="Calibri" pitchFamily="34" charset="-120"/>
              </a:rPr>
              <a:t>34.7%</a:t>
            </a:r>
            <a:endParaRPr lang="en-US" sz="1000"/>
          </a:p>
        </p:txBody>
      </p:sp>
      <p:sp>
        <p:nvSpPr>
          <p:cNvPr id="437" name="Shape 162">
            <a:extLst>
              <a:ext uri="{FF2B5EF4-FFF2-40B4-BE49-F238E27FC236}">
                <a16:creationId xmlns:a16="http://schemas.microsoft.com/office/drawing/2014/main" id="{50DBFBB2-9145-3BBD-0294-834119D3A344}"/>
              </a:ext>
            </a:extLst>
          </p:cNvPr>
          <p:cNvSpPr/>
          <p:nvPr/>
        </p:nvSpPr>
        <p:spPr>
          <a:xfrm>
            <a:off x="11666101" y="6539686"/>
            <a:ext cx="199388" cy="132049"/>
          </a:xfrm>
          <a:prstGeom prst="rect">
            <a:avLst/>
          </a:prstGeom>
          <a:solidFill>
            <a:srgbClr val="C87A0B"/>
          </a:solidFill>
          <a:ln/>
        </p:spPr>
        <p:txBody>
          <a:bodyPr/>
          <a:lstStyle/>
          <a:p>
            <a:endParaRPr lang="es-PE" sz="2400"/>
          </a:p>
        </p:txBody>
      </p:sp>
      <p:sp>
        <p:nvSpPr>
          <p:cNvPr id="441" name="Text 163">
            <a:extLst>
              <a:ext uri="{FF2B5EF4-FFF2-40B4-BE49-F238E27FC236}">
                <a16:creationId xmlns:a16="http://schemas.microsoft.com/office/drawing/2014/main" id="{042FE740-12F5-BB66-1458-43BDC6603856}"/>
              </a:ext>
            </a:extLst>
          </p:cNvPr>
          <p:cNvSpPr txBox="1"/>
          <p:nvPr/>
        </p:nvSpPr>
        <p:spPr>
          <a:xfrm>
            <a:off x="11914614" y="6503672"/>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11%</a:t>
            </a:r>
            <a:endParaRPr lang="en-US" sz="1000"/>
          </a:p>
        </p:txBody>
      </p:sp>
      <p:sp>
        <p:nvSpPr>
          <p:cNvPr id="445" name="Shape 164">
            <a:extLst>
              <a:ext uri="{FF2B5EF4-FFF2-40B4-BE49-F238E27FC236}">
                <a16:creationId xmlns:a16="http://schemas.microsoft.com/office/drawing/2014/main" id="{CBC66025-9037-26BA-9671-F91F3F45BC8C}"/>
              </a:ext>
            </a:extLst>
          </p:cNvPr>
          <p:cNvSpPr/>
          <p:nvPr/>
        </p:nvSpPr>
        <p:spPr>
          <a:xfrm>
            <a:off x="11666103" y="7043875"/>
            <a:ext cx="274832" cy="132049"/>
          </a:xfrm>
          <a:prstGeom prst="rect">
            <a:avLst/>
          </a:prstGeom>
          <a:solidFill>
            <a:srgbClr val="C87A0B"/>
          </a:solidFill>
          <a:ln/>
        </p:spPr>
        <p:txBody>
          <a:bodyPr/>
          <a:lstStyle/>
          <a:p>
            <a:endParaRPr lang="es-PE" sz="2400"/>
          </a:p>
        </p:txBody>
      </p:sp>
      <p:sp>
        <p:nvSpPr>
          <p:cNvPr id="512" name="Text 165">
            <a:extLst>
              <a:ext uri="{FF2B5EF4-FFF2-40B4-BE49-F238E27FC236}">
                <a16:creationId xmlns:a16="http://schemas.microsoft.com/office/drawing/2014/main" id="{07AD881C-E25F-AD86-5B37-6B9C71117720}"/>
              </a:ext>
            </a:extLst>
          </p:cNvPr>
          <p:cNvSpPr txBox="1"/>
          <p:nvPr/>
        </p:nvSpPr>
        <p:spPr>
          <a:xfrm>
            <a:off x="11990058" y="6991867"/>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4.5%</a:t>
            </a:r>
            <a:endParaRPr lang="en-US" sz="1000"/>
          </a:p>
        </p:txBody>
      </p:sp>
      <p:sp>
        <p:nvSpPr>
          <p:cNvPr id="514" name="Text 169">
            <a:extLst>
              <a:ext uri="{FF2B5EF4-FFF2-40B4-BE49-F238E27FC236}">
                <a16:creationId xmlns:a16="http://schemas.microsoft.com/office/drawing/2014/main" id="{C36F9D2E-A4EC-252D-4321-FE87DDB9DAEF}"/>
              </a:ext>
            </a:extLst>
          </p:cNvPr>
          <p:cNvSpPr txBox="1"/>
          <p:nvPr/>
        </p:nvSpPr>
        <p:spPr>
          <a:xfrm>
            <a:off x="12832810" y="75120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86% A</a:t>
            </a:r>
            <a:endParaRPr lang="en-US" sz="1000"/>
          </a:p>
        </p:txBody>
      </p:sp>
      <p:sp>
        <p:nvSpPr>
          <p:cNvPr id="516" name="Text 170">
            <a:extLst>
              <a:ext uri="{FF2B5EF4-FFF2-40B4-BE49-F238E27FC236}">
                <a16:creationId xmlns:a16="http://schemas.microsoft.com/office/drawing/2014/main" id="{4652B0FB-F19E-8951-DF74-E50CDBB72974}"/>
              </a:ext>
            </a:extLst>
          </p:cNvPr>
          <p:cNvSpPr txBox="1"/>
          <p:nvPr/>
        </p:nvSpPr>
        <p:spPr>
          <a:xfrm>
            <a:off x="11666101" y="8010233"/>
            <a:ext cx="1817608"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S/ 7k · S/ 223</a:t>
            </a:r>
            <a:endParaRPr lang="en-US" sz="1000"/>
          </a:p>
        </p:txBody>
      </p:sp>
      <p:sp>
        <p:nvSpPr>
          <p:cNvPr id="518" name="Text 171">
            <a:extLst>
              <a:ext uri="{FF2B5EF4-FFF2-40B4-BE49-F238E27FC236}">
                <a16:creationId xmlns:a16="http://schemas.microsoft.com/office/drawing/2014/main" id="{977B0970-2FC6-78B5-799B-08D4BE0C0ED3}"/>
              </a:ext>
            </a:extLst>
          </p:cNvPr>
          <p:cNvSpPr txBox="1"/>
          <p:nvPr/>
        </p:nvSpPr>
        <p:spPr>
          <a:xfrm>
            <a:off x="11666101" y="8418386"/>
            <a:ext cx="1817608" cy="204077"/>
          </a:xfrm>
          <a:prstGeom prst="rect">
            <a:avLst/>
          </a:prstGeom>
          <a:noFill/>
          <a:ln/>
        </p:spPr>
        <p:txBody>
          <a:bodyPr wrap="square" lIns="0" tIns="0" rIns="0" bIns="0" rtlCol="0" anchor="ctr"/>
          <a:lstStyle/>
          <a:p>
            <a:r>
              <a:rPr lang="en-US" sz="1000">
                <a:solidFill>
                  <a:srgbClr val="6E7E7D"/>
                </a:solidFill>
                <a:latin typeface="Calibri" pitchFamily="34" charset="0"/>
                <a:ea typeface="Calibri" pitchFamily="34" charset="-122"/>
                <a:cs typeface="Calibri" pitchFamily="34" charset="-120"/>
              </a:rPr>
              <a:t>35.8%</a:t>
            </a:r>
            <a:endParaRPr lang="en-US" sz="1000"/>
          </a:p>
        </p:txBody>
      </p:sp>
      <p:sp>
        <p:nvSpPr>
          <p:cNvPr id="520" name="Shape 172">
            <a:extLst>
              <a:ext uri="{FF2B5EF4-FFF2-40B4-BE49-F238E27FC236}">
                <a16:creationId xmlns:a16="http://schemas.microsoft.com/office/drawing/2014/main" id="{C844F332-D3AB-D371-B3A7-01AF8A0E7C2B}"/>
              </a:ext>
            </a:extLst>
          </p:cNvPr>
          <p:cNvSpPr/>
          <p:nvPr/>
        </p:nvSpPr>
        <p:spPr>
          <a:xfrm>
            <a:off x="13606519" y="6539686"/>
            <a:ext cx="664626" cy="132049"/>
          </a:xfrm>
          <a:prstGeom prst="rect">
            <a:avLst/>
          </a:prstGeom>
          <a:solidFill>
            <a:srgbClr val="C04B4B"/>
          </a:solidFill>
          <a:ln/>
        </p:spPr>
        <p:txBody>
          <a:bodyPr/>
          <a:lstStyle/>
          <a:p>
            <a:endParaRPr lang="es-PE" sz="2400"/>
          </a:p>
        </p:txBody>
      </p:sp>
      <p:sp>
        <p:nvSpPr>
          <p:cNvPr id="522" name="Text 173">
            <a:extLst>
              <a:ext uri="{FF2B5EF4-FFF2-40B4-BE49-F238E27FC236}">
                <a16:creationId xmlns:a16="http://schemas.microsoft.com/office/drawing/2014/main" id="{AAA64A42-0E0A-1E7E-5B8A-FEE1B03EF4EC}"/>
              </a:ext>
            </a:extLst>
          </p:cNvPr>
          <p:cNvSpPr txBox="1"/>
          <p:nvPr/>
        </p:nvSpPr>
        <p:spPr>
          <a:xfrm>
            <a:off x="14320270" y="6503672"/>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40%</a:t>
            </a:r>
            <a:endParaRPr lang="en-US" sz="1000"/>
          </a:p>
        </p:txBody>
      </p:sp>
      <p:sp>
        <p:nvSpPr>
          <p:cNvPr id="524" name="Shape 174">
            <a:extLst>
              <a:ext uri="{FF2B5EF4-FFF2-40B4-BE49-F238E27FC236}">
                <a16:creationId xmlns:a16="http://schemas.microsoft.com/office/drawing/2014/main" id="{6B4B47FA-AA5D-F1D6-F79B-EC49BBFA3BD9}"/>
              </a:ext>
            </a:extLst>
          </p:cNvPr>
          <p:cNvSpPr/>
          <p:nvPr/>
        </p:nvSpPr>
        <p:spPr>
          <a:xfrm>
            <a:off x="13606520" y="7043875"/>
            <a:ext cx="103826" cy="132049"/>
          </a:xfrm>
          <a:prstGeom prst="rect">
            <a:avLst/>
          </a:prstGeom>
          <a:solidFill>
            <a:srgbClr val="C04B4B"/>
          </a:solidFill>
          <a:ln/>
        </p:spPr>
        <p:txBody>
          <a:bodyPr/>
          <a:lstStyle/>
          <a:p>
            <a:endParaRPr lang="es-PE" sz="2400"/>
          </a:p>
        </p:txBody>
      </p:sp>
      <p:sp>
        <p:nvSpPr>
          <p:cNvPr id="526" name="Text 175">
            <a:extLst>
              <a:ext uri="{FF2B5EF4-FFF2-40B4-BE49-F238E27FC236}">
                <a16:creationId xmlns:a16="http://schemas.microsoft.com/office/drawing/2014/main" id="{A727C585-5B0B-272E-50A9-9831BE7F0BD5}"/>
              </a:ext>
            </a:extLst>
          </p:cNvPr>
          <p:cNvSpPr txBox="1"/>
          <p:nvPr/>
        </p:nvSpPr>
        <p:spPr>
          <a:xfrm>
            <a:off x="13759471" y="7007861"/>
            <a:ext cx="675463" cy="204077"/>
          </a:xfrm>
          <a:prstGeom prst="rect">
            <a:avLst/>
          </a:prstGeom>
          <a:noFill/>
          <a:ln/>
        </p:spPr>
        <p:txBody>
          <a:bodyPr wrap="square" lIns="0" tIns="0" rIns="0" bIns="0" rtlCol="0" anchor="ctr"/>
          <a:lstStyle/>
          <a:p>
            <a:r>
              <a:rPr lang="en-US" sz="1000" b="1">
                <a:solidFill>
                  <a:srgbClr val="C04B4B"/>
                </a:solidFill>
                <a:latin typeface="Calibri" pitchFamily="34" charset="0"/>
                <a:ea typeface="Calibri" pitchFamily="34" charset="-122"/>
                <a:cs typeface="Calibri" pitchFamily="34" charset="-120"/>
              </a:rPr>
              <a:t>1.7%</a:t>
            </a:r>
            <a:endParaRPr lang="en-US" sz="1000"/>
          </a:p>
        </p:txBody>
      </p:sp>
      <p:sp>
        <p:nvSpPr>
          <p:cNvPr id="528" name="Text 179">
            <a:extLst>
              <a:ext uri="{FF2B5EF4-FFF2-40B4-BE49-F238E27FC236}">
                <a16:creationId xmlns:a16="http://schemas.microsoft.com/office/drawing/2014/main" id="{41CA6B95-63E6-621B-F2FE-8E2296DC0888}"/>
              </a:ext>
            </a:extLst>
          </p:cNvPr>
          <p:cNvSpPr txBox="1"/>
          <p:nvPr/>
        </p:nvSpPr>
        <p:spPr>
          <a:xfrm>
            <a:off x="14773227" y="7512048"/>
            <a:ext cx="675463"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55/41</a:t>
            </a:r>
            <a:endParaRPr lang="en-US" sz="1000"/>
          </a:p>
        </p:txBody>
      </p:sp>
      <p:sp>
        <p:nvSpPr>
          <p:cNvPr id="530" name="Text 180">
            <a:extLst>
              <a:ext uri="{FF2B5EF4-FFF2-40B4-BE49-F238E27FC236}">
                <a16:creationId xmlns:a16="http://schemas.microsoft.com/office/drawing/2014/main" id="{CB2C8BC0-3FD4-75FE-37E9-F4BF909923BE}"/>
              </a:ext>
            </a:extLst>
          </p:cNvPr>
          <p:cNvSpPr txBox="1"/>
          <p:nvPr/>
        </p:nvSpPr>
        <p:spPr>
          <a:xfrm>
            <a:off x="13606519" y="8010233"/>
            <a:ext cx="1817608" cy="204077"/>
          </a:xfrm>
          <a:prstGeom prst="rect">
            <a:avLst/>
          </a:prstGeom>
          <a:noFill/>
          <a:ln/>
        </p:spPr>
        <p:txBody>
          <a:bodyPr wrap="square" lIns="0" tIns="0" rIns="0" bIns="0" rtlCol="0" anchor="ctr"/>
          <a:lstStyle/>
          <a:p>
            <a:r>
              <a:rPr lang="en-US" sz="1000" b="1">
                <a:solidFill>
                  <a:srgbClr val="3E5553"/>
                </a:solidFill>
                <a:latin typeface="Calibri" pitchFamily="34" charset="0"/>
                <a:ea typeface="Calibri" pitchFamily="34" charset="-122"/>
                <a:cs typeface="Calibri" pitchFamily="34" charset="-120"/>
              </a:rPr>
              <a:t>S/ 5k · S/ 242</a:t>
            </a:r>
            <a:endParaRPr lang="en-US" sz="1000"/>
          </a:p>
        </p:txBody>
      </p:sp>
      <p:sp>
        <p:nvSpPr>
          <p:cNvPr id="532" name="Text 181">
            <a:extLst>
              <a:ext uri="{FF2B5EF4-FFF2-40B4-BE49-F238E27FC236}">
                <a16:creationId xmlns:a16="http://schemas.microsoft.com/office/drawing/2014/main" id="{55615028-B824-15F2-AAEF-6635685B1FA6}"/>
              </a:ext>
            </a:extLst>
          </p:cNvPr>
          <p:cNvSpPr txBox="1"/>
          <p:nvPr/>
        </p:nvSpPr>
        <p:spPr>
          <a:xfrm>
            <a:off x="13606519" y="8418386"/>
            <a:ext cx="1817608" cy="204077"/>
          </a:xfrm>
          <a:prstGeom prst="rect">
            <a:avLst/>
          </a:prstGeom>
          <a:noFill/>
          <a:ln/>
        </p:spPr>
        <p:txBody>
          <a:bodyPr wrap="square" lIns="0" tIns="0" rIns="0" bIns="0" rtlCol="0" anchor="ctr"/>
          <a:lstStyle/>
          <a:p>
            <a:r>
              <a:rPr lang="en-US" sz="1000">
                <a:solidFill>
                  <a:srgbClr val="6E7E7D"/>
                </a:solidFill>
                <a:latin typeface="Calibri" pitchFamily="34" charset="0"/>
                <a:ea typeface="Calibri" pitchFamily="34" charset="-122"/>
                <a:cs typeface="Calibri" pitchFamily="34" charset="-120"/>
              </a:rPr>
              <a:t>35.9%</a:t>
            </a:r>
            <a:endParaRPr lang="en-US" sz="1000"/>
          </a:p>
        </p:txBody>
      </p:sp>
      <p:sp>
        <p:nvSpPr>
          <p:cNvPr id="534" name="Shape 457">
            <a:extLst>
              <a:ext uri="{FF2B5EF4-FFF2-40B4-BE49-F238E27FC236}">
                <a16:creationId xmlns:a16="http://schemas.microsoft.com/office/drawing/2014/main" id="{4AB21548-5C90-9996-C42A-C2D0347E3073}"/>
              </a:ext>
            </a:extLst>
          </p:cNvPr>
          <p:cNvSpPr/>
          <p:nvPr/>
        </p:nvSpPr>
        <p:spPr>
          <a:xfrm>
            <a:off x="3904915" y="7547638"/>
            <a:ext cx="1107805" cy="132101"/>
          </a:xfrm>
          <a:prstGeom prst="rect">
            <a:avLst/>
          </a:prstGeom>
          <a:solidFill>
            <a:srgbClr val="13807B"/>
          </a:solidFill>
          <a:ln/>
        </p:spPr>
        <p:txBody>
          <a:bodyPr/>
          <a:lstStyle/>
          <a:p>
            <a:endParaRPr lang="es-PE" sz="3600"/>
          </a:p>
        </p:txBody>
      </p:sp>
      <p:sp>
        <p:nvSpPr>
          <p:cNvPr id="536" name="Shape 458">
            <a:extLst>
              <a:ext uri="{FF2B5EF4-FFF2-40B4-BE49-F238E27FC236}">
                <a16:creationId xmlns:a16="http://schemas.microsoft.com/office/drawing/2014/main" id="{DFD2C8CD-F8BA-EBB7-309C-E75B141A6905}"/>
              </a:ext>
            </a:extLst>
          </p:cNvPr>
          <p:cNvSpPr/>
          <p:nvPr/>
        </p:nvSpPr>
        <p:spPr>
          <a:xfrm>
            <a:off x="5012720" y="7547638"/>
            <a:ext cx="22608" cy="132101"/>
          </a:xfrm>
          <a:prstGeom prst="rect">
            <a:avLst/>
          </a:prstGeom>
          <a:solidFill>
            <a:srgbClr val="C87A0B"/>
          </a:solidFill>
          <a:ln/>
        </p:spPr>
        <p:txBody>
          <a:bodyPr/>
          <a:lstStyle/>
          <a:p>
            <a:endParaRPr lang="es-PE" sz="3600"/>
          </a:p>
        </p:txBody>
      </p:sp>
      <p:sp>
        <p:nvSpPr>
          <p:cNvPr id="538" name="Shape 459">
            <a:extLst>
              <a:ext uri="{FF2B5EF4-FFF2-40B4-BE49-F238E27FC236}">
                <a16:creationId xmlns:a16="http://schemas.microsoft.com/office/drawing/2014/main" id="{E20FE078-B96F-5473-3C70-BBF51A9DB4BC}"/>
              </a:ext>
            </a:extLst>
          </p:cNvPr>
          <p:cNvSpPr/>
          <p:nvPr/>
        </p:nvSpPr>
        <p:spPr>
          <a:xfrm>
            <a:off x="5844588" y="7547638"/>
            <a:ext cx="378688" cy="132101"/>
          </a:xfrm>
          <a:prstGeom prst="rect">
            <a:avLst/>
          </a:prstGeom>
          <a:solidFill>
            <a:srgbClr val="13807B"/>
          </a:solidFill>
          <a:ln/>
        </p:spPr>
        <p:txBody>
          <a:bodyPr/>
          <a:lstStyle/>
          <a:p>
            <a:endParaRPr lang="es-PE" sz="3600"/>
          </a:p>
        </p:txBody>
      </p:sp>
      <p:sp>
        <p:nvSpPr>
          <p:cNvPr id="540" name="Shape 460">
            <a:extLst>
              <a:ext uri="{FF2B5EF4-FFF2-40B4-BE49-F238E27FC236}">
                <a16:creationId xmlns:a16="http://schemas.microsoft.com/office/drawing/2014/main" id="{FF15CB8F-D865-2C4F-4364-1358B1F4D6E4}"/>
              </a:ext>
            </a:extLst>
          </p:cNvPr>
          <p:cNvSpPr/>
          <p:nvPr/>
        </p:nvSpPr>
        <p:spPr>
          <a:xfrm>
            <a:off x="6223276" y="7547638"/>
            <a:ext cx="669205" cy="132101"/>
          </a:xfrm>
          <a:prstGeom prst="rect">
            <a:avLst/>
          </a:prstGeom>
          <a:solidFill>
            <a:srgbClr val="C87A0B"/>
          </a:solidFill>
          <a:ln/>
        </p:spPr>
        <p:txBody>
          <a:bodyPr/>
          <a:lstStyle/>
          <a:p>
            <a:endParaRPr lang="es-PE" sz="3600"/>
          </a:p>
        </p:txBody>
      </p:sp>
      <p:sp>
        <p:nvSpPr>
          <p:cNvPr id="542" name="Shape 461">
            <a:extLst>
              <a:ext uri="{FF2B5EF4-FFF2-40B4-BE49-F238E27FC236}">
                <a16:creationId xmlns:a16="http://schemas.microsoft.com/office/drawing/2014/main" id="{BE4012E0-BE80-FE84-1392-1A7D3A7910C0}"/>
              </a:ext>
            </a:extLst>
          </p:cNvPr>
          <p:cNvSpPr/>
          <p:nvPr/>
        </p:nvSpPr>
        <p:spPr>
          <a:xfrm>
            <a:off x="6892481" y="7547638"/>
            <a:ext cx="83650" cy="132101"/>
          </a:xfrm>
          <a:prstGeom prst="rect">
            <a:avLst/>
          </a:prstGeom>
          <a:solidFill>
            <a:srgbClr val="C04B4B"/>
          </a:solidFill>
          <a:ln/>
        </p:spPr>
        <p:txBody>
          <a:bodyPr/>
          <a:lstStyle/>
          <a:p>
            <a:endParaRPr lang="es-PE" sz="3600"/>
          </a:p>
        </p:txBody>
      </p:sp>
      <p:sp>
        <p:nvSpPr>
          <p:cNvPr id="544" name="Shape 462">
            <a:extLst>
              <a:ext uri="{FF2B5EF4-FFF2-40B4-BE49-F238E27FC236}">
                <a16:creationId xmlns:a16="http://schemas.microsoft.com/office/drawing/2014/main" id="{9E1A3CB9-8DE5-E40A-8428-2CE792A9941C}"/>
              </a:ext>
            </a:extLst>
          </p:cNvPr>
          <p:cNvSpPr/>
          <p:nvPr/>
        </p:nvSpPr>
        <p:spPr>
          <a:xfrm>
            <a:off x="7785535" y="7547638"/>
            <a:ext cx="1125893" cy="132101"/>
          </a:xfrm>
          <a:prstGeom prst="rect">
            <a:avLst/>
          </a:prstGeom>
          <a:solidFill>
            <a:srgbClr val="13807B"/>
          </a:solidFill>
          <a:ln/>
        </p:spPr>
        <p:txBody>
          <a:bodyPr/>
          <a:lstStyle/>
          <a:p>
            <a:endParaRPr lang="es-PE" sz="3600"/>
          </a:p>
        </p:txBody>
      </p:sp>
      <p:sp>
        <p:nvSpPr>
          <p:cNvPr id="546" name="Shape 463">
            <a:extLst>
              <a:ext uri="{FF2B5EF4-FFF2-40B4-BE49-F238E27FC236}">
                <a16:creationId xmlns:a16="http://schemas.microsoft.com/office/drawing/2014/main" id="{5627A84A-4F51-62E9-976C-A5B550F6D10D}"/>
              </a:ext>
            </a:extLst>
          </p:cNvPr>
          <p:cNvSpPr/>
          <p:nvPr/>
        </p:nvSpPr>
        <p:spPr>
          <a:xfrm>
            <a:off x="8911428" y="7547638"/>
            <a:ext cx="4521" cy="132101"/>
          </a:xfrm>
          <a:prstGeom prst="rect">
            <a:avLst/>
          </a:prstGeom>
          <a:solidFill>
            <a:srgbClr val="C87A0B"/>
          </a:solidFill>
          <a:ln/>
        </p:spPr>
        <p:txBody>
          <a:bodyPr/>
          <a:lstStyle/>
          <a:p>
            <a:endParaRPr lang="es-PE" sz="3600"/>
          </a:p>
        </p:txBody>
      </p:sp>
      <p:sp>
        <p:nvSpPr>
          <p:cNvPr id="548" name="Shape 464">
            <a:extLst>
              <a:ext uri="{FF2B5EF4-FFF2-40B4-BE49-F238E27FC236}">
                <a16:creationId xmlns:a16="http://schemas.microsoft.com/office/drawing/2014/main" id="{0038E7E4-0E3D-0162-D260-A14DD4AE0DAD}"/>
              </a:ext>
            </a:extLst>
          </p:cNvPr>
          <p:cNvSpPr/>
          <p:nvPr/>
        </p:nvSpPr>
        <p:spPr>
          <a:xfrm>
            <a:off x="9725209" y="7547638"/>
            <a:ext cx="913375" cy="132101"/>
          </a:xfrm>
          <a:prstGeom prst="rect">
            <a:avLst/>
          </a:prstGeom>
          <a:solidFill>
            <a:srgbClr val="13807B"/>
          </a:solidFill>
          <a:ln/>
        </p:spPr>
        <p:txBody>
          <a:bodyPr/>
          <a:lstStyle/>
          <a:p>
            <a:endParaRPr lang="es-PE" sz="3600"/>
          </a:p>
        </p:txBody>
      </p:sp>
      <p:sp>
        <p:nvSpPr>
          <p:cNvPr id="550" name="Shape 465">
            <a:extLst>
              <a:ext uri="{FF2B5EF4-FFF2-40B4-BE49-F238E27FC236}">
                <a16:creationId xmlns:a16="http://schemas.microsoft.com/office/drawing/2014/main" id="{4CBF3915-5E1F-28F7-7339-F6AEE9A1FD21}"/>
              </a:ext>
            </a:extLst>
          </p:cNvPr>
          <p:cNvSpPr/>
          <p:nvPr/>
        </p:nvSpPr>
        <p:spPr>
          <a:xfrm>
            <a:off x="10638583" y="7547638"/>
            <a:ext cx="189909" cy="132101"/>
          </a:xfrm>
          <a:prstGeom prst="rect">
            <a:avLst/>
          </a:prstGeom>
          <a:solidFill>
            <a:srgbClr val="C87A0B"/>
          </a:solidFill>
          <a:ln/>
        </p:spPr>
        <p:txBody>
          <a:bodyPr/>
          <a:lstStyle/>
          <a:p>
            <a:endParaRPr lang="es-PE" sz="3600"/>
          </a:p>
        </p:txBody>
      </p:sp>
      <p:sp>
        <p:nvSpPr>
          <p:cNvPr id="552" name="Shape 466">
            <a:extLst>
              <a:ext uri="{FF2B5EF4-FFF2-40B4-BE49-F238E27FC236}">
                <a16:creationId xmlns:a16="http://schemas.microsoft.com/office/drawing/2014/main" id="{1999C122-BFEF-C442-AA1D-91461CA6BF8A}"/>
              </a:ext>
            </a:extLst>
          </p:cNvPr>
          <p:cNvSpPr/>
          <p:nvPr/>
        </p:nvSpPr>
        <p:spPr>
          <a:xfrm>
            <a:off x="10828492" y="7547638"/>
            <a:ext cx="27130" cy="132101"/>
          </a:xfrm>
          <a:prstGeom prst="rect">
            <a:avLst/>
          </a:prstGeom>
          <a:solidFill>
            <a:srgbClr val="C04B4B"/>
          </a:solidFill>
          <a:ln/>
        </p:spPr>
        <p:txBody>
          <a:bodyPr/>
          <a:lstStyle/>
          <a:p>
            <a:endParaRPr lang="es-PE" sz="3600"/>
          </a:p>
        </p:txBody>
      </p:sp>
      <p:sp>
        <p:nvSpPr>
          <p:cNvPr id="554" name="Shape 467">
            <a:extLst>
              <a:ext uri="{FF2B5EF4-FFF2-40B4-BE49-F238E27FC236}">
                <a16:creationId xmlns:a16="http://schemas.microsoft.com/office/drawing/2014/main" id="{8DF226BA-EEE6-959C-28C5-E43C9E71F590}"/>
              </a:ext>
            </a:extLst>
          </p:cNvPr>
          <p:cNvSpPr/>
          <p:nvPr/>
        </p:nvSpPr>
        <p:spPr>
          <a:xfrm>
            <a:off x="11666156" y="7547638"/>
            <a:ext cx="966504" cy="132101"/>
          </a:xfrm>
          <a:prstGeom prst="rect">
            <a:avLst/>
          </a:prstGeom>
          <a:solidFill>
            <a:srgbClr val="13807B"/>
          </a:solidFill>
          <a:ln/>
        </p:spPr>
        <p:txBody>
          <a:bodyPr/>
          <a:lstStyle/>
          <a:p>
            <a:endParaRPr lang="es-PE" sz="3600"/>
          </a:p>
        </p:txBody>
      </p:sp>
      <p:sp>
        <p:nvSpPr>
          <p:cNvPr id="556" name="Shape 468">
            <a:extLst>
              <a:ext uri="{FF2B5EF4-FFF2-40B4-BE49-F238E27FC236}">
                <a16:creationId xmlns:a16="http://schemas.microsoft.com/office/drawing/2014/main" id="{2AF3A521-CE1B-FF26-E692-5AF009236FC9}"/>
              </a:ext>
            </a:extLst>
          </p:cNvPr>
          <p:cNvSpPr/>
          <p:nvPr/>
        </p:nvSpPr>
        <p:spPr>
          <a:xfrm>
            <a:off x="12632659" y="7547638"/>
            <a:ext cx="143562" cy="132101"/>
          </a:xfrm>
          <a:prstGeom prst="rect">
            <a:avLst/>
          </a:prstGeom>
          <a:solidFill>
            <a:srgbClr val="C87A0B"/>
          </a:solidFill>
          <a:ln/>
        </p:spPr>
        <p:txBody>
          <a:bodyPr/>
          <a:lstStyle/>
          <a:p>
            <a:endParaRPr lang="es-PE" sz="3600"/>
          </a:p>
        </p:txBody>
      </p:sp>
      <p:sp>
        <p:nvSpPr>
          <p:cNvPr id="558" name="Shape 469">
            <a:extLst>
              <a:ext uri="{FF2B5EF4-FFF2-40B4-BE49-F238E27FC236}">
                <a16:creationId xmlns:a16="http://schemas.microsoft.com/office/drawing/2014/main" id="{3766AF70-29B5-013F-ED81-C358987A9E9B}"/>
              </a:ext>
            </a:extLst>
          </p:cNvPr>
          <p:cNvSpPr/>
          <p:nvPr/>
        </p:nvSpPr>
        <p:spPr>
          <a:xfrm>
            <a:off x="12776221" y="7547638"/>
            <a:ext cx="20347" cy="132101"/>
          </a:xfrm>
          <a:prstGeom prst="rect">
            <a:avLst/>
          </a:prstGeom>
          <a:solidFill>
            <a:srgbClr val="C04B4B"/>
          </a:solidFill>
          <a:ln/>
        </p:spPr>
        <p:txBody>
          <a:bodyPr/>
          <a:lstStyle/>
          <a:p>
            <a:endParaRPr lang="es-PE" sz="3600"/>
          </a:p>
        </p:txBody>
      </p:sp>
      <p:sp>
        <p:nvSpPr>
          <p:cNvPr id="560" name="Shape 470">
            <a:extLst>
              <a:ext uri="{FF2B5EF4-FFF2-40B4-BE49-F238E27FC236}">
                <a16:creationId xmlns:a16="http://schemas.microsoft.com/office/drawing/2014/main" id="{35CB76ED-F5E1-0BF9-C316-B7C2430DCB06}"/>
              </a:ext>
            </a:extLst>
          </p:cNvPr>
          <p:cNvSpPr/>
          <p:nvPr/>
        </p:nvSpPr>
        <p:spPr>
          <a:xfrm>
            <a:off x="13607103" y="7547638"/>
            <a:ext cx="623988" cy="132101"/>
          </a:xfrm>
          <a:prstGeom prst="rect">
            <a:avLst/>
          </a:prstGeom>
          <a:solidFill>
            <a:srgbClr val="13807B"/>
          </a:solidFill>
          <a:ln/>
        </p:spPr>
        <p:txBody>
          <a:bodyPr/>
          <a:lstStyle/>
          <a:p>
            <a:endParaRPr lang="es-PE" sz="3600"/>
          </a:p>
        </p:txBody>
      </p:sp>
      <p:sp>
        <p:nvSpPr>
          <p:cNvPr id="562" name="Shape 471">
            <a:extLst>
              <a:ext uri="{FF2B5EF4-FFF2-40B4-BE49-F238E27FC236}">
                <a16:creationId xmlns:a16="http://schemas.microsoft.com/office/drawing/2014/main" id="{98A7367E-F0FA-61B4-D60F-9B14E5F5AE77}"/>
              </a:ext>
            </a:extLst>
          </p:cNvPr>
          <p:cNvSpPr/>
          <p:nvPr/>
        </p:nvSpPr>
        <p:spPr>
          <a:xfrm>
            <a:off x="14231091" y="7547638"/>
            <a:ext cx="458949" cy="132101"/>
          </a:xfrm>
          <a:prstGeom prst="rect">
            <a:avLst/>
          </a:prstGeom>
          <a:solidFill>
            <a:srgbClr val="C87A0B"/>
          </a:solidFill>
          <a:ln/>
        </p:spPr>
        <p:txBody>
          <a:bodyPr/>
          <a:lstStyle/>
          <a:p>
            <a:endParaRPr lang="es-PE" sz="3600"/>
          </a:p>
        </p:txBody>
      </p:sp>
      <p:sp>
        <p:nvSpPr>
          <p:cNvPr id="564" name="Shape 472">
            <a:extLst>
              <a:ext uri="{FF2B5EF4-FFF2-40B4-BE49-F238E27FC236}">
                <a16:creationId xmlns:a16="http://schemas.microsoft.com/office/drawing/2014/main" id="{BCAA0805-AAFC-C07D-E0D6-541204A0DF77}"/>
              </a:ext>
            </a:extLst>
          </p:cNvPr>
          <p:cNvSpPr/>
          <p:nvPr/>
        </p:nvSpPr>
        <p:spPr>
          <a:xfrm>
            <a:off x="14690040" y="7547638"/>
            <a:ext cx="47477" cy="132101"/>
          </a:xfrm>
          <a:prstGeom prst="rect">
            <a:avLst/>
          </a:prstGeom>
          <a:solidFill>
            <a:srgbClr val="C04B4B"/>
          </a:solidFill>
          <a:ln/>
        </p:spPr>
        <p:txBody>
          <a:bodyPr/>
          <a:lstStyle/>
          <a:p>
            <a:endParaRPr lang="es-PE" sz="3600"/>
          </a:p>
        </p:txBody>
      </p:sp>
    </p:spTree>
    <p:extLst>
      <p:ext uri="{BB962C8B-B14F-4D97-AF65-F5344CB8AC3E}">
        <p14:creationId xmlns:p14="http://schemas.microsoft.com/office/powerpoint/2010/main" val="306806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29184"/>
            <a:ext cx="11951427" cy="201168"/>
          </a:xfrm>
          <a:prstGeom prst="rect">
            <a:avLst/>
          </a:prstGeom>
          <a:noFill/>
        </p:spPr>
        <p:txBody>
          <a:bodyPr wrap="square" lIns="0" tIns="0" rIns="0" bIns="0" anchor="t">
            <a:spAutoFit/>
          </a:bodyPr>
          <a:lstStyle/>
          <a:p>
            <a:pPr algn="l">
              <a:lnSpc>
                <a:spcPct val="100000"/>
              </a:lnSpc>
            </a:pPr>
            <a:r>
              <a:rPr sz="950" b="1" i="0">
                <a:solidFill>
                  <a:srgbClr val="13807B"/>
                </a:solidFill>
                <a:latin typeface="Arial"/>
              </a:rPr>
              <a:t>SEGMENTACIÓN ESTRATÉGICA · VALIDACIÓN</a:t>
            </a:r>
          </a:p>
        </p:txBody>
      </p:sp>
      <p:sp>
        <p:nvSpPr>
          <p:cNvPr id="3" name="TextBox 2"/>
          <p:cNvSpPr txBox="1"/>
          <p:nvPr/>
        </p:nvSpPr>
        <p:spPr>
          <a:xfrm>
            <a:off x="658368" y="566928"/>
            <a:ext cx="13750564" cy="603242"/>
          </a:xfrm>
          <a:prstGeom prst="rect">
            <a:avLst/>
          </a:prstGeom>
          <a:noFill/>
        </p:spPr>
        <p:txBody>
          <a:bodyPr wrap="square" lIns="0" tIns="0" rIns="0" bIns="0" anchor="t">
            <a:spAutoFit/>
          </a:bodyPr>
          <a:lstStyle/>
          <a:p>
            <a:pPr algn="l">
              <a:lnSpc>
                <a:spcPct val="98000"/>
              </a:lnSpc>
            </a:pPr>
            <a:r>
              <a:rPr sz="2000" b="1" i="0">
                <a:solidFill>
                  <a:srgbClr val="0B2E2C"/>
                </a:solidFill>
                <a:latin typeface="Arial"/>
              </a:rPr>
              <a:t>Los </a:t>
            </a:r>
            <a:r>
              <a:rPr sz="2000" b="1" i="0" err="1">
                <a:solidFill>
                  <a:srgbClr val="0B2E2C"/>
                </a:solidFill>
                <a:latin typeface="Arial"/>
              </a:rPr>
              <a:t>segmentos</a:t>
            </a:r>
            <a:r>
              <a:rPr sz="2000" b="1" i="0">
                <a:solidFill>
                  <a:srgbClr val="0B2E2C"/>
                </a:solidFill>
                <a:latin typeface="Arial"/>
              </a:rPr>
              <a:t> </a:t>
            </a:r>
            <a:r>
              <a:rPr sz="2000" b="1" i="0" err="1">
                <a:solidFill>
                  <a:srgbClr val="0B2E2C"/>
                </a:solidFill>
                <a:latin typeface="Arial"/>
              </a:rPr>
              <a:t>mantienen</a:t>
            </a:r>
            <a:r>
              <a:rPr sz="2000" b="1" i="0">
                <a:solidFill>
                  <a:srgbClr val="0B2E2C"/>
                </a:solidFill>
                <a:latin typeface="Arial"/>
              </a:rPr>
              <a:t> </a:t>
            </a:r>
            <a:r>
              <a:rPr sz="2000" b="1" i="0" err="1">
                <a:solidFill>
                  <a:srgbClr val="0B2E2C"/>
                </a:solidFill>
                <a:latin typeface="Arial"/>
              </a:rPr>
              <a:t>materialidad</a:t>
            </a:r>
            <a:r>
              <a:rPr sz="2000" b="1" i="0">
                <a:solidFill>
                  <a:srgbClr val="0B2E2C"/>
                </a:solidFill>
                <a:latin typeface="Arial"/>
              </a:rPr>
              <a:t> y </a:t>
            </a:r>
            <a:r>
              <a:rPr sz="2000" b="1" i="0" err="1">
                <a:solidFill>
                  <a:srgbClr val="0B2E2C"/>
                </a:solidFill>
                <a:latin typeface="Arial"/>
              </a:rPr>
              <a:t>representatividad</a:t>
            </a:r>
            <a:r>
              <a:rPr sz="2000" b="1" i="0">
                <a:solidFill>
                  <a:srgbClr val="0B2E2C"/>
                </a:solidFill>
                <a:latin typeface="Arial"/>
              </a:rPr>
              <a:t> </a:t>
            </a:r>
            <a:r>
              <a:rPr sz="2000" b="1" i="0" err="1">
                <a:solidFill>
                  <a:srgbClr val="0B2E2C"/>
                </a:solidFill>
                <a:latin typeface="Arial"/>
              </a:rPr>
              <a:t>en</a:t>
            </a:r>
            <a:r>
              <a:rPr sz="2000" b="1" i="0">
                <a:solidFill>
                  <a:srgbClr val="0B2E2C"/>
                </a:solidFill>
                <a:latin typeface="Arial"/>
              </a:rPr>
              <a:t> el </a:t>
            </a:r>
            <a:r>
              <a:rPr sz="2000" b="1" i="0" err="1">
                <a:solidFill>
                  <a:srgbClr val="0B2E2C"/>
                </a:solidFill>
                <a:latin typeface="Arial"/>
              </a:rPr>
              <a:t>tiempo</a:t>
            </a:r>
            <a:r>
              <a:rPr sz="2000" b="1" i="0">
                <a:solidFill>
                  <a:srgbClr val="0B2E2C"/>
                </a:solidFill>
                <a:latin typeface="Arial"/>
              </a:rPr>
              <a:t>: la base para </a:t>
            </a:r>
            <a:r>
              <a:rPr sz="2000" b="1" i="0" err="1">
                <a:solidFill>
                  <a:srgbClr val="0B2E2C"/>
                </a:solidFill>
                <a:latin typeface="Arial"/>
              </a:rPr>
              <a:t>fijar</a:t>
            </a:r>
            <a:r>
              <a:rPr sz="2000" b="1" i="0">
                <a:solidFill>
                  <a:srgbClr val="0B2E2C"/>
                </a:solidFill>
                <a:latin typeface="Arial"/>
              </a:rPr>
              <a:t> un RAROC</a:t>
            </a:r>
            <a:r>
              <a:rPr lang="es-419" sz="2000" b="1" i="0">
                <a:solidFill>
                  <a:srgbClr val="0B2E2C"/>
                </a:solidFill>
                <a:latin typeface="Arial"/>
              </a:rPr>
              <a:t>/ROA</a:t>
            </a:r>
            <a:r>
              <a:rPr sz="2000" b="1" i="0">
                <a:solidFill>
                  <a:srgbClr val="0B2E2C"/>
                </a:solidFill>
                <a:latin typeface="Arial"/>
              </a:rPr>
              <a:t> </a:t>
            </a:r>
            <a:r>
              <a:rPr sz="2000" b="1" i="0" err="1">
                <a:solidFill>
                  <a:srgbClr val="0B2E2C"/>
                </a:solidFill>
                <a:latin typeface="Arial"/>
              </a:rPr>
              <a:t>objetivo</a:t>
            </a:r>
            <a:r>
              <a:rPr sz="2000" b="1" i="0">
                <a:solidFill>
                  <a:srgbClr val="0B2E2C"/>
                </a:solidFill>
                <a:latin typeface="Arial"/>
              </a:rPr>
              <a:t> </a:t>
            </a:r>
            <a:r>
              <a:rPr sz="2000" b="1" i="0" err="1">
                <a:solidFill>
                  <a:srgbClr val="0B2E2C"/>
                </a:solidFill>
                <a:latin typeface="Arial"/>
              </a:rPr>
              <a:t>por</a:t>
            </a:r>
            <a:r>
              <a:rPr sz="2000" b="1" i="0">
                <a:solidFill>
                  <a:srgbClr val="0B2E2C"/>
                </a:solidFill>
                <a:latin typeface="Arial"/>
              </a:rPr>
              <a:t> </a:t>
            </a:r>
            <a:r>
              <a:rPr sz="2000" b="1" i="0" err="1">
                <a:solidFill>
                  <a:srgbClr val="0B2E2C"/>
                </a:solidFill>
                <a:latin typeface="Arial"/>
              </a:rPr>
              <a:t>segmento</a:t>
            </a:r>
            <a:endParaRPr sz="2000" b="1" i="0">
              <a:solidFill>
                <a:srgbClr val="0B2E2C"/>
              </a:solidFill>
              <a:latin typeface="Arial"/>
            </a:endParaRPr>
          </a:p>
        </p:txBody>
      </p:sp>
      <p:cxnSp>
        <p:nvCxnSpPr>
          <p:cNvPr id="4" name="Connector 3"/>
          <p:cNvCxnSpPr/>
          <p:nvPr/>
        </p:nvCxnSpPr>
        <p:spPr>
          <a:xfrm>
            <a:off x="658368"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p:cNvPicPr>
            <a:picLocks noChangeAspect="1"/>
          </p:cNvPicPr>
          <p:nvPr/>
        </p:nvPicPr>
        <p:blipFill>
          <a:blip r:embed="rId3"/>
          <a:stretch>
            <a:fillRect/>
          </a:stretch>
        </p:blipFill>
        <p:spPr>
          <a:xfrm>
            <a:off x="14774692" y="274320"/>
            <a:ext cx="822960" cy="390279"/>
          </a:xfrm>
          <a:prstGeom prst="rect">
            <a:avLst/>
          </a:prstGeom>
        </p:spPr>
      </p:pic>
      <p:sp>
        <p:nvSpPr>
          <p:cNvPr id="7" name="Rectangle 6"/>
          <p:cNvSpPr/>
          <p:nvPr/>
        </p:nvSpPr>
        <p:spPr>
          <a:xfrm>
            <a:off x="1280450" y="1754767"/>
            <a:ext cx="6253200" cy="324564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1280450" y="1754767"/>
            <a:ext cx="6256800" cy="336439"/>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950" b="1" i="0">
                <a:solidFill>
                  <a:srgbClr val="FFFFFF"/>
                </a:solidFill>
                <a:latin typeface="Arial"/>
              </a:rPr>
              <a:t>Base desembolsos · N</a:t>
            </a:r>
          </a:p>
        </p:txBody>
      </p:sp>
      <p:sp>
        <p:nvSpPr>
          <p:cNvPr id="10" name="Rectangle 9"/>
          <p:cNvSpPr/>
          <p:nvPr/>
        </p:nvSpPr>
        <p:spPr>
          <a:xfrm>
            <a:off x="8718540" y="1690800"/>
            <a:ext cx="6257010" cy="324564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8718540" y="1690800"/>
            <a:ext cx="6257010" cy="336439"/>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950" b="1" i="0">
                <a:solidFill>
                  <a:srgbClr val="FFFFFF"/>
                </a:solidFill>
                <a:latin typeface="Arial"/>
              </a:rPr>
              <a:t>Base leads · N</a:t>
            </a:r>
          </a:p>
        </p:txBody>
      </p:sp>
      <p:sp>
        <p:nvSpPr>
          <p:cNvPr id="13" name="Rectangle 12"/>
          <p:cNvSpPr/>
          <p:nvPr/>
        </p:nvSpPr>
        <p:spPr>
          <a:xfrm>
            <a:off x="1280450" y="5297273"/>
            <a:ext cx="6253200" cy="324564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1280450" y="5297273"/>
            <a:ext cx="6256800" cy="336439"/>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950" b="1" i="0">
                <a:solidFill>
                  <a:srgbClr val="FFFFFF"/>
                </a:solidFill>
                <a:latin typeface="Arial"/>
              </a:rPr>
              <a:t>Base </a:t>
            </a:r>
            <a:r>
              <a:rPr lang="es-PE" sz="950" b="1" i="0" err="1">
                <a:solidFill>
                  <a:srgbClr val="FFFFFF"/>
                </a:solidFill>
                <a:latin typeface="Arial"/>
              </a:rPr>
              <a:t>desembolsos</a:t>
            </a:r>
            <a:r>
              <a:rPr sz="950" b="1" i="0">
                <a:solidFill>
                  <a:srgbClr val="FFFFFF"/>
                </a:solidFill>
                <a:latin typeface="Arial"/>
              </a:rPr>
              <a:t> · Monto</a:t>
            </a:r>
          </a:p>
        </p:txBody>
      </p:sp>
      <p:sp>
        <p:nvSpPr>
          <p:cNvPr id="16" name="Rectangle 15"/>
          <p:cNvSpPr/>
          <p:nvPr/>
        </p:nvSpPr>
        <p:spPr>
          <a:xfrm>
            <a:off x="8718540" y="5297273"/>
            <a:ext cx="6257010" cy="3245648"/>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8718540" y="5297273"/>
            <a:ext cx="6257010" cy="336439"/>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950" b="1" i="0">
                <a:solidFill>
                  <a:srgbClr val="FFFFFF"/>
                </a:solidFill>
                <a:latin typeface="Arial"/>
              </a:rPr>
              <a:t>Base leads · Monto</a:t>
            </a:r>
          </a:p>
        </p:txBody>
      </p:sp>
      <p:pic>
        <p:nvPicPr>
          <p:cNvPr id="6" name="Picture 5">
            <a:extLst>
              <a:ext uri="{FF2B5EF4-FFF2-40B4-BE49-F238E27FC236}">
                <a16:creationId xmlns:a16="http://schemas.microsoft.com/office/drawing/2014/main" id="{20C30AAE-5D45-AD83-4B6B-EB95BCC8C6F9}"/>
              </a:ext>
            </a:extLst>
          </p:cNvPr>
          <p:cNvPicPr>
            <a:picLocks noChangeAspect="1"/>
          </p:cNvPicPr>
          <p:nvPr/>
        </p:nvPicPr>
        <p:blipFill>
          <a:blip r:embed="rId4"/>
          <a:stretch>
            <a:fillRect/>
          </a:stretch>
        </p:blipFill>
        <p:spPr>
          <a:xfrm>
            <a:off x="14725019" y="109555"/>
            <a:ext cx="1272511" cy="717296"/>
          </a:xfrm>
          <a:prstGeom prst="rect">
            <a:avLst/>
          </a:prstGeom>
        </p:spPr>
      </p:pic>
      <p:pic>
        <p:nvPicPr>
          <p:cNvPr id="24" name="Imagen 23">
            <a:extLst>
              <a:ext uri="{FF2B5EF4-FFF2-40B4-BE49-F238E27FC236}">
                <a16:creationId xmlns:a16="http://schemas.microsoft.com/office/drawing/2014/main" id="{02D79B5F-CCF4-CA6C-4D45-8F2644A6B9C3}"/>
              </a:ext>
            </a:extLst>
          </p:cNvPr>
          <p:cNvPicPr>
            <a:picLocks noChangeAspect="1"/>
          </p:cNvPicPr>
          <p:nvPr/>
        </p:nvPicPr>
        <p:blipFill>
          <a:blip r:embed="rId5"/>
          <a:stretch>
            <a:fillRect/>
          </a:stretch>
        </p:blipFill>
        <p:spPr>
          <a:xfrm>
            <a:off x="1375930" y="2284517"/>
            <a:ext cx="5880233" cy="2000000"/>
          </a:xfrm>
          <a:prstGeom prst="rect">
            <a:avLst/>
          </a:prstGeom>
        </p:spPr>
      </p:pic>
      <p:graphicFrame>
        <p:nvGraphicFramePr>
          <p:cNvPr id="26" name="Table 49">
            <a:extLst>
              <a:ext uri="{FF2B5EF4-FFF2-40B4-BE49-F238E27FC236}">
                <a16:creationId xmlns:a16="http://schemas.microsoft.com/office/drawing/2014/main" id="{A75FCF9D-61F9-6998-2252-75A6A6C9F3D9}"/>
              </a:ext>
            </a:extLst>
          </p:cNvPr>
          <p:cNvGraphicFramePr>
            <a:graphicFrameLocks noGrp="1"/>
          </p:cNvGraphicFramePr>
          <p:nvPr>
            <p:extLst>
              <p:ext uri="{D42A27DB-BD31-4B8C-83A1-F6EECF244321}">
                <p14:modId xmlns:p14="http://schemas.microsoft.com/office/powerpoint/2010/main" val="3705450054"/>
              </p:ext>
            </p:extLst>
          </p:nvPr>
        </p:nvGraphicFramePr>
        <p:xfrm>
          <a:off x="1375930" y="4314517"/>
          <a:ext cx="5880230" cy="623030"/>
        </p:xfrm>
        <a:graphic>
          <a:graphicData uri="http://schemas.openxmlformats.org/drawingml/2006/table">
            <a:tbl>
              <a:tblPr>
                <a:tableStyleId>{5C22544A-7EE6-4342-B048-85BDC9FD1C3A}</a:tableStyleId>
              </a:tblPr>
              <a:tblGrid>
                <a:gridCol w="588023">
                  <a:extLst>
                    <a:ext uri="{9D8B030D-6E8A-4147-A177-3AD203B41FA5}">
                      <a16:colId xmlns:a16="http://schemas.microsoft.com/office/drawing/2014/main" val="20000"/>
                    </a:ext>
                  </a:extLst>
                </a:gridCol>
                <a:gridCol w="588023">
                  <a:extLst>
                    <a:ext uri="{9D8B030D-6E8A-4147-A177-3AD203B41FA5}">
                      <a16:colId xmlns:a16="http://schemas.microsoft.com/office/drawing/2014/main" val="20001"/>
                    </a:ext>
                  </a:extLst>
                </a:gridCol>
                <a:gridCol w="588023">
                  <a:extLst>
                    <a:ext uri="{9D8B030D-6E8A-4147-A177-3AD203B41FA5}">
                      <a16:colId xmlns:a16="http://schemas.microsoft.com/office/drawing/2014/main" val="3977382290"/>
                    </a:ext>
                  </a:extLst>
                </a:gridCol>
                <a:gridCol w="588023">
                  <a:extLst>
                    <a:ext uri="{9D8B030D-6E8A-4147-A177-3AD203B41FA5}">
                      <a16:colId xmlns:a16="http://schemas.microsoft.com/office/drawing/2014/main" val="20002"/>
                    </a:ext>
                  </a:extLst>
                </a:gridCol>
                <a:gridCol w="588023">
                  <a:extLst>
                    <a:ext uri="{9D8B030D-6E8A-4147-A177-3AD203B41FA5}">
                      <a16:colId xmlns:a16="http://schemas.microsoft.com/office/drawing/2014/main" val="20003"/>
                    </a:ext>
                  </a:extLst>
                </a:gridCol>
                <a:gridCol w="588023">
                  <a:extLst>
                    <a:ext uri="{9D8B030D-6E8A-4147-A177-3AD203B41FA5}">
                      <a16:colId xmlns:a16="http://schemas.microsoft.com/office/drawing/2014/main" val="20004"/>
                    </a:ext>
                  </a:extLst>
                </a:gridCol>
                <a:gridCol w="588023">
                  <a:extLst>
                    <a:ext uri="{9D8B030D-6E8A-4147-A177-3AD203B41FA5}">
                      <a16:colId xmlns:a16="http://schemas.microsoft.com/office/drawing/2014/main" val="20005"/>
                    </a:ext>
                  </a:extLst>
                </a:gridCol>
                <a:gridCol w="588023">
                  <a:extLst>
                    <a:ext uri="{9D8B030D-6E8A-4147-A177-3AD203B41FA5}">
                      <a16:colId xmlns:a16="http://schemas.microsoft.com/office/drawing/2014/main" val="20006"/>
                    </a:ext>
                  </a:extLst>
                </a:gridCol>
                <a:gridCol w="588023">
                  <a:extLst>
                    <a:ext uri="{9D8B030D-6E8A-4147-A177-3AD203B41FA5}">
                      <a16:colId xmlns:a16="http://schemas.microsoft.com/office/drawing/2014/main" val="20007"/>
                    </a:ext>
                  </a:extLst>
                </a:gridCol>
                <a:gridCol w="588023">
                  <a:extLst>
                    <a:ext uri="{9D8B030D-6E8A-4147-A177-3AD203B41FA5}">
                      <a16:colId xmlns:a16="http://schemas.microsoft.com/office/drawing/2014/main" val="20008"/>
                    </a:ext>
                  </a:extLst>
                </a:gridCol>
              </a:tblGrid>
              <a:tr h="340000">
                <a:tc>
                  <a:txBody>
                    <a:bodyPr/>
                    <a:lstStyle/>
                    <a:p>
                      <a:pPr algn="ctr"/>
                      <a:endParaRPr sz="600" b="1">
                        <a:solidFill>
                          <a:srgbClr val="FFFFFF"/>
                        </a:solidFill>
                        <a:latin typeface="Arial"/>
                      </a:endParaRPr>
                    </a:p>
                  </a:txBody>
                  <a:tcPr marL="9000" marR="9000" marT="3000" marB="3000" anchor="ctr">
                    <a:no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Ancla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Socio en Crecimiento</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Cuenta Estratégica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Maduro </a:t>
                      </a:r>
                      <a:r>
                        <a:rPr lang="es-PE" sz="600" b="1" kern="1200" err="1">
                          <a:solidFill>
                            <a:srgbClr val="FFFFFF"/>
                          </a:solidFill>
                          <a:latin typeface="Arial"/>
                          <a:ea typeface="+mn-ea"/>
                          <a:cs typeface="+mn-cs"/>
                        </a:rPr>
                        <a:t>Multibanco</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Gran Cuenta por Conquistar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por Reactivar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Emprendedor </a:t>
                      </a:r>
                      <a:r>
                        <a:rPr lang="es-PE" sz="600" b="1" kern="1200" err="1">
                          <a:solidFill>
                            <a:srgbClr val="FFFFFF"/>
                          </a:solidFill>
                          <a:latin typeface="Arial"/>
                          <a:ea typeface="+mn-ea"/>
                          <a:cs typeface="+mn-cs"/>
                        </a:rPr>
                        <a:t>Izipay</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Nuevo en Expansión</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Próximo Recurrente</a:t>
                      </a:r>
                    </a:p>
                  </a:txBody>
                  <a:tcPr marL="6350" marR="6350" marT="6350" marB="0" anchor="ctr">
                    <a:solidFill>
                      <a:srgbClr val="0C514E"/>
                    </a:solidFill>
                  </a:tcPr>
                </a:tc>
                <a:extLst>
                  <a:ext uri="{0D108BD9-81ED-4DB2-BD59-A6C34878D82A}">
                    <a16:rowId xmlns:a16="http://schemas.microsoft.com/office/drawing/2014/main" val="10000"/>
                  </a:ext>
                </a:extLst>
              </a:tr>
              <a:tr h="170000">
                <a:tc>
                  <a:txBody>
                    <a:bodyPr/>
                    <a:lstStyle/>
                    <a:p>
                      <a:pPr algn="l"/>
                      <a:r>
                        <a:rPr sz="650" b="1">
                          <a:solidFill>
                            <a:srgbClr val="6E7E7D"/>
                          </a:solidFill>
                          <a:latin typeface="Arial"/>
                        </a:rPr>
                        <a:t>Prom. %</a:t>
                      </a:r>
                      <a:r>
                        <a:rPr lang="es-ES" sz="650" b="1">
                          <a:solidFill>
                            <a:srgbClr val="6E7E7D"/>
                          </a:solidFill>
                          <a:latin typeface="Arial"/>
                        </a:rPr>
                        <a:t> U3M</a:t>
                      </a:r>
                      <a:endParaRPr sz="650" b="1">
                        <a:solidFill>
                          <a:srgbClr val="6E7E7D"/>
                        </a:solidFill>
                        <a:latin typeface="Arial"/>
                      </a:endParaRPr>
                    </a:p>
                  </a:txBody>
                  <a:tcPr marL="9000" marR="9000" marT="3000" marB="3000" anchor="ctr">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13.8%</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12.6%</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15.6%</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11.5%</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12.3%</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9.0%</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7.5%</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5.7%</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12.1%</a:t>
                      </a:r>
                    </a:p>
                  </a:txBody>
                  <a:tcPr marL="6350" marR="6350" marT="6350" marB="0" anchor="b">
                    <a:solidFill>
                      <a:srgbClr val="F6FBFA"/>
                    </a:solidFill>
                  </a:tcPr>
                </a:tc>
                <a:extLst>
                  <a:ext uri="{0D108BD9-81ED-4DB2-BD59-A6C34878D82A}">
                    <a16:rowId xmlns:a16="http://schemas.microsoft.com/office/drawing/2014/main" val="10001"/>
                  </a:ext>
                </a:extLst>
              </a:tr>
              <a:tr h="91451">
                <a:tc>
                  <a:txBody>
                    <a:bodyPr/>
                    <a:lstStyle/>
                    <a:p>
                      <a:pPr algn="l"/>
                      <a:r>
                        <a:rPr lang="es-ES" sz="650" b="1">
                          <a:solidFill>
                            <a:srgbClr val="6E7E7D"/>
                          </a:solidFill>
                          <a:latin typeface="Arial"/>
                        </a:rPr>
                        <a:t>May</a:t>
                      </a:r>
                      <a:r>
                        <a:rPr sz="650" b="1">
                          <a:solidFill>
                            <a:srgbClr val="6E7E7D"/>
                          </a:solidFill>
                          <a:latin typeface="Arial"/>
                        </a:rPr>
                        <a:t>-26 %</a:t>
                      </a:r>
                    </a:p>
                  </a:txBody>
                  <a:tcPr marL="9000" marR="9000" marT="3000" marB="3000" anchor="ctr">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13.1%</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6.9%</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11.7%</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8.1%</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9.8%</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6.2%</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14.6%</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9.8%</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19.8%</a:t>
                      </a:r>
                    </a:p>
                  </a:txBody>
                  <a:tcPr marL="6350" marR="6350" marT="6350" marB="0" anchor="b">
                    <a:solidFill>
                      <a:srgbClr val="FFFFFF"/>
                    </a:solidFill>
                  </a:tcPr>
                </a:tc>
                <a:extLst>
                  <a:ext uri="{0D108BD9-81ED-4DB2-BD59-A6C34878D82A}">
                    <a16:rowId xmlns:a16="http://schemas.microsoft.com/office/drawing/2014/main" val="10002"/>
                  </a:ext>
                </a:extLst>
              </a:tr>
            </a:tbl>
          </a:graphicData>
        </a:graphic>
      </p:graphicFrame>
      <p:pic>
        <p:nvPicPr>
          <p:cNvPr id="32" name="Imagen 31">
            <a:extLst>
              <a:ext uri="{FF2B5EF4-FFF2-40B4-BE49-F238E27FC236}">
                <a16:creationId xmlns:a16="http://schemas.microsoft.com/office/drawing/2014/main" id="{3080D73D-DA53-DFD1-A9ED-4FCF27460C88}"/>
              </a:ext>
            </a:extLst>
          </p:cNvPr>
          <p:cNvPicPr>
            <a:picLocks noChangeAspect="1"/>
          </p:cNvPicPr>
          <p:nvPr/>
        </p:nvPicPr>
        <p:blipFill>
          <a:blip r:embed="rId6"/>
          <a:stretch>
            <a:fillRect/>
          </a:stretch>
        </p:blipFill>
        <p:spPr>
          <a:xfrm>
            <a:off x="1375932" y="5802722"/>
            <a:ext cx="5880231" cy="2000000"/>
          </a:xfrm>
          <a:prstGeom prst="rect">
            <a:avLst/>
          </a:prstGeom>
        </p:spPr>
      </p:pic>
      <p:graphicFrame>
        <p:nvGraphicFramePr>
          <p:cNvPr id="34" name="Table 51">
            <a:extLst>
              <a:ext uri="{FF2B5EF4-FFF2-40B4-BE49-F238E27FC236}">
                <a16:creationId xmlns:a16="http://schemas.microsoft.com/office/drawing/2014/main" id="{24556F11-2E17-D92C-79FB-2CEB9F6CCD8C}"/>
              </a:ext>
            </a:extLst>
          </p:cNvPr>
          <p:cNvGraphicFramePr>
            <a:graphicFrameLocks noGrp="1"/>
          </p:cNvGraphicFramePr>
          <p:nvPr>
            <p:extLst>
              <p:ext uri="{D42A27DB-BD31-4B8C-83A1-F6EECF244321}">
                <p14:modId xmlns:p14="http://schemas.microsoft.com/office/powerpoint/2010/main" val="365339546"/>
              </p:ext>
            </p:extLst>
          </p:nvPr>
        </p:nvGraphicFramePr>
        <p:xfrm>
          <a:off x="1375932" y="7832722"/>
          <a:ext cx="5880230" cy="680000"/>
        </p:xfrm>
        <a:graphic>
          <a:graphicData uri="http://schemas.openxmlformats.org/drawingml/2006/table">
            <a:tbl>
              <a:tblPr>
                <a:tableStyleId>{5C22544A-7EE6-4342-B048-85BDC9FD1C3A}</a:tableStyleId>
              </a:tblPr>
              <a:tblGrid>
                <a:gridCol w="588023">
                  <a:extLst>
                    <a:ext uri="{9D8B030D-6E8A-4147-A177-3AD203B41FA5}">
                      <a16:colId xmlns:a16="http://schemas.microsoft.com/office/drawing/2014/main" val="20000"/>
                    </a:ext>
                  </a:extLst>
                </a:gridCol>
                <a:gridCol w="588023">
                  <a:extLst>
                    <a:ext uri="{9D8B030D-6E8A-4147-A177-3AD203B41FA5}">
                      <a16:colId xmlns:a16="http://schemas.microsoft.com/office/drawing/2014/main" val="3945569181"/>
                    </a:ext>
                  </a:extLst>
                </a:gridCol>
                <a:gridCol w="588023">
                  <a:extLst>
                    <a:ext uri="{9D8B030D-6E8A-4147-A177-3AD203B41FA5}">
                      <a16:colId xmlns:a16="http://schemas.microsoft.com/office/drawing/2014/main" val="20001"/>
                    </a:ext>
                  </a:extLst>
                </a:gridCol>
                <a:gridCol w="588023">
                  <a:extLst>
                    <a:ext uri="{9D8B030D-6E8A-4147-A177-3AD203B41FA5}">
                      <a16:colId xmlns:a16="http://schemas.microsoft.com/office/drawing/2014/main" val="20002"/>
                    </a:ext>
                  </a:extLst>
                </a:gridCol>
                <a:gridCol w="588023">
                  <a:extLst>
                    <a:ext uri="{9D8B030D-6E8A-4147-A177-3AD203B41FA5}">
                      <a16:colId xmlns:a16="http://schemas.microsoft.com/office/drawing/2014/main" val="20003"/>
                    </a:ext>
                  </a:extLst>
                </a:gridCol>
                <a:gridCol w="588023">
                  <a:extLst>
                    <a:ext uri="{9D8B030D-6E8A-4147-A177-3AD203B41FA5}">
                      <a16:colId xmlns:a16="http://schemas.microsoft.com/office/drawing/2014/main" val="20004"/>
                    </a:ext>
                  </a:extLst>
                </a:gridCol>
                <a:gridCol w="588023">
                  <a:extLst>
                    <a:ext uri="{9D8B030D-6E8A-4147-A177-3AD203B41FA5}">
                      <a16:colId xmlns:a16="http://schemas.microsoft.com/office/drawing/2014/main" val="20005"/>
                    </a:ext>
                  </a:extLst>
                </a:gridCol>
                <a:gridCol w="588023">
                  <a:extLst>
                    <a:ext uri="{9D8B030D-6E8A-4147-A177-3AD203B41FA5}">
                      <a16:colId xmlns:a16="http://schemas.microsoft.com/office/drawing/2014/main" val="20006"/>
                    </a:ext>
                  </a:extLst>
                </a:gridCol>
                <a:gridCol w="588023">
                  <a:extLst>
                    <a:ext uri="{9D8B030D-6E8A-4147-A177-3AD203B41FA5}">
                      <a16:colId xmlns:a16="http://schemas.microsoft.com/office/drawing/2014/main" val="20007"/>
                    </a:ext>
                  </a:extLst>
                </a:gridCol>
                <a:gridCol w="588023">
                  <a:extLst>
                    <a:ext uri="{9D8B030D-6E8A-4147-A177-3AD203B41FA5}">
                      <a16:colId xmlns:a16="http://schemas.microsoft.com/office/drawing/2014/main" val="20008"/>
                    </a:ext>
                  </a:extLst>
                </a:gridCol>
              </a:tblGrid>
              <a:tr h="340000">
                <a:tc>
                  <a:txBody>
                    <a:bodyPr/>
                    <a:lstStyle/>
                    <a:p>
                      <a:pPr algn="ctr"/>
                      <a:endParaRPr sz="600" b="1" kern="1200">
                        <a:solidFill>
                          <a:srgbClr val="FFFFFF"/>
                        </a:solidFill>
                        <a:latin typeface="Arial"/>
                        <a:ea typeface="+mn-ea"/>
                        <a:cs typeface="+mn-cs"/>
                      </a:endParaRPr>
                    </a:p>
                  </a:txBody>
                  <a:tcPr marL="9000" marR="9000" marT="3000" marB="3000" anchor="ctr">
                    <a:no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Ancla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Socio en Crecimiento</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Cuenta Estratégica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Maduro </a:t>
                      </a:r>
                      <a:r>
                        <a:rPr lang="es-PE" sz="600" b="1" kern="1200" err="1">
                          <a:solidFill>
                            <a:srgbClr val="FFFFFF"/>
                          </a:solidFill>
                          <a:latin typeface="Arial"/>
                          <a:ea typeface="+mn-ea"/>
                          <a:cs typeface="+mn-cs"/>
                        </a:rPr>
                        <a:t>Multibanco</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Gran Cuenta por Conquistar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por Reactivar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Emprendedor </a:t>
                      </a:r>
                      <a:r>
                        <a:rPr lang="es-PE" sz="600" b="1" kern="1200" err="1">
                          <a:solidFill>
                            <a:srgbClr val="FFFFFF"/>
                          </a:solidFill>
                          <a:latin typeface="Arial"/>
                          <a:ea typeface="+mn-ea"/>
                          <a:cs typeface="+mn-cs"/>
                        </a:rPr>
                        <a:t>Izipay</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Nuevo en Expansión</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Próximo Recurrente</a:t>
                      </a:r>
                    </a:p>
                  </a:txBody>
                  <a:tcPr marL="6350" marR="6350" marT="6350" marB="0" anchor="ctr">
                    <a:solidFill>
                      <a:srgbClr val="0C514E"/>
                    </a:solidFill>
                  </a:tcPr>
                </a:tc>
                <a:extLst>
                  <a:ext uri="{0D108BD9-81ED-4DB2-BD59-A6C34878D82A}">
                    <a16:rowId xmlns:a16="http://schemas.microsoft.com/office/drawing/2014/main" val="10000"/>
                  </a:ext>
                </a:extLst>
              </a:tr>
              <a:tr h="170000">
                <a:tc>
                  <a:txBody>
                    <a:bodyPr/>
                    <a:lstStyle/>
                    <a:p>
                      <a:pPr algn="l"/>
                      <a:r>
                        <a:rPr sz="650" b="1">
                          <a:solidFill>
                            <a:srgbClr val="6E7E7D"/>
                          </a:solidFill>
                          <a:latin typeface="Arial"/>
                        </a:rPr>
                        <a:t>Prom. %</a:t>
                      </a:r>
                      <a:r>
                        <a:rPr lang="es-ES" sz="650" b="1">
                          <a:solidFill>
                            <a:srgbClr val="6E7E7D"/>
                          </a:solidFill>
                          <a:latin typeface="Arial"/>
                        </a:rPr>
                        <a:t> U3M</a:t>
                      </a:r>
                      <a:endParaRPr sz="650" b="1">
                        <a:solidFill>
                          <a:srgbClr val="6E7E7D"/>
                        </a:solidFill>
                        <a:latin typeface="Arial"/>
                      </a:endParaRPr>
                    </a:p>
                  </a:txBody>
                  <a:tcPr marL="9000" marR="9000" marT="3000" marB="3000" anchor="ctr">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15.4%</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8.6%</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23.7%</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12.9%</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18.5%</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5.9%</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3.0%</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3.4%</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8.7%</a:t>
                      </a:r>
                    </a:p>
                  </a:txBody>
                  <a:tcPr marL="6350" marR="6350" marT="6350" marB="0" anchor="b">
                    <a:solidFill>
                      <a:srgbClr val="F6FBFA"/>
                    </a:solidFill>
                  </a:tcPr>
                </a:tc>
                <a:extLst>
                  <a:ext uri="{0D108BD9-81ED-4DB2-BD59-A6C34878D82A}">
                    <a16:rowId xmlns:a16="http://schemas.microsoft.com/office/drawing/2014/main" val="10001"/>
                  </a:ext>
                </a:extLst>
              </a:tr>
              <a:tr h="170000">
                <a:tc>
                  <a:txBody>
                    <a:bodyPr/>
                    <a:lstStyle/>
                    <a:p>
                      <a:pPr algn="l"/>
                      <a:r>
                        <a:rPr lang="es-ES" sz="650" b="1">
                          <a:solidFill>
                            <a:srgbClr val="6E7E7D"/>
                          </a:solidFill>
                          <a:latin typeface="Arial"/>
                        </a:rPr>
                        <a:t>May</a:t>
                      </a:r>
                      <a:r>
                        <a:rPr sz="650" b="1">
                          <a:solidFill>
                            <a:srgbClr val="6E7E7D"/>
                          </a:solidFill>
                          <a:latin typeface="Arial"/>
                        </a:rPr>
                        <a:t>-26 %</a:t>
                      </a:r>
                    </a:p>
                  </a:txBody>
                  <a:tcPr marL="9000" marR="9000" marT="3000" marB="3000" anchor="ctr">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15.4%</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5.6%</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17.6%</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9.5%</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16.8%</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5.1%</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6.3%</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6.6%</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17.1%</a:t>
                      </a:r>
                    </a:p>
                  </a:txBody>
                  <a:tcPr marL="6350" marR="6350" marT="6350" marB="0" anchor="b">
                    <a:solidFill>
                      <a:srgbClr val="FFFFFF"/>
                    </a:solidFill>
                  </a:tcPr>
                </a:tc>
                <a:extLst>
                  <a:ext uri="{0D108BD9-81ED-4DB2-BD59-A6C34878D82A}">
                    <a16:rowId xmlns:a16="http://schemas.microsoft.com/office/drawing/2014/main" val="10002"/>
                  </a:ext>
                </a:extLst>
              </a:tr>
            </a:tbl>
          </a:graphicData>
        </a:graphic>
      </p:graphicFrame>
      <p:pic>
        <p:nvPicPr>
          <p:cNvPr id="41" name="Imagen 40">
            <a:extLst>
              <a:ext uri="{FF2B5EF4-FFF2-40B4-BE49-F238E27FC236}">
                <a16:creationId xmlns:a16="http://schemas.microsoft.com/office/drawing/2014/main" id="{1351B0E2-AA8A-1892-B37B-5A80A21F71F9}"/>
              </a:ext>
            </a:extLst>
          </p:cNvPr>
          <p:cNvPicPr>
            <a:picLocks noChangeAspect="1"/>
          </p:cNvPicPr>
          <p:nvPr/>
        </p:nvPicPr>
        <p:blipFill>
          <a:blip r:embed="rId7"/>
          <a:stretch>
            <a:fillRect/>
          </a:stretch>
        </p:blipFill>
        <p:spPr>
          <a:xfrm>
            <a:off x="8966895" y="2097164"/>
            <a:ext cx="5795104" cy="2000000"/>
          </a:xfrm>
          <a:prstGeom prst="rect">
            <a:avLst/>
          </a:prstGeom>
        </p:spPr>
      </p:pic>
      <p:pic>
        <p:nvPicPr>
          <p:cNvPr id="44" name="Imagen 43">
            <a:extLst>
              <a:ext uri="{FF2B5EF4-FFF2-40B4-BE49-F238E27FC236}">
                <a16:creationId xmlns:a16="http://schemas.microsoft.com/office/drawing/2014/main" id="{F44DF898-819E-F0E6-842B-CB535D2D4ECB}"/>
              </a:ext>
            </a:extLst>
          </p:cNvPr>
          <p:cNvPicPr>
            <a:picLocks noChangeAspect="1"/>
          </p:cNvPicPr>
          <p:nvPr/>
        </p:nvPicPr>
        <p:blipFill>
          <a:blip r:embed="rId8"/>
          <a:stretch>
            <a:fillRect/>
          </a:stretch>
        </p:blipFill>
        <p:spPr>
          <a:xfrm>
            <a:off x="8966895" y="5802722"/>
            <a:ext cx="5795104" cy="2000000"/>
          </a:xfrm>
          <a:prstGeom prst="rect">
            <a:avLst/>
          </a:prstGeom>
        </p:spPr>
      </p:pic>
      <p:graphicFrame>
        <p:nvGraphicFramePr>
          <p:cNvPr id="46" name="Table 50">
            <a:extLst>
              <a:ext uri="{FF2B5EF4-FFF2-40B4-BE49-F238E27FC236}">
                <a16:creationId xmlns:a16="http://schemas.microsoft.com/office/drawing/2014/main" id="{6C212256-1023-37DD-D4FF-04A7B6DC3820}"/>
              </a:ext>
            </a:extLst>
          </p:cNvPr>
          <p:cNvGraphicFramePr>
            <a:graphicFrameLocks noGrp="1"/>
          </p:cNvGraphicFramePr>
          <p:nvPr>
            <p:extLst>
              <p:ext uri="{D42A27DB-BD31-4B8C-83A1-F6EECF244321}">
                <p14:modId xmlns:p14="http://schemas.microsoft.com/office/powerpoint/2010/main" val="442504885"/>
              </p:ext>
            </p:extLst>
          </p:nvPr>
        </p:nvGraphicFramePr>
        <p:xfrm>
          <a:off x="8966895" y="4127164"/>
          <a:ext cx="5795100" cy="680000"/>
        </p:xfrm>
        <a:graphic>
          <a:graphicData uri="http://schemas.openxmlformats.org/drawingml/2006/table">
            <a:tbl>
              <a:tblPr>
                <a:tableStyleId>{5C22544A-7EE6-4342-B048-85BDC9FD1C3A}</a:tableStyleId>
              </a:tblPr>
              <a:tblGrid>
                <a:gridCol w="579510">
                  <a:extLst>
                    <a:ext uri="{9D8B030D-6E8A-4147-A177-3AD203B41FA5}">
                      <a16:colId xmlns:a16="http://schemas.microsoft.com/office/drawing/2014/main" val="20000"/>
                    </a:ext>
                  </a:extLst>
                </a:gridCol>
                <a:gridCol w="579510">
                  <a:extLst>
                    <a:ext uri="{9D8B030D-6E8A-4147-A177-3AD203B41FA5}">
                      <a16:colId xmlns:a16="http://schemas.microsoft.com/office/drawing/2014/main" val="949469328"/>
                    </a:ext>
                  </a:extLst>
                </a:gridCol>
                <a:gridCol w="579510">
                  <a:extLst>
                    <a:ext uri="{9D8B030D-6E8A-4147-A177-3AD203B41FA5}">
                      <a16:colId xmlns:a16="http://schemas.microsoft.com/office/drawing/2014/main" val="20001"/>
                    </a:ext>
                  </a:extLst>
                </a:gridCol>
                <a:gridCol w="579510">
                  <a:extLst>
                    <a:ext uri="{9D8B030D-6E8A-4147-A177-3AD203B41FA5}">
                      <a16:colId xmlns:a16="http://schemas.microsoft.com/office/drawing/2014/main" val="20002"/>
                    </a:ext>
                  </a:extLst>
                </a:gridCol>
                <a:gridCol w="579510">
                  <a:extLst>
                    <a:ext uri="{9D8B030D-6E8A-4147-A177-3AD203B41FA5}">
                      <a16:colId xmlns:a16="http://schemas.microsoft.com/office/drawing/2014/main" val="20003"/>
                    </a:ext>
                  </a:extLst>
                </a:gridCol>
                <a:gridCol w="579510">
                  <a:extLst>
                    <a:ext uri="{9D8B030D-6E8A-4147-A177-3AD203B41FA5}">
                      <a16:colId xmlns:a16="http://schemas.microsoft.com/office/drawing/2014/main" val="20004"/>
                    </a:ext>
                  </a:extLst>
                </a:gridCol>
                <a:gridCol w="579510">
                  <a:extLst>
                    <a:ext uri="{9D8B030D-6E8A-4147-A177-3AD203B41FA5}">
                      <a16:colId xmlns:a16="http://schemas.microsoft.com/office/drawing/2014/main" val="20005"/>
                    </a:ext>
                  </a:extLst>
                </a:gridCol>
                <a:gridCol w="579510">
                  <a:extLst>
                    <a:ext uri="{9D8B030D-6E8A-4147-A177-3AD203B41FA5}">
                      <a16:colId xmlns:a16="http://schemas.microsoft.com/office/drawing/2014/main" val="20006"/>
                    </a:ext>
                  </a:extLst>
                </a:gridCol>
                <a:gridCol w="579510">
                  <a:extLst>
                    <a:ext uri="{9D8B030D-6E8A-4147-A177-3AD203B41FA5}">
                      <a16:colId xmlns:a16="http://schemas.microsoft.com/office/drawing/2014/main" val="20007"/>
                    </a:ext>
                  </a:extLst>
                </a:gridCol>
                <a:gridCol w="579510">
                  <a:extLst>
                    <a:ext uri="{9D8B030D-6E8A-4147-A177-3AD203B41FA5}">
                      <a16:colId xmlns:a16="http://schemas.microsoft.com/office/drawing/2014/main" val="20008"/>
                    </a:ext>
                  </a:extLst>
                </a:gridCol>
              </a:tblGrid>
              <a:tr h="340000">
                <a:tc>
                  <a:txBody>
                    <a:bodyPr/>
                    <a:lstStyle/>
                    <a:p>
                      <a:pPr algn="ctr"/>
                      <a:endParaRPr sz="600" b="1">
                        <a:solidFill>
                          <a:srgbClr val="FFFFFF"/>
                        </a:solidFill>
                        <a:latin typeface="Arial"/>
                      </a:endParaRPr>
                    </a:p>
                  </a:txBody>
                  <a:tcPr marL="9000" marR="9000" marT="3000" marB="300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Ancla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Socio en Crecimiento</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Cuenta Estratégica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Maduro </a:t>
                      </a:r>
                      <a:r>
                        <a:rPr lang="es-PE" sz="600" b="1" kern="1200" err="1">
                          <a:solidFill>
                            <a:srgbClr val="FFFFFF"/>
                          </a:solidFill>
                          <a:latin typeface="Arial"/>
                          <a:ea typeface="+mn-ea"/>
                          <a:cs typeface="+mn-cs"/>
                        </a:rPr>
                        <a:t>Multibanco</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Gran Cuenta por Conquistar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por Reactivar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Emprendedor </a:t>
                      </a:r>
                      <a:r>
                        <a:rPr lang="es-PE" sz="600" b="1" kern="1200" err="1">
                          <a:solidFill>
                            <a:srgbClr val="FFFFFF"/>
                          </a:solidFill>
                          <a:latin typeface="Arial"/>
                          <a:ea typeface="+mn-ea"/>
                          <a:cs typeface="+mn-cs"/>
                        </a:rPr>
                        <a:t>Izipay</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Nuevo en Expansión</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Próximo Recurrente</a:t>
                      </a:r>
                    </a:p>
                  </a:txBody>
                  <a:tcPr marL="6350" marR="6350" marT="6350" marB="0" anchor="ctr">
                    <a:solidFill>
                      <a:srgbClr val="0C514E"/>
                    </a:solidFill>
                  </a:tcPr>
                </a:tc>
                <a:extLst>
                  <a:ext uri="{0D108BD9-81ED-4DB2-BD59-A6C34878D82A}">
                    <a16:rowId xmlns:a16="http://schemas.microsoft.com/office/drawing/2014/main" val="10000"/>
                  </a:ext>
                </a:extLst>
              </a:tr>
              <a:tr h="170000">
                <a:tc>
                  <a:txBody>
                    <a:bodyPr/>
                    <a:lstStyle/>
                    <a:p>
                      <a:pPr algn="l"/>
                      <a:r>
                        <a:rPr sz="650" b="1">
                          <a:solidFill>
                            <a:srgbClr val="6E7E7D"/>
                          </a:solidFill>
                          <a:latin typeface="Arial"/>
                        </a:rPr>
                        <a:t>Prom. %</a:t>
                      </a:r>
                      <a:r>
                        <a:rPr lang="es-ES" sz="650" b="1">
                          <a:solidFill>
                            <a:srgbClr val="6E7E7D"/>
                          </a:solidFill>
                          <a:latin typeface="Arial"/>
                        </a:rPr>
                        <a:t> U3M</a:t>
                      </a:r>
                      <a:endParaRPr sz="650" b="1">
                        <a:solidFill>
                          <a:srgbClr val="6E7E7D"/>
                        </a:solidFill>
                        <a:latin typeface="Arial"/>
                      </a:endParaRPr>
                    </a:p>
                  </a:txBody>
                  <a:tcPr marL="9000" marR="9000" marT="3000" marB="3000" anchor="ctr">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6.3%</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19.0%</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4.4%</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11.8%</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5.9%</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8.0%</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22.6%</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3.5%</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18.4%</a:t>
                      </a:r>
                    </a:p>
                  </a:txBody>
                  <a:tcPr marL="6350" marR="6350" marT="6350" marB="0" anchor="b">
                    <a:solidFill>
                      <a:srgbClr val="F6FBFA"/>
                    </a:solidFill>
                  </a:tcPr>
                </a:tc>
                <a:extLst>
                  <a:ext uri="{0D108BD9-81ED-4DB2-BD59-A6C34878D82A}">
                    <a16:rowId xmlns:a16="http://schemas.microsoft.com/office/drawing/2014/main" val="10001"/>
                  </a:ext>
                </a:extLst>
              </a:tr>
              <a:tr h="170000">
                <a:tc>
                  <a:txBody>
                    <a:bodyPr/>
                    <a:lstStyle/>
                    <a:p>
                      <a:pPr algn="l"/>
                      <a:r>
                        <a:rPr lang="es-ES" sz="650" b="1">
                          <a:solidFill>
                            <a:srgbClr val="6E7E7D"/>
                          </a:solidFill>
                          <a:latin typeface="Arial"/>
                        </a:rPr>
                        <a:t>May</a:t>
                      </a:r>
                      <a:r>
                        <a:rPr sz="650" b="1">
                          <a:solidFill>
                            <a:srgbClr val="6E7E7D"/>
                          </a:solidFill>
                          <a:latin typeface="Arial"/>
                        </a:rPr>
                        <a:t>-26 %</a:t>
                      </a:r>
                    </a:p>
                  </a:txBody>
                  <a:tcPr marL="9000" marR="9000" marT="3000" marB="3000" anchor="ctr">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5.9%</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16.7%</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4.1%</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10.1%</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5.2%</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6.6%</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30.2%</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4.2%</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17.1%</a:t>
                      </a:r>
                    </a:p>
                  </a:txBody>
                  <a:tcPr marL="6350" marR="6350" marT="6350" marB="0" anchor="b">
                    <a:solidFill>
                      <a:srgbClr val="FFFFFF"/>
                    </a:solidFill>
                  </a:tcPr>
                </a:tc>
                <a:extLst>
                  <a:ext uri="{0D108BD9-81ED-4DB2-BD59-A6C34878D82A}">
                    <a16:rowId xmlns:a16="http://schemas.microsoft.com/office/drawing/2014/main" val="10002"/>
                  </a:ext>
                </a:extLst>
              </a:tr>
            </a:tbl>
          </a:graphicData>
        </a:graphic>
      </p:graphicFrame>
      <p:graphicFrame>
        <p:nvGraphicFramePr>
          <p:cNvPr id="50" name="Table 52">
            <a:extLst>
              <a:ext uri="{FF2B5EF4-FFF2-40B4-BE49-F238E27FC236}">
                <a16:creationId xmlns:a16="http://schemas.microsoft.com/office/drawing/2014/main" id="{B88D9E14-D412-7E3E-E5E2-94856D173585}"/>
              </a:ext>
            </a:extLst>
          </p:cNvPr>
          <p:cNvGraphicFramePr>
            <a:graphicFrameLocks noGrp="1"/>
          </p:cNvGraphicFramePr>
          <p:nvPr>
            <p:extLst>
              <p:ext uri="{D42A27DB-BD31-4B8C-83A1-F6EECF244321}">
                <p14:modId xmlns:p14="http://schemas.microsoft.com/office/powerpoint/2010/main" val="390765078"/>
              </p:ext>
            </p:extLst>
          </p:nvPr>
        </p:nvGraphicFramePr>
        <p:xfrm>
          <a:off x="8966895" y="7832722"/>
          <a:ext cx="5795100" cy="680000"/>
        </p:xfrm>
        <a:graphic>
          <a:graphicData uri="http://schemas.openxmlformats.org/drawingml/2006/table">
            <a:tbl>
              <a:tblPr>
                <a:tableStyleId>{5C22544A-7EE6-4342-B048-85BDC9FD1C3A}</a:tableStyleId>
              </a:tblPr>
              <a:tblGrid>
                <a:gridCol w="579510">
                  <a:extLst>
                    <a:ext uri="{9D8B030D-6E8A-4147-A177-3AD203B41FA5}">
                      <a16:colId xmlns:a16="http://schemas.microsoft.com/office/drawing/2014/main" val="20000"/>
                    </a:ext>
                  </a:extLst>
                </a:gridCol>
                <a:gridCol w="579510">
                  <a:extLst>
                    <a:ext uri="{9D8B030D-6E8A-4147-A177-3AD203B41FA5}">
                      <a16:colId xmlns:a16="http://schemas.microsoft.com/office/drawing/2014/main" val="1794630339"/>
                    </a:ext>
                  </a:extLst>
                </a:gridCol>
                <a:gridCol w="579510">
                  <a:extLst>
                    <a:ext uri="{9D8B030D-6E8A-4147-A177-3AD203B41FA5}">
                      <a16:colId xmlns:a16="http://schemas.microsoft.com/office/drawing/2014/main" val="20001"/>
                    </a:ext>
                  </a:extLst>
                </a:gridCol>
                <a:gridCol w="579510">
                  <a:extLst>
                    <a:ext uri="{9D8B030D-6E8A-4147-A177-3AD203B41FA5}">
                      <a16:colId xmlns:a16="http://schemas.microsoft.com/office/drawing/2014/main" val="20002"/>
                    </a:ext>
                  </a:extLst>
                </a:gridCol>
                <a:gridCol w="579510">
                  <a:extLst>
                    <a:ext uri="{9D8B030D-6E8A-4147-A177-3AD203B41FA5}">
                      <a16:colId xmlns:a16="http://schemas.microsoft.com/office/drawing/2014/main" val="20003"/>
                    </a:ext>
                  </a:extLst>
                </a:gridCol>
                <a:gridCol w="579510">
                  <a:extLst>
                    <a:ext uri="{9D8B030D-6E8A-4147-A177-3AD203B41FA5}">
                      <a16:colId xmlns:a16="http://schemas.microsoft.com/office/drawing/2014/main" val="20004"/>
                    </a:ext>
                  </a:extLst>
                </a:gridCol>
                <a:gridCol w="579510">
                  <a:extLst>
                    <a:ext uri="{9D8B030D-6E8A-4147-A177-3AD203B41FA5}">
                      <a16:colId xmlns:a16="http://schemas.microsoft.com/office/drawing/2014/main" val="20005"/>
                    </a:ext>
                  </a:extLst>
                </a:gridCol>
                <a:gridCol w="579510">
                  <a:extLst>
                    <a:ext uri="{9D8B030D-6E8A-4147-A177-3AD203B41FA5}">
                      <a16:colId xmlns:a16="http://schemas.microsoft.com/office/drawing/2014/main" val="20006"/>
                    </a:ext>
                  </a:extLst>
                </a:gridCol>
                <a:gridCol w="579510">
                  <a:extLst>
                    <a:ext uri="{9D8B030D-6E8A-4147-A177-3AD203B41FA5}">
                      <a16:colId xmlns:a16="http://schemas.microsoft.com/office/drawing/2014/main" val="20007"/>
                    </a:ext>
                  </a:extLst>
                </a:gridCol>
                <a:gridCol w="579510">
                  <a:extLst>
                    <a:ext uri="{9D8B030D-6E8A-4147-A177-3AD203B41FA5}">
                      <a16:colId xmlns:a16="http://schemas.microsoft.com/office/drawing/2014/main" val="20008"/>
                    </a:ext>
                  </a:extLst>
                </a:gridCol>
              </a:tblGrid>
              <a:tr h="340000">
                <a:tc>
                  <a:txBody>
                    <a:bodyPr/>
                    <a:lstStyle/>
                    <a:p>
                      <a:pPr algn="ctr"/>
                      <a:endParaRPr sz="600" b="1">
                        <a:solidFill>
                          <a:srgbClr val="FFFFFF"/>
                        </a:solidFill>
                        <a:latin typeface="Arial"/>
                      </a:endParaRPr>
                    </a:p>
                  </a:txBody>
                  <a:tcPr marL="9000" marR="9000" marT="3000" marB="300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Ancla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Socio en Crecimiento</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Cuenta Estratégica</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Maduro </a:t>
                      </a:r>
                      <a:r>
                        <a:rPr lang="es-PE" sz="600" b="1" kern="1200" err="1">
                          <a:solidFill>
                            <a:srgbClr val="FFFFFF"/>
                          </a:solidFill>
                          <a:latin typeface="Arial"/>
                          <a:ea typeface="+mn-ea"/>
                          <a:cs typeface="+mn-cs"/>
                        </a:rPr>
                        <a:t>Multibanco</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Gran Cuenta por Conquistar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Cliente por Reactivar</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Emprendedor </a:t>
                      </a:r>
                      <a:r>
                        <a:rPr lang="es-PE" sz="600" b="1" kern="1200" err="1">
                          <a:solidFill>
                            <a:srgbClr val="FFFFFF"/>
                          </a:solidFill>
                          <a:latin typeface="Arial"/>
                          <a:ea typeface="+mn-ea"/>
                          <a:cs typeface="+mn-cs"/>
                        </a:rPr>
                        <a:t>Izipay</a:t>
                      </a:r>
                      <a:endParaRPr lang="es-PE" sz="600" b="1" kern="1200">
                        <a:solidFill>
                          <a:srgbClr val="FFFFFF"/>
                        </a:solidFill>
                        <a:latin typeface="Arial"/>
                        <a:ea typeface="+mn-ea"/>
                        <a:cs typeface="+mn-cs"/>
                      </a:endParaRP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Nuevo en Expansión</a:t>
                      </a:r>
                    </a:p>
                  </a:txBody>
                  <a:tcPr marL="6350" marR="6350" marT="6350" marB="0" anchor="ctr">
                    <a:solidFill>
                      <a:srgbClr val="0C514E"/>
                    </a:solidFill>
                  </a:tcPr>
                </a:tc>
                <a:tc>
                  <a:txBody>
                    <a:bodyPr/>
                    <a:lstStyle/>
                    <a:p>
                      <a:pPr marL="0" algn="ctr" defTabSz="457200" rtl="0" eaLnBrk="1" fontAlgn="b" latinLnBrk="0" hangingPunct="1">
                        <a:buNone/>
                      </a:pPr>
                      <a:r>
                        <a:rPr lang="es-PE" sz="600" b="1" kern="1200">
                          <a:solidFill>
                            <a:srgbClr val="FFFFFF"/>
                          </a:solidFill>
                          <a:latin typeface="Arial"/>
                          <a:ea typeface="+mn-ea"/>
                          <a:cs typeface="+mn-cs"/>
                        </a:rPr>
                        <a:t>Próximo Recurrente</a:t>
                      </a:r>
                    </a:p>
                  </a:txBody>
                  <a:tcPr marL="6350" marR="6350" marT="6350" marB="0" anchor="ctr">
                    <a:solidFill>
                      <a:srgbClr val="0C514E"/>
                    </a:solidFill>
                  </a:tcPr>
                </a:tc>
                <a:extLst>
                  <a:ext uri="{0D108BD9-81ED-4DB2-BD59-A6C34878D82A}">
                    <a16:rowId xmlns:a16="http://schemas.microsoft.com/office/drawing/2014/main" val="10000"/>
                  </a:ext>
                </a:extLst>
              </a:tr>
              <a:tr h="170000">
                <a:tc>
                  <a:txBody>
                    <a:bodyPr/>
                    <a:lstStyle/>
                    <a:p>
                      <a:pPr algn="l"/>
                      <a:r>
                        <a:rPr sz="650" b="1">
                          <a:solidFill>
                            <a:srgbClr val="6E7E7D"/>
                          </a:solidFill>
                          <a:latin typeface="Arial"/>
                        </a:rPr>
                        <a:t>Prom. %</a:t>
                      </a:r>
                      <a:r>
                        <a:rPr lang="es-ES" sz="650" b="1">
                          <a:solidFill>
                            <a:srgbClr val="6E7E7D"/>
                          </a:solidFill>
                          <a:latin typeface="Arial"/>
                        </a:rPr>
                        <a:t> U3M</a:t>
                      </a:r>
                      <a:endParaRPr sz="650" b="1">
                        <a:solidFill>
                          <a:srgbClr val="6E7E7D"/>
                        </a:solidFill>
                        <a:latin typeface="Arial"/>
                      </a:endParaRPr>
                    </a:p>
                  </a:txBody>
                  <a:tcPr marL="9000" marR="9000" marT="3000" marB="3000" anchor="ctr">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8.7%</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26.3%</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6.6%</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16.3%</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9.1%</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3.9%</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15.5%</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2.5%</a:t>
                      </a:r>
                    </a:p>
                  </a:txBody>
                  <a:tcPr marL="6350" marR="6350" marT="6350" marB="0" anchor="b">
                    <a:solidFill>
                      <a:srgbClr val="F6FBFA"/>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11.3%</a:t>
                      </a:r>
                    </a:p>
                  </a:txBody>
                  <a:tcPr marL="6350" marR="6350" marT="6350" marB="0" anchor="b">
                    <a:solidFill>
                      <a:srgbClr val="F6FBFA"/>
                    </a:solidFill>
                  </a:tcPr>
                </a:tc>
                <a:extLst>
                  <a:ext uri="{0D108BD9-81ED-4DB2-BD59-A6C34878D82A}">
                    <a16:rowId xmlns:a16="http://schemas.microsoft.com/office/drawing/2014/main" val="10001"/>
                  </a:ext>
                </a:extLst>
              </a:tr>
              <a:tr h="170000">
                <a:tc>
                  <a:txBody>
                    <a:bodyPr/>
                    <a:lstStyle/>
                    <a:p>
                      <a:pPr algn="l"/>
                      <a:r>
                        <a:rPr lang="es-ES" sz="650" b="1">
                          <a:solidFill>
                            <a:srgbClr val="6E7E7D"/>
                          </a:solidFill>
                          <a:latin typeface="Arial"/>
                        </a:rPr>
                        <a:t>May</a:t>
                      </a:r>
                      <a:r>
                        <a:rPr sz="650" b="1">
                          <a:solidFill>
                            <a:srgbClr val="6E7E7D"/>
                          </a:solidFill>
                          <a:latin typeface="Arial"/>
                        </a:rPr>
                        <a:t>-26 %</a:t>
                      </a:r>
                    </a:p>
                  </a:txBody>
                  <a:tcPr marL="9000" marR="9000" marT="3000" marB="3000" anchor="ctr">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8.6%</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24.4%</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6.5%</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14.7%</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8.3%</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3.3%</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20.7%</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3.0%</a:t>
                      </a:r>
                    </a:p>
                  </a:txBody>
                  <a:tcPr marL="6350" marR="6350" marT="6350" marB="0" anchor="b">
                    <a:solidFill>
                      <a:srgbClr val="FFFFFF"/>
                    </a:solidFill>
                  </a:tcPr>
                </a:tc>
                <a:tc>
                  <a:txBody>
                    <a:bodyPr/>
                    <a:lstStyle/>
                    <a:p>
                      <a:pPr marL="0" algn="ctr" defTabSz="457200" rtl="0" eaLnBrk="1" fontAlgn="b" latinLnBrk="0" hangingPunct="1">
                        <a:buNone/>
                      </a:pPr>
                      <a:r>
                        <a:rPr lang="es-PE" sz="700" b="0" kern="1200">
                          <a:solidFill>
                            <a:srgbClr val="9AA8A7"/>
                          </a:solidFill>
                          <a:latin typeface="Arial"/>
                          <a:ea typeface="+mn-ea"/>
                          <a:cs typeface="+mn-cs"/>
                        </a:rPr>
                        <a:t>10.4%</a:t>
                      </a:r>
                    </a:p>
                  </a:txBody>
                  <a:tcPr marL="6350" marR="6350" marT="6350" marB="0" anchor="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9" y="329184"/>
            <a:ext cx="11951427" cy="146322"/>
          </a:xfrm>
          <a:prstGeom prst="rect">
            <a:avLst/>
          </a:prstGeom>
          <a:noFill/>
        </p:spPr>
        <p:txBody>
          <a:bodyPr wrap="square" lIns="0" tIns="0" rIns="0" bIns="0" anchor="t">
            <a:spAutoFit/>
          </a:bodyPr>
          <a:lstStyle/>
          <a:p>
            <a:pPr algn="l">
              <a:lnSpc>
                <a:spcPct val="100000"/>
              </a:lnSpc>
            </a:pPr>
            <a:r>
              <a:rPr sz="951" b="1">
                <a:solidFill>
                  <a:srgbClr val="13807B"/>
                </a:solidFill>
                <a:latin typeface="Arial"/>
              </a:rPr>
              <a:t>SEGMENTACIÓN ESTRATÉGICA · MARCO METODOLÓGICO</a:t>
            </a:r>
          </a:p>
        </p:txBody>
      </p:sp>
      <p:sp>
        <p:nvSpPr>
          <p:cNvPr id="3" name="TextBox 2"/>
          <p:cNvSpPr txBox="1"/>
          <p:nvPr/>
        </p:nvSpPr>
        <p:spPr>
          <a:xfrm>
            <a:off x="658369" y="566928"/>
            <a:ext cx="13750564" cy="603242"/>
          </a:xfrm>
          <a:prstGeom prst="rect">
            <a:avLst/>
          </a:prstGeom>
          <a:noFill/>
        </p:spPr>
        <p:txBody>
          <a:bodyPr wrap="square" lIns="0" tIns="0" rIns="0" bIns="0" anchor="t">
            <a:spAutoFit/>
          </a:bodyPr>
          <a:lstStyle/>
          <a:p>
            <a:pPr algn="l">
              <a:lnSpc>
                <a:spcPct val="98000"/>
              </a:lnSpc>
            </a:pPr>
            <a:r>
              <a:rPr sz="2000" b="1">
                <a:solidFill>
                  <a:srgbClr val="0B2E2C"/>
                </a:solidFill>
                <a:latin typeface="Arial"/>
              </a:rPr>
              <a:t>La </a:t>
            </a:r>
            <a:r>
              <a:rPr sz="2000" b="1" err="1">
                <a:solidFill>
                  <a:srgbClr val="0B2E2C"/>
                </a:solidFill>
                <a:latin typeface="Arial"/>
              </a:rPr>
              <a:t>sensibilidad</a:t>
            </a:r>
            <a:r>
              <a:rPr sz="2000" b="1">
                <a:solidFill>
                  <a:srgbClr val="0B2E2C"/>
                </a:solidFill>
                <a:latin typeface="Arial"/>
              </a:rPr>
              <a:t> al </a:t>
            </a:r>
            <a:r>
              <a:rPr sz="2000" b="1" err="1">
                <a:solidFill>
                  <a:srgbClr val="0B2E2C"/>
                </a:solidFill>
                <a:latin typeface="Arial"/>
              </a:rPr>
              <a:t>precio</a:t>
            </a:r>
            <a:r>
              <a:rPr sz="2000" b="1">
                <a:solidFill>
                  <a:srgbClr val="0B2E2C"/>
                </a:solidFill>
                <a:latin typeface="Arial"/>
              </a:rPr>
              <a:t> se </a:t>
            </a:r>
            <a:r>
              <a:rPr sz="2000" b="1" err="1">
                <a:solidFill>
                  <a:srgbClr val="0B2E2C"/>
                </a:solidFill>
                <a:latin typeface="Arial"/>
              </a:rPr>
              <a:t>construye</a:t>
            </a:r>
            <a:r>
              <a:rPr sz="2000" b="1">
                <a:solidFill>
                  <a:srgbClr val="0B2E2C"/>
                </a:solidFill>
                <a:latin typeface="Arial"/>
              </a:rPr>
              <a:t> </a:t>
            </a:r>
            <a:r>
              <a:rPr sz="2000" b="1" err="1">
                <a:solidFill>
                  <a:srgbClr val="0B2E2C"/>
                </a:solidFill>
                <a:latin typeface="Arial"/>
              </a:rPr>
              <a:t>en</a:t>
            </a:r>
            <a:r>
              <a:rPr sz="2000" b="1">
                <a:solidFill>
                  <a:srgbClr val="0B2E2C"/>
                </a:solidFill>
                <a:latin typeface="Arial"/>
              </a:rPr>
              <a:t> </a:t>
            </a:r>
            <a:r>
              <a:rPr sz="2000" b="1" err="1">
                <a:solidFill>
                  <a:srgbClr val="0B2E2C"/>
                </a:solidFill>
                <a:latin typeface="Arial"/>
              </a:rPr>
              <a:t>tres</a:t>
            </a:r>
            <a:r>
              <a:rPr sz="2000" b="1">
                <a:solidFill>
                  <a:srgbClr val="0B2E2C"/>
                </a:solidFill>
                <a:latin typeface="Arial"/>
              </a:rPr>
              <a:t> </a:t>
            </a:r>
            <a:r>
              <a:rPr sz="2000" b="1" err="1">
                <a:solidFill>
                  <a:srgbClr val="0B2E2C"/>
                </a:solidFill>
                <a:latin typeface="Arial"/>
              </a:rPr>
              <a:t>capas</a:t>
            </a:r>
            <a:r>
              <a:rPr sz="2000" b="1">
                <a:solidFill>
                  <a:srgbClr val="0B2E2C"/>
                </a:solidFill>
                <a:latin typeface="Arial"/>
              </a:rPr>
              <a:t>: </a:t>
            </a:r>
            <a:r>
              <a:rPr sz="2000" b="1" err="1">
                <a:solidFill>
                  <a:srgbClr val="0B2E2C"/>
                </a:solidFill>
                <a:latin typeface="Arial"/>
              </a:rPr>
              <a:t>quién</a:t>
            </a:r>
            <a:r>
              <a:rPr sz="2000" b="1">
                <a:solidFill>
                  <a:srgbClr val="0B2E2C"/>
                </a:solidFill>
                <a:latin typeface="Arial"/>
              </a:rPr>
              <a:t> es el </a:t>
            </a:r>
            <a:r>
              <a:rPr sz="2000" b="1" err="1">
                <a:solidFill>
                  <a:srgbClr val="0B2E2C"/>
                </a:solidFill>
                <a:latin typeface="Arial"/>
              </a:rPr>
              <a:t>cliente</a:t>
            </a:r>
            <a:r>
              <a:rPr sz="2000" b="1">
                <a:solidFill>
                  <a:srgbClr val="0B2E2C"/>
                </a:solidFill>
                <a:latin typeface="Arial"/>
              </a:rPr>
              <a:t>, </a:t>
            </a:r>
            <a:r>
              <a:rPr sz="2000" b="1" err="1">
                <a:solidFill>
                  <a:srgbClr val="0B2E2C"/>
                </a:solidFill>
                <a:latin typeface="Arial"/>
              </a:rPr>
              <a:t>cuánto</a:t>
            </a:r>
            <a:r>
              <a:rPr sz="2000" b="1">
                <a:solidFill>
                  <a:srgbClr val="0B2E2C"/>
                </a:solidFill>
                <a:latin typeface="Arial"/>
              </a:rPr>
              <a:t> de</a:t>
            </a:r>
            <a:r>
              <a:rPr lang="es-419" sz="2000" b="1">
                <a:solidFill>
                  <a:srgbClr val="0B2E2C"/>
                </a:solidFill>
                <a:latin typeface="Arial"/>
              </a:rPr>
              <a:t>l </a:t>
            </a:r>
            <a:r>
              <a:rPr sz="2000" b="1" err="1">
                <a:solidFill>
                  <a:srgbClr val="0B2E2C"/>
                </a:solidFill>
                <a:latin typeface="Arial"/>
              </a:rPr>
              <a:t>negocio</a:t>
            </a:r>
            <a:r>
              <a:rPr sz="2000" b="1">
                <a:solidFill>
                  <a:srgbClr val="0B2E2C"/>
                </a:solidFill>
                <a:latin typeface="Arial"/>
              </a:rPr>
              <a:t> </a:t>
            </a:r>
            <a:r>
              <a:rPr sz="2000" b="1" err="1">
                <a:solidFill>
                  <a:srgbClr val="0B2E2C"/>
                </a:solidFill>
                <a:latin typeface="Arial"/>
              </a:rPr>
              <a:t>tenemos</a:t>
            </a:r>
            <a:r>
              <a:rPr sz="2000" b="1">
                <a:solidFill>
                  <a:srgbClr val="0B2E2C"/>
                </a:solidFill>
                <a:latin typeface="Arial"/>
              </a:rPr>
              <a:t> y a </a:t>
            </a:r>
            <a:r>
              <a:rPr sz="2000" b="1" err="1">
                <a:solidFill>
                  <a:srgbClr val="0B2E2C"/>
                </a:solidFill>
                <a:latin typeface="Arial"/>
              </a:rPr>
              <a:t>qué</a:t>
            </a:r>
            <a:r>
              <a:rPr sz="2000" b="1">
                <a:solidFill>
                  <a:srgbClr val="0B2E2C"/>
                </a:solidFill>
                <a:latin typeface="Arial"/>
              </a:rPr>
              <a:t> </a:t>
            </a:r>
            <a:r>
              <a:rPr sz="2000" b="1" err="1">
                <a:solidFill>
                  <a:srgbClr val="0B2E2C"/>
                </a:solidFill>
                <a:latin typeface="Arial"/>
              </a:rPr>
              <a:t>precio</a:t>
            </a:r>
            <a:r>
              <a:rPr sz="2000" b="1">
                <a:solidFill>
                  <a:srgbClr val="0B2E2C"/>
                </a:solidFill>
                <a:latin typeface="Arial"/>
              </a:rPr>
              <a:t> </a:t>
            </a:r>
            <a:r>
              <a:rPr sz="2000" b="1" err="1">
                <a:solidFill>
                  <a:srgbClr val="0B2E2C"/>
                </a:solidFill>
                <a:latin typeface="Arial"/>
              </a:rPr>
              <a:t>juega</a:t>
            </a:r>
            <a:r>
              <a:rPr sz="2000" b="1">
                <a:solidFill>
                  <a:srgbClr val="0B2E2C"/>
                </a:solidFill>
                <a:latin typeface="Arial"/>
              </a:rPr>
              <a:t> el mercado</a:t>
            </a:r>
          </a:p>
        </p:txBody>
      </p:sp>
      <p:cxnSp>
        <p:nvCxnSpPr>
          <p:cNvPr id="4" name="Connector 3"/>
          <p:cNvCxnSpPr/>
          <p:nvPr/>
        </p:nvCxnSpPr>
        <p:spPr>
          <a:xfrm>
            <a:off x="658369" y="1399032"/>
            <a:ext cx="14939284"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_dark.png"/>
          <p:cNvPicPr>
            <a:picLocks noChangeAspect="1"/>
          </p:cNvPicPr>
          <p:nvPr/>
        </p:nvPicPr>
        <p:blipFill>
          <a:blip r:embed="rId2"/>
          <a:stretch>
            <a:fillRect/>
          </a:stretch>
        </p:blipFill>
        <p:spPr>
          <a:xfrm>
            <a:off x="14921219" y="429770"/>
            <a:ext cx="822960" cy="390279"/>
          </a:xfrm>
          <a:prstGeom prst="rect">
            <a:avLst/>
          </a:prstGeom>
        </p:spPr>
      </p:pic>
      <p:grpSp>
        <p:nvGrpSpPr>
          <p:cNvPr id="78" name="Group 77">
            <a:extLst>
              <a:ext uri="{FF2B5EF4-FFF2-40B4-BE49-F238E27FC236}">
                <a16:creationId xmlns:a16="http://schemas.microsoft.com/office/drawing/2014/main" id="{E49F3A7F-FA5C-175D-CB5A-F355DAEA3D80}"/>
              </a:ext>
            </a:extLst>
          </p:cNvPr>
          <p:cNvGrpSpPr/>
          <p:nvPr/>
        </p:nvGrpSpPr>
        <p:grpSpPr>
          <a:xfrm>
            <a:off x="658369" y="1702892"/>
            <a:ext cx="14939284" cy="1737360"/>
            <a:chOff x="493776" y="1220724"/>
            <a:chExt cx="11204463" cy="1303020"/>
          </a:xfrm>
        </p:grpSpPr>
        <p:sp>
          <p:nvSpPr>
            <p:cNvPr id="7" name="Rectangle 6"/>
            <p:cNvSpPr/>
            <p:nvPr/>
          </p:nvSpPr>
          <p:spPr>
            <a:xfrm>
              <a:off x="493776" y="1220724"/>
              <a:ext cx="11204463" cy="13030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8" name="Rectangle 7"/>
            <p:cNvSpPr/>
            <p:nvPr/>
          </p:nvSpPr>
          <p:spPr>
            <a:xfrm>
              <a:off x="493776" y="1220724"/>
              <a:ext cx="41148" cy="13030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9" name="TextBox 8"/>
            <p:cNvSpPr txBox="1"/>
            <p:nvPr/>
          </p:nvSpPr>
          <p:spPr>
            <a:xfrm>
              <a:off x="699516" y="1357884"/>
              <a:ext cx="891540" cy="126958"/>
            </a:xfrm>
            <a:prstGeom prst="rect">
              <a:avLst/>
            </a:prstGeom>
            <a:noFill/>
          </p:spPr>
          <p:txBody>
            <a:bodyPr wrap="square" lIns="0" tIns="0" rIns="0" bIns="0" anchor="t">
              <a:spAutoFit/>
            </a:bodyPr>
            <a:lstStyle/>
            <a:p>
              <a:pPr algn="l">
                <a:lnSpc>
                  <a:spcPct val="100000"/>
                </a:lnSpc>
              </a:pPr>
              <a:r>
                <a:rPr sz="1100" b="1">
                  <a:solidFill>
                    <a:srgbClr val="13807B"/>
                  </a:solidFill>
                  <a:latin typeface="Arial"/>
                </a:rPr>
                <a:t>CAPA 1</a:t>
              </a:r>
            </a:p>
          </p:txBody>
        </p:sp>
        <p:sp>
          <p:nvSpPr>
            <p:cNvPr id="10" name="TextBox 9"/>
            <p:cNvSpPr txBox="1"/>
            <p:nvPr/>
          </p:nvSpPr>
          <p:spPr>
            <a:xfrm>
              <a:off x="699516" y="1549907"/>
              <a:ext cx="2468880" cy="432137"/>
            </a:xfrm>
            <a:prstGeom prst="rect">
              <a:avLst/>
            </a:prstGeom>
            <a:noFill/>
          </p:spPr>
          <p:txBody>
            <a:bodyPr wrap="square" lIns="0" tIns="0" rIns="0" bIns="0" anchor="t">
              <a:spAutoFit/>
            </a:bodyPr>
            <a:lstStyle/>
            <a:p>
              <a:pPr algn="l">
                <a:lnSpc>
                  <a:spcPct val="108000"/>
                </a:lnSpc>
              </a:pPr>
              <a:r>
                <a:rPr b="1">
                  <a:solidFill>
                    <a:srgbClr val="0B2E2C"/>
                  </a:solidFill>
                  <a:latin typeface="Arial"/>
                </a:rPr>
                <a:t>Mirada interna · </a:t>
              </a:r>
              <a:r>
                <a:rPr b="1" err="1">
                  <a:solidFill>
                    <a:srgbClr val="0B2E2C"/>
                  </a:solidFill>
                  <a:latin typeface="Arial"/>
                </a:rPr>
                <a:t>Segmentación</a:t>
              </a:r>
              <a:endParaRPr b="1">
                <a:solidFill>
                  <a:srgbClr val="0B2E2C"/>
                </a:solidFill>
                <a:latin typeface="Arial"/>
              </a:endParaRPr>
            </a:p>
          </p:txBody>
        </p:sp>
        <p:sp>
          <p:nvSpPr>
            <p:cNvPr id="11" name="Rectangle 10"/>
            <p:cNvSpPr/>
            <p:nvPr/>
          </p:nvSpPr>
          <p:spPr>
            <a:xfrm>
              <a:off x="699516" y="2167127"/>
              <a:ext cx="1817370" cy="2057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13807B"/>
                  </a:solidFill>
                  <a:latin typeface="Arial"/>
                </a:rPr>
                <a:t>Completada</a:t>
              </a:r>
            </a:p>
          </p:txBody>
        </p:sp>
        <p:cxnSp>
          <p:nvCxnSpPr>
            <p:cNvPr id="12" name="Connector 11"/>
            <p:cNvCxnSpPr/>
            <p:nvPr/>
          </p:nvCxnSpPr>
          <p:spPr>
            <a:xfrm>
              <a:off x="3374136" y="1412748"/>
              <a:ext cx="0" cy="918972"/>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79876" y="1385316"/>
              <a:ext cx="3154680" cy="184666"/>
            </a:xfrm>
            <a:prstGeom prst="rect">
              <a:avLst/>
            </a:prstGeom>
            <a:noFill/>
          </p:spPr>
          <p:txBody>
            <a:bodyPr wrap="square" lIns="0" tIns="0" rIns="0" bIns="0" anchor="t">
              <a:spAutoFit/>
            </a:bodyPr>
            <a:lstStyle/>
            <a:p>
              <a:pPr algn="l">
                <a:lnSpc>
                  <a:spcPct val="100000"/>
                </a:lnSpc>
              </a:pPr>
              <a:r>
                <a:rPr sz="1600" b="1">
                  <a:solidFill>
                    <a:srgbClr val="13807B"/>
                  </a:solidFill>
                  <a:latin typeface="Arial"/>
                </a:rPr>
                <a:t>¿Quién es el cliente?</a:t>
              </a:r>
            </a:p>
          </p:txBody>
        </p:sp>
        <p:sp>
          <p:nvSpPr>
            <p:cNvPr id="14" name="TextBox 13"/>
            <p:cNvSpPr txBox="1"/>
            <p:nvPr/>
          </p:nvSpPr>
          <p:spPr>
            <a:xfrm>
              <a:off x="3579876" y="1632204"/>
              <a:ext cx="4046220" cy="506245"/>
            </a:xfrm>
            <a:prstGeom prst="rect">
              <a:avLst/>
            </a:prstGeom>
            <a:noFill/>
          </p:spPr>
          <p:txBody>
            <a:bodyPr wrap="square" lIns="0" tIns="0" rIns="0" bIns="0" anchor="t">
              <a:spAutoFit/>
            </a:bodyPr>
            <a:lstStyle/>
            <a:p>
              <a:pPr algn="l">
                <a:lnSpc>
                  <a:spcPct val="126000"/>
                </a:lnSpc>
              </a:pPr>
              <a:r>
                <a:rPr sz="1200">
                  <a:solidFill>
                    <a:srgbClr val="3E5553"/>
                  </a:solidFill>
                  <a:latin typeface="Arial"/>
                </a:rPr>
                <a:t>Con la </a:t>
              </a:r>
              <a:r>
                <a:rPr sz="1200" err="1">
                  <a:solidFill>
                    <a:srgbClr val="3E5553"/>
                  </a:solidFill>
                  <a:latin typeface="Arial"/>
                </a:rPr>
                <a:t>información</a:t>
              </a:r>
              <a:r>
                <a:rPr sz="1200">
                  <a:solidFill>
                    <a:srgbClr val="3E5553"/>
                  </a:solidFill>
                  <a:latin typeface="Arial"/>
                </a:rPr>
                <a:t> </a:t>
              </a:r>
              <a:r>
                <a:rPr sz="1200" err="1">
                  <a:solidFill>
                    <a:srgbClr val="3E5553"/>
                  </a:solidFill>
                  <a:latin typeface="Arial"/>
                </a:rPr>
                <a:t>propia</a:t>
              </a:r>
              <a:r>
                <a:rPr sz="1200">
                  <a:solidFill>
                    <a:srgbClr val="3E5553"/>
                  </a:solidFill>
                  <a:latin typeface="Arial"/>
                </a:rPr>
                <a:t> de IBK </a:t>
              </a:r>
              <a:r>
                <a:rPr sz="1200" err="1">
                  <a:solidFill>
                    <a:srgbClr val="3E5553"/>
                  </a:solidFill>
                  <a:latin typeface="Arial"/>
                </a:rPr>
                <a:t>identificamos</a:t>
              </a:r>
              <a:r>
                <a:rPr sz="1200">
                  <a:solidFill>
                    <a:srgbClr val="3E5553"/>
                  </a:solidFill>
                  <a:latin typeface="Arial"/>
                </a:rPr>
                <a:t> </a:t>
              </a:r>
              <a:r>
                <a:rPr sz="1200" err="1">
                  <a:solidFill>
                    <a:srgbClr val="3E5553"/>
                  </a:solidFill>
                  <a:latin typeface="Arial"/>
                </a:rPr>
                <a:t>patrones</a:t>
              </a:r>
              <a:r>
                <a:rPr sz="1200">
                  <a:solidFill>
                    <a:srgbClr val="3E5553"/>
                  </a:solidFill>
                  <a:latin typeface="Arial"/>
                </a:rPr>
                <a:t> de </a:t>
              </a:r>
              <a:r>
                <a:rPr sz="1200" err="1">
                  <a:solidFill>
                    <a:srgbClr val="3E5553"/>
                  </a:solidFill>
                  <a:latin typeface="Arial"/>
                </a:rPr>
                <a:t>comportamiento</a:t>
              </a:r>
              <a:r>
                <a:rPr sz="1200">
                  <a:solidFill>
                    <a:srgbClr val="3E5553"/>
                  </a:solidFill>
                  <a:latin typeface="Arial"/>
                </a:rPr>
                <a:t> y </a:t>
              </a:r>
              <a:r>
                <a:rPr sz="1200" err="1">
                  <a:solidFill>
                    <a:srgbClr val="3E5553"/>
                  </a:solidFill>
                  <a:latin typeface="Arial"/>
                </a:rPr>
                <a:t>construimos</a:t>
              </a:r>
              <a:r>
                <a:rPr sz="1200">
                  <a:solidFill>
                    <a:srgbClr val="3E5553"/>
                  </a:solidFill>
                  <a:latin typeface="Arial"/>
                </a:rPr>
                <a:t> </a:t>
              </a:r>
              <a:r>
                <a:rPr sz="1200" err="1">
                  <a:solidFill>
                    <a:srgbClr val="3E5553"/>
                  </a:solidFill>
                  <a:latin typeface="Arial"/>
                </a:rPr>
                <a:t>segmentos</a:t>
              </a:r>
              <a:r>
                <a:rPr sz="1200">
                  <a:solidFill>
                    <a:srgbClr val="3E5553"/>
                  </a:solidFill>
                  <a:latin typeface="Arial"/>
                </a:rPr>
                <a:t>; de </a:t>
              </a:r>
              <a:r>
                <a:rPr sz="1200" err="1">
                  <a:solidFill>
                    <a:srgbClr val="3E5553"/>
                  </a:solidFill>
                  <a:latin typeface="Arial"/>
                </a:rPr>
                <a:t>esos</a:t>
              </a:r>
              <a:r>
                <a:rPr sz="1200">
                  <a:solidFill>
                    <a:srgbClr val="3E5553"/>
                  </a:solidFill>
                  <a:latin typeface="Arial"/>
                </a:rPr>
                <a:t> </a:t>
              </a:r>
              <a:r>
                <a:rPr sz="1200" err="1">
                  <a:solidFill>
                    <a:srgbClr val="3E5553"/>
                  </a:solidFill>
                  <a:latin typeface="Arial"/>
                </a:rPr>
                <a:t>patrones</a:t>
              </a:r>
              <a:r>
                <a:rPr sz="1200">
                  <a:solidFill>
                    <a:srgbClr val="3E5553"/>
                  </a:solidFill>
                  <a:latin typeface="Arial"/>
                </a:rPr>
                <a:t> </a:t>
              </a:r>
              <a:r>
                <a:rPr sz="1200" err="1">
                  <a:solidFill>
                    <a:srgbClr val="3E5553"/>
                  </a:solidFill>
                  <a:latin typeface="Arial"/>
                </a:rPr>
                <a:t>inferimos</a:t>
              </a:r>
              <a:r>
                <a:rPr sz="1200">
                  <a:solidFill>
                    <a:srgbClr val="3E5553"/>
                  </a:solidFill>
                  <a:latin typeface="Arial"/>
                </a:rPr>
                <a:t> el </a:t>
              </a:r>
              <a:r>
                <a:rPr sz="1200" err="1">
                  <a:solidFill>
                    <a:srgbClr val="3E5553"/>
                  </a:solidFill>
                  <a:latin typeface="Arial"/>
                </a:rPr>
                <a:t>nivel</a:t>
              </a:r>
              <a:r>
                <a:rPr sz="1200">
                  <a:solidFill>
                    <a:srgbClr val="3E5553"/>
                  </a:solidFill>
                  <a:latin typeface="Arial"/>
                </a:rPr>
                <a:t> de </a:t>
              </a:r>
              <a:r>
                <a:rPr sz="1200" err="1">
                  <a:solidFill>
                    <a:srgbClr val="3E5553"/>
                  </a:solidFill>
                  <a:latin typeface="Arial"/>
                </a:rPr>
                <a:t>sensibilidad</a:t>
              </a:r>
              <a:r>
                <a:rPr sz="1200">
                  <a:solidFill>
                    <a:srgbClr val="3E5553"/>
                  </a:solidFill>
                  <a:latin typeface="Arial"/>
                </a:rPr>
                <a:t> al </a:t>
              </a:r>
              <a:r>
                <a:rPr sz="1200" err="1">
                  <a:solidFill>
                    <a:srgbClr val="3E5553"/>
                  </a:solidFill>
                  <a:latin typeface="Arial"/>
                </a:rPr>
                <a:t>precio</a:t>
              </a:r>
              <a:r>
                <a:rPr sz="1200">
                  <a:solidFill>
                    <a:srgbClr val="3E5553"/>
                  </a:solidFill>
                  <a:latin typeface="Arial"/>
                </a:rPr>
                <a:t> de </a:t>
              </a:r>
              <a:r>
                <a:rPr sz="1200" err="1">
                  <a:solidFill>
                    <a:srgbClr val="3E5553"/>
                  </a:solidFill>
                  <a:latin typeface="Arial"/>
                </a:rPr>
                <a:t>cada</a:t>
              </a:r>
              <a:r>
                <a:rPr sz="1200">
                  <a:solidFill>
                    <a:srgbClr val="3E5553"/>
                  </a:solidFill>
                  <a:latin typeface="Arial"/>
                </a:rPr>
                <a:t> uno.</a:t>
              </a:r>
            </a:p>
          </p:txBody>
        </p:sp>
        <p:sp>
          <p:nvSpPr>
            <p:cNvPr id="15" name="Rectangle 14"/>
            <p:cNvSpPr/>
            <p:nvPr/>
          </p:nvSpPr>
          <p:spPr>
            <a:xfrm>
              <a:off x="7900416" y="1495044"/>
              <a:ext cx="301584" cy="2880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0C514E"/>
                  </a:solidFill>
                  <a:latin typeface="Arial"/>
                </a:rPr>
                <a:t>1</a:t>
              </a:r>
            </a:p>
          </p:txBody>
        </p:sp>
        <p:sp>
          <p:nvSpPr>
            <p:cNvPr id="16" name="Rectangle 15"/>
            <p:cNvSpPr/>
            <p:nvPr/>
          </p:nvSpPr>
          <p:spPr>
            <a:xfrm>
              <a:off x="8311728" y="1495044"/>
              <a:ext cx="301584" cy="2880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0C514E"/>
                  </a:solidFill>
                  <a:latin typeface="Arial"/>
                </a:rPr>
                <a:t>2</a:t>
              </a:r>
            </a:p>
          </p:txBody>
        </p:sp>
        <p:sp>
          <p:nvSpPr>
            <p:cNvPr id="17" name="Rectangle 16"/>
            <p:cNvSpPr/>
            <p:nvPr/>
          </p:nvSpPr>
          <p:spPr>
            <a:xfrm>
              <a:off x="8723040" y="1495044"/>
              <a:ext cx="301584" cy="2880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0C514E"/>
                  </a:solidFill>
                  <a:latin typeface="Arial"/>
                </a:rPr>
                <a:t>3</a:t>
              </a:r>
            </a:p>
          </p:txBody>
        </p:sp>
        <p:sp>
          <p:nvSpPr>
            <p:cNvPr id="18" name="Rectangle 17"/>
            <p:cNvSpPr/>
            <p:nvPr/>
          </p:nvSpPr>
          <p:spPr>
            <a:xfrm>
              <a:off x="9134353" y="1495044"/>
              <a:ext cx="301584" cy="288036"/>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C87A0B"/>
                  </a:solidFill>
                  <a:latin typeface="Arial"/>
                </a:rPr>
                <a:t>4</a:t>
              </a:r>
            </a:p>
          </p:txBody>
        </p:sp>
        <p:sp>
          <p:nvSpPr>
            <p:cNvPr id="19" name="Rectangle 18"/>
            <p:cNvSpPr/>
            <p:nvPr/>
          </p:nvSpPr>
          <p:spPr>
            <a:xfrm>
              <a:off x="9545665" y="1495044"/>
              <a:ext cx="301584" cy="28803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445A6E"/>
                  </a:solidFill>
                  <a:latin typeface="Arial"/>
                </a:rPr>
                <a:t>5</a:t>
              </a:r>
            </a:p>
          </p:txBody>
        </p:sp>
        <p:sp>
          <p:nvSpPr>
            <p:cNvPr id="20" name="Rectangle 19"/>
            <p:cNvSpPr/>
            <p:nvPr/>
          </p:nvSpPr>
          <p:spPr>
            <a:xfrm>
              <a:off x="9956978" y="1495044"/>
              <a:ext cx="301584" cy="28803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445A6E"/>
                  </a:solidFill>
                  <a:latin typeface="Arial"/>
                </a:rPr>
                <a:t>6</a:t>
              </a:r>
            </a:p>
          </p:txBody>
        </p:sp>
        <p:sp>
          <p:nvSpPr>
            <p:cNvPr id="21" name="Rectangle 20"/>
            <p:cNvSpPr/>
            <p:nvPr/>
          </p:nvSpPr>
          <p:spPr>
            <a:xfrm>
              <a:off x="10368290" y="1495044"/>
              <a:ext cx="301584" cy="28803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6E7E7D"/>
                  </a:solidFill>
                  <a:latin typeface="Arial"/>
                </a:rPr>
                <a:t>7</a:t>
              </a:r>
            </a:p>
          </p:txBody>
        </p:sp>
        <p:sp>
          <p:nvSpPr>
            <p:cNvPr id="22" name="Rectangle 21"/>
            <p:cNvSpPr/>
            <p:nvPr/>
          </p:nvSpPr>
          <p:spPr>
            <a:xfrm>
              <a:off x="10779602" y="1495044"/>
              <a:ext cx="301584" cy="28803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6E7E7D"/>
                  </a:solidFill>
                  <a:latin typeface="Arial"/>
                </a:rPr>
                <a:t>8</a:t>
              </a:r>
            </a:p>
          </p:txBody>
        </p:sp>
        <p:sp>
          <p:nvSpPr>
            <p:cNvPr id="23" name="Rectangle 22"/>
            <p:cNvSpPr/>
            <p:nvPr/>
          </p:nvSpPr>
          <p:spPr>
            <a:xfrm>
              <a:off x="11190914" y="1495044"/>
              <a:ext cx="301584" cy="28803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6E7E7D"/>
                  </a:solidFill>
                  <a:latin typeface="Arial"/>
                </a:rPr>
                <a:t>9</a:t>
              </a:r>
            </a:p>
          </p:txBody>
        </p:sp>
        <p:sp>
          <p:nvSpPr>
            <p:cNvPr id="24" name="TextBox 23"/>
            <p:cNvSpPr txBox="1"/>
            <p:nvPr/>
          </p:nvSpPr>
          <p:spPr>
            <a:xfrm>
              <a:off x="7900416" y="1851660"/>
              <a:ext cx="3592083" cy="121283"/>
            </a:xfrm>
            <a:prstGeom prst="rect">
              <a:avLst/>
            </a:prstGeom>
            <a:noFill/>
          </p:spPr>
          <p:txBody>
            <a:bodyPr wrap="square" lIns="0" tIns="0" rIns="0" bIns="0" anchor="t">
              <a:spAutoFit/>
            </a:bodyPr>
            <a:lstStyle/>
            <a:p>
              <a:pPr algn="ctr">
                <a:lnSpc>
                  <a:spcPct val="100000"/>
                </a:lnSpc>
              </a:pPr>
              <a:r>
                <a:rPr sz="1051" i="1">
                  <a:solidFill>
                    <a:srgbClr val="6E7E7D"/>
                  </a:solidFill>
                  <a:latin typeface="Arial"/>
                </a:rPr>
                <a:t>9 segmentos → 4 macroperfiles de negocio</a:t>
              </a:r>
            </a:p>
          </p:txBody>
        </p:sp>
        <p:sp>
          <p:nvSpPr>
            <p:cNvPr id="25" name="TextBox 24"/>
            <p:cNvSpPr txBox="1"/>
            <p:nvPr/>
          </p:nvSpPr>
          <p:spPr>
            <a:xfrm>
              <a:off x="7900416" y="2057400"/>
              <a:ext cx="3592083" cy="121428"/>
            </a:xfrm>
            <a:prstGeom prst="rect">
              <a:avLst/>
            </a:prstGeom>
            <a:noFill/>
          </p:spPr>
          <p:txBody>
            <a:bodyPr wrap="square" lIns="0" tIns="0" rIns="0" bIns="0" anchor="t">
              <a:spAutoFit/>
            </a:bodyPr>
            <a:lstStyle/>
            <a:p>
              <a:pPr algn="ctr">
                <a:lnSpc>
                  <a:spcPct val="115000"/>
                </a:lnSpc>
              </a:pPr>
              <a:r>
                <a:rPr sz="1000">
                  <a:solidFill>
                    <a:srgbClr val="9AA8A7"/>
                  </a:solidFill>
                  <a:latin typeface="Arial"/>
                </a:rPr>
                <a:t>Data IBK: comportamiento, vinculación, utilidad y transaccionalidad</a:t>
              </a:r>
            </a:p>
          </p:txBody>
        </p:sp>
      </p:grpSp>
      <p:cxnSp>
        <p:nvCxnSpPr>
          <p:cNvPr id="26" name="Connector 25"/>
          <p:cNvCxnSpPr>
            <a:cxnSpLocks/>
          </p:cNvCxnSpPr>
          <p:nvPr/>
        </p:nvCxnSpPr>
        <p:spPr>
          <a:xfrm>
            <a:off x="2347468" y="3623904"/>
            <a:ext cx="0" cy="146305"/>
          </a:xfrm>
          <a:prstGeom prst="line">
            <a:avLst/>
          </a:prstGeom>
          <a:ln w="2222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8C002A0B-32AD-F806-BBF9-76A505EE17C7}"/>
              </a:ext>
            </a:extLst>
          </p:cNvPr>
          <p:cNvGrpSpPr/>
          <p:nvPr/>
        </p:nvGrpSpPr>
        <p:grpSpPr>
          <a:xfrm>
            <a:off x="658357" y="4025468"/>
            <a:ext cx="14939284" cy="1737360"/>
            <a:chOff x="493776" y="2647188"/>
            <a:chExt cx="11204463" cy="1303020"/>
          </a:xfrm>
        </p:grpSpPr>
        <p:sp>
          <p:nvSpPr>
            <p:cNvPr id="27" name="Rectangle 26"/>
            <p:cNvSpPr/>
            <p:nvPr/>
          </p:nvSpPr>
          <p:spPr>
            <a:xfrm>
              <a:off x="493776" y="2647188"/>
              <a:ext cx="11204463" cy="13030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8" name="Rectangle 27"/>
            <p:cNvSpPr/>
            <p:nvPr/>
          </p:nvSpPr>
          <p:spPr>
            <a:xfrm>
              <a:off x="493776" y="2647188"/>
              <a:ext cx="41148" cy="13030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29" name="TextBox 28"/>
            <p:cNvSpPr txBox="1"/>
            <p:nvPr/>
          </p:nvSpPr>
          <p:spPr>
            <a:xfrm>
              <a:off x="699516" y="2784348"/>
              <a:ext cx="891540" cy="126958"/>
            </a:xfrm>
            <a:prstGeom prst="rect">
              <a:avLst/>
            </a:prstGeom>
            <a:noFill/>
          </p:spPr>
          <p:txBody>
            <a:bodyPr wrap="square" lIns="0" tIns="0" rIns="0" bIns="0" anchor="t">
              <a:spAutoFit/>
            </a:bodyPr>
            <a:lstStyle/>
            <a:p>
              <a:pPr algn="l">
                <a:lnSpc>
                  <a:spcPct val="100000"/>
                </a:lnSpc>
              </a:pPr>
              <a:r>
                <a:rPr sz="1100" b="1">
                  <a:solidFill>
                    <a:srgbClr val="C87A0B"/>
                  </a:solidFill>
                  <a:latin typeface="Arial"/>
                </a:rPr>
                <a:t>CAPA 2</a:t>
              </a:r>
            </a:p>
          </p:txBody>
        </p:sp>
        <p:sp>
          <p:nvSpPr>
            <p:cNvPr id="30" name="TextBox 29"/>
            <p:cNvSpPr txBox="1"/>
            <p:nvPr/>
          </p:nvSpPr>
          <p:spPr>
            <a:xfrm>
              <a:off x="699516" y="2976372"/>
              <a:ext cx="2468880" cy="432137"/>
            </a:xfrm>
            <a:prstGeom prst="rect">
              <a:avLst/>
            </a:prstGeom>
            <a:noFill/>
          </p:spPr>
          <p:txBody>
            <a:bodyPr wrap="square" lIns="0" tIns="0" rIns="0" bIns="0" anchor="t">
              <a:spAutoFit/>
            </a:bodyPr>
            <a:lstStyle/>
            <a:p>
              <a:pPr algn="l">
                <a:lnSpc>
                  <a:spcPct val="108000"/>
                </a:lnSpc>
              </a:pPr>
              <a:r>
                <a:rPr b="1" err="1">
                  <a:solidFill>
                    <a:srgbClr val="0B2E2C"/>
                  </a:solidFill>
                  <a:latin typeface="Arial"/>
                </a:rPr>
                <a:t>Oferta</a:t>
              </a:r>
              <a:r>
                <a:rPr b="1">
                  <a:solidFill>
                    <a:srgbClr val="0B2E2C"/>
                  </a:solidFill>
                  <a:latin typeface="Arial"/>
                </a:rPr>
                <a:t> </a:t>
              </a:r>
              <a:r>
                <a:rPr b="1" err="1">
                  <a:solidFill>
                    <a:srgbClr val="0B2E2C"/>
                  </a:solidFill>
                  <a:latin typeface="Arial"/>
                </a:rPr>
                <a:t>relevante</a:t>
              </a:r>
              <a:r>
                <a:rPr b="1">
                  <a:solidFill>
                    <a:srgbClr val="0B2E2C"/>
                  </a:solidFill>
                  <a:latin typeface="Arial"/>
                </a:rPr>
                <a:t> · Share of Sales</a:t>
              </a:r>
            </a:p>
          </p:txBody>
        </p:sp>
        <p:sp>
          <p:nvSpPr>
            <p:cNvPr id="31" name="Rectangle 30"/>
            <p:cNvSpPr/>
            <p:nvPr/>
          </p:nvSpPr>
          <p:spPr>
            <a:xfrm>
              <a:off x="699516" y="3593592"/>
              <a:ext cx="1817370" cy="20574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lang="es-419" sz="1200" b="1">
                  <a:solidFill>
                    <a:srgbClr val="C87A0B"/>
                  </a:solidFill>
                  <a:latin typeface="Arial"/>
                </a:rPr>
                <a:t>A</a:t>
              </a:r>
              <a:r>
                <a:rPr sz="1200" b="1">
                  <a:solidFill>
                    <a:srgbClr val="C87A0B"/>
                  </a:solidFill>
                  <a:latin typeface="Arial"/>
                </a:rPr>
                <a:t> </a:t>
              </a:r>
              <a:r>
                <a:rPr sz="1200" b="1" err="1">
                  <a:solidFill>
                    <a:srgbClr val="C87A0B"/>
                  </a:solidFill>
                  <a:latin typeface="Arial"/>
                </a:rPr>
                <a:t>revisar</a:t>
              </a:r>
              <a:endParaRPr sz="1200" b="1">
                <a:solidFill>
                  <a:srgbClr val="C87A0B"/>
                </a:solidFill>
                <a:latin typeface="Arial"/>
              </a:endParaRPr>
            </a:p>
          </p:txBody>
        </p:sp>
        <p:cxnSp>
          <p:nvCxnSpPr>
            <p:cNvPr id="32" name="Connector 31"/>
            <p:cNvCxnSpPr/>
            <p:nvPr/>
          </p:nvCxnSpPr>
          <p:spPr>
            <a:xfrm>
              <a:off x="3374136" y="2839212"/>
              <a:ext cx="0" cy="918972"/>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579876" y="2811780"/>
              <a:ext cx="3154680" cy="184666"/>
            </a:xfrm>
            <a:prstGeom prst="rect">
              <a:avLst/>
            </a:prstGeom>
            <a:noFill/>
          </p:spPr>
          <p:txBody>
            <a:bodyPr wrap="square" lIns="0" tIns="0" rIns="0" bIns="0" anchor="t">
              <a:spAutoFit/>
            </a:bodyPr>
            <a:lstStyle/>
            <a:p>
              <a:pPr algn="l">
                <a:lnSpc>
                  <a:spcPct val="100000"/>
                </a:lnSpc>
              </a:pPr>
              <a:r>
                <a:rPr sz="1600" b="1">
                  <a:solidFill>
                    <a:srgbClr val="C87A0B"/>
                  </a:solidFill>
                  <a:latin typeface="Arial"/>
                </a:rPr>
                <a:t>¿Cuánto de su negocio capturamos?</a:t>
              </a:r>
            </a:p>
          </p:txBody>
        </p:sp>
        <p:sp>
          <p:nvSpPr>
            <p:cNvPr id="34" name="TextBox 33"/>
            <p:cNvSpPr txBox="1"/>
            <p:nvPr/>
          </p:nvSpPr>
          <p:spPr>
            <a:xfrm>
              <a:off x="3579876" y="3058668"/>
              <a:ext cx="4046220" cy="506245"/>
            </a:xfrm>
            <a:prstGeom prst="rect">
              <a:avLst/>
            </a:prstGeom>
            <a:noFill/>
          </p:spPr>
          <p:txBody>
            <a:bodyPr wrap="square" lIns="0" tIns="0" rIns="0" bIns="0" anchor="t">
              <a:spAutoFit/>
            </a:bodyPr>
            <a:lstStyle/>
            <a:p>
              <a:pPr algn="l">
                <a:lnSpc>
                  <a:spcPct val="126000"/>
                </a:lnSpc>
              </a:pPr>
              <a:r>
                <a:rPr sz="1200">
                  <a:solidFill>
                    <a:srgbClr val="3E5553"/>
                  </a:solidFill>
                  <a:latin typeface="Arial"/>
                </a:rPr>
                <a:t>El share of sales mide la posición de IBK dentro de cada segmento: de la oferta total, qué demanda se observó y cuánto desembolsó IBK frente a la competencia.</a:t>
              </a:r>
            </a:p>
          </p:txBody>
        </p:sp>
        <p:sp>
          <p:nvSpPr>
            <p:cNvPr id="35" name="Rectangle 34"/>
            <p:cNvSpPr/>
            <p:nvPr/>
          </p:nvSpPr>
          <p:spPr>
            <a:xfrm>
              <a:off x="7900416" y="2825496"/>
              <a:ext cx="3592083" cy="27432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445A6E"/>
                  </a:solidFill>
                  <a:latin typeface="Arial"/>
                </a:rPr>
                <a:t>Oferta total</a:t>
              </a:r>
            </a:p>
          </p:txBody>
        </p:sp>
        <p:sp>
          <p:nvSpPr>
            <p:cNvPr id="36" name="Rectangle 35"/>
            <p:cNvSpPr/>
            <p:nvPr/>
          </p:nvSpPr>
          <p:spPr>
            <a:xfrm>
              <a:off x="8511070" y="3154680"/>
              <a:ext cx="2370775" cy="27432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C87A0B"/>
                  </a:solidFill>
                  <a:latin typeface="Arial"/>
                </a:rPr>
                <a:t>Demanda observada</a:t>
              </a:r>
            </a:p>
          </p:txBody>
        </p:sp>
        <p:sp>
          <p:nvSpPr>
            <p:cNvPr id="37" name="Rectangle 36"/>
            <p:cNvSpPr/>
            <p:nvPr/>
          </p:nvSpPr>
          <p:spPr>
            <a:xfrm>
              <a:off x="9049883" y="3483864"/>
              <a:ext cx="1293149" cy="27432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051" b="1">
                  <a:solidFill>
                    <a:srgbClr val="0C514E"/>
                  </a:solidFill>
                  <a:latin typeface="Arial"/>
                </a:rPr>
                <a:t>Desembolsos IBK  ·  éxito</a:t>
              </a:r>
            </a:p>
          </p:txBody>
        </p:sp>
        <p:sp>
          <p:nvSpPr>
            <p:cNvPr id="38" name="TextBox 37"/>
            <p:cNvSpPr txBox="1"/>
            <p:nvPr/>
          </p:nvSpPr>
          <p:spPr>
            <a:xfrm>
              <a:off x="7900416" y="3813048"/>
              <a:ext cx="3592083" cy="115416"/>
            </a:xfrm>
            <a:prstGeom prst="rect">
              <a:avLst/>
            </a:prstGeom>
            <a:noFill/>
          </p:spPr>
          <p:txBody>
            <a:bodyPr wrap="square" lIns="0" tIns="0" rIns="0" bIns="0" anchor="t">
              <a:spAutoFit/>
            </a:bodyPr>
            <a:lstStyle/>
            <a:p>
              <a:pPr algn="ctr">
                <a:lnSpc>
                  <a:spcPct val="100000"/>
                </a:lnSpc>
              </a:pPr>
              <a:r>
                <a:rPr sz="1000" i="1">
                  <a:solidFill>
                    <a:srgbClr val="9AA8A7"/>
                  </a:solidFill>
                  <a:latin typeface="Arial"/>
                </a:rPr>
                <a:t>el resto desembolsó con la competencia → fracaso</a:t>
              </a:r>
            </a:p>
          </p:txBody>
        </p:sp>
      </p:grpSp>
      <p:cxnSp>
        <p:nvCxnSpPr>
          <p:cNvPr id="39" name="Connector 38"/>
          <p:cNvCxnSpPr/>
          <p:nvPr/>
        </p:nvCxnSpPr>
        <p:spPr>
          <a:xfrm>
            <a:off x="2347468" y="6043195"/>
            <a:ext cx="0" cy="146304"/>
          </a:xfrm>
          <a:prstGeom prst="line">
            <a:avLst/>
          </a:prstGeom>
          <a:ln w="2222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82" name="Group 81">
            <a:extLst>
              <a:ext uri="{FF2B5EF4-FFF2-40B4-BE49-F238E27FC236}">
                <a16:creationId xmlns:a16="http://schemas.microsoft.com/office/drawing/2014/main" id="{9449325C-4E7E-D2A3-3D61-51D32382A789}"/>
              </a:ext>
            </a:extLst>
          </p:cNvPr>
          <p:cNvGrpSpPr/>
          <p:nvPr/>
        </p:nvGrpSpPr>
        <p:grpSpPr>
          <a:xfrm>
            <a:off x="658358" y="6572428"/>
            <a:ext cx="14939284" cy="1737360"/>
            <a:chOff x="493776" y="4073652"/>
            <a:chExt cx="11204463" cy="1303020"/>
          </a:xfrm>
        </p:grpSpPr>
        <p:sp>
          <p:nvSpPr>
            <p:cNvPr id="40" name="Rectangle 39"/>
            <p:cNvSpPr/>
            <p:nvPr/>
          </p:nvSpPr>
          <p:spPr>
            <a:xfrm>
              <a:off x="493776" y="4073652"/>
              <a:ext cx="11204463" cy="13030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41" name="Rectangle 40"/>
            <p:cNvSpPr/>
            <p:nvPr/>
          </p:nvSpPr>
          <p:spPr>
            <a:xfrm>
              <a:off x="493776" y="4073652"/>
              <a:ext cx="41148" cy="13030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42" name="TextBox 41"/>
            <p:cNvSpPr txBox="1"/>
            <p:nvPr/>
          </p:nvSpPr>
          <p:spPr>
            <a:xfrm>
              <a:off x="699516" y="4210812"/>
              <a:ext cx="891540" cy="126958"/>
            </a:xfrm>
            <a:prstGeom prst="rect">
              <a:avLst/>
            </a:prstGeom>
            <a:noFill/>
          </p:spPr>
          <p:txBody>
            <a:bodyPr wrap="square" lIns="0" tIns="0" rIns="0" bIns="0" anchor="t">
              <a:spAutoFit/>
            </a:bodyPr>
            <a:lstStyle/>
            <a:p>
              <a:pPr algn="l">
                <a:lnSpc>
                  <a:spcPct val="100000"/>
                </a:lnSpc>
              </a:pPr>
              <a:r>
                <a:rPr sz="1100" b="1">
                  <a:solidFill>
                    <a:srgbClr val="445A6E"/>
                  </a:solidFill>
                  <a:latin typeface="Arial"/>
                </a:rPr>
                <a:t>CAPA 3</a:t>
              </a:r>
            </a:p>
          </p:txBody>
        </p:sp>
        <p:sp>
          <p:nvSpPr>
            <p:cNvPr id="43" name="TextBox 42"/>
            <p:cNvSpPr txBox="1"/>
            <p:nvPr/>
          </p:nvSpPr>
          <p:spPr>
            <a:xfrm>
              <a:off x="699516" y="4402836"/>
              <a:ext cx="2468880" cy="207749"/>
            </a:xfrm>
            <a:prstGeom prst="rect">
              <a:avLst/>
            </a:prstGeom>
            <a:noFill/>
          </p:spPr>
          <p:txBody>
            <a:bodyPr wrap="square" lIns="0" tIns="0" rIns="0" bIns="0" anchor="t">
              <a:spAutoFit/>
            </a:bodyPr>
            <a:lstStyle/>
            <a:p>
              <a:pPr algn="l">
                <a:lnSpc>
                  <a:spcPct val="108000"/>
                </a:lnSpc>
              </a:pPr>
              <a:r>
                <a:rPr b="1">
                  <a:solidFill>
                    <a:srgbClr val="0B2E2C"/>
                  </a:solidFill>
                  <a:latin typeface="Arial"/>
                </a:rPr>
                <a:t>Mercado · </a:t>
              </a:r>
              <a:r>
                <a:rPr b="1" err="1">
                  <a:solidFill>
                    <a:srgbClr val="0B2E2C"/>
                  </a:solidFill>
                  <a:latin typeface="Arial"/>
                </a:rPr>
                <a:t>Diferencia</a:t>
              </a:r>
              <a:r>
                <a:rPr b="1">
                  <a:solidFill>
                    <a:srgbClr val="0B2E2C"/>
                  </a:solidFill>
                  <a:latin typeface="Arial"/>
                </a:rPr>
                <a:t> de </a:t>
              </a:r>
              <a:r>
                <a:rPr b="1" err="1">
                  <a:solidFill>
                    <a:srgbClr val="0B2E2C"/>
                  </a:solidFill>
                  <a:latin typeface="Arial"/>
                </a:rPr>
                <a:t>tasas</a:t>
              </a:r>
              <a:endParaRPr b="1">
                <a:solidFill>
                  <a:srgbClr val="0B2E2C"/>
                </a:solidFill>
                <a:latin typeface="Arial"/>
              </a:endParaRPr>
            </a:p>
          </p:txBody>
        </p:sp>
        <p:sp>
          <p:nvSpPr>
            <p:cNvPr id="44" name="Rectangle 43"/>
            <p:cNvSpPr/>
            <p:nvPr/>
          </p:nvSpPr>
          <p:spPr>
            <a:xfrm>
              <a:off x="699516" y="5020056"/>
              <a:ext cx="1817370" cy="20574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00000"/>
                </a:lnSpc>
              </a:pPr>
              <a:r>
                <a:rPr sz="1400" b="1">
                  <a:solidFill>
                    <a:srgbClr val="445A6E"/>
                  </a:solidFill>
                  <a:latin typeface="Arial"/>
                </a:rPr>
                <a:t>Última capa</a:t>
              </a:r>
            </a:p>
          </p:txBody>
        </p:sp>
        <p:cxnSp>
          <p:nvCxnSpPr>
            <p:cNvPr id="45" name="Connector 44"/>
            <p:cNvCxnSpPr/>
            <p:nvPr/>
          </p:nvCxnSpPr>
          <p:spPr>
            <a:xfrm>
              <a:off x="3374136" y="4265676"/>
              <a:ext cx="0" cy="918972"/>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579876" y="4238244"/>
              <a:ext cx="3154680" cy="184666"/>
            </a:xfrm>
            <a:prstGeom prst="rect">
              <a:avLst/>
            </a:prstGeom>
            <a:noFill/>
          </p:spPr>
          <p:txBody>
            <a:bodyPr wrap="square" lIns="0" tIns="0" rIns="0" bIns="0" anchor="t">
              <a:spAutoFit/>
            </a:bodyPr>
            <a:lstStyle/>
            <a:p>
              <a:pPr algn="l">
                <a:lnSpc>
                  <a:spcPct val="100000"/>
                </a:lnSpc>
              </a:pPr>
              <a:r>
                <a:rPr sz="1600" b="1">
                  <a:solidFill>
                    <a:srgbClr val="445A6E"/>
                  </a:solidFill>
                  <a:latin typeface="Arial"/>
                </a:rPr>
                <a:t>¿A qué precio juega el mercado?</a:t>
              </a:r>
            </a:p>
          </p:txBody>
        </p:sp>
        <p:sp>
          <p:nvSpPr>
            <p:cNvPr id="47" name="TextBox 46"/>
            <p:cNvSpPr txBox="1"/>
            <p:nvPr/>
          </p:nvSpPr>
          <p:spPr>
            <a:xfrm>
              <a:off x="3579876" y="4485132"/>
              <a:ext cx="4046220" cy="331726"/>
            </a:xfrm>
            <a:prstGeom prst="rect">
              <a:avLst/>
            </a:prstGeom>
            <a:noFill/>
          </p:spPr>
          <p:txBody>
            <a:bodyPr wrap="square" lIns="0" tIns="0" rIns="0" bIns="0" anchor="t">
              <a:spAutoFit/>
            </a:bodyPr>
            <a:lstStyle/>
            <a:p>
              <a:pPr algn="l">
                <a:lnSpc>
                  <a:spcPct val="126000"/>
                </a:lnSpc>
              </a:pPr>
              <a:r>
                <a:rPr sz="1200">
                  <a:solidFill>
                    <a:srgbClr val="3E5553"/>
                  </a:solidFill>
                  <a:latin typeface="Arial"/>
                </a:rPr>
                <a:t>Se incorpora cómo vienen las tasas de IBK frente al mercado y la competencia: la capa que completa la lectura de sensibilidad al precio.</a:t>
              </a:r>
            </a:p>
          </p:txBody>
        </p:sp>
        <p:sp>
          <p:nvSpPr>
            <p:cNvPr id="48" name="TextBox 47"/>
            <p:cNvSpPr txBox="1"/>
            <p:nvPr/>
          </p:nvSpPr>
          <p:spPr>
            <a:xfrm>
              <a:off x="7900416" y="4320540"/>
              <a:ext cx="548640" cy="121283"/>
            </a:xfrm>
            <a:prstGeom prst="rect">
              <a:avLst/>
            </a:prstGeom>
            <a:noFill/>
          </p:spPr>
          <p:txBody>
            <a:bodyPr wrap="square" lIns="0" tIns="0" rIns="0" bIns="0" anchor="t">
              <a:spAutoFit/>
            </a:bodyPr>
            <a:lstStyle/>
            <a:p>
              <a:pPr algn="r">
                <a:lnSpc>
                  <a:spcPct val="100000"/>
                </a:lnSpc>
              </a:pPr>
              <a:r>
                <a:rPr sz="1051" b="1">
                  <a:solidFill>
                    <a:srgbClr val="445A6E"/>
                  </a:solidFill>
                  <a:latin typeface="Arial"/>
                </a:rPr>
                <a:t>IBK</a:t>
              </a:r>
            </a:p>
          </p:txBody>
        </p:sp>
        <p:sp>
          <p:nvSpPr>
            <p:cNvPr id="49" name="Rectangle 48"/>
            <p:cNvSpPr/>
            <p:nvPr/>
          </p:nvSpPr>
          <p:spPr>
            <a:xfrm>
              <a:off x="8483346" y="4306824"/>
              <a:ext cx="1968594" cy="17830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50" name="TextBox 49"/>
            <p:cNvSpPr txBox="1"/>
            <p:nvPr/>
          </p:nvSpPr>
          <p:spPr>
            <a:xfrm>
              <a:off x="7900416" y="4608576"/>
              <a:ext cx="548640" cy="121283"/>
            </a:xfrm>
            <a:prstGeom prst="rect">
              <a:avLst/>
            </a:prstGeom>
            <a:noFill/>
          </p:spPr>
          <p:txBody>
            <a:bodyPr wrap="square" lIns="0" tIns="0" rIns="0" bIns="0" anchor="t">
              <a:spAutoFit/>
            </a:bodyPr>
            <a:lstStyle/>
            <a:p>
              <a:pPr algn="r">
                <a:lnSpc>
                  <a:spcPct val="100000"/>
                </a:lnSpc>
              </a:pPr>
              <a:r>
                <a:rPr sz="1051" b="1">
                  <a:solidFill>
                    <a:srgbClr val="13807B"/>
                  </a:solidFill>
                  <a:latin typeface="Arial"/>
                </a:rPr>
                <a:t>Mercado</a:t>
              </a:r>
            </a:p>
          </p:txBody>
        </p:sp>
        <p:sp>
          <p:nvSpPr>
            <p:cNvPr id="51" name="Rectangle 50"/>
            <p:cNvSpPr/>
            <p:nvPr/>
          </p:nvSpPr>
          <p:spPr>
            <a:xfrm>
              <a:off x="8483347" y="4594860"/>
              <a:ext cx="1602344" cy="17830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cxnSp>
          <p:nvCxnSpPr>
            <p:cNvPr id="52" name="Connector 51"/>
            <p:cNvCxnSpPr/>
            <p:nvPr/>
          </p:nvCxnSpPr>
          <p:spPr>
            <a:xfrm>
              <a:off x="10085690" y="4265676"/>
              <a:ext cx="0" cy="562356"/>
            </a:xfrm>
            <a:prstGeom prst="line">
              <a:avLst/>
            </a:prstGeom>
            <a:ln w="15875">
              <a:solidFill>
                <a:srgbClr val="C04B4B"/>
              </a:solidFill>
              <a:prstDash val="dash"/>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708500" y="4869180"/>
              <a:ext cx="1645920" cy="115416"/>
            </a:xfrm>
            <a:prstGeom prst="rect">
              <a:avLst/>
            </a:prstGeom>
            <a:noFill/>
          </p:spPr>
          <p:txBody>
            <a:bodyPr wrap="square" lIns="0" tIns="0" rIns="0" bIns="0" anchor="t">
              <a:spAutoFit/>
            </a:bodyPr>
            <a:lstStyle/>
            <a:p>
              <a:pPr algn="l">
                <a:lnSpc>
                  <a:spcPct val="100000"/>
                </a:lnSpc>
              </a:pPr>
              <a:r>
                <a:rPr sz="1000" b="1">
                  <a:solidFill>
                    <a:srgbClr val="C04B4B"/>
                  </a:solidFill>
                  <a:latin typeface="Arial"/>
                </a:rPr>
                <a:t>Δ tasas vs. competencia</a:t>
              </a:r>
            </a:p>
          </p:txBody>
        </p:sp>
      </p:grpSp>
      <p:sp>
        <p:nvSpPr>
          <p:cNvPr id="85" name="Rectangle 84">
            <a:extLst>
              <a:ext uri="{FF2B5EF4-FFF2-40B4-BE49-F238E27FC236}">
                <a16:creationId xmlns:a16="http://schemas.microsoft.com/office/drawing/2014/main" id="{0A0355B6-3BB5-7098-0540-B5103E5A7F91}"/>
              </a:ext>
            </a:extLst>
          </p:cNvPr>
          <p:cNvSpPr/>
          <p:nvPr/>
        </p:nvSpPr>
        <p:spPr>
          <a:xfrm>
            <a:off x="246435" y="1463887"/>
            <a:ext cx="15751096" cy="2104381"/>
          </a:xfrm>
          <a:prstGeom prst="rect">
            <a:avLst/>
          </a:prstGeom>
          <a:solidFill>
            <a:srgbClr val="D1D1D1">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E" sz="2400"/>
          </a:p>
        </p:txBody>
      </p:sp>
      <p:sp>
        <p:nvSpPr>
          <p:cNvPr id="86" name="Rectangle 85">
            <a:extLst>
              <a:ext uri="{FF2B5EF4-FFF2-40B4-BE49-F238E27FC236}">
                <a16:creationId xmlns:a16="http://schemas.microsoft.com/office/drawing/2014/main" id="{A5764FF1-95AB-038D-63DE-5065F3180336}"/>
              </a:ext>
            </a:extLst>
          </p:cNvPr>
          <p:cNvSpPr/>
          <p:nvPr/>
        </p:nvSpPr>
        <p:spPr>
          <a:xfrm>
            <a:off x="246435" y="6304696"/>
            <a:ext cx="15751096" cy="2104381"/>
          </a:xfrm>
          <a:prstGeom prst="rect">
            <a:avLst/>
          </a:prstGeom>
          <a:solidFill>
            <a:srgbClr val="D1D1D1">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E" sz="2400"/>
          </a:p>
        </p:txBody>
      </p:sp>
      <p:pic>
        <p:nvPicPr>
          <p:cNvPr id="87" name="Picture 86">
            <a:extLst>
              <a:ext uri="{FF2B5EF4-FFF2-40B4-BE49-F238E27FC236}">
                <a16:creationId xmlns:a16="http://schemas.microsoft.com/office/drawing/2014/main" id="{6D0FA5A7-8B8E-8049-9671-318877DED661}"/>
              </a:ext>
            </a:extLst>
          </p:cNvPr>
          <p:cNvPicPr>
            <a:picLocks noChangeAspect="1"/>
          </p:cNvPicPr>
          <p:nvPr/>
        </p:nvPicPr>
        <p:blipFill>
          <a:blip r:embed="rId3"/>
          <a:stretch>
            <a:fillRect/>
          </a:stretch>
        </p:blipFill>
        <p:spPr>
          <a:xfrm>
            <a:off x="14278165" y="109554"/>
            <a:ext cx="1719367" cy="9691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6581D-377F-7E2B-B319-5600E6F56168}"/>
            </a:ext>
          </a:extLst>
        </p:cNvPr>
        <p:cNvGrpSpPr/>
        <p:nvPr/>
      </p:nvGrpSpPr>
      <p:grpSpPr>
        <a:xfrm>
          <a:off x="0" y="0"/>
          <a:ext cx="0" cy="0"/>
          <a:chOff x="0" y="0"/>
          <a:chExt cx="0" cy="0"/>
        </a:xfrm>
      </p:grpSpPr>
      <p:graphicFrame>
        <p:nvGraphicFramePr>
          <p:cNvPr id="106" name="think-cell data - do not delete" hidden="1">
            <a:extLst>
              <a:ext uri="{FF2B5EF4-FFF2-40B4-BE49-F238E27FC236}">
                <a16:creationId xmlns:a16="http://schemas.microsoft.com/office/drawing/2014/main" id="{5F0F7915-8A71-2D71-1454-D70CDC4FE54F}"/>
              </a:ext>
            </a:extLst>
          </p:cNvPr>
          <p:cNvGraphicFramePr>
            <a:graphicFrameLocks/>
          </p:cNvGraphicFramePr>
          <p:nvPr>
            <p:custDataLst>
              <p:tags r:id="rId1"/>
            </p:custDataLst>
            <p:extLst>
              <p:ext uri="{D42A27DB-BD31-4B8C-83A1-F6EECF244321}">
                <p14:modId xmlns:p14="http://schemas.microsoft.com/office/powerpoint/2010/main" val="149143180"/>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Diapositiva de thinkcell" r:id="rId4" imgW="7772400" imgH="10058400" progId="TCLayout.ActiveDocument.1">
                  <p:embed/>
                </p:oleObj>
              </mc:Choice>
              <mc:Fallback>
                <p:oleObj name="Diapositiva de thinkcell" r:id="rId4" imgW="7772400" imgH="10058400" progId="TCLayout.ActiveDocument.1">
                  <p:embed/>
                  <p:pic>
                    <p:nvPicPr>
                      <p:cNvPr id="106" name="think-cell data - do not delete" hidden="1">
                        <a:extLst>
                          <a:ext uri="{FF2B5EF4-FFF2-40B4-BE49-F238E27FC236}">
                            <a16:creationId xmlns:a16="http://schemas.microsoft.com/office/drawing/2014/main" id="{5F0F7915-8A71-2D71-1454-D70CDC4FE54F}"/>
                          </a:ext>
                        </a:extLst>
                      </p:cNvPr>
                      <p:cNvPicPr/>
                      <p:nvPr/>
                    </p:nvPicPr>
                    <p:blipFill>
                      <a:blip r:embed="rId5"/>
                      <a:stretch>
                        <a:fillRect/>
                      </a:stretch>
                    </p:blipFill>
                    <p:spPr>
                      <a:xfrm>
                        <a:off x="2118" y="2118"/>
                        <a:ext cx="1636" cy="2117"/>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13F12925-68D6-2D0C-5570-F8C420A30B5E}"/>
              </a:ext>
            </a:extLst>
          </p:cNvPr>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CONCEPTO</a:t>
            </a:r>
            <a:endParaRPr lang="en-US" sz="1200"/>
          </a:p>
        </p:txBody>
      </p:sp>
      <p:sp>
        <p:nvSpPr>
          <p:cNvPr id="3" name="Text 1">
            <a:extLst>
              <a:ext uri="{FF2B5EF4-FFF2-40B4-BE49-F238E27FC236}">
                <a16:creationId xmlns:a16="http://schemas.microsoft.com/office/drawing/2014/main" id="{D0065FA5-BC11-3BCB-B71A-BA42CFECD80C}"/>
              </a:ext>
            </a:extLst>
          </p:cNvPr>
          <p:cNvSpPr txBox="1"/>
          <p:nvPr/>
        </p:nvSpPr>
        <p:spPr>
          <a:xfrm>
            <a:off x="658368" y="584637"/>
            <a:ext cx="13289280" cy="950976"/>
          </a:xfrm>
          <a:prstGeom prst="rect">
            <a:avLst/>
          </a:prstGeom>
          <a:noFill/>
          <a:ln/>
        </p:spPr>
        <p:txBody>
          <a:bodyPr wrap="square" lIns="0" tIns="0" rIns="0" bIns="0" rtlCol="0" anchor="t"/>
          <a:lstStyle/>
          <a:p>
            <a:r>
              <a:rPr lang="en-US" sz="2400" b="1">
                <a:solidFill>
                  <a:srgbClr val="13807B"/>
                </a:solidFill>
                <a:latin typeface="Poppins" pitchFamily="34" charset="0"/>
                <a:cs typeface="Poppins" pitchFamily="34" charset="-120"/>
              </a:rPr>
              <a:t>La PDM total no distingue entre </a:t>
            </a:r>
            <a:r>
              <a:rPr lang="en-US" sz="2400" b="1" err="1">
                <a:solidFill>
                  <a:srgbClr val="13807B"/>
                </a:solidFill>
                <a:latin typeface="Poppins" pitchFamily="34" charset="0"/>
                <a:cs typeface="Poppins" pitchFamily="34" charset="-120"/>
              </a:rPr>
              <a:t>clientes</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que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perdimos</a:t>
            </a:r>
            <a:r>
              <a:rPr lang="en-US" sz="2400" b="1">
                <a:solidFill>
                  <a:srgbClr val="13807B"/>
                </a:solidFill>
                <a:latin typeface="Poppins" pitchFamily="34" charset="0"/>
                <a:cs typeface="Poppins" pitchFamily="34" charset="-120"/>
              </a:rPr>
              <a:t> y </a:t>
            </a:r>
            <a:r>
              <a:rPr lang="en-US" sz="2400" b="1" err="1">
                <a:solidFill>
                  <a:srgbClr val="13807B"/>
                </a:solidFill>
                <a:latin typeface="Poppins" pitchFamily="34" charset="0"/>
                <a:cs typeface="Poppins" pitchFamily="34" charset="-120"/>
              </a:rPr>
              <a:t>clientes</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que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nunca</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pudimos</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disputar</a:t>
            </a:r>
            <a:r>
              <a:rPr lang="en-US" sz="2400" b="1">
                <a:solidFill>
                  <a:srgbClr val="13807B"/>
                </a:solidFill>
                <a:latin typeface="Poppins" pitchFamily="34" charset="0"/>
                <a:cs typeface="Poppins" pitchFamily="34" charset="-120"/>
              </a:rPr>
              <a:t> — el share de </a:t>
            </a:r>
            <a:r>
              <a:rPr lang="en-US" sz="2400" b="1" err="1">
                <a:solidFill>
                  <a:srgbClr val="13807B"/>
                </a:solidFill>
                <a:latin typeface="Poppins" pitchFamily="34" charset="0"/>
                <a:cs typeface="Poppins" pitchFamily="34" charset="-120"/>
              </a:rPr>
              <a:t>oferta</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relevante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sí</a:t>
            </a:r>
            <a:endParaRPr lang="en-US" sz="2400" b="1">
              <a:solidFill>
                <a:srgbClr val="13807B"/>
              </a:solidFill>
              <a:latin typeface="Poppins" pitchFamily="34" charset="0"/>
              <a:cs typeface="Poppins" pitchFamily="34" charset="-120"/>
            </a:endParaRPr>
          </a:p>
        </p:txBody>
      </p:sp>
      <p:pic>
        <p:nvPicPr>
          <p:cNvPr id="4" name="Image 0" descr="logo_a.png">
            <a:extLst>
              <a:ext uri="{FF2B5EF4-FFF2-40B4-BE49-F238E27FC236}">
                <a16:creationId xmlns:a16="http://schemas.microsoft.com/office/drawing/2014/main" id="{98900DE6-4C42-E480-2FBD-AC6C7A033ACE}"/>
              </a:ext>
            </a:extLst>
          </p:cNvPr>
          <p:cNvPicPr>
            <a:picLocks noChangeAspect="1"/>
          </p:cNvPicPr>
          <p:nvPr/>
        </p:nvPicPr>
        <p:blipFill>
          <a:blip r:embed="rId6"/>
          <a:stretch>
            <a:fillRect/>
          </a:stretch>
        </p:blipFill>
        <p:spPr>
          <a:xfrm>
            <a:off x="14378025" y="341376"/>
            <a:ext cx="1219200" cy="577901"/>
          </a:xfrm>
          <a:prstGeom prst="rect">
            <a:avLst/>
          </a:prstGeom>
        </p:spPr>
      </p:pic>
      <p:sp>
        <p:nvSpPr>
          <p:cNvPr id="99" name="Shape 96">
            <a:extLst>
              <a:ext uri="{FF2B5EF4-FFF2-40B4-BE49-F238E27FC236}">
                <a16:creationId xmlns:a16="http://schemas.microsoft.com/office/drawing/2014/main" id="{904C04EC-BE0B-5BB6-E296-202589795672}"/>
              </a:ext>
            </a:extLst>
          </p:cNvPr>
          <p:cNvSpPr/>
          <p:nvPr/>
        </p:nvSpPr>
        <p:spPr>
          <a:xfrm>
            <a:off x="658370" y="8232699"/>
            <a:ext cx="14938857" cy="362660"/>
          </a:xfrm>
          <a:prstGeom prst="rect">
            <a:avLst/>
          </a:prstGeom>
          <a:solidFill>
            <a:srgbClr val="ECF6F5"/>
          </a:solidFill>
          <a:ln w="12700">
            <a:solidFill>
              <a:srgbClr val="ECF6F5"/>
            </a:solidFill>
            <a:prstDash val="solid"/>
          </a:ln>
        </p:spPr>
        <p:txBody>
          <a:bodyPr/>
          <a:lstStyle/>
          <a:p>
            <a:endParaRPr lang="es-PE" sz="2400"/>
          </a:p>
        </p:txBody>
      </p:sp>
      <p:sp>
        <p:nvSpPr>
          <p:cNvPr id="100" name="Shape 97">
            <a:extLst>
              <a:ext uri="{FF2B5EF4-FFF2-40B4-BE49-F238E27FC236}">
                <a16:creationId xmlns:a16="http://schemas.microsoft.com/office/drawing/2014/main" id="{1D7E4168-A477-C49E-076A-489716BDEB27}"/>
              </a:ext>
            </a:extLst>
          </p:cNvPr>
          <p:cNvSpPr/>
          <p:nvPr/>
        </p:nvSpPr>
        <p:spPr>
          <a:xfrm>
            <a:off x="682754" y="8224083"/>
            <a:ext cx="60959" cy="371276"/>
          </a:xfrm>
          <a:prstGeom prst="rect">
            <a:avLst/>
          </a:prstGeom>
          <a:solidFill>
            <a:srgbClr val="13807B"/>
          </a:solidFill>
          <a:ln w="12700">
            <a:solidFill>
              <a:srgbClr val="13807B"/>
            </a:solidFill>
            <a:prstDash val="solid"/>
          </a:ln>
        </p:spPr>
        <p:txBody>
          <a:bodyPr/>
          <a:lstStyle/>
          <a:p>
            <a:endParaRPr lang="es-PE" sz="2400"/>
          </a:p>
        </p:txBody>
      </p:sp>
      <p:sp>
        <p:nvSpPr>
          <p:cNvPr id="101" name="Text 98">
            <a:extLst>
              <a:ext uri="{FF2B5EF4-FFF2-40B4-BE49-F238E27FC236}">
                <a16:creationId xmlns:a16="http://schemas.microsoft.com/office/drawing/2014/main" id="{6DE5C342-6EF1-2830-CD08-002FF40DB573}"/>
              </a:ext>
            </a:extLst>
          </p:cNvPr>
          <p:cNvSpPr txBox="1"/>
          <p:nvPr/>
        </p:nvSpPr>
        <p:spPr>
          <a:xfrm>
            <a:off x="926594" y="8232701"/>
            <a:ext cx="14451177" cy="362659"/>
          </a:xfrm>
          <a:prstGeom prst="rect">
            <a:avLst/>
          </a:prstGeom>
          <a:noFill/>
          <a:ln/>
        </p:spPr>
        <p:txBody>
          <a:bodyPr wrap="square" lIns="0" tIns="0" rIns="0" bIns="0" rtlCol="0" anchor="ctr"/>
          <a:lstStyle/>
          <a:p>
            <a:r>
              <a:rPr lang="en-US" sz="1467" b="1">
                <a:solidFill>
                  <a:srgbClr val="0C514E"/>
                </a:solidFill>
                <a:latin typeface="Calibri" pitchFamily="34" charset="0"/>
                <a:ea typeface="Calibri" pitchFamily="34" charset="-122"/>
                <a:cs typeface="Calibri" pitchFamily="34" charset="-120"/>
              </a:rPr>
              <a:t>Los </a:t>
            </a:r>
            <a:r>
              <a:rPr lang="en-US" sz="1467" b="1" err="1">
                <a:solidFill>
                  <a:srgbClr val="0C514E"/>
                </a:solidFill>
                <a:latin typeface="Calibri" pitchFamily="34" charset="0"/>
                <a:ea typeface="Calibri" pitchFamily="34" charset="-122"/>
                <a:cs typeface="Calibri" pitchFamily="34" charset="-120"/>
              </a:rPr>
              <a:t>desembolsos</a:t>
            </a:r>
            <a:r>
              <a:rPr lang="en-US" sz="1467" b="1">
                <a:solidFill>
                  <a:srgbClr val="0C514E"/>
                </a:solidFill>
                <a:latin typeface="Calibri" pitchFamily="34" charset="0"/>
                <a:ea typeface="Calibri" pitchFamily="34" charset="-122"/>
                <a:cs typeface="Calibri" pitchFamily="34" charset="-120"/>
              </a:rPr>
              <a:t> se </a:t>
            </a:r>
            <a:r>
              <a:rPr lang="en-US" sz="1467" b="1" err="1">
                <a:solidFill>
                  <a:srgbClr val="0C514E"/>
                </a:solidFill>
                <a:latin typeface="Calibri" pitchFamily="34" charset="0"/>
                <a:ea typeface="Calibri" pitchFamily="34" charset="-122"/>
                <a:cs typeface="Calibri" pitchFamily="34" charset="-120"/>
              </a:rPr>
              <a:t>infieren</a:t>
            </a:r>
            <a:r>
              <a:rPr lang="en-US" sz="1467" b="1">
                <a:solidFill>
                  <a:srgbClr val="0C514E"/>
                </a:solidFill>
                <a:latin typeface="Calibri" pitchFamily="34" charset="0"/>
                <a:ea typeface="Calibri" pitchFamily="34" charset="-122"/>
                <a:cs typeface="Calibri" pitchFamily="34" charset="-120"/>
              </a:rPr>
              <a:t> </a:t>
            </a:r>
            <a:r>
              <a:rPr lang="en-US" sz="1467" b="1" err="1">
                <a:solidFill>
                  <a:srgbClr val="0C514E"/>
                </a:solidFill>
                <a:latin typeface="Calibri" pitchFamily="34" charset="0"/>
                <a:ea typeface="Calibri" pitchFamily="34" charset="-122"/>
                <a:cs typeface="Calibri" pitchFamily="34" charset="-120"/>
              </a:rPr>
              <a:t>por</a:t>
            </a:r>
            <a:r>
              <a:rPr lang="en-US" sz="1467" b="1">
                <a:solidFill>
                  <a:srgbClr val="0C514E"/>
                </a:solidFill>
                <a:latin typeface="Calibri" pitchFamily="34" charset="0"/>
                <a:ea typeface="Calibri" pitchFamily="34" charset="-122"/>
                <a:cs typeface="Calibri" pitchFamily="34" charset="-120"/>
              </a:rPr>
              <a:t> delta de </a:t>
            </a:r>
            <a:r>
              <a:rPr lang="en-US" sz="1467" b="1" err="1">
                <a:solidFill>
                  <a:srgbClr val="0C514E"/>
                </a:solidFill>
                <a:latin typeface="Calibri" pitchFamily="34" charset="0"/>
                <a:ea typeface="Calibri" pitchFamily="34" charset="-122"/>
                <a:cs typeface="Calibri" pitchFamily="34" charset="-120"/>
              </a:rPr>
              <a:t>deuda</a:t>
            </a:r>
            <a:r>
              <a:rPr lang="en-US" sz="1467" b="1">
                <a:solidFill>
                  <a:srgbClr val="0C514E"/>
                </a:solidFill>
                <a:latin typeface="Calibri" pitchFamily="34" charset="0"/>
                <a:ea typeface="Calibri" pitchFamily="34" charset="-122"/>
                <a:cs typeface="Calibri" pitchFamily="34" charset="-120"/>
              </a:rPr>
              <a:t> </a:t>
            </a:r>
            <a:r>
              <a:rPr lang="en-US" sz="1467" b="1" err="1">
                <a:solidFill>
                  <a:srgbClr val="0C514E"/>
                </a:solidFill>
                <a:latin typeface="Calibri" pitchFamily="34" charset="0"/>
                <a:ea typeface="Calibri" pitchFamily="34" charset="-122"/>
                <a:cs typeface="Calibri" pitchFamily="34" charset="-120"/>
              </a:rPr>
              <a:t>mes</a:t>
            </a:r>
            <a:r>
              <a:rPr lang="en-US" sz="1467" b="1">
                <a:solidFill>
                  <a:srgbClr val="0C514E"/>
                </a:solidFill>
                <a:latin typeface="Calibri" pitchFamily="34" charset="0"/>
                <a:ea typeface="Calibri" pitchFamily="34" charset="-122"/>
                <a:cs typeface="Calibri" pitchFamily="34" charset="-120"/>
              </a:rPr>
              <a:t> a </a:t>
            </a:r>
            <a:r>
              <a:rPr lang="en-US" sz="1467" b="1" err="1">
                <a:solidFill>
                  <a:srgbClr val="0C514E"/>
                </a:solidFill>
                <a:latin typeface="Calibri" pitchFamily="34" charset="0"/>
                <a:ea typeface="Calibri" pitchFamily="34" charset="-122"/>
                <a:cs typeface="Calibri" pitchFamily="34" charset="-120"/>
              </a:rPr>
              <a:t>mes</a:t>
            </a:r>
            <a:r>
              <a:rPr lang="en-US" sz="1467" b="1">
                <a:solidFill>
                  <a:srgbClr val="0C514E"/>
                </a:solidFill>
                <a:latin typeface="Calibri" pitchFamily="34" charset="0"/>
                <a:ea typeface="Calibri" pitchFamily="34" charset="-122"/>
                <a:cs typeface="Calibri" pitchFamily="34" charset="-120"/>
              </a:rPr>
              <a:t> </a:t>
            </a:r>
            <a:r>
              <a:rPr lang="en-US" sz="1467" b="1" err="1">
                <a:solidFill>
                  <a:srgbClr val="0C514E"/>
                </a:solidFill>
                <a:latin typeface="Calibri" pitchFamily="34" charset="0"/>
                <a:ea typeface="Calibri" pitchFamily="34" charset="-122"/>
                <a:cs typeface="Calibri" pitchFamily="34" charset="-120"/>
              </a:rPr>
              <a:t>en</a:t>
            </a:r>
            <a:r>
              <a:rPr lang="en-US" sz="1467" b="1">
                <a:solidFill>
                  <a:srgbClr val="0C514E"/>
                </a:solidFill>
                <a:latin typeface="Calibri" pitchFamily="34" charset="0"/>
                <a:ea typeface="Calibri" pitchFamily="34" charset="-122"/>
                <a:cs typeface="Calibri" pitchFamily="34" charset="-120"/>
              </a:rPr>
              <a:t> el </a:t>
            </a:r>
            <a:r>
              <a:rPr lang="en-US" sz="1467" b="1" err="1">
                <a:solidFill>
                  <a:srgbClr val="0C514E"/>
                </a:solidFill>
                <a:latin typeface="Calibri" pitchFamily="34" charset="0"/>
                <a:ea typeface="Calibri" pitchFamily="34" charset="-122"/>
                <a:cs typeface="Calibri" pitchFamily="34" charset="-120"/>
              </a:rPr>
              <a:t>sistema</a:t>
            </a:r>
            <a:r>
              <a:rPr lang="en-US" sz="1467" b="1">
                <a:solidFill>
                  <a:srgbClr val="0C514E"/>
                </a:solidFill>
                <a:latin typeface="Calibri" pitchFamily="34" charset="0"/>
                <a:ea typeface="Calibri" pitchFamily="34" charset="-122"/>
                <a:cs typeface="Calibri" pitchFamily="34" charset="-120"/>
              </a:rPr>
              <a:t> </a:t>
            </a:r>
            <a:r>
              <a:rPr lang="en-US" sz="1467" b="1" err="1">
                <a:solidFill>
                  <a:srgbClr val="0C514E"/>
                </a:solidFill>
                <a:latin typeface="Calibri" pitchFamily="34" charset="0"/>
                <a:ea typeface="Calibri" pitchFamily="34" charset="-122"/>
                <a:cs typeface="Calibri" pitchFamily="34" charset="-120"/>
              </a:rPr>
              <a:t>financiero</a:t>
            </a:r>
            <a:r>
              <a:rPr lang="en-US" sz="1467" b="1">
                <a:solidFill>
                  <a:srgbClr val="0C514E"/>
                </a:solidFill>
                <a:latin typeface="Calibri" pitchFamily="34" charset="0"/>
                <a:ea typeface="Calibri" pitchFamily="34" charset="-122"/>
                <a:cs typeface="Calibri" pitchFamily="34" charset="-120"/>
              </a:rPr>
              <a:t> (RCC); solo se </a:t>
            </a:r>
            <a:r>
              <a:rPr lang="en-US" sz="1467" b="1" err="1">
                <a:solidFill>
                  <a:srgbClr val="0C514E"/>
                </a:solidFill>
                <a:latin typeface="Calibri" pitchFamily="34" charset="0"/>
                <a:ea typeface="Calibri" pitchFamily="34" charset="-122"/>
                <a:cs typeface="Calibri" pitchFamily="34" charset="-120"/>
              </a:rPr>
              <a:t>consideran</a:t>
            </a:r>
            <a:r>
              <a:rPr lang="en-US" sz="1467" b="1">
                <a:solidFill>
                  <a:srgbClr val="0C514E"/>
                </a:solidFill>
                <a:latin typeface="Calibri" pitchFamily="34" charset="0"/>
                <a:ea typeface="Calibri" pitchFamily="34" charset="-122"/>
                <a:cs typeface="Calibri" pitchFamily="34" charset="-120"/>
              </a:rPr>
              <a:t> </a:t>
            </a:r>
            <a:r>
              <a:rPr lang="en-US" sz="1467" b="1" err="1">
                <a:solidFill>
                  <a:srgbClr val="0C514E"/>
                </a:solidFill>
                <a:latin typeface="Calibri" pitchFamily="34" charset="0"/>
                <a:ea typeface="Calibri" pitchFamily="34" charset="-122"/>
                <a:cs typeface="Calibri" pitchFamily="34" charset="-120"/>
              </a:rPr>
              <a:t>incrementos</a:t>
            </a:r>
            <a:r>
              <a:rPr lang="en-US" sz="1467" b="1">
                <a:solidFill>
                  <a:srgbClr val="0C514E"/>
                </a:solidFill>
                <a:latin typeface="Calibri" pitchFamily="34" charset="0"/>
                <a:ea typeface="Calibri" pitchFamily="34" charset="-122"/>
                <a:cs typeface="Calibri" pitchFamily="34" charset="-120"/>
              </a:rPr>
              <a:t> ≥ S/50,000.</a:t>
            </a:r>
            <a:endParaRPr lang="en-US" sz="1467"/>
          </a:p>
        </p:txBody>
      </p:sp>
      <p:sp>
        <p:nvSpPr>
          <p:cNvPr id="137" name="Text 7">
            <a:extLst>
              <a:ext uri="{FF2B5EF4-FFF2-40B4-BE49-F238E27FC236}">
                <a16:creationId xmlns:a16="http://schemas.microsoft.com/office/drawing/2014/main" id="{F65F860F-8FE9-5D2E-D7C0-0A2BDAE642A4}"/>
              </a:ext>
            </a:extLst>
          </p:cNvPr>
          <p:cNvSpPr txBox="1"/>
          <p:nvPr/>
        </p:nvSpPr>
        <p:spPr>
          <a:xfrm>
            <a:off x="731520" y="1894636"/>
            <a:ext cx="14752320" cy="365760"/>
          </a:xfrm>
          <a:prstGeom prst="rect">
            <a:avLst/>
          </a:prstGeom>
          <a:noFill/>
          <a:ln/>
        </p:spPr>
        <p:txBody>
          <a:bodyPr wrap="square" lIns="0" tIns="0" rIns="0" bIns="0" rtlCol="0" anchor="ctr"/>
          <a:lstStyle/>
          <a:p>
            <a:r>
              <a:rPr lang="en-US" sz="1600" i="1">
                <a:solidFill>
                  <a:srgbClr val="5F5E5A"/>
                </a:solidFill>
                <a:latin typeface="Calibri" pitchFamily="34" charset="0"/>
                <a:ea typeface="Calibri" pitchFamily="34" charset="-122"/>
                <a:cs typeface="Calibri" pitchFamily="34" charset="-120"/>
              </a:rPr>
              <a:t>Misma base de desembolsos, dos formas distintas de medir la competencia:</a:t>
            </a:r>
            <a:endParaRPr lang="en-US" sz="1600"/>
          </a:p>
        </p:txBody>
      </p:sp>
      <p:sp>
        <p:nvSpPr>
          <p:cNvPr id="145" name="Shape 8">
            <a:extLst>
              <a:ext uri="{FF2B5EF4-FFF2-40B4-BE49-F238E27FC236}">
                <a16:creationId xmlns:a16="http://schemas.microsoft.com/office/drawing/2014/main" id="{B809279A-AD39-84C1-DA59-D0B6526C0F31}"/>
              </a:ext>
            </a:extLst>
          </p:cNvPr>
          <p:cNvSpPr/>
          <p:nvPr/>
        </p:nvSpPr>
        <p:spPr>
          <a:xfrm>
            <a:off x="731520" y="2418080"/>
            <a:ext cx="6827520" cy="609600"/>
          </a:xfrm>
          <a:prstGeom prst="rect">
            <a:avLst/>
          </a:prstGeom>
          <a:solidFill>
            <a:srgbClr val="445068"/>
          </a:solidFill>
          <a:ln/>
        </p:spPr>
        <p:txBody>
          <a:bodyPr/>
          <a:lstStyle/>
          <a:p>
            <a:endParaRPr lang="en-PE" sz="2400"/>
          </a:p>
        </p:txBody>
      </p:sp>
      <p:sp>
        <p:nvSpPr>
          <p:cNvPr id="146" name="Text 9">
            <a:extLst>
              <a:ext uri="{FF2B5EF4-FFF2-40B4-BE49-F238E27FC236}">
                <a16:creationId xmlns:a16="http://schemas.microsoft.com/office/drawing/2014/main" id="{2CB62D8B-9E07-4FA3-060C-F736C876B3EA}"/>
              </a:ext>
            </a:extLst>
          </p:cNvPr>
          <p:cNvSpPr txBox="1"/>
          <p:nvPr/>
        </p:nvSpPr>
        <p:spPr>
          <a:xfrm>
            <a:off x="731520" y="2418080"/>
            <a:ext cx="6827520" cy="609600"/>
          </a:xfrm>
          <a:prstGeom prst="rect">
            <a:avLst/>
          </a:prstGeom>
          <a:noFill/>
          <a:ln/>
        </p:spPr>
        <p:txBody>
          <a:bodyPr wrap="square" lIns="0" tIns="0" rIns="0" bIns="0" rtlCol="0" anchor="ctr"/>
          <a:lstStyle/>
          <a:p>
            <a:pPr algn="ctr"/>
            <a:r>
              <a:rPr lang="en-US" sz="1867" b="1">
                <a:solidFill>
                  <a:srgbClr val="FFFFFF"/>
                </a:solidFill>
                <a:latin typeface="Calibri" pitchFamily="34" charset="0"/>
                <a:ea typeface="Calibri" pitchFamily="34" charset="-122"/>
                <a:cs typeface="Calibri" pitchFamily="34" charset="-120"/>
              </a:rPr>
              <a:t>PDM total</a:t>
            </a:r>
            <a:endParaRPr lang="en-US" sz="1867"/>
          </a:p>
        </p:txBody>
      </p:sp>
      <p:sp>
        <p:nvSpPr>
          <p:cNvPr id="147" name="Shape 10">
            <a:extLst>
              <a:ext uri="{FF2B5EF4-FFF2-40B4-BE49-F238E27FC236}">
                <a16:creationId xmlns:a16="http://schemas.microsoft.com/office/drawing/2014/main" id="{36DD3AC9-BBF5-FD04-9140-67563BDD6447}"/>
              </a:ext>
            </a:extLst>
          </p:cNvPr>
          <p:cNvSpPr/>
          <p:nvPr/>
        </p:nvSpPr>
        <p:spPr>
          <a:xfrm>
            <a:off x="731520" y="3027680"/>
            <a:ext cx="6827520" cy="4389120"/>
          </a:xfrm>
          <a:prstGeom prst="rect">
            <a:avLst/>
          </a:prstGeom>
          <a:solidFill>
            <a:srgbClr val="FFFFFF"/>
          </a:solidFill>
          <a:ln w="12700">
            <a:solidFill>
              <a:srgbClr val="D3D1C7"/>
            </a:solidFill>
            <a:prstDash val="solid"/>
          </a:ln>
        </p:spPr>
        <p:txBody>
          <a:bodyPr/>
          <a:lstStyle/>
          <a:p>
            <a:endParaRPr lang="en-PE" sz="2400"/>
          </a:p>
        </p:txBody>
      </p:sp>
      <p:sp>
        <p:nvSpPr>
          <p:cNvPr id="148" name="Text 11">
            <a:extLst>
              <a:ext uri="{FF2B5EF4-FFF2-40B4-BE49-F238E27FC236}">
                <a16:creationId xmlns:a16="http://schemas.microsoft.com/office/drawing/2014/main" id="{93521A68-DD10-0B8D-9465-B747CEDFCF5E}"/>
              </a:ext>
            </a:extLst>
          </p:cNvPr>
          <p:cNvSpPr txBox="1"/>
          <p:nvPr/>
        </p:nvSpPr>
        <p:spPr>
          <a:xfrm>
            <a:off x="1097280" y="3454400"/>
            <a:ext cx="6096000" cy="487680"/>
          </a:xfrm>
          <a:prstGeom prst="rect">
            <a:avLst/>
          </a:prstGeom>
          <a:noFill/>
          <a:ln/>
        </p:spPr>
        <p:txBody>
          <a:bodyPr wrap="square" lIns="0" tIns="0" rIns="0" bIns="0" rtlCol="0" anchor="ctr"/>
          <a:lstStyle/>
          <a:p>
            <a:pPr algn="ctr"/>
            <a:r>
              <a:rPr lang="en-US" sz="2133" b="1">
                <a:solidFill>
                  <a:srgbClr val="2C2C2A"/>
                </a:solidFill>
                <a:latin typeface="Calibri" pitchFamily="34" charset="0"/>
                <a:ea typeface="Calibri" pitchFamily="34" charset="-122"/>
                <a:cs typeface="Calibri" pitchFamily="34" charset="-120"/>
              </a:rPr>
              <a:t>Desembolsos IBK</a:t>
            </a:r>
            <a:endParaRPr lang="en-US" sz="2133"/>
          </a:p>
        </p:txBody>
      </p:sp>
      <p:sp>
        <p:nvSpPr>
          <p:cNvPr id="149" name="Shape 12">
            <a:extLst>
              <a:ext uri="{FF2B5EF4-FFF2-40B4-BE49-F238E27FC236}">
                <a16:creationId xmlns:a16="http://schemas.microsoft.com/office/drawing/2014/main" id="{4653F846-C0BE-9362-E98B-6117C425BB19}"/>
              </a:ext>
            </a:extLst>
          </p:cNvPr>
          <p:cNvSpPr/>
          <p:nvPr/>
        </p:nvSpPr>
        <p:spPr>
          <a:xfrm>
            <a:off x="1950720" y="4027424"/>
            <a:ext cx="4389120" cy="0"/>
          </a:xfrm>
          <a:prstGeom prst="line">
            <a:avLst/>
          </a:prstGeom>
          <a:noFill/>
          <a:ln w="15875">
            <a:solidFill>
              <a:srgbClr val="2C2C2A"/>
            </a:solidFill>
            <a:prstDash val="solid"/>
            <a:tailEnd type="none"/>
          </a:ln>
        </p:spPr>
        <p:txBody>
          <a:bodyPr/>
          <a:lstStyle/>
          <a:p>
            <a:endParaRPr lang="en-PE" sz="2400"/>
          </a:p>
        </p:txBody>
      </p:sp>
      <p:sp>
        <p:nvSpPr>
          <p:cNvPr id="150" name="Text 13">
            <a:extLst>
              <a:ext uri="{FF2B5EF4-FFF2-40B4-BE49-F238E27FC236}">
                <a16:creationId xmlns:a16="http://schemas.microsoft.com/office/drawing/2014/main" id="{D93F710E-7A58-E2CB-CBA1-7B6E47138304}"/>
              </a:ext>
            </a:extLst>
          </p:cNvPr>
          <p:cNvSpPr txBox="1"/>
          <p:nvPr/>
        </p:nvSpPr>
        <p:spPr>
          <a:xfrm>
            <a:off x="1097280" y="4124960"/>
            <a:ext cx="6096000" cy="487680"/>
          </a:xfrm>
          <a:prstGeom prst="rect">
            <a:avLst/>
          </a:prstGeom>
          <a:noFill/>
          <a:ln/>
        </p:spPr>
        <p:txBody>
          <a:bodyPr wrap="square" lIns="0" tIns="0" rIns="0" bIns="0" rtlCol="0" anchor="ctr"/>
          <a:lstStyle/>
          <a:p>
            <a:pPr algn="ctr"/>
            <a:r>
              <a:rPr lang="en-US" sz="2133" b="1">
                <a:solidFill>
                  <a:srgbClr val="2C2C2A"/>
                </a:solidFill>
                <a:latin typeface="Calibri" pitchFamily="34" charset="0"/>
                <a:ea typeface="Calibri" pitchFamily="34" charset="-122"/>
                <a:cs typeface="Calibri" pitchFamily="34" charset="-120"/>
              </a:rPr>
              <a:t>Todos los desembolsos RCC</a:t>
            </a:r>
            <a:endParaRPr lang="en-US" sz="2133"/>
          </a:p>
        </p:txBody>
      </p:sp>
      <p:sp>
        <p:nvSpPr>
          <p:cNvPr id="151" name="Shape 14">
            <a:extLst>
              <a:ext uri="{FF2B5EF4-FFF2-40B4-BE49-F238E27FC236}">
                <a16:creationId xmlns:a16="http://schemas.microsoft.com/office/drawing/2014/main" id="{CFBBF916-45AB-8F71-3394-A8FD94B9EF20}"/>
              </a:ext>
            </a:extLst>
          </p:cNvPr>
          <p:cNvSpPr/>
          <p:nvPr/>
        </p:nvSpPr>
        <p:spPr>
          <a:xfrm>
            <a:off x="1402080" y="5039360"/>
            <a:ext cx="5486400" cy="1402080"/>
          </a:xfrm>
          <a:prstGeom prst="roundRect">
            <a:avLst>
              <a:gd name="adj" fmla="val 6957"/>
            </a:avLst>
          </a:prstGeom>
          <a:solidFill>
            <a:srgbClr val="FAECE7"/>
          </a:solidFill>
          <a:ln w="15875">
            <a:solidFill>
              <a:srgbClr val="993C1D"/>
            </a:solidFill>
            <a:prstDash val="dash"/>
          </a:ln>
        </p:spPr>
        <p:txBody>
          <a:bodyPr/>
          <a:lstStyle/>
          <a:p>
            <a:endParaRPr lang="en-PE" sz="2400"/>
          </a:p>
        </p:txBody>
      </p:sp>
      <p:sp>
        <p:nvSpPr>
          <p:cNvPr id="152" name="Text 15">
            <a:extLst>
              <a:ext uri="{FF2B5EF4-FFF2-40B4-BE49-F238E27FC236}">
                <a16:creationId xmlns:a16="http://schemas.microsoft.com/office/drawing/2014/main" id="{CA0D64E5-E4A4-2351-F7CB-C8E75F17CC72}"/>
              </a:ext>
            </a:extLst>
          </p:cNvPr>
          <p:cNvSpPr txBox="1"/>
          <p:nvPr/>
        </p:nvSpPr>
        <p:spPr>
          <a:xfrm>
            <a:off x="1645920" y="5197856"/>
            <a:ext cx="4998720" cy="365760"/>
          </a:xfrm>
          <a:prstGeom prst="rect">
            <a:avLst/>
          </a:prstGeom>
          <a:noFill/>
          <a:ln/>
        </p:spPr>
        <p:txBody>
          <a:bodyPr wrap="square" lIns="0" tIns="0" rIns="0" bIns="0" rtlCol="0" anchor="ctr"/>
          <a:lstStyle/>
          <a:p>
            <a:pPr algn="ctr"/>
            <a:r>
              <a:rPr lang="en-US" sz="1600" b="1">
                <a:solidFill>
                  <a:srgbClr val="4A1B0C"/>
                </a:solidFill>
                <a:latin typeface="Calibri" pitchFamily="34" charset="0"/>
                <a:ea typeface="Calibri" pitchFamily="34" charset="-122"/>
                <a:cs typeface="Calibri" pitchFamily="34" charset="-120"/>
              </a:rPr>
              <a:t>Mezcla, sin distinguir:</a:t>
            </a:r>
            <a:endParaRPr lang="en-US" sz="1600"/>
          </a:p>
        </p:txBody>
      </p:sp>
      <p:sp>
        <p:nvSpPr>
          <p:cNvPr id="153" name="Text 16">
            <a:extLst>
              <a:ext uri="{FF2B5EF4-FFF2-40B4-BE49-F238E27FC236}">
                <a16:creationId xmlns:a16="http://schemas.microsoft.com/office/drawing/2014/main" id="{97DE4D20-C798-5D79-6B46-5E2C2DBBDCF1}"/>
              </a:ext>
            </a:extLst>
          </p:cNvPr>
          <p:cNvSpPr txBox="1"/>
          <p:nvPr/>
        </p:nvSpPr>
        <p:spPr>
          <a:xfrm>
            <a:off x="1645920" y="5588000"/>
            <a:ext cx="4998720" cy="365760"/>
          </a:xfrm>
          <a:prstGeom prst="rect">
            <a:avLst/>
          </a:prstGeom>
          <a:noFill/>
          <a:ln/>
        </p:spPr>
        <p:txBody>
          <a:bodyPr wrap="square" lIns="0" tIns="0" rIns="0" bIns="0" rtlCol="0" anchor="ctr"/>
          <a:lstStyle/>
          <a:p>
            <a:pPr algn="ctr"/>
            <a:r>
              <a:rPr lang="en-US" sz="1600">
                <a:solidFill>
                  <a:srgbClr val="993C1D"/>
                </a:solidFill>
                <a:latin typeface="Calibri" pitchFamily="34" charset="0"/>
                <a:ea typeface="Calibri" pitchFamily="34" charset="-122"/>
                <a:cs typeface="Calibri" pitchFamily="34" charset="-120"/>
              </a:rPr>
              <a:t>Precio  ·  </a:t>
            </a:r>
            <a:r>
              <a:rPr lang="en-US" sz="1600" err="1">
                <a:solidFill>
                  <a:srgbClr val="993C1D"/>
                </a:solidFill>
                <a:latin typeface="Calibri" pitchFamily="34" charset="0"/>
                <a:ea typeface="Calibri" pitchFamily="34" charset="-122"/>
                <a:cs typeface="Calibri" pitchFamily="34" charset="-120"/>
              </a:rPr>
              <a:t>Competencia</a:t>
            </a:r>
            <a:r>
              <a:rPr lang="en-US" sz="1600">
                <a:solidFill>
                  <a:srgbClr val="993C1D"/>
                </a:solidFill>
                <a:latin typeface="Calibri" pitchFamily="34" charset="0"/>
                <a:ea typeface="Calibri" pitchFamily="34" charset="-122"/>
                <a:cs typeface="Calibri" pitchFamily="34" charset="-120"/>
              </a:rPr>
              <a:t> Interna  ·  Ticket  ·  Gestión</a:t>
            </a:r>
            <a:endParaRPr lang="en-US" sz="1600"/>
          </a:p>
        </p:txBody>
      </p:sp>
      <p:sp>
        <p:nvSpPr>
          <p:cNvPr id="154" name="Text 17">
            <a:extLst>
              <a:ext uri="{FF2B5EF4-FFF2-40B4-BE49-F238E27FC236}">
                <a16:creationId xmlns:a16="http://schemas.microsoft.com/office/drawing/2014/main" id="{C9DAAE78-092B-1708-4512-E4A87D91F63F}"/>
              </a:ext>
            </a:extLst>
          </p:cNvPr>
          <p:cNvSpPr txBox="1"/>
          <p:nvPr/>
        </p:nvSpPr>
        <p:spPr>
          <a:xfrm>
            <a:off x="1645920" y="5978144"/>
            <a:ext cx="4998720" cy="365760"/>
          </a:xfrm>
          <a:prstGeom prst="rect">
            <a:avLst/>
          </a:prstGeom>
          <a:noFill/>
          <a:ln/>
        </p:spPr>
        <p:txBody>
          <a:bodyPr wrap="square" lIns="0" tIns="0" rIns="0" bIns="0" rtlCol="0" anchor="ctr"/>
          <a:lstStyle/>
          <a:p>
            <a:pPr algn="ctr"/>
            <a:r>
              <a:rPr lang="en-US" sz="1267" i="1">
                <a:solidFill>
                  <a:srgbClr val="993C1D"/>
                </a:solidFill>
                <a:latin typeface="Calibri" pitchFamily="34" charset="0"/>
                <a:ea typeface="Calibri" pitchFamily="34" charset="-122"/>
                <a:cs typeface="Calibri" pitchFamily="34" charset="-120"/>
              </a:rPr>
              <a:t>Castiga por igual lo evitable y lo que nunca fue disputable.</a:t>
            </a:r>
            <a:endParaRPr lang="en-US" sz="1267"/>
          </a:p>
        </p:txBody>
      </p:sp>
      <p:sp>
        <p:nvSpPr>
          <p:cNvPr id="155" name="Shape 18">
            <a:extLst>
              <a:ext uri="{FF2B5EF4-FFF2-40B4-BE49-F238E27FC236}">
                <a16:creationId xmlns:a16="http://schemas.microsoft.com/office/drawing/2014/main" id="{CC6D1AF4-FB61-6AD4-D87D-6DF2F8CB3F04}"/>
              </a:ext>
            </a:extLst>
          </p:cNvPr>
          <p:cNvSpPr/>
          <p:nvPr/>
        </p:nvSpPr>
        <p:spPr>
          <a:xfrm>
            <a:off x="7863840" y="2418080"/>
            <a:ext cx="7620000" cy="609600"/>
          </a:xfrm>
          <a:prstGeom prst="rect">
            <a:avLst/>
          </a:prstGeom>
          <a:solidFill>
            <a:srgbClr val="445068"/>
          </a:solidFill>
          <a:ln/>
        </p:spPr>
        <p:txBody>
          <a:bodyPr/>
          <a:lstStyle/>
          <a:p>
            <a:endParaRPr lang="en-PE" sz="2400"/>
          </a:p>
        </p:txBody>
      </p:sp>
      <p:sp>
        <p:nvSpPr>
          <p:cNvPr id="156" name="Text 19">
            <a:extLst>
              <a:ext uri="{FF2B5EF4-FFF2-40B4-BE49-F238E27FC236}">
                <a16:creationId xmlns:a16="http://schemas.microsoft.com/office/drawing/2014/main" id="{91171BE0-E6E3-82EE-DE51-7EDCA4FDE125}"/>
              </a:ext>
            </a:extLst>
          </p:cNvPr>
          <p:cNvSpPr txBox="1"/>
          <p:nvPr/>
        </p:nvSpPr>
        <p:spPr>
          <a:xfrm>
            <a:off x="7863840" y="2418080"/>
            <a:ext cx="7620000" cy="609600"/>
          </a:xfrm>
          <a:prstGeom prst="rect">
            <a:avLst/>
          </a:prstGeom>
          <a:noFill/>
          <a:ln/>
        </p:spPr>
        <p:txBody>
          <a:bodyPr wrap="square" lIns="0" tIns="0" rIns="0" bIns="0" rtlCol="0" anchor="ctr"/>
          <a:lstStyle/>
          <a:p>
            <a:pPr algn="ctr"/>
            <a:r>
              <a:rPr lang="en-US" sz="1867" b="1">
                <a:solidFill>
                  <a:srgbClr val="FFFFFF"/>
                </a:solidFill>
                <a:latin typeface="Calibri" pitchFamily="34" charset="0"/>
                <a:ea typeface="Calibri" pitchFamily="34" charset="-122"/>
                <a:cs typeface="Calibri" pitchFamily="34" charset="-120"/>
              </a:rPr>
              <a:t>Share of Sales de oferta relevante</a:t>
            </a:r>
            <a:endParaRPr lang="en-US" sz="1867"/>
          </a:p>
        </p:txBody>
      </p:sp>
      <p:sp>
        <p:nvSpPr>
          <p:cNvPr id="157" name="Shape 20">
            <a:extLst>
              <a:ext uri="{FF2B5EF4-FFF2-40B4-BE49-F238E27FC236}">
                <a16:creationId xmlns:a16="http://schemas.microsoft.com/office/drawing/2014/main" id="{F0CEA1D1-2533-17B4-D3C7-13DC0E1785EF}"/>
              </a:ext>
            </a:extLst>
          </p:cNvPr>
          <p:cNvSpPr/>
          <p:nvPr/>
        </p:nvSpPr>
        <p:spPr>
          <a:xfrm>
            <a:off x="7863840" y="3027680"/>
            <a:ext cx="7620000" cy="4389120"/>
          </a:xfrm>
          <a:prstGeom prst="rect">
            <a:avLst/>
          </a:prstGeom>
          <a:solidFill>
            <a:srgbClr val="FFFFFF"/>
          </a:solidFill>
          <a:ln w="12700">
            <a:solidFill>
              <a:srgbClr val="D3D1C7"/>
            </a:solidFill>
            <a:prstDash val="solid"/>
          </a:ln>
        </p:spPr>
        <p:txBody>
          <a:bodyPr/>
          <a:lstStyle/>
          <a:p>
            <a:endParaRPr lang="en-PE" sz="2400"/>
          </a:p>
        </p:txBody>
      </p:sp>
      <p:sp>
        <p:nvSpPr>
          <p:cNvPr id="158" name="Shape 21">
            <a:extLst>
              <a:ext uri="{FF2B5EF4-FFF2-40B4-BE49-F238E27FC236}">
                <a16:creationId xmlns:a16="http://schemas.microsoft.com/office/drawing/2014/main" id="{05C62DB6-2D46-C101-CD5F-B0DA093DBE7A}"/>
              </a:ext>
            </a:extLst>
          </p:cNvPr>
          <p:cNvSpPr/>
          <p:nvPr/>
        </p:nvSpPr>
        <p:spPr>
          <a:xfrm>
            <a:off x="8412480" y="3271520"/>
            <a:ext cx="6522720" cy="609600"/>
          </a:xfrm>
          <a:prstGeom prst="roundRect">
            <a:avLst>
              <a:gd name="adj" fmla="val 16000"/>
            </a:avLst>
          </a:prstGeom>
          <a:solidFill>
            <a:srgbClr val="F1EFE8"/>
          </a:solidFill>
          <a:ln/>
        </p:spPr>
        <p:txBody>
          <a:bodyPr/>
          <a:lstStyle/>
          <a:p>
            <a:endParaRPr lang="en-PE" sz="2400"/>
          </a:p>
        </p:txBody>
      </p:sp>
      <p:sp>
        <p:nvSpPr>
          <p:cNvPr id="159" name="Text 22">
            <a:extLst>
              <a:ext uri="{FF2B5EF4-FFF2-40B4-BE49-F238E27FC236}">
                <a16:creationId xmlns:a16="http://schemas.microsoft.com/office/drawing/2014/main" id="{5F098BE6-A115-9A5A-2A83-B69F7879F75E}"/>
              </a:ext>
            </a:extLst>
          </p:cNvPr>
          <p:cNvSpPr txBox="1"/>
          <p:nvPr/>
        </p:nvSpPr>
        <p:spPr>
          <a:xfrm>
            <a:off x="8412480" y="3271520"/>
            <a:ext cx="6522720" cy="609600"/>
          </a:xfrm>
          <a:prstGeom prst="rect">
            <a:avLst/>
          </a:prstGeom>
          <a:noFill/>
          <a:ln/>
        </p:spPr>
        <p:txBody>
          <a:bodyPr wrap="square" lIns="0" tIns="0" rIns="0" bIns="0" rtlCol="0" anchor="ctr"/>
          <a:lstStyle/>
          <a:p>
            <a:pPr algn="ctr"/>
            <a:r>
              <a:rPr lang="en-US" sz="1867" b="1">
                <a:solidFill>
                  <a:srgbClr val="2C2C2A"/>
                </a:solidFill>
                <a:latin typeface="Calibri" pitchFamily="34" charset="0"/>
                <a:ea typeface="Calibri" pitchFamily="34" charset="-122"/>
                <a:cs typeface="Calibri" pitchFamily="34" charset="-120"/>
              </a:rPr>
              <a:t>Desembolsos que aparentan pérdidas</a:t>
            </a:r>
            <a:endParaRPr lang="en-US" sz="1867"/>
          </a:p>
        </p:txBody>
      </p:sp>
      <p:sp>
        <p:nvSpPr>
          <p:cNvPr id="160" name="Shape 23">
            <a:extLst>
              <a:ext uri="{FF2B5EF4-FFF2-40B4-BE49-F238E27FC236}">
                <a16:creationId xmlns:a16="http://schemas.microsoft.com/office/drawing/2014/main" id="{49FB900C-9982-4B8C-27A8-B46AB1947BA2}"/>
              </a:ext>
            </a:extLst>
          </p:cNvPr>
          <p:cNvSpPr/>
          <p:nvPr/>
        </p:nvSpPr>
        <p:spPr>
          <a:xfrm>
            <a:off x="11673840" y="3881120"/>
            <a:ext cx="0" cy="182880"/>
          </a:xfrm>
          <a:prstGeom prst="line">
            <a:avLst/>
          </a:prstGeom>
          <a:noFill/>
          <a:ln w="15875">
            <a:solidFill>
              <a:srgbClr val="5F5E5A"/>
            </a:solidFill>
            <a:prstDash val="solid"/>
            <a:tailEnd type="none"/>
          </a:ln>
        </p:spPr>
        <p:txBody>
          <a:bodyPr/>
          <a:lstStyle/>
          <a:p>
            <a:endParaRPr lang="en-PE" sz="2400"/>
          </a:p>
        </p:txBody>
      </p:sp>
      <p:sp>
        <p:nvSpPr>
          <p:cNvPr id="161" name="Shape 24">
            <a:extLst>
              <a:ext uri="{FF2B5EF4-FFF2-40B4-BE49-F238E27FC236}">
                <a16:creationId xmlns:a16="http://schemas.microsoft.com/office/drawing/2014/main" id="{466FC613-F214-4205-C87E-602E56DC2FBD}"/>
              </a:ext>
            </a:extLst>
          </p:cNvPr>
          <p:cNvSpPr/>
          <p:nvPr/>
        </p:nvSpPr>
        <p:spPr>
          <a:xfrm>
            <a:off x="9296400" y="4064000"/>
            <a:ext cx="4754880" cy="0"/>
          </a:xfrm>
          <a:prstGeom prst="line">
            <a:avLst/>
          </a:prstGeom>
          <a:noFill/>
          <a:ln w="15875">
            <a:solidFill>
              <a:srgbClr val="5F5E5A"/>
            </a:solidFill>
            <a:prstDash val="solid"/>
            <a:tailEnd type="none"/>
          </a:ln>
        </p:spPr>
        <p:txBody>
          <a:bodyPr/>
          <a:lstStyle/>
          <a:p>
            <a:endParaRPr lang="en-PE" sz="2400"/>
          </a:p>
        </p:txBody>
      </p:sp>
      <p:sp>
        <p:nvSpPr>
          <p:cNvPr id="162" name="Shape 25">
            <a:extLst>
              <a:ext uri="{FF2B5EF4-FFF2-40B4-BE49-F238E27FC236}">
                <a16:creationId xmlns:a16="http://schemas.microsoft.com/office/drawing/2014/main" id="{F11AC63B-E812-C21E-CEE5-99C29BC2D173}"/>
              </a:ext>
            </a:extLst>
          </p:cNvPr>
          <p:cNvSpPr/>
          <p:nvPr/>
        </p:nvSpPr>
        <p:spPr>
          <a:xfrm>
            <a:off x="9296400" y="4064000"/>
            <a:ext cx="0" cy="182880"/>
          </a:xfrm>
          <a:prstGeom prst="line">
            <a:avLst/>
          </a:prstGeom>
          <a:noFill/>
          <a:ln w="15875">
            <a:solidFill>
              <a:srgbClr val="5F5E5A"/>
            </a:solidFill>
            <a:prstDash val="solid"/>
            <a:tailEnd type="arrow"/>
          </a:ln>
        </p:spPr>
        <p:txBody>
          <a:bodyPr/>
          <a:lstStyle/>
          <a:p>
            <a:endParaRPr lang="en-PE" sz="2400"/>
          </a:p>
        </p:txBody>
      </p:sp>
      <p:sp>
        <p:nvSpPr>
          <p:cNvPr id="163" name="Shape 26">
            <a:extLst>
              <a:ext uri="{FF2B5EF4-FFF2-40B4-BE49-F238E27FC236}">
                <a16:creationId xmlns:a16="http://schemas.microsoft.com/office/drawing/2014/main" id="{AEAC24AA-A92E-4DA0-1F08-751814914919}"/>
              </a:ext>
            </a:extLst>
          </p:cNvPr>
          <p:cNvSpPr/>
          <p:nvPr/>
        </p:nvSpPr>
        <p:spPr>
          <a:xfrm>
            <a:off x="10881360" y="4064000"/>
            <a:ext cx="0" cy="182880"/>
          </a:xfrm>
          <a:prstGeom prst="line">
            <a:avLst/>
          </a:prstGeom>
          <a:noFill/>
          <a:ln w="15875">
            <a:solidFill>
              <a:srgbClr val="5F5E5A"/>
            </a:solidFill>
            <a:prstDash val="solid"/>
            <a:tailEnd type="arrow"/>
          </a:ln>
        </p:spPr>
        <p:txBody>
          <a:bodyPr/>
          <a:lstStyle/>
          <a:p>
            <a:endParaRPr lang="en-PE" sz="2400"/>
          </a:p>
        </p:txBody>
      </p:sp>
      <p:sp>
        <p:nvSpPr>
          <p:cNvPr id="164" name="Shape 27">
            <a:extLst>
              <a:ext uri="{FF2B5EF4-FFF2-40B4-BE49-F238E27FC236}">
                <a16:creationId xmlns:a16="http://schemas.microsoft.com/office/drawing/2014/main" id="{1CF55D66-2DCB-9EFF-B7AE-D05CA23A52EF}"/>
              </a:ext>
            </a:extLst>
          </p:cNvPr>
          <p:cNvSpPr/>
          <p:nvPr/>
        </p:nvSpPr>
        <p:spPr>
          <a:xfrm>
            <a:off x="12466320" y="4064000"/>
            <a:ext cx="0" cy="182880"/>
          </a:xfrm>
          <a:prstGeom prst="line">
            <a:avLst/>
          </a:prstGeom>
          <a:noFill/>
          <a:ln w="15875">
            <a:solidFill>
              <a:srgbClr val="5F5E5A"/>
            </a:solidFill>
            <a:prstDash val="solid"/>
            <a:tailEnd type="arrow"/>
          </a:ln>
        </p:spPr>
        <p:txBody>
          <a:bodyPr/>
          <a:lstStyle/>
          <a:p>
            <a:endParaRPr lang="en-PE" sz="2400"/>
          </a:p>
        </p:txBody>
      </p:sp>
      <p:sp>
        <p:nvSpPr>
          <p:cNvPr id="165" name="Shape 28">
            <a:extLst>
              <a:ext uri="{FF2B5EF4-FFF2-40B4-BE49-F238E27FC236}">
                <a16:creationId xmlns:a16="http://schemas.microsoft.com/office/drawing/2014/main" id="{8711B196-6758-2227-8624-42ABBE8638D5}"/>
              </a:ext>
            </a:extLst>
          </p:cNvPr>
          <p:cNvSpPr/>
          <p:nvPr/>
        </p:nvSpPr>
        <p:spPr>
          <a:xfrm>
            <a:off x="14051280" y="4064000"/>
            <a:ext cx="0" cy="182880"/>
          </a:xfrm>
          <a:prstGeom prst="line">
            <a:avLst/>
          </a:prstGeom>
          <a:noFill/>
          <a:ln w="15875">
            <a:solidFill>
              <a:srgbClr val="5F5E5A"/>
            </a:solidFill>
            <a:prstDash val="solid"/>
            <a:tailEnd type="arrow"/>
          </a:ln>
        </p:spPr>
        <p:txBody>
          <a:bodyPr/>
          <a:lstStyle/>
          <a:p>
            <a:endParaRPr lang="en-PE" sz="2400"/>
          </a:p>
        </p:txBody>
      </p:sp>
      <p:sp>
        <p:nvSpPr>
          <p:cNvPr id="166" name="Shape 29">
            <a:extLst>
              <a:ext uri="{FF2B5EF4-FFF2-40B4-BE49-F238E27FC236}">
                <a16:creationId xmlns:a16="http://schemas.microsoft.com/office/drawing/2014/main" id="{5204C826-7B2A-B3E3-F460-1BCCAE1674C5}"/>
              </a:ext>
            </a:extLst>
          </p:cNvPr>
          <p:cNvSpPr/>
          <p:nvPr/>
        </p:nvSpPr>
        <p:spPr>
          <a:xfrm>
            <a:off x="8595360" y="4246880"/>
            <a:ext cx="1402080" cy="548640"/>
          </a:xfrm>
          <a:prstGeom prst="roundRect">
            <a:avLst>
              <a:gd name="adj" fmla="val 17778"/>
            </a:avLst>
          </a:prstGeom>
          <a:solidFill>
            <a:srgbClr val="FAECE7"/>
          </a:solidFill>
          <a:ln w="12700">
            <a:solidFill>
              <a:srgbClr val="993C1D"/>
            </a:solidFill>
            <a:prstDash val="solid"/>
          </a:ln>
        </p:spPr>
        <p:txBody>
          <a:bodyPr/>
          <a:lstStyle/>
          <a:p>
            <a:endParaRPr lang="en-PE" sz="2400"/>
          </a:p>
        </p:txBody>
      </p:sp>
      <p:sp>
        <p:nvSpPr>
          <p:cNvPr id="167" name="Text 30">
            <a:extLst>
              <a:ext uri="{FF2B5EF4-FFF2-40B4-BE49-F238E27FC236}">
                <a16:creationId xmlns:a16="http://schemas.microsoft.com/office/drawing/2014/main" id="{E2EB97A7-9E30-A4CE-BB48-7628E2008E26}"/>
              </a:ext>
            </a:extLst>
          </p:cNvPr>
          <p:cNvSpPr txBox="1"/>
          <p:nvPr/>
        </p:nvSpPr>
        <p:spPr>
          <a:xfrm>
            <a:off x="8595360" y="4246880"/>
            <a:ext cx="1402080" cy="548640"/>
          </a:xfrm>
          <a:prstGeom prst="rect">
            <a:avLst/>
          </a:prstGeom>
          <a:noFill/>
          <a:ln/>
        </p:spPr>
        <p:txBody>
          <a:bodyPr wrap="square" lIns="0" tIns="0" rIns="0" bIns="0" rtlCol="0" anchor="ctr"/>
          <a:lstStyle/>
          <a:p>
            <a:pPr algn="ctr"/>
            <a:r>
              <a:rPr lang="en-US" sz="1867" b="1">
                <a:solidFill>
                  <a:srgbClr val="4A1B0C"/>
                </a:solidFill>
                <a:latin typeface="Calibri" pitchFamily="34" charset="0"/>
                <a:ea typeface="Calibri" pitchFamily="34" charset="-122"/>
                <a:cs typeface="Calibri" pitchFamily="34" charset="-120"/>
              </a:rPr>
              <a:t>Precio</a:t>
            </a:r>
            <a:endParaRPr lang="en-US" sz="1867"/>
          </a:p>
        </p:txBody>
      </p:sp>
      <p:sp>
        <p:nvSpPr>
          <p:cNvPr id="168" name="Shape 31">
            <a:extLst>
              <a:ext uri="{FF2B5EF4-FFF2-40B4-BE49-F238E27FC236}">
                <a16:creationId xmlns:a16="http://schemas.microsoft.com/office/drawing/2014/main" id="{512A4EFD-E614-FD02-5108-DEE76E346C8D}"/>
              </a:ext>
            </a:extLst>
          </p:cNvPr>
          <p:cNvSpPr/>
          <p:nvPr/>
        </p:nvSpPr>
        <p:spPr>
          <a:xfrm>
            <a:off x="10180320" y="4246880"/>
            <a:ext cx="1402080" cy="548640"/>
          </a:xfrm>
          <a:prstGeom prst="roundRect">
            <a:avLst>
              <a:gd name="adj" fmla="val 17778"/>
            </a:avLst>
          </a:prstGeom>
          <a:solidFill>
            <a:srgbClr val="F1EFE8"/>
          </a:solidFill>
          <a:ln w="12700">
            <a:solidFill>
              <a:srgbClr val="D3D1C7"/>
            </a:solidFill>
            <a:prstDash val="solid"/>
          </a:ln>
        </p:spPr>
        <p:txBody>
          <a:bodyPr/>
          <a:lstStyle/>
          <a:p>
            <a:endParaRPr lang="en-PE" sz="2400"/>
          </a:p>
        </p:txBody>
      </p:sp>
      <p:sp>
        <p:nvSpPr>
          <p:cNvPr id="169" name="Text 32">
            <a:extLst>
              <a:ext uri="{FF2B5EF4-FFF2-40B4-BE49-F238E27FC236}">
                <a16:creationId xmlns:a16="http://schemas.microsoft.com/office/drawing/2014/main" id="{CF6ED138-F37F-36BD-DBFC-0CA3C42D9570}"/>
              </a:ext>
            </a:extLst>
          </p:cNvPr>
          <p:cNvSpPr txBox="1"/>
          <p:nvPr/>
        </p:nvSpPr>
        <p:spPr>
          <a:xfrm>
            <a:off x="10180320" y="4246880"/>
            <a:ext cx="1402080" cy="548640"/>
          </a:xfrm>
          <a:prstGeom prst="rect">
            <a:avLst/>
          </a:prstGeom>
          <a:noFill/>
          <a:ln/>
        </p:spPr>
        <p:txBody>
          <a:bodyPr wrap="square" lIns="0" tIns="0" rIns="0" bIns="0" rtlCol="0" anchor="ctr"/>
          <a:lstStyle/>
          <a:p>
            <a:pPr algn="ctr"/>
            <a:r>
              <a:rPr lang="en-US" sz="1867" b="1" err="1">
                <a:solidFill>
                  <a:srgbClr val="2C2C2A"/>
                </a:solidFill>
                <a:latin typeface="Calibri" pitchFamily="34" charset="0"/>
                <a:ea typeface="Calibri" pitchFamily="34" charset="-122"/>
                <a:cs typeface="Calibri" pitchFamily="34" charset="-120"/>
              </a:rPr>
              <a:t>Competencia</a:t>
            </a:r>
            <a:r>
              <a:rPr lang="en-US" sz="1867" b="1">
                <a:solidFill>
                  <a:srgbClr val="2C2C2A"/>
                </a:solidFill>
                <a:latin typeface="Calibri" pitchFamily="34" charset="0"/>
                <a:ea typeface="Calibri" pitchFamily="34" charset="-122"/>
                <a:cs typeface="Calibri" pitchFamily="34" charset="-120"/>
              </a:rPr>
              <a:t> Interna</a:t>
            </a:r>
            <a:endParaRPr lang="en-US" sz="1867"/>
          </a:p>
        </p:txBody>
      </p:sp>
      <p:sp>
        <p:nvSpPr>
          <p:cNvPr id="170" name="Shape 33">
            <a:extLst>
              <a:ext uri="{FF2B5EF4-FFF2-40B4-BE49-F238E27FC236}">
                <a16:creationId xmlns:a16="http://schemas.microsoft.com/office/drawing/2014/main" id="{E8FF60F1-2078-0684-DF03-F6333F84B4B4}"/>
              </a:ext>
            </a:extLst>
          </p:cNvPr>
          <p:cNvSpPr/>
          <p:nvPr/>
        </p:nvSpPr>
        <p:spPr>
          <a:xfrm>
            <a:off x="11765280" y="4246880"/>
            <a:ext cx="1402080" cy="548640"/>
          </a:xfrm>
          <a:prstGeom prst="roundRect">
            <a:avLst>
              <a:gd name="adj" fmla="val 17778"/>
            </a:avLst>
          </a:prstGeom>
          <a:solidFill>
            <a:srgbClr val="F1EFE8"/>
          </a:solidFill>
          <a:ln w="12700">
            <a:solidFill>
              <a:srgbClr val="D3D1C7"/>
            </a:solidFill>
            <a:prstDash val="solid"/>
          </a:ln>
        </p:spPr>
        <p:txBody>
          <a:bodyPr/>
          <a:lstStyle/>
          <a:p>
            <a:endParaRPr lang="en-PE" sz="2400"/>
          </a:p>
        </p:txBody>
      </p:sp>
      <p:sp>
        <p:nvSpPr>
          <p:cNvPr id="171" name="Text 34">
            <a:extLst>
              <a:ext uri="{FF2B5EF4-FFF2-40B4-BE49-F238E27FC236}">
                <a16:creationId xmlns:a16="http://schemas.microsoft.com/office/drawing/2014/main" id="{C84931B4-512F-FD7C-8A01-1263B07F8D62}"/>
              </a:ext>
            </a:extLst>
          </p:cNvPr>
          <p:cNvSpPr txBox="1"/>
          <p:nvPr/>
        </p:nvSpPr>
        <p:spPr>
          <a:xfrm>
            <a:off x="11765280" y="4246880"/>
            <a:ext cx="1402080" cy="548640"/>
          </a:xfrm>
          <a:prstGeom prst="rect">
            <a:avLst/>
          </a:prstGeom>
          <a:noFill/>
          <a:ln/>
        </p:spPr>
        <p:txBody>
          <a:bodyPr wrap="square" lIns="0" tIns="0" rIns="0" bIns="0" rtlCol="0" anchor="ctr"/>
          <a:lstStyle/>
          <a:p>
            <a:pPr algn="ctr"/>
            <a:r>
              <a:rPr lang="en-US" sz="1867" b="1">
                <a:solidFill>
                  <a:srgbClr val="2C2C2A"/>
                </a:solidFill>
                <a:latin typeface="Calibri" pitchFamily="34" charset="0"/>
                <a:ea typeface="Calibri" pitchFamily="34" charset="-122"/>
                <a:cs typeface="Calibri" pitchFamily="34" charset="-120"/>
              </a:rPr>
              <a:t>Ticket</a:t>
            </a:r>
            <a:endParaRPr lang="en-US" sz="1867"/>
          </a:p>
        </p:txBody>
      </p:sp>
      <p:sp>
        <p:nvSpPr>
          <p:cNvPr id="172" name="Shape 35">
            <a:extLst>
              <a:ext uri="{FF2B5EF4-FFF2-40B4-BE49-F238E27FC236}">
                <a16:creationId xmlns:a16="http://schemas.microsoft.com/office/drawing/2014/main" id="{FDE8D73D-6AFF-FD58-AEBD-58E8F2686204}"/>
              </a:ext>
            </a:extLst>
          </p:cNvPr>
          <p:cNvSpPr/>
          <p:nvPr/>
        </p:nvSpPr>
        <p:spPr>
          <a:xfrm>
            <a:off x="13350240" y="4246880"/>
            <a:ext cx="1402080" cy="548640"/>
          </a:xfrm>
          <a:prstGeom prst="roundRect">
            <a:avLst>
              <a:gd name="adj" fmla="val 17778"/>
            </a:avLst>
          </a:prstGeom>
          <a:solidFill>
            <a:srgbClr val="F1EFE8"/>
          </a:solidFill>
          <a:ln w="12700">
            <a:solidFill>
              <a:srgbClr val="D3D1C7"/>
            </a:solidFill>
            <a:prstDash val="solid"/>
          </a:ln>
        </p:spPr>
        <p:txBody>
          <a:bodyPr/>
          <a:lstStyle/>
          <a:p>
            <a:endParaRPr lang="en-PE" sz="2400"/>
          </a:p>
        </p:txBody>
      </p:sp>
      <p:sp>
        <p:nvSpPr>
          <p:cNvPr id="173" name="Text 36">
            <a:extLst>
              <a:ext uri="{FF2B5EF4-FFF2-40B4-BE49-F238E27FC236}">
                <a16:creationId xmlns:a16="http://schemas.microsoft.com/office/drawing/2014/main" id="{B74AB359-EA14-A596-3956-49E16882243A}"/>
              </a:ext>
            </a:extLst>
          </p:cNvPr>
          <p:cNvSpPr txBox="1"/>
          <p:nvPr/>
        </p:nvSpPr>
        <p:spPr>
          <a:xfrm>
            <a:off x="13350240" y="4246880"/>
            <a:ext cx="1402080" cy="548640"/>
          </a:xfrm>
          <a:prstGeom prst="rect">
            <a:avLst/>
          </a:prstGeom>
          <a:noFill/>
          <a:ln/>
        </p:spPr>
        <p:txBody>
          <a:bodyPr wrap="square" lIns="0" tIns="0" rIns="0" bIns="0" rtlCol="0" anchor="ctr"/>
          <a:lstStyle/>
          <a:p>
            <a:pPr algn="ctr"/>
            <a:r>
              <a:rPr lang="en-US" sz="1867" b="1">
                <a:solidFill>
                  <a:srgbClr val="2C2C2A"/>
                </a:solidFill>
                <a:latin typeface="Calibri" pitchFamily="34" charset="0"/>
                <a:ea typeface="Calibri" pitchFamily="34" charset="-122"/>
                <a:cs typeface="Calibri" pitchFamily="34" charset="-120"/>
              </a:rPr>
              <a:t>Gestión</a:t>
            </a:r>
            <a:endParaRPr lang="en-US" sz="1867"/>
          </a:p>
        </p:txBody>
      </p:sp>
      <p:sp>
        <p:nvSpPr>
          <p:cNvPr id="174" name="Shape 37">
            <a:extLst>
              <a:ext uri="{FF2B5EF4-FFF2-40B4-BE49-F238E27FC236}">
                <a16:creationId xmlns:a16="http://schemas.microsoft.com/office/drawing/2014/main" id="{CA4288CC-E7D1-BBCF-2100-111C4DF8F57A}"/>
              </a:ext>
            </a:extLst>
          </p:cNvPr>
          <p:cNvSpPr/>
          <p:nvPr/>
        </p:nvSpPr>
        <p:spPr>
          <a:xfrm>
            <a:off x="9296400" y="4795520"/>
            <a:ext cx="0" cy="243840"/>
          </a:xfrm>
          <a:prstGeom prst="line">
            <a:avLst/>
          </a:prstGeom>
          <a:noFill/>
          <a:ln w="15875">
            <a:solidFill>
              <a:srgbClr val="993C1D"/>
            </a:solidFill>
            <a:prstDash val="solid"/>
            <a:tailEnd type="none"/>
          </a:ln>
        </p:spPr>
        <p:txBody>
          <a:bodyPr/>
          <a:lstStyle/>
          <a:p>
            <a:endParaRPr lang="en-PE" sz="2400"/>
          </a:p>
        </p:txBody>
      </p:sp>
      <p:sp>
        <p:nvSpPr>
          <p:cNvPr id="175" name="Shape 38">
            <a:extLst>
              <a:ext uri="{FF2B5EF4-FFF2-40B4-BE49-F238E27FC236}">
                <a16:creationId xmlns:a16="http://schemas.microsoft.com/office/drawing/2014/main" id="{B782E3DD-7778-E6BC-53CC-91DD4B6ED867}"/>
              </a:ext>
            </a:extLst>
          </p:cNvPr>
          <p:cNvSpPr/>
          <p:nvPr/>
        </p:nvSpPr>
        <p:spPr>
          <a:xfrm>
            <a:off x="9296400" y="5039360"/>
            <a:ext cx="2377440" cy="0"/>
          </a:xfrm>
          <a:prstGeom prst="line">
            <a:avLst/>
          </a:prstGeom>
          <a:noFill/>
          <a:ln w="15875">
            <a:solidFill>
              <a:srgbClr val="993C1D"/>
            </a:solidFill>
            <a:prstDash val="solid"/>
            <a:tailEnd type="none"/>
          </a:ln>
        </p:spPr>
        <p:txBody>
          <a:bodyPr/>
          <a:lstStyle/>
          <a:p>
            <a:endParaRPr lang="en-PE" sz="2400"/>
          </a:p>
        </p:txBody>
      </p:sp>
      <p:sp>
        <p:nvSpPr>
          <p:cNvPr id="176" name="Shape 39">
            <a:extLst>
              <a:ext uri="{FF2B5EF4-FFF2-40B4-BE49-F238E27FC236}">
                <a16:creationId xmlns:a16="http://schemas.microsoft.com/office/drawing/2014/main" id="{67E3F060-8037-02A0-9BBC-04F8DC2D577B}"/>
              </a:ext>
            </a:extLst>
          </p:cNvPr>
          <p:cNvSpPr/>
          <p:nvPr/>
        </p:nvSpPr>
        <p:spPr>
          <a:xfrm>
            <a:off x="11673840" y="5039360"/>
            <a:ext cx="0" cy="182880"/>
          </a:xfrm>
          <a:prstGeom prst="line">
            <a:avLst/>
          </a:prstGeom>
          <a:noFill/>
          <a:ln w="15875">
            <a:solidFill>
              <a:srgbClr val="993C1D"/>
            </a:solidFill>
            <a:prstDash val="solid"/>
            <a:tailEnd type="arrow"/>
          </a:ln>
        </p:spPr>
        <p:txBody>
          <a:bodyPr/>
          <a:lstStyle/>
          <a:p>
            <a:endParaRPr lang="en-PE" sz="2400"/>
          </a:p>
        </p:txBody>
      </p:sp>
      <p:sp>
        <p:nvSpPr>
          <p:cNvPr id="177" name="Shape 40">
            <a:extLst>
              <a:ext uri="{FF2B5EF4-FFF2-40B4-BE49-F238E27FC236}">
                <a16:creationId xmlns:a16="http://schemas.microsoft.com/office/drawing/2014/main" id="{03535B5B-B190-DA0C-29A0-2D61DADA58B7}"/>
              </a:ext>
            </a:extLst>
          </p:cNvPr>
          <p:cNvSpPr/>
          <p:nvPr/>
        </p:nvSpPr>
        <p:spPr>
          <a:xfrm>
            <a:off x="9845040" y="5222240"/>
            <a:ext cx="3657600" cy="853440"/>
          </a:xfrm>
          <a:prstGeom prst="roundRect">
            <a:avLst>
              <a:gd name="adj" fmla="val 11429"/>
            </a:avLst>
          </a:prstGeom>
          <a:solidFill>
            <a:srgbClr val="FAECE7"/>
          </a:solidFill>
          <a:ln w="12700">
            <a:solidFill>
              <a:srgbClr val="993C1D"/>
            </a:solidFill>
            <a:prstDash val="solid"/>
          </a:ln>
        </p:spPr>
        <p:txBody>
          <a:bodyPr/>
          <a:lstStyle/>
          <a:p>
            <a:endParaRPr lang="en-PE" sz="2400"/>
          </a:p>
        </p:txBody>
      </p:sp>
      <p:sp>
        <p:nvSpPr>
          <p:cNvPr id="178" name="Text 41">
            <a:extLst>
              <a:ext uri="{FF2B5EF4-FFF2-40B4-BE49-F238E27FC236}">
                <a16:creationId xmlns:a16="http://schemas.microsoft.com/office/drawing/2014/main" id="{3DED54F5-AEE7-2560-35E6-B938FE8E1487}"/>
              </a:ext>
            </a:extLst>
          </p:cNvPr>
          <p:cNvSpPr txBox="1"/>
          <p:nvPr/>
        </p:nvSpPr>
        <p:spPr>
          <a:xfrm>
            <a:off x="9845040" y="5368544"/>
            <a:ext cx="3657600" cy="365760"/>
          </a:xfrm>
          <a:prstGeom prst="rect">
            <a:avLst/>
          </a:prstGeom>
          <a:noFill/>
          <a:ln/>
        </p:spPr>
        <p:txBody>
          <a:bodyPr wrap="square" lIns="0" tIns="0" rIns="0" bIns="0" rtlCol="0" anchor="t"/>
          <a:lstStyle/>
          <a:p>
            <a:pPr algn="ctr"/>
            <a:r>
              <a:rPr lang="en-US" sz="1867" b="1">
                <a:solidFill>
                  <a:srgbClr val="4A1B0C"/>
                </a:solidFill>
                <a:latin typeface="Calibri" pitchFamily="34" charset="0"/>
                <a:ea typeface="Calibri" pitchFamily="34" charset="-122"/>
                <a:cs typeface="Calibri" pitchFamily="34" charset="-120"/>
              </a:rPr>
              <a:t>Señal real de precio</a:t>
            </a:r>
            <a:endParaRPr lang="en-US" sz="1867"/>
          </a:p>
        </p:txBody>
      </p:sp>
      <p:sp>
        <p:nvSpPr>
          <p:cNvPr id="179" name="Text 42">
            <a:extLst>
              <a:ext uri="{FF2B5EF4-FFF2-40B4-BE49-F238E27FC236}">
                <a16:creationId xmlns:a16="http://schemas.microsoft.com/office/drawing/2014/main" id="{DD4FDB01-F3B1-C0A7-0262-BB241985E1A2}"/>
              </a:ext>
            </a:extLst>
          </p:cNvPr>
          <p:cNvSpPr txBox="1"/>
          <p:nvPr/>
        </p:nvSpPr>
        <p:spPr>
          <a:xfrm>
            <a:off x="9845040" y="5783072"/>
            <a:ext cx="3657600" cy="304800"/>
          </a:xfrm>
          <a:prstGeom prst="rect">
            <a:avLst/>
          </a:prstGeom>
          <a:noFill/>
          <a:ln/>
        </p:spPr>
        <p:txBody>
          <a:bodyPr wrap="square" lIns="0" tIns="0" rIns="0" bIns="0" rtlCol="0" anchor="t"/>
          <a:lstStyle/>
          <a:p>
            <a:pPr algn="ctr"/>
            <a:r>
              <a:rPr lang="en-US" sz="1467">
                <a:solidFill>
                  <a:srgbClr val="993C1D"/>
                </a:solidFill>
                <a:latin typeface="Calibri" pitchFamily="34" charset="0"/>
                <a:ea typeface="Calibri" pitchFamily="34" charset="-122"/>
                <a:cs typeface="Calibri" pitchFamily="34" charset="-120"/>
              </a:rPr>
              <a:t>guía la estrategia de pricing</a:t>
            </a:r>
            <a:endParaRPr lang="en-US" sz="1467"/>
          </a:p>
        </p:txBody>
      </p:sp>
      <p:sp>
        <p:nvSpPr>
          <p:cNvPr id="180" name="Shape 43">
            <a:extLst>
              <a:ext uri="{FF2B5EF4-FFF2-40B4-BE49-F238E27FC236}">
                <a16:creationId xmlns:a16="http://schemas.microsoft.com/office/drawing/2014/main" id="{E617DCA6-CC7E-0D6D-FA2E-C834FD2B70C8}"/>
              </a:ext>
            </a:extLst>
          </p:cNvPr>
          <p:cNvSpPr/>
          <p:nvPr/>
        </p:nvSpPr>
        <p:spPr>
          <a:xfrm>
            <a:off x="11673840" y="6075680"/>
            <a:ext cx="0" cy="243840"/>
          </a:xfrm>
          <a:prstGeom prst="line">
            <a:avLst/>
          </a:prstGeom>
          <a:noFill/>
          <a:ln w="15875">
            <a:solidFill>
              <a:srgbClr val="0F6E56"/>
            </a:solidFill>
            <a:prstDash val="solid"/>
            <a:tailEnd type="arrow"/>
          </a:ln>
        </p:spPr>
        <p:txBody>
          <a:bodyPr/>
          <a:lstStyle/>
          <a:p>
            <a:endParaRPr lang="en-PE" sz="2400"/>
          </a:p>
        </p:txBody>
      </p:sp>
      <p:sp>
        <p:nvSpPr>
          <p:cNvPr id="181" name="Shape 44">
            <a:extLst>
              <a:ext uri="{FF2B5EF4-FFF2-40B4-BE49-F238E27FC236}">
                <a16:creationId xmlns:a16="http://schemas.microsoft.com/office/drawing/2014/main" id="{C2AFD953-02D7-3FCE-2E70-8AD2B818D59F}"/>
              </a:ext>
            </a:extLst>
          </p:cNvPr>
          <p:cNvSpPr/>
          <p:nvPr/>
        </p:nvSpPr>
        <p:spPr>
          <a:xfrm>
            <a:off x="10149840" y="6319520"/>
            <a:ext cx="3048000" cy="914400"/>
          </a:xfrm>
          <a:prstGeom prst="roundRect">
            <a:avLst>
              <a:gd name="adj" fmla="val 10667"/>
            </a:avLst>
          </a:prstGeom>
          <a:solidFill>
            <a:srgbClr val="E1F5EE"/>
          </a:solidFill>
          <a:ln w="12700">
            <a:solidFill>
              <a:srgbClr val="0F6E56"/>
            </a:solidFill>
            <a:prstDash val="solid"/>
          </a:ln>
        </p:spPr>
        <p:txBody>
          <a:bodyPr/>
          <a:lstStyle/>
          <a:p>
            <a:endParaRPr lang="en-PE" sz="2400"/>
          </a:p>
        </p:txBody>
      </p:sp>
      <p:sp>
        <p:nvSpPr>
          <p:cNvPr id="182" name="Text 45">
            <a:extLst>
              <a:ext uri="{FF2B5EF4-FFF2-40B4-BE49-F238E27FC236}">
                <a16:creationId xmlns:a16="http://schemas.microsoft.com/office/drawing/2014/main" id="{54DEC782-6720-890A-AA9A-C4736CF364DC}"/>
              </a:ext>
            </a:extLst>
          </p:cNvPr>
          <p:cNvSpPr txBox="1"/>
          <p:nvPr/>
        </p:nvSpPr>
        <p:spPr>
          <a:xfrm>
            <a:off x="10149840" y="6465824"/>
            <a:ext cx="3048000" cy="365760"/>
          </a:xfrm>
          <a:prstGeom prst="rect">
            <a:avLst/>
          </a:prstGeom>
          <a:noFill/>
          <a:ln/>
        </p:spPr>
        <p:txBody>
          <a:bodyPr wrap="square" lIns="0" tIns="0" rIns="0" bIns="0" rtlCol="0" anchor="t"/>
          <a:lstStyle/>
          <a:p>
            <a:pPr algn="ctr"/>
            <a:r>
              <a:rPr lang="en-US" sz="1867" b="1">
                <a:solidFill>
                  <a:srgbClr val="04342C"/>
                </a:solidFill>
                <a:latin typeface="Calibri" pitchFamily="34" charset="0"/>
                <a:ea typeface="Calibri" pitchFamily="34" charset="-122"/>
                <a:cs typeface="Calibri" pitchFamily="34" charset="-120"/>
              </a:rPr>
              <a:t>Mejor pricing a leads</a:t>
            </a:r>
            <a:endParaRPr lang="en-US" sz="1867"/>
          </a:p>
        </p:txBody>
      </p:sp>
      <p:sp>
        <p:nvSpPr>
          <p:cNvPr id="183" name="Text 46">
            <a:extLst>
              <a:ext uri="{FF2B5EF4-FFF2-40B4-BE49-F238E27FC236}">
                <a16:creationId xmlns:a16="http://schemas.microsoft.com/office/drawing/2014/main" id="{2AD79BA0-2554-0E58-9D1A-FC410AC7EF6F}"/>
              </a:ext>
            </a:extLst>
          </p:cNvPr>
          <p:cNvSpPr txBox="1"/>
          <p:nvPr/>
        </p:nvSpPr>
        <p:spPr>
          <a:xfrm>
            <a:off x="10149840" y="6880352"/>
            <a:ext cx="3048000" cy="304800"/>
          </a:xfrm>
          <a:prstGeom prst="rect">
            <a:avLst/>
          </a:prstGeom>
          <a:noFill/>
          <a:ln/>
        </p:spPr>
        <p:txBody>
          <a:bodyPr wrap="square" lIns="0" tIns="0" rIns="0" bIns="0" rtlCol="0" anchor="t"/>
          <a:lstStyle/>
          <a:p>
            <a:pPr algn="ctr"/>
            <a:r>
              <a:rPr lang="en-US" sz="1467">
                <a:solidFill>
                  <a:srgbClr val="0F6E56"/>
                </a:solidFill>
                <a:latin typeface="Calibri" pitchFamily="34" charset="0"/>
                <a:ea typeface="Calibri" pitchFamily="34" charset="-122"/>
                <a:cs typeface="Calibri" pitchFamily="34" charset="-120"/>
              </a:rPr>
              <a:t>el objetivo final</a:t>
            </a:r>
            <a:endParaRPr lang="en-US" sz="1467"/>
          </a:p>
        </p:txBody>
      </p:sp>
      <p:pic>
        <p:nvPicPr>
          <p:cNvPr id="186" name="Picture 185">
            <a:extLst>
              <a:ext uri="{FF2B5EF4-FFF2-40B4-BE49-F238E27FC236}">
                <a16:creationId xmlns:a16="http://schemas.microsoft.com/office/drawing/2014/main" id="{76E6848E-7AEC-2D55-6680-A5A47B491BA6}"/>
              </a:ext>
            </a:extLst>
          </p:cNvPr>
          <p:cNvPicPr>
            <a:picLocks noChangeAspect="1"/>
          </p:cNvPicPr>
          <p:nvPr/>
        </p:nvPicPr>
        <p:blipFill>
          <a:blip r:embed="rId7"/>
          <a:stretch>
            <a:fillRect/>
          </a:stretch>
        </p:blipFill>
        <p:spPr>
          <a:xfrm>
            <a:off x="14278165" y="109554"/>
            <a:ext cx="1719367" cy="969183"/>
          </a:xfrm>
          <a:prstGeom prst="rect">
            <a:avLst/>
          </a:prstGeom>
        </p:spPr>
      </p:pic>
    </p:spTree>
    <p:extLst>
      <p:ext uri="{BB962C8B-B14F-4D97-AF65-F5344CB8AC3E}">
        <p14:creationId xmlns:p14="http://schemas.microsoft.com/office/powerpoint/2010/main" val="1333054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 name="think-cell data - do not delete" hidden="1">
            <a:extLst>
              <a:ext uri="{FF2B5EF4-FFF2-40B4-BE49-F238E27FC236}">
                <a16:creationId xmlns:a16="http://schemas.microsoft.com/office/drawing/2014/main" id="{4CB56A8F-583C-379A-98D6-87F9F667F682}"/>
              </a:ext>
            </a:extLst>
          </p:cNvPr>
          <p:cNvGraphicFramePr>
            <a:graphicFrameLocks/>
          </p:cNvGraphicFramePr>
          <p:nvPr>
            <p:custDataLst>
              <p:tags r:id="rId1"/>
            </p:custDataLst>
            <p:extLst>
              <p:ext uri="{D42A27DB-BD31-4B8C-83A1-F6EECF244321}">
                <p14:modId xmlns:p14="http://schemas.microsoft.com/office/powerpoint/2010/main" val="2304398538"/>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Diapositiva de thinkcell" r:id="rId26" imgW="7772400" imgH="10058400" progId="TCLayout.ActiveDocument.1">
                  <p:embed/>
                </p:oleObj>
              </mc:Choice>
              <mc:Fallback>
                <p:oleObj name="Diapositiva de thinkcell" r:id="rId26" imgW="7772400" imgH="10058400" progId="TCLayout.ActiveDocument.1">
                  <p:embed/>
                  <p:pic>
                    <p:nvPicPr>
                      <p:cNvPr id="70" name="think-cell data - do not delete" hidden="1">
                        <a:extLst>
                          <a:ext uri="{FF2B5EF4-FFF2-40B4-BE49-F238E27FC236}">
                            <a16:creationId xmlns:a16="http://schemas.microsoft.com/office/drawing/2014/main" id="{4CB56A8F-583C-379A-98D6-87F9F667F682}"/>
                          </a:ext>
                        </a:extLst>
                      </p:cNvPr>
                      <p:cNvPicPr/>
                      <p:nvPr/>
                    </p:nvPicPr>
                    <p:blipFill>
                      <a:blip r:embed="rId27"/>
                      <a:stretch>
                        <a:fillRect/>
                      </a:stretch>
                    </p:blipFill>
                    <p:spPr>
                      <a:xfrm>
                        <a:off x="2118" y="2118"/>
                        <a:ext cx="1636" cy="2117"/>
                      </a:xfrm>
                      <a:prstGeom prst="rect">
                        <a:avLst/>
                      </a:prstGeom>
                    </p:spPr>
                  </p:pic>
                </p:oleObj>
              </mc:Fallback>
            </mc:AlternateContent>
          </a:graphicData>
        </a:graphic>
      </p:graphicFrame>
      <p:sp>
        <p:nvSpPr>
          <p:cNvPr id="2" name="Text 0"/>
          <p:cNvSpPr txBox="1"/>
          <p:nvPr/>
        </p:nvSpPr>
        <p:spPr>
          <a:xfrm>
            <a:off x="731520" y="150368"/>
            <a:ext cx="14020800" cy="365760"/>
          </a:xfrm>
          <a:prstGeom prst="rect">
            <a:avLst/>
          </a:prstGeom>
          <a:noFill/>
          <a:ln/>
        </p:spPr>
        <p:txBody>
          <a:bodyPr wrap="square" lIns="0" tIns="0" rIns="0" bIns="0" rtlCol="0" anchor="ctr"/>
          <a:lstStyle/>
          <a:p>
            <a:r>
              <a:rPr lang="en-US" sz="1467" b="1" kern="0" spc="133">
                <a:solidFill>
                  <a:srgbClr val="0F6E56"/>
                </a:solidFill>
                <a:latin typeface="Calibri" pitchFamily="34" charset="0"/>
                <a:ea typeface="Calibri" pitchFamily="34" charset="-122"/>
                <a:cs typeface="Calibri" pitchFamily="34" charset="-120"/>
              </a:rPr>
              <a:t>SEGMENTACIÓN ESTRATÉGICA · SHARE OF SALES · LECTURA DEL EMBUDO</a:t>
            </a:r>
            <a:endParaRPr lang="en-US" sz="1467"/>
          </a:p>
        </p:txBody>
      </p:sp>
      <p:sp>
        <p:nvSpPr>
          <p:cNvPr id="36" name="Text 34"/>
          <p:cNvSpPr txBox="1"/>
          <p:nvPr/>
        </p:nvSpPr>
        <p:spPr>
          <a:xfrm>
            <a:off x="9193107" y="7106921"/>
            <a:ext cx="2560320" cy="304800"/>
          </a:xfrm>
          <a:prstGeom prst="rect">
            <a:avLst/>
          </a:prstGeom>
          <a:noFill/>
          <a:ln/>
        </p:spPr>
        <p:txBody>
          <a:bodyPr wrap="square" lIns="0" tIns="0" rIns="0" bIns="0" rtlCol="0" anchor="ctr"/>
          <a:lstStyle/>
          <a:p>
            <a:pPr algn="ctr"/>
            <a:r>
              <a:rPr lang="en-US" sz="1200" b="1" i="1">
                <a:solidFill>
                  <a:srgbClr val="993C1D"/>
                </a:solidFill>
                <a:latin typeface="Calibri" pitchFamily="34" charset="0"/>
                <a:ea typeface="Calibri" pitchFamily="34" charset="-122"/>
                <a:cs typeface="Calibri" pitchFamily="34" charset="-120"/>
              </a:rPr>
              <a:t>palanca de mejora ↑</a:t>
            </a:r>
            <a:endParaRPr lang="en-US" sz="1200"/>
          </a:p>
        </p:txBody>
      </p:sp>
      <p:grpSp>
        <p:nvGrpSpPr>
          <p:cNvPr id="86" name="Group 85">
            <a:extLst>
              <a:ext uri="{FF2B5EF4-FFF2-40B4-BE49-F238E27FC236}">
                <a16:creationId xmlns:a16="http://schemas.microsoft.com/office/drawing/2014/main" id="{47C4C688-281D-0D7F-8A69-C725FAB804FC}"/>
              </a:ext>
            </a:extLst>
          </p:cNvPr>
          <p:cNvGrpSpPr/>
          <p:nvPr/>
        </p:nvGrpSpPr>
        <p:grpSpPr>
          <a:xfrm>
            <a:off x="1406968" y="7415807"/>
            <a:ext cx="2016000" cy="692043"/>
            <a:chOff x="2057400" y="5257800"/>
            <a:chExt cx="2148840" cy="777240"/>
          </a:xfrm>
        </p:grpSpPr>
        <p:sp>
          <p:nvSpPr>
            <p:cNvPr id="37" name="Shape 35"/>
            <p:cNvSpPr/>
            <p:nvPr/>
          </p:nvSpPr>
          <p:spPr>
            <a:xfrm>
              <a:off x="2057400" y="5257800"/>
              <a:ext cx="2148840" cy="777240"/>
            </a:xfrm>
            <a:prstGeom prst="ellipse">
              <a:avLst/>
            </a:prstGeom>
            <a:solidFill>
              <a:srgbClr val="F1EFE8"/>
            </a:solidFill>
            <a:ln w="15875">
              <a:solidFill>
                <a:srgbClr val="2C2C2A"/>
              </a:solidFill>
              <a:prstDash val="solid"/>
            </a:ln>
          </p:spPr>
          <p:txBody>
            <a:bodyPr/>
            <a:lstStyle/>
            <a:p>
              <a:endParaRPr lang="en-PE" sz="2400"/>
            </a:p>
          </p:txBody>
        </p:sp>
        <p:sp>
          <p:nvSpPr>
            <p:cNvPr id="38" name="Text 36"/>
            <p:cNvSpPr txBox="1"/>
            <p:nvPr/>
          </p:nvSpPr>
          <p:spPr>
            <a:xfrm>
              <a:off x="2057400" y="5349240"/>
              <a:ext cx="2148840" cy="320040"/>
            </a:xfrm>
            <a:prstGeom prst="rect">
              <a:avLst/>
            </a:prstGeom>
            <a:noFill/>
            <a:ln/>
          </p:spPr>
          <p:txBody>
            <a:bodyPr wrap="square" lIns="0" tIns="0" rIns="0" bIns="0" rtlCol="0" anchor="ctr"/>
            <a:lstStyle/>
            <a:p>
              <a:pPr algn="ctr"/>
              <a:r>
                <a:rPr lang="en-US" sz="2400" b="1">
                  <a:solidFill>
                    <a:srgbClr val="2C2C2A"/>
                  </a:solidFill>
                  <a:latin typeface="Calibri" pitchFamily="34" charset="0"/>
                  <a:ea typeface="Calibri" pitchFamily="34" charset="-122"/>
                  <a:cs typeface="Calibri" pitchFamily="34" charset="-120"/>
                </a:rPr>
                <a:t>24%</a:t>
              </a:r>
              <a:endParaRPr lang="en-US" sz="2400"/>
            </a:p>
          </p:txBody>
        </p:sp>
        <p:sp>
          <p:nvSpPr>
            <p:cNvPr id="39" name="Text 37"/>
            <p:cNvSpPr txBox="1"/>
            <p:nvPr/>
          </p:nvSpPr>
          <p:spPr>
            <a:xfrm>
              <a:off x="2194560" y="5669280"/>
              <a:ext cx="1874520" cy="320040"/>
            </a:xfrm>
            <a:prstGeom prst="rect">
              <a:avLst/>
            </a:prstGeom>
            <a:noFill/>
            <a:ln/>
          </p:spPr>
          <p:txBody>
            <a:bodyPr wrap="square" lIns="0" tIns="0" rIns="0" bIns="0" rtlCol="0" anchor="ctr"/>
            <a:lstStyle/>
            <a:p>
              <a:pPr algn="ctr"/>
              <a:r>
                <a:rPr lang="en-US" sz="800">
                  <a:solidFill>
                    <a:srgbClr val="2C2C2A"/>
                  </a:solidFill>
                  <a:latin typeface="Calibri" pitchFamily="34" charset="0"/>
                  <a:ea typeface="Calibri" pitchFamily="34" charset="-122"/>
                  <a:cs typeface="Calibri" pitchFamily="34" charset="-120"/>
                </a:rPr>
                <a:t>Share PDM total  (304 / 1,254)</a:t>
              </a:r>
              <a:endParaRPr lang="en-US" sz="800"/>
            </a:p>
          </p:txBody>
        </p:sp>
      </p:grpSp>
      <p:grpSp>
        <p:nvGrpSpPr>
          <p:cNvPr id="76" name="Group 75">
            <a:extLst>
              <a:ext uri="{FF2B5EF4-FFF2-40B4-BE49-F238E27FC236}">
                <a16:creationId xmlns:a16="http://schemas.microsoft.com/office/drawing/2014/main" id="{00D9E533-F6BE-0A0E-14FA-C90AF2C91A84}"/>
              </a:ext>
            </a:extLst>
          </p:cNvPr>
          <p:cNvGrpSpPr/>
          <p:nvPr/>
        </p:nvGrpSpPr>
        <p:grpSpPr>
          <a:xfrm>
            <a:off x="13607939" y="7258873"/>
            <a:ext cx="2016000" cy="696000"/>
            <a:chOff x="9258300" y="5257800"/>
            <a:chExt cx="2148840" cy="777240"/>
          </a:xfrm>
        </p:grpSpPr>
        <p:sp>
          <p:nvSpPr>
            <p:cNvPr id="43" name="Shape 41"/>
            <p:cNvSpPr/>
            <p:nvPr/>
          </p:nvSpPr>
          <p:spPr>
            <a:xfrm>
              <a:off x="9258300" y="5257800"/>
              <a:ext cx="2148840" cy="777240"/>
            </a:xfrm>
            <a:prstGeom prst="ellipse">
              <a:avLst/>
            </a:prstGeom>
            <a:solidFill>
              <a:srgbClr val="E1F5EE"/>
            </a:solidFill>
            <a:ln w="15875">
              <a:solidFill>
                <a:srgbClr val="04342C"/>
              </a:solidFill>
              <a:prstDash val="solid"/>
            </a:ln>
          </p:spPr>
          <p:txBody>
            <a:bodyPr/>
            <a:lstStyle/>
            <a:p>
              <a:endParaRPr lang="en-PE" sz="2400"/>
            </a:p>
          </p:txBody>
        </p:sp>
        <p:sp>
          <p:nvSpPr>
            <p:cNvPr id="44" name="Text 42"/>
            <p:cNvSpPr txBox="1"/>
            <p:nvPr/>
          </p:nvSpPr>
          <p:spPr>
            <a:xfrm>
              <a:off x="9258300" y="5349240"/>
              <a:ext cx="2148840" cy="320040"/>
            </a:xfrm>
            <a:prstGeom prst="rect">
              <a:avLst/>
            </a:prstGeom>
            <a:noFill/>
            <a:ln/>
          </p:spPr>
          <p:txBody>
            <a:bodyPr wrap="square" lIns="0" tIns="0" rIns="0" bIns="0" rtlCol="0" anchor="ctr"/>
            <a:lstStyle/>
            <a:p>
              <a:pPr algn="ctr"/>
              <a:r>
                <a:rPr lang="en-US" sz="2400" b="1">
                  <a:solidFill>
                    <a:srgbClr val="04342C"/>
                  </a:solidFill>
                  <a:latin typeface="Calibri" pitchFamily="34" charset="0"/>
                  <a:ea typeface="Calibri" pitchFamily="34" charset="-122"/>
                  <a:cs typeface="Calibri" pitchFamily="34" charset="-120"/>
                </a:rPr>
                <a:t>77%</a:t>
              </a:r>
              <a:endParaRPr lang="en-US" sz="2400"/>
            </a:p>
          </p:txBody>
        </p:sp>
        <p:sp>
          <p:nvSpPr>
            <p:cNvPr id="45" name="Text 43"/>
            <p:cNvSpPr txBox="1"/>
            <p:nvPr/>
          </p:nvSpPr>
          <p:spPr>
            <a:xfrm>
              <a:off x="9395460" y="5669280"/>
              <a:ext cx="1874520" cy="320040"/>
            </a:xfrm>
            <a:prstGeom prst="rect">
              <a:avLst/>
            </a:prstGeom>
            <a:noFill/>
            <a:ln/>
          </p:spPr>
          <p:txBody>
            <a:bodyPr wrap="square" lIns="0" tIns="0" rIns="0" bIns="0" rtlCol="0" anchor="ctr"/>
            <a:lstStyle/>
            <a:p>
              <a:pPr algn="ctr"/>
              <a:r>
                <a:rPr lang="en-US" sz="800">
                  <a:solidFill>
                    <a:srgbClr val="04342C"/>
                  </a:solidFill>
                  <a:latin typeface="Calibri" pitchFamily="34" charset="0"/>
                  <a:ea typeface="Calibri" pitchFamily="34" charset="-122"/>
                  <a:cs typeface="Calibri" pitchFamily="34" charset="-120"/>
                </a:rPr>
                <a:t>Share Relevante, tras </a:t>
              </a:r>
              <a:r>
                <a:rPr lang="en-US" sz="800" err="1">
                  <a:solidFill>
                    <a:srgbClr val="04342C"/>
                  </a:solidFill>
                  <a:latin typeface="Calibri" pitchFamily="34" charset="0"/>
                  <a:ea typeface="Calibri" pitchFamily="34" charset="-122"/>
                  <a:cs typeface="Calibri" pitchFamily="34" charset="-120"/>
                </a:rPr>
                <a:t>gestión</a:t>
              </a:r>
              <a:r>
                <a:rPr lang="en-US" sz="800">
                  <a:solidFill>
                    <a:srgbClr val="04342C"/>
                  </a:solidFill>
                  <a:latin typeface="Calibri" pitchFamily="34" charset="0"/>
                  <a:ea typeface="Calibri" pitchFamily="34" charset="-122"/>
                  <a:cs typeface="Calibri" pitchFamily="34" charset="-120"/>
                </a:rPr>
                <a:t> </a:t>
              </a:r>
            </a:p>
            <a:p>
              <a:pPr algn="ctr"/>
              <a:r>
                <a:rPr lang="en-US" sz="800">
                  <a:solidFill>
                    <a:srgbClr val="04342C"/>
                  </a:solidFill>
                  <a:latin typeface="Calibri" pitchFamily="34" charset="0"/>
                  <a:ea typeface="Calibri" pitchFamily="34" charset="-122"/>
                  <a:cs typeface="Calibri" pitchFamily="34" charset="-120"/>
                </a:rPr>
                <a:t> (304 / 393)</a:t>
              </a:r>
              <a:endParaRPr lang="en-US" sz="800"/>
            </a:p>
          </p:txBody>
        </p:sp>
      </p:grpSp>
      <p:sp>
        <p:nvSpPr>
          <p:cNvPr id="46" name="Text 44"/>
          <p:cNvSpPr txBox="1"/>
          <p:nvPr/>
        </p:nvSpPr>
        <p:spPr>
          <a:xfrm>
            <a:off x="731520" y="8229600"/>
            <a:ext cx="14752320" cy="731520"/>
          </a:xfrm>
          <a:prstGeom prst="rect">
            <a:avLst/>
          </a:prstGeom>
          <a:noFill/>
          <a:ln/>
        </p:spPr>
        <p:txBody>
          <a:bodyPr wrap="square" lIns="0" tIns="0" rIns="0" bIns="0" rtlCol="0" anchor="ctr"/>
          <a:lstStyle/>
          <a:p>
            <a:pPr>
              <a:lnSpc>
                <a:spcPts val="1867"/>
              </a:lnSpc>
            </a:pPr>
            <a:r>
              <a:rPr lang="en-US" sz="1333" i="1">
                <a:solidFill>
                  <a:srgbClr val="5F5E5A"/>
                </a:solidFill>
                <a:latin typeface="Calibri" pitchFamily="34" charset="0"/>
                <a:ea typeface="Calibri" pitchFamily="34" charset="-122"/>
                <a:cs typeface="Calibri" pitchFamily="34" charset="-120"/>
              </a:rPr>
              <a:t>Gris = competencia estructuralmente no comparable (no depende de IBK). </a:t>
            </a:r>
          </a:p>
          <a:p>
            <a:pPr>
              <a:lnSpc>
                <a:spcPts val="1867"/>
              </a:lnSpc>
            </a:pPr>
            <a:r>
              <a:rPr lang="en-US" sz="1333" i="1">
                <a:solidFill>
                  <a:srgbClr val="5F5E5A"/>
                </a:solidFill>
                <a:latin typeface="Calibri" pitchFamily="34" charset="0"/>
                <a:ea typeface="Calibri" pitchFamily="34" charset="-122"/>
                <a:cs typeface="Calibri" pitchFamily="34" charset="-120"/>
              </a:rPr>
              <a:t>Rojo = no gestionado, la única capa que sí depende de la ejecución comercial.</a:t>
            </a:r>
            <a:endParaRPr lang="en-US" sz="1333"/>
          </a:p>
          <a:p>
            <a:pPr>
              <a:lnSpc>
                <a:spcPts val="1867"/>
              </a:lnSpc>
            </a:pPr>
            <a:r>
              <a:rPr lang="en-US" sz="1333" i="1">
                <a:solidFill>
                  <a:srgbClr val="5F5E5A"/>
                </a:solidFill>
                <a:latin typeface="Calibri" pitchFamily="34" charset="0"/>
                <a:ea typeface="Calibri" pitchFamily="34" charset="-122"/>
                <a:cs typeface="Calibri" pitchFamily="34" charset="-120"/>
              </a:rPr>
              <a:t>El salto de 62% a 77% se explica en parte por retirar el 20% no gestionado — no es, todavía, una mejora de tasa o producto.</a:t>
            </a:r>
            <a:endParaRPr lang="en-US" sz="1333"/>
          </a:p>
        </p:txBody>
      </p:sp>
      <p:cxnSp>
        <p:nvCxnSpPr>
          <p:cNvPr id="47" name="Straight Connector 46">
            <a:extLst>
              <a:ext uri="{FF2B5EF4-FFF2-40B4-BE49-F238E27FC236}">
                <a16:creationId xmlns:a16="http://schemas.microsoft.com/office/drawing/2014/main" id="{F12AC1D4-1EC7-E63B-57F0-267AC8E6D5D6}"/>
              </a:ext>
            </a:extLst>
          </p:cNvPr>
          <p:cNvCxnSpPr/>
          <p:nvPr>
            <p:custDataLst>
              <p:tags r:id="rId2"/>
            </p:custDataLst>
          </p:nvPr>
        </p:nvCxnSpPr>
        <p:spPr bwMode="auto">
          <a:xfrm>
            <a:off x="4963584" y="2730500"/>
            <a:ext cx="1001184"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8DE06C1F-A925-1317-0281-ADD96238920D}"/>
              </a:ext>
            </a:extLst>
          </p:cNvPr>
          <p:cNvCxnSpPr/>
          <p:nvPr>
            <p:custDataLst>
              <p:tags r:id="rId3"/>
            </p:custDataLst>
          </p:nvPr>
        </p:nvCxnSpPr>
        <p:spPr bwMode="auto">
          <a:xfrm>
            <a:off x="6968067" y="3924300"/>
            <a:ext cx="1001184"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92520FD4-355D-1C33-060E-E69CDF5B2175}"/>
              </a:ext>
            </a:extLst>
          </p:cNvPr>
          <p:cNvCxnSpPr/>
          <p:nvPr>
            <p:custDataLst>
              <p:tags r:id="rId4"/>
            </p:custDataLst>
          </p:nvPr>
        </p:nvCxnSpPr>
        <p:spPr bwMode="auto">
          <a:xfrm>
            <a:off x="8972550" y="4816475"/>
            <a:ext cx="1001184"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DF4DE9C0-D48A-FEB2-A317-D8ACFDDE89A5}"/>
              </a:ext>
            </a:extLst>
          </p:cNvPr>
          <p:cNvCxnSpPr/>
          <p:nvPr>
            <p:custDataLst>
              <p:tags r:id="rId5"/>
            </p:custDataLst>
          </p:nvPr>
        </p:nvCxnSpPr>
        <p:spPr bwMode="auto">
          <a:xfrm>
            <a:off x="10975975" y="5141384"/>
            <a:ext cx="1001184"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688E2B99-60C9-FB21-36D5-648BDD37EF4B}"/>
              </a:ext>
            </a:extLst>
          </p:cNvPr>
          <p:cNvCxnSpPr/>
          <p:nvPr>
            <p:custDataLst>
              <p:tags r:id="rId6"/>
            </p:custDataLst>
          </p:nvPr>
        </p:nvCxnSpPr>
        <p:spPr bwMode="auto">
          <a:xfrm>
            <a:off x="12980988" y="5141384"/>
            <a:ext cx="1001184"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 name="Chart 3">
            <a:extLst>
              <a:ext uri="{FF2B5EF4-FFF2-40B4-BE49-F238E27FC236}">
                <a16:creationId xmlns:a16="http://schemas.microsoft.com/office/drawing/2014/main" id="{5945C6D0-1116-647A-3FB0-41F9100AAC70}"/>
              </a:ext>
            </a:extLst>
          </p:cNvPr>
          <p:cNvGraphicFramePr/>
          <p:nvPr>
            <p:custDataLst>
              <p:tags r:id="rId7"/>
            </p:custDataLst>
            <p:extLst>
              <p:ext uri="{D42A27DB-BD31-4B8C-83A1-F6EECF244321}">
                <p14:modId xmlns:p14="http://schemas.microsoft.com/office/powerpoint/2010/main" val="1396821946"/>
              </p:ext>
            </p:extLst>
          </p:nvPr>
        </p:nvGraphicFramePr>
        <p:xfrm>
          <a:off x="1374775" y="2133600"/>
          <a:ext cx="14193838" cy="4451350"/>
        </p:xfrm>
        <a:graphic>
          <a:graphicData uri="http://schemas.openxmlformats.org/drawingml/2006/chart">
            <c:chart xmlns:c="http://schemas.openxmlformats.org/drawingml/2006/chart" xmlns:r="http://schemas.openxmlformats.org/officeDocument/2006/relationships" r:id="rId28"/>
          </a:graphicData>
        </a:graphic>
      </p:graphicFrame>
      <p:sp>
        <p:nvSpPr>
          <p:cNvPr id="53" name="Text Placeholder 2">
            <a:extLst>
              <a:ext uri="{FF2B5EF4-FFF2-40B4-BE49-F238E27FC236}">
                <a16:creationId xmlns:a16="http://schemas.microsoft.com/office/drawing/2014/main" id="{473D85BA-54DE-2C57-9C36-7869AB186495}"/>
              </a:ext>
            </a:extLst>
          </p:cNvPr>
          <p:cNvSpPr txBox="1">
            <a:spLocks/>
          </p:cNvSpPr>
          <p:nvPr>
            <p:custDataLst>
              <p:tags r:id="rId8"/>
            </p:custDataLst>
          </p:nvPr>
        </p:nvSpPr>
        <p:spPr bwMode="auto">
          <a:xfrm>
            <a:off x="1622425" y="6557434"/>
            <a:ext cx="1671638" cy="511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D5EB34F-3B9F-42A7-B7E4-14FE079059C4}" type="datetime'D''esem''bols''os R''''CC ''''''con'''' ''''L''''e''ad IB''K'">
              <a:rPr lang="en-GB" altLang="en-US" sz="1867"/>
              <a:pPr>
                <a:spcBef>
                  <a:spcPct val="0"/>
                </a:spcBef>
                <a:spcAft>
                  <a:spcPct val="0"/>
                </a:spcAft>
              </a:pPr>
              <a:t>Desembolsos RCC con Lead IBK</a:t>
            </a:fld>
            <a:endParaRPr lang="en-GB" sz="1867"/>
          </a:p>
        </p:txBody>
      </p:sp>
      <p:sp>
        <p:nvSpPr>
          <p:cNvPr id="54" name="Text Placeholder 2">
            <a:extLst>
              <a:ext uri="{FF2B5EF4-FFF2-40B4-BE49-F238E27FC236}">
                <a16:creationId xmlns:a16="http://schemas.microsoft.com/office/drawing/2014/main" id="{13D627F5-03BA-571D-4FDF-6DEE54446195}"/>
              </a:ext>
            </a:extLst>
          </p:cNvPr>
          <p:cNvSpPr txBox="1">
            <a:spLocks/>
          </p:cNvSpPr>
          <p:nvPr>
            <p:custDataLst>
              <p:tags r:id="rId9"/>
            </p:custDataLst>
          </p:nvPr>
        </p:nvSpPr>
        <p:spPr bwMode="auto">
          <a:xfrm>
            <a:off x="3627438" y="6557434"/>
            <a:ext cx="1671638" cy="511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C733C42-0F9C-44BF-894F-ABF0DE751BC5}" type="datetime'D''e''''sembolso''s R''CC'' ''si''n Ot''r''''os ''''''IBK'''''">
              <a:rPr lang="en-GB" altLang="en-US" sz="1867"/>
              <a:pPr>
                <a:spcBef>
                  <a:spcPct val="0"/>
                </a:spcBef>
                <a:spcAft>
                  <a:spcPct val="0"/>
                </a:spcAft>
              </a:pPr>
              <a:t>Desembolsos RCC sin Otros IBK</a:t>
            </a:fld>
            <a:endParaRPr lang="en-GB" sz="1867"/>
          </a:p>
        </p:txBody>
      </p:sp>
      <p:sp>
        <p:nvSpPr>
          <p:cNvPr id="55" name="Text Placeholder 2">
            <a:extLst>
              <a:ext uri="{FF2B5EF4-FFF2-40B4-BE49-F238E27FC236}">
                <a16:creationId xmlns:a16="http://schemas.microsoft.com/office/drawing/2014/main" id="{29DB57DF-872F-318F-0EA5-ED24AEB6C70C}"/>
              </a:ext>
            </a:extLst>
          </p:cNvPr>
          <p:cNvSpPr txBox="1">
            <a:spLocks/>
          </p:cNvSpPr>
          <p:nvPr>
            <p:custDataLst>
              <p:tags r:id="rId10"/>
            </p:custDataLst>
          </p:nvPr>
        </p:nvSpPr>
        <p:spPr bwMode="gray">
          <a:xfrm>
            <a:off x="6283325" y="3217334"/>
            <a:ext cx="36671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74EB8B4-DDD4-4A62-8D26-65596F8E0052}" type="datetime'''''''''''''''''''''''''3''''5''''''''''1'''''''''''">
              <a:rPr lang="en-GB" altLang="en-US" sz="1600"/>
              <a:pPr>
                <a:spcBef>
                  <a:spcPct val="0"/>
                </a:spcBef>
                <a:spcAft>
                  <a:spcPct val="0"/>
                </a:spcAft>
              </a:pPr>
              <a:t>351</a:t>
            </a:fld>
            <a:endParaRPr lang="en-GB" sz="1600"/>
          </a:p>
        </p:txBody>
      </p:sp>
      <p:sp>
        <p:nvSpPr>
          <p:cNvPr id="56" name="Text Placeholder 2">
            <a:extLst>
              <a:ext uri="{FF2B5EF4-FFF2-40B4-BE49-F238E27FC236}">
                <a16:creationId xmlns:a16="http://schemas.microsoft.com/office/drawing/2014/main" id="{E7749C70-104C-85C6-9B6C-3C75B5674DC3}"/>
              </a:ext>
            </a:extLst>
          </p:cNvPr>
          <p:cNvSpPr txBox="1">
            <a:spLocks/>
          </p:cNvSpPr>
          <p:nvPr>
            <p:custDataLst>
              <p:tags r:id="rId11"/>
            </p:custDataLst>
          </p:nvPr>
        </p:nvSpPr>
        <p:spPr bwMode="auto">
          <a:xfrm>
            <a:off x="5643563" y="6557434"/>
            <a:ext cx="1644650" cy="511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091BC1C-F2BC-4A49-A285-3CB5604EDC08}" type="datetime'''Desemb''''o''ls''os'''' ''RC''C ''''''''Oferta ''''&lt;''70%'''">
              <a:rPr lang="en-GB" altLang="en-US" sz="1867"/>
              <a:pPr>
                <a:spcBef>
                  <a:spcPct val="0"/>
                </a:spcBef>
                <a:spcAft>
                  <a:spcPct val="0"/>
                </a:spcAft>
              </a:pPr>
              <a:t>Desembolsos RCC Oferta &lt;70%</a:t>
            </a:fld>
            <a:endParaRPr lang="en-GB" sz="1867"/>
          </a:p>
        </p:txBody>
      </p:sp>
      <p:sp>
        <p:nvSpPr>
          <p:cNvPr id="57" name="Text Placeholder 2">
            <a:extLst>
              <a:ext uri="{FF2B5EF4-FFF2-40B4-BE49-F238E27FC236}">
                <a16:creationId xmlns:a16="http://schemas.microsoft.com/office/drawing/2014/main" id="{68003E05-4BB8-7823-4A23-68348545FFEE}"/>
              </a:ext>
            </a:extLst>
          </p:cNvPr>
          <p:cNvSpPr txBox="1">
            <a:spLocks/>
          </p:cNvSpPr>
          <p:nvPr>
            <p:custDataLst>
              <p:tags r:id="rId12"/>
            </p:custDataLst>
          </p:nvPr>
        </p:nvSpPr>
        <p:spPr bwMode="gray">
          <a:xfrm>
            <a:off x="8288338" y="4260850"/>
            <a:ext cx="366713" cy="219075"/>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8575" tIns="0" rIns="2857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3B61800-C5AC-4C86-8880-966A4E2AD280}" type="datetime'''''''''''''''''''''''''''''2''''''''''''''''62'''''''''''">
              <a:rPr lang="en-GB" altLang="en-US" sz="1600"/>
              <a:pPr>
                <a:spcBef>
                  <a:spcPct val="0"/>
                </a:spcBef>
                <a:spcAft>
                  <a:spcPct val="0"/>
                </a:spcAft>
              </a:pPr>
              <a:t>262</a:t>
            </a:fld>
            <a:endParaRPr lang="en-GB" sz="1600"/>
          </a:p>
        </p:txBody>
      </p:sp>
      <p:sp>
        <p:nvSpPr>
          <p:cNvPr id="58" name="Text Placeholder 2">
            <a:extLst>
              <a:ext uri="{FF2B5EF4-FFF2-40B4-BE49-F238E27FC236}">
                <a16:creationId xmlns:a16="http://schemas.microsoft.com/office/drawing/2014/main" id="{E29A2466-45B3-9496-C9F2-F03AE82074EE}"/>
              </a:ext>
            </a:extLst>
          </p:cNvPr>
          <p:cNvSpPr txBox="1">
            <a:spLocks/>
          </p:cNvSpPr>
          <p:nvPr>
            <p:custDataLst>
              <p:tags r:id="rId13"/>
            </p:custDataLst>
          </p:nvPr>
        </p:nvSpPr>
        <p:spPr bwMode="auto">
          <a:xfrm>
            <a:off x="7610475" y="6557434"/>
            <a:ext cx="1722438" cy="511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9E21D5A-13FE-4DD4-85BB-422C4A68A426}" type="datetime'''Des''em''''''b''olsos'''' RC''''C ''Oferta'''''' &gt;''120''%'">
              <a:rPr lang="en-GB" altLang="en-US" sz="1867"/>
              <a:pPr>
                <a:spcBef>
                  <a:spcPct val="0"/>
                </a:spcBef>
                <a:spcAft>
                  <a:spcPct val="0"/>
                </a:spcAft>
              </a:pPr>
              <a:t>Desembolsos RCC Oferta &gt;120%</a:t>
            </a:fld>
            <a:endParaRPr lang="en-GB" sz="1867"/>
          </a:p>
        </p:txBody>
      </p:sp>
      <p:sp>
        <p:nvSpPr>
          <p:cNvPr id="59" name="Text Placeholder 2">
            <a:extLst>
              <a:ext uri="{FF2B5EF4-FFF2-40B4-BE49-F238E27FC236}">
                <a16:creationId xmlns:a16="http://schemas.microsoft.com/office/drawing/2014/main" id="{6F3DED0D-44B7-C57F-0883-674900FDC108}"/>
              </a:ext>
            </a:extLst>
          </p:cNvPr>
          <p:cNvSpPr txBox="1">
            <a:spLocks/>
          </p:cNvSpPr>
          <p:nvPr>
            <p:custDataLst>
              <p:tags r:id="rId14"/>
            </p:custDataLst>
          </p:nvPr>
        </p:nvSpPr>
        <p:spPr bwMode="gray">
          <a:xfrm>
            <a:off x="10342563" y="4868334"/>
            <a:ext cx="263525"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00092AB-FBE3-41EF-B2A1-361C227F010E}" type="datetime'''''''''''''''''''''''''''''''''''''''''9''6'''''''''">
              <a:rPr lang="en-GB" altLang="en-US" sz="1600">
                <a:solidFill>
                  <a:schemeClr val="bg1"/>
                </a:solidFill>
              </a:rPr>
              <a:pPr>
                <a:spcBef>
                  <a:spcPct val="0"/>
                </a:spcBef>
                <a:spcAft>
                  <a:spcPct val="0"/>
                </a:spcAft>
              </a:pPr>
              <a:t>96</a:t>
            </a:fld>
            <a:endParaRPr lang="en-GB" sz="1600">
              <a:solidFill>
                <a:schemeClr val="bg1"/>
              </a:solidFill>
            </a:endParaRPr>
          </a:p>
        </p:txBody>
      </p:sp>
      <p:sp>
        <p:nvSpPr>
          <p:cNvPr id="60" name="Text Placeholder 2">
            <a:extLst>
              <a:ext uri="{FF2B5EF4-FFF2-40B4-BE49-F238E27FC236}">
                <a16:creationId xmlns:a16="http://schemas.microsoft.com/office/drawing/2014/main" id="{FF2D30A2-A9AF-6C4B-6CCA-91EB38F201E4}"/>
              </a:ext>
            </a:extLst>
          </p:cNvPr>
          <p:cNvSpPr txBox="1">
            <a:spLocks/>
          </p:cNvSpPr>
          <p:nvPr>
            <p:custDataLst>
              <p:tags r:id="rId15"/>
            </p:custDataLst>
          </p:nvPr>
        </p:nvSpPr>
        <p:spPr bwMode="auto">
          <a:xfrm>
            <a:off x="9613900" y="6557434"/>
            <a:ext cx="1722438" cy="511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661F13E-867B-4ECE-BB31-29633846AD7A}" type="datetime'De''s''embolso''''s ''R''''CC ''No'' Gest''''i''o''''''nados'">
              <a:rPr lang="en-GB" altLang="en-US" sz="1867"/>
              <a:pPr>
                <a:spcBef>
                  <a:spcPct val="0"/>
                </a:spcBef>
                <a:spcAft>
                  <a:spcPct val="0"/>
                </a:spcAft>
              </a:pPr>
              <a:t>Desembolsos RCC No Gestionados</a:t>
            </a:fld>
            <a:endParaRPr lang="en-GB" sz="1867"/>
          </a:p>
        </p:txBody>
      </p:sp>
      <p:sp>
        <p:nvSpPr>
          <p:cNvPr id="61" name="Text Placeholder 2">
            <a:extLst>
              <a:ext uri="{FF2B5EF4-FFF2-40B4-BE49-F238E27FC236}">
                <a16:creationId xmlns:a16="http://schemas.microsoft.com/office/drawing/2014/main" id="{E609FC54-77C4-1597-1984-D15944FF4724}"/>
              </a:ext>
            </a:extLst>
          </p:cNvPr>
          <p:cNvSpPr txBox="1">
            <a:spLocks/>
          </p:cNvSpPr>
          <p:nvPr>
            <p:custDataLst>
              <p:tags r:id="rId16"/>
            </p:custDataLst>
          </p:nvPr>
        </p:nvSpPr>
        <p:spPr bwMode="auto">
          <a:xfrm>
            <a:off x="11784013" y="6557434"/>
            <a:ext cx="1392238" cy="5111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35CB0F1-E6C3-459D-B521-92ED148FFFB9}" type="datetime'Dese''mbolso''s'''''''''' RCC ''''''R''''''elevan''''te'">
              <a:rPr lang="en-GB" altLang="en-US" sz="1867"/>
              <a:pPr>
                <a:spcBef>
                  <a:spcPct val="0"/>
                </a:spcBef>
                <a:spcAft>
                  <a:spcPct val="0"/>
                </a:spcAft>
              </a:pPr>
              <a:t>Desembolsos RCC Relevante</a:t>
            </a:fld>
            <a:endParaRPr lang="en-GB" sz="1867"/>
          </a:p>
        </p:txBody>
      </p:sp>
      <p:sp>
        <p:nvSpPr>
          <p:cNvPr id="62" name="Text Placeholder 2">
            <a:extLst>
              <a:ext uri="{FF2B5EF4-FFF2-40B4-BE49-F238E27FC236}">
                <a16:creationId xmlns:a16="http://schemas.microsoft.com/office/drawing/2014/main" id="{85981C4B-17C4-923E-2E8E-20E42F1078B3}"/>
              </a:ext>
            </a:extLst>
          </p:cNvPr>
          <p:cNvSpPr txBox="1">
            <a:spLocks/>
          </p:cNvSpPr>
          <p:nvPr>
            <p:custDataLst>
              <p:tags r:id="rId17"/>
            </p:custDataLst>
          </p:nvPr>
        </p:nvSpPr>
        <p:spPr bwMode="gray">
          <a:xfrm>
            <a:off x="14300200" y="5547784"/>
            <a:ext cx="36671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E946CCF-1476-419F-9E46-DCB7F3AEE7D6}" type="datetime'''''''''''3''''''''''''''''''''''''''''04'''''''''">
              <a:rPr lang="en-GB" altLang="en-US" sz="1600"/>
              <a:pPr>
                <a:spcBef>
                  <a:spcPct val="0"/>
                </a:spcBef>
                <a:spcAft>
                  <a:spcPct val="0"/>
                </a:spcAft>
              </a:pPr>
              <a:t>304</a:t>
            </a:fld>
            <a:endParaRPr lang="en-GB" sz="1600"/>
          </a:p>
        </p:txBody>
      </p:sp>
      <p:sp>
        <p:nvSpPr>
          <p:cNvPr id="63" name="Text Placeholder 2">
            <a:extLst>
              <a:ext uri="{FF2B5EF4-FFF2-40B4-BE49-F238E27FC236}">
                <a16:creationId xmlns:a16="http://schemas.microsoft.com/office/drawing/2014/main" id="{C85BDDDE-F5E7-A32A-C456-997BAA2215BE}"/>
              </a:ext>
            </a:extLst>
          </p:cNvPr>
          <p:cNvSpPr txBox="1">
            <a:spLocks/>
          </p:cNvSpPr>
          <p:nvPr>
            <p:custDataLst>
              <p:tags r:id="rId18"/>
            </p:custDataLst>
          </p:nvPr>
        </p:nvSpPr>
        <p:spPr bwMode="gray">
          <a:xfrm>
            <a:off x="14351000" y="6216651"/>
            <a:ext cx="263525" cy="219075"/>
          </a:xfrm>
          <a:prstGeom prst="rect">
            <a:avLst/>
          </a:prstGeom>
          <a:noFill/>
          <a:ln>
            <a:noFill/>
          </a:ln>
          <a:effectLst/>
          <a:extLst>
            <a:ext uri="{909E8E84-426E-40DD-AFC4-6F175D3DCCD1}">
              <a14:hiddenFill xmlns:a14="http://schemas.microsoft.com/office/drawing/2010/main">
                <a:solidFill>
                  <a:schemeClr val="accent2"/>
                </a:solidFill>
              </a14:hiddenFill>
            </a:ext>
          </a:extLst>
        </p:spPr>
        <p:txBody>
          <a:bodyPr vert="horz" wrap="none" lIns="28575" tIns="0" rIns="2857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69EF69D-5EC8-4846-87A6-9255A39DA888}" type="datetime'''''''''''''''''''''''''9''''''''''''''''0'''''''''''">
              <a:rPr lang="en-GB" altLang="en-US" sz="1600">
                <a:solidFill>
                  <a:schemeClr val="bg1"/>
                </a:solidFill>
              </a:rPr>
              <a:pPr>
                <a:spcBef>
                  <a:spcPct val="0"/>
                </a:spcBef>
                <a:spcAft>
                  <a:spcPct val="0"/>
                </a:spcAft>
              </a:pPr>
              <a:t>90</a:t>
            </a:fld>
            <a:endParaRPr lang="en-GB" sz="1600">
              <a:solidFill>
                <a:schemeClr val="bg1"/>
              </a:solidFill>
            </a:endParaRPr>
          </a:p>
        </p:txBody>
      </p:sp>
      <p:sp>
        <p:nvSpPr>
          <p:cNvPr id="64" name="Text Placeholder 2">
            <a:extLst>
              <a:ext uri="{FF2B5EF4-FFF2-40B4-BE49-F238E27FC236}">
                <a16:creationId xmlns:a16="http://schemas.microsoft.com/office/drawing/2014/main" id="{99C98B1E-E0E3-1D56-90BF-C1D6D6EC55C0}"/>
              </a:ext>
            </a:extLst>
          </p:cNvPr>
          <p:cNvSpPr txBox="1">
            <a:spLocks/>
          </p:cNvSpPr>
          <p:nvPr>
            <p:custDataLst>
              <p:tags r:id="rId19"/>
            </p:custDataLst>
          </p:nvPr>
        </p:nvSpPr>
        <p:spPr bwMode="auto">
          <a:xfrm>
            <a:off x="13704888" y="6557434"/>
            <a:ext cx="1555750" cy="256117"/>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EA4E183-DF74-4F7E-9771-0F1ED8FDF5EA}" type="datetime'S''h''''''a''r''''''''''e ''''''Re''''le''va''n''t''''e'">
              <a:rPr lang="en-GB" altLang="en-US" sz="1867"/>
              <a:pPr>
                <a:spcBef>
                  <a:spcPct val="0"/>
                </a:spcBef>
                <a:spcAft>
                  <a:spcPct val="0"/>
                </a:spcAft>
              </a:pPr>
              <a:t>Share Relevante</a:t>
            </a:fld>
            <a:endParaRPr lang="en-GB" sz="1867"/>
          </a:p>
        </p:txBody>
      </p:sp>
      <p:sp>
        <p:nvSpPr>
          <p:cNvPr id="65" name="Text Placeholder 2">
            <a:extLst>
              <a:ext uri="{FF2B5EF4-FFF2-40B4-BE49-F238E27FC236}">
                <a16:creationId xmlns:a16="http://schemas.microsoft.com/office/drawing/2014/main" id="{6FEEFA88-30F5-EA4C-9A71-6370D30FEE4B}"/>
              </a:ext>
            </a:extLst>
          </p:cNvPr>
          <p:cNvSpPr txBox="1">
            <a:spLocks/>
          </p:cNvSpPr>
          <p:nvPr>
            <p:custDataLst>
              <p:tags r:id="rId20"/>
            </p:custDataLst>
          </p:nvPr>
        </p:nvSpPr>
        <p:spPr bwMode="gray">
          <a:xfrm>
            <a:off x="2197100" y="1971675"/>
            <a:ext cx="52070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r>
              <a:rPr lang="en-GB" altLang="en-US" sz="1600"/>
              <a:t>1,254</a:t>
            </a:r>
            <a:endParaRPr lang="en-US" sz="3200"/>
          </a:p>
        </p:txBody>
      </p:sp>
      <p:sp>
        <p:nvSpPr>
          <p:cNvPr id="66" name="Text Placeholder 2">
            <a:extLst>
              <a:ext uri="{FF2B5EF4-FFF2-40B4-BE49-F238E27FC236}">
                <a16:creationId xmlns:a16="http://schemas.microsoft.com/office/drawing/2014/main" id="{AA3A83B9-11E1-1140-EDB1-46795BE44D2D}"/>
              </a:ext>
            </a:extLst>
          </p:cNvPr>
          <p:cNvSpPr txBox="1">
            <a:spLocks/>
          </p:cNvSpPr>
          <p:nvPr>
            <p:custDataLst>
              <p:tags r:id="rId21"/>
            </p:custDataLst>
          </p:nvPr>
        </p:nvSpPr>
        <p:spPr bwMode="gray">
          <a:xfrm>
            <a:off x="4202113" y="2486025"/>
            <a:ext cx="520700"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53FF6B2-04D9-46F1-8F9B-F6504032872E}" type="datetime'''1'''''''''''''''''''''''''',''''''''''''''''''''1''''0''3'">
              <a:rPr lang="en-GB" altLang="en-US" sz="1600"/>
              <a:pPr>
                <a:spcBef>
                  <a:spcPct val="0"/>
                </a:spcBef>
                <a:spcAft>
                  <a:spcPct val="0"/>
                </a:spcAft>
              </a:pPr>
              <a:t>1,103</a:t>
            </a:fld>
            <a:endParaRPr lang="en-GB" sz="1600"/>
          </a:p>
        </p:txBody>
      </p:sp>
      <p:sp>
        <p:nvSpPr>
          <p:cNvPr id="67" name="Text Placeholder 2">
            <a:extLst>
              <a:ext uri="{FF2B5EF4-FFF2-40B4-BE49-F238E27FC236}">
                <a16:creationId xmlns:a16="http://schemas.microsoft.com/office/drawing/2014/main" id="{8CB2E803-E8B0-351D-4584-25188A97D087}"/>
              </a:ext>
            </a:extLst>
          </p:cNvPr>
          <p:cNvSpPr txBox="1">
            <a:spLocks/>
          </p:cNvSpPr>
          <p:nvPr>
            <p:custDataLst>
              <p:tags r:id="rId22"/>
            </p:custDataLst>
          </p:nvPr>
        </p:nvSpPr>
        <p:spPr bwMode="gray">
          <a:xfrm>
            <a:off x="12296775" y="4897438"/>
            <a:ext cx="36671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4FAE625-43D6-4F55-807B-CB0DB6EBE40F}" type="datetime'''''''''''''''''3''''''''''''''''''''''''9''3'''''''''''''">
              <a:rPr lang="en-GB" altLang="en-US" sz="1600"/>
              <a:pPr>
                <a:spcBef>
                  <a:spcPct val="0"/>
                </a:spcBef>
                <a:spcAft>
                  <a:spcPct val="0"/>
                </a:spcAft>
              </a:pPr>
              <a:t>393</a:t>
            </a:fld>
            <a:endParaRPr lang="en-GB" sz="1600"/>
          </a:p>
        </p:txBody>
      </p:sp>
      <p:sp>
        <p:nvSpPr>
          <p:cNvPr id="68" name="Text Placeholder 2">
            <a:extLst>
              <a:ext uri="{FF2B5EF4-FFF2-40B4-BE49-F238E27FC236}">
                <a16:creationId xmlns:a16="http://schemas.microsoft.com/office/drawing/2014/main" id="{30B2DD98-3C71-CBD2-8140-E0EFB9F40F81}"/>
              </a:ext>
            </a:extLst>
          </p:cNvPr>
          <p:cNvSpPr txBox="1">
            <a:spLocks/>
          </p:cNvSpPr>
          <p:nvPr>
            <p:custDataLst>
              <p:tags r:id="rId23"/>
            </p:custDataLst>
          </p:nvPr>
        </p:nvSpPr>
        <p:spPr bwMode="gray">
          <a:xfrm>
            <a:off x="14300200" y="4897438"/>
            <a:ext cx="366713"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8575" tIns="0" rIns="2857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0F6C0E0-EBB7-4BC7-A240-CC78E7A50568}" type="datetime'3''''''''''''''''''''9''3'''''''''''''''''''''''''''''''''">
              <a:rPr lang="en-GB" altLang="en-US" sz="1600"/>
              <a:pPr>
                <a:spcBef>
                  <a:spcPct val="0"/>
                </a:spcBef>
                <a:spcAft>
                  <a:spcPct val="0"/>
                </a:spcAft>
              </a:pPr>
              <a:t>393</a:t>
            </a:fld>
            <a:endParaRPr lang="en-GB" sz="1600"/>
          </a:p>
        </p:txBody>
      </p:sp>
      <p:grpSp>
        <p:nvGrpSpPr>
          <p:cNvPr id="98" name="Group 97">
            <a:extLst>
              <a:ext uri="{FF2B5EF4-FFF2-40B4-BE49-F238E27FC236}">
                <a16:creationId xmlns:a16="http://schemas.microsoft.com/office/drawing/2014/main" id="{456A129C-9D3B-A130-BB1D-BBB07286365F}"/>
              </a:ext>
            </a:extLst>
          </p:cNvPr>
          <p:cNvGrpSpPr/>
          <p:nvPr/>
        </p:nvGrpSpPr>
        <p:grpSpPr>
          <a:xfrm>
            <a:off x="9327684" y="7443161"/>
            <a:ext cx="2016000" cy="696000"/>
            <a:chOff x="5006340" y="5257800"/>
            <a:chExt cx="2148840" cy="777240"/>
          </a:xfrm>
        </p:grpSpPr>
        <p:sp>
          <p:nvSpPr>
            <p:cNvPr id="95" name="Shape 43">
              <a:extLst>
                <a:ext uri="{FF2B5EF4-FFF2-40B4-BE49-F238E27FC236}">
                  <a16:creationId xmlns:a16="http://schemas.microsoft.com/office/drawing/2014/main" id="{D4C1FEC5-D652-8F9B-37DC-23AF3D9DC5D7}"/>
                </a:ext>
              </a:extLst>
            </p:cNvPr>
            <p:cNvSpPr/>
            <p:nvPr/>
          </p:nvSpPr>
          <p:spPr>
            <a:xfrm>
              <a:off x="5006340" y="5257800"/>
              <a:ext cx="2148840" cy="777240"/>
            </a:xfrm>
            <a:prstGeom prst="ellipse">
              <a:avLst/>
            </a:prstGeom>
            <a:solidFill>
              <a:srgbClr val="F1EFE8"/>
            </a:solidFill>
            <a:ln w="15875">
              <a:solidFill>
                <a:srgbClr val="2C2C2A"/>
              </a:solidFill>
              <a:prstDash val="solid"/>
            </a:ln>
          </p:spPr>
          <p:txBody>
            <a:bodyPr/>
            <a:lstStyle/>
            <a:p>
              <a:endParaRPr lang="en-PE" sz="2400"/>
            </a:p>
          </p:txBody>
        </p:sp>
        <p:sp>
          <p:nvSpPr>
            <p:cNvPr id="96" name="Text 44">
              <a:extLst>
                <a:ext uri="{FF2B5EF4-FFF2-40B4-BE49-F238E27FC236}">
                  <a16:creationId xmlns:a16="http://schemas.microsoft.com/office/drawing/2014/main" id="{3C07CCA3-B88A-AB41-B91B-74100D61366E}"/>
                </a:ext>
              </a:extLst>
            </p:cNvPr>
            <p:cNvSpPr txBox="1"/>
            <p:nvPr/>
          </p:nvSpPr>
          <p:spPr>
            <a:xfrm>
              <a:off x="5006340" y="5349240"/>
              <a:ext cx="2148840" cy="320040"/>
            </a:xfrm>
            <a:prstGeom prst="rect">
              <a:avLst/>
            </a:prstGeom>
            <a:noFill/>
            <a:ln/>
          </p:spPr>
          <p:txBody>
            <a:bodyPr wrap="square" lIns="0" tIns="0" rIns="0" bIns="0" rtlCol="0" anchor="ctr"/>
            <a:lstStyle/>
            <a:p>
              <a:pPr algn="ctr"/>
              <a:r>
                <a:rPr lang="en-US" sz="2400" b="1">
                  <a:solidFill>
                    <a:srgbClr val="2C2C2A"/>
                  </a:solidFill>
                  <a:latin typeface="Calibri" pitchFamily="34" charset="0"/>
                  <a:ea typeface="Calibri" pitchFamily="34" charset="-122"/>
                  <a:cs typeface="Calibri" pitchFamily="34" charset="-120"/>
                </a:rPr>
                <a:t>62%</a:t>
              </a:r>
              <a:endParaRPr lang="en-US" sz="2400"/>
            </a:p>
          </p:txBody>
        </p:sp>
        <p:sp>
          <p:nvSpPr>
            <p:cNvPr id="97" name="Text 45">
              <a:extLst>
                <a:ext uri="{FF2B5EF4-FFF2-40B4-BE49-F238E27FC236}">
                  <a16:creationId xmlns:a16="http://schemas.microsoft.com/office/drawing/2014/main" id="{222A18D5-A710-B74B-4668-623772854C2D}"/>
                </a:ext>
              </a:extLst>
            </p:cNvPr>
            <p:cNvSpPr txBox="1"/>
            <p:nvPr/>
          </p:nvSpPr>
          <p:spPr>
            <a:xfrm>
              <a:off x="5143500" y="5669280"/>
              <a:ext cx="1874520" cy="320040"/>
            </a:xfrm>
            <a:prstGeom prst="rect">
              <a:avLst/>
            </a:prstGeom>
            <a:noFill/>
            <a:ln/>
          </p:spPr>
          <p:txBody>
            <a:bodyPr wrap="square" lIns="0" tIns="0" rIns="0" bIns="0" rtlCol="0" anchor="ctr"/>
            <a:lstStyle/>
            <a:p>
              <a:pPr algn="ctr"/>
              <a:r>
                <a:rPr lang="en-US" sz="800">
                  <a:solidFill>
                    <a:srgbClr val="2C2C2A"/>
                  </a:solidFill>
                  <a:latin typeface="Calibri" pitchFamily="34" charset="0"/>
                  <a:ea typeface="Calibri" pitchFamily="34" charset="-122"/>
                  <a:cs typeface="Calibri" pitchFamily="34" charset="-120"/>
                </a:rPr>
                <a:t>Share ajustado por producto y ticket </a:t>
              </a:r>
            </a:p>
            <a:p>
              <a:pPr algn="ctr"/>
              <a:r>
                <a:rPr lang="en-US" sz="800">
                  <a:solidFill>
                    <a:srgbClr val="2C2C2A"/>
                  </a:solidFill>
                  <a:latin typeface="Calibri" pitchFamily="34" charset="0"/>
                  <a:ea typeface="Calibri" pitchFamily="34" charset="-122"/>
                  <a:cs typeface="Calibri" pitchFamily="34" charset="-120"/>
                </a:rPr>
                <a:t> (304 / 489)</a:t>
              </a:r>
              <a:endParaRPr lang="en-US" sz="800"/>
            </a:p>
          </p:txBody>
        </p:sp>
      </p:grpSp>
      <p:sp>
        <p:nvSpPr>
          <p:cNvPr id="102" name="Text 1">
            <a:extLst>
              <a:ext uri="{FF2B5EF4-FFF2-40B4-BE49-F238E27FC236}">
                <a16:creationId xmlns:a16="http://schemas.microsoft.com/office/drawing/2014/main" id="{AE4CA9B9-24F8-4530-D2A1-0EAB8E929C18}"/>
              </a:ext>
            </a:extLst>
          </p:cNvPr>
          <p:cNvSpPr txBox="1"/>
          <p:nvPr/>
        </p:nvSpPr>
        <p:spPr>
          <a:xfrm>
            <a:off x="658368" y="584637"/>
            <a:ext cx="13289280" cy="950976"/>
          </a:xfrm>
          <a:prstGeom prst="rect">
            <a:avLst/>
          </a:prstGeom>
          <a:noFill/>
          <a:ln/>
        </p:spPr>
        <p:txBody>
          <a:bodyPr wrap="square" lIns="0" tIns="0" rIns="0" bIns="0" rtlCol="0" anchor="t"/>
          <a:lstStyle/>
          <a:p>
            <a:r>
              <a:rPr lang="en-US" sz="2400" b="1">
                <a:solidFill>
                  <a:srgbClr val="13807B"/>
                </a:solidFill>
                <a:latin typeface="Poppins" pitchFamily="34" charset="0"/>
                <a:cs typeface="Poppins" pitchFamily="34" charset="-120"/>
              </a:rPr>
              <a:t>El share of sales de </a:t>
            </a:r>
            <a:r>
              <a:rPr lang="en-US" sz="2400" b="1" err="1">
                <a:solidFill>
                  <a:srgbClr val="13807B"/>
                </a:solidFill>
                <a:latin typeface="Poppins" pitchFamily="34" charset="0"/>
                <a:cs typeface="Poppins" pitchFamily="34" charset="-120"/>
              </a:rPr>
              <a:t>oferta</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relevante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separa</a:t>
            </a:r>
            <a:r>
              <a:rPr lang="en-US" sz="2400" b="1">
                <a:solidFill>
                  <a:srgbClr val="13807B"/>
                </a:solidFill>
                <a:latin typeface="Poppins" pitchFamily="34" charset="0"/>
                <a:cs typeface="Poppins" pitchFamily="34" charset="-120"/>
              </a:rPr>
              <a:t> lo </a:t>
            </a:r>
            <a:r>
              <a:rPr lang="en-US" sz="2400" b="1" err="1">
                <a:solidFill>
                  <a:srgbClr val="13807B"/>
                </a:solidFill>
                <a:latin typeface="Poppins" pitchFamily="34" charset="0"/>
                <a:cs typeface="Poppins" pitchFamily="34" charset="-120"/>
              </a:rPr>
              <a:t>que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ganamos</a:t>
            </a:r>
            <a:r>
              <a:rPr lang="en-US" sz="2400" b="1">
                <a:solidFill>
                  <a:srgbClr val="13807B"/>
                </a:solidFill>
                <a:latin typeface="Poppins" pitchFamily="34" charset="0"/>
                <a:cs typeface="Poppins" pitchFamily="34" charset="-120"/>
              </a:rPr>
              <a:t>, lo </a:t>
            </a:r>
            <a:r>
              <a:rPr lang="en-US" sz="2400" b="1" err="1">
                <a:solidFill>
                  <a:srgbClr val="13807B"/>
                </a:solidFill>
                <a:latin typeface="Poppins" pitchFamily="34" charset="0"/>
                <a:cs typeface="Poppins" pitchFamily="34" charset="-120"/>
              </a:rPr>
              <a:t>que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perdimos</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por</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precio</a:t>
            </a:r>
            <a:r>
              <a:rPr lang="en-US" sz="2400" b="1">
                <a:solidFill>
                  <a:srgbClr val="13807B"/>
                </a:solidFill>
                <a:latin typeface="Poppins" pitchFamily="34" charset="0"/>
                <a:cs typeface="Poppins" pitchFamily="34" charset="-120"/>
              </a:rPr>
              <a:t> y lo </a:t>
            </a:r>
            <a:r>
              <a:rPr lang="en-US" sz="2400" b="1" err="1">
                <a:solidFill>
                  <a:srgbClr val="13807B"/>
                </a:solidFill>
                <a:latin typeface="Poppins" pitchFamily="34" charset="0"/>
                <a:cs typeface="Poppins" pitchFamily="34" charset="-120"/>
              </a:rPr>
              <a:t>que</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ni</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siquiera</a:t>
            </a:r>
            <a:r>
              <a:rPr lang="en-US" sz="2400" b="1">
                <a:solidFill>
                  <a:srgbClr val="13807B"/>
                </a:solidFill>
                <a:latin typeface="Poppins" pitchFamily="34" charset="0"/>
                <a:cs typeface="Poppins" pitchFamily="34" charset="-120"/>
              </a:rPr>
              <a:t> </a:t>
            </a:r>
            <a:r>
              <a:rPr lang="en-US" sz="2400" b="1" err="1">
                <a:solidFill>
                  <a:srgbClr val="13807B"/>
                </a:solidFill>
                <a:latin typeface="Poppins" pitchFamily="34" charset="0"/>
                <a:cs typeface="Poppins" pitchFamily="34" charset="-120"/>
              </a:rPr>
              <a:t>gestionamos</a:t>
            </a:r>
            <a:endParaRPr lang="en-US" sz="2400" b="1">
              <a:solidFill>
                <a:srgbClr val="13807B"/>
              </a:solidFill>
              <a:latin typeface="Poppins" pitchFamily="34" charset="0"/>
              <a:cs typeface="Poppins" pitchFamily="34" charset="-120"/>
            </a:endParaRPr>
          </a:p>
          <a:p>
            <a:endParaRPr lang="en-US" sz="2400" b="1">
              <a:solidFill>
                <a:srgbClr val="13807B"/>
              </a:solidFill>
              <a:latin typeface="Poppins" pitchFamily="34" charset="0"/>
              <a:cs typeface="Poppins" pitchFamily="34" charset="-120"/>
            </a:endParaRPr>
          </a:p>
        </p:txBody>
      </p:sp>
      <p:pic>
        <p:nvPicPr>
          <p:cNvPr id="103" name="Picture 102">
            <a:extLst>
              <a:ext uri="{FF2B5EF4-FFF2-40B4-BE49-F238E27FC236}">
                <a16:creationId xmlns:a16="http://schemas.microsoft.com/office/drawing/2014/main" id="{5AA1D5B4-D7CB-5B77-7F12-B15909B527C7}"/>
              </a:ext>
            </a:extLst>
          </p:cNvPr>
          <p:cNvPicPr>
            <a:picLocks noChangeAspect="1"/>
          </p:cNvPicPr>
          <p:nvPr/>
        </p:nvPicPr>
        <p:blipFill>
          <a:blip r:embed="rId29"/>
          <a:stretch>
            <a:fillRect/>
          </a:stretch>
        </p:blipFill>
        <p:spPr>
          <a:xfrm>
            <a:off x="14278165" y="109554"/>
            <a:ext cx="1719367" cy="969183"/>
          </a:xfrm>
          <a:prstGeom prst="rect">
            <a:avLst/>
          </a:prstGeom>
        </p:spPr>
      </p:pic>
      <p:sp>
        <p:nvSpPr>
          <p:cNvPr id="104" name="5-Point Star 103">
            <a:extLst>
              <a:ext uri="{FF2B5EF4-FFF2-40B4-BE49-F238E27FC236}">
                <a16:creationId xmlns:a16="http://schemas.microsoft.com/office/drawing/2014/main" id="{81AFEB1C-D96F-CCAC-A921-7DBBC14E7C02}"/>
              </a:ext>
            </a:extLst>
          </p:cNvPr>
          <p:cNvSpPr/>
          <p:nvPr/>
        </p:nvSpPr>
        <p:spPr>
          <a:xfrm>
            <a:off x="15076486" y="7078999"/>
            <a:ext cx="436191" cy="373495"/>
          </a:xfrm>
          <a:prstGeom prst="star5">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r>
              <a:rPr lang="en-US" sz="1000" b="1">
                <a:solidFill>
                  <a:srgbClr val="13807B"/>
                </a:solidFill>
                <a:latin typeface="Arial" pitchFamily="34" charset="0"/>
                <a:ea typeface="Arial" pitchFamily="34" charset="-122"/>
                <a:cs typeface="Arial" pitchFamily="34" charset="-120"/>
              </a:rPr>
              <a:t>SEGMENTACIÓN ESTRATÉGICA · SHARE OF SALES · MARCO METODOLÓGICO</a:t>
            </a:r>
            <a:endParaRPr lang="en-US" sz="1000"/>
          </a:p>
        </p:txBody>
      </p:sp>
      <p:sp>
        <p:nvSpPr>
          <p:cNvPr id="3" name="Text 1"/>
          <p:cNvSpPr txBox="1"/>
          <p:nvPr/>
        </p:nvSpPr>
        <p:spPr>
          <a:xfrm>
            <a:off x="658368" y="530352"/>
            <a:ext cx="13990320" cy="685800"/>
          </a:xfrm>
          <a:prstGeom prst="rect">
            <a:avLst/>
          </a:prstGeom>
          <a:noFill/>
          <a:ln/>
        </p:spPr>
        <p:txBody>
          <a:bodyPr wrap="square" lIns="0" tIns="0" rIns="0" bIns="0" rtlCol="0" anchor="ctr"/>
          <a:lstStyle/>
          <a:p>
            <a:r>
              <a:rPr lang="en-US" sz="2100" b="1">
                <a:solidFill>
                  <a:srgbClr val="13807B"/>
                </a:solidFill>
                <a:latin typeface="Arial" pitchFamily="34" charset="0"/>
                <a:ea typeface="Arial" pitchFamily="34" charset="-122"/>
                <a:cs typeface="Arial" pitchFamily="34" charset="-120"/>
              </a:rPr>
              <a:t>Cuatro capas para medir el share de forma justa: cada capa retira competencia que IBK no podía ganar</a:t>
            </a:r>
            <a:endParaRPr lang="en-US" sz="2100"/>
          </a:p>
        </p:txBody>
      </p:sp>
      <p:pic>
        <p:nvPicPr>
          <p:cNvPr id="4" name="Image 0" descr="/home/claude/logo_dark.png"/>
          <p:cNvPicPr>
            <a:picLocks noChangeAspect="1"/>
          </p:cNvPicPr>
          <p:nvPr/>
        </p:nvPicPr>
        <p:blipFill>
          <a:blip r:embed="rId3"/>
          <a:stretch>
            <a:fillRect/>
          </a:stretch>
        </p:blipFill>
        <p:spPr>
          <a:xfrm>
            <a:off x="14773047" y="274320"/>
            <a:ext cx="822960" cy="390267"/>
          </a:xfrm>
          <a:prstGeom prst="rect">
            <a:avLst/>
          </a:prstGeom>
        </p:spPr>
      </p:pic>
      <p:sp>
        <p:nvSpPr>
          <p:cNvPr id="5" name="Shape 2"/>
          <p:cNvSpPr/>
          <p:nvPr/>
        </p:nvSpPr>
        <p:spPr>
          <a:xfrm>
            <a:off x="658369" y="1627632"/>
            <a:ext cx="3487751" cy="4892040"/>
          </a:xfrm>
          <a:prstGeom prst="rect">
            <a:avLst/>
          </a:prstGeom>
          <a:solidFill>
            <a:srgbClr val="FFFFFF"/>
          </a:solidFill>
          <a:ln w="9525">
            <a:solidFill>
              <a:srgbClr val="D5DFDE"/>
            </a:solidFill>
            <a:prstDash val="solid"/>
          </a:ln>
        </p:spPr>
        <p:txBody>
          <a:bodyPr/>
          <a:lstStyle/>
          <a:p>
            <a:endParaRPr lang="en-PE"/>
          </a:p>
        </p:txBody>
      </p:sp>
      <p:sp>
        <p:nvSpPr>
          <p:cNvPr id="6" name="Shape 3"/>
          <p:cNvSpPr/>
          <p:nvPr/>
        </p:nvSpPr>
        <p:spPr>
          <a:xfrm>
            <a:off x="658369" y="1627632"/>
            <a:ext cx="3487751" cy="402336"/>
          </a:xfrm>
          <a:prstGeom prst="rect">
            <a:avLst/>
          </a:prstGeom>
          <a:solidFill>
            <a:srgbClr val="445A6E"/>
          </a:solidFill>
          <a:ln/>
        </p:spPr>
        <p:txBody>
          <a:bodyPr/>
          <a:lstStyle/>
          <a:p>
            <a:endParaRPr lang="en-PE"/>
          </a:p>
        </p:txBody>
      </p:sp>
      <p:sp>
        <p:nvSpPr>
          <p:cNvPr id="7" name="Text 4"/>
          <p:cNvSpPr txBox="1"/>
          <p:nvPr/>
        </p:nvSpPr>
        <p:spPr>
          <a:xfrm>
            <a:off x="822961" y="1627632"/>
            <a:ext cx="3158567" cy="402336"/>
          </a:xfrm>
          <a:prstGeom prst="rect">
            <a:avLst/>
          </a:prstGeom>
          <a:noFill/>
          <a:ln/>
        </p:spPr>
        <p:txBody>
          <a:bodyPr wrap="square" lIns="0" tIns="0" rIns="0" bIns="0" rtlCol="0" anchor="ctr"/>
          <a:lstStyle/>
          <a:p>
            <a:pPr algn="ctr"/>
            <a:r>
              <a:rPr lang="en-US" sz="1200" b="1">
                <a:solidFill>
                  <a:srgbClr val="FFFFFF"/>
                </a:solidFill>
                <a:latin typeface="Arial" pitchFamily="34" charset="0"/>
                <a:ea typeface="Arial" pitchFamily="34" charset="-122"/>
                <a:cs typeface="Arial" pitchFamily="34" charset="-120"/>
              </a:rPr>
              <a:t>Share </a:t>
            </a:r>
            <a:r>
              <a:rPr lang="en-US" sz="1200" b="1" err="1">
                <a:solidFill>
                  <a:srgbClr val="FFFFFF"/>
                </a:solidFill>
                <a:latin typeface="Arial" pitchFamily="34" charset="0"/>
                <a:ea typeface="Arial" pitchFamily="34" charset="-122"/>
                <a:cs typeface="Arial" pitchFamily="34" charset="-120"/>
              </a:rPr>
              <a:t>PdM</a:t>
            </a:r>
            <a:r>
              <a:rPr lang="en-US" sz="1200" b="1">
                <a:solidFill>
                  <a:srgbClr val="FFFFFF"/>
                </a:solidFill>
                <a:latin typeface="Arial" pitchFamily="34" charset="0"/>
                <a:ea typeface="Arial" pitchFamily="34" charset="-122"/>
                <a:cs typeface="Arial" pitchFamily="34" charset="-120"/>
              </a:rPr>
              <a:t> Total</a:t>
            </a:r>
            <a:endParaRPr lang="en-US" sz="1200"/>
          </a:p>
        </p:txBody>
      </p:sp>
      <p:sp>
        <p:nvSpPr>
          <p:cNvPr id="9" name="Text 6"/>
          <p:cNvSpPr txBox="1"/>
          <p:nvPr/>
        </p:nvSpPr>
        <p:spPr>
          <a:xfrm>
            <a:off x="822961" y="2743200"/>
            <a:ext cx="3158567" cy="1417320"/>
          </a:xfrm>
          <a:prstGeom prst="rect">
            <a:avLst/>
          </a:prstGeom>
          <a:noFill/>
          <a:ln/>
        </p:spPr>
        <p:txBody>
          <a:bodyPr wrap="square" lIns="0" tIns="0" rIns="0" bIns="0" rtlCol="0" anchor="t"/>
          <a:lstStyle/>
          <a:p>
            <a:pPr>
              <a:lnSpc>
                <a:spcPct val="135000"/>
              </a:lnSpc>
            </a:pPr>
            <a:r>
              <a:rPr lang="en-US" sz="1100">
                <a:solidFill>
                  <a:srgbClr val="0B2E2C"/>
                </a:solidFill>
                <a:latin typeface="Arial" pitchFamily="34" charset="0"/>
                <a:ea typeface="Arial" pitchFamily="34" charset="-122"/>
                <a:cs typeface="Arial" pitchFamily="34" charset="-120"/>
              </a:rPr>
              <a:t>Todos los </a:t>
            </a:r>
            <a:r>
              <a:rPr lang="en-US" sz="1100" err="1">
                <a:solidFill>
                  <a:srgbClr val="0B2E2C"/>
                </a:solidFill>
                <a:latin typeface="Arial" pitchFamily="34" charset="0"/>
                <a:ea typeface="Arial" pitchFamily="34" charset="-122"/>
                <a:cs typeface="Arial" pitchFamily="34" charset="-120"/>
              </a:rPr>
              <a:t>desembolsos</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en</a:t>
            </a:r>
            <a:r>
              <a:rPr lang="en-US" sz="1100">
                <a:solidFill>
                  <a:srgbClr val="0B2E2C"/>
                </a:solidFill>
                <a:latin typeface="Arial" pitchFamily="34" charset="0"/>
                <a:ea typeface="Arial" pitchFamily="34" charset="-122"/>
                <a:cs typeface="Arial" pitchFamily="34" charset="-120"/>
              </a:rPr>
              <a:t> la RCC: IBK, competencia interna (otro producto de CT) y externa (otros bancos).</a:t>
            </a:r>
            <a:endParaRPr lang="en-US" sz="1100"/>
          </a:p>
        </p:txBody>
      </p:sp>
      <p:sp>
        <p:nvSpPr>
          <p:cNvPr id="10" name="Text 7"/>
          <p:cNvSpPr txBox="1"/>
          <p:nvPr/>
        </p:nvSpPr>
        <p:spPr>
          <a:xfrm>
            <a:off x="822961" y="4416552"/>
            <a:ext cx="3158567" cy="219456"/>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Competencia que sigue contando en el share</a:t>
            </a:r>
            <a:endParaRPr lang="en-US" sz="851"/>
          </a:p>
        </p:txBody>
      </p:sp>
      <p:sp>
        <p:nvSpPr>
          <p:cNvPr id="11" name="Shape 8"/>
          <p:cNvSpPr/>
          <p:nvPr/>
        </p:nvSpPr>
        <p:spPr>
          <a:xfrm>
            <a:off x="822961" y="4690872"/>
            <a:ext cx="721063" cy="347472"/>
          </a:xfrm>
          <a:prstGeom prst="rect">
            <a:avLst/>
          </a:prstGeom>
          <a:solidFill>
            <a:srgbClr val="8FCBC6"/>
          </a:solidFill>
          <a:ln/>
        </p:spPr>
        <p:txBody>
          <a:bodyPr/>
          <a:lstStyle/>
          <a:p>
            <a:endParaRPr lang="en-PE"/>
          </a:p>
        </p:txBody>
      </p:sp>
      <p:sp>
        <p:nvSpPr>
          <p:cNvPr id="12" name="Text 9"/>
          <p:cNvSpPr txBox="1"/>
          <p:nvPr/>
        </p:nvSpPr>
        <p:spPr>
          <a:xfrm>
            <a:off x="731521"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Interna</a:t>
            </a:r>
            <a:endParaRPr lang="en-US" sz="751"/>
          </a:p>
        </p:txBody>
      </p:sp>
      <p:sp>
        <p:nvSpPr>
          <p:cNvPr id="13" name="Shape 10"/>
          <p:cNvSpPr/>
          <p:nvPr/>
        </p:nvSpPr>
        <p:spPr>
          <a:xfrm>
            <a:off x="1635462" y="4690872"/>
            <a:ext cx="721063" cy="347472"/>
          </a:xfrm>
          <a:prstGeom prst="rect">
            <a:avLst/>
          </a:prstGeom>
          <a:solidFill>
            <a:srgbClr val="8FCBC6"/>
          </a:solidFill>
          <a:ln/>
        </p:spPr>
        <p:txBody>
          <a:bodyPr/>
          <a:lstStyle/>
          <a:p>
            <a:endParaRPr lang="en-PE"/>
          </a:p>
        </p:txBody>
      </p:sp>
      <p:sp>
        <p:nvSpPr>
          <p:cNvPr id="14" name="Text 11"/>
          <p:cNvSpPr txBox="1"/>
          <p:nvPr/>
        </p:nvSpPr>
        <p:spPr>
          <a:xfrm>
            <a:off x="1544022"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No comp.</a:t>
            </a:r>
            <a:endParaRPr lang="en-US" sz="751"/>
          </a:p>
        </p:txBody>
      </p:sp>
      <p:sp>
        <p:nvSpPr>
          <p:cNvPr id="15" name="Shape 12"/>
          <p:cNvSpPr/>
          <p:nvPr/>
        </p:nvSpPr>
        <p:spPr>
          <a:xfrm>
            <a:off x="2447963" y="4690872"/>
            <a:ext cx="721063" cy="347472"/>
          </a:xfrm>
          <a:prstGeom prst="rect">
            <a:avLst/>
          </a:prstGeom>
          <a:solidFill>
            <a:srgbClr val="8FCBC6"/>
          </a:solidFill>
          <a:ln/>
        </p:spPr>
        <p:txBody>
          <a:bodyPr/>
          <a:lstStyle/>
          <a:p>
            <a:endParaRPr lang="en-PE"/>
          </a:p>
        </p:txBody>
      </p:sp>
      <p:sp>
        <p:nvSpPr>
          <p:cNvPr id="16" name="Text 13"/>
          <p:cNvSpPr txBox="1"/>
          <p:nvPr/>
        </p:nvSpPr>
        <p:spPr>
          <a:xfrm>
            <a:off x="2356523"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No gest.</a:t>
            </a:r>
            <a:endParaRPr lang="en-US" sz="751"/>
          </a:p>
        </p:txBody>
      </p:sp>
      <p:sp>
        <p:nvSpPr>
          <p:cNvPr id="17" name="Shape 14"/>
          <p:cNvSpPr/>
          <p:nvPr/>
        </p:nvSpPr>
        <p:spPr>
          <a:xfrm>
            <a:off x="3260466" y="4690872"/>
            <a:ext cx="721063" cy="347472"/>
          </a:xfrm>
          <a:prstGeom prst="rect">
            <a:avLst/>
          </a:prstGeom>
          <a:solidFill>
            <a:srgbClr val="0C514E"/>
          </a:solidFill>
          <a:ln/>
        </p:spPr>
        <p:txBody>
          <a:bodyPr/>
          <a:lstStyle/>
          <a:p>
            <a:endParaRPr lang="en-PE"/>
          </a:p>
        </p:txBody>
      </p:sp>
      <p:sp>
        <p:nvSpPr>
          <p:cNvPr id="18" name="Text 15"/>
          <p:cNvSpPr txBox="1"/>
          <p:nvPr/>
        </p:nvSpPr>
        <p:spPr>
          <a:xfrm>
            <a:off x="3169026"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Comparable</a:t>
            </a:r>
            <a:endParaRPr lang="en-US" sz="751"/>
          </a:p>
        </p:txBody>
      </p:sp>
      <p:sp>
        <p:nvSpPr>
          <p:cNvPr id="19" name="Shape 16"/>
          <p:cNvSpPr/>
          <p:nvPr/>
        </p:nvSpPr>
        <p:spPr>
          <a:xfrm>
            <a:off x="822961" y="5632704"/>
            <a:ext cx="3158567" cy="0"/>
          </a:xfrm>
          <a:prstGeom prst="line">
            <a:avLst/>
          </a:prstGeom>
          <a:noFill/>
          <a:ln w="9525">
            <a:solidFill>
              <a:srgbClr val="D5DFDE"/>
            </a:solidFill>
            <a:prstDash val="solid"/>
          </a:ln>
        </p:spPr>
        <p:txBody>
          <a:bodyPr/>
          <a:lstStyle/>
          <a:p>
            <a:endParaRPr lang="en-PE"/>
          </a:p>
        </p:txBody>
      </p:sp>
      <p:sp>
        <p:nvSpPr>
          <p:cNvPr id="20" name="Text 17"/>
          <p:cNvSpPr txBox="1"/>
          <p:nvPr/>
        </p:nvSpPr>
        <p:spPr>
          <a:xfrm>
            <a:off x="822961" y="5742432"/>
            <a:ext cx="3158567" cy="201168"/>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PUNTO DE PARTIDA</a:t>
            </a:r>
            <a:endParaRPr lang="en-US" sz="851"/>
          </a:p>
        </p:txBody>
      </p:sp>
      <p:sp>
        <p:nvSpPr>
          <p:cNvPr id="21" name="Text 18"/>
          <p:cNvSpPr txBox="1"/>
          <p:nvPr/>
        </p:nvSpPr>
        <p:spPr>
          <a:xfrm>
            <a:off x="822961" y="5961888"/>
            <a:ext cx="3158567" cy="347472"/>
          </a:xfrm>
          <a:prstGeom prst="rect">
            <a:avLst/>
          </a:prstGeom>
          <a:noFill/>
          <a:ln/>
        </p:spPr>
        <p:txBody>
          <a:bodyPr wrap="square" lIns="0" tIns="0" rIns="0" bIns="0" rtlCol="0" anchor="ctr"/>
          <a:lstStyle/>
          <a:p>
            <a:r>
              <a:rPr lang="en-US" sz="1500" b="1">
                <a:solidFill>
                  <a:srgbClr val="13807B"/>
                </a:solidFill>
                <a:latin typeface="Arial" pitchFamily="34" charset="0"/>
                <a:ea typeface="Arial" pitchFamily="34" charset="-122"/>
                <a:cs typeface="Arial" pitchFamily="34" charset="-120"/>
              </a:rPr>
              <a:t>Todo </a:t>
            </a:r>
            <a:r>
              <a:rPr lang="en-US" sz="1500" b="1" err="1">
                <a:solidFill>
                  <a:srgbClr val="13807B"/>
                </a:solidFill>
                <a:latin typeface="Arial" pitchFamily="34" charset="0"/>
                <a:ea typeface="Arial" pitchFamily="34" charset="-122"/>
                <a:cs typeface="Arial" pitchFamily="34" charset="-120"/>
              </a:rPr>
              <a:t>los</a:t>
            </a:r>
            <a:r>
              <a:rPr lang="en-US" sz="1500" b="1">
                <a:solidFill>
                  <a:srgbClr val="13807B"/>
                </a:solidFill>
                <a:latin typeface="Arial" pitchFamily="34" charset="0"/>
                <a:ea typeface="Arial" pitchFamily="34" charset="-122"/>
                <a:cs typeface="Arial" pitchFamily="34" charset="-120"/>
              </a:rPr>
              <a:t> </a:t>
            </a:r>
            <a:r>
              <a:rPr lang="en-US" sz="1500" b="1" err="1">
                <a:solidFill>
                  <a:srgbClr val="13807B"/>
                </a:solidFill>
                <a:latin typeface="Arial" pitchFamily="34" charset="0"/>
                <a:ea typeface="Arial" pitchFamily="34" charset="-122"/>
                <a:cs typeface="Arial" pitchFamily="34" charset="-120"/>
              </a:rPr>
              <a:t>desembolsos</a:t>
            </a:r>
            <a:r>
              <a:rPr lang="en-US" sz="1500" b="1">
                <a:solidFill>
                  <a:srgbClr val="13807B"/>
                </a:solidFill>
                <a:latin typeface="Arial" pitchFamily="34" charset="0"/>
                <a:ea typeface="Arial" pitchFamily="34" charset="-122"/>
                <a:cs typeface="Arial" pitchFamily="34" charset="-120"/>
              </a:rPr>
              <a:t> </a:t>
            </a:r>
            <a:r>
              <a:rPr lang="en-US" sz="1500" b="1" err="1">
                <a:solidFill>
                  <a:srgbClr val="13807B"/>
                </a:solidFill>
                <a:latin typeface="Arial" pitchFamily="34" charset="0"/>
                <a:ea typeface="Arial" pitchFamily="34" charset="-122"/>
                <a:cs typeface="Arial" pitchFamily="34" charset="-120"/>
              </a:rPr>
              <a:t>en</a:t>
            </a:r>
            <a:r>
              <a:rPr lang="en-US" sz="1500" b="1">
                <a:solidFill>
                  <a:srgbClr val="13807B"/>
                </a:solidFill>
                <a:latin typeface="Arial" pitchFamily="34" charset="0"/>
                <a:ea typeface="Arial" pitchFamily="34" charset="-122"/>
                <a:cs typeface="Arial" pitchFamily="34" charset="-120"/>
              </a:rPr>
              <a:t> RCC</a:t>
            </a:r>
            <a:endParaRPr lang="en-US" sz="1500"/>
          </a:p>
        </p:txBody>
      </p:sp>
      <p:sp>
        <p:nvSpPr>
          <p:cNvPr id="22" name="Shape 19"/>
          <p:cNvSpPr/>
          <p:nvPr/>
        </p:nvSpPr>
        <p:spPr>
          <a:xfrm>
            <a:off x="4200983" y="3872484"/>
            <a:ext cx="219456" cy="402336"/>
          </a:xfrm>
          <a:prstGeom prst="chevron">
            <a:avLst/>
          </a:prstGeom>
          <a:solidFill>
            <a:srgbClr val="D5DFDE"/>
          </a:solidFill>
          <a:ln/>
        </p:spPr>
        <p:txBody>
          <a:bodyPr/>
          <a:lstStyle/>
          <a:p>
            <a:endParaRPr lang="en-PE"/>
          </a:p>
        </p:txBody>
      </p:sp>
      <p:sp>
        <p:nvSpPr>
          <p:cNvPr id="23" name="Shape 20"/>
          <p:cNvSpPr/>
          <p:nvPr/>
        </p:nvSpPr>
        <p:spPr>
          <a:xfrm>
            <a:off x="4475302" y="1627632"/>
            <a:ext cx="3487751" cy="4892040"/>
          </a:xfrm>
          <a:prstGeom prst="rect">
            <a:avLst/>
          </a:prstGeom>
          <a:solidFill>
            <a:srgbClr val="FFFFFF"/>
          </a:solidFill>
          <a:ln w="9525">
            <a:solidFill>
              <a:srgbClr val="D5DFDE"/>
            </a:solidFill>
            <a:prstDash val="solid"/>
          </a:ln>
        </p:spPr>
        <p:txBody>
          <a:bodyPr/>
          <a:lstStyle/>
          <a:p>
            <a:endParaRPr lang="en-PE"/>
          </a:p>
        </p:txBody>
      </p:sp>
      <p:sp>
        <p:nvSpPr>
          <p:cNvPr id="24" name="Shape 21"/>
          <p:cNvSpPr/>
          <p:nvPr/>
        </p:nvSpPr>
        <p:spPr>
          <a:xfrm>
            <a:off x="4475302" y="1627632"/>
            <a:ext cx="3487751" cy="402336"/>
          </a:xfrm>
          <a:prstGeom prst="rect">
            <a:avLst/>
          </a:prstGeom>
          <a:solidFill>
            <a:srgbClr val="2F9E98"/>
          </a:solidFill>
          <a:ln/>
        </p:spPr>
        <p:txBody>
          <a:bodyPr/>
          <a:lstStyle/>
          <a:p>
            <a:endParaRPr lang="en-PE"/>
          </a:p>
        </p:txBody>
      </p:sp>
      <p:sp>
        <p:nvSpPr>
          <p:cNvPr id="25" name="Text 22"/>
          <p:cNvSpPr txBox="1"/>
          <p:nvPr/>
        </p:nvSpPr>
        <p:spPr>
          <a:xfrm>
            <a:off x="4639894" y="1627632"/>
            <a:ext cx="3158567" cy="402336"/>
          </a:xfrm>
          <a:prstGeom prst="rect">
            <a:avLst/>
          </a:prstGeom>
          <a:noFill/>
          <a:ln/>
        </p:spPr>
        <p:txBody>
          <a:bodyPr wrap="square" lIns="0" tIns="0" rIns="0" bIns="0" rtlCol="0" anchor="ctr"/>
          <a:lstStyle/>
          <a:p>
            <a:pPr algn="ctr"/>
            <a:r>
              <a:rPr lang="en-US" sz="1200" b="1" err="1">
                <a:solidFill>
                  <a:srgbClr val="FFFFFF"/>
                </a:solidFill>
                <a:latin typeface="Arial" pitchFamily="34" charset="0"/>
                <a:ea typeface="Arial" pitchFamily="34" charset="-122"/>
                <a:cs typeface="Arial" pitchFamily="34" charset="-120"/>
              </a:rPr>
              <a:t>Retirando</a:t>
            </a:r>
            <a:r>
              <a:rPr lang="en-US" sz="1200" b="1">
                <a:solidFill>
                  <a:srgbClr val="FFFFFF"/>
                </a:solidFill>
                <a:latin typeface="Arial" pitchFamily="34" charset="0"/>
                <a:ea typeface="Arial" pitchFamily="34" charset="-122"/>
                <a:cs typeface="Arial" pitchFamily="34" charset="-120"/>
              </a:rPr>
              <a:t> </a:t>
            </a:r>
            <a:r>
              <a:rPr lang="en-US" sz="1200" b="1" err="1">
                <a:solidFill>
                  <a:srgbClr val="FFFFFF"/>
                </a:solidFill>
                <a:latin typeface="Arial" pitchFamily="34" charset="0"/>
                <a:ea typeface="Arial" pitchFamily="34" charset="-122"/>
                <a:cs typeface="Arial" pitchFamily="34" charset="-120"/>
              </a:rPr>
              <a:t>competencia</a:t>
            </a:r>
            <a:r>
              <a:rPr lang="en-US" sz="1200" b="1">
                <a:solidFill>
                  <a:srgbClr val="FFFFFF"/>
                </a:solidFill>
                <a:latin typeface="Arial" pitchFamily="34" charset="0"/>
                <a:ea typeface="Arial" pitchFamily="34" charset="-122"/>
                <a:cs typeface="Arial" pitchFamily="34" charset="-120"/>
              </a:rPr>
              <a:t> interna</a:t>
            </a:r>
            <a:endParaRPr lang="en-US" sz="1200"/>
          </a:p>
        </p:txBody>
      </p:sp>
      <p:sp>
        <p:nvSpPr>
          <p:cNvPr id="26" name="Text 23"/>
          <p:cNvSpPr txBox="1"/>
          <p:nvPr/>
        </p:nvSpPr>
        <p:spPr>
          <a:xfrm>
            <a:off x="4639894" y="2231136"/>
            <a:ext cx="3158567" cy="420624"/>
          </a:xfrm>
          <a:prstGeom prst="rect">
            <a:avLst/>
          </a:prstGeom>
          <a:noFill/>
          <a:ln/>
        </p:spPr>
        <p:txBody>
          <a:bodyPr wrap="square" lIns="0" tIns="0" rIns="0" bIns="0" rtlCol="0" anchor="ctr"/>
          <a:lstStyle/>
          <a:p>
            <a:endParaRPr lang="en-US" sz="1400"/>
          </a:p>
        </p:txBody>
      </p:sp>
      <p:sp>
        <p:nvSpPr>
          <p:cNvPr id="27" name="Text 24"/>
          <p:cNvSpPr txBox="1"/>
          <p:nvPr/>
        </p:nvSpPr>
        <p:spPr>
          <a:xfrm>
            <a:off x="4639894" y="2743200"/>
            <a:ext cx="3158567" cy="1417320"/>
          </a:xfrm>
          <a:prstGeom prst="rect">
            <a:avLst/>
          </a:prstGeom>
          <a:noFill/>
          <a:ln/>
        </p:spPr>
        <p:txBody>
          <a:bodyPr wrap="square" lIns="0" tIns="0" rIns="0" bIns="0" rtlCol="0" anchor="t"/>
          <a:lstStyle/>
          <a:p>
            <a:pPr>
              <a:lnSpc>
                <a:spcPct val="135000"/>
              </a:lnSpc>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28" name="Text 25"/>
          <p:cNvSpPr txBox="1"/>
          <p:nvPr/>
        </p:nvSpPr>
        <p:spPr>
          <a:xfrm>
            <a:off x="4639894" y="4416552"/>
            <a:ext cx="3158567" cy="219456"/>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Competencia que sigue contando en el share</a:t>
            </a:r>
            <a:endParaRPr lang="en-US" sz="851"/>
          </a:p>
        </p:txBody>
      </p:sp>
      <p:sp>
        <p:nvSpPr>
          <p:cNvPr id="29" name="Shape 26"/>
          <p:cNvSpPr/>
          <p:nvPr/>
        </p:nvSpPr>
        <p:spPr>
          <a:xfrm>
            <a:off x="4639894" y="4690872"/>
            <a:ext cx="721063" cy="347472"/>
          </a:xfrm>
          <a:prstGeom prst="rect">
            <a:avLst/>
          </a:prstGeom>
          <a:solidFill>
            <a:srgbClr val="FFFFFF"/>
          </a:solidFill>
          <a:ln w="12700">
            <a:solidFill>
              <a:srgbClr val="D5DFDE"/>
            </a:solidFill>
            <a:prstDash val="dash"/>
          </a:ln>
        </p:spPr>
        <p:txBody>
          <a:bodyPr/>
          <a:lstStyle/>
          <a:p>
            <a:endParaRPr lang="en-PE"/>
          </a:p>
        </p:txBody>
      </p:sp>
      <p:sp>
        <p:nvSpPr>
          <p:cNvPr id="30" name="Text 27"/>
          <p:cNvSpPr txBox="1"/>
          <p:nvPr/>
        </p:nvSpPr>
        <p:spPr>
          <a:xfrm>
            <a:off x="4548454" y="5056632"/>
            <a:ext cx="903943" cy="182880"/>
          </a:xfrm>
          <a:prstGeom prst="rect">
            <a:avLst/>
          </a:prstGeom>
          <a:noFill/>
          <a:ln/>
        </p:spPr>
        <p:txBody>
          <a:bodyPr wrap="square" lIns="0" tIns="0" rIns="0" bIns="0" rtlCol="0" anchor="ctr"/>
          <a:lstStyle/>
          <a:p>
            <a:pPr algn="ctr"/>
            <a:r>
              <a:rPr lang="en-US" sz="751">
                <a:solidFill>
                  <a:srgbClr val="6E7E7D"/>
                </a:solidFill>
                <a:latin typeface="Arial" pitchFamily="34" charset="0"/>
                <a:ea typeface="Arial" pitchFamily="34" charset="-122"/>
                <a:cs typeface="Arial" pitchFamily="34" charset="-120"/>
              </a:rPr>
              <a:t>Interna</a:t>
            </a:r>
            <a:endParaRPr lang="en-US" sz="751"/>
          </a:p>
        </p:txBody>
      </p:sp>
      <p:sp>
        <p:nvSpPr>
          <p:cNvPr id="31" name="Shape 28"/>
          <p:cNvSpPr/>
          <p:nvPr/>
        </p:nvSpPr>
        <p:spPr>
          <a:xfrm>
            <a:off x="5452397" y="4690872"/>
            <a:ext cx="721063" cy="347472"/>
          </a:xfrm>
          <a:prstGeom prst="rect">
            <a:avLst/>
          </a:prstGeom>
          <a:solidFill>
            <a:srgbClr val="8FCBC6"/>
          </a:solidFill>
          <a:ln/>
        </p:spPr>
        <p:txBody>
          <a:bodyPr/>
          <a:lstStyle/>
          <a:p>
            <a:endParaRPr lang="en-PE"/>
          </a:p>
        </p:txBody>
      </p:sp>
      <p:sp>
        <p:nvSpPr>
          <p:cNvPr id="32" name="Text 29"/>
          <p:cNvSpPr txBox="1"/>
          <p:nvPr/>
        </p:nvSpPr>
        <p:spPr>
          <a:xfrm>
            <a:off x="5360957"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No comp.</a:t>
            </a:r>
            <a:endParaRPr lang="en-US" sz="751"/>
          </a:p>
        </p:txBody>
      </p:sp>
      <p:sp>
        <p:nvSpPr>
          <p:cNvPr id="33" name="Shape 30"/>
          <p:cNvSpPr/>
          <p:nvPr/>
        </p:nvSpPr>
        <p:spPr>
          <a:xfrm>
            <a:off x="6264898" y="4690872"/>
            <a:ext cx="721063" cy="347472"/>
          </a:xfrm>
          <a:prstGeom prst="rect">
            <a:avLst/>
          </a:prstGeom>
          <a:solidFill>
            <a:srgbClr val="8FCBC6"/>
          </a:solidFill>
          <a:ln/>
        </p:spPr>
        <p:txBody>
          <a:bodyPr/>
          <a:lstStyle/>
          <a:p>
            <a:endParaRPr lang="en-PE"/>
          </a:p>
        </p:txBody>
      </p:sp>
      <p:sp>
        <p:nvSpPr>
          <p:cNvPr id="34" name="Text 31"/>
          <p:cNvSpPr txBox="1"/>
          <p:nvPr/>
        </p:nvSpPr>
        <p:spPr>
          <a:xfrm>
            <a:off x="6173458"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No gest.</a:t>
            </a:r>
            <a:endParaRPr lang="en-US" sz="751"/>
          </a:p>
        </p:txBody>
      </p:sp>
      <p:sp>
        <p:nvSpPr>
          <p:cNvPr id="35" name="Shape 32"/>
          <p:cNvSpPr/>
          <p:nvPr/>
        </p:nvSpPr>
        <p:spPr>
          <a:xfrm>
            <a:off x="7077399" y="4690872"/>
            <a:ext cx="721063" cy="347472"/>
          </a:xfrm>
          <a:prstGeom prst="rect">
            <a:avLst/>
          </a:prstGeom>
          <a:solidFill>
            <a:srgbClr val="0C514E"/>
          </a:solidFill>
          <a:ln/>
        </p:spPr>
        <p:txBody>
          <a:bodyPr/>
          <a:lstStyle/>
          <a:p>
            <a:endParaRPr lang="en-PE"/>
          </a:p>
        </p:txBody>
      </p:sp>
      <p:sp>
        <p:nvSpPr>
          <p:cNvPr id="36" name="Text 33"/>
          <p:cNvSpPr txBox="1"/>
          <p:nvPr/>
        </p:nvSpPr>
        <p:spPr>
          <a:xfrm>
            <a:off x="6985959"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Comparable</a:t>
            </a:r>
            <a:endParaRPr lang="en-US" sz="751"/>
          </a:p>
        </p:txBody>
      </p:sp>
      <p:sp>
        <p:nvSpPr>
          <p:cNvPr id="37" name="Shape 34"/>
          <p:cNvSpPr/>
          <p:nvPr/>
        </p:nvSpPr>
        <p:spPr>
          <a:xfrm>
            <a:off x="4639894" y="5632704"/>
            <a:ext cx="3158567" cy="0"/>
          </a:xfrm>
          <a:prstGeom prst="line">
            <a:avLst/>
          </a:prstGeom>
          <a:noFill/>
          <a:ln w="9525">
            <a:solidFill>
              <a:srgbClr val="D5DFDE"/>
            </a:solidFill>
            <a:prstDash val="solid"/>
          </a:ln>
        </p:spPr>
        <p:txBody>
          <a:bodyPr/>
          <a:lstStyle/>
          <a:p>
            <a:endParaRPr lang="en-PE"/>
          </a:p>
        </p:txBody>
      </p:sp>
      <p:sp>
        <p:nvSpPr>
          <p:cNvPr id="38" name="Text 35"/>
          <p:cNvSpPr txBox="1"/>
          <p:nvPr/>
        </p:nvSpPr>
        <p:spPr>
          <a:xfrm>
            <a:off x="4639894" y="5742432"/>
            <a:ext cx="3158567" cy="201168"/>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SE RETIRA</a:t>
            </a:r>
            <a:endParaRPr lang="en-US" sz="851"/>
          </a:p>
        </p:txBody>
      </p:sp>
      <p:sp>
        <p:nvSpPr>
          <p:cNvPr id="39" name="Text 36"/>
          <p:cNvSpPr txBox="1"/>
          <p:nvPr/>
        </p:nvSpPr>
        <p:spPr>
          <a:xfrm>
            <a:off x="4639894" y="5961888"/>
            <a:ext cx="3158567" cy="347472"/>
          </a:xfrm>
          <a:prstGeom prst="rect">
            <a:avLst/>
          </a:prstGeom>
          <a:noFill/>
          <a:ln/>
        </p:spPr>
        <p:txBody>
          <a:bodyPr wrap="square" lIns="0" tIns="0" rIns="0" bIns="0" rtlCol="0" anchor="ctr"/>
          <a:lstStyle/>
          <a:p>
            <a:r>
              <a:rPr lang="en-US" sz="1500" b="1">
                <a:solidFill>
                  <a:srgbClr val="C04B4B"/>
                </a:solidFill>
                <a:latin typeface="Arial" pitchFamily="34" charset="0"/>
                <a:ea typeface="Arial" pitchFamily="34" charset="-122"/>
                <a:cs typeface="Arial" pitchFamily="34" charset="-120"/>
              </a:rPr>
              <a:t>Competencia interna</a:t>
            </a:r>
            <a:endParaRPr lang="en-US" sz="1500"/>
          </a:p>
        </p:txBody>
      </p:sp>
      <p:sp>
        <p:nvSpPr>
          <p:cNvPr id="40" name="Shape 37"/>
          <p:cNvSpPr/>
          <p:nvPr/>
        </p:nvSpPr>
        <p:spPr>
          <a:xfrm>
            <a:off x="8017916" y="3872484"/>
            <a:ext cx="219456" cy="402336"/>
          </a:xfrm>
          <a:prstGeom prst="chevron">
            <a:avLst/>
          </a:prstGeom>
          <a:solidFill>
            <a:srgbClr val="D5DFDE"/>
          </a:solidFill>
          <a:ln/>
        </p:spPr>
        <p:txBody>
          <a:bodyPr/>
          <a:lstStyle/>
          <a:p>
            <a:endParaRPr lang="en-PE"/>
          </a:p>
        </p:txBody>
      </p:sp>
      <p:sp>
        <p:nvSpPr>
          <p:cNvPr id="41" name="Shape 38"/>
          <p:cNvSpPr/>
          <p:nvPr/>
        </p:nvSpPr>
        <p:spPr>
          <a:xfrm>
            <a:off x="8292237" y="1627632"/>
            <a:ext cx="3487751" cy="4892040"/>
          </a:xfrm>
          <a:prstGeom prst="rect">
            <a:avLst/>
          </a:prstGeom>
          <a:solidFill>
            <a:srgbClr val="FFFFFF"/>
          </a:solidFill>
          <a:ln w="9525">
            <a:solidFill>
              <a:srgbClr val="D5DFDE"/>
            </a:solidFill>
            <a:prstDash val="solid"/>
          </a:ln>
        </p:spPr>
        <p:txBody>
          <a:bodyPr/>
          <a:lstStyle/>
          <a:p>
            <a:endParaRPr lang="en-PE"/>
          </a:p>
        </p:txBody>
      </p:sp>
      <p:sp>
        <p:nvSpPr>
          <p:cNvPr id="42" name="Shape 39"/>
          <p:cNvSpPr/>
          <p:nvPr/>
        </p:nvSpPr>
        <p:spPr>
          <a:xfrm>
            <a:off x="8292237" y="1627632"/>
            <a:ext cx="3487751" cy="402336"/>
          </a:xfrm>
          <a:prstGeom prst="rect">
            <a:avLst/>
          </a:prstGeom>
          <a:solidFill>
            <a:srgbClr val="13807B"/>
          </a:solidFill>
          <a:ln/>
        </p:spPr>
        <p:txBody>
          <a:bodyPr/>
          <a:lstStyle/>
          <a:p>
            <a:endParaRPr lang="en-PE"/>
          </a:p>
        </p:txBody>
      </p:sp>
      <p:sp>
        <p:nvSpPr>
          <p:cNvPr id="43" name="Text 40"/>
          <p:cNvSpPr txBox="1"/>
          <p:nvPr/>
        </p:nvSpPr>
        <p:spPr>
          <a:xfrm>
            <a:off x="8456829" y="1627632"/>
            <a:ext cx="3158567" cy="402336"/>
          </a:xfrm>
          <a:prstGeom prst="rect">
            <a:avLst/>
          </a:prstGeom>
          <a:noFill/>
          <a:ln/>
        </p:spPr>
        <p:txBody>
          <a:bodyPr wrap="square" lIns="0" tIns="0" rIns="0" bIns="0" rtlCol="0" anchor="ctr"/>
          <a:lstStyle/>
          <a:p>
            <a:pPr algn="ctr"/>
            <a:r>
              <a:rPr lang="en-US" sz="1200" b="1" err="1">
                <a:solidFill>
                  <a:srgbClr val="FFFFFF"/>
                </a:solidFill>
                <a:latin typeface="Arial" pitchFamily="34" charset="0"/>
                <a:ea typeface="Arial" pitchFamily="34" charset="-122"/>
                <a:cs typeface="Arial" pitchFamily="34" charset="-120"/>
              </a:rPr>
              <a:t>Rentirando</a:t>
            </a:r>
            <a:r>
              <a:rPr lang="en-US" sz="1200" b="1">
                <a:solidFill>
                  <a:srgbClr val="FFFFFF"/>
                </a:solidFill>
                <a:latin typeface="Arial" pitchFamily="34" charset="0"/>
                <a:ea typeface="Arial" pitchFamily="34" charset="-122"/>
                <a:cs typeface="Arial" pitchFamily="34" charset="-120"/>
              </a:rPr>
              <a:t> Monto No comparable</a:t>
            </a:r>
            <a:endParaRPr lang="en-US" sz="1200"/>
          </a:p>
        </p:txBody>
      </p:sp>
      <p:sp>
        <p:nvSpPr>
          <p:cNvPr id="45" name="Text 42"/>
          <p:cNvSpPr txBox="1"/>
          <p:nvPr/>
        </p:nvSpPr>
        <p:spPr>
          <a:xfrm>
            <a:off x="8456829" y="2743200"/>
            <a:ext cx="3158567" cy="1417320"/>
          </a:xfrm>
          <a:prstGeom prst="rect">
            <a:avLst/>
          </a:prstGeom>
          <a:noFill/>
          <a:ln/>
        </p:spPr>
        <p:txBody>
          <a:bodyPr wrap="square" lIns="0" tIns="0" rIns="0" bIns="0" rtlCol="0" anchor="t"/>
          <a:lstStyle/>
          <a:p>
            <a:pPr>
              <a:lnSpc>
                <a:spcPct val="135000"/>
              </a:lnSpc>
            </a:pPr>
            <a:r>
              <a:rPr lang="en-US" sz="1100">
                <a:solidFill>
                  <a:srgbClr val="0B2E2C"/>
                </a:solidFill>
                <a:latin typeface="Arial" pitchFamily="34" charset="0"/>
                <a:ea typeface="Arial" pitchFamily="34" charset="-122"/>
                <a:cs typeface="Arial" pitchFamily="34" charset="-120"/>
              </a:rPr>
              <a:t>Se retira la competencia con un monto muy distinto al que maneja el cliente (mayor al 120% </a:t>
            </a:r>
            <a:r>
              <a:rPr lang="en-US" sz="1100" err="1">
                <a:solidFill>
                  <a:srgbClr val="0B2E2C"/>
                </a:solidFill>
                <a:latin typeface="Arial" pitchFamily="34" charset="0"/>
                <a:ea typeface="Arial" pitchFamily="34" charset="-122"/>
                <a:cs typeface="Arial" pitchFamily="34" charset="-120"/>
              </a:rPr>
              <a:t>menor</a:t>
            </a:r>
            <a:r>
              <a:rPr lang="en-US" sz="1100">
                <a:solidFill>
                  <a:srgbClr val="0B2E2C"/>
                </a:solidFill>
                <a:latin typeface="Arial" pitchFamily="34" charset="0"/>
                <a:ea typeface="Arial" pitchFamily="34" charset="-122"/>
                <a:cs typeface="Arial" pitchFamily="34" charset="-120"/>
              </a:rPr>
              <a:t> al 70% del </a:t>
            </a:r>
            <a:r>
              <a:rPr lang="en-US" sz="1100" err="1">
                <a:solidFill>
                  <a:srgbClr val="0B2E2C"/>
                </a:solidFill>
                <a:latin typeface="Arial" pitchFamily="34" charset="0"/>
                <a:ea typeface="Arial" pitchFamily="34" charset="-122"/>
                <a:cs typeface="Arial" pitchFamily="34" charset="-120"/>
              </a:rPr>
              <a:t>monto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ofertado</a:t>
            </a:r>
            <a:r>
              <a:rPr lang="en-US" sz="1100">
                <a:solidFill>
                  <a:srgbClr val="0B2E2C"/>
                </a:solidFill>
                <a:latin typeface="Arial" pitchFamily="34" charset="0"/>
                <a:ea typeface="Arial" pitchFamily="34" charset="-122"/>
                <a:cs typeface="Arial" pitchFamily="34" charset="-120"/>
              </a:rPr>
              <a:t>).</a:t>
            </a:r>
            <a:endParaRPr lang="en-US" sz="1100"/>
          </a:p>
        </p:txBody>
      </p:sp>
      <p:sp>
        <p:nvSpPr>
          <p:cNvPr id="46" name="Text 43"/>
          <p:cNvSpPr txBox="1"/>
          <p:nvPr/>
        </p:nvSpPr>
        <p:spPr>
          <a:xfrm>
            <a:off x="8456829" y="4416552"/>
            <a:ext cx="3158567" cy="219456"/>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Competencia que sigue contando en el share</a:t>
            </a:r>
            <a:endParaRPr lang="en-US" sz="851"/>
          </a:p>
        </p:txBody>
      </p:sp>
      <p:sp>
        <p:nvSpPr>
          <p:cNvPr id="47" name="Shape 44"/>
          <p:cNvSpPr/>
          <p:nvPr/>
        </p:nvSpPr>
        <p:spPr>
          <a:xfrm>
            <a:off x="8456829" y="4690872"/>
            <a:ext cx="721063" cy="347472"/>
          </a:xfrm>
          <a:prstGeom prst="rect">
            <a:avLst/>
          </a:prstGeom>
          <a:solidFill>
            <a:srgbClr val="FFFFFF"/>
          </a:solidFill>
          <a:ln w="12700">
            <a:solidFill>
              <a:srgbClr val="D5DFDE"/>
            </a:solidFill>
            <a:prstDash val="dash"/>
          </a:ln>
        </p:spPr>
        <p:txBody>
          <a:bodyPr/>
          <a:lstStyle/>
          <a:p>
            <a:endParaRPr lang="en-PE"/>
          </a:p>
        </p:txBody>
      </p:sp>
      <p:sp>
        <p:nvSpPr>
          <p:cNvPr id="48" name="Text 45"/>
          <p:cNvSpPr txBox="1"/>
          <p:nvPr/>
        </p:nvSpPr>
        <p:spPr>
          <a:xfrm>
            <a:off x="8365389" y="5056632"/>
            <a:ext cx="903943" cy="182880"/>
          </a:xfrm>
          <a:prstGeom prst="rect">
            <a:avLst/>
          </a:prstGeom>
          <a:noFill/>
          <a:ln/>
        </p:spPr>
        <p:txBody>
          <a:bodyPr wrap="square" lIns="0" tIns="0" rIns="0" bIns="0" rtlCol="0" anchor="ctr"/>
          <a:lstStyle/>
          <a:p>
            <a:pPr algn="ctr"/>
            <a:r>
              <a:rPr lang="en-US" sz="751">
                <a:solidFill>
                  <a:srgbClr val="6E7E7D"/>
                </a:solidFill>
                <a:latin typeface="Arial" pitchFamily="34" charset="0"/>
                <a:ea typeface="Arial" pitchFamily="34" charset="-122"/>
                <a:cs typeface="Arial" pitchFamily="34" charset="-120"/>
              </a:rPr>
              <a:t>Interna</a:t>
            </a:r>
            <a:endParaRPr lang="en-US" sz="751"/>
          </a:p>
        </p:txBody>
      </p:sp>
      <p:sp>
        <p:nvSpPr>
          <p:cNvPr id="49" name="Shape 46"/>
          <p:cNvSpPr/>
          <p:nvPr/>
        </p:nvSpPr>
        <p:spPr>
          <a:xfrm>
            <a:off x="9269330" y="4690872"/>
            <a:ext cx="721063" cy="347472"/>
          </a:xfrm>
          <a:prstGeom prst="rect">
            <a:avLst/>
          </a:prstGeom>
          <a:solidFill>
            <a:srgbClr val="FFFFFF"/>
          </a:solidFill>
          <a:ln w="12700">
            <a:solidFill>
              <a:srgbClr val="D5DFDE"/>
            </a:solidFill>
            <a:prstDash val="dash"/>
          </a:ln>
        </p:spPr>
        <p:txBody>
          <a:bodyPr/>
          <a:lstStyle/>
          <a:p>
            <a:endParaRPr lang="en-PE"/>
          </a:p>
        </p:txBody>
      </p:sp>
      <p:sp>
        <p:nvSpPr>
          <p:cNvPr id="50" name="Text 47"/>
          <p:cNvSpPr txBox="1"/>
          <p:nvPr/>
        </p:nvSpPr>
        <p:spPr>
          <a:xfrm>
            <a:off x="9177890" y="5056632"/>
            <a:ext cx="903943" cy="182880"/>
          </a:xfrm>
          <a:prstGeom prst="rect">
            <a:avLst/>
          </a:prstGeom>
          <a:noFill/>
          <a:ln/>
        </p:spPr>
        <p:txBody>
          <a:bodyPr wrap="square" lIns="0" tIns="0" rIns="0" bIns="0" rtlCol="0" anchor="ctr"/>
          <a:lstStyle/>
          <a:p>
            <a:pPr algn="ctr"/>
            <a:r>
              <a:rPr lang="en-US" sz="751">
                <a:solidFill>
                  <a:srgbClr val="6E7E7D"/>
                </a:solidFill>
                <a:latin typeface="Arial" pitchFamily="34" charset="0"/>
                <a:ea typeface="Arial" pitchFamily="34" charset="-122"/>
                <a:cs typeface="Arial" pitchFamily="34" charset="-120"/>
              </a:rPr>
              <a:t>No comp.</a:t>
            </a:r>
            <a:endParaRPr lang="en-US" sz="751"/>
          </a:p>
        </p:txBody>
      </p:sp>
      <p:sp>
        <p:nvSpPr>
          <p:cNvPr id="51" name="Shape 48"/>
          <p:cNvSpPr/>
          <p:nvPr/>
        </p:nvSpPr>
        <p:spPr>
          <a:xfrm>
            <a:off x="10081833" y="4690872"/>
            <a:ext cx="721063" cy="347472"/>
          </a:xfrm>
          <a:prstGeom prst="rect">
            <a:avLst/>
          </a:prstGeom>
          <a:solidFill>
            <a:srgbClr val="8FCBC6"/>
          </a:solidFill>
          <a:ln/>
        </p:spPr>
        <p:txBody>
          <a:bodyPr/>
          <a:lstStyle/>
          <a:p>
            <a:endParaRPr lang="en-PE"/>
          </a:p>
        </p:txBody>
      </p:sp>
      <p:sp>
        <p:nvSpPr>
          <p:cNvPr id="52" name="Text 49"/>
          <p:cNvSpPr txBox="1"/>
          <p:nvPr/>
        </p:nvSpPr>
        <p:spPr>
          <a:xfrm>
            <a:off x="9990393"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No gest.</a:t>
            </a:r>
            <a:endParaRPr lang="en-US" sz="751"/>
          </a:p>
        </p:txBody>
      </p:sp>
      <p:sp>
        <p:nvSpPr>
          <p:cNvPr id="53" name="Shape 50"/>
          <p:cNvSpPr/>
          <p:nvPr/>
        </p:nvSpPr>
        <p:spPr>
          <a:xfrm>
            <a:off x="10894334" y="4690872"/>
            <a:ext cx="721063" cy="347472"/>
          </a:xfrm>
          <a:prstGeom prst="rect">
            <a:avLst/>
          </a:prstGeom>
          <a:solidFill>
            <a:srgbClr val="0C514E"/>
          </a:solidFill>
          <a:ln/>
        </p:spPr>
        <p:txBody>
          <a:bodyPr/>
          <a:lstStyle/>
          <a:p>
            <a:endParaRPr lang="en-PE"/>
          </a:p>
        </p:txBody>
      </p:sp>
      <p:sp>
        <p:nvSpPr>
          <p:cNvPr id="54" name="Text 51"/>
          <p:cNvSpPr txBox="1"/>
          <p:nvPr/>
        </p:nvSpPr>
        <p:spPr>
          <a:xfrm>
            <a:off x="10802894"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Comparable</a:t>
            </a:r>
            <a:endParaRPr lang="en-US" sz="751"/>
          </a:p>
        </p:txBody>
      </p:sp>
      <p:sp>
        <p:nvSpPr>
          <p:cNvPr id="55" name="Shape 52"/>
          <p:cNvSpPr/>
          <p:nvPr/>
        </p:nvSpPr>
        <p:spPr>
          <a:xfrm>
            <a:off x="8456829" y="5632704"/>
            <a:ext cx="3158567" cy="0"/>
          </a:xfrm>
          <a:prstGeom prst="line">
            <a:avLst/>
          </a:prstGeom>
          <a:noFill/>
          <a:ln w="9525">
            <a:solidFill>
              <a:srgbClr val="D5DFDE"/>
            </a:solidFill>
            <a:prstDash val="solid"/>
          </a:ln>
        </p:spPr>
        <p:txBody>
          <a:bodyPr/>
          <a:lstStyle/>
          <a:p>
            <a:endParaRPr lang="en-PE"/>
          </a:p>
        </p:txBody>
      </p:sp>
      <p:sp>
        <p:nvSpPr>
          <p:cNvPr id="56" name="Text 53"/>
          <p:cNvSpPr txBox="1"/>
          <p:nvPr/>
        </p:nvSpPr>
        <p:spPr>
          <a:xfrm>
            <a:off x="8456829" y="5742432"/>
            <a:ext cx="3158567" cy="201168"/>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SE RETIRA</a:t>
            </a:r>
            <a:endParaRPr lang="en-US" sz="851"/>
          </a:p>
        </p:txBody>
      </p:sp>
      <p:sp>
        <p:nvSpPr>
          <p:cNvPr id="57" name="Text 54"/>
          <p:cNvSpPr txBox="1"/>
          <p:nvPr/>
        </p:nvSpPr>
        <p:spPr>
          <a:xfrm>
            <a:off x="8456829" y="5961888"/>
            <a:ext cx="3158567" cy="347472"/>
          </a:xfrm>
          <a:prstGeom prst="rect">
            <a:avLst/>
          </a:prstGeom>
          <a:noFill/>
          <a:ln/>
        </p:spPr>
        <p:txBody>
          <a:bodyPr wrap="square" lIns="0" tIns="0" rIns="0" bIns="0" rtlCol="0" anchor="ctr"/>
          <a:lstStyle/>
          <a:p>
            <a:r>
              <a:rPr lang="en-US" sz="1500" b="1">
                <a:solidFill>
                  <a:srgbClr val="C04B4B"/>
                </a:solidFill>
                <a:latin typeface="Arial" pitchFamily="34" charset="0"/>
                <a:ea typeface="Arial" pitchFamily="34" charset="-122"/>
                <a:cs typeface="Arial" pitchFamily="34" charset="-120"/>
              </a:rPr>
              <a:t>Monto no comparable</a:t>
            </a:r>
            <a:endParaRPr lang="en-US" sz="1500"/>
          </a:p>
        </p:txBody>
      </p:sp>
      <p:sp>
        <p:nvSpPr>
          <p:cNvPr id="58" name="Shape 55"/>
          <p:cNvSpPr/>
          <p:nvPr/>
        </p:nvSpPr>
        <p:spPr>
          <a:xfrm>
            <a:off x="11834851" y="3872484"/>
            <a:ext cx="219456" cy="402336"/>
          </a:xfrm>
          <a:prstGeom prst="chevron">
            <a:avLst/>
          </a:prstGeom>
          <a:solidFill>
            <a:srgbClr val="D5DFDE"/>
          </a:solidFill>
          <a:ln/>
        </p:spPr>
        <p:txBody>
          <a:bodyPr/>
          <a:lstStyle/>
          <a:p>
            <a:endParaRPr lang="en-PE"/>
          </a:p>
        </p:txBody>
      </p:sp>
      <p:sp>
        <p:nvSpPr>
          <p:cNvPr id="59" name="Shape 56"/>
          <p:cNvSpPr/>
          <p:nvPr/>
        </p:nvSpPr>
        <p:spPr>
          <a:xfrm>
            <a:off x="12109171" y="1627632"/>
            <a:ext cx="3487751" cy="4892040"/>
          </a:xfrm>
          <a:prstGeom prst="rect">
            <a:avLst/>
          </a:prstGeom>
          <a:solidFill>
            <a:srgbClr val="FFFFFF"/>
          </a:solidFill>
          <a:ln w="9525">
            <a:solidFill>
              <a:srgbClr val="D5DFDE"/>
            </a:solidFill>
            <a:prstDash val="solid"/>
          </a:ln>
        </p:spPr>
        <p:txBody>
          <a:bodyPr/>
          <a:lstStyle/>
          <a:p>
            <a:endParaRPr lang="en-PE"/>
          </a:p>
        </p:txBody>
      </p:sp>
      <p:sp>
        <p:nvSpPr>
          <p:cNvPr id="60" name="Shape 57"/>
          <p:cNvSpPr/>
          <p:nvPr/>
        </p:nvSpPr>
        <p:spPr>
          <a:xfrm>
            <a:off x="12109171" y="1627632"/>
            <a:ext cx="3487751" cy="402336"/>
          </a:xfrm>
          <a:prstGeom prst="rect">
            <a:avLst/>
          </a:prstGeom>
          <a:solidFill>
            <a:srgbClr val="0C514E"/>
          </a:solidFill>
          <a:ln/>
        </p:spPr>
        <p:txBody>
          <a:bodyPr/>
          <a:lstStyle/>
          <a:p>
            <a:endParaRPr lang="en-PE"/>
          </a:p>
        </p:txBody>
      </p:sp>
      <p:sp>
        <p:nvSpPr>
          <p:cNvPr id="61" name="Text 58"/>
          <p:cNvSpPr txBox="1"/>
          <p:nvPr/>
        </p:nvSpPr>
        <p:spPr>
          <a:xfrm>
            <a:off x="12273763" y="1627632"/>
            <a:ext cx="3158567" cy="402336"/>
          </a:xfrm>
          <a:prstGeom prst="rect">
            <a:avLst/>
          </a:prstGeom>
          <a:noFill/>
          <a:ln/>
        </p:spPr>
        <p:txBody>
          <a:bodyPr wrap="square" lIns="0" tIns="0" rIns="0" bIns="0" rtlCol="0" anchor="ctr"/>
          <a:lstStyle/>
          <a:p>
            <a:pPr algn="ctr"/>
            <a:r>
              <a:rPr lang="en-US" sz="1200" b="1">
                <a:solidFill>
                  <a:srgbClr val="FFFFFF"/>
                </a:solidFill>
                <a:latin typeface="Arial" pitchFamily="34" charset="0"/>
                <a:cs typeface="Arial" pitchFamily="34" charset="-120"/>
              </a:rPr>
              <a:t>Share of Sales de </a:t>
            </a:r>
            <a:r>
              <a:rPr lang="en-US" sz="1200" b="1" err="1">
                <a:solidFill>
                  <a:srgbClr val="FFFFFF"/>
                </a:solidFill>
                <a:latin typeface="Arial" pitchFamily="34" charset="0"/>
                <a:cs typeface="Arial" pitchFamily="34" charset="-120"/>
              </a:rPr>
              <a:t>Oferta</a:t>
            </a:r>
            <a:r>
              <a:rPr lang="en-US" sz="1200" b="1">
                <a:solidFill>
                  <a:srgbClr val="FFFFFF"/>
                </a:solidFill>
                <a:latin typeface="Arial" pitchFamily="34" charset="0"/>
                <a:cs typeface="Arial" pitchFamily="34" charset="-120"/>
              </a:rPr>
              <a:t> </a:t>
            </a:r>
            <a:r>
              <a:rPr lang="en-US" sz="1200" b="1" err="1">
                <a:solidFill>
                  <a:srgbClr val="FFFFFF"/>
                </a:solidFill>
                <a:latin typeface="Arial" pitchFamily="34" charset="0"/>
                <a:cs typeface="Arial" pitchFamily="34" charset="-120"/>
              </a:rPr>
              <a:t>Relevante</a:t>
            </a:r>
            <a:endParaRPr lang="en-US" sz="1200"/>
          </a:p>
        </p:txBody>
      </p:sp>
      <p:sp>
        <p:nvSpPr>
          <p:cNvPr id="63" name="Text 60"/>
          <p:cNvSpPr txBox="1"/>
          <p:nvPr/>
        </p:nvSpPr>
        <p:spPr>
          <a:xfrm>
            <a:off x="12273763" y="2743200"/>
            <a:ext cx="3158567" cy="1417320"/>
          </a:xfrm>
          <a:prstGeom prst="rect">
            <a:avLst/>
          </a:prstGeom>
          <a:noFill/>
          <a:ln/>
        </p:spPr>
        <p:txBody>
          <a:bodyPr wrap="square" lIns="0" tIns="0" rIns="0" bIns="0" rtlCol="0" anchor="t"/>
          <a:lstStyle/>
          <a:p>
            <a:pPr>
              <a:lnSpc>
                <a:spcPct val="135000"/>
              </a:lnSpc>
            </a:pPr>
            <a:r>
              <a:rPr lang="en-US" sz="1100">
                <a:solidFill>
                  <a:srgbClr val="0B2E2C"/>
                </a:solidFill>
                <a:latin typeface="Arial" pitchFamily="34" charset="0"/>
                <a:ea typeface="Arial" pitchFamily="34" charset="-122"/>
                <a:cs typeface="Arial" pitchFamily="34" charset="-120"/>
              </a:rPr>
              <a:t>Se retira la competencia de monto comparable que IBK no gestionó activamente.</a:t>
            </a:r>
            <a:endParaRPr lang="en-US" sz="1100"/>
          </a:p>
        </p:txBody>
      </p:sp>
      <p:sp>
        <p:nvSpPr>
          <p:cNvPr id="64" name="Text 61"/>
          <p:cNvSpPr txBox="1"/>
          <p:nvPr/>
        </p:nvSpPr>
        <p:spPr>
          <a:xfrm>
            <a:off x="12273763" y="4416552"/>
            <a:ext cx="3158567" cy="219456"/>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Competencia que sigue contando en el share</a:t>
            </a:r>
            <a:endParaRPr lang="en-US" sz="851"/>
          </a:p>
        </p:txBody>
      </p:sp>
      <p:sp>
        <p:nvSpPr>
          <p:cNvPr id="65" name="Shape 62"/>
          <p:cNvSpPr/>
          <p:nvPr/>
        </p:nvSpPr>
        <p:spPr>
          <a:xfrm>
            <a:off x="12273763" y="4690872"/>
            <a:ext cx="721063" cy="347472"/>
          </a:xfrm>
          <a:prstGeom prst="rect">
            <a:avLst/>
          </a:prstGeom>
          <a:solidFill>
            <a:srgbClr val="FFFFFF"/>
          </a:solidFill>
          <a:ln w="12700">
            <a:solidFill>
              <a:srgbClr val="D5DFDE"/>
            </a:solidFill>
            <a:prstDash val="dash"/>
          </a:ln>
        </p:spPr>
        <p:txBody>
          <a:bodyPr/>
          <a:lstStyle/>
          <a:p>
            <a:endParaRPr lang="en-PE"/>
          </a:p>
        </p:txBody>
      </p:sp>
      <p:sp>
        <p:nvSpPr>
          <p:cNvPr id="66" name="Text 63"/>
          <p:cNvSpPr txBox="1"/>
          <p:nvPr/>
        </p:nvSpPr>
        <p:spPr>
          <a:xfrm>
            <a:off x="12182323" y="5056632"/>
            <a:ext cx="903943" cy="182880"/>
          </a:xfrm>
          <a:prstGeom prst="rect">
            <a:avLst/>
          </a:prstGeom>
          <a:noFill/>
          <a:ln/>
        </p:spPr>
        <p:txBody>
          <a:bodyPr wrap="square" lIns="0" tIns="0" rIns="0" bIns="0" rtlCol="0" anchor="ctr"/>
          <a:lstStyle/>
          <a:p>
            <a:pPr algn="ctr"/>
            <a:r>
              <a:rPr lang="en-US" sz="751">
                <a:solidFill>
                  <a:srgbClr val="6E7E7D"/>
                </a:solidFill>
                <a:latin typeface="Arial" pitchFamily="34" charset="0"/>
                <a:ea typeface="Arial" pitchFamily="34" charset="-122"/>
                <a:cs typeface="Arial" pitchFamily="34" charset="-120"/>
              </a:rPr>
              <a:t>Interna</a:t>
            </a:r>
            <a:endParaRPr lang="en-US" sz="751"/>
          </a:p>
        </p:txBody>
      </p:sp>
      <p:sp>
        <p:nvSpPr>
          <p:cNvPr id="67" name="Shape 64"/>
          <p:cNvSpPr/>
          <p:nvPr/>
        </p:nvSpPr>
        <p:spPr>
          <a:xfrm>
            <a:off x="13086265" y="4690872"/>
            <a:ext cx="721063" cy="347472"/>
          </a:xfrm>
          <a:prstGeom prst="rect">
            <a:avLst/>
          </a:prstGeom>
          <a:solidFill>
            <a:srgbClr val="FFFFFF"/>
          </a:solidFill>
          <a:ln w="12700">
            <a:solidFill>
              <a:srgbClr val="D5DFDE"/>
            </a:solidFill>
            <a:prstDash val="dash"/>
          </a:ln>
        </p:spPr>
        <p:txBody>
          <a:bodyPr/>
          <a:lstStyle/>
          <a:p>
            <a:endParaRPr lang="en-PE"/>
          </a:p>
        </p:txBody>
      </p:sp>
      <p:sp>
        <p:nvSpPr>
          <p:cNvPr id="68" name="Text 65"/>
          <p:cNvSpPr txBox="1"/>
          <p:nvPr/>
        </p:nvSpPr>
        <p:spPr>
          <a:xfrm>
            <a:off x="12994825" y="5056632"/>
            <a:ext cx="903943" cy="182880"/>
          </a:xfrm>
          <a:prstGeom prst="rect">
            <a:avLst/>
          </a:prstGeom>
          <a:noFill/>
          <a:ln/>
        </p:spPr>
        <p:txBody>
          <a:bodyPr wrap="square" lIns="0" tIns="0" rIns="0" bIns="0" rtlCol="0" anchor="ctr"/>
          <a:lstStyle/>
          <a:p>
            <a:pPr algn="ctr"/>
            <a:r>
              <a:rPr lang="en-US" sz="751">
                <a:solidFill>
                  <a:srgbClr val="6E7E7D"/>
                </a:solidFill>
                <a:latin typeface="Arial" pitchFamily="34" charset="0"/>
                <a:ea typeface="Arial" pitchFamily="34" charset="-122"/>
                <a:cs typeface="Arial" pitchFamily="34" charset="-120"/>
              </a:rPr>
              <a:t>No comp.</a:t>
            </a:r>
            <a:endParaRPr lang="en-US" sz="751"/>
          </a:p>
        </p:txBody>
      </p:sp>
      <p:sp>
        <p:nvSpPr>
          <p:cNvPr id="69" name="Shape 66"/>
          <p:cNvSpPr/>
          <p:nvPr/>
        </p:nvSpPr>
        <p:spPr>
          <a:xfrm>
            <a:off x="13898766" y="4690872"/>
            <a:ext cx="721063" cy="347472"/>
          </a:xfrm>
          <a:prstGeom prst="rect">
            <a:avLst/>
          </a:prstGeom>
          <a:solidFill>
            <a:srgbClr val="FFFFFF"/>
          </a:solidFill>
          <a:ln w="12700">
            <a:solidFill>
              <a:srgbClr val="D5DFDE"/>
            </a:solidFill>
            <a:prstDash val="dash"/>
          </a:ln>
        </p:spPr>
        <p:txBody>
          <a:bodyPr/>
          <a:lstStyle/>
          <a:p>
            <a:endParaRPr lang="en-PE"/>
          </a:p>
        </p:txBody>
      </p:sp>
      <p:sp>
        <p:nvSpPr>
          <p:cNvPr id="70" name="Text 67"/>
          <p:cNvSpPr txBox="1"/>
          <p:nvPr/>
        </p:nvSpPr>
        <p:spPr>
          <a:xfrm>
            <a:off x="13807326" y="5056632"/>
            <a:ext cx="903943" cy="182880"/>
          </a:xfrm>
          <a:prstGeom prst="rect">
            <a:avLst/>
          </a:prstGeom>
          <a:noFill/>
          <a:ln/>
        </p:spPr>
        <p:txBody>
          <a:bodyPr wrap="square" lIns="0" tIns="0" rIns="0" bIns="0" rtlCol="0" anchor="ctr"/>
          <a:lstStyle/>
          <a:p>
            <a:pPr algn="ctr"/>
            <a:r>
              <a:rPr lang="en-US" sz="751">
                <a:solidFill>
                  <a:srgbClr val="6E7E7D"/>
                </a:solidFill>
                <a:latin typeface="Arial" pitchFamily="34" charset="0"/>
                <a:ea typeface="Arial" pitchFamily="34" charset="-122"/>
                <a:cs typeface="Arial" pitchFamily="34" charset="-120"/>
              </a:rPr>
              <a:t>No gest.</a:t>
            </a:r>
            <a:endParaRPr lang="en-US" sz="751"/>
          </a:p>
        </p:txBody>
      </p:sp>
      <p:sp>
        <p:nvSpPr>
          <p:cNvPr id="71" name="Shape 68"/>
          <p:cNvSpPr/>
          <p:nvPr/>
        </p:nvSpPr>
        <p:spPr>
          <a:xfrm>
            <a:off x="14711267" y="4690872"/>
            <a:ext cx="721063" cy="347472"/>
          </a:xfrm>
          <a:prstGeom prst="rect">
            <a:avLst/>
          </a:prstGeom>
          <a:solidFill>
            <a:srgbClr val="0C514E"/>
          </a:solidFill>
          <a:ln/>
        </p:spPr>
        <p:txBody>
          <a:bodyPr/>
          <a:lstStyle/>
          <a:p>
            <a:endParaRPr lang="en-PE"/>
          </a:p>
        </p:txBody>
      </p:sp>
      <p:sp>
        <p:nvSpPr>
          <p:cNvPr id="72" name="Text 69"/>
          <p:cNvSpPr txBox="1"/>
          <p:nvPr/>
        </p:nvSpPr>
        <p:spPr>
          <a:xfrm>
            <a:off x="14619827" y="5056632"/>
            <a:ext cx="903943" cy="182880"/>
          </a:xfrm>
          <a:prstGeom prst="rect">
            <a:avLst/>
          </a:prstGeom>
          <a:noFill/>
          <a:ln/>
        </p:spPr>
        <p:txBody>
          <a:bodyPr wrap="square" lIns="0" tIns="0" rIns="0" bIns="0" rtlCol="0" anchor="ctr"/>
          <a:lstStyle/>
          <a:p>
            <a:pPr algn="ctr"/>
            <a:r>
              <a:rPr lang="en-US" sz="751">
                <a:solidFill>
                  <a:srgbClr val="0B2E2C"/>
                </a:solidFill>
                <a:latin typeface="Arial" pitchFamily="34" charset="0"/>
                <a:ea typeface="Arial" pitchFamily="34" charset="-122"/>
                <a:cs typeface="Arial" pitchFamily="34" charset="-120"/>
              </a:rPr>
              <a:t>Comparable</a:t>
            </a:r>
            <a:endParaRPr lang="en-US" sz="751"/>
          </a:p>
        </p:txBody>
      </p:sp>
      <p:sp>
        <p:nvSpPr>
          <p:cNvPr id="73" name="Shape 70"/>
          <p:cNvSpPr/>
          <p:nvPr/>
        </p:nvSpPr>
        <p:spPr>
          <a:xfrm>
            <a:off x="12273763" y="5632704"/>
            <a:ext cx="3158567" cy="0"/>
          </a:xfrm>
          <a:prstGeom prst="line">
            <a:avLst/>
          </a:prstGeom>
          <a:noFill/>
          <a:ln w="9525">
            <a:solidFill>
              <a:srgbClr val="D5DFDE"/>
            </a:solidFill>
            <a:prstDash val="solid"/>
          </a:ln>
        </p:spPr>
        <p:txBody>
          <a:bodyPr/>
          <a:lstStyle/>
          <a:p>
            <a:endParaRPr lang="en-PE"/>
          </a:p>
        </p:txBody>
      </p:sp>
      <p:sp>
        <p:nvSpPr>
          <p:cNvPr id="74" name="Text 71"/>
          <p:cNvSpPr txBox="1"/>
          <p:nvPr/>
        </p:nvSpPr>
        <p:spPr>
          <a:xfrm>
            <a:off x="12273763" y="5742432"/>
            <a:ext cx="3158567" cy="201168"/>
          </a:xfrm>
          <a:prstGeom prst="rect">
            <a:avLst/>
          </a:prstGeom>
          <a:noFill/>
          <a:ln/>
        </p:spPr>
        <p:txBody>
          <a:bodyPr wrap="square" lIns="0" tIns="0" rIns="0" bIns="0" rtlCol="0" anchor="ctr"/>
          <a:lstStyle/>
          <a:p>
            <a:r>
              <a:rPr lang="en-US" sz="851" b="1">
                <a:solidFill>
                  <a:srgbClr val="6E7E7D"/>
                </a:solidFill>
                <a:latin typeface="Arial" pitchFamily="34" charset="0"/>
                <a:ea typeface="Arial" pitchFamily="34" charset="-122"/>
                <a:cs typeface="Arial" pitchFamily="34" charset="-120"/>
              </a:rPr>
              <a:t>SE RETIRA</a:t>
            </a:r>
            <a:endParaRPr lang="en-US" sz="851"/>
          </a:p>
        </p:txBody>
      </p:sp>
      <p:sp>
        <p:nvSpPr>
          <p:cNvPr id="75" name="Text 72"/>
          <p:cNvSpPr txBox="1"/>
          <p:nvPr/>
        </p:nvSpPr>
        <p:spPr>
          <a:xfrm>
            <a:off x="12273763" y="5961888"/>
            <a:ext cx="3158567" cy="347472"/>
          </a:xfrm>
          <a:prstGeom prst="rect">
            <a:avLst/>
          </a:prstGeom>
          <a:noFill/>
          <a:ln/>
        </p:spPr>
        <p:txBody>
          <a:bodyPr wrap="square" lIns="0" tIns="0" rIns="0" bIns="0" rtlCol="0" anchor="ctr"/>
          <a:lstStyle/>
          <a:p>
            <a:r>
              <a:rPr lang="en-US" sz="1500" b="1">
                <a:solidFill>
                  <a:srgbClr val="C04B4B"/>
                </a:solidFill>
                <a:latin typeface="Arial" pitchFamily="34" charset="0"/>
                <a:ea typeface="Arial" pitchFamily="34" charset="-122"/>
                <a:cs typeface="Arial" pitchFamily="34" charset="-120"/>
              </a:rPr>
              <a:t>No gestionado</a:t>
            </a:r>
            <a:endParaRPr lang="en-US" sz="1500"/>
          </a:p>
        </p:txBody>
      </p:sp>
      <p:sp>
        <p:nvSpPr>
          <p:cNvPr id="76" name="Shape 73"/>
          <p:cNvSpPr/>
          <p:nvPr/>
        </p:nvSpPr>
        <p:spPr>
          <a:xfrm>
            <a:off x="658369" y="6739128"/>
            <a:ext cx="14938553" cy="777240"/>
          </a:xfrm>
          <a:prstGeom prst="rect">
            <a:avLst/>
          </a:prstGeom>
          <a:solidFill>
            <a:srgbClr val="F6FBFA"/>
          </a:solidFill>
          <a:ln w="9525">
            <a:solidFill>
              <a:srgbClr val="D5DFDE"/>
            </a:solidFill>
            <a:prstDash val="solid"/>
          </a:ln>
        </p:spPr>
        <p:txBody>
          <a:bodyPr/>
          <a:lstStyle/>
          <a:p>
            <a:endParaRPr lang="en-PE"/>
          </a:p>
        </p:txBody>
      </p:sp>
      <p:sp>
        <p:nvSpPr>
          <p:cNvPr id="77" name="Text 74"/>
          <p:cNvSpPr txBox="1"/>
          <p:nvPr/>
        </p:nvSpPr>
        <p:spPr>
          <a:xfrm>
            <a:off x="914400" y="6830568"/>
            <a:ext cx="14538960" cy="594360"/>
          </a:xfrm>
          <a:prstGeom prst="rect">
            <a:avLst/>
          </a:prstGeom>
          <a:noFill/>
          <a:ln/>
        </p:spPr>
        <p:txBody>
          <a:bodyPr wrap="square" lIns="0" tIns="0" rIns="0" bIns="0" rtlCol="0" anchor="t"/>
          <a:lstStyle/>
          <a:p>
            <a:pPr>
              <a:lnSpc>
                <a:spcPct val="115000"/>
              </a:lnSpc>
            </a:pPr>
            <a:r>
              <a:rPr lang="en-US" sz="1100" b="1">
                <a:solidFill>
                  <a:srgbClr val="13807B"/>
                </a:solidFill>
                <a:latin typeface="Arial" pitchFamily="34" charset="0"/>
                <a:ea typeface="Arial" pitchFamily="34" charset="-122"/>
                <a:cs typeface="Arial" pitchFamily="34" charset="-120"/>
              </a:rPr>
              <a:t>En la </a:t>
            </a:r>
            <a:r>
              <a:rPr lang="en-US" sz="1100" b="1" err="1">
                <a:solidFill>
                  <a:srgbClr val="13807B"/>
                </a:solidFill>
                <a:latin typeface="Arial" pitchFamily="34" charset="0"/>
                <a:ea typeface="Arial" pitchFamily="34" charset="-122"/>
                <a:cs typeface="Arial" pitchFamily="34" charset="-120"/>
              </a:rPr>
              <a:t>práctica</a:t>
            </a:r>
            <a:r>
              <a:rPr lang="en-US" sz="1100" b="1">
                <a:solidFill>
                  <a:srgbClr val="13807B"/>
                </a:solidFill>
                <a:latin typeface="Arial" pitchFamily="34" charset="0"/>
                <a:ea typeface="Arial" pitchFamily="34" charset="-122"/>
                <a:cs typeface="Arial" pitchFamily="34" charset="-120"/>
              </a:rPr>
              <a:t>  </a:t>
            </a:r>
            <a:r>
              <a:rPr lang="en-US" sz="1100" b="1">
                <a:solidFill>
                  <a:srgbClr val="0B2E2C"/>
                </a:solidFill>
                <a:latin typeface="Arial" pitchFamily="34" charset="0"/>
                <a:ea typeface="Arial" pitchFamily="34" charset="-122"/>
                <a:cs typeface="Arial" pitchFamily="34" charset="-120"/>
              </a:rPr>
              <a:t>Share </a:t>
            </a:r>
            <a:r>
              <a:rPr lang="en-US" sz="1100" b="1" err="1">
                <a:solidFill>
                  <a:srgbClr val="0B2E2C"/>
                </a:solidFill>
                <a:latin typeface="Arial" pitchFamily="34" charset="0"/>
                <a:ea typeface="Arial" pitchFamily="34" charset="-122"/>
                <a:cs typeface="Arial" pitchFamily="34" charset="-120"/>
              </a:rPr>
              <a:t>PdM</a:t>
            </a:r>
            <a:r>
              <a:rPr lang="en-US" sz="1100" b="1">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siempre</a:t>
            </a:r>
            <a:r>
              <a:rPr lang="en-US" sz="1100">
                <a:solidFill>
                  <a:srgbClr val="0B2E2C"/>
                </a:solidFill>
                <a:latin typeface="Arial" pitchFamily="34" charset="0"/>
                <a:ea typeface="Arial" pitchFamily="34" charset="-122"/>
                <a:cs typeface="Arial" pitchFamily="34" charset="-120"/>
              </a:rPr>
              <a:t> es el </a:t>
            </a:r>
            <a:r>
              <a:rPr lang="en-US" sz="1100" err="1">
                <a:solidFill>
                  <a:srgbClr val="0B2E2C"/>
                </a:solidFill>
                <a:latin typeface="Arial" pitchFamily="34" charset="0"/>
                <a:ea typeface="Arial" pitchFamily="34" charset="-122"/>
                <a:cs typeface="Arial" pitchFamily="34" charset="-120"/>
              </a:rPr>
              <a:t>número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más</a:t>
            </a:r>
            <a:r>
              <a:rPr lang="en-US" sz="1100">
                <a:solidFill>
                  <a:srgbClr val="0B2E2C"/>
                </a:solidFill>
                <a:latin typeface="Arial" pitchFamily="34" charset="0"/>
                <a:ea typeface="Arial" pitchFamily="34" charset="-122"/>
                <a:cs typeface="Arial" pitchFamily="34" charset="-120"/>
              </a:rPr>
              <a:t> chico y </a:t>
            </a:r>
            <a:r>
              <a:rPr lang="en-US" sz="1100" b="1">
                <a:solidFill>
                  <a:srgbClr val="0B2E2C"/>
                </a:solidFill>
                <a:latin typeface="Arial" pitchFamily="34" charset="0"/>
                <a:ea typeface="Arial" pitchFamily="34" charset="-122"/>
                <a:cs typeface="Arial" pitchFamily="34" charset="-120"/>
              </a:rPr>
              <a:t>Share of Sales de </a:t>
            </a:r>
            <a:r>
              <a:rPr lang="en-US" sz="1100" b="1" err="1">
                <a:solidFill>
                  <a:srgbClr val="0B2E2C"/>
                </a:solidFill>
                <a:latin typeface="Arial" pitchFamily="34" charset="0"/>
                <a:ea typeface="Arial" pitchFamily="34" charset="-122"/>
                <a:cs typeface="Arial" pitchFamily="34" charset="-120"/>
              </a:rPr>
              <a:t>Oferta</a:t>
            </a:r>
            <a:r>
              <a:rPr lang="en-US" sz="1100" b="1">
                <a:solidFill>
                  <a:srgbClr val="0B2E2C"/>
                </a:solidFill>
                <a:latin typeface="Arial" pitchFamily="34" charset="0"/>
                <a:ea typeface="Arial" pitchFamily="34" charset="-122"/>
                <a:cs typeface="Arial" pitchFamily="34" charset="-120"/>
              </a:rPr>
              <a:t> </a:t>
            </a:r>
            <a:r>
              <a:rPr lang="en-US" sz="1100" b="1" err="1">
                <a:solidFill>
                  <a:srgbClr val="0B2E2C"/>
                </a:solidFill>
                <a:latin typeface="Arial" pitchFamily="34" charset="0"/>
                <a:ea typeface="Arial" pitchFamily="34" charset="-122"/>
                <a:cs typeface="Arial" pitchFamily="34" charset="-120"/>
              </a:rPr>
              <a:t>Relevante</a:t>
            </a:r>
            <a:r>
              <a:rPr lang="en-US" sz="1100" b="1">
                <a:solidFill>
                  <a:srgbClr val="0B2E2C"/>
                </a:solidFill>
                <a:latin typeface="Arial" pitchFamily="34" charset="0"/>
                <a:ea typeface="Arial" pitchFamily="34" charset="-122"/>
                <a:cs typeface="Arial" pitchFamily="34" charset="-120"/>
              </a:rPr>
              <a:t> </a:t>
            </a:r>
            <a:r>
              <a:rPr lang="en-US" sz="1100">
                <a:solidFill>
                  <a:srgbClr val="0B2E2C"/>
                </a:solidFill>
                <a:latin typeface="Arial" pitchFamily="34" charset="0"/>
                <a:ea typeface="Arial" pitchFamily="34" charset="-122"/>
                <a:cs typeface="Arial" pitchFamily="34" charset="-120"/>
              </a:rPr>
              <a:t>el </a:t>
            </a:r>
            <a:r>
              <a:rPr lang="en-US" sz="1100" err="1">
                <a:solidFill>
                  <a:srgbClr val="0B2E2C"/>
                </a:solidFill>
                <a:latin typeface="Arial" pitchFamily="34" charset="0"/>
                <a:ea typeface="Arial" pitchFamily="34" charset="-122"/>
                <a:cs typeface="Arial" pitchFamily="34" charset="-120"/>
              </a:rPr>
              <a:t>más</a:t>
            </a:r>
            <a:r>
              <a:rPr lang="en-US" sz="1100">
                <a:solidFill>
                  <a:srgbClr val="0B2E2C"/>
                </a:solidFill>
                <a:latin typeface="Arial" pitchFamily="34" charset="0"/>
                <a:ea typeface="Arial" pitchFamily="34" charset="-122"/>
                <a:cs typeface="Arial" pitchFamily="34" charset="-120"/>
              </a:rPr>
              <a:t> grande, </a:t>
            </a:r>
            <a:r>
              <a:rPr lang="en-US" sz="1100" err="1">
                <a:solidFill>
                  <a:srgbClr val="0B2E2C"/>
                </a:solidFill>
                <a:latin typeface="Arial" pitchFamily="34" charset="0"/>
                <a:ea typeface="Arial" pitchFamily="34" charset="-122"/>
                <a:cs typeface="Arial" pitchFamily="34" charset="-120"/>
              </a:rPr>
              <a:t>porque</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cada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capa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compara</a:t>
            </a:r>
            <a:r>
              <a:rPr lang="en-US" sz="1100">
                <a:solidFill>
                  <a:srgbClr val="0B2E2C"/>
                </a:solidFill>
                <a:latin typeface="Arial" pitchFamily="34" charset="0"/>
                <a:ea typeface="Arial" pitchFamily="34" charset="-122"/>
                <a:cs typeface="Arial" pitchFamily="34" charset="-120"/>
              </a:rPr>
              <a:t> contra un </a:t>
            </a:r>
            <a:r>
              <a:rPr lang="en-US" sz="1100" err="1">
                <a:solidFill>
                  <a:srgbClr val="0B2E2C"/>
                </a:solidFill>
                <a:latin typeface="Arial" pitchFamily="34" charset="0"/>
                <a:ea typeface="Arial" pitchFamily="34" charset="-122"/>
                <a:cs typeface="Arial" pitchFamily="34" charset="-120"/>
              </a:rPr>
              <a:t>grupo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más</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parecido</a:t>
            </a:r>
            <a:r>
              <a:rPr lang="en-US" sz="1100">
                <a:solidFill>
                  <a:srgbClr val="0B2E2C"/>
                </a:solidFill>
                <a:latin typeface="Arial" pitchFamily="34" charset="0"/>
                <a:ea typeface="Arial" pitchFamily="34" charset="-122"/>
                <a:cs typeface="Arial" pitchFamily="34" charset="-120"/>
              </a:rPr>
              <a:t> al </a:t>
            </a:r>
            <a:r>
              <a:rPr lang="en-US" sz="1100" err="1">
                <a:solidFill>
                  <a:srgbClr val="0B2E2C"/>
                </a:solidFill>
                <a:latin typeface="Arial" pitchFamily="34" charset="0"/>
                <a:ea typeface="Arial" pitchFamily="34" charset="-122"/>
                <a:cs typeface="Arial" pitchFamily="34" charset="-120"/>
              </a:rPr>
              <a:t>cliente</a:t>
            </a:r>
            <a:r>
              <a:rPr lang="en-US" sz="1100">
                <a:solidFill>
                  <a:srgbClr val="0B2E2C"/>
                </a:solidFill>
                <a:latin typeface="Arial" pitchFamily="34" charset="0"/>
                <a:ea typeface="Arial" pitchFamily="34" charset="-122"/>
                <a:cs typeface="Arial" pitchFamily="34" charset="-120"/>
              </a:rPr>
              <a:t>. La </a:t>
            </a:r>
            <a:r>
              <a:rPr lang="en-US" sz="1100" err="1">
                <a:solidFill>
                  <a:srgbClr val="0B2E2C"/>
                </a:solidFill>
                <a:latin typeface="Arial" pitchFamily="34" charset="0"/>
                <a:ea typeface="Arial" pitchFamily="34" charset="-122"/>
                <a:cs typeface="Arial" pitchFamily="34" charset="-120"/>
              </a:rPr>
              <a:t>distancia</a:t>
            </a:r>
            <a:r>
              <a:rPr lang="en-US" sz="1100">
                <a:solidFill>
                  <a:srgbClr val="0B2E2C"/>
                </a:solidFill>
                <a:latin typeface="Arial" pitchFamily="34" charset="0"/>
                <a:ea typeface="Arial" pitchFamily="34" charset="-122"/>
                <a:cs typeface="Arial" pitchFamily="34" charset="-120"/>
              </a:rPr>
              <a:t> entre dos </a:t>
            </a:r>
            <a:r>
              <a:rPr lang="en-US" sz="1100" err="1">
                <a:solidFill>
                  <a:srgbClr val="0B2E2C"/>
                </a:solidFill>
                <a:latin typeface="Arial" pitchFamily="34" charset="0"/>
                <a:ea typeface="Arial" pitchFamily="34" charset="-122"/>
                <a:cs typeface="Arial" pitchFamily="34" charset="-120"/>
              </a:rPr>
              <a:t>capas</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seguidas</a:t>
            </a:r>
            <a:r>
              <a:rPr lang="en-US" sz="1100">
                <a:solidFill>
                  <a:srgbClr val="0B2E2C"/>
                </a:solidFill>
                <a:latin typeface="Arial" pitchFamily="34" charset="0"/>
                <a:ea typeface="Arial" pitchFamily="34" charset="-122"/>
                <a:cs typeface="Arial" pitchFamily="34" charset="-120"/>
              </a:rPr>
              <a:t> indica </a:t>
            </a:r>
            <a:r>
              <a:rPr lang="en-US" sz="1100" err="1">
                <a:solidFill>
                  <a:srgbClr val="0B2E2C"/>
                </a:solidFill>
                <a:latin typeface="Arial" pitchFamily="34" charset="0"/>
                <a:ea typeface="Arial" pitchFamily="34" charset="-122"/>
                <a:cs typeface="Arial" pitchFamily="34" charset="-120"/>
              </a:rPr>
              <a:t>cuánto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pesa</a:t>
            </a:r>
            <a:r>
              <a:rPr lang="en-US" sz="1100">
                <a:solidFill>
                  <a:srgbClr val="0B2E2C"/>
                </a:solidFill>
                <a:latin typeface="Arial" pitchFamily="34" charset="0"/>
                <a:ea typeface="Arial" pitchFamily="34" charset="-122"/>
                <a:cs typeface="Arial" pitchFamily="34" charset="-120"/>
              </a:rPr>
              <a:t> lo </a:t>
            </a:r>
            <a:r>
              <a:rPr lang="en-US" sz="1100" err="1">
                <a:solidFill>
                  <a:srgbClr val="0B2E2C"/>
                </a:solidFill>
                <a:latin typeface="Arial" pitchFamily="34" charset="0"/>
                <a:ea typeface="Arial" pitchFamily="34" charset="-122"/>
                <a:cs typeface="Arial" pitchFamily="34" charset="-120"/>
              </a:rPr>
              <a:t>que</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esa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capa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retiró</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si</a:t>
            </a:r>
            <a:r>
              <a:rPr lang="en-US" sz="1100">
                <a:solidFill>
                  <a:srgbClr val="0B2E2C"/>
                </a:solidFill>
                <a:latin typeface="Arial" pitchFamily="34" charset="0"/>
                <a:ea typeface="Arial" pitchFamily="34" charset="-122"/>
                <a:cs typeface="Arial" pitchFamily="34" charset="-120"/>
              </a:rPr>
              <a:t> </a:t>
            </a:r>
            <a:r>
              <a:rPr lang="en-US" sz="1100" b="1">
                <a:solidFill>
                  <a:srgbClr val="0B2E2C"/>
                </a:solidFill>
                <a:latin typeface="Arial" pitchFamily="34" charset="0"/>
                <a:ea typeface="Arial" pitchFamily="34" charset="-122"/>
                <a:cs typeface="Arial" pitchFamily="34" charset="-120"/>
              </a:rPr>
              <a:t>Share of Sales de </a:t>
            </a:r>
            <a:r>
              <a:rPr lang="en-US" sz="1100" b="1" err="1">
                <a:solidFill>
                  <a:srgbClr val="0B2E2C"/>
                </a:solidFill>
                <a:latin typeface="Arial" pitchFamily="34" charset="0"/>
                <a:ea typeface="Arial" pitchFamily="34" charset="-122"/>
                <a:cs typeface="Arial" pitchFamily="34" charset="-120"/>
              </a:rPr>
              <a:t>Oferta</a:t>
            </a:r>
            <a:r>
              <a:rPr lang="en-US" sz="1100" b="1">
                <a:solidFill>
                  <a:srgbClr val="0B2E2C"/>
                </a:solidFill>
                <a:latin typeface="Arial" pitchFamily="34" charset="0"/>
                <a:ea typeface="Arial" pitchFamily="34" charset="-122"/>
                <a:cs typeface="Arial" pitchFamily="34" charset="-120"/>
              </a:rPr>
              <a:t> </a:t>
            </a:r>
            <a:r>
              <a:rPr lang="en-US" sz="1100" b="1" err="1">
                <a:solidFill>
                  <a:srgbClr val="0B2E2C"/>
                </a:solidFill>
                <a:latin typeface="Arial" pitchFamily="34" charset="0"/>
                <a:ea typeface="Arial" pitchFamily="34" charset="-122"/>
                <a:cs typeface="Arial" pitchFamily="34" charset="-120"/>
              </a:rPr>
              <a:t>Relevante</a:t>
            </a:r>
            <a:r>
              <a:rPr lang="en-US" sz="1100">
                <a:solidFill>
                  <a:srgbClr val="0B2E2C"/>
                </a:solidFill>
                <a:latin typeface="Arial" pitchFamily="34" charset="0"/>
                <a:ea typeface="Arial" pitchFamily="34" charset="-122"/>
                <a:cs typeface="Arial" pitchFamily="34" charset="-120"/>
              </a:rPr>
              <a:t> es </a:t>
            </a:r>
            <a:r>
              <a:rPr lang="en-US" sz="1100" err="1">
                <a:solidFill>
                  <a:srgbClr val="0B2E2C"/>
                </a:solidFill>
                <a:latin typeface="Arial" pitchFamily="34" charset="0"/>
                <a:ea typeface="Arial" pitchFamily="34" charset="-122"/>
                <a:cs typeface="Arial" pitchFamily="34" charset="-120"/>
              </a:rPr>
              <a:t>mucho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más</a:t>
            </a:r>
            <a:r>
              <a:rPr lang="en-US" sz="1100">
                <a:solidFill>
                  <a:srgbClr val="0B2E2C"/>
                </a:solidFill>
                <a:latin typeface="Arial" pitchFamily="34" charset="0"/>
                <a:ea typeface="Arial" pitchFamily="34" charset="-122"/>
                <a:cs typeface="Arial" pitchFamily="34" charset="-120"/>
              </a:rPr>
              <a:t> alto </a:t>
            </a:r>
            <a:r>
              <a:rPr lang="en-US" sz="1100" err="1">
                <a:solidFill>
                  <a:srgbClr val="0B2E2C"/>
                </a:solidFill>
                <a:latin typeface="Arial" pitchFamily="34" charset="0"/>
                <a:ea typeface="Arial" pitchFamily="34" charset="-122"/>
                <a:cs typeface="Arial" pitchFamily="34" charset="-120"/>
              </a:rPr>
              <a:t>que</a:t>
            </a:r>
            <a:r>
              <a:rPr lang="en-US" sz="1100">
                <a:solidFill>
                  <a:srgbClr val="0B2E2C"/>
                </a:solidFill>
                <a:latin typeface="Arial" pitchFamily="34" charset="0"/>
                <a:ea typeface="Arial" pitchFamily="34" charset="-122"/>
                <a:cs typeface="Arial" pitchFamily="34" charset="-120"/>
              </a:rPr>
              <a:t> </a:t>
            </a:r>
            <a:r>
              <a:rPr lang="en-US" sz="1100" b="1">
                <a:solidFill>
                  <a:srgbClr val="0B2E2C"/>
                </a:solidFill>
                <a:latin typeface="Arial" pitchFamily="34" charset="0"/>
                <a:ea typeface="Arial" pitchFamily="34" charset="-122"/>
                <a:cs typeface="Arial" pitchFamily="34" charset="-120"/>
              </a:rPr>
              <a:t>Share </a:t>
            </a:r>
            <a:r>
              <a:rPr lang="en-US" sz="1100" b="1" err="1">
                <a:solidFill>
                  <a:srgbClr val="0B2E2C"/>
                </a:solidFill>
                <a:latin typeface="Arial" pitchFamily="34" charset="0"/>
                <a:ea typeface="Arial" pitchFamily="34" charset="-122"/>
                <a:cs typeface="Arial" pitchFamily="34" charset="-120"/>
              </a:rPr>
              <a:t>ajustado</a:t>
            </a:r>
            <a:r>
              <a:rPr lang="en-US" sz="1100" b="1">
                <a:solidFill>
                  <a:srgbClr val="0B2E2C"/>
                </a:solidFill>
                <a:latin typeface="Arial" pitchFamily="34" charset="0"/>
                <a:ea typeface="Arial" pitchFamily="34" charset="-122"/>
                <a:cs typeface="Arial" pitchFamily="34" charset="-120"/>
              </a:rPr>
              <a:t> </a:t>
            </a:r>
            <a:r>
              <a:rPr lang="en-US" sz="1100" b="1" err="1">
                <a:solidFill>
                  <a:srgbClr val="0B2E2C"/>
                </a:solidFill>
                <a:latin typeface="Arial" pitchFamily="34" charset="0"/>
                <a:ea typeface="Arial" pitchFamily="34" charset="-122"/>
                <a:cs typeface="Arial" pitchFamily="34" charset="-120"/>
              </a:rPr>
              <a:t>por</a:t>
            </a:r>
            <a:r>
              <a:rPr lang="en-US" sz="1100" b="1">
                <a:solidFill>
                  <a:srgbClr val="0B2E2C"/>
                </a:solidFill>
                <a:latin typeface="Arial" pitchFamily="34" charset="0"/>
                <a:ea typeface="Arial" pitchFamily="34" charset="-122"/>
                <a:cs typeface="Arial" pitchFamily="34" charset="-120"/>
              </a:rPr>
              <a:t> </a:t>
            </a:r>
            <a:r>
              <a:rPr lang="en-US" sz="1100" b="1" err="1">
                <a:solidFill>
                  <a:srgbClr val="0B2E2C"/>
                </a:solidFill>
                <a:latin typeface="Arial" pitchFamily="34" charset="0"/>
                <a:ea typeface="Arial" pitchFamily="34" charset="-122"/>
                <a:cs typeface="Arial" pitchFamily="34" charset="-120"/>
              </a:rPr>
              <a:t>producto</a:t>
            </a:r>
            <a:r>
              <a:rPr lang="en-US" sz="1100" b="1">
                <a:solidFill>
                  <a:srgbClr val="0B2E2C"/>
                </a:solidFill>
                <a:latin typeface="Arial" pitchFamily="34" charset="0"/>
                <a:ea typeface="Arial" pitchFamily="34" charset="-122"/>
                <a:cs typeface="Arial" pitchFamily="34" charset="-120"/>
              </a:rPr>
              <a:t> y ticket </a:t>
            </a:r>
            <a:r>
              <a:rPr lang="en-US" sz="1100">
                <a:solidFill>
                  <a:srgbClr val="0B2E2C"/>
                </a:solidFill>
                <a:latin typeface="Arial" pitchFamily="34" charset="0"/>
                <a:ea typeface="Arial" pitchFamily="34" charset="-122"/>
                <a:cs typeface="Arial" pitchFamily="34" charset="-120"/>
              </a:rPr>
              <a:t>, gran </a:t>
            </a:r>
            <a:r>
              <a:rPr lang="en-US" sz="1100" err="1">
                <a:solidFill>
                  <a:srgbClr val="0B2E2C"/>
                </a:solidFill>
                <a:latin typeface="Arial" pitchFamily="34" charset="0"/>
                <a:ea typeface="Arial" pitchFamily="34" charset="-122"/>
                <a:cs typeface="Arial" pitchFamily="34" charset="-120"/>
              </a:rPr>
              <a:t>parte</a:t>
            </a:r>
            <a:r>
              <a:rPr lang="en-US" sz="1100">
                <a:solidFill>
                  <a:srgbClr val="0B2E2C"/>
                </a:solidFill>
                <a:latin typeface="Arial" pitchFamily="34" charset="0"/>
                <a:ea typeface="Arial" pitchFamily="34" charset="-122"/>
                <a:cs typeface="Arial" pitchFamily="34" charset="-120"/>
              </a:rPr>
              <a:t> de lo </a:t>
            </a:r>
            <a:r>
              <a:rPr lang="en-US" sz="1100" err="1">
                <a:solidFill>
                  <a:srgbClr val="0B2E2C"/>
                </a:solidFill>
                <a:latin typeface="Arial" pitchFamily="34" charset="0"/>
                <a:ea typeface="Arial" pitchFamily="34" charset="-122"/>
                <a:cs typeface="Arial" pitchFamily="34" charset="-120"/>
              </a:rPr>
              <a:t>que</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en</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parecía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competencia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perdida</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en</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realidad</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eran</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oportunidades</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que</a:t>
            </a:r>
            <a:r>
              <a:rPr lang="en-US" sz="1100">
                <a:solidFill>
                  <a:srgbClr val="0B2E2C"/>
                </a:solidFill>
                <a:latin typeface="Arial" pitchFamily="34" charset="0"/>
                <a:ea typeface="Arial" pitchFamily="34" charset="-122"/>
                <a:cs typeface="Arial" pitchFamily="34" charset="-120"/>
              </a:rPr>
              <a:t> IBK no </a:t>
            </a:r>
            <a:r>
              <a:rPr lang="en-US" sz="1100" err="1">
                <a:solidFill>
                  <a:srgbClr val="0B2E2C"/>
                </a:solidFill>
                <a:latin typeface="Arial" pitchFamily="34" charset="0"/>
                <a:ea typeface="Arial" pitchFamily="34" charset="-122"/>
                <a:cs typeface="Arial" pitchFamily="34" charset="-120"/>
              </a:rPr>
              <a:t>gestionó</a:t>
            </a:r>
            <a:r>
              <a:rPr lang="en-US" sz="1100">
                <a:solidFill>
                  <a:srgbClr val="0B2E2C"/>
                </a:solidFill>
                <a:latin typeface="Arial" pitchFamily="34" charset="0"/>
                <a:ea typeface="Arial" pitchFamily="34" charset="-122"/>
                <a:cs typeface="Arial" pitchFamily="34" charset="-120"/>
              </a:rPr>
              <a:t>, no </a:t>
            </a:r>
            <a:r>
              <a:rPr lang="en-US" sz="1100" err="1">
                <a:solidFill>
                  <a:srgbClr val="0B2E2C"/>
                </a:solidFill>
                <a:latin typeface="Arial" pitchFamily="34" charset="0"/>
                <a:ea typeface="Arial" pitchFamily="34" charset="-122"/>
                <a:cs typeface="Arial" pitchFamily="34" charset="-120"/>
              </a:rPr>
              <a:t>clientes</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que</a:t>
            </a:r>
            <a:r>
              <a:rPr lang="en-US" sz="1100">
                <a:solidFill>
                  <a:srgbClr val="0B2E2C"/>
                </a:solidFill>
                <a:latin typeface="Arial" pitchFamily="34" charset="0"/>
                <a:ea typeface="Arial" pitchFamily="34" charset="-122"/>
                <a:cs typeface="Arial" pitchFamily="34" charset="-120"/>
              </a:rPr>
              <a:t> se </a:t>
            </a:r>
            <a:r>
              <a:rPr lang="en-US" sz="1100" err="1">
                <a:solidFill>
                  <a:srgbClr val="0B2E2C"/>
                </a:solidFill>
                <a:latin typeface="Arial" pitchFamily="34" charset="0"/>
                <a:ea typeface="Arial" pitchFamily="34" charset="-122"/>
                <a:cs typeface="Arial" pitchFamily="34" charset="-120"/>
              </a:rPr>
              <a:t>fueron</a:t>
            </a:r>
            <a:r>
              <a:rPr lang="en-US" sz="1100">
                <a:solidFill>
                  <a:srgbClr val="0B2E2C"/>
                </a:solidFill>
                <a:latin typeface="Arial" pitchFamily="34" charset="0"/>
                <a:ea typeface="Arial" pitchFamily="34" charset="-122"/>
                <a:cs typeface="Arial" pitchFamily="34" charset="-120"/>
              </a:rPr>
              <a:t> con </a:t>
            </a:r>
            <a:r>
              <a:rPr lang="en-US" sz="1100" err="1">
                <a:solidFill>
                  <a:srgbClr val="0B2E2C"/>
                </a:solidFill>
                <a:latin typeface="Arial" pitchFamily="34" charset="0"/>
                <a:ea typeface="Arial" pitchFamily="34" charset="-122"/>
                <a:cs typeface="Arial" pitchFamily="34" charset="-120"/>
              </a:rPr>
              <a:t>otro</a:t>
            </a:r>
            <a:r>
              <a:rPr lang="en-US" sz="1100">
                <a:solidFill>
                  <a:srgbClr val="0B2E2C"/>
                </a:solidFill>
                <a:latin typeface="Arial" pitchFamily="34" charset="0"/>
                <a:ea typeface="Arial" pitchFamily="34" charset="-122"/>
                <a:cs typeface="Arial" pitchFamily="34" charset="-120"/>
              </a:rPr>
              <a:t> banco.</a:t>
            </a:r>
            <a:endParaRPr lang="en-US" sz="1100"/>
          </a:p>
        </p:txBody>
      </p:sp>
      <p:sp>
        <p:nvSpPr>
          <p:cNvPr id="78" name="5-Point Star 77">
            <a:extLst>
              <a:ext uri="{FF2B5EF4-FFF2-40B4-BE49-F238E27FC236}">
                <a16:creationId xmlns:a16="http://schemas.microsoft.com/office/drawing/2014/main" id="{FB3EA5C7-66C2-D206-472E-778BF7EF3A43}"/>
              </a:ext>
            </a:extLst>
          </p:cNvPr>
          <p:cNvSpPr/>
          <p:nvPr/>
        </p:nvSpPr>
        <p:spPr>
          <a:xfrm>
            <a:off x="15325323" y="1386022"/>
            <a:ext cx="436191" cy="373495"/>
          </a:xfrm>
          <a:prstGeom prst="star5">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pic>
        <p:nvPicPr>
          <p:cNvPr id="79" name="Picture 78">
            <a:extLst>
              <a:ext uri="{FF2B5EF4-FFF2-40B4-BE49-F238E27FC236}">
                <a16:creationId xmlns:a16="http://schemas.microsoft.com/office/drawing/2014/main" id="{AE5CD80E-8ED3-BCC3-03BF-E1A5CA07227E}"/>
              </a:ext>
            </a:extLst>
          </p:cNvPr>
          <p:cNvPicPr>
            <a:picLocks noChangeAspect="1"/>
          </p:cNvPicPr>
          <p:nvPr/>
        </p:nvPicPr>
        <p:blipFill>
          <a:blip r:embed="rId4"/>
          <a:stretch>
            <a:fillRect/>
          </a:stretch>
        </p:blipFill>
        <p:spPr>
          <a:xfrm>
            <a:off x="14278165" y="109554"/>
            <a:ext cx="1719367" cy="9691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1000" b="1">
                <a:solidFill>
                  <a:srgbClr val="13807B"/>
                </a:solidFill>
                <a:latin typeface="Arial" pitchFamily="34" charset="0"/>
                <a:ea typeface="Arial" pitchFamily="34" charset="-122"/>
                <a:cs typeface="Arial" pitchFamily="34" charset="-120"/>
              </a:rPr>
              <a:t>SEGMENTACIÓN ESTRATÉGICA · SHARE OF SALES · MARCO METODOLÓGICO</a:t>
            </a:r>
            <a:endParaRPr lang="en-US" sz="1000"/>
          </a:p>
        </p:txBody>
      </p:sp>
      <p:sp>
        <p:nvSpPr>
          <p:cNvPr id="3" name="Text 1"/>
          <p:cNvSpPr txBox="1"/>
          <p:nvPr/>
        </p:nvSpPr>
        <p:spPr>
          <a:xfrm>
            <a:off x="658368" y="530352"/>
            <a:ext cx="13990320" cy="685800"/>
          </a:xfrm>
          <a:prstGeom prst="rect">
            <a:avLst/>
          </a:prstGeom>
          <a:noFill/>
          <a:ln/>
        </p:spPr>
        <p:txBody>
          <a:bodyPr wrap="square" lIns="0" tIns="0" rIns="0" bIns="0" rtlCol="0" anchor="ctr"/>
          <a:lstStyle/>
          <a:p>
            <a:pPr marL="0" indent="0">
              <a:lnSpc>
                <a:spcPct val="100000"/>
              </a:lnSpc>
              <a:buNone/>
            </a:pPr>
            <a:r>
              <a:rPr lang="en-US" sz="2100" b="1">
                <a:solidFill>
                  <a:srgbClr val="13807B"/>
                </a:solidFill>
                <a:latin typeface="Arial" pitchFamily="34" charset="0"/>
                <a:ea typeface="Arial" pitchFamily="34" charset="-122"/>
                <a:cs typeface="Arial" pitchFamily="34" charset="-120"/>
              </a:rPr>
              <a:t>Cuatro capas para medir el share de forma justa: cada capa retira competencia que IBK no podía ganar</a:t>
            </a:r>
            <a:endParaRPr lang="en-US" sz="21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 name="Shape 3"/>
          <p:cNvSpPr/>
          <p:nvPr/>
        </p:nvSpPr>
        <p:spPr>
          <a:xfrm>
            <a:off x="658368" y="1627632"/>
            <a:ext cx="3487750" cy="402336"/>
          </a:xfrm>
          <a:prstGeom prst="rect">
            <a:avLst/>
          </a:prstGeom>
          <a:solidFill>
            <a:srgbClr val="445A6E"/>
          </a:solidFill>
          <a:ln/>
        </p:spPr>
        <p:txBody>
          <a:bodyPr/>
          <a:lstStyle/>
          <a:p>
            <a:endParaRPr lang="es-PE"/>
          </a:p>
        </p:txBody>
      </p:sp>
      <p:sp>
        <p:nvSpPr>
          <p:cNvPr id="7" name="Text 4"/>
          <p:cNvSpPr txBox="1"/>
          <p:nvPr/>
        </p:nvSpPr>
        <p:spPr>
          <a:xfrm>
            <a:off x="822960"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1 · V1</a:t>
            </a:r>
            <a:endParaRPr lang="en-US" sz="1200"/>
          </a:p>
        </p:txBody>
      </p:sp>
      <p:sp>
        <p:nvSpPr>
          <p:cNvPr id="8" name="Text 5"/>
          <p:cNvSpPr txBox="1"/>
          <p:nvPr/>
        </p:nvSpPr>
        <p:spPr>
          <a:xfrm>
            <a:off x="822960"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Universo total</a:t>
            </a:r>
            <a:endParaRPr lang="en-US" sz="1400"/>
          </a:p>
        </p:txBody>
      </p:sp>
      <p:sp>
        <p:nvSpPr>
          <p:cNvPr id="9" name="Text 6"/>
          <p:cNvSpPr txBox="1"/>
          <p:nvPr/>
        </p:nvSpPr>
        <p:spPr>
          <a:xfrm>
            <a:off x="822960"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Todos los desembolsos del cliente: competencia interna (otro producto de CT) y externa (otros bancos).</a:t>
            </a:r>
            <a:endParaRPr lang="en-US" sz="1100"/>
          </a:p>
        </p:txBody>
      </p:sp>
      <p:sp>
        <p:nvSpPr>
          <p:cNvPr id="10" name="Text 7"/>
          <p:cNvSpPr txBox="1"/>
          <p:nvPr/>
        </p:nvSpPr>
        <p:spPr>
          <a:xfrm>
            <a:off x="822960"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11" name="Shape 8"/>
          <p:cNvSpPr/>
          <p:nvPr/>
        </p:nvSpPr>
        <p:spPr>
          <a:xfrm>
            <a:off x="822960" y="4690872"/>
            <a:ext cx="721062" cy="347472"/>
          </a:xfrm>
          <a:prstGeom prst="rect">
            <a:avLst/>
          </a:prstGeom>
          <a:solidFill>
            <a:srgbClr val="8FCBC6"/>
          </a:solidFill>
          <a:ln/>
        </p:spPr>
        <p:txBody>
          <a:bodyPr/>
          <a:lstStyle/>
          <a:p>
            <a:endParaRPr lang="es-PE"/>
          </a:p>
        </p:txBody>
      </p:sp>
      <p:sp>
        <p:nvSpPr>
          <p:cNvPr id="12" name="Text 9"/>
          <p:cNvSpPr txBox="1"/>
          <p:nvPr/>
        </p:nvSpPr>
        <p:spPr>
          <a:xfrm>
            <a:off x="731520"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Interna</a:t>
            </a:r>
            <a:endParaRPr lang="en-US" sz="750"/>
          </a:p>
        </p:txBody>
      </p:sp>
      <p:sp>
        <p:nvSpPr>
          <p:cNvPr id="13" name="Shape 10"/>
          <p:cNvSpPr/>
          <p:nvPr/>
        </p:nvSpPr>
        <p:spPr>
          <a:xfrm>
            <a:off x="1635462" y="4690872"/>
            <a:ext cx="721062" cy="347472"/>
          </a:xfrm>
          <a:prstGeom prst="rect">
            <a:avLst/>
          </a:prstGeom>
          <a:solidFill>
            <a:srgbClr val="8FCBC6"/>
          </a:solidFill>
          <a:ln/>
        </p:spPr>
        <p:txBody>
          <a:bodyPr/>
          <a:lstStyle/>
          <a:p>
            <a:endParaRPr lang="es-PE"/>
          </a:p>
        </p:txBody>
      </p:sp>
      <p:sp>
        <p:nvSpPr>
          <p:cNvPr id="14" name="Text 11"/>
          <p:cNvSpPr txBox="1"/>
          <p:nvPr/>
        </p:nvSpPr>
        <p:spPr>
          <a:xfrm>
            <a:off x="154402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15" name="Shape 12"/>
          <p:cNvSpPr/>
          <p:nvPr/>
        </p:nvSpPr>
        <p:spPr>
          <a:xfrm>
            <a:off x="2447963" y="4690872"/>
            <a:ext cx="721062" cy="347472"/>
          </a:xfrm>
          <a:prstGeom prst="rect">
            <a:avLst/>
          </a:prstGeom>
          <a:solidFill>
            <a:srgbClr val="8FCBC6"/>
          </a:solidFill>
          <a:ln/>
        </p:spPr>
        <p:txBody>
          <a:bodyPr/>
          <a:lstStyle/>
          <a:p>
            <a:endParaRPr lang="es-PE"/>
          </a:p>
        </p:txBody>
      </p:sp>
      <p:sp>
        <p:nvSpPr>
          <p:cNvPr id="16" name="Text 13"/>
          <p:cNvSpPr txBox="1"/>
          <p:nvPr/>
        </p:nvSpPr>
        <p:spPr>
          <a:xfrm>
            <a:off x="235652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17" name="Shape 14"/>
          <p:cNvSpPr/>
          <p:nvPr/>
        </p:nvSpPr>
        <p:spPr>
          <a:xfrm>
            <a:off x="3260465" y="4690872"/>
            <a:ext cx="721062" cy="347472"/>
          </a:xfrm>
          <a:prstGeom prst="rect">
            <a:avLst/>
          </a:prstGeom>
          <a:solidFill>
            <a:srgbClr val="0C514E"/>
          </a:solidFill>
          <a:ln/>
        </p:spPr>
        <p:txBody>
          <a:bodyPr/>
          <a:lstStyle/>
          <a:p>
            <a:endParaRPr lang="es-PE"/>
          </a:p>
        </p:txBody>
      </p:sp>
      <p:sp>
        <p:nvSpPr>
          <p:cNvPr id="18" name="Text 15"/>
          <p:cNvSpPr txBox="1"/>
          <p:nvPr/>
        </p:nvSpPr>
        <p:spPr>
          <a:xfrm>
            <a:off x="3169025"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19" name="Shape 16"/>
          <p:cNvSpPr/>
          <p:nvPr/>
        </p:nvSpPr>
        <p:spPr>
          <a:xfrm>
            <a:off x="822960" y="5632704"/>
            <a:ext cx="3158566" cy="0"/>
          </a:xfrm>
          <a:prstGeom prst="line">
            <a:avLst/>
          </a:prstGeom>
          <a:noFill/>
          <a:ln w="9525">
            <a:solidFill>
              <a:srgbClr val="D5DFDE"/>
            </a:solidFill>
            <a:prstDash val="solid"/>
          </a:ln>
        </p:spPr>
        <p:txBody>
          <a:bodyPr/>
          <a:lstStyle/>
          <a:p>
            <a:endParaRPr lang="es-PE"/>
          </a:p>
        </p:txBody>
      </p:sp>
      <p:sp>
        <p:nvSpPr>
          <p:cNvPr id="20" name="Text 17"/>
          <p:cNvSpPr txBox="1"/>
          <p:nvPr/>
        </p:nvSpPr>
        <p:spPr>
          <a:xfrm>
            <a:off x="822960"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PUNTO DE PARTIDA</a:t>
            </a:r>
            <a:endParaRPr lang="en-US" sz="850"/>
          </a:p>
        </p:txBody>
      </p:sp>
      <p:sp>
        <p:nvSpPr>
          <p:cNvPr id="21" name="Text 18"/>
          <p:cNvSpPr txBox="1"/>
          <p:nvPr/>
        </p:nvSpPr>
        <p:spPr>
          <a:xfrm>
            <a:off x="822960" y="5961888"/>
            <a:ext cx="3158566" cy="347472"/>
          </a:xfrm>
          <a:prstGeom prst="rect">
            <a:avLst/>
          </a:prstGeom>
          <a:noFill/>
          <a:ln/>
        </p:spPr>
        <p:txBody>
          <a:bodyPr wrap="square" lIns="0" tIns="0" rIns="0" bIns="0" rtlCol="0" anchor="ctr"/>
          <a:lstStyle/>
          <a:p>
            <a:pPr marL="0" indent="0">
              <a:buNone/>
            </a:pPr>
            <a:r>
              <a:rPr lang="en-US" sz="1500" b="1">
                <a:solidFill>
                  <a:srgbClr val="13807B"/>
                </a:solidFill>
                <a:latin typeface="Arial" pitchFamily="34" charset="0"/>
                <a:ea typeface="Arial" pitchFamily="34" charset="-122"/>
                <a:cs typeface="Arial" pitchFamily="34" charset="-120"/>
              </a:rPr>
              <a:t>Todo el universo relevante</a:t>
            </a:r>
            <a:endParaRPr lang="en-US" sz="1500"/>
          </a:p>
        </p:txBody>
      </p:sp>
      <p:sp>
        <p:nvSpPr>
          <p:cNvPr id="22" name="Shape 19"/>
          <p:cNvSpPr/>
          <p:nvPr/>
        </p:nvSpPr>
        <p:spPr>
          <a:xfrm>
            <a:off x="4200982" y="3872484"/>
            <a:ext cx="219456" cy="402336"/>
          </a:xfrm>
          <a:prstGeom prst="chevron">
            <a:avLst/>
          </a:prstGeom>
          <a:solidFill>
            <a:srgbClr val="D5DFDE"/>
          </a:solidFill>
          <a:ln/>
        </p:spPr>
        <p:txBody>
          <a:bodyPr/>
          <a:lstStyle/>
          <a:p>
            <a:endParaRPr lang="es-PE"/>
          </a:p>
        </p:txBody>
      </p:sp>
      <p:sp>
        <p:nvSpPr>
          <p:cNvPr id="23" name="Shape 20"/>
          <p:cNvSpPr/>
          <p:nvPr/>
        </p:nvSpPr>
        <p:spPr>
          <a:xfrm>
            <a:off x="4475302"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24" name="Shape 21"/>
          <p:cNvSpPr/>
          <p:nvPr/>
        </p:nvSpPr>
        <p:spPr>
          <a:xfrm>
            <a:off x="4475302" y="1627632"/>
            <a:ext cx="3487750" cy="402336"/>
          </a:xfrm>
          <a:prstGeom prst="rect">
            <a:avLst/>
          </a:prstGeom>
          <a:solidFill>
            <a:srgbClr val="2F9E98"/>
          </a:solidFill>
          <a:ln/>
        </p:spPr>
        <p:txBody>
          <a:bodyPr/>
          <a:lstStyle/>
          <a:p>
            <a:endParaRPr lang="es-PE"/>
          </a:p>
        </p:txBody>
      </p:sp>
      <p:sp>
        <p:nvSpPr>
          <p:cNvPr id="25" name="Text 22"/>
          <p:cNvSpPr txBox="1"/>
          <p:nvPr/>
        </p:nvSpPr>
        <p:spPr>
          <a:xfrm>
            <a:off x="4639894"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2 · V2</a:t>
            </a:r>
            <a:endParaRPr lang="en-US" sz="1200"/>
          </a:p>
        </p:txBody>
      </p:sp>
      <p:sp>
        <p:nvSpPr>
          <p:cNvPr id="26" name="Text 23"/>
          <p:cNvSpPr txBox="1"/>
          <p:nvPr/>
        </p:nvSpPr>
        <p:spPr>
          <a:xfrm>
            <a:off x="4639894"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Sin competencia interna</a:t>
            </a:r>
            <a:endParaRPr lang="en-US" sz="1400"/>
          </a:p>
        </p:txBody>
      </p:sp>
      <p:sp>
        <p:nvSpPr>
          <p:cNvPr id="27" name="Text 24"/>
          <p:cNvSpPr txBox="1"/>
          <p:nvPr/>
        </p:nvSpPr>
        <p:spPr>
          <a:xfrm>
            <a:off x="4639894"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28" name="Text 25"/>
          <p:cNvSpPr txBox="1"/>
          <p:nvPr/>
        </p:nvSpPr>
        <p:spPr>
          <a:xfrm>
            <a:off x="4639894"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29" name="Shape 26"/>
          <p:cNvSpPr/>
          <p:nvPr/>
        </p:nvSpPr>
        <p:spPr>
          <a:xfrm>
            <a:off x="463989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30" name="Text 27"/>
          <p:cNvSpPr txBox="1"/>
          <p:nvPr/>
        </p:nvSpPr>
        <p:spPr>
          <a:xfrm>
            <a:off x="454845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31" name="Shape 28"/>
          <p:cNvSpPr/>
          <p:nvPr/>
        </p:nvSpPr>
        <p:spPr>
          <a:xfrm>
            <a:off x="5452396" y="4690872"/>
            <a:ext cx="721062" cy="347472"/>
          </a:xfrm>
          <a:prstGeom prst="rect">
            <a:avLst/>
          </a:prstGeom>
          <a:solidFill>
            <a:srgbClr val="8FCBC6"/>
          </a:solidFill>
          <a:ln/>
        </p:spPr>
        <p:txBody>
          <a:bodyPr/>
          <a:lstStyle/>
          <a:p>
            <a:endParaRPr lang="es-PE"/>
          </a:p>
        </p:txBody>
      </p:sp>
      <p:sp>
        <p:nvSpPr>
          <p:cNvPr id="32" name="Text 29"/>
          <p:cNvSpPr txBox="1"/>
          <p:nvPr/>
        </p:nvSpPr>
        <p:spPr>
          <a:xfrm>
            <a:off x="5360956"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33" name="Shape 30"/>
          <p:cNvSpPr/>
          <p:nvPr/>
        </p:nvSpPr>
        <p:spPr>
          <a:xfrm>
            <a:off x="6264897" y="4690872"/>
            <a:ext cx="721062" cy="347472"/>
          </a:xfrm>
          <a:prstGeom prst="rect">
            <a:avLst/>
          </a:prstGeom>
          <a:solidFill>
            <a:srgbClr val="8FCBC6"/>
          </a:solidFill>
          <a:ln/>
        </p:spPr>
        <p:txBody>
          <a:bodyPr/>
          <a:lstStyle/>
          <a:p>
            <a:endParaRPr lang="es-PE"/>
          </a:p>
        </p:txBody>
      </p:sp>
      <p:sp>
        <p:nvSpPr>
          <p:cNvPr id="34" name="Text 31"/>
          <p:cNvSpPr txBox="1"/>
          <p:nvPr/>
        </p:nvSpPr>
        <p:spPr>
          <a:xfrm>
            <a:off x="617345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35" name="Shape 32"/>
          <p:cNvSpPr/>
          <p:nvPr/>
        </p:nvSpPr>
        <p:spPr>
          <a:xfrm>
            <a:off x="7077399" y="4690872"/>
            <a:ext cx="721062" cy="347472"/>
          </a:xfrm>
          <a:prstGeom prst="rect">
            <a:avLst/>
          </a:prstGeom>
          <a:solidFill>
            <a:srgbClr val="0C514E"/>
          </a:solidFill>
          <a:ln/>
        </p:spPr>
        <p:txBody>
          <a:bodyPr/>
          <a:lstStyle/>
          <a:p>
            <a:endParaRPr lang="es-PE"/>
          </a:p>
        </p:txBody>
      </p:sp>
      <p:sp>
        <p:nvSpPr>
          <p:cNvPr id="36" name="Text 33"/>
          <p:cNvSpPr txBox="1"/>
          <p:nvPr/>
        </p:nvSpPr>
        <p:spPr>
          <a:xfrm>
            <a:off x="6985959"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37" name="Shape 34"/>
          <p:cNvSpPr/>
          <p:nvPr/>
        </p:nvSpPr>
        <p:spPr>
          <a:xfrm>
            <a:off x="4639894" y="5632704"/>
            <a:ext cx="3158566" cy="0"/>
          </a:xfrm>
          <a:prstGeom prst="line">
            <a:avLst/>
          </a:prstGeom>
          <a:noFill/>
          <a:ln w="9525">
            <a:solidFill>
              <a:srgbClr val="D5DFDE"/>
            </a:solidFill>
            <a:prstDash val="solid"/>
          </a:ln>
        </p:spPr>
        <p:txBody>
          <a:bodyPr/>
          <a:lstStyle/>
          <a:p>
            <a:endParaRPr lang="es-PE"/>
          </a:p>
        </p:txBody>
      </p:sp>
      <p:sp>
        <p:nvSpPr>
          <p:cNvPr id="38" name="Text 35"/>
          <p:cNvSpPr txBox="1"/>
          <p:nvPr/>
        </p:nvSpPr>
        <p:spPr>
          <a:xfrm>
            <a:off x="4639894"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39" name="Text 36"/>
          <p:cNvSpPr txBox="1"/>
          <p:nvPr/>
        </p:nvSpPr>
        <p:spPr>
          <a:xfrm>
            <a:off x="4639894"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Competencia interna</a:t>
            </a:r>
            <a:endParaRPr lang="en-US" sz="1500"/>
          </a:p>
        </p:txBody>
      </p:sp>
      <p:sp>
        <p:nvSpPr>
          <p:cNvPr id="40" name="Shape 37"/>
          <p:cNvSpPr/>
          <p:nvPr/>
        </p:nvSpPr>
        <p:spPr>
          <a:xfrm>
            <a:off x="8017916" y="3872484"/>
            <a:ext cx="219456" cy="402336"/>
          </a:xfrm>
          <a:prstGeom prst="chevron">
            <a:avLst/>
          </a:prstGeom>
          <a:solidFill>
            <a:srgbClr val="D5DFDE"/>
          </a:solidFill>
          <a:ln/>
        </p:spPr>
        <p:txBody>
          <a:bodyPr/>
          <a:lstStyle/>
          <a:p>
            <a:endParaRPr lang="es-PE"/>
          </a:p>
        </p:txBody>
      </p:sp>
      <p:sp>
        <p:nvSpPr>
          <p:cNvPr id="41" name="Shape 38"/>
          <p:cNvSpPr/>
          <p:nvPr/>
        </p:nvSpPr>
        <p:spPr>
          <a:xfrm>
            <a:off x="8292236"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42" name="Shape 39"/>
          <p:cNvSpPr/>
          <p:nvPr/>
        </p:nvSpPr>
        <p:spPr>
          <a:xfrm>
            <a:off x="8292236" y="1627632"/>
            <a:ext cx="3487750" cy="402336"/>
          </a:xfrm>
          <a:prstGeom prst="rect">
            <a:avLst/>
          </a:prstGeom>
          <a:solidFill>
            <a:srgbClr val="13807B"/>
          </a:solidFill>
          <a:ln/>
        </p:spPr>
        <p:txBody>
          <a:bodyPr/>
          <a:lstStyle/>
          <a:p>
            <a:endParaRPr lang="es-PE"/>
          </a:p>
        </p:txBody>
      </p:sp>
      <p:sp>
        <p:nvSpPr>
          <p:cNvPr id="43" name="Text 40"/>
          <p:cNvSpPr txBox="1"/>
          <p:nvPr/>
        </p:nvSpPr>
        <p:spPr>
          <a:xfrm>
            <a:off x="8456828"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3 · V3</a:t>
            </a:r>
            <a:endParaRPr lang="en-US" sz="1200"/>
          </a:p>
        </p:txBody>
      </p:sp>
      <p:sp>
        <p:nvSpPr>
          <p:cNvPr id="44" name="Text 41"/>
          <p:cNvSpPr txBox="1"/>
          <p:nvPr/>
        </p:nvSpPr>
        <p:spPr>
          <a:xfrm>
            <a:off x="8456828"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a:t>
            </a:r>
            <a:endParaRPr lang="en-US" sz="1400"/>
          </a:p>
        </p:txBody>
      </p:sp>
      <p:sp>
        <p:nvSpPr>
          <p:cNvPr id="45" name="Text 42"/>
          <p:cNvSpPr txBox="1"/>
          <p:nvPr/>
        </p:nvSpPr>
        <p:spPr>
          <a:xfrm>
            <a:off x="8456828"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con un monto muy distinto al que maneja el cliente (mayor al 120% del monto ofertado).</a:t>
            </a:r>
            <a:endParaRPr lang="en-US" sz="1100"/>
          </a:p>
        </p:txBody>
      </p:sp>
      <p:sp>
        <p:nvSpPr>
          <p:cNvPr id="46" name="Text 43"/>
          <p:cNvSpPr txBox="1"/>
          <p:nvPr/>
        </p:nvSpPr>
        <p:spPr>
          <a:xfrm>
            <a:off x="8456828"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47" name="Shape 44"/>
          <p:cNvSpPr/>
          <p:nvPr/>
        </p:nvSpPr>
        <p:spPr>
          <a:xfrm>
            <a:off x="8456828"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48" name="Text 45"/>
          <p:cNvSpPr txBox="1"/>
          <p:nvPr/>
        </p:nvSpPr>
        <p:spPr>
          <a:xfrm>
            <a:off x="8365388"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49" name="Shape 46"/>
          <p:cNvSpPr/>
          <p:nvPr/>
        </p:nvSpPr>
        <p:spPr>
          <a:xfrm>
            <a:off x="9269330"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50" name="Text 47"/>
          <p:cNvSpPr txBox="1"/>
          <p:nvPr/>
        </p:nvSpPr>
        <p:spPr>
          <a:xfrm>
            <a:off x="9177890"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51" name="Shape 48"/>
          <p:cNvSpPr/>
          <p:nvPr/>
        </p:nvSpPr>
        <p:spPr>
          <a:xfrm>
            <a:off x="10081832" y="4690872"/>
            <a:ext cx="721062" cy="347472"/>
          </a:xfrm>
          <a:prstGeom prst="rect">
            <a:avLst/>
          </a:prstGeom>
          <a:solidFill>
            <a:srgbClr val="8FCBC6"/>
          </a:solidFill>
          <a:ln/>
        </p:spPr>
        <p:txBody>
          <a:bodyPr/>
          <a:lstStyle/>
          <a:p>
            <a:endParaRPr lang="es-PE"/>
          </a:p>
        </p:txBody>
      </p:sp>
      <p:sp>
        <p:nvSpPr>
          <p:cNvPr id="52" name="Text 49"/>
          <p:cNvSpPr txBox="1"/>
          <p:nvPr/>
        </p:nvSpPr>
        <p:spPr>
          <a:xfrm>
            <a:off x="999039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53" name="Shape 50"/>
          <p:cNvSpPr/>
          <p:nvPr/>
        </p:nvSpPr>
        <p:spPr>
          <a:xfrm>
            <a:off x="10894333" y="4690872"/>
            <a:ext cx="721062" cy="347472"/>
          </a:xfrm>
          <a:prstGeom prst="rect">
            <a:avLst/>
          </a:prstGeom>
          <a:solidFill>
            <a:srgbClr val="0C514E"/>
          </a:solidFill>
          <a:ln/>
        </p:spPr>
        <p:txBody>
          <a:bodyPr/>
          <a:lstStyle/>
          <a:p>
            <a:endParaRPr lang="es-PE"/>
          </a:p>
        </p:txBody>
      </p:sp>
      <p:sp>
        <p:nvSpPr>
          <p:cNvPr id="54" name="Text 51"/>
          <p:cNvSpPr txBox="1"/>
          <p:nvPr/>
        </p:nvSpPr>
        <p:spPr>
          <a:xfrm>
            <a:off x="1080289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55" name="Shape 52"/>
          <p:cNvSpPr/>
          <p:nvPr/>
        </p:nvSpPr>
        <p:spPr>
          <a:xfrm>
            <a:off x="8456828" y="5632704"/>
            <a:ext cx="3158566" cy="0"/>
          </a:xfrm>
          <a:prstGeom prst="line">
            <a:avLst/>
          </a:prstGeom>
          <a:noFill/>
          <a:ln w="9525">
            <a:solidFill>
              <a:srgbClr val="D5DFDE"/>
            </a:solidFill>
            <a:prstDash val="solid"/>
          </a:ln>
        </p:spPr>
        <p:txBody>
          <a:bodyPr/>
          <a:lstStyle/>
          <a:p>
            <a:endParaRPr lang="es-PE"/>
          </a:p>
        </p:txBody>
      </p:sp>
      <p:sp>
        <p:nvSpPr>
          <p:cNvPr id="56" name="Text 53"/>
          <p:cNvSpPr txBox="1"/>
          <p:nvPr/>
        </p:nvSpPr>
        <p:spPr>
          <a:xfrm>
            <a:off x="8456828"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57" name="Text 54"/>
          <p:cNvSpPr txBox="1"/>
          <p:nvPr/>
        </p:nvSpPr>
        <p:spPr>
          <a:xfrm>
            <a:off x="8456828"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Monto no comparable</a:t>
            </a:r>
            <a:endParaRPr lang="en-US" sz="1500"/>
          </a:p>
        </p:txBody>
      </p:sp>
      <p:sp>
        <p:nvSpPr>
          <p:cNvPr id="58" name="Shape 55"/>
          <p:cNvSpPr/>
          <p:nvPr/>
        </p:nvSpPr>
        <p:spPr>
          <a:xfrm>
            <a:off x="11834851" y="3872484"/>
            <a:ext cx="219456" cy="402336"/>
          </a:xfrm>
          <a:prstGeom prst="chevron">
            <a:avLst/>
          </a:prstGeom>
          <a:solidFill>
            <a:srgbClr val="D5DFDE"/>
          </a:solidFill>
          <a:ln/>
        </p:spPr>
        <p:txBody>
          <a:bodyPr/>
          <a:lstStyle/>
          <a:p>
            <a:endParaRPr lang="es-PE"/>
          </a:p>
        </p:txBody>
      </p:sp>
      <p:sp>
        <p:nvSpPr>
          <p:cNvPr id="59" name="Shape 56"/>
          <p:cNvSpPr/>
          <p:nvPr/>
        </p:nvSpPr>
        <p:spPr>
          <a:xfrm>
            <a:off x="12109171"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0" name="Shape 57"/>
          <p:cNvSpPr/>
          <p:nvPr/>
        </p:nvSpPr>
        <p:spPr>
          <a:xfrm>
            <a:off x="12109171" y="1627632"/>
            <a:ext cx="3487750" cy="402336"/>
          </a:xfrm>
          <a:prstGeom prst="rect">
            <a:avLst/>
          </a:prstGeom>
          <a:solidFill>
            <a:srgbClr val="0C514E"/>
          </a:solidFill>
          <a:ln/>
        </p:spPr>
        <p:txBody>
          <a:bodyPr/>
          <a:lstStyle/>
          <a:p>
            <a:endParaRPr lang="es-PE"/>
          </a:p>
        </p:txBody>
      </p:sp>
      <p:sp>
        <p:nvSpPr>
          <p:cNvPr id="61" name="Text 58"/>
          <p:cNvSpPr txBox="1"/>
          <p:nvPr/>
        </p:nvSpPr>
        <p:spPr>
          <a:xfrm>
            <a:off x="12273763"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4 · V4</a:t>
            </a:r>
            <a:endParaRPr lang="en-US" sz="1200"/>
          </a:p>
        </p:txBody>
      </p:sp>
      <p:sp>
        <p:nvSpPr>
          <p:cNvPr id="62" name="Text 59"/>
          <p:cNvSpPr txBox="1"/>
          <p:nvPr/>
        </p:nvSpPr>
        <p:spPr>
          <a:xfrm>
            <a:off x="12273763"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 y gestionado</a:t>
            </a:r>
            <a:endParaRPr lang="en-US" sz="1400"/>
          </a:p>
        </p:txBody>
      </p:sp>
      <p:sp>
        <p:nvSpPr>
          <p:cNvPr id="63" name="Text 60"/>
          <p:cNvSpPr txBox="1"/>
          <p:nvPr/>
        </p:nvSpPr>
        <p:spPr>
          <a:xfrm>
            <a:off x="12273763"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de monto comparable que IBK no gestionó activamente.</a:t>
            </a:r>
            <a:endParaRPr lang="en-US" sz="1100"/>
          </a:p>
        </p:txBody>
      </p:sp>
      <p:sp>
        <p:nvSpPr>
          <p:cNvPr id="64" name="Text 61"/>
          <p:cNvSpPr txBox="1"/>
          <p:nvPr/>
        </p:nvSpPr>
        <p:spPr>
          <a:xfrm>
            <a:off x="12273763"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65" name="Shape 62"/>
          <p:cNvSpPr/>
          <p:nvPr/>
        </p:nvSpPr>
        <p:spPr>
          <a:xfrm>
            <a:off x="12273763"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6" name="Text 63"/>
          <p:cNvSpPr txBox="1"/>
          <p:nvPr/>
        </p:nvSpPr>
        <p:spPr>
          <a:xfrm>
            <a:off x="12182323"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67" name="Shape 64"/>
          <p:cNvSpPr/>
          <p:nvPr/>
        </p:nvSpPr>
        <p:spPr>
          <a:xfrm>
            <a:off x="1308626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8" name="Text 65"/>
          <p:cNvSpPr txBox="1"/>
          <p:nvPr/>
        </p:nvSpPr>
        <p:spPr>
          <a:xfrm>
            <a:off x="1299482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69" name="Shape 66"/>
          <p:cNvSpPr/>
          <p:nvPr/>
        </p:nvSpPr>
        <p:spPr>
          <a:xfrm>
            <a:off x="13898766"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70" name="Text 67"/>
          <p:cNvSpPr txBox="1"/>
          <p:nvPr/>
        </p:nvSpPr>
        <p:spPr>
          <a:xfrm>
            <a:off x="13807326"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gest.</a:t>
            </a:r>
            <a:endParaRPr lang="en-US" sz="750"/>
          </a:p>
        </p:txBody>
      </p:sp>
      <p:sp>
        <p:nvSpPr>
          <p:cNvPr id="71" name="Shape 68"/>
          <p:cNvSpPr/>
          <p:nvPr/>
        </p:nvSpPr>
        <p:spPr>
          <a:xfrm>
            <a:off x="14711267" y="4690872"/>
            <a:ext cx="721062" cy="347472"/>
          </a:xfrm>
          <a:prstGeom prst="rect">
            <a:avLst/>
          </a:prstGeom>
          <a:solidFill>
            <a:srgbClr val="0C514E"/>
          </a:solidFill>
          <a:ln/>
        </p:spPr>
        <p:txBody>
          <a:bodyPr/>
          <a:lstStyle/>
          <a:p>
            <a:endParaRPr lang="es-PE"/>
          </a:p>
        </p:txBody>
      </p:sp>
      <p:sp>
        <p:nvSpPr>
          <p:cNvPr id="72" name="Text 69"/>
          <p:cNvSpPr txBox="1"/>
          <p:nvPr/>
        </p:nvSpPr>
        <p:spPr>
          <a:xfrm>
            <a:off x="1461982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73" name="Shape 70"/>
          <p:cNvSpPr/>
          <p:nvPr/>
        </p:nvSpPr>
        <p:spPr>
          <a:xfrm>
            <a:off x="12273763" y="5632704"/>
            <a:ext cx="3158566" cy="0"/>
          </a:xfrm>
          <a:prstGeom prst="line">
            <a:avLst/>
          </a:prstGeom>
          <a:noFill/>
          <a:ln w="9525">
            <a:solidFill>
              <a:srgbClr val="D5DFDE"/>
            </a:solidFill>
            <a:prstDash val="solid"/>
          </a:ln>
        </p:spPr>
        <p:txBody>
          <a:bodyPr/>
          <a:lstStyle/>
          <a:p>
            <a:endParaRPr lang="es-PE"/>
          </a:p>
        </p:txBody>
      </p:sp>
      <p:sp>
        <p:nvSpPr>
          <p:cNvPr id="74" name="Text 71"/>
          <p:cNvSpPr txBox="1"/>
          <p:nvPr/>
        </p:nvSpPr>
        <p:spPr>
          <a:xfrm>
            <a:off x="12273763"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75" name="Text 72"/>
          <p:cNvSpPr txBox="1"/>
          <p:nvPr/>
        </p:nvSpPr>
        <p:spPr>
          <a:xfrm>
            <a:off x="12273763"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No gestionado</a:t>
            </a:r>
            <a:endParaRPr lang="en-US" sz="1500"/>
          </a:p>
        </p:txBody>
      </p:sp>
      <p:sp>
        <p:nvSpPr>
          <p:cNvPr id="76" name="Shape 73"/>
          <p:cNvSpPr/>
          <p:nvPr/>
        </p:nvSpPr>
        <p:spPr>
          <a:xfrm>
            <a:off x="658368" y="6739128"/>
            <a:ext cx="14938553" cy="777240"/>
          </a:xfrm>
          <a:prstGeom prst="rect">
            <a:avLst/>
          </a:prstGeom>
          <a:solidFill>
            <a:srgbClr val="F6FBFA"/>
          </a:solidFill>
          <a:ln w="9525">
            <a:solidFill>
              <a:srgbClr val="D5DFDE"/>
            </a:solidFill>
            <a:prstDash val="solid"/>
          </a:ln>
        </p:spPr>
        <p:txBody>
          <a:bodyPr/>
          <a:lstStyle/>
          <a:p>
            <a:endParaRPr lang="es-PE"/>
          </a:p>
        </p:txBody>
      </p:sp>
      <p:sp>
        <p:nvSpPr>
          <p:cNvPr id="77" name="Text 74"/>
          <p:cNvSpPr txBox="1"/>
          <p:nvPr/>
        </p:nvSpPr>
        <p:spPr>
          <a:xfrm>
            <a:off x="914400" y="6830568"/>
            <a:ext cx="14538960" cy="594360"/>
          </a:xfrm>
          <a:prstGeom prst="rect">
            <a:avLst/>
          </a:prstGeom>
          <a:noFill/>
          <a:ln/>
        </p:spPr>
        <p:txBody>
          <a:bodyPr wrap="square" lIns="0" tIns="0" rIns="0" bIns="0" rtlCol="0" anchor="t"/>
          <a:lstStyle/>
          <a:p>
            <a:pPr marL="0" indent="0">
              <a:lnSpc>
                <a:spcPct val="115000"/>
              </a:lnSpc>
              <a:buNone/>
            </a:pPr>
            <a:r>
              <a:rPr lang="en-US" sz="1100" b="1">
                <a:solidFill>
                  <a:srgbClr val="13807B"/>
                </a:solidFill>
                <a:latin typeface="Arial" pitchFamily="34" charset="0"/>
                <a:ea typeface="Arial" pitchFamily="34" charset="-122"/>
                <a:cs typeface="Arial" pitchFamily="34" charset="-120"/>
              </a:rPr>
              <a:t>En la práctica  </a:t>
            </a:r>
            <a:r>
              <a:rPr lang="en-US" sz="1100">
                <a:solidFill>
                  <a:srgbClr val="0B2E2C"/>
                </a:solidFill>
                <a:latin typeface="Arial" pitchFamily="34" charset="0"/>
                <a:ea typeface="Arial" pitchFamily="34" charset="-122"/>
                <a:cs typeface="Arial" pitchFamily="34" charset="-120"/>
              </a:rPr>
              <a:t>V1 siempre es el número más chico y V4 el más grande, porque cada capa compara contra un grupo más parecido al cliente. La distancia entre dos capas seguidas indica cuánto pesa lo que esa capa retiró: si V4 es mucho más alto que V3, gran parte de lo que en V1 parecía "competencia perdida" en realidad eran oportunidades que IBK no gestionó, no clientes que se fueron con otro banco.</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CON DEUDA · UNIDADES (N)</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Los 6 clusters con deuda caen sin excepción, con la TEA estable — hay espacio para testear una baja selectiva</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Ancla</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2,4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-26 pp</a:t>
            </a:r>
            <a:endParaRPr lang="en-US" sz="750"/>
          </a:p>
        </p:txBody>
      </p:sp>
      <p:sp>
        <p:nvSpPr>
          <p:cNvPr id="12" name="Shape 9"/>
          <p:cNvSpPr/>
          <p:nvPr/>
        </p:nvSpPr>
        <p:spPr>
          <a:xfrm>
            <a:off x="65836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a:off x="1078992" y="2143910"/>
            <a:ext cx="1071143" cy="19342"/>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63252"/>
            <a:ext cx="1071143" cy="96708"/>
          </a:xfrm>
          <a:prstGeom prst="line">
            <a:avLst/>
          </a:prstGeom>
          <a:noFill/>
          <a:ln w="19050">
            <a:solidFill>
              <a:srgbClr val="0B2E2C"/>
            </a:solidFill>
            <a:prstDash val="solid"/>
          </a:ln>
        </p:spPr>
        <p:txBody>
          <a:bodyPr/>
          <a:lstStyle/>
          <a:p>
            <a:endParaRPr lang="es-PE"/>
          </a:p>
        </p:txBody>
      </p:sp>
      <p:sp>
        <p:nvSpPr>
          <p:cNvPr id="16" name="Shape 13"/>
          <p:cNvSpPr/>
          <p:nvPr/>
        </p:nvSpPr>
        <p:spPr>
          <a:xfrm flipV="1">
            <a:off x="3221279" y="2230947"/>
            <a:ext cx="1071143" cy="29012"/>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163252"/>
            <a:ext cx="1071143" cy="67695"/>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405021"/>
            <a:ext cx="1071143" cy="48354"/>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405021"/>
            <a:ext cx="1071143" cy="0"/>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405021"/>
            <a:ext cx="1071143" cy="48354"/>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414692"/>
            <a:ext cx="1071143" cy="38683"/>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194274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20,6</a:t>
            </a:r>
            <a:endParaRPr lang="en-US" sz="700"/>
          </a:p>
        </p:txBody>
      </p:sp>
      <p:sp>
        <p:nvSpPr>
          <p:cNvPr id="23" name="Text 20"/>
          <p:cNvSpPr txBox="1"/>
          <p:nvPr/>
        </p:nvSpPr>
        <p:spPr>
          <a:xfrm>
            <a:off x="5043526" y="19620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20,4</a:t>
            </a:r>
            <a:endParaRPr lang="en-US" sz="700"/>
          </a:p>
        </p:txBody>
      </p:sp>
      <p:sp>
        <p:nvSpPr>
          <p:cNvPr id="24" name="Text 21"/>
          <p:cNvSpPr txBox="1"/>
          <p:nvPr/>
        </p:nvSpPr>
        <p:spPr>
          <a:xfrm>
            <a:off x="758952" y="250823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17,4</a:t>
            </a:r>
            <a:endParaRPr lang="en-US" sz="700"/>
          </a:p>
        </p:txBody>
      </p:sp>
      <p:sp>
        <p:nvSpPr>
          <p:cNvPr id="25" name="Text 22"/>
          <p:cNvSpPr txBox="1"/>
          <p:nvPr/>
        </p:nvSpPr>
        <p:spPr>
          <a:xfrm>
            <a:off x="5043526" y="24695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17,8</a:t>
            </a:r>
            <a:endParaRPr lang="en-US" sz="700"/>
          </a:p>
        </p:txBody>
      </p:sp>
      <p:sp>
        <p:nvSpPr>
          <p:cNvPr id="26" name="Text 23"/>
          <p:cNvSpPr txBox="1"/>
          <p:nvPr/>
        </p:nvSpPr>
        <p:spPr>
          <a:xfrm>
            <a:off x="71323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2958985"/>
            <a:ext cx="728899" cy="273419"/>
          </a:xfrm>
          <a:prstGeom prst="rect">
            <a:avLst/>
          </a:prstGeom>
          <a:solidFill>
            <a:srgbClr val="13807B"/>
          </a:solidFill>
          <a:ln/>
        </p:spPr>
        <p:txBody>
          <a:bodyPr/>
          <a:lstStyle/>
          <a:p>
            <a:endParaRPr lang="es-PE"/>
          </a:p>
        </p:txBody>
      </p:sp>
      <p:sp>
        <p:nvSpPr>
          <p:cNvPr id="28" name="Text 25"/>
          <p:cNvSpPr txBox="1"/>
          <p:nvPr/>
        </p:nvSpPr>
        <p:spPr>
          <a:xfrm>
            <a:off x="1005840" y="277610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29" name="Text 26"/>
          <p:cNvSpPr txBox="1"/>
          <p:nvPr/>
        </p:nvSpPr>
        <p:spPr>
          <a:xfrm>
            <a:off x="96012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2965907"/>
            <a:ext cx="728899" cy="266497"/>
          </a:xfrm>
          <a:prstGeom prst="rect">
            <a:avLst/>
          </a:prstGeom>
          <a:solidFill>
            <a:srgbClr val="13807B"/>
          </a:solidFill>
          <a:ln/>
        </p:spPr>
        <p:txBody>
          <a:bodyPr/>
          <a:lstStyle/>
          <a:p>
            <a:endParaRPr lang="es-PE"/>
          </a:p>
        </p:txBody>
      </p:sp>
      <p:sp>
        <p:nvSpPr>
          <p:cNvPr id="31" name="Text 28"/>
          <p:cNvSpPr txBox="1"/>
          <p:nvPr/>
        </p:nvSpPr>
        <p:spPr>
          <a:xfrm>
            <a:off x="1862755" y="278302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77%</a:t>
            </a:r>
            <a:endParaRPr lang="en-US" sz="750"/>
          </a:p>
        </p:txBody>
      </p:sp>
      <p:sp>
        <p:nvSpPr>
          <p:cNvPr id="32" name="Text 29"/>
          <p:cNvSpPr txBox="1"/>
          <p:nvPr/>
        </p:nvSpPr>
        <p:spPr>
          <a:xfrm>
            <a:off x="1817035"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2969368"/>
            <a:ext cx="728899" cy="263036"/>
          </a:xfrm>
          <a:prstGeom prst="rect">
            <a:avLst/>
          </a:prstGeom>
          <a:solidFill>
            <a:srgbClr val="13807B"/>
          </a:solidFill>
          <a:ln/>
        </p:spPr>
        <p:txBody>
          <a:bodyPr/>
          <a:lstStyle/>
          <a:p>
            <a:endParaRPr lang="es-PE"/>
          </a:p>
        </p:txBody>
      </p:sp>
      <p:sp>
        <p:nvSpPr>
          <p:cNvPr id="34" name="Text 31"/>
          <p:cNvSpPr txBox="1"/>
          <p:nvPr/>
        </p:nvSpPr>
        <p:spPr>
          <a:xfrm>
            <a:off x="2719669" y="278648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76%</a:t>
            </a:r>
            <a:endParaRPr lang="en-US" sz="750"/>
          </a:p>
        </p:txBody>
      </p:sp>
      <p:sp>
        <p:nvSpPr>
          <p:cNvPr id="35" name="Text 32"/>
          <p:cNvSpPr txBox="1"/>
          <p:nvPr/>
        </p:nvSpPr>
        <p:spPr>
          <a:xfrm>
            <a:off x="267394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3003978"/>
            <a:ext cx="728899" cy="228426"/>
          </a:xfrm>
          <a:prstGeom prst="rect">
            <a:avLst/>
          </a:prstGeom>
          <a:solidFill>
            <a:srgbClr val="13807B"/>
          </a:solidFill>
          <a:ln/>
        </p:spPr>
        <p:txBody>
          <a:bodyPr/>
          <a:lstStyle/>
          <a:p>
            <a:endParaRPr lang="es-PE"/>
          </a:p>
        </p:txBody>
      </p:sp>
      <p:sp>
        <p:nvSpPr>
          <p:cNvPr id="37" name="Text 34"/>
          <p:cNvSpPr txBox="1"/>
          <p:nvPr/>
        </p:nvSpPr>
        <p:spPr>
          <a:xfrm>
            <a:off x="3576584" y="28210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66%</a:t>
            </a:r>
            <a:endParaRPr lang="en-US" sz="750"/>
          </a:p>
        </p:txBody>
      </p:sp>
      <p:sp>
        <p:nvSpPr>
          <p:cNvPr id="38" name="Text 35"/>
          <p:cNvSpPr txBox="1"/>
          <p:nvPr/>
        </p:nvSpPr>
        <p:spPr>
          <a:xfrm>
            <a:off x="353086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3048971"/>
            <a:ext cx="728899" cy="183433"/>
          </a:xfrm>
          <a:prstGeom prst="rect">
            <a:avLst/>
          </a:prstGeom>
          <a:solidFill>
            <a:srgbClr val="13807B"/>
          </a:solidFill>
          <a:ln/>
        </p:spPr>
        <p:txBody>
          <a:bodyPr/>
          <a:lstStyle/>
          <a:p>
            <a:endParaRPr lang="es-PE"/>
          </a:p>
        </p:txBody>
      </p:sp>
      <p:sp>
        <p:nvSpPr>
          <p:cNvPr id="40" name="Text 37"/>
          <p:cNvSpPr txBox="1"/>
          <p:nvPr/>
        </p:nvSpPr>
        <p:spPr>
          <a:xfrm>
            <a:off x="4433499" y="286609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53%</a:t>
            </a:r>
            <a:endParaRPr lang="en-US" sz="750"/>
          </a:p>
        </p:txBody>
      </p:sp>
      <p:sp>
        <p:nvSpPr>
          <p:cNvPr id="41" name="Text 38"/>
          <p:cNvSpPr txBox="1"/>
          <p:nvPr/>
        </p:nvSpPr>
        <p:spPr>
          <a:xfrm>
            <a:off x="438777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3232404"/>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Socio en Crecimiento</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-28 pp</a:t>
            </a:r>
            <a:endParaRPr lang="en-US" sz="750"/>
          </a:p>
        </p:txBody>
      </p:sp>
      <p:sp>
        <p:nvSpPr>
          <p:cNvPr id="49" name="Shape 46"/>
          <p:cNvSpPr/>
          <p:nvPr/>
        </p:nvSpPr>
        <p:spPr>
          <a:xfrm>
            <a:off x="571103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a:off x="6131662" y="2137721"/>
            <a:ext cx="1071143" cy="26691"/>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4412"/>
            <a:ext cx="1071143" cy="62280"/>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226692"/>
            <a:ext cx="1071143" cy="0"/>
          </a:xfrm>
          <a:prstGeom prst="line">
            <a:avLst/>
          </a:prstGeom>
          <a:noFill/>
          <a:ln w="19050">
            <a:solidFill>
              <a:srgbClr val="0B2E2C"/>
            </a:solidFill>
            <a:prstDash val="solid"/>
          </a:ln>
        </p:spPr>
        <p:txBody>
          <a:bodyPr/>
          <a:lstStyle/>
          <a:p>
            <a:endParaRPr lang="es-PE"/>
          </a:p>
        </p:txBody>
      </p:sp>
      <p:sp>
        <p:nvSpPr>
          <p:cNvPr id="54" name="Shape 51"/>
          <p:cNvSpPr/>
          <p:nvPr/>
        </p:nvSpPr>
        <p:spPr>
          <a:xfrm flipV="1">
            <a:off x="9345092" y="2182206"/>
            <a:ext cx="1071143" cy="44486"/>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377943"/>
            <a:ext cx="1071143" cy="26691"/>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377943"/>
            <a:ext cx="1071143" cy="26691"/>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404634"/>
            <a:ext cx="1071143" cy="53383"/>
          </a:xfrm>
          <a:prstGeom prst="line">
            <a:avLst/>
          </a:prstGeom>
          <a:noFill/>
          <a:ln w="19050">
            <a:solidFill>
              <a:srgbClr val="E67E22"/>
            </a:solidFill>
            <a:prstDash val="dash"/>
          </a:ln>
        </p:spPr>
        <p:txBody>
          <a:bodyPr/>
          <a:lstStyle/>
          <a:p>
            <a:endParaRPr lang="es-PE"/>
          </a:p>
        </p:txBody>
      </p:sp>
      <p:sp>
        <p:nvSpPr>
          <p:cNvPr id="58" name="Shape 55"/>
          <p:cNvSpPr/>
          <p:nvPr/>
        </p:nvSpPr>
        <p:spPr>
          <a:xfrm flipV="1">
            <a:off x="9345092" y="2395737"/>
            <a:ext cx="1071143" cy="62280"/>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193655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21,2</a:t>
            </a:r>
            <a:endParaRPr lang="en-US" sz="700"/>
          </a:p>
        </p:txBody>
      </p:sp>
      <p:sp>
        <p:nvSpPr>
          <p:cNvPr id="60" name="Text 57"/>
          <p:cNvSpPr txBox="1"/>
          <p:nvPr/>
        </p:nvSpPr>
        <p:spPr>
          <a:xfrm>
            <a:off x="10096195" y="1981038"/>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20,7</a:t>
            </a:r>
            <a:endParaRPr lang="en-US" sz="700"/>
          </a:p>
        </p:txBody>
      </p:sp>
      <p:sp>
        <p:nvSpPr>
          <p:cNvPr id="61" name="Text 58"/>
          <p:cNvSpPr txBox="1"/>
          <p:nvPr/>
        </p:nvSpPr>
        <p:spPr>
          <a:xfrm>
            <a:off x="5811622" y="245949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18,2</a:t>
            </a:r>
            <a:endParaRPr lang="en-US" sz="700"/>
          </a:p>
        </p:txBody>
      </p:sp>
      <p:sp>
        <p:nvSpPr>
          <p:cNvPr id="62" name="Text 59"/>
          <p:cNvSpPr txBox="1"/>
          <p:nvPr/>
        </p:nvSpPr>
        <p:spPr>
          <a:xfrm>
            <a:off x="10096195" y="2450601"/>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18,3</a:t>
            </a:r>
            <a:endParaRPr lang="en-US" sz="700"/>
          </a:p>
        </p:txBody>
      </p:sp>
      <p:sp>
        <p:nvSpPr>
          <p:cNvPr id="63" name="Text 60"/>
          <p:cNvSpPr txBox="1"/>
          <p:nvPr/>
        </p:nvSpPr>
        <p:spPr>
          <a:xfrm>
            <a:off x="576590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3021283"/>
            <a:ext cx="728899" cy="211121"/>
          </a:xfrm>
          <a:prstGeom prst="rect">
            <a:avLst/>
          </a:prstGeom>
          <a:solidFill>
            <a:srgbClr val="13807B"/>
          </a:solidFill>
          <a:ln/>
        </p:spPr>
        <p:txBody>
          <a:bodyPr/>
          <a:lstStyle/>
          <a:p>
            <a:endParaRPr lang="es-PE"/>
          </a:p>
        </p:txBody>
      </p:sp>
      <p:sp>
        <p:nvSpPr>
          <p:cNvPr id="65" name="Text 62"/>
          <p:cNvSpPr txBox="1"/>
          <p:nvPr/>
        </p:nvSpPr>
        <p:spPr>
          <a:xfrm>
            <a:off x="6058510" y="283840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61%</a:t>
            </a:r>
            <a:endParaRPr lang="en-US" sz="750"/>
          </a:p>
        </p:txBody>
      </p:sp>
      <p:sp>
        <p:nvSpPr>
          <p:cNvPr id="66" name="Text 63"/>
          <p:cNvSpPr txBox="1"/>
          <p:nvPr/>
        </p:nvSpPr>
        <p:spPr>
          <a:xfrm>
            <a:off x="601279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3080120"/>
            <a:ext cx="728899" cy="152284"/>
          </a:xfrm>
          <a:prstGeom prst="rect">
            <a:avLst/>
          </a:prstGeom>
          <a:solidFill>
            <a:srgbClr val="13807B"/>
          </a:solidFill>
          <a:ln/>
        </p:spPr>
        <p:txBody>
          <a:bodyPr/>
          <a:lstStyle/>
          <a:p>
            <a:endParaRPr lang="es-PE"/>
          </a:p>
        </p:txBody>
      </p:sp>
      <p:sp>
        <p:nvSpPr>
          <p:cNvPr id="68" name="Text 65"/>
          <p:cNvSpPr txBox="1"/>
          <p:nvPr/>
        </p:nvSpPr>
        <p:spPr>
          <a:xfrm>
            <a:off x="6915424" y="289724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44%</a:t>
            </a:r>
            <a:endParaRPr lang="en-US" sz="750"/>
          </a:p>
        </p:txBody>
      </p:sp>
      <p:sp>
        <p:nvSpPr>
          <p:cNvPr id="69" name="Text 66"/>
          <p:cNvSpPr txBox="1"/>
          <p:nvPr/>
        </p:nvSpPr>
        <p:spPr>
          <a:xfrm>
            <a:off x="686970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3073198"/>
            <a:ext cx="728899" cy="159206"/>
          </a:xfrm>
          <a:prstGeom prst="rect">
            <a:avLst/>
          </a:prstGeom>
          <a:solidFill>
            <a:srgbClr val="13807B"/>
          </a:solidFill>
          <a:ln/>
        </p:spPr>
        <p:txBody>
          <a:bodyPr/>
          <a:lstStyle/>
          <a:p>
            <a:endParaRPr lang="es-PE"/>
          </a:p>
        </p:txBody>
      </p:sp>
      <p:sp>
        <p:nvSpPr>
          <p:cNvPr id="71" name="Text 68"/>
          <p:cNvSpPr txBox="1"/>
          <p:nvPr/>
        </p:nvSpPr>
        <p:spPr>
          <a:xfrm>
            <a:off x="7772339" y="289031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46%</a:t>
            </a:r>
            <a:endParaRPr lang="en-US" sz="750"/>
          </a:p>
        </p:txBody>
      </p:sp>
      <p:sp>
        <p:nvSpPr>
          <p:cNvPr id="72" name="Text 69"/>
          <p:cNvSpPr txBox="1"/>
          <p:nvPr/>
        </p:nvSpPr>
        <p:spPr>
          <a:xfrm>
            <a:off x="772661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3104347"/>
            <a:ext cx="728899" cy="128057"/>
          </a:xfrm>
          <a:prstGeom prst="rect">
            <a:avLst/>
          </a:prstGeom>
          <a:solidFill>
            <a:srgbClr val="13807B"/>
          </a:solidFill>
          <a:ln/>
        </p:spPr>
        <p:txBody>
          <a:bodyPr/>
          <a:lstStyle/>
          <a:p>
            <a:endParaRPr lang="es-PE"/>
          </a:p>
        </p:txBody>
      </p:sp>
      <p:sp>
        <p:nvSpPr>
          <p:cNvPr id="74" name="Text 71"/>
          <p:cNvSpPr txBox="1"/>
          <p:nvPr/>
        </p:nvSpPr>
        <p:spPr>
          <a:xfrm>
            <a:off x="8629254" y="292146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37%</a:t>
            </a:r>
            <a:endParaRPr lang="en-US" sz="750"/>
          </a:p>
        </p:txBody>
      </p:sp>
      <p:sp>
        <p:nvSpPr>
          <p:cNvPr id="75" name="Text 72"/>
          <p:cNvSpPr txBox="1"/>
          <p:nvPr/>
        </p:nvSpPr>
        <p:spPr>
          <a:xfrm>
            <a:off x="858353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118191"/>
            <a:ext cx="728899" cy="114213"/>
          </a:xfrm>
          <a:prstGeom prst="rect">
            <a:avLst/>
          </a:prstGeom>
          <a:solidFill>
            <a:srgbClr val="13807B"/>
          </a:solidFill>
          <a:ln/>
        </p:spPr>
        <p:txBody>
          <a:bodyPr/>
          <a:lstStyle/>
          <a:p>
            <a:endParaRPr lang="es-PE"/>
          </a:p>
        </p:txBody>
      </p:sp>
      <p:sp>
        <p:nvSpPr>
          <p:cNvPr id="77" name="Text 74"/>
          <p:cNvSpPr txBox="1"/>
          <p:nvPr/>
        </p:nvSpPr>
        <p:spPr>
          <a:xfrm>
            <a:off x="9486168" y="293531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33%</a:t>
            </a:r>
            <a:endParaRPr lang="en-US" sz="750"/>
          </a:p>
        </p:txBody>
      </p:sp>
      <p:sp>
        <p:nvSpPr>
          <p:cNvPr id="78" name="Text 75"/>
          <p:cNvSpPr txBox="1"/>
          <p:nvPr/>
        </p:nvSpPr>
        <p:spPr>
          <a:xfrm>
            <a:off x="944044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3232404"/>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Cuenta Estratégica</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2,8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-28 pp</a:t>
            </a:r>
            <a:endParaRPr lang="en-US" sz="750"/>
          </a:p>
        </p:txBody>
      </p:sp>
      <p:sp>
        <p:nvSpPr>
          <p:cNvPr id="86" name="Shape 83"/>
          <p:cNvSpPr/>
          <p:nvPr/>
        </p:nvSpPr>
        <p:spPr>
          <a:xfrm>
            <a:off x="10763707"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a:off x="11184331" y="2133692"/>
            <a:ext cx="1071143" cy="41968"/>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75660"/>
            <a:ext cx="1071143" cy="67148"/>
          </a:xfrm>
          <a:prstGeom prst="line">
            <a:avLst/>
          </a:prstGeom>
          <a:noFill/>
          <a:ln w="19050">
            <a:solidFill>
              <a:srgbClr val="0B2E2C"/>
            </a:solidFill>
            <a:prstDash val="solid"/>
          </a:ln>
        </p:spPr>
        <p:txBody>
          <a:bodyPr/>
          <a:lstStyle/>
          <a:p>
            <a:endParaRPr lang="es-PE"/>
          </a:p>
        </p:txBody>
      </p:sp>
      <p:sp>
        <p:nvSpPr>
          <p:cNvPr id="90" name="Shape 87"/>
          <p:cNvSpPr/>
          <p:nvPr/>
        </p:nvSpPr>
        <p:spPr>
          <a:xfrm flipV="1">
            <a:off x="13326618" y="2226021"/>
            <a:ext cx="1071143" cy="16787"/>
          </a:xfrm>
          <a:prstGeom prst="line">
            <a:avLst/>
          </a:prstGeom>
          <a:noFill/>
          <a:ln w="19050">
            <a:solidFill>
              <a:srgbClr val="0B2E2C"/>
            </a:solidFill>
            <a:prstDash val="solid"/>
          </a:ln>
        </p:spPr>
        <p:txBody>
          <a:bodyPr/>
          <a:lstStyle/>
          <a:p>
            <a:endParaRPr lang="es-PE"/>
          </a:p>
        </p:txBody>
      </p:sp>
      <p:sp>
        <p:nvSpPr>
          <p:cNvPr id="91" name="Shape 88"/>
          <p:cNvSpPr/>
          <p:nvPr/>
        </p:nvSpPr>
        <p:spPr>
          <a:xfrm flipV="1">
            <a:off x="14397761" y="2200840"/>
            <a:ext cx="1071143" cy="25181"/>
          </a:xfrm>
          <a:prstGeom prst="line">
            <a:avLst/>
          </a:prstGeom>
          <a:noFill/>
          <a:ln w="19050">
            <a:solidFill>
              <a:srgbClr val="0B2E2C"/>
            </a:solidFill>
            <a:prstDash val="solid"/>
          </a:ln>
        </p:spPr>
        <p:txBody>
          <a:bodyPr/>
          <a:lstStyle/>
          <a:p>
            <a:endParaRPr lang="es-PE"/>
          </a:p>
        </p:txBody>
      </p:sp>
      <p:sp>
        <p:nvSpPr>
          <p:cNvPr id="92" name="Shape 89"/>
          <p:cNvSpPr/>
          <p:nvPr/>
        </p:nvSpPr>
        <p:spPr>
          <a:xfrm flipV="1">
            <a:off x="11184331" y="2427465"/>
            <a:ext cx="1071143" cy="16787"/>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427465"/>
            <a:ext cx="1071143" cy="0"/>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427465"/>
            <a:ext cx="1071143" cy="33574"/>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410678"/>
            <a:ext cx="1071143" cy="50361"/>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193252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97" name="Text 94"/>
          <p:cNvSpPr txBox="1"/>
          <p:nvPr/>
        </p:nvSpPr>
        <p:spPr>
          <a:xfrm>
            <a:off x="15148865" y="199967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20,0</a:t>
            </a:r>
            <a:endParaRPr lang="en-US" sz="700"/>
          </a:p>
        </p:txBody>
      </p:sp>
      <p:sp>
        <p:nvSpPr>
          <p:cNvPr id="98" name="Text 95"/>
          <p:cNvSpPr txBox="1"/>
          <p:nvPr/>
        </p:nvSpPr>
        <p:spPr>
          <a:xfrm>
            <a:off x="10864291" y="249911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17,1</a:t>
            </a:r>
            <a:endParaRPr lang="en-US" sz="700"/>
          </a:p>
        </p:txBody>
      </p:sp>
      <p:sp>
        <p:nvSpPr>
          <p:cNvPr id="99" name="Text 96"/>
          <p:cNvSpPr txBox="1"/>
          <p:nvPr/>
        </p:nvSpPr>
        <p:spPr>
          <a:xfrm>
            <a:off x="15148865" y="2465542"/>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00" name="Text 97"/>
          <p:cNvSpPr txBox="1"/>
          <p:nvPr/>
        </p:nvSpPr>
        <p:spPr>
          <a:xfrm>
            <a:off x="10818571"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2983212"/>
            <a:ext cx="728899" cy="249192"/>
          </a:xfrm>
          <a:prstGeom prst="rect">
            <a:avLst/>
          </a:prstGeom>
          <a:solidFill>
            <a:srgbClr val="13807B"/>
          </a:solidFill>
          <a:ln/>
        </p:spPr>
        <p:txBody>
          <a:bodyPr/>
          <a:lstStyle/>
          <a:p>
            <a:endParaRPr lang="es-PE"/>
          </a:p>
        </p:txBody>
      </p:sp>
      <p:sp>
        <p:nvSpPr>
          <p:cNvPr id="102" name="Text 99"/>
          <p:cNvSpPr txBox="1"/>
          <p:nvPr/>
        </p:nvSpPr>
        <p:spPr>
          <a:xfrm>
            <a:off x="11111179" y="280033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72%</a:t>
            </a:r>
            <a:endParaRPr lang="en-US" sz="750"/>
          </a:p>
        </p:txBody>
      </p:sp>
      <p:sp>
        <p:nvSpPr>
          <p:cNvPr id="103" name="Text 100"/>
          <p:cNvSpPr txBox="1"/>
          <p:nvPr/>
        </p:nvSpPr>
        <p:spPr>
          <a:xfrm>
            <a:off x="1106545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2986673"/>
            <a:ext cx="728899" cy="245731"/>
          </a:xfrm>
          <a:prstGeom prst="rect">
            <a:avLst/>
          </a:prstGeom>
          <a:solidFill>
            <a:srgbClr val="13807B"/>
          </a:solidFill>
          <a:ln/>
        </p:spPr>
        <p:txBody>
          <a:bodyPr/>
          <a:lstStyle/>
          <a:p>
            <a:endParaRPr lang="es-PE"/>
          </a:p>
        </p:txBody>
      </p:sp>
      <p:sp>
        <p:nvSpPr>
          <p:cNvPr id="105" name="Text 102"/>
          <p:cNvSpPr txBox="1"/>
          <p:nvPr/>
        </p:nvSpPr>
        <p:spPr>
          <a:xfrm>
            <a:off x="11968094" y="280379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71%</a:t>
            </a:r>
            <a:endParaRPr lang="en-US" sz="750"/>
          </a:p>
        </p:txBody>
      </p:sp>
      <p:sp>
        <p:nvSpPr>
          <p:cNvPr id="106" name="Text 103"/>
          <p:cNvSpPr txBox="1"/>
          <p:nvPr/>
        </p:nvSpPr>
        <p:spPr>
          <a:xfrm>
            <a:off x="1192237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3017822"/>
            <a:ext cx="728899" cy="214582"/>
          </a:xfrm>
          <a:prstGeom prst="rect">
            <a:avLst/>
          </a:prstGeom>
          <a:solidFill>
            <a:srgbClr val="13807B"/>
          </a:solidFill>
          <a:ln/>
        </p:spPr>
        <p:txBody>
          <a:bodyPr/>
          <a:lstStyle/>
          <a:p>
            <a:endParaRPr lang="es-PE"/>
          </a:p>
        </p:txBody>
      </p:sp>
      <p:sp>
        <p:nvSpPr>
          <p:cNvPr id="108" name="Text 105"/>
          <p:cNvSpPr txBox="1"/>
          <p:nvPr/>
        </p:nvSpPr>
        <p:spPr>
          <a:xfrm>
            <a:off x="12825009" y="283494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62%</a:t>
            </a:r>
            <a:endParaRPr lang="en-US" sz="750"/>
          </a:p>
        </p:txBody>
      </p:sp>
      <p:sp>
        <p:nvSpPr>
          <p:cNvPr id="109" name="Text 106"/>
          <p:cNvSpPr txBox="1"/>
          <p:nvPr/>
        </p:nvSpPr>
        <p:spPr>
          <a:xfrm>
            <a:off x="1277928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3007439"/>
            <a:ext cx="728899" cy="224965"/>
          </a:xfrm>
          <a:prstGeom prst="rect">
            <a:avLst/>
          </a:prstGeom>
          <a:solidFill>
            <a:srgbClr val="13807B"/>
          </a:solidFill>
          <a:ln/>
        </p:spPr>
        <p:txBody>
          <a:bodyPr/>
          <a:lstStyle/>
          <a:p>
            <a:endParaRPr lang="es-PE"/>
          </a:p>
        </p:txBody>
      </p:sp>
      <p:sp>
        <p:nvSpPr>
          <p:cNvPr id="111" name="Text 108"/>
          <p:cNvSpPr txBox="1"/>
          <p:nvPr/>
        </p:nvSpPr>
        <p:spPr>
          <a:xfrm>
            <a:off x="13681923" y="282455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65%</a:t>
            </a:r>
            <a:endParaRPr lang="en-US" sz="750"/>
          </a:p>
        </p:txBody>
      </p:sp>
      <p:sp>
        <p:nvSpPr>
          <p:cNvPr id="112" name="Text 109"/>
          <p:cNvSpPr txBox="1"/>
          <p:nvPr/>
        </p:nvSpPr>
        <p:spPr>
          <a:xfrm>
            <a:off x="13636203"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3080120"/>
            <a:ext cx="728899" cy="152284"/>
          </a:xfrm>
          <a:prstGeom prst="rect">
            <a:avLst/>
          </a:prstGeom>
          <a:solidFill>
            <a:srgbClr val="13807B"/>
          </a:solidFill>
          <a:ln/>
        </p:spPr>
        <p:txBody>
          <a:bodyPr/>
          <a:lstStyle/>
          <a:p>
            <a:endParaRPr lang="es-PE"/>
          </a:p>
        </p:txBody>
      </p:sp>
      <p:sp>
        <p:nvSpPr>
          <p:cNvPr id="114" name="Text 111"/>
          <p:cNvSpPr txBox="1"/>
          <p:nvPr/>
        </p:nvSpPr>
        <p:spPr>
          <a:xfrm>
            <a:off x="14538838" y="289724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44%</a:t>
            </a:r>
            <a:endParaRPr lang="en-US" sz="750"/>
          </a:p>
        </p:txBody>
      </p:sp>
      <p:sp>
        <p:nvSpPr>
          <p:cNvPr id="115" name="Text 112"/>
          <p:cNvSpPr txBox="1"/>
          <p:nvPr/>
        </p:nvSpPr>
        <p:spPr>
          <a:xfrm>
            <a:off x="1449311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3232404"/>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3835908"/>
            <a:ext cx="4833214" cy="329184"/>
          </a:xfrm>
          <a:prstGeom prst="rect">
            <a:avLst/>
          </a:prstGeom>
          <a:solidFill>
            <a:srgbClr val="13807B"/>
          </a:solidFill>
          <a:ln/>
        </p:spPr>
        <p:txBody>
          <a:bodyPr/>
          <a:lstStyle/>
          <a:p>
            <a:endParaRPr lang="es-PE"/>
          </a:p>
        </p:txBody>
      </p:sp>
      <p:sp>
        <p:nvSpPr>
          <p:cNvPr id="118" name="Text 115"/>
          <p:cNvSpPr txBox="1"/>
          <p:nvPr/>
        </p:nvSpPr>
        <p:spPr>
          <a:xfrm>
            <a:off x="76809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Maduro Multibanco</a:t>
            </a:r>
            <a:endParaRPr lang="en-US" sz="1100"/>
          </a:p>
        </p:txBody>
      </p:sp>
      <p:sp>
        <p:nvSpPr>
          <p:cNvPr id="119" name="Shape 116"/>
          <p:cNvSpPr/>
          <p:nvPr/>
        </p:nvSpPr>
        <p:spPr>
          <a:xfrm>
            <a:off x="2783674" y="3881628"/>
            <a:ext cx="1401632" cy="237744"/>
          </a:xfrm>
          <a:prstGeom prst="roundRect">
            <a:avLst>
              <a:gd name="adj" fmla="val 23077"/>
            </a:avLst>
          </a:prstGeom>
          <a:solidFill>
            <a:srgbClr val="0B2E2C"/>
          </a:solidFill>
          <a:ln/>
        </p:spPr>
        <p:txBody>
          <a:bodyPr/>
          <a:lstStyle/>
          <a:p>
            <a:endParaRPr lang="es-PE"/>
          </a:p>
        </p:txBody>
      </p:sp>
      <p:sp>
        <p:nvSpPr>
          <p:cNvPr id="120" name="Text 117"/>
          <p:cNvSpPr txBox="1"/>
          <p:nvPr/>
        </p:nvSpPr>
        <p:spPr>
          <a:xfrm>
            <a:off x="278367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3,0 pp</a:t>
            </a:r>
            <a:endParaRPr lang="en-US" sz="750"/>
          </a:p>
        </p:txBody>
      </p:sp>
      <p:sp>
        <p:nvSpPr>
          <p:cNvPr id="121" name="Shape 118"/>
          <p:cNvSpPr/>
          <p:nvPr/>
        </p:nvSpPr>
        <p:spPr>
          <a:xfrm>
            <a:off x="4258458" y="3881628"/>
            <a:ext cx="1159971" cy="237744"/>
          </a:xfrm>
          <a:prstGeom prst="roundRect">
            <a:avLst>
              <a:gd name="adj" fmla="val 23077"/>
            </a:avLst>
          </a:prstGeom>
          <a:solidFill>
            <a:srgbClr val="FFFFFF"/>
          </a:solidFill>
          <a:ln/>
        </p:spPr>
        <p:txBody>
          <a:bodyPr/>
          <a:lstStyle/>
          <a:p>
            <a:endParaRPr lang="es-PE"/>
          </a:p>
        </p:txBody>
      </p:sp>
      <p:sp>
        <p:nvSpPr>
          <p:cNvPr id="122" name="Text 119"/>
          <p:cNvSpPr txBox="1"/>
          <p:nvPr/>
        </p:nvSpPr>
        <p:spPr>
          <a:xfrm>
            <a:off x="425845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-28 pp</a:t>
            </a:r>
            <a:endParaRPr lang="en-US" sz="750"/>
          </a:p>
        </p:txBody>
      </p:sp>
      <p:sp>
        <p:nvSpPr>
          <p:cNvPr id="123" name="Shape 120"/>
          <p:cNvSpPr/>
          <p:nvPr/>
        </p:nvSpPr>
        <p:spPr>
          <a:xfrm>
            <a:off x="65836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24" name="Text 121"/>
          <p:cNvSpPr txBox="1"/>
          <p:nvPr/>
        </p:nvSpPr>
        <p:spPr>
          <a:xfrm>
            <a:off x="71323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25" name="Shape 122"/>
          <p:cNvSpPr/>
          <p:nvPr/>
        </p:nvSpPr>
        <p:spPr>
          <a:xfrm>
            <a:off x="1078992" y="4541893"/>
            <a:ext cx="1071143" cy="41190"/>
          </a:xfrm>
          <a:prstGeom prst="line">
            <a:avLst/>
          </a:prstGeom>
          <a:noFill/>
          <a:ln w="19050">
            <a:solidFill>
              <a:srgbClr val="0B2E2C"/>
            </a:solidFill>
            <a:prstDash val="solid"/>
          </a:ln>
        </p:spPr>
        <p:txBody>
          <a:bodyPr/>
          <a:lstStyle/>
          <a:p>
            <a:endParaRPr lang="es-PE"/>
          </a:p>
        </p:txBody>
      </p:sp>
      <p:sp>
        <p:nvSpPr>
          <p:cNvPr id="126" name="Shape 123"/>
          <p:cNvSpPr/>
          <p:nvPr/>
        </p:nvSpPr>
        <p:spPr>
          <a:xfrm>
            <a:off x="2150135" y="4583083"/>
            <a:ext cx="1071143" cy="57666"/>
          </a:xfrm>
          <a:prstGeom prst="line">
            <a:avLst/>
          </a:prstGeom>
          <a:noFill/>
          <a:ln w="19050">
            <a:solidFill>
              <a:srgbClr val="0B2E2C"/>
            </a:solidFill>
            <a:prstDash val="solid"/>
          </a:ln>
        </p:spPr>
        <p:txBody>
          <a:bodyPr/>
          <a:lstStyle/>
          <a:p>
            <a:endParaRPr lang="es-PE"/>
          </a:p>
        </p:txBody>
      </p:sp>
      <p:sp>
        <p:nvSpPr>
          <p:cNvPr id="127" name="Shape 124"/>
          <p:cNvSpPr/>
          <p:nvPr/>
        </p:nvSpPr>
        <p:spPr>
          <a:xfrm flipV="1">
            <a:off x="3221279" y="4591321"/>
            <a:ext cx="1071143" cy="49428"/>
          </a:xfrm>
          <a:prstGeom prst="line">
            <a:avLst/>
          </a:prstGeom>
          <a:noFill/>
          <a:ln w="19050">
            <a:solidFill>
              <a:srgbClr val="0B2E2C"/>
            </a:solidFill>
            <a:prstDash val="solid"/>
          </a:ln>
        </p:spPr>
        <p:txBody>
          <a:bodyPr/>
          <a:lstStyle/>
          <a:p>
            <a:endParaRPr lang="es-PE"/>
          </a:p>
        </p:txBody>
      </p:sp>
      <p:sp>
        <p:nvSpPr>
          <p:cNvPr id="128" name="Shape 125"/>
          <p:cNvSpPr/>
          <p:nvPr/>
        </p:nvSpPr>
        <p:spPr>
          <a:xfrm flipV="1">
            <a:off x="4292422" y="4574845"/>
            <a:ext cx="1071143" cy="16476"/>
          </a:xfrm>
          <a:prstGeom prst="line">
            <a:avLst/>
          </a:prstGeom>
          <a:noFill/>
          <a:ln w="19050">
            <a:solidFill>
              <a:srgbClr val="0B2E2C"/>
            </a:solidFill>
            <a:prstDash val="solid"/>
          </a:ln>
        </p:spPr>
        <p:txBody>
          <a:bodyPr/>
          <a:lstStyle/>
          <a:p>
            <a:endParaRPr lang="es-PE"/>
          </a:p>
        </p:txBody>
      </p:sp>
      <p:sp>
        <p:nvSpPr>
          <p:cNvPr id="129" name="Shape 126"/>
          <p:cNvSpPr/>
          <p:nvPr/>
        </p:nvSpPr>
        <p:spPr>
          <a:xfrm>
            <a:off x="1078992" y="4813749"/>
            <a:ext cx="1071143" cy="8238"/>
          </a:xfrm>
          <a:prstGeom prst="line">
            <a:avLst/>
          </a:prstGeom>
          <a:noFill/>
          <a:ln w="19050">
            <a:solidFill>
              <a:srgbClr val="E67E22"/>
            </a:solidFill>
            <a:prstDash val="dash"/>
          </a:ln>
        </p:spPr>
        <p:txBody>
          <a:bodyPr/>
          <a:lstStyle/>
          <a:p>
            <a:endParaRPr lang="es-PE"/>
          </a:p>
        </p:txBody>
      </p:sp>
      <p:sp>
        <p:nvSpPr>
          <p:cNvPr id="130" name="Shape 127"/>
          <p:cNvSpPr/>
          <p:nvPr/>
        </p:nvSpPr>
        <p:spPr>
          <a:xfrm>
            <a:off x="2150135" y="4821987"/>
            <a:ext cx="1071143" cy="8238"/>
          </a:xfrm>
          <a:prstGeom prst="line">
            <a:avLst/>
          </a:prstGeom>
          <a:noFill/>
          <a:ln w="19050">
            <a:solidFill>
              <a:srgbClr val="E67E22"/>
            </a:solidFill>
            <a:prstDash val="dash"/>
          </a:ln>
        </p:spPr>
        <p:txBody>
          <a:bodyPr/>
          <a:lstStyle/>
          <a:p>
            <a:endParaRPr lang="es-PE"/>
          </a:p>
        </p:txBody>
      </p:sp>
      <p:sp>
        <p:nvSpPr>
          <p:cNvPr id="131" name="Shape 128"/>
          <p:cNvSpPr/>
          <p:nvPr/>
        </p:nvSpPr>
        <p:spPr>
          <a:xfrm>
            <a:off x="3221279" y="4830225"/>
            <a:ext cx="1071143" cy="41190"/>
          </a:xfrm>
          <a:prstGeom prst="line">
            <a:avLst/>
          </a:prstGeom>
          <a:noFill/>
          <a:ln w="19050">
            <a:solidFill>
              <a:srgbClr val="E67E22"/>
            </a:solidFill>
            <a:prstDash val="dash"/>
          </a:ln>
        </p:spPr>
        <p:txBody>
          <a:bodyPr/>
          <a:lstStyle/>
          <a:p>
            <a:endParaRPr lang="es-PE"/>
          </a:p>
        </p:txBody>
      </p:sp>
      <p:sp>
        <p:nvSpPr>
          <p:cNvPr id="132" name="Shape 129"/>
          <p:cNvSpPr/>
          <p:nvPr/>
        </p:nvSpPr>
        <p:spPr>
          <a:xfrm flipV="1">
            <a:off x="4292422" y="4838463"/>
            <a:ext cx="1071143" cy="32952"/>
          </a:xfrm>
          <a:prstGeom prst="line">
            <a:avLst/>
          </a:prstGeom>
          <a:noFill/>
          <a:ln w="19050">
            <a:solidFill>
              <a:srgbClr val="E67E22"/>
            </a:solidFill>
            <a:prstDash val="dash"/>
          </a:ln>
        </p:spPr>
        <p:txBody>
          <a:bodyPr/>
          <a:lstStyle/>
          <a:p>
            <a:endParaRPr lang="es-PE"/>
          </a:p>
        </p:txBody>
      </p:sp>
      <p:sp>
        <p:nvSpPr>
          <p:cNvPr id="133" name="Text 130"/>
          <p:cNvSpPr txBox="1"/>
          <p:nvPr/>
        </p:nvSpPr>
        <p:spPr>
          <a:xfrm>
            <a:off x="758952" y="434072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20,9</a:t>
            </a:r>
            <a:endParaRPr lang="en-US" sz="700"/>
          </a:p>
        </p:txBody>
      </p:sp>
      <p:sp>
        <p:nvSpPr>
          <p:cNvPr id="134" name="Text 131"/>
          <p:cNvSpPr txBox="1"/>
          <p:nvPr/>
        </p:nvSpPr>
        <p:spPr>
          <a:xfrm>
            <a:off x="5043526" y="4373677"/>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20,5</a:t>
            </a:r>
            <a:endParaRPr lang="en-US" sz="700"/>
          </a:p>
        </p:txBody>
      </p:sp>
      <p:sp>
        <p:nvSpPr>
          <p:cNvPr id="135" name="Text 132"/>
          <p:cNvSpPr txBox="1"/>
          <p:nvPr/>
        </p:nvSpPr>
        <p:spPr>
          <a:xfrm>
            <a:off x="758952" y="4868613"/>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17,6</a:t>
            </a:r>
            <a:endParaRPr lang="en-US" sz="700"/>
          </a:p>
        </p:txBody>
      </p:sp>
      <p:sp>
        <p:nvSpPr>
          <p:cNvPr id="136" name="Text 133"/>
          <p:cNvSpPr txBox="1"/>
          <p:nvPr/>
        </p:nvSpPr>
        <p:spPr>
          <a:xfrm>
            <a:off x="5043526" y="4893327"/>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37" name="Text 134"/>
          <p:cNvSpPr txBox="1"/>
          <p:nvPr/>
        </p:nvSpPr>
        <p:spPr>
          <a:xfrm>
            <a:off x="71323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38" name="Shape 135"/>
          <p:cNvSpPr/>
          <p:nvPr/>
        </p:nvSpPr>
        <p:spPr>
          <a:xfrm>
            <a:off x="1143000" y="5441110"/>
            <a:ext cx="728899" cy="200738"/>
          </a:xfrm>
          <a:prstGeom prst="rect">
            <a:avLst/>
          </a:prstGeom>
          <a:solidFill>
            <a:srgbClr val="13807B"/>
          </a:solidFill>
          <a:ln/>
        </p:spPr>
        <p:txBody>
          <a:bodyPr/>
          <a:lstStyle/>
          <a:p>
            <a:endParaRPr lang="es-PE"/>
          </a:p>
        </p:txBody>
      </p:sp>
      <p:sp>
        <p:nvSpPr>
          <p:cNvPr id="139" name="Text 136"/>
          <p:cNvSpPr txBox="1"/>
          <p:nvPr/>
        </p:nvSpPr>
        <p:spPr>
          <a:xfrm>
            <a:off x="1005840" y="525823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58%</a:t>
            </a:r>
            <a:endParaRPr lang="en-US" sz="750"/>
          </a:p>
        </p:txBody>
      </p:sp>
      <p:sp>
        <p:nvSpPr>
          <p:cNvPr id="140" name="Text 137"/>
          <p:cNvSpPr txBox="1"/>
          <p:nvPr/>
        </p:nvSpPr>
        <p:spPr>
          <a:xfrm>
            <a:off x="96012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41" name="Shape 138"/>
          <p:cNvSpPr/>
          <p:nvPr/>
        </p:nvSpPr>
        <p:spPr>
          <a:xfrm>
            <a:off x="1999915" y="5472259"/>
            <a:ext cx="728899" cy="169589"/>
          </a:xfrm>
          <a:prstGeom prst="rect">
            <a:avLst/>
          </a:prstGeom>
          <a:solidFill>
            <a:srgbClr val="13807B"/>
          </a:solidFill>
          <a:ln/>
        </p:spPr>
        <p:txBody>
          <a:bodyPr/>
          <a:lstStyle/>
          <a:p>
            <a:endParaRPr lang="es-PE"/>
          </a:p>
        </p:txBody>
      </p:sp>
      <p:sp>
        <p:nvSpPr>
          <p:cNvPr id="142" name="Text 139"/>
          <p:cNvSpPr txBox="1"/>
          <p:nvPr/>
        </p:nvSpPr>
        <p:spPr>
          <a:xfrm>
            <a:off x="1862755" y="528937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49%</a:t>
            </a:r>
            <a:endParaRPr lang="en-US" sz="750"/>
          </a:p>
        </p:txBody>
      </p:sp>
      <p:sp>
        <p:nvSpPr>
          <p:cNvPr id="143" name="Text 140"/>
          <p:cNvSpPr txBox="1"/>
          <p:nvPr/>
        </p:nvSpPr>
        <p:spPr>
          <a:xfrm>
            <a:off x="1817035"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44" name="Shape 141"/>
          <p:cNvSpPr/>
          <p:nvPr/>
        </p:nvSpPr>
        <p:spPr>
          <a:xfrm>
            <a:off x="2856829" y="5506869"/>
            <a:ext cx="728899" cy="134979"/>
          </a:xfrm>
          <a:prstGeom prst="rect">
            <a:avLst/>
          </a:prstGeom>
          <a:solidFill>
            <a:srgbClr val="13807B"/>
          </a:solidFill>
          <a:ln/>
        </p:spPr>
        <p:txBody>
          <a:bodyPr/>
          <a:lstStyle/>
          <a:p>
            <a:endParaRPr lang="es-PE"/>
          </a:p>
        </p:txBody>
      </p:sp>
      <p:sp>
        <p:nvSpPr>
          <p:cNvPr id="145" name="Text 142"/>
          <p:cNvSpPr txBox="1"/>
          <p:nvPr/>
        </p:nvSpPr>
        <p:spPr>
          <a:xfrm>
            <a:off x="2719669" y="532398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39%</a:t>
            </a:r>
            <a:endParaRPr lang="en-US" sz="750"/>
          </a:p>
        </p:txBody>
      </p:sp>
      <p:sp>
        <p:nvSpPr>
          <p:cNvPr id="146" name="Text 143"/>
          <p:cNvSpPr txBox="1"/>
          <p:nvPr/>
        </p:nvSpPr>
        <p:spPr>
          <a:xfrm>
            <a:off x="267394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47" name="Shape 144"/>
          <p:cNvSpPr/>
          <p:nvPr/>
        </p:nvSpPr>
        <p:spPr>
          <a:xfrm>
            <a:off x="3713744" y="5520713"/>
            <a:ext cx="728899" cy="121135"/>
          </a:xfrm>
          <a:prstGeom prst="rect">
            <a:avLst/>
          </a:prstGeom>
          <a:solidFill>
            <a:srgbClr val="13807B"/>
          </a:solidFill>
          <a:ln/>
        </p:spPr>
        <p:txBody>
          <a:bodyPr/>
          <a:lstStyle/>
          <a:p>
            <a:endParaRPr lang="es-PE"/>
          </a:p>
        </p:txBody>
      </p:sp>
      <p:sp>
        <p:nvSpPr>
          <p:cNvPr id="148" name="Text 145"/>
          <p:cNvSpPr txBox="1"/>
          <p:nvPr/>
        </p:nvSpPr>
        <p:spPr>
          <a:xfrm>
            <a:off x="3576584" y="533783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35%</a:t>
            </a:r>
            <a:endParaRPr lang="en-US" sz="750"/>
          </a:p>
        </p:txBody>
      </p:sp>
      <p:sp>
        <p:nvSpPr>
          <p:cNvPr id="149" name="Text 146"/>
          <p:cNvSpPr txBox="1"/>
          <p:nvPr/>
        </p:nvSpPr>
        <p:spPr>
          <a:xfrm>
            <a:off x="353086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50" name="Shape 147"/>
          <p:cNvSpPr/>
          <p:nvPr/>
        </p:nvSpPr>
        <p:spPr>
          <a:xfrm>
            <a:off x="4570659" y="5538018"/>
            <a:ext cx="728899" cy="103830"/>
          </a:xfrm>
          <a:prstGeom prst="rect">
            <a:avLst/>
          </a:prstGeom>
          <a:solidFill>
            <a:srgbClr val="13807B"/>
          </a:solidFill>
          <a:ln/>
        </p:spPr>
        <p:txBody>
          <a:bodyPr/>
          <a:lstStyle/>
          <a:p>
            <a:endParaRPr lang="es-PE"/>
          </a:p>
        </p:txBody>
      </p:sp>
      <p:sp>
        <p:nvSpPr>
          <p:cNvPr id="151" name="Text 148"/>
          <p:cNvSpPr txBox="1"/>
          <p:nvPr/>
        </p:nvSpPr>
        <p:spPr>
          <a:xfrm>
            <a:off x="4433499" y="535513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30%</a:t>
            </a:r>
            <a:endParaRPr lang="en-US" sz="750"/>
          </a:p>
        </p:txBody>
      </p:sp>
      <p:sp>
        <p:nvSpPr>
          <p:cNvPr id="152" name="Text 149"/>
          <p:cNvSpPr txBox="1"/>
          <p:nvPr/>
        </p:nvSpPr>
        <p:spPr>
          <a:xfrm>
            <a:off x="438777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53" name="Shape 150"/>
          <p:cNvSpPr/>
          <p:nvPr/>
        </p:nvSpPr>
        <p:spPr>
          <a:xfrm>
            <a:off x="1042416" y="5641848"/>
            <a:ext cx="4357726" cy="0"/>
          </a:xfrm>
          <a:prstGeom prst="line">
            <a:avLst/>
          </a:prstGeom>
          <a:noFill/>
          <a:ln w="9525">
            <a:solidFill>
              <a:srgbClr val="D5DFDE"/>
            </a:solidFill>
            <a:prstDash val="solid"/>
          </a:ln>
        </p:spPr>
        <p:txBody>
          <a:bodyPr/>
          <a:lstStyle/>
          <a:p>
            <a:endParaRPr lang="es-PE"/>
          </a:p>
        </p:txBody>
      </p:sp>
      <p:sp>
        <p:nvSpPr>
          <p:cNvPr id="154" name="Shape 151"/>
          <p:cNvSpPr/>
          <p:nvPr/>
        </p:nvSpPr>
        <p:spPr>
          <a:xfrm>
            <a:off x="5711038" y="3835908"/>
            <a:ext cx="4833214" cy="329184"/>
          </a:xfrm>
          <a:prstGeom prst="rect">
            <a:avLst/>
          </a:prstGeom>
          <a:solidFill>
            <a:srgbClr val="13807B"/>
          </a:solidFill>
          <a:ln/>
        </p:spPr>
        <p:txBody>
          <a:bodyPr/>
          <a:lstStyle/>
          <a:p>
            <a:endParaRPr lang="es-PE"/>
          </a:p>
        </p:txBody>
      </p:sp>
      <p:sp>
        <p:nvSpPr>
          <p:cNvPr id="155" name="Text 152"/>
          <p:cNvSpPr txBox="1"/>
          <p:nvPr/>
        </p:nvSpPr>
        <p:spPr>
          <a:xfrm>
            <a:off x="582076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Gran Cuenta por Conquistar</a:t>
            </a:r>
            <a:endParaRPr lang="en-US" sz="1100"/>
          </a:p>
        </p:txBody>
      </p:sp>
      <p:sp>
        <p:nvSpPr>
          <p:cNvPr id="156" name="Shape 153"/>
          <p:cNvSpPr/>
          <p:nvPr/>
        </p:nvSpPr>
        <p:spPr>
          <a:xfrm>
            <a:off x="7836344" y="3881628"/>
            <a:ext cx="1401632" cy="237744"/>
          </a:xfrm>
          <a:prstGeom prst="roundRect">
            <a:avLst>
              <a:gd name="adj" fmla="val 23077"/>
            </a:avLst>
          </a:prstGeom>
          <a:solidFill>
            <a:srgbClr val="0B2E2C"/>
          </a:solidFill>
          <a:ln/>
        </p:spPr>
        <p:txBody>
          <a:bodyPr/>
          <a:lstStyle/>
          <a:p>
            <a:endParaRPr lang="es-PE"/>
          </a:p>
        </p:txBody>
      </p:sp>
      <p:sp>
        <p:nvSpPr>
          <p:cNvPr id="157" name="Text 154"/>
          <p:cNvSpPr txBox="1"/>
          <p:nvPr/>
        </p:nvSpPr>
        <p:spPr>
          <a:xfrm>
            <a:off x="783634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3,3 pp</a:t>
            </a:r>
            <a:endParaRPr lang="en-US" sz="750"/>
          </a:p>
        </p:txBody>
      </p:sp>
      <p:sp>
        <p:nvSpPr>
          <p:cNvPr id="158" name="Shape 155"/>
          <p:cNvSpPr/>
          <p:nvPr/>
        </p:nvSpPr>
        <p:spPr>
          <a:xfrm>
            <a:off x="9311128" y="3881628"/>
            <a:ext cx="1159971" cy="237744"/>
          </a:xfrm>
          <a:prstGeom prst="roundRect">
            <a:avLst>
              <a:gd name="adj" fmla="val 23077"/>
            </a:avLst>
          </a:prstGeom>
          <a:solidFill>
            <a:srgbClr val="FFFFFF"/>
          </a:solidFill>
          <a:ln/>
        </p:spPr>
        <p:txBody>
          <a:bodyPr/>
          <a:lstStyle/>
          <a:p>
            <a:endParaRPr lang="es-PE"/>
          </a:p>
        </p:txBody>
      </p:sp>
      <p:sp>
        <p:nvSpPr>
          <p:cNvPr id="159" name="Text 156"/>
          <p:cNvSpPr txBox="1"/>
          <p:nvPr/>
        </p:nvSpPr>
        <p:spPr>
          <a:xfrm>
            <a:off x="931112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-25 pp</a:t>
            </a:r>
            <a:endParaRPr lang="en-US" sz="750"/>
          </a:p>
        </p:txBody>
      </p:sp>
      <p:sp>
        <p:nvSpPr>
          <p:cNvPr id="160" name="Shape 157"/>
          <p:cNvSpPr/>
          <p:nvPr/>
        </p:nvSpPr>
        <p:spPr>
          <a:xfrm>
            <a:off x="571103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61" name="Text 158"/>
          <p:cNvSpPr txBox="1"/>
          <p:nvPr/>
        </p:nvSpPr>
        <p:spPr>
          <a:xfrm>
            <a:off x="576590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62" name="Shape 159"/>
          <p:cNvSpPr/>
          <p:nvPr/>
        </p:nvSpPr>
        <p:spPr>
          <a:xfrm>
            <a:off x="6131662" y="4535302"/>
            <a:ext cx="1071143" cy="59314"/>
          </a:xfrm>
          <a:prstGeom prst="line">
            <a:avLst/>
          </a:prstGeom>
          <a:noFill/>
          <a:ln w="19050">
            <a:solidFill>
              <a:srgbClr val="0B2E2C"/>
            </a:solidFill>
            <a:prstDash val="solid"/>
          </a:ln>
        </p:spPr>
        <p:txBody>
          <a:bodyPr/>
          <a:lstStyle/>
          <a:p>
            <a:endParaRPr lang="es-PE"/>
          </a:p>
        </p:txBody>
      </p:sp>
      <p:sp>
        <p:nvSpPr>
          <p:cNvPr id="163" name="Shape 160"/>
          <p:cNvSpPr/>
          <p:nvPr/>
        </p:nvSpPr>
        <p:spPr>
          <a:xfrm>
            <a:off x="7202805" y="4594616"/>
            <a:ext cx="1071143" cy="74143"/>
          </a:xfrm>
          <a:prstGeom prst="line">
            <a:avLst/>
          </a:prstGeom>
          <a:noFill/>
          <a:ln w="19050">
            <a:solidFill>
              <a:srgbClr val="0B2E2C"/>
            </a:solidFill>
            <a:prstDash val="solid"/>
          </a:ln>
        </p:spPr>
        <p:txBody>
          <a:bodyPr/>
          <a:lstStyle/>
          <a:p>
            <a:endParaRPr lang="es-PE"/>
          </a:p>
        </p:txBody>
      </p:sp>
      <p:sp>
        <p:nvSpPr>
          <p:cNvPr id="164" name="Shape 161"/>
          <p:cNvSpPr/>
          <p:nvPr/>
        </p:nvSpPr>
        <p:spPr>
          <a:xfrm flipV="1">
            <a:off x="8273948" y="4639102"/>
            <a:ext cx="1071143" cy="29657"/>
          </a:xfrm>
          <a:prstGeom prst="line">
            <a:avLst/>
          </a:prstGeom>
          <a:noFill/>
          <a:ln w="19050">
            <a:solidFill>
              <a:srgbClr val="0B2E2C"/>
            </a:solidFill>
            <a:prstDash val="solid"/>
          </a:ln>
        </p:spPr>
        <p:txBody>
          <a:bodyPr/>
          <a:lstStyle/>
          <a:p>
            <a:endParaRPr lang="es-PE"/>
          </a:p>
        </p:txBody>
      </p:sp>
      <p:sp>
        <p:nvSpPr>
          <p:cNvPr id="165" name="Shape 162"/>
          <p:cNvSpPr/>
          <p:nvPr/>
        </p:nvSpPr>
        <p:spPr>
          <a:xfrm flipV="1">
            <a:off x="9345092" y="4572373"/>
            <a:ext cx="1071143" cy="66728"/>
          </a:xfrm>
          <a:prstGeom prst="line">
            <a:avLst/>
          </a:prstGeom>
          <a:noFill/>
          <a:ln w="19050">
            <a:solidFill>
              <a:srgbClr val="0B2E2C"/>
            </a:solidFill>
            <a:prstDash val="solid"/>
          </a:ln>
        </p:spPr>
        <p:txBody>
          <a:bodyPr/>
          <a:lstStyle/>
          <a:p>
            <a:endParaRPr lang="es-PE"/>
          </a:p>
        </p:txBody>
      </p:sp>
      <p:sp>
        <p:nvSpPr>
          <p:cNvPr id="166" name="Shape 163"/>
          <p:cNvSpPr/>
          <p:nvPr/>
        </p:nvSpPr>
        <p:spPr>
          <a:xfrm>
            <a:off x="6131662" y="4831872"/>
            <a:ext cx="1071143" cy="14829"/>
          </a:xfrm>
          <a:prstGeom prst="line">
            <a:avLst/>
          </a:prstGeom>
          <a:noFill/>
          <a:ln w="19050">
            <a:solidFill>
              <a:srgbClr val="E67E22"/>
            </a:solidFill>
            <a:prstDash val="dash"/>
          </a:ln>
        </p:spPr>
        <p:txBody>
          <a:bodyPr/>
          <a:lstStyle/>
          <a:p>
            <a:endParaRPr lang="es-PE"/>
          </a:p>
        </p:txBody>
      </p:sp>
      <p:sp>
        <p:nvSpPr>
          <p:cNvPr id="167" name="Shape 164"/>
          <p:cNvSpPr/>
          <p:nvPr/>
        </p:nvSpPr>
        <p:spPr>
          <a:xfrm>
            <a:off x="7202805" y="4846701"/>
            <a:ext cx="1071143" cy="22243"/>
          </a:xfrm>
          <a:prstGeom prst="line">
            <a:avLst/>
          </a:prstGeom>
          <a:noFill/>
          <a:ln w="19050">
            <a:solidFill>
              <a:srgbClr val="E67E22"/>
            </a:solidFill>
            <a:prstDash val="dash"/>
          </a:ln>
        </p:spPr>
        <p:txBody>
          <a:bodyPr/>
          <a:lstStyle/>
          <a:p>
            <a:endParaRPr lang="es-PE"/>
          </a:p>
        </p:txBody>
      </p:sp>
      <p:sp>
        <p:nvSpPr>
          <p:cNvPr id="168" name="Shape 165"/>
          <p:cNvSpPr/>
          <p:nvPr/>
        </p:nvSpPr>
        <p:spPr>
          <a:xfrm>
            <a:off x="8273948" y="4868944"/>
            <a:ext cx="1071143" cy="7414"/>
          </a:xfrm>
          <a:prstGeom prst="line">
            <a:avLst/>
          </a:prstGeom>
          <a:noFill/>
          <a:ln w="19050">
            <a:solidFill>
              <a:srgbClr val="E67E22"/>
            </a:solidFill>
            <a:prstDash val="dash"/>
          </a:ln>
        </p:spPr>
        <p:txBody>
          <a:bodyPr/>
          <a:lstStyle/>
          <a:p>
            <a:endParaRPr lang="es-PE"/>
          </a:p>
        </p:txBody>
      </p:sp>
      <p:sp>
        <p:nvSpPr>
          <p:cNvPr id="169" name="Shape 166"/>
          <p:cNvSpPr/>
          <p:nvPr/>
        </p:nvSpPr>
        <p:spPr>
          <a:xfrm flipV="1">
            <a:off x="9345092" y="4817044"/>
            <a:ext cx="1071143" cy="59314"/>
          </a:xfrm>
          <a:prstGeom prst="line">
            <a:avLst/>
          </a:prstGeom>
          <a:noFill/>
          <a:ln w="19050">
            <a:solidFill>
              <a:srgbClr val="E67E22"/>
            </a:solidFill>
            <a:prstDash val="dash"/>
          </a:ln>
        </p:spPr>
        <p:txBody>
          <a:bodyPr/>
          <a:lstStyle/>
          <a:p>
            <a:endParaRPr lang="es-PE"/>
          </a:p>
        </p:txBody>
      </p:sp>
      <p:sp>
        <p:nvSpPr>
          <p:cNvPr id="170" name="Text 167"/>
          <p:cNvSpPr txBox="1"/>
          <p:nvPr/>
        </p:nvSpPr>
        <p:spPr>
          <a:xfrm>
            <a:off x="5811622" y="433413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21,3</a:t>
            </a:r>
            <a:endParaRPr lang="en-US" sz="700"/>
          </a:p>
        </p:txBody>
      </p:sp>
      <p:sp>
        <p:nvSpPr>
          <p:cNvPr id="171" name="Text 168"/>
          <p:cNvSpPr txBox="1"/>
          <p:nvPr/>
        </p:nvSpPr>
        <p:spPr>
          <a:xfrm>
            <a:off x="10096195" y="437120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172" name="Text 169"/>
          <p:cNvSpPr txBox="1"/>
          <p:nvPr/>
        </p:nvSpPr>
        <p:spPr>
          <a:xfrm>
            <a:off x="5811622" y="488673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73" name="Text 170"/>
          <p:cNvSpPr txBox="1"/>
          <p:nvPr/>
        </p:nvSpPr>
        <p:spPr>
          <a:xfrm>
            <a:off x="10096195" y="487190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74" name="Text 171"/>
          <p:cNvSpPr txBox="1"/>
          <p:nvPr/>
        </p:nvSpPr>
        <p:spPr>
          <a:xfrm>
            <a:off x="576590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75" name="Shape 172"/>
          <p:cNvSpPr/>
          <p:nvPr/>
        </p:nvSpPr>
        <p:spPr>
          <a:xfrm>
            <a:off x="6195670" y="5434188"/>
            <a:ext cx="728899" cy="207660"/>
          </a:xfrm>
          <a:prstGeom prst="rect">
            <a:avLst/>
          </a:prstGeom>
          <a:solidFill>
            <a:srgbClr val="13807B"/>
          </a:solidFill>
          <a:ln/>
        </p:spPr>
        <p:txBody>
          <a:bodyPr/>
          <a:lstStyle/>
          <a:p>
            <a:endParaRPr lang="es-PE"/>
          </a:p>
        </p:txBody>
      </p:sp>
      <p:sp>
        <p:nvSpPr>
          <p:cNvPr id="176" name="Text 173"/>
          <p:cNvSpPr txBox="1"/>
          <p:nvPr/>
        </p:nvSpPr>
        <p:spPr>
          <a:xfrm>
            <a:off x="6058510" y="525130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60%</a:t>
            </a:r>
            <a:endParaRPr lang="en-US" sz="750"/>
          </a:p>
        </p:txBody>
      </p:sp>
      <p:sp>
        <p:nvSpPr>
          <p:cNvPr id="177" name="Text 174"/>
          <p:cNvSpPr txBox="1"/>
          <p:nvPr/>
        </p:nvSpPr>
        <p:spPr>
          <a:xfrm>
            <a:off x="601279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78" name="Shape 175"/>
          <p:cNvSpPr/>
          <p:nvPr/>
        </p:nvSpPr>
        <p:spPr>
          <a:xfrm>
            <a:off x="7052584" y="5454954"/>
            <a:ext cx="728899" cy="186894"/>
          </a:xfrm>
          <a:prstGeom prst="rect">
            <a:avLst/>
          </a:prstGeom>
          <a:solidFill>
            <a:srgbClr val="13807B"/>
          </a:solidFill>
          <a:ln/>
        </p:spPr>
        <p:txBody>
          <a:bodyPr/>
          <a:lstStyle/>
          <a:p>
            <a:endParaRPr lang="es-PE"/>
          </a:p>
        </p:txBody>
      </p:sp>
      <p:sp>
        <p:nvSpPr>
          <p:cNvPr id="179" name="Text 176"/>
          <p:cNvSpPr txBox="1"/>
          <p:nvPr/>
        </p:nvSpPr>
        <p:spPr>
          <a:xfrm>
            <a:off x="6915424" y="527207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54%</a:t>
            </a:r>
            <a:endParaRPr lang="en-US" sz="750"/>
          </a:p>
        </p:txBody>
      </p:sp>
      <p:sp>
        <p:nvSpPr>
          <p:cNvPr id="180" name="Text 177"/>
          <p:cNvSpPr txBox="1"/>
          <p:nvPr/>
        </p:nvSpPr>
        <p:spPr>
          <a:xfrm>
            <a:off x="686970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81" name="Shape 178"/>
          <p:cNvSpPr/>
          <p:nvPr/>
        </p:nvSpPr>
        <p:spPr>
          <a:xfrm>
            <a:off x="7909499" y="5461876"/>
            <a:ext cx="728899" cy="179972"/>
          </a:xfrm>
          <a:prstGeom prst="rect">
            <a:avLst/>
          </a:prstGeom>
          <a:solidFill>
            <a:srgbClr val="13807B"/>
          </a:solidFill>
          <a:ln/>
        </p:spPr>
        <p:txBody>
          <a:bodyPr/>
          <a:lstStyle/>
          <a:p>
            <a:endParaRPr lang="es-PE"/>
          </a:p>
        </p:txBody>
      </p:sp>
      <p:sp>
        <p:nvSpPr>
          <p:cNvPr id="182" name="Text 179"/>
          <p:cNvSpPr txBox="1"/>
          <p:nvPr/>
        </p:nvSpPr>
        <p:spPr>
          <a:xfrm>
            <a:off x="7772339" y="527899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52%</a:t>
            </a:r>
            <a:endParaRPr lang="en-US" sz="750"/>
          </a:p>
        </p:txBody>
      </p:sp>
      <p:sp>
        <p:nvSpPr>
          <p:cNvPr id="183" name="Text 180"/>
          <p:cNvSpPr txBox="1"/>
          <p:nvPr/>
        </p:nvSpPr>
        <p:spPr>
          <a:xfrm>
            <a:off x="772661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84" name="Shape 181"/>
          <p:cNvSpPr/>
          <p:nvPr/>
        </p:nvSpPr>
        <p:spPr>
          <a:xfrm>
            <a:off x="8766414" y="5475720"/>
            <a:ext cx="728899" cy="166128"/>
          </a:xfrm>
          <a:prstGeom prst="rect">
            <a:avLst/>
          </a:prstGeom>
          <a:solidFill>
            <a:srgbClr val="13807B"/>
          </a:solidFill>
          <a:ln/>
        </p:spPr>
        <p:txBody>
          <a:bodyPr/>
          <a:lstStyle/>
          <a:p>
            <a:endParaRPr lang="es-PE"/>
          </a:p>
        </p:txBody>
      </p:sp>
      <p:sp>
        <p:nvSpPr>
          <p:cNvPr id="185" name="Text 182"/>
          <p:cNvSpPr txBox="1"/>
          <p:nvPr/>
        </p:nvSpPr>
        <p:spPr>
          <a:xfrm>
            <a:off x="8629254" y="529284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48%</a:t>
            </a:r>
            <a:endParaRPr lang="en-US" sz="750"/>
          </a:p>
        </p:txBody>
      </p:sp>
      <p:sp>
        <p:nvSpPr>
          <p:cNvPr id="186" name="Text 183"/>
          <p:cNvSpPr txBox="1"/>
          <p:nvPr/>
        </p:nvSpPr>
        <p:spPr>
          <a:xfrm>
            <a:off x="858353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87" name="Shape 184"/>
          <p:cNvSpPr/>
          <p:nvPr/>
        </p:nvSpPr>
        <p:spPr>
          <a:xfrm>
            <a:off x="9623328" y="5520713"/>
            <a:ext cx="728899" cy="121135"/>
          </a:xfrm>
          <a:prstGeom prst="rect">
            <a:avLst/>
          </a:prstGeom>
          <a:solidFill>
            <a:srgbClr val="13807B"/>
          </a:solidFill>
          <a:ln/>
        </p:spPr>
        <p:txBody>
          <a:bodyPr/>
          <a:lstStyle/>
          <a:p>
            <a:endParaRPr lang="es-PE"/>
          </a:p>
        </p:txBody>
      </p:sp>
      <p:sp>
        <p:nvSpPr>
          <p:cNvPr id="188" name="Text 185"/>
          <p:cNvSpPr txBox="1"/>
          <p:nvPr/>
        </p:nvSpPr>
        <p:spPr>
          <a:xfrm>
            <a:off x="9486168" y="533783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35%</a:t>
            </a:r>
            <a:endParaRPr lang="en-US" sz="750"/>
          </a:p>
        </p:txBody>
      </p:sp>
      <p:sp>
        <p:nvSpPr>
          <p:cNvPr id="189" name="Text 186"/>
          <p:cNvSpPr txBox="1"/>
          <p:nvPr/>
        </p:nvSpPr>
        <p:spPr>
          <a:xfrm>
            <a:off x="944044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90" name="Shape 187"/>
          <p:cNvSpPr/>
          <p:nvPr/>
        </p:nvSpPr>
        <p:spPr>
          <a:xfrm>
            <a:off x="6095086" y="5641848"/>
            <a:ext cx="4357726" cy="0"/>
          </a:xfrm>
          <a:prstGeom prst="line">
            <a:avLst/>
          </a:prstGeom>
          <a:noFill/>
          <a:ln w="9525">
            <a:solidFill>
              <a:srgbClr val="D5DFDE"/>
            </a:solidFill>
            <a:prstDash val="solid"/>
          </a:ln>
        </p:spPr>
        <p:txBody>
          <a:bodyPr/>
          <a:lstStyle/>
          <a:p>
            <a:endParaRPr lang="es-PE"/>
          </a:p>
        </p:txBody>
      </p:sp>
      <p:sp>
        <p:nvSpPr>
          <p:cNvPr id="191" name="Shape 188"/>
          <p:cNvSpPr/>
          <p:nvPr/>
        </p:nvSpPr>
        <p:spPr>
          <a:xfrm>
            <a:off x="10763707" y="3835908"/>
            <a:ext cx="4833214" cy="329184"/>
          </a:xfrm>
          <a:prstGeom prst="rect">
            <a:avLst/>
          </a:prstGeom>
          <a:solidFill>
            <a:srgbClr val="13807B"/>
          </a:solidFill>
          <a:ln/>
        </p:spPr>
        <p:txBody>
          <a:bodyPr/>
          <a:lstStyle/>
          <a:p>
            <a:endParaRPr lang="es-PE"/>
          </a:p>
        </p:txBody>
      </p:sp>
      <p:sp>
        <p:nvSpPr>
          <p:cNvPr id="192" name="Text 189"/>
          <p:cNvSpPr txBox="1"/>
          <p:nvPr/>
        </p:nvSpPr>
        <p:spPr>
          <a:xfrm>
            <a:off x="10873435"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por Reactivar</a:t>
            </a:r>
            <a:endParaRPr lang="en-US" sz="1100"/>
          </a:p>
        </p:txBody>
      </p:sp>
      <p:sp>
        <p:nvSpPr>
          <p:cNvPr id="193" name="Shape 190"/>
          <p:cNvSpPr/>
          <p:nvPr/>
        </p:nvSpPr>
        <p:spPr>
          <a:xfrm>
            <a:off x="12889014" y="3881628"/>
            <a:ext cx="1401632" cy="237744"/>
          </a:xfrm>
          <a:prstGeom prst="roundRect">
            <a:avLst>
              <a:gd name="adj" fmla="val 23077"/>
            </a:avLst>
          </a:prstGeom>
          <a:solidFill>
            <a:srgbClr val="0B2E2C"/>
          </a:solidFill>
          <a:ln/>
        </p:spPr>
        <p:txBody>
          <a:bodyPr/>
          <a:lstStyle/>
          <a:p>
            <a:endParaRPr lang="es-PE"/>
          </a:p>
        </p:txBody>
      </p:sp>
      <p:sp>
        <p:nvSpPr>
          <p:cNvPr id="194" name="Text 191"/>
          <p:cNvSpPr txBox="1"/>
          <p:nvPr/>
        </p:nvSpPr>
        <p:spPr>
          <a:xfrm>
            <a:off x="1288901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3,8 pp</a:t>
            </a:r>
            <a:endParaRPr lang="en-US" sz="750"/>
          </a:p>
        </p:txBody>
      </p:sp>
      <p:sp>
        <p:nvSpPr>
          <p:cNvPr id="195" name="Shape 192"/>
          <p:cNvSpPr/>
          <p:nvPr/>
        </p:nvSpPr>
        <p:spPr>
          <a:xfrm>
            <a:off x="14363798" y="3881628"/>
            <a:ext cx="1159971" cy="237744"/>
          </a:xfrm>
          <a:prstGeom prst="roundRect">
            <a:avLst>
              <a:gd name="adj" fmla="val 23077"/>
            </a:avLst>
          </a:prstGeom>
          <a:solidFill>
            <a:srgbClr val="FFFFFF"/>
          </a:solidFill>
          <a:ln/>
        </p:spPr>
        <p:txBody>
          <a:bodyPr/>
          <a:lstStyle/>
          <a:p>
            <a:endParaRPr lang="es-PE"/>
          </a:p>
        </p:txBody>
      </p:sp>
      <p:sp>
        <p:nvSpPr>
          <p:cNvPr id="196" name="Text 193"/>
          <p:cNvSpPr txBox="1"/>
          <p:nvPr/>
        </p:nvSpPr>
        <p:spPr>
          <a:xfrm>
            <a:off x="1436379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-18 pp</a:t>
            </a:r>
            <a:endParaRPr lang="en-US" sz="750"/>
          </a:p>
        </p:txBody>
      </p:sp>
      <p:sp>
        <p:nvSpPr>
          <p:cNvPr id="197" name="Shape 194"/>
          <p:cNvSpPr/>
          <p:nvPr/>
        </p:nvSpPr>
        <p:spPr>
          <a:xfrm>
            <a:off x="10763707"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98" name="Text 195"/>
          <p:cNvSpPr txBox="1"/>
          <p:nvPr/>
        </p:nvSpPr>
        <p:spPr>
          <a:xfrm>
            <a:off x="10818571"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99" name="Shape 196"/>
          <p:cNvSpPr/>
          <p:nvPr/>
        </p:nvSpPr>
        <p:spPr>
          <a:xfrm flipV="1">
            <a:off x="11184331" y="4543847"/>
            <a:ext cx="1071143" cy="75399"/>
          </a:xfrm>
          <a:prstGeom prst="line">
            <a:avLst/>
          </a:prstGeom>
          <a:noFill/>
          <a:ln w="19050">
            <a:solidFill>
              <a:srgbClr val="0B2E2C"/>
            </a:solidFill>
            <a:prstDash val="solid"/>
          </a:ln>
        </p:spPr>
        <p:txBody>
          <a:bodyPr/>
          <a:lstStyle/>
          <a:p>
            <a:endParaRPr lang="es-PE"/>
          </a:p>
        </p:txBody>
      </p:sp>
      <p:sp>
        <p:nvSpPr>
          <p:cNvPr id="200" name="Shape 197"/>
          <p:cNvSpPr/>
          <p:nvPr/>
        </p:nvSpPr>
        <p:spPr>
          <a:xfrm flipV="1">
            <a:off x="12255475" y="4536307"/>
            <a:ext cx="1071143" cy="7540"/>
          </a:xfrm>
          <a:prstGeom prst="line">
            <a:avLst/>
          </a:prstGeom>
          <a:noFill/>
          <a:ln w="19050">
            <a:solidFill>
              <a:srgbClr val="0B2E2C"/>
            </a:solidFill>
            <a:prstDash val="solid"/>
          </a:ln>
        </p:spPr>
        <p:txBody>
          <a:bodyPr/>
          <a:lstStyle/>
          <a:p>
            <a:endParaRPr lang="es-PE"/>
          </a:p>
        </p:txBody>
      </p:sp>
      <p:sp>
        <p:nvSpPr>
          <p:cNvPr id="201" name="Shape 198"/>
          <p:cNvSpPr/>
          <p:nvPr/>
        </p:nvSpPr>
        <p:spPr>
          <a:xfrm>
            <a:off x="13326618" y="4536307"/>
            <a:ext cx="1071143" cy="0"/>
          </a:xfrm>
          <a:prstGeom prst="line">
            <a:avLst/>
          </a:prstGeom>
          <a:noFill/>
          <a:ln w="19050">
            <a:solidFill>
              <a:srgbClr val="0B2E2C"/>
            </a:solidFill>
            <a:prstDash val="solid"/>
          </a:ln>
        </p:spPr>
        <p:txBody>
          <a:bodyPr/>
          <a:lstStyle/>
          <a:p>
            <a:endParaRPr lang="es-PE"/>
          </a:p>
        </p:txBody>
      </p:sp>
      <p:sp>
        <p:nvSpPr>
          <p:cNvPr id="202" name="Shape 199"/>
          <p:cNvSpPr/>
          <p:nvPr/>
        </p:nvSpPr>
        <p:spPr>
          <a:xfrm>
            <a:off x="14397761" y="4536307"/>
            <a:ext cx="1071143" cy="15080"/>
          </a:xfrm>
          <a:prstGeom prst="line">
            <a:avLst/>
          </a:prstGeom>
          <a:noFill/>
          <a:ln w="19050">
            <a:solidFill>
              <a:srgbClr val="0B2E2C"/>
            </a:solidFill>
            <a:prstDash val="solid"/>
          </a:ln>
        </p:spPr>
        <p:txBody>
          <a:bodyPr/>
          <a:lstStyle/>
          <a:p>
            <a:endParaRPr lang="es-PE"/>
          </a:p>
        </p:txBody>
      </p:sp>
      <p:sp>
        <p:nvSpPr>
          <p:cNvPr id="203" name="Shape 200"/>
          <p:cNvSpPr/>
          <p:nvPr/>
        </p:nvSpPr>
        <p:spPr>
          <a:xfrm flipV="1">
            <a:off x="11184331" y="4815285"/>
            <a:ext cx="1071143" cy="37700"/>
          </a:xfrm>
          <a:prstGeom prst="line">
            <a:avLst/>
          </a:prstGeom>
          <a:noFill/>
          <a:ln w="19050">
            <a:solidFill>
              <a:srgbClr val="E67E22"/>
            </a:solidFill>
            <a:prstDash val="dash"/>
          </a:ln>
        </p:spPr>
        <p:txBody>
          <a:bodyPr/>
          <a:lstStyle/>
          <a:p>
            <a:endParaRPr lang="es-PE"/>
          </a:p>
        </p:txBody>
      </p:sp>
      <p:sp>
        <p:nvSpPr>
          <p:cNvPr id="204" name="Shape 201"/>
          <p:cNvSpPr/>
          <p:nvPr/>
        </p:nvSpPr>
        <p:spPr>
          <a:xfrm>
            <a:off x="12255475" y="4815285"/>
            <a:ext cx="1071143" cy="60319"/>
          </a:xfrm>
          <a:prstGeom prst="line">
            <a:avLst/>
          </a:prstGeom>
          <a:noFill/>
          <a:ln w="19050">
            <a:solidFill>
              <a:srgbClr val="E67E22"/>
            </a:solidFill>
            <a:prstDash val="dash"/>
          </a:ln>
        </p:spPr>
        <p:txBody>
          <a:bodyPr/>
          <a:lstStyle/>
          <a:p>
            <a:endParaRPr lang="es-PE"/>
          </a:p>
        </p:txBody>
      </p:sp>
      <p:sp>
        <p:nvSpPr>
          <p:cNvPr id="205" name="Shape 202"/>
          <p:cNvSpPr/>
          <p:nvPr/>
        </p:nvSpPr>
        <p:spPr>
          <a:xfrm flipV="1">
            <a:off x="13326618" y="4860524"/>
            <a:ext cx="1071143" cy="15080"/>
          </a:xfrm>
          <a:prstGeom prst="line">
            <a:avLst/>
          </a:prstGeom>
          <a:noFill/>
          <a:ln w="19050">
            <a:solidFill>
              <a:srgbClr val="E67E22"/>
            </a:solidFill>
            <a:prstDash val="dash"/>
          </a:ln>
        </p:spPr>
        <p:txBody>
          <a:bodyPr/>
          <a:lstStyle/>
          <a:p>
            <a:endParaRPr lang="es-PE"/>
          </a:p>
        </p:txBody>
      </p:sp>
      <p:sp>
        <p:nvSpPr>
          <p:cNvPr id="206" name="Shape 203"/>
          <p:cNvSpPr/>
          <p:nvPr/>
        </p:nvSpPr>
        <p:spPr>
          <a:xfrm flipV="1">
            <a:off x="14397761" y="4822825"/>
            <a:ext cx="1071143" cy="37700"/>
          </a:xfrm>
          <a:prstGeom prst="line">
            <a:avLst/>
          </a:prstGeom>
          <a:noFill/>
          <a:ln w="19050">
            <a:solidFill>
              <a:srgbClr val="E67E22"/>
            </a:solidFill>
            <a:prstDash val="dash"/>
          </a:ln>
        </p:spPr>
        <p:txBody>
          <a:bodyPr/>
          <a:lstStyle/>
          <a:p>
            <a:endParaRPr lang="es-PE"/>
          </a:p>
        </p:txBody>
      </p:sp>
      <p:sp>
        <p:nvSpPr>
          <p:cNvPr id="207" name="Text 204"/>
          <p:cNvSpPr txBox="1"/>
          <p:nvPr/>
        </p:nvSpPr>
        <p:spPr>
          <a:xfrm>
            <a:off x="10864291" y="441807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21,9</a:t>
            </a:r>
            <a:endParaRPr lang="en-US" sz="700"/>
          </a:p>
        </p:txBody>
      </p:sp>
      <p:sp>
        <p:nvSpPr>
          <p:cNvPr id="208" name="Text 205"/>
          <p:cNvSpPr txBox="1"/>
          <p:nvPr/>
        </p:nvSpPr>
        <p:spPr>
          <a:xfrm>
            <a:off x="15148865" y="43502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22,8</a:t>
            </a:r>
            <a:endParaRPr lang="en-US" sz="700"/>
          </a:p>
        </p:txBody>
      </p:sp>
      <p:sp>
        <p:nvSpPr>
          <p:cNvPr id="209" name="Text 206"/>
          <p:cNvSpPr txBox="1"/>
          <p:nvPr/>
        </p:nvSpPr>
        <p:spPr>
          <a:xfrm>
            <a:off x="10864291" y="490784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18,8</a:t>
            </a:r>
            <a:endParaRPr lang="en-US" sz="700"/>
          </a:p>
        </p:txBody>
      </p:sp>
      <p:sp>
        <p:nvSpPr>
          <p:cNvPr id="210" name="Text 207"/>
          <p:cNvSpPr txBox="1"/>
          <p:nvPr/>
        </p:nvSpPr>
        <p:spPr>
          <a:xfrm>
            <a:off x="15148865" y="487768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19,2</a:t>
            </a:r>
            <a:endParaRPr lang="en-US" sz="700"/>
          </a:p>
        </p:txBody>
      </p:sp>
      <p:sp>
        <p:nvSpPr>
          <p:cNvPr id="211" name="Text 208"/>
          <p:cNvSpPr txBox="1"/>
          <p:nvPr/>
        </p:nvSpPr>
        <p:spPr>
          <a:xfrm>
            <a:off x="10818571"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12" name="Shape 209"/>
          <p:cNvSpPr/>
          <p:nvPr/>
        </p:nvSpPr>
        <p:spPr>
          <a:xfrm>
            <a:off x="11248339" y="5351124"/>
            <a:ext cx="728899" cy="290724"/>
          </a:xfrm>
          <a:prstGeom prst="rect">
            <a:avLst/>
          </a:prstGeom>
          <a:solidFill>
            <a:srgbClr val="13807B"/>
          </a:solidFill>
          <a:ln/>
        </p:spPr>
        <p:txBody>
          <a:bodyPr/>
          <a:lstStyle/>
          <a:p>
            <a:endParaRPr lang="es-PE"/>
          </a:p>
        </p:txBody>
      </p:sp>
      <p:sp>
        <p:nvSpPr>
          <p:cNvPr id="213" name="Text 210"/>
          <p:cNvSpPr txBox="1"/>
          <p:nvPr/>
        </p:nvSpPr>
        <p:spPr>
          <a:xfrm>
            <a:off x="11111179" y="516824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84%</a:t>
            </a:r>
            <a:endParaRPr lang="en-US" sz="750"/>
          </a:p>
        </p:txBody>
      </p:sp>
      <p:sp>
        <p:nvSpPr>
          <p:cNvPr id="214" name="Text 211"/>
          <p:cNvSpPr txBox="1"/>
          <p:nvPr/>
        </p:nvSpPr>
        <p:spPr>
          <a:xfrm>
            <a:off x="1106545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215" name="Shape 212"/>
          <p:cNvSpPr/>
          <p:nvPr/>
        </p:nvSpPr>
        <p:spPr>
          <a:xfrm>
            <a:off x="12105254" y="5326897"/>
            <a:ext cx="728899" cy="314951"/>
          </a:xfrm>
          <a:prstGeom prst="rect">
            <a:avLst/>
          </a:prstGeom>
          <a:solidFill>
            <a:srgbClr val="13807B"/>
          </a:solidFill>
          <a:ln/>
        </p:spPr>
        <p:txBody>
          <a:bodyPr/>
          <a:lstStyle/>
          <a:p>
            <a:endParaRPr lang="es-PE"/>
          </a:p>
        </p:txBody>
      </p:sp>
      <p:sp>
        <p:nvSpPr>
          <p:cNvPr id="216" name="Text 213"/>
          <p:cNvSpPr txBox="1"/>
          <p:nvPr/>
        </p:nvSpPr>
        <p:spPr>
          <a:xfrm>
            <a:off x="11968094" y="514401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91%</a:t>
            </a:r>
            <a:endParaRPr lang="en-US" sz="750"/>
          </a:p>
        </p:txBody>
      </p:sp>
      <p:sp>
        <p:nvSpPr>
          <p:cNvPr id="217" name="Text 214"/>
          <p:cNvSpPr txBox="1"/>
          <p:nvPr/>
        </p:nvSpPr>
        <p:spPr>
          <a:xfrm>
            <a:off x="1192237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218" name="Shape 215"/>
          <p:cNvSpPr/>
          <p:nvPr/>
        </p:nvSpPr>
        <p:spPr>
          <a:xfrm>
            <a:off x="12962169" y="5364968"/>
            <a:ext cx="728899" cy="276880"/>
          </a:xfrm>
          <a:prstGeom prst="rect">
            <a:avLst/>
          </a:prstGeom>
          <a:solidFill>
            <a:srgbClr val="13807B"/>
          </a:solidFill>
          <a:ln/>
        </p:spPr>
        <p:txBody>
          <a:bodyPr/>
          <a:lstStyle/>
          <a:p>
            <a:endParaRPr lang="es-PE"/>
          </a:p>
        </p:txBody>
      </p:sp>
      <p:sp>
        <p:nvSpPr>
          <p:cNvPr id="219" name="Text 216"/>
          <p:cNvSpPr txBox="1"/>
          <p:nvPr/>
        </p:nvSpPr>
        <p:spPr>
          <a:xfrm>
            <a:off x="12825009" y="518208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80%</a:t>
            </a:r>
            <a:endParaRPr lang="en-US" sz="750"/>
          </a:p>
        </p:txBody>
      </p:sp>
      <p:sp>
        <p:nvSpPr>
          <p:cNvPr id="220" name="Text 217"/>
          <p:cNvSpPr txBox="1"/>
          <p:nvPr/>
        </p:nvSpPr>
        <p:spPr>
          <a:xfrm>
            <a:off x="1277928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221" name="Shape 218"/>
          <p:cNvSpPr/>
          <p:nvPr/>
        </p:nvSpPr>
        <p:spPr>
          <a:xfrm>
            <a:off x="13819083" y="5378812"/>
            <a:ext cx="728899" cy="263036"/>
          </a:xfrm>
          <a:prstGeom prst="rect">
            <a:avLst/>
          </a:prstGeom>
          <a:solidFill>
            <a:srgbClr val="13807B"/>
          </a:solidFill>
          <a:ln/>
        </p:spPr>
        <p:txBody>
          <a:bodyPr/>
          <a:lstStyle/>
          <a:p>
            <a:endParaRPr lang="es-PE"/>
          </a:p>
        </p:txBody>
      </p:sp>
      <p:sp>
        <p:nvSpPr>
          <p:cNvPr id="222" name="Text 219"/>
          <p:cNvSpPr txBox="1"/>
          <p:nvPr/>
        </p:nvSpPr>
        <p:spPr>
          <a:xfrm>
            <a:off x="13681923" y="519593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76%</a:t>
            </a:r>
            <a:endParaRPr lang="en-US" sz="750"/>
          </a:p>
        </p:txBody>
      </p:sp>
      <p:sp>
        <p:nvSpPr>
          <p:cNvPr id="223" name="Text 220"/>
          <p:cNvSpPr txBox="1"/>
          <p:nvPr/>
        </p:nvSpPr>
        <p:spPr>
          <a:xfrm>
            <a:off x="13636203"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224" name="Shape 221"/>
          <p:cNvSpPr/>
          <p:nvPr/>
        </p:nvSpPr>
        <p:spPr>
          <a:xfrm>
            <a:off x="14675998" y="5413422"/>
            <a:ext cx="728899" cy="228426"/>
          </a:xfrm>
          <a:prstGeom prst="rect">
            <a:avLst/>
          </a:prstGeom>
          <a:solidFill>
            <a:srgbClr val="13807B"/>
          </a:solidFill>
          <a:ln/>
        </p:spPr>
        <p:txBody>
          <a:bodyPr/>
          <a:lstStyle/>
          <a:p>
            <a:endParaRPr lang="es-PE"/>
          </a:p>
        </p:txBody>
      </p:sp>
      <p:sp>
        <p:nvSpPr>
          <p:cNvPr id="225" name="Text 222"/>
          <p:cNvSpPr txBox="1"/>
          <p:nvPr/>
        </p:nvSpPr>
        <p:spPr>
          <a:xfrm>
            <a:off x="14538838" y="523054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66%</a:t>
            </a:r>
            <a:endParaRPr lang="en-US" sz="750"/>
          </a:p>
        </p:txBody>
      </p:sp>
      <p:sp>
        <p:nvSpPr>
          <p:cNvPr id="226" name="Text 223"/>
          <p:cNvSpPr txBox="1"/>
          <p:nvPr/>
        </p:nvSpPr>
        <p:spPr>
          <a:xfrm>
            <a:off x="1449311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227" name="Shape 224"/>
          <p:cNvSpPr/>
          <p:nvPr/>
        </p:nvSpPr>
        <p:spPr>
          <a:xfrm>
            <a:off x="11147755" y="5641848"/>
            <a:ext cx="4357726" cy="0"/>
          </a:xfrm>
          <a:prstGeom prst="line">
            <a:avLst/>
          </a:prstGeom>
          <a:noFill/>
          <a:ln w="9525">
            <a:solidFill>
              <a:srgbClr val="D5DFDE"/>
            </a:solidFill>
            <a:prstDash val="solid"/>
          </a:ln>
        </p:spPr>
        <p:txBody>
          <a:bodyPr/>
          <a:lstStyle/>
          <a:p>
            <a:endParaRPr lang="es-PE"/>
          </a:p>
        </p:txBody>
      </p:sp>
      <p:sp>
        <p:nvSpPr>
          <p:cNvPr id="228" name="Shape 225"/>
          <p:cNvSpPr/>
          <p:nvPr/>
        </p:nvSpPr>
        <p:spPr>
          <a:xfrm>
            <a:off x="658368" y="6172200"/>
            <a:ext cx="201168" cy="128016"/>
          </a:xfrm>
          <a:prstGeom prst="rect">
            <a:avLst/>
          </a:prstGeom>
          <a:solidFill>
            <a:srgbClr val="13807B"/>
          </a:solidFill>
          <a:ln/>
        </p:spPr>
        <p:txBody>
          <a:bodyPr/>
          <a:lstStyle/>
          <a:p>
            <a:endParaRPr lang="es-PE"/>
          </a:p>
        </p:txBody>
      </p:sp>
      <p:sp>
        <p:nvSpPr>
          <p:cNvPr id="229" name="Text 226"/>
          <p:cNvSpPr txBox="1"/>
          <p:nvPr/>
        </p:nvSpPr>
        <p:spPr>
          <a:xfrm>
            <a:off x="896112" y="613562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230" name="Shape 227"/>
          <p:cNvSpPr/>
          <p:nvPr/>
        </p:nvSpPr>
        <p:spPr>
          <a:xfrm>
            <a:off x="2788920" y="6236208"/>
            <a:ext cx="320040" cy="0"/>
          </a:xfrm>
          <a:prstGeom prst="line">
            <a:avLst/>
          </a:prstGeom>
          <a:noFill/>
          <a:ln w="22225">
            <a:solidFill>
              <a:srgbClr val="0B2E2C"/>
            </a:solidFill>
            <a:prstDash val="solid"/>
          </a:ln>
        </p:spPr>
        <p:txBody>
          <a:bodyPr/>
          <a:lstStyle/>
          <a:p>
            <a:endParaRPr lang="es-PE"/>
          </a:p>
        </p:txBody>
      </p:sp>
      <p:sp>
        <p:nvSpPr>
          <p:cNvPr id="231" name="Text 228"/>
          <p:cNvSpPr txBox="1"/>
          <p:nvPr/>
        </p:nvSpPr>
        <p:spPr>
          <a:xfrm>
            <a:off x="3154680" y="613562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232" name="Shape 229"/>
          <p:cNvSpPr/>
          <p:nvPr/>
        </p:nvSpPr>
        <p:spPr>
          <a:xfrm>
            <a:off x="4434840" y="6236208"/>
            <a:ext cx="320040" cy="0"/>
          </a:xfrm>
          <a:prstGeom prst="line">
            <a:avLst/>
          </a:prstGeom>
          <a:noFill/>
          <a:ln w="22225">
            <a:solidFill>
              <a:srgbClr val="E67E22"/>
            </a:solidFill>
            <a:prstDash val="dash"/>
          </a:ln>
        </p:spPr>
        <p:txBody>
          <a:bodyPr/>
          <a:lstStyle/>
          <a:p>
            <a:endParaRPr lang="es-PE"/>
          </a:p>
        </p:txBody>
      </p:sp>
      <p:sp>
        <p:nvSpPr>
          <p:cNvPr id="233" name="Text 230"/>
          <p:cNvSpPr txBox="1"/>
          <p:nvPr/>
        </p:nvSpPr>
        <p:spPr>
          <a:xfrm>
            <a:off x="4800600" y="613562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234" name="Text 231"/>
          <p:cNvSpPr txBox="1"/>
          <p:nvPr/>
        </p:nvSpPr>
        <p:spPr>
          <a:xfrm>
            <a:off x="11430000" y="613562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235" name="Shape 232"/>
          <p:cNvSpPr/>
          <p:nvPr/>
        </p:nvSpPr>
        <p:spPr>
          <a:xfrm>
            <a:off x="658368" y="6446520"/>
            <a:ext cx="14938553" cy="2167128"/>
          </a:xfrm>
          <a:prstGeom prst="rect">
            <a:avLst/>
          </a:prstGeom>
          <a:solidFill>
            <a:srgbClr val="F6FBFA"/>
          </a:solidFill>
          <a:ln w="9525">
            <a:solidFill>
              <a:srgbClr val="D5DFDE"/>
            </a:solidFill>
            <a:prstDash val="solid"/>
          </a:ln>
        </p:spPr>
        <p:txBody>
          <a:bodyPr/>
          <a:lstStyle/>
          <a:p>
            <a:endParaRPr lang="es-PE"/>
          </a:p>
        </p:txBody>
      </p:sp>
      <p:sp>
        <p:nvSpPr>
          <p:cNvPr id="236" name="Shape 233"/>
          <p:cNvSpPr/>
          <p:nvPr/>
        </p:nvSpPr>
        <p:spPr>
          <a:xfrm>
            <a:off x="658368" y="6446520"/>
            <a:ext cx="54864" cy="2167128"/>
          </a:xfrm>
          <a:prstGeom prst="rect">
            <a:avLst/>
          </a:prstGeom>
          <a:solidFill>
            <a:srgbClr val="13807B"/>
          </a:solidFill>
          <a:ln/>
        </p:spPr>
        <p:txBody>
          <a:bodyPr/>
          <a:lstStyle/>
          <a:p>
            <a:endParaRPr lang="es-PE"/>
          </a:p>
        </p:txBody>
      </p:sp>
      <p:sp>
        <p:nvSpPr>
          <p:cNvPr id="237" name="Text 234"/>
          <p:cNvSpPr txBox="1"/>
          <p:nvPr/>
        </p:nvSpPr>
        <p:spPr>
          <a:xfrm>
            <a:off x="914400" y="655624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238" name="Text 235"/>
          <p:cNvSpPr txBox="1"/>
          <p:nvPr/>
        </p:nvSpPr>
        <p:spPr>
          <a:xfrm>
            <a:off x="914400"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239" name="Text 236"/>
          <p:cNvSpPr txBox="1"/>
          <p:nvPr/>
        </p:nvSpPr>
        <p:spPr>
          <a:xfrm>
            <a:off x="914400"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6 clusters caen entre 2025Q2 y 2026Q2 (-18pp a -28pp) con la brecha TEA estable (~2.4-3.8pp): el precio actual no explica la caída, pero tampoco la ha frenado.</a:t>
            </a:r>
            <a:endParaRPr lang="en-US" sz="950"/>
          </a:p>
        </p:txBody>
      </p:sp>
      <p:sp>
        <p:nvSpPr>
          <p:cNvPr id="240" name="Text 237"/>
          <p:cNvSpPr txBox="1"/>
          <p:nvPr/>
        </p:nvSpPr>
        <p:spPr>
          <a:xfrm>
            <a:off x="5900014"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241" name="Text 238"/>
          <p:cNvSpPr txBox="1"/>
          <p:nvPr/>
        </p:nvSpPr>
        <p:spPr>
          <a:xfrm>
            <a:off x="5900014"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Socio en Crecimiento, Cuenta Estratégica y Maduro Multibanco son los de mayor caída (-28pp) — ahí conviene testear una baja selectiva de TEA ofertada (piloto acotado, no across-the-board) para ver si recupera share antes de escalarlo a los otros 3.</a:t>
            </a:r>
            <a:endParaRPr lang="en-US" sz="950"/>
          </a:p>
        </p:txBody>
      </p:sp>
      <p:sp>
        <p:nvSpPr>
          <p:cNvPr id="242" name="Text 239"/>
          <p:cNvSpPr txBox="1"/>
          <p:nvPr/>
        </p:nvSpPr>
        <p:spPr>
          <a:xfrm>
            <a:off x="10885627" y="683056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243" name="Text 240"/>
          <p:cNvSpPr txBox="1"/>
          <p:nvPr/>
        </p:nvSpPr>
        <p:spPr>
          <a:xfrm>
            <a:off x="10885627"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Cliente por Reactivar resiste mejor (-18pp) con la TEA ofertada más alta del grupo (22.8%-23.0% vs. ~20-21% en el resto) — no bajar tasa ahí todavía: el cliente parece menos sensible al precio que el resto.</a:t>
            </a:r>
            <a:endParaRPr lang="en-US" sz="9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CON DEUDA · MONTO (S/)</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En monto la caída con deuda es aún más fuerte: -26pp a -31pp según cluster, salvo Cliente por Reactivar (-16pp)</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Ancla</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2,4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-29 pp</a:t>
            </a:r>
            <a:endParaRPr lang="en-US" sz="750"/>
          </a:p>
        </p:txBody>
      </p:sp>
      <p:sp>
        <p:nvSpPr>
          <p:cNvPr id="12" name="Shape 9"/>
          <p:cNvSpPr/>
          <p:nvPr/>
        </p:nvSpPr>
        <p:spPr>
          <a:xfrm>
            <a:off x="65836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a:off x="1078992" y="2143910"/>
            <a:ext cx="1071143" cy="19342"/>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63252"/>
            <a:ext cx="1071143" cy="96708"/>
          </a:xfrm>
          <a:prstGeom prst="line">
            <a:avLst/>
          </a:prstGeom>
          <a:noFill/>
          <a:ln w="19050">
            <a:solidFill>
              <a:srgbClr val="0B2E2C"/>
            </a:solidFill>
            <a:prstDash val="solid"/>
          </a:ln>
        </p:spPr>
        <p:txBody>
          <a:bodyPr/>
          <a:lstStyle/>
          <a:p>
            <a:endParaRPr lang="es-PE"/>
          </a:p>
        </p:txBody>
      </p:sp>
      <p:sp>
        <p:nvSpPr>
          <p:cNvPr id="16" name="Shape 13"/>
          <p:cNvSpPr/>
          <p:nvPr/>
        </p:nvSpPr>
        <p:spPr>
          <a:xfrm flipV="1">
            <a:off x="3221279" y="2230947"/>
            <a:ext cx="1071143" cy="29012"/>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163252"/>
            <a:ext cx="1071143" cy="67695"/>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405021"/>
            <a:ext cx="1071143" cy="48354"/>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405021"/>
            <a:ext cx="1071143" cy="0"/>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405021"/>
            <a:ext cx="1071143" cy="48354"/>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414692"/>
            <a:ext cx="1071143" cy="38683"/>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194274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20,6</a:t>
            </a:r>
            <a:endParaRPr lang="en-US" sz="700"/>
          </a:p>
        </p:txBody>
      </p:sp>
      <p:sp>
        <p:nvSpPr>
          <p:cNvPr id="23" name="Text 20"/>
          <p:cNvSpPr txBox="1"/>
          <p:nvPr/>
        </p:nvSpPr>
        <p:spPr>
          <a:xfrm>
            <a:off x="5043526" y="19620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20,4</a:t>
            </a:r>
            <a:endParaRPr lang="en-US" sz="700"/>
          </a:p>
        </p:txBody>
      </p:sp>
      <p:sp>
        <p:nvSpPr>
          <p:cNvPr id="24" name="Text 21"/>
          <p:cNvSpPr txBox="1"/>
          <p:nvPr/>
        </p:nvSpPr>
        <p:spPr>
          <a:xfrm>
            <a:off x="758952" y="250823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17,4</a:t>
            </a:r>
            <a:endParaRPr lang="en-US" sz="700"/>
          </a:p>
        </p:txBody>
      </p:sp>
      <p:sp>
        <p:nvSpPr>
          <p:cNvPr id="25" name="Text 22"/>
          <p:cNvSpPr txBox="1"/>
          <p:nvPr/>
        </p:nvSpPr>
        <p:spPr>
          <a:xfrm>
            <a:off x="5043526" y="24695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17,8</a:t>
            </a:r>
            <a:endParaRPr lang="en-US" sz="700"/>
          </a:p>
        </p:txBody>
      </p:sp>
      <p:sp>
        <p:nvSpPr>
          <p:cNvPr id="26" name="Text 23"/>
          <p:cNvSpPr txBox="1"/>
          <p:nvPr/>
        </p:nvSpPr>
        <p:spPr>
          <a:xfrm>
            <a:off x="71323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2934758"/>
            <a:ext cx="728899" cy="297646"/>
          </a:xfrm>
          <a:prstGeom prst="rect">
            <a:avLst/>
          </a:prstGeom>
          <a:solidFill>
            <a:srgbClr val="13807B"/>
          </a:solidFill>
          <a:ln/>
        </p:spPr>
        <p:txBody>
          <a:bodyPr/>
          <a:lstStyle/>
          <a:p>
            <a:endParaRPr lang="es-PE"/>
          </a:p>
        </p:txBody>
      </p:sp>
      <p:sp>
        <p:nvSpPr>
          <p:cNvPr id="28" name="Text 25"/>
          <p:cNvSpPr txBox="1"/>
          <p:nvPr/>
        </p:nvSpPr>
        <p:spPr>
          <a:xfrm>
            <a:off x="1005840" y="275187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86%</a:t>
            </a:r>
            <a:endParaRPr lang="en-US" sz="750"/>
          </a:p>
        </p:txBody>
      </p:sp>
      <p:sp>
        <p:nvSpPr>
          <p:cNvPr id="29" name="Text 26"/>
          <p:cNvSpPr txBox="1"/>
          <p:nvPr/>
        </p:nvSpPr>
        <p:spPr>
          <a:xfrm>
            <a:off x="96012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2958985"/>
            <a:ext cx="728899" cy="273419"/>
          </a:xfrm>
          <a:prstGeom prst="rect">
            <a:avLst/>
          </a:prstGeom>
          <a:solidFill>
            <a:srgbClr val="13807B"/>
          </a:solidFill>
          <a:ln/>
        </p:spPr>
        <p:txBody>
          <a:bodyPr/>
          <a:lstStyle/>
          <a:p>
            <a:endParaRPr lang="es-PE"/>
          </a:p>
        </p:txBody>
      </p:sp>
      <p:sp>
        <p:nvSpPr>
          <p:cNvPr id="31" name="Text 28"/>
          <p:cNvSpPr txBox="1"/>
          <p:nvPr/>
        </p:nvSpPr>
        <p:spPr>
          <a:xfrm>
            <a:off x="1862755" y="277610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32" name="Text 29"/>
          <p:cNvSpPr txBox="1"/>
          <p:nvPr/>
        </p:nvSpPr>
        <p:spPr>
          <a:xfrm>
            <a:off x="1817035"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2972829"/>
            <a:ext cx="728899" cy="259575"/>
          </a:xfrm>
          <a:prstGeom prst="rect">
            <a:avLst/>
          </a:prstGeom>
          <a:solidFill>
            <a:srgbClr val="13807B"/>
          </a:solidFill>
          <a:ln/>
        </p:spPr>
        <p:txBody>
          <a:bodyPr/>
          <a:lstStyle/>
          <a:p>
            <a:endParaRPr lang="es-PE"/>
          </a:p>
        </p:txBody>
      </p:sp>
      <p:sp>
        <p:nvSpPr>
          <p:cNvPr id="34" name="Text 31"/>
          <p:cNvSpPr txBox="1"/>
          <p:nvPr/>
        </p:nvSpPr>
        <p:spPr>
          <a:xfrm>
            <a:off x="2719669" y="278994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35" name="Text 32"/>
          <p:cNvSpPr txBox="1"/>
          <p:nvPr/>
        </p:nvSpPr>
        <p:spPr>
          <a:xfrm>
            <a:off x="267394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2983212"/>
            <a:ext cx="728899" cy="249192"/>
          </a:xfrm>
          <a:prstGeom prst="rect">
            <a:avLst/>
          </a:prstGeom>
          <a:solidFill>
            <a:srgbClr val="13807B"/>
          </a:solidFill>
          <a:ln/>
        </p:spPr>
        <p:txBody>
          <a:bodyPr/>
          <a:lstStyle/>
          <a:p>
            <a:endParaRPr lang="es-PE"/>
          </a:p>
        </p:txBody>
      </p:sp>
      <p:sp>
        <p:nvSpPr>
          <p:cNvPr id="37" name="Text 34"/>
          <p:cNvSpPr txBox="1"/>
          <p:nvPr/>
        </p:nvSpPr>
        <p:spPr>
          <a:xfrm>
            <a:off x="3576584" y="280033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72%</a:t>
            </a:r>
            <a:endParaRPr lang="en-US" sz="750"/>
          </a:p>
        </p:txBody>
      </p:sp>
      <p:sp>
        <p:nvSpPr>
          <p:cNvPr id="38" name="Text 35"/>
          <p:cNvSpPr txBox="1"/>
          <p:nvPr/>
        </p:nvSpPr>
        <p:spPr>
          <a:xfrm>
            <a:off x="353086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3035127"/>
            <a:ext cx="728899" cy="197277"/>
          </a:xfrm>
          <a:prstGeom prst="rect">
            <a:avLst/>
          </a:prstGeom>
          <a:solidFill>
            <a:srgbClr val="13807B"/>
          </a:solidFill>
          <a:ln/>
        </p:spPr>
        <p:txBody>
          <a:bodyPr/>
          <a:lstStyle/>
          <a:p>
            <a:endParaRPr lang="es-PE"/>
          </a:p>
        </p:txBody>
      </p:sp>
      <p:sp>
        <p:nvSpPr>
          <p:cNvPr id="40" name="Text 37"/>
          <p:cNvSpPr txBox="1"/>
          <p:nvPr/>
        </p:nvSpPr>
        <p:spPr>
          <a:xfrm>
            <a:off x="4433499" y="285224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57%</a:t>
            </a:r>
            <a:endParaRPr lang="en-US" sz="750"/>
          </a:p>
        </p:txBody>
      </p:sp>
      <p:sp>
        <p:nvSpPr>
          <p:cNvPr id="41" name="Text 38"/>
          <p:cNvSpPr txBox="1"/>
          <p:nvPr/>
        </p:nvSpPr>
        <p:spPr>
          <a:xfrm>
            <a:off x="438777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3232404"/>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Socio en Crecimiento</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-31 pp</a:t>
            </a:r>
            <a:endParaRPr lang="en-US" sz="750"/>
          </a:p>
        </p:txBody>
      </p:sp>
      <p:sp>
        <p:nvSpPr>
          <p:cNvPr id="49" name="Shape 46"/>
          <p:cNvSpPr/>
          <p:nvPr/>
        </p:nvSpPr>
        <p:spPr>
          <a:xfrm>
            <a:off x="571103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a:off x="6131662" y="2137721"/>
            <a:ext cx="1071143" cy="26691"/>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4412"/>
            <a:ext cx="1071143" cy="62280"/>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226692"/>
            <a:ext cx="1071143" cy="0"/>
          </a:xfrm>
          <a:prstGeom prst="line">
            <a:avLst/>
          </a:prstGeom>
          <a:noFill/>
          <a:ln w="19050">
            <a:solidFill>
              <a:srgbClr val="0B2E2C"/>
            </a:solidFill>
            <a:prstDash val="solid"/>
          </a:ln>
        </p:spPr>
        <p:txBody>
          <a:bodyPr/>
          <a:lstStyle/>
          <a:p>
            <a:endParaRPr lang="es-PE"/>
          </a:p>
        </p:txBody>
      </p:sp>
      <p:sp>
        <p:nvSpPr>
          <p:cNvPr id="54" name="Shape 51"/>
          <p:cNvSpPr/>
          <p:nvPr/>
        </p:nvSpPr>
        <p:spPr>
          <a:xfrm flipV="1">
            <a:off x="9345092" y="2182206"/>
            <a:ext cx="1071143" cy="44486"/>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377943"/>
            <a:ext cx="1071143" cy="26691"/>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377943"/>
            <a:ext cx="1071143" cy="26691"/>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404634"/>
            <a:ext cx="1071143" cy="53383"/>
          </a:xfrm>
          <a:prstGeom prst="line">
            <a:avLst/>
          </a:prstGeom>
          <a:noFill/>
          <a:ln w="19050">
            <a:solidFill>
              <a:srgbClr val="E67E22"/>
            </a:solidFill>
            <a:prstDash val="dash"/>
          </a:ln>
        </p:spPr>
        <p:txBody>
          <a:bodyPr/>
          <a:lstStyle/>
          <a:p>
            <a:endParaRPr lang="es-PE"/>
          </a:p>
        </p:txBody>
      </p:sp>
      <p:sp>
        <p:nvSpPr>
          <p:cNvPr id="58" name="Shape 55"/>
          <p:cNvSpPr/>
          <p:nvPr/>
        </p:nvSpPr>
        <p:spPr>
          <a:xfrm flipV="1">
            <a:off x="9345092" y="2395737"/>
            <a:ext cx="1071143" cy="62280"/>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193655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21,2</a:t>
            </a:r>
            <a:endParaRPr lang="en-US" sz="700"/>
          </a:p>
        </p:txBody>
      </p:sp>
      <p:sp>
        <p:nvSpPr>
          <p:cNvPr id="60" name="Text 57"/>
          <p:cNvSpPr txBox="1"/>
          <p:nvPr/>
        </p:nvSpPr>
        <p:spPr>
          <a:xfrm>
            <a:off x="10096195" y="1981038"/>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20,7</a:t>
            </a:r>
            <a:endParaRPr lang="en-US" sz="700"/>
          </a:p>
        </p:txBody>
      </p:sp>
      <p:sp>
        <p:nvSpPr>
          <p:cNvPr id="61" name="Text 58"/>
          <p:cNvSpPr txBox="1"/>
          <p:nvPr/>
        </p:nvSpPr>
        <p:spPr>
          <a:xfrm>
            <a:off x="5811622" y="245949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18,2</a:t>
            </a:r>
            <a:endParaRPr lang="en-US" sz="700"/>
          </a:p>
        </p:txBody>
      </p:sp>
      <p:sp>
        <p:nvSpPr>
          <p:cNvPr id="62" name="Text 59"/>
          <p:cNvSpPr txBox="1"/>
          <p:nvPr/>
        </p:nvSpPr>
        <p:spPr>
          <a:xfrm>
            <a:off x="10096195" y="2450601"/>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18,3</a:t>
            </a:r>
            <a:endParaRPr lang="en-US" sz="700"/>
          </a:p>
        </p:txBody>
      </p:sp>
      <p:sp>
        <p:nvSpPr>
          <p:cNvPr id="63" name="Text 60"/>
          <p:cNvSpPr txBox="1"/>
          <p:nvPr/>
        </p:nvSpPr>
        <p:spPr>
          <a:xfrm>
            <a:off x="576590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3017822"/>
            <a:ext cx="728899" cy="214582"/>
          </a:xfrm>
          <a:prstGeom prst="rect">
            <a:avLst/>
          </a:prstGeom>
          <a:solidFill>
            <a:srgbClr val="13807B"/>
          </a:solidFill>
          <a:ln/>
        </p:spPr>
        <p:txBody>
          <a:bodyPr/>
          <a:lstStyle/>
          <a:p>
            <a:endParaRPr lang="es-PE"/>
          </a:p>
        </p:txBody>
      </p:sp>
      <p:sp>
        <p:nvSpPr>
          <p:cNvPr id="65" name="Text 62"/>
          <p:cNvSpPr txBox="1"/>
          <p:nvPr/>
        </p:nvSpPr>
        <p:spPr>
          <a:xfrm>
            <a:off x="6058510" y="283494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62%</a:t>
            </a:r>
            <a:endParaRPr lang="en-US" sz="750"/>
          </a:p>
        </p:txBody>
      </p:sp>
      <p:sp>
        <p:nvSpPr>
          <p:cNvPr id="66" name="Text 63"/>
          <p:cNvSpPr txBox="1"/>
          <p:nvPr/>
        </p:nvSpPr>
        <p:spPr>
          <a:xfrm>
            <a:off x="601279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3087042"/>
            <a:ext cx="728899" cy="145362"/>
          </a:xfrm>
          <a:prstGeom prst="rect">
            <a:avLst/>
          </a:prstGeom>
          <a:solidFill>
            <a:srgbClr val="13807B"/>
          </a:solidFill>
          <a:ln/>
        </p:spPr>
        <p:txBody>
          <a:bodyPr/>
          <a:lstStyle/>
          <a:p>
            <a:endParaRPr lang="es-PE"/>
          </a:p>
        </p:txBody>
      </p:sp>
      <p:sp>
        <p:nvSpPr>
          <p:cNvPr id="68" name="Text 65"/>
          <p:cNvSpPr txBox="1"/>
          <p:nvPr/>
        </p:nvSpPr>
        <p:spPr>
          <a:xfrm>
            <a:off x="6915424" y="290416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42%</a:t>
            </a:r>
            <a:endParaRPr lang="en-US" sz="750"/>
          </a:p>
        </p:txBody>
      </p:sp>
      <p:sp>
        <p:nvSpPr>
          <p:cNvPr id="69" name="Text 66"/>
          <p:cNvSpPr txBox="1"/>
          <p:nvPr/>
        </p:nvSpPr>
        <p:spPr>
          <a:xfrm>
            <a:off x="686970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3093964"/>
            <a:ext cx="728899" cy="138440"/>
          </a:xfrm>
          <a:prstGeom prst="rect">
            <a:avLst/>
          </a:prstGeom>
          <a:solidFill>
            <a:srgbClr val="13807B"/>
          </a:solidFill>
          <a:ln/>
        </p:spPr>
        <p:txBody>
          <a:bodyPr/>
          <a:lstStyle/>
          <a:p>
            <a:endParaRPr lang="es-PE"/>
          </a:p>
        </p:txBody>
      </p:sp>
      <p:sp>
        <p:nvSpPr>
          <p:cNvPr id="71" name="Text 68"/>
          <p:cNvSpPr txBox="1"/>
          <p:nvPr/>
        </p:nvSpPr>
        <p:spPr>
          <a:xfrm>
            <a:off x="7772339" y="291108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40%</a:t>
            </a:r>
            <a:endParaRPr lang="en-US" sz="750"/>
          </a:p>
        </p:txBody>
      </p:sp>
      <p:sp>
        <p:nvSpPr>
          <p:cNvPr id="72" name="Text 69"/>
          <p:cNvSpPr txBox="1"/>
          <p:nvPr/>
        </p:nvSpPr>
        <p:spPr>
          <a:xfrm>
            <a:off x="772661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3121652"/>
            <a:ext cx="728899" cy="110752"/>
          </a:xfrm>
          <a:prstGeom prst="rect">
            <a:avLst/>
          </a:prstGeom>
          <a:solidFill>
            <a:srgbClr val="13807B"/>
          </a:solidFill>
          <a:ln/>
        </p:spPr>
        <p:txBody>
          <a:bodyPr/>
          <a:lstStyle/>
          <a:p>
            <a:endParaRPr lang="es-PE"/>
          </a:p>
        </p:txBody>
      </p:sp>
      <p:sp>
        <p:nvSpPr>
          <p:cNvPr id="74" name="Text 71"/>
          <p:cNvSpPr txBox="1"/>
          <p:nvPr/>
        </p:nvSpPr>
        <p:spPr>
          <a:xfrm>
            <a:off x="8629254" y="293877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32%</a:t>
            </a:r>
            <a:endParaRPr lang="en-US" sz="750"/>
          </a:p>
        </p:txBody>
      </p:sp>
      <p:sp>
        <p:nvSpPr>
          <p:cNvPr id="75" name="Text 72"/>
          <p:cNvSpPr txBox="1"/>
          <p:nvPr/>
        </p:nvSpPr>
        <p:spPr>
          <a:xfrm>
            <a:off x="858353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125113"/>
            <a:ext cx="728899" cy="107291"/>
          </a:xfrm>
          <a:prstGeom prst="rect">
            <a:avLst/>
          </a:prstGeom>
          <a:solidFill>
            <a:srgbClr val="13807B"/>
          </a:solidFill>
          <a:ln/>
        </p:spPr>
        <p:txBody>
          <a:bodyPr/>
          <a:lstStyle/>
          <a:p>
            <a:endParaRPr lang="es-PE"/>
          </a:p>
        </p:txBody>
      </p:sp>
      <p:sp>
        <p:nvSpPr>
          <p:cNvPr id="77" name="Text 74"/>
          <p:cNvSpPr txBox="1"/>
          <p:nvPr/>
        </p:nvSpPr>
        <p:spPr>
          <a:xfrm>
            <a:off x="9486168" y="294223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31%</a:t>
            </a:r>
            <a:endParaRPr lang="en-US" sz="750"/>
          </a:p>
        </p:txBody>
      </p:sp>
      <p:sp>
        <p:nvSpPr>
          <p:cNvPr id="78" name="Text 75"/>
          <p:cNvSpPr txBox="1"/>
          <p:nvPr/>
        </p:nvSpPr>
        <p:spPr>
          <a:xfrm>
            <a:off x="944044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3232404"/>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Cuenta Estratégica</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2,8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-29 pp</a:t>
            </a:r>
            <a:endParaRPr lang="en-US" sz="750"/>
          </a:p>
        </p:txBody>
      </p:sp>
      <p:sp>
        <p:nvSpPr>
          <p:cNvPr id="86" name="Shape 83"/>
          <p:cNvSpPr/>
          <p:nvPr/>
        </p:nvSpPr>
        <p:spPr>
          <a:xfrm>
            <a:off x="10763707"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a:off x="11184331" y="2133692"/>
            <a:ext cx="1071143" cy="41968"/>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75660"/>
            <a:ext cx="1071143" cy="67148"/>
          </a:xfrm>
          <a:prstGeom prst="line">
            <a:avLst/>
          </a:prstGeom>
          <a:noFill/>
          <a:ln w="19050">
            <a:solidFill>
              <a:srgbClr val="0B2E2C"/>
            </a:solidFill>
            <a:prstDash val="solid"/>
          </a:ln>
        </p:spPr>
        <p:txBody>
          <a:bodyPr/>
          <a:lstStyle/>
          <a:p>
            <a:endParaRPr lang="es-PE"/>
          </a:p>
        </p:txBody>
      </p:sp>
      <p:sp>
        <p:nvSpPr>
          <p:cNvPr id="90" name="Shape 87"/>
          <p:cNvSpPr/>
          <p:nvPr/>
        </p:nvSpPr>
        <p:spPr>
          <a:xfrm flipV="1">
            <a:off x="13326618" y="2226021"/>
            <a:ext cx="1071143" cy="16787"/>
          </a:xfrm>
          <a:prstGeom prst="line">
            <a:avLst/>
          </a:prstGeom>
          <a:noFill/>
          <a:ln w="19050">
            <a:solidFill>
              <a:srgbClr val="0B2E2C"/>
            </a:solidFill>
            <a:prstDash val="solid"/>
          </a:ln>
        </p:spPr>
        <p:txBody>
          <a:bodyPr/>
          <a:lstStyle/>
          <a:p>
            <a:endParaRPr lang="es-PE"/>
          </a:p>
        </p:txBody>
      </p:sp>
      <p:sp>
        <p:nvSpPr>
          <p:cNvPr id="91" name="Shape 88"/>
          <p:cNvSpPr/>
          <p:nvPr/>
        </p:nvSpPr>
        <p:spPr>
          <a:xfrm flipV="1">
            <a:off x="14397761" y="2200840"/>
            <a:ext cx="1071143" cy="25181"/>
          </a:xfrm>
          <a:prstGeom prst="line">
            <a:avLst/>
          </a:prstGeom>
          <a:noFill/>
          <a:ln w="19050">
            <a:solidFill>
              <a:srgbClr val="0B2E2C"/>
            </a:solidFill>
            <a:prstDash val="solid"/>
          </a:ln>
        </p:spPr>
        <p:txBody>
          <a:bodyPr/>
          <a:lstStyle/>
          <a:p>
            <a:endParaRPr lang="es-PE"/>
          </a:p>
        </p:txBody>
      </p:sp>
      <p:sp>
        <p:nvSpPr>
          <p:cNvPr id="92" name="Shape 89"/>
          <p:cNvSpPr/>
          <p:nvPr/>
        </p:nvSpPr>
        <p:spPr>
          <a:xfrm flipV="1">
            <a:off x="11184331" y="2427465"/>
            <a:ext cx="1071143" cy="16787"/>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427465"/>
            <a:ext cx="1071143" cy="0"/>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427465"/>
            <a:ext cx="1071143" cy="33574"/>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410678"/>
            <a:ext cx="1071143" cy="50361"/>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193252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97" name="Text 94"/>
          <p:cNvSpPr txBox="1"/>
          <p:nvPr/>
        </p:nvSpPr>
        <p:spPr>
          <a:xfrm>
            <a:off x="15148865" y="199967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20,0</a:t>
            </a:r>
            <a:endParaRPr lang="en-US" sz="700"/>
          </a:p>
        </p:txBody>
      </p:sp>
      <p:sp>
        <p:nvSpPr>
          <p:cNvPr id="98" name="Text 95"/>
          <p:cNvSpPr txBox="1"/>
          <p:nvPr/>
        </p:nvSpPr>
        <p:spPr>
          <a:xfrm>
            <a:off x="10864291" y="249911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17,1</a:t>
            </a:r>
            <a:endParaRPr lang="en-US" sz="700"/>
          </a:p>
        </p:txBody>
      </p:sp>
      <p:sp>
        <p:nvSpPr>
          <p:cNvPr id="99" name="Text 96"/>
          <p:cNvSpPr txBox="1"/>
          <p:nvPr/>
        </p:nvSpPr>
        <p:spPr>
          <a:xfrm>
            <a:off x="15148865" y="2465542"/>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00" name="Text 97"/>
          <p:cNvSpPr txBox="1"/>
          <p:nvPr/>
        </p:nvSpPr>
        <p:spPr>
          <a:xfrm>
            <a:off x="10818571"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2955524"/>
            <a:ext cx="728899" cy="276880"/>
          </a:xfrm>
          <a:prstGeom prst="rect">
            <a:avLst/>
          </a:prstGeom>
          <a:solidFill>
            <a:srgbClr val="13807B"/>
          </a:solidFill>
          <a:ln/>
        </p:spPr>
        <p:txBody>
          <a:bodyPr/>
          <a:lstStyle/>
          <a:p>
            <a:endParaRPr lang="es-PE"/>
          </a:p>
        </p:txBody>
      </p:sp>
      <p:sp>
        <p:nvSpPr>
          <p:cNvPr id="102" name="Text 99"/>
          <p:cNvSpPr txBox="1"/>
          <p:nvPr/>
        </p:nvSpPr>
        <p:spPr>
          <a:xfrm>
            <a:off x="11111179" y="277264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80%</a:t>
            </a:r>
            <a:endParaRPr lang="en-US" sz="750"/>
          </a:p>
        </p:txBody>
      </p:sp>
      <p:sp>
        <p:nvSpPr>
          <p:cNvPr id="103" name="Text 100"/>
          <p:cNvSpPr txBox="1"/>
          <p:nvPr/>
        </p:nvSpPr>
        <p:spPr>
          <a:xfrm>
            <a:off x="1106545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2965907"/>
            <a:ext cx="728899" cy="266497"/>
          </a:xfrm>
          <a:prstGeom prst="rect">
            <a:avLst/>
          </a:prstGeom>
          <a:solidFill>
            <a:srgbClr val="13807B"/>
          </a:solidFill>
          <a:ln/>
        </p:spPr>
        <p:txBody>
          <a:bodyPr/>
          <a:lstStyle/>
          <a:p>
            <a:endParaRPr lang="es-PE"/>
          </a:p>
        </p:txBody>
      </p:sp>
      <p:sp>
        <p:nvSpPr>
          <p:cNvPr id="105" name="Text 102"/>
          <p:cNvSpPr txBox="1"/>
          <p:nvPr/>
        </p:nvSpPr>
        <p:spPr>
          <a:xfrm>
            <a:off x="11968094" y="278302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77%</a:t>
            </a:r>
            <a:endParaRPr lang="en-US" sz="750"/>
          </a:p>
        </p:txBody>
      </p:sp>
      <p:sp>
        <p:nvSpPr>
          <p:cNvPr id="106" name="Text 103"/>
          <p:cNvSpPr txBox="1"/>
          <p:nvPr/>
        </p:nvSpPr>
        <p:spPr>
          <a:xfrm>
            <a:off x="1192237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3007439"/>
            <a:ext cx="728899" cy="224965"/>
          </a:xfrm>
          <a:prstGeom prst="rect">
            <a:avLst/>
          </a:prstGeom>
          <a:solidFill>
            <a:srgbClr val="13807B"/>
          </a:solidFill>
          <a:ln/>
        </p:spPr>
        <p:txBody>
          <a:bodyPr/>
          <a:lstStyle/>
          <a:p>
            <a:endParaRPr lang="es-PE"/>
          </a:p>
        </p:txBody>
      </p:sp>
      <p:sp>
        <p:nvSpPr>
          <p:cNvPr id="108" name="Text 105"/>
          <p:cNvSpPr txBox="1"/>
          <p:nvPr/>
        </p:nvSpPr>
        <p:spPr>
          <a:xfrm>
            <a:off x="12825009" y="282455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65%</a:t>
            </a:r>
            <a:endParaRPr lang="en-US" sz="750"/>
          </a:p>
        </p:txBody>
      </p:sp>
      <p:sp>
        <p:nvSpPr>
          <p:cNvPr id="109" name="Text 106"/>
          <p:cNvSpPr txBox="1"/>
          <p:nvPr/>
        </p:nvSpPr>
        <p:spPr>
          <a:xfrm>
            <a:off x="1277928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2993595"/>
            <a:ext cx="728899" cy="238809"/>
          </a:xfrm>
          <a:prstGeom prst="rect">
            <a:avLst/>
          </a:prstGeom>
          <a:solidFill>
            <a:srgbClr val="13807B"/>
          </a:solidFill>
          <a:ln/>
        </p:spPr>
        <p:txBody>
          <a:bodyPr/>
          <a:lstStyle/>
          <a:p>
            <a:endParaRPr lang="es-PE"/>
          </a:p>
        </p:txBody>
      </p:sp>
      <p:sp>
        <p:nvSpPr>
          <p:cNvPr id="111" name="Text 108"/>
          <p:cNvSpPr txBox="1"/>
          <p:nvPr/>
        </p:nvSpPr>
        <p:spPr>
          <a:xfrm>
            <a:off x="13681923" y="281071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69%</a:t>
            </a:r>
            <a:endParaRPr lang="en-US" sz="750"/>
          </a:p>
        </p:txBody>
      </p:sp>
      <p:sp>
        <p:nvSpPr>
          <p:cNvPr id="112" name="Text 109"/>
          <p:cNvSpPr txBox="1"/>
          <p:nvPr/>
        </p:nvSpPr>
        <p:spPr>
          <a:xfrm>
            <a:off x="13636203"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3055893"/>
            <a:ext cx="728899" cy="176511"/>
          </a:xfrm>
          <a:prstGeom prst="rect">
            <a:avLst/>
          </a:prstGeom>
          <a:solidFill>
            <a:srgbClr val="13807B"/>
          </a:solidFill>
          <a:ln/>
        </p:spPr>
        <p:txBody>
          <a:bodyPr/>
          <a:lstStyle/>
          <a:p>
            <a:endParaRPr lang="es-PE"/>
          </a:p>
        </p:txBody>
      </p:sp>
      <p:sp>
        <p:nvSpPr>
          <p:cNvPr id="114" name="Text 111"/>
          <p:cNvSpPr txBox="1"/>
          <p:nvPr/>
        </p:nvSpPr>
        <p:spPr>
          <a:xfrm>
            <a:off x="14538838" y="287301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51%</a:t>
            </a:r>
            <a:endParaRPr lang="en-US" sz="750"/>
          </a:p>
        </p:txBody>
      </p:sp>
      <p:sp>
        <p:nvSpPr>
          <p:cNvPr id="115" name="Text 112"/>
          <p:cNvSpPr txBox="1"/>
          <p:nvPr/>
        </p:nvSpPr>
        <p:spPr>
          <a:xfrm>
            <a:off x="1449311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3232404"/>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3835908"/>
            <a:ext cx="4833214" cy="329184"/>
          </a:xfrm>
          <a:prstGeom prst="rect">
            <a:avLst/>
          </a:prstGeom>
          <a:solidFill>
            <a:srgbClr val="13807B"/>
          </a:solidFill>
          <a:ln/>
        </p:spPr>
        <p:txBody>
          <a:bodyPr/>
          <a:lstStyle/>
          <a:p>
            <a:endParaRPr lang="es-PE"/>
          </a:p>
        </p:txBody>
      </p:sp>
      <p:sp>
        <p:nvSpPr>
          <p:cNvPr id="118" name="Text 115"/>
          <p:cNvSpPr txBox="1"/>
          <p:nvPr/>
        </p:nvSpPr>
        <p:spPr>
          <a:xfrm>
            <a:off x="76809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Maduro Multibanco</a:t>
            </a:r>
            <a:endParaRPr lang="en-US" sz="1100"/>
          </a:p>
        </p:txBody>
      </p:sp>
      <p:sp>
        <p:nvSpPr>
          <p:cNvPr id="119" name="Shape 116"/>
          <p:cNvSpPr/>
          <p:nvPr/>
        </p:nvSpPr>
        <p:spPr>
          <a:xfrm>
            <a:off x="2783674" y="3881628"/>
            <a:ext cx="1401632" cy="237744"/>
          </a:xfrm>
          <a:prstGeom prst="roundRect">
            <a:avLst>
              <a:gd name="adj" fmla="val 23077"/>
            </a:avLst>
          </a:prstGeom>
          <a:solidFill>
            <a:srgbClr val="0B2E2C"/>
          </a:solidFill>
          <a:ln/>
        </p:spPr>
        <p:txBody>
          <a:bodyPr/>
          <a:lstStyle/>
          <a:p>
            <a:endParaRPr lang="es-PE"/>
          </a:p>
        </p:txBody>
      </p:sp>
      <p:sp>
        <p:nvSpPr>
          <p:cNvPr id="120" name="Text 117"/>
          <p:cNvSpPr txBox="1"/>
          <p:nvPr/>
        </p:nvSpPr>
        <p:spPr>
          <a:xfrm>
            <a:off x="278367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3,0 pp</a:t>
            </a:r>
            <a:endParaRPr lang="en-US" sz="750"/>
          </a:p>
        </p:txBody>
      </p:sp>
      <p:sp>
        <p:nvSpPr>
          <p:cNvPr id="121" name="Shape 118"/>
          <p:cNvSpPr/>
          <p:nvPr/>
        </p:nvSpPr>
        <p:spPr>
          <a:xfrm>
            <a:off x="4258458" y="3881628"/>
            <a:ext cx="1159971" cy="237744"/>
          </a:xfrm>
          <a:prstGeom prst="roundRect">
            <a:avLst>
              <a:gd name="adj" fmla="val 23077"/>
            </a:avLst>
          </a:prstGeom>
          <a:solidFill>
            <a:srgbClr val="FFFFFF"/>
          </a:solidFill>
          <a:ln/>
        </p:spPr>
        <p:txBody>
          <a:bodyPr/>
          <a:lstStyle/>
          <a:p>
            <a:endParaRPr lang="es-PE"/>
          </a:p>
        </p:txBody>
      </p:sp>
      <p:sp>
        <p:nvSpPr>
          <p:cNvPr id="122" name="Text 119"/>
          <p:cNvSpPr txBox="1"/>
          <p:nvPr/>
        </p:nvSpPr>
        <p:spPr>
          <a:xfrm>
            <a:off x="425845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-30 pp</a:t>
            </a:r>
            <a:endParaRPr lang="en-US" sz="750"/>
          </a:p>
        </p:txBody>
      </p:sp>
      <p:sp>
        <p:nvSpPr>
          <p:cNvPr id="123" name="Shape 120"/>
          <p:cNvSpPr/>
          <p:nvPr/>
        </p:nvSpPr>
        <p:spPr>
          <a:xfrm>
            <a:off x="65836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24" name="Text 121"/>
          <p:cNvSpPr txBox="1"/>
          <p:nvPr/>
        </p:nvSpPr>
        <p:spPr>
          <a:xfrm>
            <a:off x="71323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25" name="Shape 122"/>
          <p:cNvSpPr/>
          <p:nvPr/>
        </p:nvSpPr>
        <p:spPr>
          <a:xfrm>
            <a:off x="1078992" y="4541893"/>
            <a:ext cx="1071143" cy="41190"/>
          </a:xfrm>
          <a:prstGeom prst="line">
            <a:avLst/>
          </a:prstGeom>
          <a:noFill/>
          <a:ln w="19050">
            <a:solidFill>
              <a:srgbClr val="0B2E2C"/>
            </a:solidFill>
            <a:prstDash val="solid"/>
          </a:ln>
        </p:spPr>
        <p:txBody>
          <a:bodyPr/>
          <a:lstStyle/>
          <a:p>
            <a:endParaRPr lang="es-PE"/>
          </a:p>
        </p:txBody>
      </p:sp>
      <p:sp>
        <p:nvSpPr>
          <p:cNvPr id="126" name="Shape 123"/>
          <p:cNvSpPr/>
          <p:nvPr/>
        </p:nvSpPr>
        <p:spPr>
          <a:xfrm>
            <a:off x="2150135" y="4583083"/>
            <a:ext cx="1071143" cy="57666"/>
          </a:xfrm>
          <a:prstGeom prst="line">
            <a:avLst/>
          </a:prstGeom>
          <a:noFill/>
          <a:ln w="19050">
            <a:solidFill>
              <a:srgbClr val="0B2E2C"/>
            </a:solidFill>
            <a:prstDash val="solid"/>
          </a:ln>
        </p:spPr>
        <p:txBody>
          <a:bodyPr/>
          <a:lstStyle/>
          <a:p>
            <a:endParaRPr lang="es-PE"/>
          </a:p>
        </p:txBody>
      </p:sp>
      <p:sp>
        <p:nvSpPr>
          <p:cNvPr id="127" name="Shape 124"/>
          <p:cNvSpPr/>
          <p:nvPr/>
        </p:nvSpPr>
        <p:spPr>
          <a:xfrm flipV="1">
            <a:off x="3221279" y="4591321"/>
            <a:ext cx="1071143" cy="49428"/>
          </a:xfrm>
          <a:prstGeom prst="line">
            <a:avLst/>
          </a:prstGeom>
          <a:noFill/>
          <a:ln w="19050">
            <a:solidFill>
              <a:srgbClr val="0B2E2C"/>
            </a:solidFill>
            <a:prstDash val="solid"/>
          </a:ln>
        </p:spPr>
        <p:txBody>
          <a:bodyPr/>
          <a:lstStyle/>
          <a:p>
            <a:endParaRPr lang="es-PE"/>
          </a:p>
        </p:txBody>
      </p:sp>
      <p:sp>
        <p:nvSpPr>
          <p:cNvPr id="128" name="Shape 125"/>
          <p:cNvSpPr/>
          <p:nvPr/>
        </p:nvSpPr>
        <p:spPr>
          <a:xfrm flipV="1">
            <a:off x="4292422" y="4574845"/>
            <a:ext cx="1071143" cy="16476"/>
          </a:xfrm>
          <a:prstGeom prst="line">
            <a:avLst/>
          </a:prstGeom>
          <a:noFill/>
          <a:ln w="19050">
            <a:solidFill>
              <a:srgbClr val="0B2E2C"/>
            </a:solidFill>
            <a:prstDash val="solid"/>
          </a:ln>
        </p:spPr>
        <p:txBody>
          <a:bodyPr/>
          <a:lstStyle/>
          <a:p>
            <a:endParaRPr lang="es-PE"/>
          </a:p>
        </p:txBody>
      </p:sp>
      <p:sp>
        <p:nvSpPr>
          <p:cNvPr id="129" name="Shape 126"/>
          <p:cNvSpPr/>
          <p:nvPr/>
        </p:nvSpPr>
        <p:spPr>
          <a:xfrm>
            <a:off x="1078992" y="4813749"/>
            <a:ext cx="1071143" cy="8238"/>
          </a:xfrm>
          <a:prstGeom prst="line">
            <a:avLst/>
          </a:prstGeom>
          <a:noFill/>
          <a:ln w="19050">
            <a:solidFill>
              <a:srgbClr val="E67E22"/>
            </a:solidFill>
            <a:prstDash val="dash"/>
          </a:ln>
        </p:spPr>
        <p:txBody>
          <a:bodyPr/>
          <a:lstStyle/>
          <a:p>
            <a:endParaRPr lang="es-PE"/>
          </a:p>
        </p:txBody>
      </p:sp>
      <p:sp>
        <p:nvSpPr>
          <p:cNvPr id="130" name="Shape 127"/>
          <p:cNvSpPr/>
          <p:nvPr/>
        </p:nvSpPr>
        <p:spPr>
          <a:xfrm>
            <a:off x="2150135" y="4821987"/>
            <a:ext cx="1071143" cy="8238"/>
          </a:xfrm>
          <a:prstGeom prst="line">
            <a:avLst/>
          </a:prstGeom>
          <a:noFill/>
          <a:ln w="19050">
            <a:solidFill>
              <a:srgbClr val="E67E22"/>
            </a:solidFill>
            <a:prstDash val="dash"/>
          </a:ln>
        </p:spPr>
        <p:txBody>
          <a:bodyPr/>
          <a:lstStyle/>
          <a:p>
            <a:endParaRPr lang="es-PE"/>
          </a:p>
        </p:txBody>
      </p:sp>
      <p:sp>
        <p:nvSpPr>
          <p:cNvPr id="131" name="Shape 128"/>
          <p:cNvSpPr/>
          <p:nvPr/>
        </p:nvSpPr>
        <p:spPr>
          <a:xfrm>
            <a:off x="3221279" y="4830225"/>
            <a:ext cx="1071143" cy="41190"/>
          </a:xfrm>
          <a:prstGeom prst="line">
            <a:avLst/>
          </a:prstGeom>
          <a:noFill/>
          <a:ln w="19050">
            <a:solidFill>
              <a:srgbClr val="E67E22"/>
            </a:solidFill>
            <a:prstDash val="dash"/>
          </a:ln>
        </p:spPr>
        <p:txBody>
          <a:bodyPr/>
          <a:lstStyle/>
          <a:p>
            <a:endParaRPr lang="es-PE"/>
          </a:p>
        </p:txBody>
      </p:sp>
      <p:sp>
        <p:nvSpPr>
          <p:cNvPr id="132" name="Shape 129"/>
          <p:cNvSpPr/>
          <p:nvPr/>
        </p:nvSpPr>
        <p:spPr>
          <a:xfrm flipV="1">
            <a:off x="4292422" y="4838463"/>
            <a:ext cx="1071143" cy="32952"/>
          </a:xfrm>
          <a:prstGeom prst="line">
            <a:avLst/>
          </a:prstGeom>
          <a:noFill/>
          <a:ln w="19050">
            <a:solidFill>
              <a:srgbClr val="E67E22"/>
            </a:solidFill>
            <a:prstDash val="dash"/>
          </a:ln>
        </p:spPr>
        <p:txBody>
          <a:bodyPr/>
          <a:lstStyle/>
          <a:p>
            <a:endParaRPr lang="es-PE"/>
          </a:p>
        </p:txBody>
      </p:sp>
      <p:sp>
        <p:nvSpPr>
          <p:cNvPr id="133" name="Text 130"/>
          <p:cNvSpPr txBox="1"/>
          <p:nvPr/>
        </p:nvSpPr>
        <p:spPr>
          <a:xfrm>
            <a:off x="758952" y="434072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20,9</a:t>
            </a:r>
            <a:endParaRPr lang="en-US" sz="700"/>
          </a:p>
        </p:txBody>
      </p:sp>
      <p:sp>
        <p:nvSpPr>
          <p:cNvPr id="134" name="Text 131"/>
          <p:cNvSpPr txBox="1"/>
          <p:nvPr/>
        </p:nvSpPr>
        <p:spPr>
          <a:xfrm>
            <a:off x="5043526" y="4373677"/>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20,5</a:t>
            </a:r>
            <a:endParaRPr lang="en-US" sz="700"/>
          </a:p>
        </p:txBody>
      </p:sp>
      <p:sp>
        <p:nvSpPr>
          <p:cNvPr id="135" name="Text 132"/>
          <p:cNvSpPr txBox="1"/>
          <p:nvPr/>
        </p:nvSpPr>
        <p:spPr>
          <a:xfrm>
            <a:off x="758952" y="4868613"/>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17,6</a:t>
            </a:r>
            <a:endParaRPr lang="en-US" sz="700"/>
          </a:p>
        </p:txBody>
      </p:sp>
      <p:sp>
        <p:nvSpPr>
          <p:cNvPr id="136" name="Text 133"/>
          <p:cNvSpPr txBox="1"/>
          <p:nvPr/>
        </p:nvSpPr>
        <p:spPr>
          <a:xfrm>
            <a:off x="5043526" y="4893327"/>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37" name="Text 134"/>
          <p:cNvSpPr txBox="1"/>
          <p:nvPr/>
        </p:nvSpPr>
        <p:spPr>
          <a:xfrm>
            <a:off x="71323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38" name="Shape 135"/>
          <p:cNvSpPr/>
          <p:nvPr/>
        </p:nvSpPr>
        <p:spPr>
          <a:xfrm>
            <a:off x="1143000" y="5413422"/>
            <a:ext cx="728899" cy="228426"/>
          </a:xfrm>
          <a:prstGeom prst="rect">
            <a:avLst/>
          </a:prstGeom>
          <a:solidFill>
            <a:srgbClr val="13807B"/>
          </a:solidFill>
          <a:ln/>
        </p:spPr>
        <p:txBody>
          <a:bodyPr/>
          <a:lstStyle/>
          <a:p>
            <a:endParaRPr lang="es-PE"/>
          </a:p>
        </p:txBody>
      </p:sp>
      <p:sp>
        <p:nvSpPr>
          <p:cNvPr id="139" name="Text 136"/>
          <p:cNvSpPr txBox="1"/>
          <p:nvPr/>
        </p:nvSpPr>
        <p:spPr>
          <a:xfrm>
            <a:off x="1005840" y="523054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66%</a:t>
            </a:r>
            <a:endParaRPr lang="en-US" sz="750"/>
          </a:p>
        </p:txBody>
      </p:sp>
      <p:sp>
        <p:nvSpPr>
          <p:cNvPr id="140" name="Text 137"/>
          <p:cNvSpPr txBox="1"/>
          <p:nvPr/>
        </p:nvSpPr>
        <p:spPr>
          <a:xfrm>
            <a:off x="96012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41" name="Shape 138"/>
          <p:cNvSpPr/>
          <p:nvPr/>
        </p:nvSpPr>
        <p:spPr>
          <a:xfrm>
            <a:off x="1999915" y="5444571"/>
            <a:ext cx="728899" cy="197277"/>
          </a:xfrm>
          <a:prstGeom prst="rect">
            <a:avLst/>
          </a:prstGeom>
          <a:solidFill>
            <a:srgbClr val="13807B"/>
          </a:solidFill>
          <a:ln/>
        </p:spPr>
        <p:txBody>
          <a:bodyPr/>
          <a:lstStyle/>
          <a:p>
            <a:endParaRPr lang="es-PE"/>
          </a:p>
        </p:txBody>
      </p:sp>
      <p:sp>
        <p:nvSpPr>
          <p:cNvPr id="142" name="Text 139"/>
          <p:cNvSpPr txBox="1"/>
          <p:nvPr/>
        </p:nvSpPr>
        <p:spPr>
          <a:xfrm>
            <a:off x="1862755" y="526169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57%</a:t>
            </a:r>
            <a:endParaRPr lang="en-US" sz="750"/>
          </a:p>
        </p:txBody>
      </p:sp>
      <p:sp>
        <p:nvSpPr>
          <p:cNvPr id="143" name="Text 140"/>
          <p:cNvSpPr txBox="1"/>
          <p:nvPr/>
        </p:nvSpPr>
        <p:spPr>
          <a:xfrm>
            <a:off x="1817035"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44" name="Shape 141"/>
          <p:cNvSpPr/>
          <p:nvPr/>
        </p:nvSpPr>
        <p:spPr>
          <a:xfrm>
            <a:off x="2856829" y="5486103"/>
            <a:ext cx="728899" cy="155745"/>
          </a:xfrm>
          <a:prstGeom prst="rect">
            <a:avLst/>
          </a:prstGeom>
          <a:solidFill>
            <a:srgbClr val="13807B"/>
          </a:solidFill>
          <a:ln/>
        </p:spPr>
        <p:txBody>
          <a:bodyPr/>
          <a:lstStyle/>
          <a:p>
            <a:endParaRPr lang="es-PE"/>
          </a:p>
        </p:txBody>
      </p:sp>
      <p:sp>
        <p:nvSpPr>
          <p:cNvPr id="145" name="Text 142"/>
          <p:cNvSpPr txBox="1"/>
          <p:nvPr/>
        </p:nvSpPr>
        <p:spPr>
          <a:xfrm>
            <a:off x="2719669" y="530322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45%</a:t>
            </a:r>
            <a:endParaRPr lang="en-US" sz="750"/>
          </a:p>
        </p:txBody>
      </p:sp>
      <p:sp>
        <p:nvSpPr>
          <p:cNvPr id="146" name="Text 143"/>
          <p:cNvSpPr txBox="1"/>
          <p:nvPr/>
        </p:nvSpPr>
        <p:spPr>
          <a:xfrm>
            <a:off x="267394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47" name="Shape 144"/>
          <p:cNvSpPr/>
          <p:nvPr/>
        </p:nvSpPr>
        <p:spPr>
          <a:xfrm>
            <a:off x="3713744" y="5499947"/>
            <a:ext cx="728899" cy="141901"/>
          </a:xfrm>
          <a:prstGeom prst="rect">
            <a:avLst/>
          </a:prstGeom>
          <a:solidFill>
            <a:srgbClr val="13807B"/>
          </a:solidFill>
          <a:ln/>
        </p:spPr>
        <p:txBody>
          <a:bodyPr/>
          <a:lstStyle/>
          <a:p>
            <a:endParaRPr lang="es-PE"/>
          </a:p>
        </p:txBody>
      </p:sp>
      <p:sp>
        <p:nvSpPr>
          <p:cNvPr id="148" name="Text 145"/>
          <p:cNvSpPr txBox="1"/>
          <p:nvPr/>
        </p:nvSpPr>
        <p:spPr>
          <a:xfrm>
            <a:off x="3576584" y="531706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41%</a:t>
            </a:r>
            <a:endParaRPr lang="en-US" sz="750"/>
          </a:p>
        </p:txBody>
      </p:sp>
      <p:sp>
        <p:nvSpPr>
          <p:cNvPr id="149" name="Text 146"/>
          <p:cNvSpPr txBox="1"/>
          <p:nvPr/>
        </p:nvSpPr>
        <p:spPr>
          <a:xfrm>
            <a:off x="353086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50" name="Shape 147"/>
          <p:cNvSpPr/>
          <p:nvPr/>
        </p:nvSpPr>
        <p:spPr>
          <a:xfrm>
            <a:off x="4570659" y="5517252"/>
            <a:ext cx="728899" cy="124596"/>
          </a:xfrm>
          <a:prstGeom prst="rect">
            <a:avLst/>
          </a:prstGeom>
          <a:solidFill>
            <a:srgbClr val="13807B"/>
          </a:solidFill>
          <a:ln/>
        </p:spPr>
        <p:txBody>
          <a:bodyPr/>
          <a:lstStyle/>
          <a:p>
            <a:endParaRPr lang="es-PE"/>
          </a:p>
        </p:txBody>
      </p:sp>
      <p:sp>
        <p:nvSpPr>
          <p:cNvPr id="151" name="Text 148"/>
          <p:cNvSpPr txBox="1"/>
          <p:nvPr/>
        </p:nvSpPr>
        <p:spPr>
          <a:xfrm>
            <a:off x="4433499" y="533437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36%</a:t>
            </a:r>
            <a:endParaRPr lang="en-US" sz="750"/>
          </a:p>
        </p:txBody>
      </p:sp>
      <p:sp>
        <p:nvSpPr>
          <p:cNvPr id="152" name="Text 149"/>
          <p:cNvSpPr txBox="1"/>
          <p:nvPr/>
        </p:nvSpPr>
        <p:spPr>
          <a:xfrm>
            <a:off x="438777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53" name="Shape 150"/>
          <p:cNvSpPr/>
          <p:nvPr/>
        </p:nvSpPr>
        <p:spPr>
          <a:xfrm>
            <a:off x="1042416" y="5641848"/>
            <a:ext cx="4357726" cy="0"/>
          </a:xfrm>
          <a:prstGeom prst="line">
            <a:avLst/>
          </a:prstGeom>
          <a:noFill/>
          <a:ln w="9525">
            <a:solidFill>
              <a:srgbClr val="D5DFDE"/>
            </a:solidFill>
            <a:prstDash val="solid"/>
          </a:ln>
        </p:spPr>
        <p:txBody>
          <a:bodyPr/>
          <a:lstStyle/>
          <a:p>
            <a:endParaRPr lang="es-PE"/>
          </a:p>
        </p:txBody>
      </p:sp>
      <p:sp>
        <p:nvSpPr>
          <p:cNvPr id="154" name="Shape 151"/>
          <p:cNvSpPr/>
          <p:nvPr/>
        </p:nvSpPr>
        <p:spPr>
          <a:xfrm>
            <a:off x="5711038" y="3835908"/>
            <a:ext cx="4833214" cy="329184"/>
          </a:xfrm>
          <a:prstGeom prst="rect">
            <a:avLst/>
          </a:prstGeom>
          <a:solidFill>
            <a:srgbClr val="13807B"/>
          </a:solidFill>
          <a:ln/>
        </p:spPr>
        <p:txBody>
          <a:bodyPr/>
          <a:lstStyle/>
          <a:p>
            <a:endParaRPr lang="es-PE"/>
          </a:p>
        </p:txBody>
      </p:sp>
      <p:sp>
        <p:nvSpPr>
          <p:cNvPr id="155" name="Text 152"/>
          <p:cNvSpPr txBox="1"/>
          <p:nvPr/>
        </p:nvSpPr>
        <p:spPr>
          <a:xfrm>
            <a:off x="582076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Gran Cuenta por Conquistar</a:t>
            </a:r>
            <a:endParaRPr lang="en-US" sz="1100"/>
          </a:p>
        </p:txBody>
      </p:sp>
      <p:sp>
        <p:nvSpPr>
          <p:cNvPr id="156" name="Shape 153"/>
          <p:cNvSpPr/>
          <p:nvPr/>
        </p:nvSpPr>
        <p:spPr>
          <a:xfrm>
            <a:off x="7836344" y="3881628"/>
            <a:ext cx="1401632" cy="237744"/>
          </a:xfrm>
          <a:prstGeom prst="roundRect">
            <a:avLst>
              <a:gd name="adj" fmla="val 23077"/>
            </a:avLst>
          </a:prstGeom>
          <a:solidFill>
            <a:srgbClr val="0B2E2C"/>
          </a:solidFill>
          <a:ln/>
        </p:spPr>
        <p:txBody>
          <a:bodyPr/>
          <a:lstStyle/>
          <a:p>
            <a:endParaRPr lang="es-PE"/>
          </a:p>
        </p:txBody>
      </p:sp>
      <p:sp>
        <p:nvSpPr>
          <p:cNvPr id="157" name="Text 154"/>
          <p:cNvSpPr txBox="1"/>
          <p:nvPr/>
        </p:nvSpPr>
        <p:spPr>
          <a:xfrm>
            <a:off x="783634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3,3 pp</a:t>
            </a:r>
            <a:endParaRPr lang="en-US" sz="750"/>
          </a:p>
        </p:txBody>
      </p:sp>
      <p:sp>
        <p:nvSpPr>
          <p:cNvPr id="158" name="Shape 155"/>
          <p:cNvSpPr/>
          <p:nvPr/>
        </p:nvSpPr>
        <p:spPr>
          <a:xfrm>
            <a:off x="9311128" y="3881628"/>
            <a:ext cx="1159971" cy="237744"/>
          </a:xfrm>
          <a:prstGeom prst="roundRect">
            <a:avLst>
              <a:gd name="adj" fmla="val 23077"/>
            </a:avLst>
          </a:prstGeom>
          <a:solidFill>
            <a:srgbClr val="FFFFFF"/>
          </a:solidFill>
          <a:ln/>
        </p:spPr>
        <p:txBody>
          <a:bodyPr/>
          <a:lstStyle/>
          <a:p>
            <a:endParaRPr lang="es-PE"/>
          </a:p>
        </p:txBody>
      </p:sp>
      <p:sp>
        <p:nvSpPr>
          <p:cNvPr id="159" name="Text 156"/>
          <p:cNvSpPr txBox="1"/>
          <p:nvPr/>
        </p:nvSpPr>
        <p:spPr>
          <a:xfrm>
            <a:off x="931112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-26 pp</a:t>
            </a:r>
            <a:endParaRPr lang="en-US" sz="750"/>
          </a:p>
        </p:txBody>
      </p:sp>
      <p:sp>
        <p:nvSpPr>
          <p:cNvPr id="160" name="Shape 157"/>
          <p:cNvSpPr/>
          <p:nvPr/>
        </p:nvSpPr>
        <p:spPr>
          <a:xfrm>
            <a:off x="571103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61" name="Text 158"/>
          <p:cNvSpPr txBox="1"/>
          <p:nvPr/>
        </p:nvSpPr>
        <p:spPr>
          <a:xfrm>
            <a:off x="576590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62" name="Shape 159"/>
          <p:cNvSpPr/>
          <p:nvPr/>
        </p:nvSpPr>
        <p:spPr>
          <a:xfrm>
            <a:off x="6131662" y="4535302"/>
            <a:ext cx="1071143" cy="59314"/>
          </a:xfrm>
          <a:prstGeom prst="line">
            <a:avLst/>
          </a:prstGeom>
          <a:noFill/>
          <a:ln w="19050">
            <a:solidFill>
              <a:srgbClr val="0B2E2C"/>
            </a:solidFill>
            <a:prstDash val="solid"/>
          </a:ln>
        </p:spPr>
        <p:txBody>
          <a:bodyPr/>
          <a:lstStyle/>
          <a:p>
            <a:endParaRPr lang="es-PE"/>
          </a:p>
        </p:txBody>
      </p:sp>
      <p:sp>
        <p:nvSpPr>
          <p:cNvPr id="163" name="Shape 160"/>
          <p:cNvSpPr/>
          <p:nvPr/>
        </p:nvSpPr>
        <p:spPr>
          <a:xfrm>
            <a:off x="7202805" y="4594616"/>
            <a:ext cx="1071143" cy="74143"/>
          </a:xfrm>
          <a:prstGeom prst="line">
            <a:avLst/>
          </a:prstGeom>
          <a:noFill/>
          <a:ln w="19050">
            <a:solidFill>
              <a:srgbClr val="0B2E2C"/>
            </a:solidFill>
            <a:prstDash val="solid"/>
          </a:ln>
        </p:spPr>
        <p:txBody>
          <a:bodyPr/>
          <a:lstStyle/>
          <a:p>
            <a:endParaRPr lang="es-PE"/>
          </a:p>
        </p:txBody>
      </p:sp>
      <p:sp>
        <p:nvSpPr>
          <p:cNvPr id="164" name="Shape 161"/>
          <p:cNvSpPr/>
          <p:nvPr/>
        </p:nvSpPr>
        <p:spPr>
          <a:xfrm flipV="1">
            <a:off x="8273948" y="4639102"/>
            <a:ext cx="1071143" cy="29657"/>
          </a:xfrm>
          <a:prstGeom prst="line">
            <a:avLst/>
          </a:prstGeom>
          <a:noFill/>
          <a:ln w="19050">
            <a:solidFill>
              <a:srgbClr val="0B2E2C"/>
            </a:solidFill>
            <a:prstDash val="solid"/>
          </a:ln>
        </p:spPr>
        <p:txBody>
          <a:bodyPr/>
          <a:lstStyle/>
          <a:p>
            <a:endParaRPr lang="es-PE"/>
          </a:p>
        </p:txBody>
      </p:sp>
      <p:sp>
        <p:nvSpPr>
          <p:cNvPr id="165" name="Shape 162"/>
          <p:cNvSpPr/>
          <p:nvPr/>
        </p:nvSpPr>
        <p:spPr>
          <a:xfrm flipV="1">
            <a:off x="9345092" y="4572373"/>
            <a:ext cx="1071143" cy="66728"/>
          </a:xfrm>
          <a:prstGeom prst="line">
            <a:avLst/>
          </a:prstGeom>
          <a:noFill/>
          <a:ln w="19050">
            <a:solidFill>
              <a:srgbClr val="0B2E2C"/>
            </a:solidFill>
            <a:prstDash val="solid"/>
          </a:ln>
        </p:spPr>
        <p:txBody>
          <a:bodyPr/>
          <a:lstStyle/>
          <a:p>
            <a:endParaRPr lang="es-PE"/>
          </a:p>
        </p:txBody>
      </p:sp>
      <p:sp>
        <p:nvSpPr>
          <p:cNvPr id="166" name="Shape 163"/>
          <p:cNvSpPr/>
          <p:nvPr/>
        </p:nvSpPr>
        <p:spPr>
          <a:xfrm>
            <a:off x="6131662" y="4831872"/>
            <a:ext cx="1071143" cy="14829"/>
          </a:xfrm>
          <a:prstGeom prst="line">
            <a:avLst/>
          </a:prstGeom>
          <a:noFill/>
          <a:ln w="19050">
            <a:solidFill>
              <a:srgbClr val="E67E22"/>
            </a:solidFill>
            <a:prstDash val="dash"/>
          </a:ln>
        </p:spPr>
        <p:txBody>
          <a:bodyPr/>
          <a:lstStyle/>
          <a:p>
            <a:endParaRPr lang="es-PE"/>
          </a:p>
        </p:txBody>
      </p:sp>
      <p:sp>
        <p:nvSpPr>
          <p:cNvPr id="167" name="Shape 164"/>
          <p:cNvSpPr/>
          <p:nvPr/>
        </p:nvSpPr>
        <p:spPr>
          <a:xfrm>
            <a:off x="7202805" y="4846701"/>
            <a:ext cx="1071143" cy="22243"/>
          </a:xfrm>
          <a:prstGeom prst="line">
            <a:avLst/>
          </a:prstGeom>
          <a:noFill/>
          <a:ln w="19050">
            <a:solidFill>
              <a:srgbClr val="E67E22"/>
            </a:solidFill>
            <a:prstDash val="dash"/>
          </a:ln>
        </p:spPr>
        <p:txBody>
          <a:bodyPr/>
          <a:lstStyle/>
          <a:p>
            <a:endParaRPr lang="es-PE"/>
          </a:p>
        </p:txBody>
      </p:sp>
      <p:sp>
        <p:nvSpPr>
          <p:cNvPr id="168" name="Shape 165"/>
          <p:cNvSpPr/>
          <p:nvPr/>
        </p:nvSpPr>
        <p:spPr>
          <a:xfrm>
            <a:off x="8273948" y="4868944"/>
            <a:ext cx="1071143" cy="7414"/>
          </a:xfrm>
          <a:prstGeom prst="line">
            <a:avLst/>
          </a:prstGeom>
          <a:noFill/>
          <a:ln w="19050">
            <a:solidFill>
              <a:srgbClr val="E67E22"/>
            </a:solidFill>
            <a:prstDash val="dash"/>
          </a:ln>
        </p:spPr>
        <p:txBody>
          <a:bodyPr/>
          <a:lstStyle/>
          <a:p>
            <a:endParaRPr lang="es-PE"/>
          </a:p>
        </p:txBody>
      </p:sp>
      <p:sp>
        <p:nvSpPr>
          <p:cNvPr id="169" name="Shape 166"/>
          <p:cNvSpPr/>
          <p:nvPr/>
        </p:nvSpPr>
        <p:spPr>
          <a:xfrm flipV="1">
            <a:off x="9345092" y="4817044"/>
            <a:ext cx="1071143" cy="59314"/>
          </a:xfrm>
          <a:prstGeom prst="line">
            <a:avLst/>
          </a:prstGeom>
          <a:noFill/>
          <a:ln w="19050">
            <a:solidFill>
              <a:srgbClr val="E67E22"/>
            </a:solidFill>
            <a:prstDash val="dash"/>
          </a:ln>
        </p:spPr>
        <p:txBody>
          <a:bodyPr/>
          <a:lstStyle/>
          <a:p>
            <a:endParaRPr lang="es-PE"/>
          </a:p>
        </p:txBody>
      </p:sp>
      <p:sp>
        <p:nvSpPr>
          <p:cNvPr id="170" name="Text 167"/>
          <p:cNvSpPr txBox="1"/>
          <p:nvPr/>
        </p:nvSpPr>
        <p:spPr>
          <a:xfrm>
            <a:off x="5811622" y="433413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21,3</a:t>
            </a:r>
            <a:endParaRPr lang="en-US" sz="700"/>
          </a:p>
        </p:txBody>
      </p:sp>
      <p:sp>
        <p:nvSpPr>
          <p:cNvPr id="171" name="Text 168"/>
          <p:cNvSpPr txBox="1"/>
          <p:nvPr/>
        </p:nvSpPr>
        <p:spPr>
          <a:xfrm>
            <a:off x="10096195" y="437120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172" name="Text 169"/>
          <p:cNvSpPr txBox="1"/>
          <p:nvPr/>
        </p:nvSpPr>
        <p:spPr>
          <a:xfrm>
            <a:off x="5811622" y="488673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73" name="Text 170"/>
          <p:cNvSpPr txBox="1"/>
          <p:nvPr/>
        </p:nvSpPr>
        <p:spPr>
          <a:xfrm>
            <a:off x="10096195" y="487190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74" name="Text 171"/>
          <p:cNvSpPr txBox="1"/>
          <p:nvPr/>
        </p:nvSpPr>
        <p:spPr>
          <a:xfrm>
            <a:off x="576590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75" name="Shape 172"/>
          <p:cNvSpPr/>
          <p:nvPr/>
        </p:nvSpPr>
        <p:spPr>
          <a:xfrm>
            <a:off x="6195670" y="5409961"/>
            <a:ext cx="728899" cy="231887"/>
          </a:xfrm>
          <a:prstGeom prst="rect">
            <a:avLst/>
          </a:prstGeom>
          <a:solidFill>
            <a:srgbClr val="13807B"/>
          </a:solidFill>
          <a:ln/>
        </p:spPr>
        <p:txBody>
          <a:bodyPr/>
          <a:lstStyle/>
          <a:p>
            <a:endParaRPr lang="es-PE"/>
          </a:p>
        </p:txBody>
      </p:sp>
      <p:sp>
        <p:nvSpPr>
          <p:cNvPr id="176" name="Text 173"/>
          <p:cNvSpPr txBox="1"/>
          <p:nvPr/>
        </p:nvSpPr>
        <p:spPr>
          <a:xfrm>
            <a:off x="6058510" y="522708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67%</a:t>
            </a:r>
            <a:endParaRPr lang="en-US" sz="750"/>
          </a:p>
        </p:txBody>
      </p:sp>
      <p:sp>
        <p:nvSpPr>
          <p:cNvPr id="177" name="Text 174"/>
          <p:cNvSpPr txBox="1"/>
          <p:nvPr/>
        </p:nvSpPr>
        <p:spPr>
          <a:xfrm>
            <a:off x="601279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78" name="Shape 175"/>
          <p:cNvSpPr/>
          <p:nvPr/>
        </p:nvSpPr>
        <p:spPr>
          <a:xfrm>
            <a:off x="7052584" y="5427266"/>
            <a:ext cx="728899" cy="214582"/>
          </a:xfrm>
          <a:prstGeom prst="rect">
            <a:avLst/>
          </a:prstGeom>
          <a:solidFill>
            <a:srgbClr val="13807B"/>
          </a:solidFill>
          <a:ln/>
        </p:spPr>
        <p:txBody>
          <a:bodyPr/>
          <a:lstStyle/>
          <a:p>
            <a:endParaRPr lang="es-PE"/>
          </a:p>
        </p:txBody>
      </p:sp>
      <p:sp>
        <p:nvSpPr>
          <p:cNvPr id="179" name="Text 176"/>
          <p:cNvSpPr txBox="1"/>
          <p:nvPr/>
        </p:nvSpPr>
        <p:spPr>
          <a:xfrm>
            <a:off x="6915424" y="524438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62%</a:t>
            </a:r>
            <a:endParaRPr lang="en-US" sz="750"/>
          </a:p>
        </p:txBody>
      </p:sp>
      <p:sp>
        <p:nvSpPr>
          <p:cNvPr id="180" name="Text 177"/>
          <p:cNvSpPr txBox="1"/>
          <p:nvPr/>
        </p:nvSpPr>
        <p:spPr>
          <a:xfrm>
            <a:off x="686970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81" name="Shape 178"/>
          <p:cNvSpPr/>
          <p:nvPr/>
        </p:nvSpPr>
        <p:spPr>
          <a:xfrm>
            <a:off x="7909499" y="5437649"/>
            <a:ext cx="728899" cy="204199"/>
          </a:xfrm>
          <a:prstGeom prst="rect">
            <a:avLst/>
          </a:prstGeom>
          <a:solidFill>
            <a:srgbClr val="13807B"/>
          </a:solidFill>
          <a:ln/>
        </p:spPr>
        <p:txBody>
          <a:bodyPr/>
          <a:lstStyle/>
          <a:p>
            <a:endParaRPr lang="es-PE"/>
          </a:p>
        </p:txBody>
      </p:sp>
      <p:sp>
        <p:nvSpPr>
          <p:cNvPr id="182" name="Text 179"/>
          <p:cNvSpPr txBox="1"/>
          <p:nvPr/>
        </p:nvSpPr>
        <p:spPr>
          <a:xfrm>
            <a:off x="7772339" y="525476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59%</a:t>
            </a:r>
            <a:endParaRPr lang="en-US" sz="750"/>
          </a:p>
        </p:txBody>
      </p:sp>
      <p:sp>
        <p:nvSpPr>
          <p:cNvPr id="183" name="Text 180"/>
          <p:cNvSpPr txBox="1"/>
          <p:nvPr/>
        </p:nvSpPr>
        <p:spPr>
          <a:xfrm>
            <a:off x="772661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84" name="Shape 181"/>
          <p:cNvSpPr/>
          <p:nvPr/>
        </p:nvSpPr>
        <p:spPr>
          <a:xfrm>
            <a:off x="8766414" y="5451493"/>
            <a:ext cx="728899" cy="190355"/>
          </a:xfrm>
          <a:prstGeom prst="rect">
            <a:avLst/>
          </a:prstGeom>
          <a:solidFill>
            <a:srgbClr val="13807B"/>
          </a:solidFill>
          <a:ln/>
        </p:spPr>
        <p:txBody>
          <a:bodyPr/>
          <a:lstStyle/>
          <a:p>
            <a:endParaRPr lang="es-PE"/>
          </a:p>
        </p:txBody>
      </p:sp>
      <p:sp>
        <p:nvSpPr>
          <p:cNvPr id="185" name="Text 182"/>
          <p:cNvSpPr txBox="1"/>
          <p:nvPr/>
        </p:nvSpPr>
        <p:spPr>
          <a:xfrm>
            <a:off x="8629254" y="526861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55%</a:t>
            </a:r>
            <a:endParaRPr lang="en-US" sz="750"/>
          </a:p>
        </p:txBody>
      </p:sp>
      <p:sp>
        <p:nvSpPr>
          <p:cNvPr id="186" name="Text 183"/>
          <p:cNvSpPr txBox="1"/>
          <p:nvPr/>
        </p:nvSpPr>
        <p:spPr>
          <a:xfrm>
            <a:off x="858353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87" name="Shape 184"/>
          <p:cNvSpPr/>
          <p:nvPr/>
        </p:nvSpPr>
        <p:spPr>
          <a:xfrm>
            <a:off x="9623328" y="5499947"/>
            <a:ext cx="728899" cy="141901"/>
          </a:xfrm>
          <a:prstGeom prst="rect">
            <a:avLst/>
          </a:prstGeom>
          <a:solidFill>
            <a:srgbClr val="13807B"/>
          </a:solidFill>
          <a:ln/>
        </p:spPr>
        <p:txBody>
          <a:bodyPr/>
          <a:lstStyle/>
          <a:p>
            <a:endParaRPr lang="es-PE"/>
          </a:p>
        </p:txBody>
      </p:sp>
      <p:sp>
        <p:nvSpPr>
          <p:cNvPr id="188" name="Text 185"/>
          <p:cNvSpPr txBox="1"/>
          <p:nvPr/>
        </p:nvSpPr>
        <p:spPr>
          <a:xfrm>
            <a:off x="9486168" y="531706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41%</a:t>
            </a:r>
            <a:endParaRPr lang="en-US" sz="750"/>
          </a:p>
        </p:txBody>
      </p:sp>
      <p:sp>
        <p:nvSpPr>
          <p:cNvPr id="189" name="Text 186"/>
          <p:cNvSpPr txBox="1"/>
          <p:nvPr/>
        </p:nvSpPr>
        <p:spPr>
          <a:xfrm>
            <a:off x="944044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90" name="Shape 187"/>
          <p:cNvSpPr/>
          <p:nvPr/>
        </p:nvSpPr>
        <p:spPr>
          <a:xfrm>
            <a:off x="6095086" y="5641848"/>
            <a:ext cx="4357726" cy="0"/>
          </a:xfrm>
          <a:prstGeom prst="line">
            <a:avLst/>
          </a:prstGeom>
          <a:noFill/>
          <a:ln w="9525">
            <a:solidFill>
              <a:srgbClr val="D5DFDE"/>
            </a:solidFill>
            <a:prstDash val="solid"/>
          </a:ln>
        </p:spPr>
        <p:txBody>
          <a:bodyPr/>
          <a:lstStyle/>
          <a:p>
            <a:endParaRPr lang="es-PE"/>
          </a:p>
        </p:txBody>
      </p:sp>
      <p:sp>
        <p:nvSpPr>
          <p:cNvPr id="191" name="Shape 188"/>
          <p:cNvSpPr/>
          <p:nvPr/>
        </p:nvSpPr>
        <p:spPr>
          <a:xfrm>
            <a:off x="10763707" y="3835908"/>
            <a:ext cx="4833214" cy="329184"/>
          </a:xfrm>
          <a:prstGeom prst="rect">
            <a:avLst/>
          </a:prstGeom>
          <a:solidFill>
            <a:srgbClr val="13807B"/>
          </a:solidFill>
          <a:ln/>
        </p:spPr>
        <p:txBody>
          <a:bodyPr/>
          <a:lstStyle/>
          <a:p>
            <a:endParaRPr lang="es-PE"/>
          </a:p>
        </p:txBody>
      </p:sp>
      <p:sp>
        <p:nvSpPr>
          <p:cNvPr id="192" name="Text 189"/>
          <p:cNvSpPr txBox="1"/>
          <p:nvPr/>
        </p:nvSpPr>
        <p:spPr>
          <a:xfrm>
            <a:off x="10873435"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por Reactivar</a:t>
            </a:r>
            <a:endParaRPr lang="en-US" sz="1100"/>
          </a:p>
        </p:txBody>
      </p:sp>
      <p:sp>
        <p:nvSpPr>
          <p:cNvPr id="193" name="Shape 190"/>
          <p:cNvSpPr/>
          <p:nvPr/>
        </p:nvSpPr>
        <p:spPr>
          <a:xfrm>
            <a:off x="12889014" y="3881628"/>
            <a:ext cx="1401632" cy="237744"/>
          </a:xfrm>
          <a:prstGeom prst="roundRect">
            <a:avLst>
              <a:gd name="adj" fmla="val 23077"/>
            </a:avLst>
          </a:prstGeom>
          <a:solidFill>
            <a:srgbClr val="0B2E2C"/>
          </a:solidFill>
          <a:ln/>
        </p:spPr>
        <p:txBody>
          <a:bodyPr/>
          <a:lstStyle/>
          <a:p>
            <a:endParaRPr lang="es-PE"/>
          </a:p>
        </p:txBody>
      </p:sp>
      <p:sp>
        <p:nvSpPr>
          <p:cNvPr id="194" name="Text 191"/>
          <p:cNvSpPr txBox="1"/>
          <p:nvPr/>
        </p:nvSpPr>
        <p:spPr>
          <a:xfrm>
            <a:off x="1288901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3,8 pp</a:t>
            </a:r>
            <a:endParaRPr lang="en-US" sz="750"/>
          </a:p>
        </p:txBody>
      </p:sp>
      <p:sp>
        <p:nvSpPr>
          <p:cNvPr id="195" name="Shape 192"/>
          <p:cNvSpPr/>
          <p:nvPr/>
        </p:nvSpPr>
        <p:spPr>
          <a:xfrm>
            <a:off x="14363798" y="3881628"/>
            <a:ext cx="1159971" cy="237744"/>
          </a:xfrm>
          <a:prstGeom prst="roundRect">
            <a:avLst>
              <a:gd name="adj" fmla="val 23077"/>
            </a:avLst>
          </a:prstGeom>
          <a:solidFill>
            <a:srgbClr val="FFFFFF"/>
          </a:solidFill>
          <a:ln/>
        </p:spPr>
        <p:txBody>
          <a:bodyPr/>
          <a:lstStyle/>
          <a:p>
            <a:endParaRPr lang="es-PE"/>
          </a:p>
        </p:txBody>
      </p:sp>
      <p:sp>
        <p:nvSpPr>
          <p:cNvPr id="196" name="Text 193"/>
          <p:cNvSpPr txBox="1"/>
          <p:nvPr/>
        </p:nvSpPr>
        <p:spPr>
          <a:xfrm>
            <a:off x="1436379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-16 pp</a:t>
            </a:r>
            <a:endParaRPr lang="en-US" sz="750"/>
          </a:p>
        </p:txBody>
      </p:sp>
      <p:sp>
        <p:nvSpPr>
          <p:cNvPr id="197" name="Shape 194"/>
          <p:cNvSpPr/>
          <p:nvPr/>
        </p:nvSpPr>
        <p:spPr>
          <a:xfrm>
            <a:off x="10763707"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98" name="Text 195"/>
          <p:cNvSpPr txBox="1"/>
          <p:nvPr/>
        </p:nvSpPr>
        <p:spPr>
          <a:xfrm>
            <a:off x="10818571"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99" name="Shape 196"/>
          <p:cNvSpPr/>
          <p:nvPr/>
        </p:nvSpPr>
        <p:spPr>
          <a:xfrm flipV="1">
            <a:off x="11184331" y="4543847"/>
            <a:ext cx="1071143" cy="75399"/>
          </a:xfrm>
          <a:prstGeom prst="line">
            <a:avLst/>
          </a:prstGeom>
          <a:noFill/>
          <a:ln w="19050">
            <a:solidFill>
              <a:srgbClr val="0B2E2C"/>
            </a:solidFill>
            <a:prstDash val="solid"/>
          </a:ln>
        </p:spPr>
        <p:txBody>
          <a:bodyPr/>
          <a:lstStyle/>
          <a:p>
            <a:endParaRPr lang="es-PE"/>
          </a:p>
        </p:txBody>
      </p:sp>
      <p:sp>
        <p:nvSpPr>
          <p:cNvPr id="200" name="Shape 197"/>
          <p:cNvSpPr/>
          <p:nvPr/>
        </p:nvSpPr>
        <p:spPr>
          <a:xfrm flipV="1">
            <a:off x="12255475" y="4536307"/>
            <a:ext cx="1071143" cy="7540"/>
          </a:xfrm>
          <a:prstGeom prst="line">
            <a:avLst/>
          </a:prstGeom>
          <a:noFill/>
          <a:ln w="19050">
            <a:solidFill>
              <a:srgbClr val="0B2E2C"/>
            </a:solidFill>
            <a:prstDash val="solid"/>
          </a:ln>
        </p:spPr>
        <p:txBody>
          <a:bodyPr/>
          <a:lstStyle/>
          <a:p>
            <a:endParaRPr lang="es-PE"/>
          </a:p>
        </p:txBody>
      </p:sp>
      <p:sp>
        <p:nvSpPr>
          <p:cNvPr id="201" name="Shape 198"/>
          <p:cNvSpPr/>
          <p:nvPr/>
        </p:nvSpPr>
        <p:spPr>
          <a:xfrm>
            <a:off x="13326618" y="4536307"/>
            <a:ext cx="1071143" cy="0"/>
          </a:xfrm>
          <a:prstGeom prst="line">
            <a:avLst/>
          </a:prstGeom>
          <a:noFill/>
          <a:ln w="19050">
            <a:solidFill>
              <a:srgbClr val="0B2E2C"/>
            </a:solidFill>
            <a:prstDash val="solid"/>
          </a:ln>
        </p:spPr>
        <p:txBody>
          <a:bodyPr/>
          <a:lstStyle/>
          <a:p>
            <a:endParaRPr lang="es-PE"/>
          </a:p>
        </p:txBody>
      </p:sp>
      <p:sp>
        <p:nvSpPr>
          <p:cNvPr id="202" name="Shape 199"/>
          <p:cNvSpPr/>
          <p:nvPr/>
        </p:nvSpPr>
        <p:spPr>
          <a:xfrm>
            <a:off x="14397761" y="4536307"/>
            <a:ext cx="1071143" cy="15080"/>
          </a:xfrm>
          <a:prstGeom prst="line">
            <a:avLst/>
          </a:prstGeom>
          <a:noFill/>
          <a:ln w="19050">
            <a:solidFill>
              <a:srgbClr val="0B2E2C"/>
            </a:solidFill>
            <a:prstDash val="solid"/>
          </a:ln>
        </p:spPr>
        <p:txBody>
          <a:bodyPr/>
          <a:lstStyle/>
          <a:p>
            <a:endParaRPr lang="es-PE"/>
          </a:p>
        </p:txBody>
      </p:sp>
      <p:sp>
        <p:nvSpPr>
          <p:cNvPr id="203" name="Shape 200"/>
          <p:cNvSpPr/>
          <p:nvPr/>
        </p:nvSpPr>
        <p:spPr>
          <a:xfrm flipV="1">
            <a:off x="11184331" y="4815285"/>
            <a:ext cx="1071143" cy="37700"/>
          </a:xfrm>
          <a:prstGeom prst="line">
            <a:avLst/>
          </a:prstGeom>
          <a:noFill/>
          <a:ln w="19050">
            <a:solidFill>
              <a:srgbClr val="E67E22"/>
            </a:solidFill>
            <a:prstDash val="dash"/>
          </a:ln>
        </p:spPr>
        <p:txBody>
          <a:bodyPr/>
          <a:lstStyle/>
          <a:p>
            <a:endParaRPr lang="es-PE"/>
          </a:p>
        </p:txBody>
      </p:sp>
      <p:sp>
        <p:nvSpPr>
          <p:cNvPr id="204" name="Shape 201"/>
          <p:cNvSpPr/>
          <p:nvPr/>
        </p:nvSpPr>
        <p:spPr>
          <a:xfrm>
            <a:off x="12255475" y="4815285"/>
            <a:ext cx="1071143" cy="60319"/>
          </a:xfrm>
          <a:prstGeom prst="line">
            <a:avLst/>
          </a:prstGeom>
          <a:noFill/>
          <a:ln w="19050">
            <a:solidFill>
              <a:srgbClr val="E67E22"/>
            </a:solidFill>
            <a:prstDash val="dash"/>
          </a:ln>
        </p:spPr>
        <p:txBody>
          <a:bodyPr/>
          <a:lstStyle/>
          <a:p>
            <a:endParaRPr lang="es-PE"/>
          </a:p>
        </p:txBody>
      </p:sp>
      <p:sp>
        <p:nvSpPr>
          <p:cNvPr id="205" name="Shape 202"/>
          <p:cNvSpPr/>
          <p:nvPr/>
        </p:nvSpPr>
        <p:spPr>
          <a:xfrm flipV="1">
            <a:off x="13326618" y="4860524"/>
            <a:ext cx="1071143" cy="15080"/>
          </a:xfrm>
          <a:prstGeom prst="line">
            <a:avLst/>
          </a:prstGeom>
          <a:noFill/>
          <a:ln w="19050">
            <a:solidFill>
              <a:srgbClr val="E67E22"/>
            </a:solidFill>
            <a:prstDash val="dash"/>
          </a:ln>
        </p:spPr>
        <p:txBody>
          <a:bodyPr/>
          <a:lstStyle/>
          <a:p>
            <a:endParaRPr lang="es-PE"/>
          </a:p>
        </p:txBody>
      </p:sp>
      <p:sp>
        <p:nvSpPr>
          <p:cNvPr id="206" name="Shape 203"/>
          <p:cNvSpPr/>
          <p:nvPr/>
        </p:nvSpPr>
        <p:spPr>
          <a:xfrm flipV="1">
            <a:off x="14397761" y="4822825"/>
            <a:ext cx="1071143" cy="37700"/>
          </a:xfrm>
          <a:prstGeom prst="line">
            <a:avLst/>
          </a:prstGeom>
          <a:noFill/>
          <a:ln w="19050">
            <a:solidFill>
              <a:srgbClr val="E67E22"/>
            </a:solidFill>
            <a:prstDash val="dash"/>
          </a:ln>
        </p:spPr>
        <p:txBody>
          <a:bodyPr/>
          <a:lstStyle/>
          <a:p>
            <a:endParaRPr lang="es-PE"/>
          </a:p>
        </p:txBody>
      </p:sp>
      <p:sp>
        <p:nvSpPr>
          <p:cNvPr id="207" name="Text 204"/>
          <p:cNvSpPr txBox="1"/>
          <p:nvPr/>
        </p:nvSpPr>
        <p:spPr>
          <a:xfrm>
            <a:off x="10864291" y="441807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21,9</a:t>
            </a:r>
            <a:endParaRPr lang="en-US" sz="700"/>
          </a:p>
        </p:txBody>
      </p:sp>
      <p:sp>
        <p:nvSpPr>
          <p:cNvPr id="208" name="Text 205"/>
          <p:cNvSpPr txBox="1"/>
          <p:nvPr/>
        </p:nvSpPr>
        <p:spPr>
          <a:xfrm>
            <a:off x="15148865" y="43502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22,8</a:t>
            </a:r>
            <a:endParaRPr lang="en-US" sz="700"/>
          </a:p>
        </p:txBody>
      </p:sp>
      <p:sp>
        <p:nvSpPr>
          <p:cNvPr id="209" name="Text 206"/>
          <p:cNvSpPr txBox="1"/>
          <p:nvPr/>
        </p:nvSpPr>
        <p:spPr>
          <a:xfrm>
            <a:off x="10864291" y="490784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18,8</a:t>
            </a:r>
            <a:endParaRPr lang="en-US" sz="700"/>
          </a:p>
        </p:txBody>
      </p:sp>
      <p:sp>
        <p:nvSpPr>
          <p:cNvPr id="210" name="Text 207"/>
          <p:cNvSpPr txBox="1"/>
          <p:nvPr/>
        </p:nvSpPr>
        <p:spPr>
          <a:xfrm>
            <a:off x="15148865" y="487768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19,2</a:t>
            </a:r>
            <a:endParaRPr lang="en-US" sz="700"/>
          </a:p>
        </p:txBody>
      </p:sp>
      <p:sp>
        <p:nvSpPr>
          <p:cNvPr id="211" name="Text 208"/>
          <p:cNvSpPr txBox="1"/>
          <p:nvPr/>
        </p:nvSpPr>
        <p:spPr>
          <a:xfrm>
            <a:off x="10818571"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12" name="Shape 209"/>
          <p:cNvSpPr/>
          <p:nvPr/>
        </p:nvSpPr>
        <p:spPr>
          <a:xfrm>
            <a:off x="11248339" y="5344202"/>
            <a:ext cx="728899" cy="297646"/>
          </a:xfrm>
          <a:prstGeom prst="rect">
            <a:avLst/>
          </a:prstGeom>
          <a:solidFill>
            <a:srgbClr val="13807B"/>
          </a:solidFill>
          <a:ln/>
        </p:spPr>
        <p:txBody>
          <a:bodyPr/>
          <a:lstStyle/>
          <a:p>
            <a:endParaRPr lang="es-PE"/>
          </a:p>
        </p:txBody>
      </p:sp>
      <p:sp>
        <p:nvSpPr>
          <p:cNvPr id="213" name="Text 210"/>
          <p:cNvSpPr txBox="1"/>
          <p:nvPr/>
        </p:nvSpPr>
        <p:spPr>
          <a:xfrm>
            <a:off x="11111179" y="516132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86%</a:t>
            </a:r>
            <a:endParaRPr lang="en-US" sz="750"/>
          </a:p>
        </p:txBody>
      </p:sp>
      <p:sp>
        <p:nvSpPr>
          <p:cNvPr id="214" name="Text 211"/>
          <p:cNvSpPr txBox="1"/>
          <p:nvPr/>
        </p:nvSpPr>
        <p:spPr>
          <a:xfrm>
            <a:off x="1106545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215" name="Shape 212"/>
          <p:cNvSpPr/>
          <p:nvPr/>
        </p:nvSpPr>
        <p:spPr>
          <a:xfrm>
            <a:off x="12105254" y="5326897"/>
            <a:ext cx="728899" cy="314951"/>
          </a:xfrm>
          <a:prstGeom prst="rect">
            <a:avLst/>
          </a:prstGeom>
          <a:solidFill>
            <a:srgbClr val="13807B"/>
          </a:solidFill>
          <a:ln/>
        </p:spPr>
        <p:txBody>
          <a:bodyPr/>
          <a:lstStyle/>
          <a:p>
            <a:endParaRPr lang="es-PE"/>
          </a:p>
        </p:txBody>
      </p:sp>
      <p:sp>
        <p:nvSpPr>
          <p:cNvPr id="216" name="Text 213"/>
          <p:cNvSpPr txBox="1"/>
          <p:nvPr/>
        </p:nvSpPr>
        <p:spPr>
          <a:xfrm>
            <a:off x="11968094" y="514401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91%</a:t>
            </a:r>
            <a:endParaRPr lang="en-US" sz="750"/>
          </a:p>
        </p:txBody>
      </p:sp>
      <p:sp>
        <p:nvSpPr>
          <p:cNvPr id="217" name="Text 214"/>
          <p:cNvSpPr txBox="1"/>
          <p:nvPr/>
        </p:nvSpPr>
        <p:spPr>
          <a:xfrm>
            <a:off x="1192237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218" name="Shape 215"/>
          <p:cNvSpPr/>
          <p:nvPr/>
        </p:nvSpPr>
        <p:spPr>
          <a:xfrm>
            <a:off x="12962169" y="5368429"/>
            <a:ext cx="728899" cy="273419"/>
          </a:xfrm>
          <a:prstGeom prst="rect">
            <a:avLst/>
          </a:prstGeom>
          <a:solidFill>
            <a:srgbClr val="13807B"/>
          </a:solidFill>
          <a:ln/>
        </p:spPr>
        <p:txBody>
          <a:bodyPr/>
          <a:lstStyle/>
          <a:p>
            <a:endParaRPr lang="es-PE"/>
          </a:p>
        </p:txBody>
      </p:sp>
      <p:sp>
        <p:nvSpPr>
          <p:cNvPr id="219" name="Text 216"/>
          <p:cNvSpPr txBox="1"/>
          <p:nvPr/>
        </p:nvSpPr>
        <p:spPr>
          <a:xfrm>
            <a:off x="12825009" y="518554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220" name="Text 217"/>
          <p:cNvSpPr txBox="1"/>
          <p:nvPr/>
        </p:nvSpPr>
        <p:spPr>
          <a:xfrm>
            <a:off x="1277928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221" name="Shape 218"/>
          <p:cNvSpPr/>
          <p:nvPr/>
        </p:nvSpPr>
        <p:spPr>
          <a:xfrm>
            <a:off x="13819083" y="5375351"/>
            <a:ext cx="728899" cy="266497"/>
          </a:xfrm>
          <a:prstGeom prst="rect">
            <a:avLst/>
          </a:prstGeom>
          <a:solidFill>
            <a:srgbClr val="13807B"/>
          </a:solidFill>
          <a:ln/>
        </p:spPr>
        <p:txBody>
          <a:bodyPr/>
          <a:lstStyle/>
          <a:p>
            <a:endParaRPr lang="es-PE"/>
          </a:p>
        </p:txBody>
      </p:sp>
      <p:sp>
        <p:nvSpPr>
          <p:cNvPr id="222" name="Text 219"/>
          <p:cNvSpPr txBox="1"/>
          <p:nvPr/>
        </p:nvSpPr>
        <p:spPr>
          <a:xfrm>
            <a:off x="13681923" y="519247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77%</a:t>
            </a:r>
            <a:endParaRPr lang="en-US" sz="750"/>
          </a:p>
        </p:txBody>
      </p:sp>
      <p:sp>
        <p:nvSpPr>
          <p:cNvPr id="223" name="Text 220"/>
          <p:cNvSpPr txBox="1"/>
          <p:nvPr/>
        </p:nvSpPr>
        <p:spPr>
          <a:xfrm>
            <a:off x="13636203"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224" name="Shape 221"/>
          <p:cNvSpPr/>
          <p:nvPr/>
        </p:nvSpPr>
        <p:spPr>
          <a:xfrm>
            <a:off x="14675998" y="5399578"/>
            <a:ext cx="728899" cy="242270"/>
          </a:xfrm>
          <a:prstGeom prst="rect">
            <a:avLst/>
          </a:prstGeom>
          <a:solidFill>
            <a:srgbClr val="13807B"/>
          </a:solidFill>
          <a:ln/>
        </p:spPr>
        <p:txBody>
          <a:bodyPr/>
          <a:lstStyle/>
          <a:p>
            <a:endParaRPr lang="es-PE"/>
          </a:p>
        </p:txBody>
      </p:sp>
      <p:sp>
        <p:nvSpPr>
          <p:cNvPr id="225" name="Text 222"/>
          <p:cNvSpPr txBox="1"/>
          <p:nvPr/>
        </p:nvSpPr>
        <p:spPr>
          <a:xfrm>
            <a:off x="14538838" y="52166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70%</a:t>
            </a:r>
            <a:endParaRPr lang="en-US" sz="750"/>
          </a:p>
        </p:txBody>
      </p:sp>
      <p:sp>
        <p:nvSpPr>
          <p:cNvPr id="226" name="Text 223"/>
          <p:cNvSpPr txBox="1"/>
          <p:nvPr/>
        </p:nvSpPr>
        <p:spPr>
          <a:xfrm>
            <a:off x="1449311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227" name="Shape 224"/>
          <p:cNvSpPr/>
          <p:nvPr/>
        </p:nvSpPr>
        <p:spPr>
          <a:xfrm>
            <a:off x="11147755" y="5641848"/>
            <a:ext cx="4357726" cy="0"/>
          </a:xfrm>
          <a:prstGeom prst="line">
            <a:avLst/>
          </a:prstGeom>
          <a:noFill/>
          <a:ln w="9525">
            <a:solidFill>
              <a:srgbClr val="D5DFDE"/>
            </a:solidFill>
            <a:prstDash val="solid"/>
          </a:ln>
        </p:spPr>
        <p:txBody>
          <a:bodyPr/>
          <a:lstStyle/>
          <a:p>
            <a:endParaRPr lang="es-PE"/>
          </a:p>
        </p:txBody>
      </p:sp>
      <p:sp>
        <p:nvSpPr>
          <p:cNvPr id="228" name="Shape 225"/>
          <p:cNvSpPr/>
          <p:nvPr/>
        </p:nvSpPr>
        <p:spPr>
          <a:xfrm>
            <a:off x="658368" y="6172200"/>
            <a:ext cx="201168" cy="128016"/>
          </a:xfrm>
          <a:prstGeom prst="rect">
            <a:avLst/>
          </a:prstGeom>
          <a:solidFill>
            <a:srgbClr val="13807B"/>
          </a:solidFill>
          <a:ln/>
        </p:spPr>
        <p:txBody>
          <a:bodyPr/>
          <a:lstStyle/>
          <a:p>
            <a:endParaRPr lang="es-PE"/>
          </a:p>
        </p:txBody>
      </p:sp>
      <p:sp>
        <p:nvSpPr>
          <p:cNvPr id="229" name="Text 226"/>
          <p:cNvSpPr txBox="1"/>
          <p:nvPr/>
        </p:nvSpPr>
        <p:spPr>
          <a:xfrm>
            <a:off x="896112" y="613562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230" name="Shape 227"/>
          <p:cNvSpPr/>
          <p:nvPr/>
        </p:nvSpPr>
        <p:spPr>
          <a:xfrm>
            <a:off x="2788920" y="6236208"/>
            <a:ext cx="320040" cy="0"/>
          </a:xfrm>
          <a:prstGeom prst="line">
            <a:avLst/>
          </a:prstGeom>
          <a:noFill/>
          <a:ln w="22225">
            <a:solidFill>
              <a:srgbClr val="0B2E2C"/>
            </a:solidFill>
            <a:prstDash val="solid"/>
          </a:ln>
        </p:spPr>
        <p:txBody>
          <a:bodyPr/>
          <a:lstStyle/>
          <a:p>
            <a:endParaRPr lang="es-PE"/>
          </a:p>
        </p:txBody>
      </p:sp>
      <p:sp>
        <p:nvSpPr>
          <p:cNvPr id="231" name="Text 228"/>
          <p:cNvSpPr txBox="1"/>
          <p:nvPr/>
        </p:nvSpPr>
        <p:spPr>
          <a:xfrm>
            <a:off x="3154680" y="613562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232" name="Shape 229"/>
          <p:cNvSpPr/>
          <p:nvPr/>
        </p:nvSpPr>
        <p:spPr>
          <a:xfrm>
            <a:off x="4434840" y="6236208"/>
            <a:ext cx="320040" cy="0"/>
          </a:xfrm>
          <a:prstGeom prst="line">
            <a:avLst/>
          </a:prstGeom>
          <a:noFill/>
          <a:ln w="22225">
            <a:solidFill>
              <a:srgbClr val="E67E22"/>
            </a:solidFill>
            <a:prstDash val="dash"/>
          </a:ln>
        </p:spPr>
        <p:txBody>
          <a:bodyPr/>
          <a:lstStyle/>
          <a:p>
            <a:endParaRPr lang="es-PE"/>
          </a:p>
        </p:txBody>
      </p:sp>
      <p:sp>
        <p:nvSpPr>
          <p:cNvPr id="233" name="Text 230"/>
          <p:cNvSpPr txBox="1"/>
          <p:nvPr/>
        </p:nvSpPr>
        <p:spPr>
          <a:xfrm>
            <a:off x="4800600" y="613562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234" name="Text 231"/>
          <p:cNvSpPr txBox="1"/>
          <p:nvPr/>
        </p:nvSpPr>
        <p:spPr>
          <a:xfrm>
            <a:off x="11430000" y="613562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235" name="Shape 232"/>
          <p:cNvSpPr/>
          <p:nvPr/>
        </p:nvSpPr>
        <p:spPr>
          <a:xfrm>
            <a:off x="658368" y="6446520"/>
            <a:ext cx="14938553" cy="2167128"/>
          </a:xfrm>
          <a:prstGeom prst="rect">
            <a:avLst/>
          </a:prstGeom>
          <a:solidFill>
            <a:srgbClr val="F6FBFA"/>
          </a:solidFill>
          <a:ln w="9525">
            <a:solidFill>
              <a:srgbClr val="D5DFDE"/>
            </a:solidFill>
            <a:prstDash val="solid"/>
          </a:ln>
        </p:spPr>
        <p:txBody>
          <a:bodyPr/>
          <a:lstStyle/>
          <a:p>
            <a:endParaRPr lang="es-PE"/>
          </a:p>
        </p:txBody>
      </p:sp>
      <p:sp>
        <p:nvSpPr>
          <p:cNvPr id="236" name="Shape 233"/>
          <p:cNvSpPr/>
          <p:nvPr/>
        </p:nvSpPr>
        <p:spPr>
          <a:xfrm>
            <a:off x="658368" y="6446520"/>
            <a:ext cx="54864" cy="2167128"/>
          </a:xfrm>
          <a:prstGeom prst="rect">
            <a:avLst/>
          </a:prstGeom>
          <a:solidFill>
            <a:srgbClr val="13807B"/>
          </a:solidFill>
          <a:ln/>
        </p:spPr>
        <p:txBody>
          <a:bodyPr/>
          <a:lstStyle/>
          <a:p>
            <a:endParaRPr lang="es-PE"/>
          </a:p>
        </p:txBody>
      </p:sp>
      <p:sp>
        <p:nvSpPr>
          <p:cNvPr id="237" name="Text 234"/>
          <p:cNvSpPr txBox="1"/>
          <p:nvPr/>
        </p:nvSpPr>
        <p:spPr>
          <a:xfrm>
            <a:off x="914400" y="655624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238" name="Text 235"/>
          <p:cNvSpPr txBox="1"/>
          <p:nvPr/>
        </p:nvSpPr>
        <p:spPr>
          <a:xfrm>
            <a:off x="914400"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239" name="Text 236"/>
          <p:cNvSpPr txBox="1"/>
          <p:nvPr/>
        </p:nvSpPr>
        <p:spPr>
          <a:xfrm>
            <a:off x="914400"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6 clusters caen entre 2025Q2 y 2026Q2: -31pp en Socio en Crecimiento, -30pp en Maduro Multibanco, -29pp en Cliente Ancla y Cuenta Estratégica, -26pp en Gran Cuenta por Conquistar, -16pp en Cliente por Reactivar — la caída en monto iguala o supera a la de unidades en los 6.</a:t>
            </a:r>
            <a:endParaRPr lang="en-US" sz="950"/>
          </a:p>
        </p:txBody>
      </p:sp>
      <p:sp>
        <p:nvSpPr>
          <p:cNvPr id="240" name="Text 237"/>
          <p:cNvSpPr txBox="1"/>
          <p:nvPr/>
        </p:nvSpPr>
        <p:spPr>
          <a:xfrm>
            <a:off x="5900014"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241" name="Text 238"/>
          <p:cNvSpPr txBox="1"/>
          <p:nvPr/>
        </p:nvSpPr>
        <p:spPr>
          <a:xfrm>
            <a:off x="5900014"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Enfocar cualquier ejercicio de repricing o aumento de línea en Socio en Crecimiento y Maduro Multibanco primero — son los que más valor absoluto de share pierden, no solo porcentaje de operaciones.</a:t>
            </a:r>
            <a:endParaRPr lang="en-US" sz="950"/>
          </a:p>
        </p:txBody>
      </p:sp>
      <p:sp>
        <p:nvSpPr>
          <p:cNvPr id="242" name="Text 239"/>
          <p:cNvSpPr txBox="1"/>
          <p:nvPr/>
        </p:nvSpPr>
        <p:spPr>
          <a:xfrm>
            <a:off x="10885627" y="683056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243" name="Text 240"/>
          <p:cNvSpPr txBox="1"/>
          <p:nvPr/>
        </p:nvSpPr>
        <p:spPr>
          <a:xfrm>
            <a:off x="10885627"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Revisar si hay un techo de línea o de plazo en la oferta de IBK para estos clusters: si la competencia gana los tickets grandes primero, puede ser señal de que el cliente busca en otro banco el monto que IBK no le ofrece.</a:t>
            </a:r>
            <a:endParaRPr lang="en-US" sz="9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SIN DEUDA · UNIDADES (N)</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Los 3 clusters sin deuda sostienen su share con la TEA más alta de toda la cartera — hay espacio para subir tasa</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Emprendedor Izipay</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0 pp</a:t>
            </a:r>
            <a:endParaRPr lang="en-US" sz="750"/>
          </a:p>
        </p:txBody>
      </p:sp>
      <p:sp>
        <p:nvSpPr>
          <p:cNvPr id="12" name="Shape 9"/>
          <p:cNvSpPr/>
          <p:nvPr/>
        </p:nvSpPr>
        <p:spPr>
          <a:xfrm>
            <a:off x="65836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flipV="1">
            <a:off x="1078992" y="2159855"/>
            <a:ext cx="1071143" cy="104975"/>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59855"/>
            <a:ext cx="1071143" cy="233278"/>
          </a:xfrm>
          <a:prstGeom prst="line">
            <a:avLst/>
          </a:prstGeom>
          <a:noFill/>
          <a:ln w="19050">
            <a:solidFill>
              <a:srgbClr val="0B2E2C"/>
            </a:solidFill>
            <a:prstDash val="solid"/>
          </a:ln>
        </p:spPr>
        <p:txBody>
          <a:bodyPr/>
          <a:lstStyle/>
          <a:p>
            <a:endParaRPr lang="es-PE"/>
          </a:p>
        </p:txBody>
      </p:sp>
      <p:sp>
        <p:nvSpPr>
          <p:cNvPr id="16" name="Shape 13"/>
          <p:cNvSpPr/>
          <p:nvPr/>
        </p:nvSpPr>
        <p:spPr>
          <a:xfrm>
            <a:off x="3221279" y="2393134"/>
            <a:ext cx="1071143" cy="291598"/>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614748"/>
            <a:ext cx="1071143" cy="69983"/>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358142"/>
            <a:ext cx="1071143" cy="233278"/>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358142"/>
            <a:ext cx="1071143" cy="338254"/>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696395"/>
            <a:ext cx="1071143" cy="303262"/>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918010"/>
            <a:ext cx="1071143" cy="81647"/>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206366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25,7</a:t>
            </a:r>
            <a:endParaRPr lang="en-US" sz="700"/>
          </a:p>
        </p:txBody>
      </p:sp>
      <p:sp>
        <p:nvSpPr>
          <p:cNvPr id="23" name="Text 20"/>
          <p:cNvSpPr txBox="1"/>
          <p:nvPr/>
        </p:nvSpPr>
        <p:spPr>
          <a:xfrm>
            <a:off x="5043526" y="2413580"/>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24" name="Text 21"/>
          <p:cNvSpPr txBox="1"/>
          <p:nvPr/>
        </p:nvSpPr>
        <p:spPr>
          <a:xfrm>
            <a:off x="758952" y="264628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22,9</a:t>
            </a:r>
            <a:endParaRPr lang="en-US" sz="700"/>
          </a:p>
        </p:txBody>
      </p:sp>
      <p:sp>
        <p:nvSpPr>
          <p:cNvPr id="25" name="Text 22"/>
          <p:cNvSpPr txBox="1"/>
          <p:nvPr/>
        </p:nvSpPr>
        <p:spPr>
          <a:xfrm>
            <a:off x="5043526" y="297287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20,1</a:t>
            </a:r>
            <a:endParaRPr lang="en-US" sz="700"/>
          </a:p>
        </p:txBody>
      </p:sp>
      <p:sp>
        <p:nvSpPr>
          <p:cNvPr id="26" name="Text 23"/>
          <p:cNvSpPr txBox="1"/>
          <p:nvPr/>
        </p:nvSpPr>
        <p:spPr>
          <a:xfrm>
            <a:off x="71323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3526978"/>
            <a:ext cx="728899" cy="1566230"/>
          </a:xfrm>
          <a:prstGeom prst="rect">
            <a:avLst/>
          </a:prstGeom>
          <a:solidFill>
            <a:srgbClr val="13807B"/>
          </a:solidFill>
          <a:ln/>
        </p:spPr>
        <p:txBody>
          <a:bodyPr/>
          <a:lstStyle/>
          <a:p>
            <a:endParaRPr lang="es-PE"/>
          </a:p>
        </p:txBody>
      </p:sp>
      <p:sp>
        <p:nvSpPr>
          <p:cNvPr id="28" name="Text 25"/>
          <p:cNvSpPr txBox="1"/>
          <p:nvPr/>
        </p:nvSpPr>
        <p:spPr>
          <a:xfrm>
            <a:off x="1005840" y="33440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95%</a:t>
            </a:r>
            <a:endParaRPr lang="en-US" sz="750"/>
          </a:p>
        </p:txBody>
      </p:sp>
      <p:sp>
        <p:nvSpPr>
          <p:cNvPr id="29" name="Text 26"/>
          <p:cNvSpPr txBox="1"/>
          <p:nvPr/>
        </p:nvSpPr>
        <p:spPr>
          <a:xfrm>
            <a:off x="96012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3526978"/>
            <a:ext cx="728899" cy="1566230"/>
          </a:xfrm>
          <a:prstGeom prst="rect">
            <a:avLst/>
          </a:prstGeom>
          <a:solidFill>
            <a:srgbClr val="13807B"/>
          </a:solidFill>
          <a:ln/>
        </p:spPr>
        <p:txBody>
          <a:bodyPr/>
          <a:lstStyle/>
          <a:p>
            <a:endParaRPr lang="es-PE"/>
          </a:p>
        </p:txBody>
      </p:sp>
      <p:sp>
        <p:nvSpPr>
          <p:cNvPr id="31" name="Text 28"/>
          <p:cNvSpPr txBox="1"/>
          <p:nvPr/>
        </p:nvSpPr>
        <p:spPr>
          <a:xfrm>
            <a:off x="1862755" y="33440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95%</a:t>
            </a:r>
            <a:endParaRPr lang="en-US" sz="750"/>
          </a:p>
        </p:txBody>
      </p:sp>
      <p:sp>
        <p:nvSpPr>
          <p:cNvPr id="32" name="Text 29"/>
          <p:cNvSpPr txBox="1"/>
          <p:nvPr/>
        </p:nvSpPr>
        <p:spPr>
          <a:xfrm>
            <a:off x="1817035"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3526978"/>
            <a:ext cx="728899" cy="1566230"/>
          </a:xfrm>
          <a:prstGeom prst="rect">
            <a:avLst/>
          </a:prstGeom>
          <a:solidFill>
            <a:srgbClr val="13807B"/>
          </a:solidFill>
          <a:ln/>
        </p:spPr>
        <p:txBody>
          <a:bodyPr/>
          <a:lstStyle/>
          <a:p>
            <a:endParaRPr lang="es-PE"/>
          </a:p>
        </p:txBody>
      </p:sp>
      <p:sp>
        <p:nvSpPr>
          <p:cNvPr id="34" name="Text 31"/>
          <p:cNvSpPr txBox="1"/>
          <p:nvPr/>
        </p:nvSpPr>
        <p:spPr>
          <a:xfrm>
            <a:off x="2719669" y="33440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95%</a:t>
            </a:r>
            <a:endParaRPr lang="en-US" sz="750"/>
          </a:p>
        </p:txBody>
      </p:sp>
      <p:sp>
        <p:nvSpPr>
          <p:cNvPr id="35" name="Text 32"/>
          <p:cNvSpPr txBox="1"/>
          <p:nvPr/>
        </p:nvSpPr>
        <p:spPr>
          <a:xfrm>
            <a:off x="267394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3625898"/>
            <a:ext cx="728899" cy="1467310"/>
          </a:xfrm>
          <a:prstGeom prst="rect">
            <a:avLst/>
          </a:prstGeom>
          <a:solidFill>
            <a:srgbClr val="13807B"/>
          </a:solidFill>
          <a:ln/>
        </p:spPr>
        <p:txBody>
          <a:bodyPr/>
          <a:lstStyle/>
          <a:p>
            <a:endParaRPr lang="es-PE"/>
          </a:p>
        </p:txBody>
      </p:sp>
      <p:sp>
        <p:nvSpPr>
          <p:cNvPr id="37" name="Text 34"/>
          <p:cNvSpPr txBox="1"/>
          <p:nvPr/>
        </p:nvSpPr>
        <p:spPr>
          <a:xfrm>
            <a:off x="3576584" y="344301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38" name="Text 35"/>
          <p:cNvSpPr txBox="1"/>
          <p:nvPr/>
        </p:nvSpPr>
        <p:spPr>
          <a:xfrm>
            <a:off x="353086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3526978"/>
            <a:ext cx="728899" cy="1566230"/>
          </a:xfrm>
          <a:prstGeom prst="rect">
            <a:avLst/>
          </a:prstGeom>
          <a:solidFill>
            <a:srgbClr val="13807B"/>
          </a:solidFill>
          <a:ln/>
        </p:spPr>
        <p:txBody>
          <a:bodyPr/>
          <a:lstStyle/>
          <a:p>
            <a:endParaRPr lang="es-PE"/>
          </a:p>
        </p:txBody>
      </p:sp>
      <p:sp>
        <p:nvSpPr>
          <p:cNvPr id="40" name="Text 37"/>
          <p:cNvSpPr txBox="1"/>
          <p:nvPr/>
        </p:nvSpPr>
        <p:spPr>
          <a:xfrm>
            <a:off x="4433499" y="33440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95%</a:t>
            </a:r>
            <a:endParaRPr lang="en-US" sz="750"/>
          </a:p>
        </p:txBody>
      </p:sp>
      <p:sp>
        <p:nvSpPr>
          <p:cNvPr id="41" name="Text 38"/>
          <p:cNvSpPr txBox="1"/>
          <p:nvPr/>
        </p:nvSpPr>
        <p:spPr>
          <a:xfrm>
            <a:off x="438777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5093208"/>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Nuevo en Expansión</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3,4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-4 pp</a:t>
            </a:r>
            <a:endParaRPr lang="en-US" sz="750"/>
          </a:p>
        </p:txBody>
      </p:sp>
      <p:sp>
        <p:nvSpPr>
          <p:cNvPr id="49" name="Shape 46"/>
          <p:cNvSpPr/>
          <p:nvPr/>
        </p:nvSpPr>
        <p:spPr>
          <a:xfrm>
            <a:off x="571103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flipV="1">
            <a:off x="6131662" y="2162077"/>
            <a:ext cx="1071143" cy="107475"/>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2077"/>
            <a:ext cx="1071143" cy="298541"/>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460618"/>
            <a:ext cx="1071143" cy="155241"/>
          </a:xfrm>
          <a:prstGeom prst="line">
            <a:avLst/>
          </a:prstGeom>
          <a:noFill/>
          <a:ln w="19050">
            <a:solidFill>
              <a:srgbClr val="0B2E2C"/>
            </a:solidFill>
            <a:prstDash val="solid"/>
          </a:ln>
        </p:spPr>
        <p:txBody>
          <a:bodyPr/>
          <a:lstStyle/>
          <a:p>
            <a:endParaRPr lang="es-PE"/>
          </a:p>
        </p:txBody>
      </p:sp>
      <p:sp>
        <p:nvSpPr>
          <p:cNvPr id="54" name="Shape 51"/>
          <p:cNvSpPr/>
          <p:nvPr/>
        </p:nvSpPr>
        <p:spPr>
          <a:xfrm>
            <a:off x="9345092" y="2615859"/>
            <a:ext cx="1071143" cy="11942"/>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603917"/>
            <a:ext cx="1071143" cy="23883"/>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603917"/>
            <a:ext cx="1071143" cy="370190"/>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974108"/>
            <a:ext cx="1071143" cy="0"/>
          </a:xfrm>
          <a:prstGeom prst="line">
            <a:avLst/>
          </a:prstGeom>
          <a:noFill/>
          <a:ln w="19050">
            <a:solidFill>
              <a:srgbClr val="E67E22"/>
            </a:solidFill>
            <a:prstDash val="dash"/>
          </a:ln>
        </p:spPr>
        <p:txBody>
          <a:bodyPr/>
          <a:lstStyle/>
          <a:p>
            <a:endParaRPr lang="es-PE"/>
          </a:p>
        </p:txBody>
      </p:sp>
      <p:sp>
        <p:nvSpPr>
          <p:cNvPr id="58" name="Shape 55"/>
          <p:cNvSpPr/>
          <p:nvPr/>
        </p:nvSpPr>
        <p:spPr>
          <a:xfrm>
            <a:off x="9345092" y="2974108"/>
            <a:ext cx="1071143" cy="23883"/>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20683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25,6</a:t>
            </a:r>
            <a:endParaRPr lang="en-US" sz="700"/>
          </a:p>
        </p:txBody>
      </p:sp>
      <p:sp>
        <p:nvSpPr>
          <p:cNvPr id="60" name="Text 57"/>
          <p:cNvSpPr txBox="1"/>
          <p:nvPr/>
        </p:nvSpPr>
        <p:spPr>
          <a:xfrm>
            <a:off x="10096195" y="242663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22,6</a:t>
            </a:r>
            <a:endParaRPr lang="en-US" sz="700"/>
          </a:p>
        </p:txBody>
      </p:sp>
      <p:sp>
        <p:nvSpPr>
          <p:cNvPr id="61" name="Text 58"/>
          <p:cNvSpPr txBox="1"/>
          <p:nvPr/>
        </p:nvSpPr>
        <p:spPr>
          <a:xfrm>
            <a:off x="5811622" y="268266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22,6</a:t>
            </a:r>
            <a:endParaRPr lang="en-US" sz="700"/>
          </a:p>
        </p:txBody>
      </p:sp>
      <p:sp>
        <p:nvSpPr>
          <p:cNvPr id="62" name="Text 59"/>
          <p:cNvSpPr txBox="1"/>
          <p:nvPr/>
        </p:nvSpPr>
        <p:spPr>
          <a:xfrm>
            <a:off x="10096195" y="305285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63" name="Text 60"/>
          <p:cNvSpPr txBox="1"/>
          <p:nvPr/>
        </p:nvSpPr>
        <p:spPr>
          <a:xfrm>
            <a:off x="576590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3642384"/>
            <a:ext cx="728899" cy="1450824"/>
          </a:xfrm>
          <a:prstGeom prst="rect">
            <a:avLst/>
          </a:prstGeom>
          <a:solidFill>
            <a:srgbClr val="13807B"/>
          </a:solidFill>
          <a:ln/>
        </p:spPr>
        <p:txBody>
          <a:bodyPr/>
          <a:lstStyle/>
          <a:p>
            <a:endParaRPr lang="es-PE"/>
          </a:p>
        </p:txBody>
      </p:sp>
      <p:sp>
        <p:nvSpPr>
          <p:cNvPr id="65" name="Text 62"/>
          <p:cNvSpPr txBox="1"/>
          <p:nvPr/>
        </p:nvSpPr>
        <p:spPr>
          <a:xfrm>
            <a:off x="6058510" y="345950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88%</a:t>
            </a:r>
            <a:endParaRPr lang="en-US" sz="750"/>
          </a:p>
        </p:txBody>
      </p:sp>
      <p:sp>
        <p:nvSpPr>
          <p:cNvPr id="66" name="Text 63"/>
          <p:cNvSpPr txBox="1"/>
          <p:nvPr/>
        </p:nvSpPr>
        <p:spPr>
          <a:xfrm>
            <a:off x="601279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4005090"/>
            <a:ext cx="728899" cy="1088118"/>
          </a:xfrm>
          <a:prstGeom prst="rect">
            <a:avLst/>
          </a:prstGeom>
          <a:solidFill>
            <a:srgbClr val="13807B"/>
          </a:solidFill>
          <a:ln/>
        </p:spPr>
        <p:txBody>
          <a:bodyPr/>
          <a:lstStyle/>
          <a:p>
            <a:endParaRPr lang="es-PE"/>
          </a:p>
        </p:txBody>
      </p:sp>
      <p:sp>
        <p:nvSpPr>
          <p:cNvPr id="68" name="Text 65"/>
          <p:cNvSpPr txBox="1"/>
          <p:nvPr/>
        </p:nvSpPr>
        <p:spPr>
          <a:xfrm>
            <a:off x="6915424" y="382221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66%</a:t>
            </a:r>
            <a:endParaRPr lang="en-US" sz="750"/>
          </a:p>
        </p:txBody>
      </p:sp>
      <p:sp>
        <p:nvSpPr>
          <p:cNvPr id="69" name="Text 66"/>
          <p:cNvSpPr txBox="1"/>
          <p:nvPr/>
        </p:nvSpPr>
        <p:spPr>
          <a:xfrm>
            <a:off x="686970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3972117"/>
            <a:ext cx="728899" cy="1121091"/>
          </a:xfrm>
          <a:prstGeom prst="rect">
            <a:avLst/>
          </a:prstGeom>
          <a:solidFill>
            <a:srgbClr val="13807B"/>
          </a:solidFill>
          <a:ln/>
        </p:spPr>
        <p:txBody>
          <a:bodyPr/>
          <a:lstStyle/>
          <a:p>
            <a:endParaRPr lang="es-PE"/>
          </a:p>
        </p:txBody>
      </p:sp>
      <p:sp>
        <p:nvSpPr>
          <p:cNvPr id="71" name="Text 68"/>
          <p:cNvSpPr txBox="1"/>
          <p:nvPr/>
        </p:nvSpPr>
        <p:spPr>
          <a:xfrm>
            <a:off x="7772339" y="378923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68%</a:t>
            </a:r>
            <a:endParaRPr lang="en-US" sz="750"/>
          </a:p>
        </p:txBody>
      </p:sp>
      <p:sp>
        <p:nvSpPr>
          <p:cNvPr id="72" name="Text 69"/>
          <p:cNvSpPr txBox="1"/>
          <p:nvPr/>
        </p:nvSpPr>
        <p:spPr>
          <a:xfrm>
            <a:off x="772661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4005090"/>
            <a:ext cx="728899" cy="1088118"/>
          </a:xfrm>
          <a:prstGeom prst="rect">
            <a:avLst/>
          </a:prstGeom>
          <a:solidFill>
            <a:srgbClr val="13807B"/>
          </a:solidFill>
          <a:ln/>
        </p:spPr>
        <p:txBody>
          <a:bodyPr/>
          <a:lstStyle/>
          <a:p>
            <a:endParaRPr lang="es-PE"/>
          </a:p>
        </p:txBody>
      </p:sp>
      <p:sp>
        <p:nvSpPr>
          <p:cNvPr id="74" name="Text 71"/>
          <p:cNvSpPr txBox="1"/>
          <p:nvPr/>
        </p:nvSpPr>
        <p:spPr>
          <a:xfrm>
            <a:off x="8629254" y="382221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66%</a:t>
            </a:r>
            <a:endParaRPr lang="en-US" sz="750"/>
          </a:p>
        </p:txBody>
      </p:sp>
      <p:sp>
        <p:nvSpPr>
          <p:cNvPr id="75" name="Text 72"/>
          <p:cNvSpPr txBox="1"/>
          <p:nvPr/>
        </p:nvSpPr>
        <p:spPr>
          <a:xfrm>
            <a:off x="858353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708331"/>
            <a:ext cx="728899" cy="1384877"/>
          </a:xfrm>
          <a:prstGeom prst="rect">
            <a:avLst/>
          </a:prstGeom>
          <a:solidFill>
            <a:srgbClr val="13807B"/>
          </a:solidFill>
          <a:ln/>
        </p:spPr>
        <p:txBody>
          <a:bodyPr/>
          <a:lstStyle/>
          <a:p>
            <a:endParaRPr lang="es-PE"/>
          </a:p>
        </p:txBody>
      </p:sp>
      <p:sp>
        <p:nvSpPr>
          <p:cNvPr id="77" name="Text 74"/>
          <p:cNvSpPr txBox="1"/>
          <p:nvPr/>
        </p:nvSpPr>
        <p:spPr>
          <a:xfrm>
            <a:off x="9486168" y="352545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84%</a:t>
            </a:r>
            <a:endParaRPr lang="en-US" sz="750"/>
          </a:p>
        </p:txBody>
      </p:sp>
      <p:sp>
        <p:nvSpPr>
          <p:cNvPr id="78" name="Text 75"/>
          <p:cNvSpPr txBox="1"/>
          <p:nvPr/>
        </p:nvSpPr>
        <p:spPr>
          <a:xfrm>
            <a:off x="944044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5093208"/>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Próximo Recurrente</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4,6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+3 pp</a:t>
            </a:r>
            <a:endParaRPr lang="en-US" sz="750"/>
          </a:p>
        </p:txBody>
      </p:sp>
      <p:sp>
        <p:nvSpPr>
          <p:cNvPr id="86" name="Shape 83"/>
          <p:cNvSpPr/>
          <p:nvPr/>
        </p:nvSpPr>
        <p:spPr>
          <a:xfrm>
            <a:off x="10763707"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flipV="1">
            <a:off x="11184331" y="2147602"/>
            <a:ext cx="1071143" cy="151984"/>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47602"/>
            <a:ext cx="1071143" cy="172249"/>
          </a:xfrm>
          <a:prstGeom prst="line">
            <a:avLst/>
          </a:prstGeom>
          <a:noFill/>
          <a:ln w="19050">
            <a:solidFill>
              <a:srgbClr val="0B2E2C"/>
            </a:solidFill>
            <a:prstDash val="solid"/>
          </a:ln>
        </p:spPr>
        <p:txBody>
          <a:bodyPr/>
          <a:lstStyle/>
          <a:p>
            <a:endParaRPr lang="es-PE"/>
          </a:p>
        </p:txBody>
      </p:sp>
      <p:sp>
        <p:nvSpPr>
          <p:cNvPr id="90" name="Shape 87"/>
          <p:cNvSpPr/>
          <p:nvPr/>
        </p:nvSpPr>
        <p:spPr>
          <a:xfrm>
            <a:off x="13326618" y="2319851"/>
            <a:ext cx="1071143" cy="202646"/>
          </a:xfrm>
          <a:prstGeom prst="line">
            <a:avLst/>
          </a:prstGeom>
          <a:noFill/>
          <a:ln w="19050">
            <a:solidFill>
              <a:srgbClr val="0B2E2C"/>
            </a:solidFill>
            <a:prstDash val="solid"/>
          </a:ln>
        </p:spPr>
        <p:txBody>
          <a:bodyPr/>
          <a:lstStyle/>
          <a:p>
            <a:endParaRPr lang="es-PE"/>
          </a:p>
        </p:txBody>
      </p:sp>
      <p:sp>
        <p:nvSpPr>
          <p:cNvPr id="91" name="Shape 88"/>
          <p:cNvSpPr/>
          <p:nvPr/>
        </p:nvSpPr>
        <p:spPr>
          <a:xfrm>
            <a:off x="14397761" y="2522497"/>
            <a:ext cx="1071143" cy="50661"/>
          </a:xfrm>
          <a:prstGeom prst="line">
            <a:avLst/>
          </a:prstGeom>
          <a:noFill/>
          <a:ln w="19050">
            <a:solidFill>
              <a:srgbClr val="0B2E2C"/>
            </a:solidFill>
            <a:prstDash val="solid"/>
          </a:ln>
        </p:spPr>
        <p:txBody>
          <a:bodyPr/>
          <a:lstStyle/>
          <a:p>
            <a:endParaRPr lang="es-PE"/>
          </a:p>
        </p:txBody>
      </p:sp>
      <p:sp>
        <p:nvSpPr>
          <p:cNvPr id="92" name="Shape 89"/>
          <p:cNvSpPr/>
          <p:nvPr/>
        </p:nvSpPr>
        <p:spPr>
          <a:xfrm>
            <a:off x="11184331" y="2694746"/>
            <a:ext cx="1071143" cy="70926"/>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765672"/>
            <a:ext cx="1071143" cy="70926"/>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836598"/>
            <a:ext cx="1071143" cy="172249"/>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897392"/>
            <a:ext cx="1071143" cy="111455"/>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20984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25,4</a:t>
            </a:r>
            <a:endParaRPr lang="en-US" sz="700"/>
          </a:p>
        </p:txBody>
      </p:sp>
      <p:sp>
        <p:nvSpPr>
          <p:cNvPr id="97" name="Text 94"/>
          <p:cNvSpPr txBox="1"/>
          <p:nvPr/>
        </p:nvSpPr>
        <p:spPr>
          <a:xfrm>
            <a:off x="15148865" y="2371991"/>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98" name="Text 95"/>
          <p:cNvSpPr txBox="1"/>
          <p:nvPr/>
        </p:nvSpPr>
        <p:spPr>
          <a:xfrm>
            <a:off x="10864291" y="2749610"/>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21,5</a:t>
            </a:r>
            <a:endParaRPr lang="en-US" sz="700"/>
          </a:p>
        </p:txBody>
      </p:sp>
      <p:sp>
        <p:nvSpPr>
          <p:cNvPr id="99" name="Text 96"/>
          <p:cNvSpPr txBox="1"/>
          <p:nvPr/>
        </p:nvSpPr>
        <p:spPr>
          <a:xfrm>
            <a:off x="15148865" y="29522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100" name="Text 97"/>
          <p:cNvSpPr txBox="1"/>
          <p:nvPr/>
        </p:nvSpPr>
        <p:spPr>
          <a:xfrm>
            <a:off x="10818571"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3576438"/>
            <a:ext cx="728899" cy="1516770"/>
          </a:xfrm>
          <a:prstGeom prst="rect">
            <a:avLst/>
          </a:prstGeom>
          <a:solidFill>
            <a:srgbClr val="13807B"/>
          </a:solidFill>
          <a:ln/>
        </p:spPr>
        <p:txBody>
          <a:bodyPr/>
          <a:lstStyle/>
          <a:p>
            <a:endParaRPr lang="es-PE"/>
          </a:p>
        </p:txBody>
      </p:sp>
      <p:sp>
        <p:nvSpPr>
          <p:cNvPr id="102" name="Text 99"/>
          <p:cNvSpPr txBox="1"/>
          <p:nvPr/>
        </p:nvSpPr>
        <p:spPr>
          <a:xfrm>
            <a:off x="11111179" y="339355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92%</a:t>
            </a:r>
            <a:endParaRPr lang="en-US" sz="750"/>
          </a:p>
        </p:txBody>
      </p:sp>
      <p:sp>
        <p:nvSpPr>
          <p:cNvPr id="103" name="Text 100"/>
          <p:cNvSpPr txBox="1"/>
          <p:nvPr/>
        </p:nvSpPr>
        <p:spPr>
          <a:xfrm>
            <a:off x="1106545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3609411"/>
            <a:ext cx="728899" cy="1483797"/>
          </a:xfrm>
          <a:prstGeom prst="rect">
            <a:avLst/>
          </a:prstGeom>
          <a:solidFill>
            <a:srgbClr val="13807B"/>
          </a:solidFill>
          <a:ln/>
        </p:spPr>
        <p:txBody>
          <a:bodyPr/>
          <a:lstStyle/>
          <a:p>
            <a:endParaRPr lang="es-PE"/>
          </a:p>
        </p:txBody>
      </p:sp>
      <p:sp>
        <p:nvSpPr>
          <p:cNvPr id="105" name="Text 102"/>
          <p:cNvSpPr txBox="1"/>
          <p:nvPr/>
        </p:nvSpPr>
        <p:spPr>
          <a:xfrm>
            <a:off x="11968094" y="342653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90%</a:t>
            </a:r>
            <a:endParaRPr lang="en-US" sz="750"/>
          </a:p>
        </p:txBody>
      </p:sp>
      <p:sp>
        <p:nvSpPr>
          <p:cNvPr id="106" name="Text 103"/>
          <p:cNvSpPr txBox="1"/>
          <p:nvPr/>
        </p:nvSpPr>
        <p:spPr>
          <a:xfrm>
            <a:off x="1192237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3856711"/>
            <a:ext cx="728899" cy="1236497"/>
          </a:xfrm>
          <a:prstGeom prst="rect">
            <a:avLst/>
          </a:prstGeom>
          <a:solidFill>
            <a:srgbClr val="13807B"/>
          </a:solidFill>
          <a:ln/>
        </p:spPr>
        <p:txBody>
          <a:bodyPr/>
          <a:lstStyle/>
          <a:p>
            <a:endParaRPr lang="es-PE"/>
          </a:p>
        </p:txBody>
      </p:sp>
      <p:sp>
        <p:nvSpPr>
          <p:cNvPr id="108" name="Text 105"/>
          <p:cNvSpPr txBox="1"/>
          <p:nvPr/>
        </p:nvSpPr>
        <p:spPr>
          <a:xfrm>
            <a:off x="12825009" y="367383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109" name="Text 106"/>
          <p:cNvSpPr txBox="1"/>
          <p:nvPr/>
        </p:nvSpPr>
        <p:spPr>
          <a:xfrm>
            <a:off x="1277928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3757791"/>
            <a:ext cx="728899" cy="1335417"/>
          </a:xfrm>
          <a:prstGeom prst="rect">
            <a:avLst/>
          </a:prstGeom>
          <a:solidFill>
            <a:srgbClr val="13807B"/>
          </a:solidFill>
          <a:ln/>
        </p:spPr>
        <p:txBody>
          <a:bodyPr/>
          <a:lstStyle/>
          <a:p>
            <a:endParaRPr lang="es-PE"/>
          </a:p>
        </p:txBody>
      </p:sp>
      <p:sp>
        <p:nvSpPr>
          <p:cNvPr id="111" name="Text 108"/>
          <p:cNvSpPr txBox="1"/>
          <p:nvPr/>
        </p:nvSpPr>
        <p:spPr>
          <a:xfrm>
            <a:off x="13681923" y="357491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81%</a:t>
            </a:r>
            <a:endParaRPr lang="en-US" sz="750"/>
          </a:p>
        </p:txBody>
      </p:sp>
      <p:sp>
        <p:nvSpPr>
          <p:cNvPr id="112" name="Text 109"/>
          <p:cNvSpPr txBox="1"/>
          <p:nvPr/>
        </p:nvSpPr>
        <p:spPr>
          <a:xfrm>
            <a:off x="13636203"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3526978"/>
            <a:ext cx="728899" cy="1566230"/>
          </a:xfrm>
          <a:prstGeom prst="rect">
            <a:avLst/>
          </a:prstGeom>
          <a:solidFill>
            <a:srgbClr val="13807B"/>
          </a:solidFill>
          <a:ln/>
        </p:spPr>
        <p:txBody>
          <a:bodyPr/>
          <a:lstStyle/>
          <a:p>
            <a:endParaRPr lang="es-PE"/>
          </a:p>
        </p:txBody>
      </p:sp>
      <p:sp>
        <p:nvSpPr>
          <p:cNvPr id="114" name="Text 111"/>
          <p:cNvSpPr txBox="1"/>
          <p:nvPr/>
        </p:nvSpPr>
        <p:spPr>
          <a:xfrm>
            <a:off x="14538838" y="33440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95%</a:t>
            </a:r>
            <a:endParaRPr lang="en-US" sz="750"/>
          </a:p>
        </p:txBody>
      </p:sp>
      <p:sp>
        <p:nvSpPr>
          <p:cNvPr id="115" name="Text 112"/>
          <p:cNvSpPr txBox="1"/>
          <p:nvPr/>
        </p:nvSpPr>
        <p:spPr>
          <a:xfrm>
            <a:off x="1449311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5093208"/>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5623560"/>
            <a:ext cx="201168" cy="128016"/>
          </a:xfrm>
          <a:prstGeom prst="rect">
            <a:avLst/>
          </a:prstGeom>
          <a:solidFill>
            <a:srgbClr val="13807B"/>
          </a:solidFill>
          <a:ln/>
        </p:spPr>
        <p:txBody>
          <a:bodyPr/>
          <a:lstStyle/>
          <a:p>
            <a:endParaRPr lang="es-PE"/>
          </a:p>
        </p:txBody>
      </p:sp>
      <p:sp>
        <p:nvSpPr>
          <p:cNvPr id="118" name="Text 115"/>
          <p:cNvSpPr txBox="1"/>
          <p:nvPr/>
        </p:nvSpPr>
        <p:spPr>
          <a:xfrm>
            <a:off x="896112" y="558698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119" name="Shape 116"/>
          <p:cNvSpPr/>
          <p:nvPr/>
        </p:nvSpPr>
        <p:spPr>
          <a:xfrm>
            <a:off x="2788920" y="5687568"/>
            <a:ext cx="320040" cy="0"/>
          </a:xfrm>
          <a:prstGeom prst="line">
            <a:avLst/>
          </a:prstGeom>
          <a:noFill/>
          <a:ln w="22225">
            <a:solidFill>
              <a:srgbClr val="0B2E2C"/>
            </a:solidFill>
            <a:prstDash val="solid"/>
          </a:ln>
        </p:spPr>
        <p:txBody>
          <a:bodyPr/>
          <a:lstStyle/>
          <a:p>
            <a:endParaRPr lang="es-PE"/>
          </a:p>
        </p:txBody>
      </p:sp>
      <p:sp>
        <p:nvSpPr>
          <p:cNvPr id="120" name="Text 117"/>
          <p:cNvSpPr txBox="1"/>
          <p:nvPr/>
        </p:nvSpPr>
        <p:spPr>
          <a:xfrm>
            <a:off x="3154680" y="558698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121" name="Shape 118"/>
          <p:cNvSpPr/>
          <p:nvPr/>
        </p:nvSpPr>
        <p:spPr>
          <a:xfrm>
            <a:off x="4434840" y="5687568"/>
            <a:ext cx="320040" cy="0"/>
          </a:xfrm>
          <a:prstGeom prst="line">
            <a:avLst/>
          </a:prstGeom>
          <a:noFill/>
          <a:ln w="22225">
            <a:solidFill>
              <a:srgbClr val="E67E22"/>
            </a:solidFill>
            <a:prstDash val="dash"/>
          </a:ln>
        </p:spPr>
        <p:txBody>
          <a:bodyPr/>
          <a:lstStyle/>
          <a:p>
            <a:endParaRPr lang="es-PE"/>
          </a:p>
        </p:txBody>
      </p:sp>
      <p:sp>
        <p:nvSpPr>
          <p:cNvPr id="122" name="Text 119"/>
          <p:cNvSpPr txBox="1"/>
          <p:nvPr/>
        </p:nvSpPr>
        <p:spPr>
          <a:xfrm>
            <a:off x="4800600" y="558698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123" name="Text 120"/>
          <p:cNvSpPr txBox="1"/>
          <p:nvPr/>
        </p:nvSpPr>
        <p:spPr>
          <a:xfrm>
            <a:off x="11430000" y="558698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124" name="Shape 121"/>
          <p:cNvSpPr/>
          <p:nvPr/>
        </p:nvSpPr>
        <p:spPr>
          <a:xfrm>
            <a:off x="658368" y="5897880"/>
            <a:ext cx="14938553" cy="2715768"/>
          </a:xfrm>
          <a:prstGeom prst="rect">
            <a:avLst/>
          </a:prstGeom>
          <a:solidFill>
            <a:srgbClr val="F6FBFA"/>
          </a:solidFill>
          <a:ln w="9525">
            <a:solidFill>
              <a:srgbClr val="D5DFDE"/>
            </a:solidFill>
            <a:prstDash val="solid"/>
          </a:ln>
        </p:spPr>
        <p:txBody>
          <a:bodyPr/>
          <a:lstStyle/>
          <a:p>
            <a:endParaRPr lang="es-PE"/>
          </a:p>
        </p:txBody>
      </p:sp>
      <p:sp>
        <p:nvSpPr>
          <p:cNvPr id="125" name="Shape 122"/>
          <p:cNvSpPr/>
          <p:nvPr/>
        </p:nvSpPr>
        <p:spPr>
          <a:xfrm>
            <a:off x="658368" y="5897880"/>
            <a:ext cx="54864" cy="2715768"/>
          </a:xfrm>
          <a:prstGeom prst="rect">
            <a:avLst/>
          </a:prstGeom>
          <a:solidFill>
            <a:srgbClr val="13807B"/>
          </a:solidFill>
          <a:ln/>
        </p:spPr>
        <p:txBody>
          <a:bodyPr/>
          <a:lstStyle/>
          <a:p>
            <a:endParaRPr lang="es-PE"/>
          </a:p>
        </p:txBody>
      </p:sp>
      <p:sp>
        <p:nvSpPr>
          <p:cNvPr id="126" name="Text 123"/>
          <p:cNvSpPr txBox="1"/>
          <p:nvPr/>
        </p:nvSpPr>
        <p:spPr>
          <a:xfrm>
            <a:off x="914400" y="600760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27" name="Text 124"/>
          <p:cNvSpPr txBox="1"/>
          <p:nvPr/>
        </p:nvSpPr>
        <p:spPr>
          <a:xfrm>
            <a:off x="914400"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128" name="Text 125"/>
          <p:cNvSpPr txBox="1"/>
          <p:nvPr/>
        </p:nvSpPr>
        <p:spPr>
          <a:xfrm>
            <a:off x="914400"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3 clusters mantienen share alto (66%-95%) con la TEA ofertada más alta de toda la cartera (22.6%-26.9% vs. ~20-23% en con deuda) — sin competencia visible, el cliente no está comparando precio.</a:t>
            </a:r>
            <a:endParaRPr lang="en-US" sz="950"/>
          </a:p>
        </p:txBody>
      </p:sp>
      <p:sp>
        <p:nvSpPr>
          <p:cNvPr id="129" name="Text 126"/>
          <p:cNvSpPr txBox="1"/>
          <p:nvPr/>
        </p:nvSpPr>
        <p:spPr>
          <a:xfrm>
            <a:off x="5900014"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130" name="Text 127"/>
          <p:cNvSpPr txBox="1"/>
          <p:nvPr/>
        </p:nvSpPr>
        <p:spPr>
          <a:xfrm>
            <a:off x="5900014"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Emprendedor Izipay y Próximo Recurrente son los candidatos más claros para testear un alza selectiva de tasa: son los más estables y ya sostienen el share con la TEA más alta sin señales de fuga.</a:t>
            </a:r>
            <a:endParaRPr lang="en-US" sz="950"/>
          </a:p>
        </p:txBody>
      </p:sp>
      <p:sp>
        <p:nvSpPr>
          <p:cNvPr id="131" name="Text 128"/>
          <p:cNvSpPr txBox="1"/>
          <p:nvPr/>
        </p:nvSpPr>
        <p:spPr>
          <a:xfrm>
            <a:off x="10885627" y="628192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132" name="Text 129"/>
          <p:cNvSpPr txBox="1"/>
          <p:nvPr/>
        </p:nvSpPr>
        <p:spPr>
          <a:xfrm>
            <a:off x="10885627"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Nuevo en Expansión es el más volátil (-22pp en un solo trimestre) — antes de subir tasa ahí, entender esa caída puntual; podría ser menos cautivo de lo que parece en el agregado.</a:t>
            </a:r>
            <a:endParaRPr lang="en-US" sz="9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SIN DEUDA · MONTO (S/)</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En monto, los 3 clusters sin deuda no solo se sostienen: Próximo Recurrente crece +11pp</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Emprendedor Izipay</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+1 pp</a:t>
            </a:r>
            <a:endParaRPr lang="en-US" sz="750"/>
          </a:p>
        </p:txBody>
      </p:sp>
      <p:sp>
        <p:nvSpPr>
          <p:cNvPr id="12" name="Shape 9"/>
          <p:cNvSpPr/>
          <p:nvPr/>
        </p:nvSpPr>
        <p:spPr>
          <a:xfrm>
            <a:off x="65836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flipV="1">
            <a:off x="1078992" y="2159855"/>
            <a:ext cx="1071143" cy="104975"/>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59855"/>
            <a:ext cx="1071143" cy="233278"/>
          </a:xfrm>
          <a:prstGeom prst="line">
            <a:avLst/>
          </a:prstGeom>
          <a:noFill/>
          <a:ln w="19050">
            <a:solidFill>
              <a:srgbClr val="0B2E2C"/>
            </a:solidFill>
            <a:prstDash val="solid"/>
          </a:ln>
        </p:spPr>
        <p:txBody>
          <a:bodyPr/>
          <a:lstStyle/>
          <a:p>
            <a:endParaRPr lang="es-PE"/>
          </a:p>
        </p:txBody>
      </p:sp>
      <p:sp>
        <p:nvSpPr>
          <p:cNvPr id="16" name="Shape 13"/>
          <p:cNvSpPr/>
          <p:nvPr/>
        </p:nvSpPr>
        <p:spPr>
          <a:xfrm>
            <a:off x="3221279" y="2393134"/>
            <a:ext cx="1071143" cy="291598"/>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614748"/>
            <a:ext cx="1071143" cy="69983"/>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358142"/>
            <a:ext cx="1071143" cy="233278"/>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358142"/>
            <a:ext cx="1071143" cy="338254"/>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696395"/>
            <a:ext cx="1071143" cy="303262"/>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918010"/>
            <a:ext cx="1071143" cy="81647"/>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206366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25,7</a:t>
            </a:r>
            <a:endParaRPr lang="en-US" sz="700"/>
          </a:p>
        </p:txBody>
      </p:sp>
      <p:sp>
        <p:nvSpPr>
          <p:cNvPr id="23" name="Text 20"/>
          <p:cNvSpPr txBox="1"/>
          <p:nvPr/>
        </p:nvSpPr>
        <p:spPr>
          <a:xfrm>
            <a:off x="5043526" y="2413580"/>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24" name="Text 21"/>
          <p:cNvSpPr txBox="1"/>
          <p:nvPr/>
        </p:nvSpPr>
        <p:spPr>
          <a:xfrm>
            <a:off x="758952" y="264628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22,9</a:t>
            </a:r>
            <a:endParaRPr lang="en-US" sz="700"/>
          </a:p>
        </p:txBody>
      </p:sp>
      <p:sp>
        <p:nvSpPr>
          <p:cNvPr id="25" name="Text 22"/>
          <p:cNvSpPr txBox="1"/>
          <p:nvPr/>
        </p:nvSpPr>
        <p:spPr>
          <a:xfrm>
            <a:off x="5043526" y="297287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20,1</a:t>
            </a:r>
            <a:endParaRPr lang="en-US" sz="700"/>
          </a:p>
        </p:txBody>
      </p:sp>
      <p:sp>
        <p:nvSpPr>
          <p:cNvPr id="26" name="Text 23"/>
          <p:cNvSpPr txBox="1"/>
          <p:nvPr/>
        </p:nvSpPr>
        <p:spPr>
          <a:xfrm>
            <a:off x="71323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3625898"/>
            <a:ext cx="728899" cy="1467310"/>
          </a:xfrm>
          <a:prstGeom prst="rect">
            <a:avLst/>
          </a:prstGeom>
          <a:solidFill>
            <a:srgbClr val="13807B"/>
          </a:solidFill>
          <a:ln/>
        </p:spPr>
        <p:txBody>
          <a:bodyPr/>
          <a:lstStyle/>
          <a:p>
            <a:endParaRPr lang="es-PE"/>
          </a:p>
        </p:txBody>
      </p:sp>
      <p:sp>
        <p:nvSpPr>
          <p:cNvPr id="28" name="Text 25"/>
          <p:cNvSpPr txBox="1"/>
          <p:nvPr/>
        </p:nvSpPr>
        <p:spPr>
          <a:xfrm>
            <a:off x="1005840" y="344301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29" name="Text 26"/>
          <p:cNvSpPr txBox="1"/>
          <p:nvPr/>
        </p:nvSpPr>
        <p:spPr>
          <a:xfrm>
            <a:off x="96012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3642384"/>
            <a:ext cx="728899" cy="1450824"/>
          </a:xfrm>
          <a:prstGeom prst="rect">
            <a:avLst/>
          </a:prstGeom>
          <a:solidFill>
            <a:srgbClr val="13807B"/>
          </a:solidFill>
          <a:ln/>
        </p:spPr>
        <p:txBody>
          <a:bodyPr/>
          <a:lstStyle/>
          <a:p>
            <a:endParaRPr lang="es-PE"/>
          </a:p>
        </p:txBody>
      </p:sp>
      <p:sp>
        <p:nvSpPr>
          <p:cNvPr id="31" name="Text 28"/>
          <p:cNvSpPr txBox="1"/>
          <p:nvPr/>
        </p:nvSpPr>
        <p:spPr>
          <a:xfrm>
            <a:off x="1862755" y="345950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88%</a:t>
            </a:r>
            <a:endParaRPr lang="en-US" sz="750"/>
          </a:p>
        </p:txBody>
      </p:sp>
      <p:sp>
        <p:nvSpPr>
          <p:cNvPr id="32" name="Text 29"/>
          <p:cNvSpPr txBox="1"/>
          <p:nvPr/>
        </p:nvSpPr>
        <p:spPr>
          <a:xfrm>
            <a:off x="1817035"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3708331"/>
            <a:ext cx="728899" cy="1384877"/>
          </a:xfrm>
          <a:prstGeom prst="rect">
            <a:avLst/>
          </a:prstGeom>
          <a:solidFill>
            <a:srgbClr val="13807B"/>
          </a:solidFill>
          <a:ln/>
        </p:spPr>
        <p:txBody>
          <a:bodyPr/>
          <a:lstStyle/>
          <a:p>
            <a:endParaRPr lang="es-PE"/>
          </a:p>
        </p:txBody>
      </p:sp>
      <p:sp>
        <p:nvSpPr>
          <p:cNvPr id="34" name="Text 31"/>
          <p:cNvSpPr txBox="1"/>
          <p:nvPr/>
        </p:nvSpPr>
        <p:spPr>
          <a:xfrm>
            <a:off x="2719669" y="352545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84%</a:t>
            </a:r>
            <a:endParaRPr lang="en-US" sz="750"/>
          </a:p>
        </p:txBody>
      </p:sp>
      <p:sp>
        <p:nvSpPr>
          <p:cNvPr id="35" name="Text 32"/>
          <p:cNvSpPr txBox="1"/>
          <p:nvPr/>
        </p:nvSpPr>
        <p:spPr>
          <a:xfrm>
            <a:off x="267394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3807251"/>
            <a:ext cx="728899" cy="1285957"/>
          </a:xfrm>
          <a:prstGeom prst="rect">
            <a:avLst/>
          </a:prstGeom>
          <a:solidFill>
            <a:srgbClr val="13807B"/>
          </a:solidFill>
          <a:ln/>
        </p:spPr>
        <p:txBody>
          <a:bodyPr/>
          <a:lstStyle/>
          <a:p>
            <a:endParaRPr lang="es-PE"/>
          </a:p>
        </p:txBody>
      </p:sp>
      <p:sp>
        <p:nvSpPr>
          <p:cNvPr id="37" name="Text 34"/>
          <p:cNvSpPr txBox="1"/>
          <p:nvPr/>
        </p:nvSpPr>
        <p:spPr>
          <a:xfrm>
            <a:off x="3576584" y="362437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78%</a:t>
            </a:r>
            <a:endParaRPr lang="en-US" sz="750"/>
          </a:p>
        </p:txBody>
      </p:sp>
      <p:sp>
        <p:nvSpPr>
          <p:cNvPr id="38" name="Text 35"/>
          <p:cNvSpPr txBox="1"/>
          <p:nvPr/>
        </p:nvSpPr>
        <p:spPr>
          <a:xfrm>
            <a:off x="353086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3609411"/>
            <a:ext cx="728899" cy="1483797"/>
          </a:xfrm>
          <a:prstGeom prst="rect">
            <a:avLst/>
          </a:prstGeom>
          <a:solidFill>
            <a:srgbClr val="13807B"/>
          </a:solidFill>
          <a:ln/>
        </p:spPr>
        <p:txBody>
          <a:bodyPr/>
          <a:lstStyle/>
          <a:p>
            <a:endParaRPr lang="es-PE"/>
          </a:p>
        </p:txBody>
      </p:sp>
      <p:sp>
        <p:nvSpPr>
          <p:cNvPr id="40" name="Text 37"/>
          <p:cNvSpPr txBox="1"/>
          <p:nvPr/>
        </p:nvSpPr>
        <p:spPr>
          <a:xfrm>
            <a:off x="4433499" y="342653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90%</a:t>
            </a:r>
            <a:endParaRPr lang="en-US" sz="750"/>
          </a:p>
        </p:txBody>
      </p:sp>
      <p:sp>
        <p:nvSpPr>
          <p:cNvPr id="41" name="Text 38"/>
          <p:cNvSpPr txBox="1"/>
          <p:nvPr/>
        </p:nvSpPr>
        <p:spPr>
          <a:xfrm>
            <a:off x="438777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5093208"/>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Nuevo en Expansión</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3,4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+1 pp</a:t>
            </a:r>
            <a:endParaRPr lang="en-US" sz="750"/>
          </a:p>
        </p:txBody>
      </p:sp>
      <p:sp>
        <p:nvSpPr>
          <p:cNvPr id="49" name="Shape 46"/>
          <p:cNvSpPr/>
          <p:nvPr/>
        </p:nvSpPr>
        <p:spPr>
          <a:xfrm>
            <a:off x="571103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flipV="1">
            <a:off x="6131662" y="2162077"/>
            <a:ext cx="1071143" cy="107475"/>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2077"/>
            <a:ext cx="1071143" cy="298541"/>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460618"/>
            <a:ext cx="1071143" cy="155241"/>
          </a:xfrm>
          <a:prstGeom prst="line">
            <a:avLst/>
          </a:prstGeom>
          <a:noFill/>
          <a:ln w="19050">
            <a:solidFill>
              <a:srgbClr val="0B2E2C"/>
            </a:solidFill>
            <a:prstDash val="solid"/>
          </a:ln>
        </p:spPr>
        <p:txBody>
          <a:bodyPr/>
          <a:lstStyle/>
          <a:p>
            <a:endParaRPr lang="es-PE"/>
          </a:p>
        </p:txBody>
      </p:sp>
      <p:sp>
        <p:nvSpPr>
          <p:cNvPr id="54" name="Shape 51"/>
          <p:cNvSpPr/>
          <p:nvPr/>
        </p:nvSpPr>
        <p:spPr>
          <a:xfrm>
            <a:off x="9345092" y="2615859"/>
            <a:ext cx="1071143" cy="11942"/>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603917"/>
            <a:ext cx="1071143" cy="23883"/>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603917"/>
            <a:ext cx="1071143" cy="370190"/>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974108"/>
            <a:ext cx="1071143" cy="0"/>
          </a:xfrm>
          <a:prstGeom prst="line">
            <a:avLst/>
          </a:prstGeom>
          <a:noFill/>
          <a:ln w="19050">
            <a:solidFill>
              <a:srgbClr val="E67E22"/>
            </a:solidFill>
            <a:prstDash val="dash"/>
          </a:ln>
        </p:spPr>
        <p:txBody>
          <a:bodyPr/>
          <a:lstStyle/>
          <a:p>
            <a:endParaRPr lang="es-PE"/>
          </a:p>
        </p:txBody>
      </p:sp>
      <p:sp>
        <p:nvSpPr>
          <p:cNvPr id="58" name="Shape 55"/>
          <p:cNvSpPr/>
          <p:nvPr/>
        </p:nvSpPr>
        <p:spPr>
          <a:xfrm>
            <a:off x="9345092" y="2974108"/>
            <a:ext cx="1071143" cy="23883"/>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20683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25,6</a:t>
            </a:r>
            <a:endParaRPr lang="en-US" sz="700"/>
          </a:p>
        </p:txBody>
      </p:sp>
      <p:sp>
        <p:nvSpPr>
          <p:cNvPr id="60" name="Text 57"/>
          <p:cNvSpPr txBox="1"/>
          <p:nvPr/>
        </p:nvSpPr>
        <p:spPr>
          <a:xfrm>
            <a:off x="10096195" y="242663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22,6</a:t>
            </a:r>
            <a:endParaRPr lang="en-US" sz="700"/>
          </a:p>
        </p:txBody>
      </p:sp>
      <p:sp>
        <p:nvSpPr>
          <p:cNvPr id="61" name="Text 58"/>
          <p:cNvSpPr txBox="1"/>
          <p:nvPr/>
        </p:nvSpPr>
        <p:spPr>
          <a:xfrm>
            <a:off x="5811622" y="268266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22,6</a:t>
            </a:r>
            <a:endParaRPr lang="en-US" sz="700"/>
          </a:p>
        </p:txBody>
      </p:sp>
      <p:sp>
        <p:nvSpPr>
          <p:cNvPr id="62" name="Text 59"/>
          <p:cNvSpPr txBox="1"/>
          <p:nvPr/>
        </p:nvSpPr>
        <p:spPr>
          <a:xfrm>
            <a:off x="10096195" y="305285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63" name="Text 60"/>
          <p:cNvSpPr txBox="1"/>
          <p:nvPr/>
        </p:nvSpPr>
        <p:spPr>
          <a:xfrm>
            <a:off x="576590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3774277"/>
            <a:ext cx="728899" cy="1318931"/>
          </a:xfrm>
          <a:prstGeom prst="rect">
            <a:avLst/>
          </a:prstGeom>
          <a:solidFill>
            <a:srgbClr val="13807B"/>
          </a:solidFill>
          <a:ln/>
        </p:spPr>
        <p:txBody>
          <a:bodyPr/>
          <a:lstStyle/>
          <a:p>
            <a:endParaRPr lang="es-PE"/>
          </a:p>
        </p:txBody>
      </p:sp>
      <p:sp>
        <p:nvSpPr>
          <p:cNvPr id="65" name="Text 62"/>
          <p:cNvSpPr txBox="1"/>
          <p:nvPr/>
        </p:nvSpPr>
        <p:spPr>
          <a:xfrm>
            <a:off x="6058510" y="359139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80%</a:t>
            </a:r>
            <a:endParaRPr lang="en-US" sz="750"/>
          </a:p>
        </p:txBody>
      </p:sp>
      <p:sp>
        <p:nvSpPr>
          <p:cNvPr id="66" name="Text 63"/>
          <p:cNvSpPr txBox="1"/>
          <p:nvPr/>
        </p:nvSpPr>
        <p:spPr>
          <a:xfrm>
            <a:off x="601279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4202930"/>
            <a:ext cx="728899" cy="890278"/>
          </a:xfrm>
          <a:prstGeom prst="rect">
            <a:avLst/>
          </a:prstGeom>
          <a:solidFill>
            <a:srgbClr val="13807B"/>
          </a:solidFill>
          <a:ln/>
        </p:spPr>
        <p:txBody>
          <a:bodyPr/>
          <a:lstStyle/>
          <a:p>
            <a:endParaRPr lang="es-PE"/>
          </a:p>
        </p:txBody>
      </p:sp>
      <p:sp>
        <p:nvSpPr>
          <p:cNvPr id="68" name="Text 65"/>
          <p:cNvSpPr txBox="1"/>
          <p:nvPr/>
        </p:nvSpPr>
        <p:spPr>
          <a:xfrm>
            <a:off x="6915424" y="402005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54%</a:t>
            </a:r>
            <a:endParaRPr lang="en-US" sz="750"/>
          </a:p>
        </p:txBody>
      </p:sp>
      <p:sp>
        <p:nvSpPr>
          <p:cNvPr id="69" name="Text 66"/>
          <p:cNvSpPr txBox="1"/>
          <p:nvPr/>
        </p:nvSpPr>
        <p:spPr>
          <a:xfrm>
            <a:off x="686970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4268876"/>
            <a:ext cx="728899" cy="824332"/>
          </a:xfrm>
          <a:prstGeom prst="rect">
            <a:avLst/>
          </a:prstGeom>
          <a:solidFill>
            <a:srgbClr val="13807B"/>
          </a:solidFill>
          <a:ln/>
        </p:spPr>
        <p:txBody>
          <a:bodyPr/>
          <a:lstStyle/>
          <a:p>
            <a:endParaRPr lang="es-PE"/>
          </a:p>
        </p:txBody>
      </p:sp>
      <p:sp>
        <p:nvSpPr>
          <p:cNvPr id="71" name="Text 68"/>
          <p:cNvSpPr txBox="1"/>
          <p:nvPr/>
        </p:nvSpPr>
        <p:spPr>
          <a:xfrm>
            <a:off x="7772339" y="408599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50%</a:t>
            </a:r>
            <a:endParaRPr lang="en-US" sz="750"/>
          </a:p>
        </p:txBody>
      </p:sp>
      <p:sp>
        <p:nvSpPr>
          <p:cNvPr id="72" name="Text 69"/>
          <p:cNvSpPr txBox="1"/>
          <p:nvPr/>
        </p:nvSpPr>
        <p:spPr>
          <a:xfrm>
            <a:off x="772661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4186443"/>
            <a:ext cx="728899" cy="906765"/>
          </a:xfrm>
          <a:prstGeom prst="rect">
            <a:avLst/>
          </a:prstGeom>
          <a:solidFill>
            <a:srgbClr val="13807B"/>
          </a:solidFill>
          <a:ln/>
        </p:spPr>
        <p:txBody>
          <a:bodyPr/>
          <a:lstStyle/>
          <a:p>
            <a:endParaRPr lang="es-PE"/>
          </a:p>
        </p:txBody>
      </p:sp>
      <p:sp>
        <p:nvSpPr>
          <p:cNvPr id="74" name="Text 71"/>
          <p:cNvSpPr txBox="1"/>
          <p:nvPr/>
        </p:nvSpPr>
        <p:spPr>
          <a:xfrm>
            <a:off x="8629254" y="400356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55%</a:t>
            </a:r>
            <a:endParaRPr lang="en-US" sz="750"/>
          </a:p>
        </p:txBody>
      </p:sp>
      <p:sp>
        <p:nvSpPr>
          <p:cNvPr id="75" name="Text 72"/>
          <p:cNvSpPr txBox="1"/>
          <p:nvPr/>
        </p:nvSpPr>
        <p:spPr>
          <a:xfrm>
            <a:off x="858353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757791"/>
            <a:ext cx="728899" cy="1335417"/>
          </a:xfrm>
          <a:prstGeom prst="rect">
            <a:avLst/>
          </a:prstGeom>
          <a:solidFill>
            <a:srgbClr val="13807B"/>
          </a:solidFill>
          <a:ln/>
        </p:spPr>
        <p:txBody>
          <a:bodyPr/>
          <a:lstStyle/>
          <a:p>
            <a:endParaRPr lang="es-PE"/>
          </a:p>
        </p:txBody>
      </p:sp>
      <p:sp>
        <p:nvSpPr>
          <p:cNvPr id="77" name="Text 74"/>
          <p:cNvSpPr txBox="1"/>
          <p:nvPr/>
        </p:nvSpPr>
        <p:spPr>
          <a:xfrm>
            <a:off x="9486168" y="357491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81%</a:t>
            </a:r>
            <a:endParaRPr lang="en-US" sz="750"/>
          </a:p>
        </p:txBody>
      </p:sp>
      <p:sp>
        <p:nvSpPr>
          <p:cNvPr id="78" name="Text 75"/>
          <p:cNvSpPr txBox="1"/>
          <p:nvPr/>
        </p:nvSpPr>
        <p:spPr>
          <a:xfrm>
            <a:off x="944044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5093208"/>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Próximo Recurrente</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4,6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+11 pp</a:t>
            </a:r>
            <a:endParaRPr lang="en-US" sz="750"/>
          </a:p>
        </p:txBody>
      </p:sp>
      <p:sp>
        <p:nvSpPr>
          <p:cNvPr id="86" name="Shape 83"/>
          <p:cNvSpPr/>
          <p:nvPr/>
        </p:nvSpPr>
        <p:spPr>
          <a:xfrm>
            <a:off x="10763707"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flipV="1">
            <a:off x="11184331" y="2147602"/>
            <a:ext cx="1071143" cy="151984"/>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47602"/>
            <a:ext cx="1071143" cy="172249"/>
          </a:xfrm>
          <a:prstGeom prst="line">
            <a:avLst/>
          </a:prstGeom>
          <a:noFill/>
          <a:ln w="19050">
            <a:solidFill>
              <a:srgbClr val="0B2E2C"/>
            </a:solidFill>
            <a:prstDash val="solid"/>
          </a:ln>
        </p:spPr>
        <p:txBody>
          <a:bodyPr/>
          <a:lstStyle/>
          <a:p>
            <a:endParaRPr lang="es-PE"/>
          </a:p>
        </p:txBody>
      </p:sp>
      <p:sp>
        <p:nvSpPr>
          <p:cNvPr id="90" name="Shape 87"/>
          <p:cNvSpPr/>
          <p:nvPr/>
        </p:nvSpPr>
        <p:spPr>
          <a:xfrm>
            <a:off x="13326618" y="2319851"/>
            <a:ext cx="1071143" cy="202646"/>
          </a:xfrm>
          <a:prstGeom prst="line">
            <a:avLst/>
          </a:prstGeom>
          <a:noFill/>
          <a:ln w="19050">
            <a:solidFill>
              <a:srgbClr val="0B2E2C"/>
            </a:solidFill>
            <a:prstDash val="solid"/>
          </a:ln>
        </p:spPr>
        <p:txBody>
          <a:bodyPr/>
          <a:lstStyle/>
          <a:p>
            <a:endParaRPr lang="es-PE"/>
          </a:p>
        </p:txBody>
      </p:sp>
      <p:sp>
        <p:nvSpPr>
          <p:cNvPr id="91" name="Shape 88"/>
          <p:cNvSpPr/>
          <p:nvPr/>
        </p:nvSpPr>
        <p:spPr>
          <a:xfrm>
            <a:off x="14397761" y="2522497"/>
            <a:ext cx="1071143" cy="50661"/>
          </a:xfrm>
          <a:prstGeom prst="line">
            <a:avLst/>
          </a:prstGeom>
          <a:noFill/>
          <a:ln w="19050">
            <a:solidFill>
              <a:srgbClr val="0B2E2C"/>
            </a:solidFill>
            <a:prstDash val="solid"/>
          </a:ln>
        </p:spPr>
        <p:txBody>
          <a:bodyPr/>
          <a:lstStyle/>
          <a:p>
            <a:endParaRPr lang="es-PE"/>
          </a:p>
        </p:txBody>
      </p:sp>
      <p:sp>
        <p:nvSpPr>
          <p:cNvPr id="92" name="Shape 89"/>
          <p:cNvSpPr/>
          <p:nvPr/>
        </p:nvSpPr>
        <p:spPr>
          <a:xfrm>
            <a:off x="11184331" y="2694746"/>
            <a:ext cx="1071143" cy="70926"/>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765672"/>
            <a:ext cx="1071143" cy="70926"/>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836598"/>
            <a:ext cx="1071143" cy="172249"/>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897392"/>
            <a:ext cx="1071143" cy="111455"/>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20984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25,4</a:t>
            </a:r>
            <a:endParaRPr lang="en-US" sz="700"/>
          </a:p>
        </p:txBody>
      </p:sp>
      <p:sp>
        <p:nvSpPr>
          <p:cNvPr id="97" name="Text 94"/>
          <p:cNvSpPr txBox="1"/>
          <p:nvPr/>
        </p:nvSpPr>
        <p:spPr>
          <a:xfrm>
            <a:off x="15148865" y="2371991"/>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98" name="Text 95"/>
          <p:cNvSpPr txBox="1"/>
          <p:nvPr/>
        </p:nvSpPr>
        <p:spPr>
          <a:xfrm>
            <a:off x="10864291" y="2749610"/>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21,5</a:t>
            </a:r>
            <a:endParaRPr lang="en-US" sz="700"/>
          </a:p>
        </p:txBody>
      </p:sp>
      <p:sp>
        <p:nvSpPr>
          <p:cNvPr id="99" name="Text 96"/>
          <p:cNvSpPr txBox="1"/>
          <p:nvPr/>
        </p:nvSpPr>
        <p:spPr>
          <a:xfrm>
            <a:off x="15148865" y="29522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100" name="Text 97"/>
          <p:cNvSpPr txBox="1"/>
          <p:nvPr/>
        </p:nvSpPr>
        <p:spPr>
          <a:xfrm>
            <a:off x="10818571"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3691844"/>
            <a:ext cx="728899" cy="1401364"/>
          </a:xfrm>
          <a:prstGeom prst="rect">
            <a:avLst/>
          </a:prstGeom>
          <a:solidFill>
            <a:srgbClr val="13807B"/>
          </a:solidFill>
          <a:ln/>
        </p:spPr>
        <p:txBody>
          <a:bodyPr/>
          <a:lstStyle/>
          <a:p>
            <a:endParaRPr lang="es-PE"/>
          </a:p>
        </p:txBody>
      </p:sp>
      <p:sp>
        <p:nvSpPr>
          <p:cNvPr id="102" name="Text 99"/>
          <p:cNvSpPr txBox="1"/>
          <p:nvPr/>
        </p:nvSpPr>
        <p:spPr>
          <a:xfrm>
            <a:off x="11111179" y="350896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85%</a:t>
            </a:r>
            <a:endParaRPr lang="en-US" sz="750"/>
          </a:p>
        </p:txBody>
      </p:sp>
      <p:sp>
        <p:nvSpPr>
          <p:cNvPr id="103" name="Text 100"/>
          <p:cNvSpPr txBox="1"/>
          <p:nvPr/>
        </p:nvSpPr>
        <p:spPr>
          <a:xfrm>
            <a:off x="1106545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3741304"/>
            <a:ext cx="728899" cy="1351904"/>
          </a:xfrm>
          <a:prstGeom prst="rect">
            <a:avLst/>
          </a:prstGeom>
          <a:solidFill>
            <a:srgbClr val="13807B"/>
          </a:solidFill>
          <a:ln/>
        </p:spPr>
        <p:txBody>
          <a:bodyPr/>
          <a:lstStyle/>
          <a:p>
            <a:endParaRPr lang="es-PE"/>
          </a:p>
        </p:txBody>
      </p:sp>
      <p:sp>
        <p:nvSpPr>
          <p:cNvPr id="105" name="Text 102"/>
          <p:cNvSpPr txBox="1"/>
          <p:nvPr/>
        </p:nvSpPr>
        <p:spPr>
          <a:xfrm>
            <a:off x="11968094" y="355842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82%</a:t>
            </a:r>
            <a:endParaRPr lang="en-US" sz="750"/>
          </a:p>
        </p:txBody>
      </p:sp>
      <p:sp>
        <p:nvSpPr>
          <p:cNvPr id="106" name="Text 103"/>
          <p:cNvSpPr txBox="1"/>
          <p:nvPr/>
        </p:nvSpPr>
        <p:spPr>
          <a:xfrm>
            <a:off x="1192237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4038064"/>
            <a:ext cx="728899" cy="1055144"/>
          </a:xfrm>
          <a:prstGeom prst="rect">
            <a:avLst/>
          </a:prstGeom>
          <a:solidFill>
            <a:srgbClr val="13807B"/>
          </a:solidFill>
          <a:ln/>
        </p:spPr>
        <p:txBody>
          <a:bodyPr/>
          <a:lstStyle/>
          <a:p>
            <a:endParaRPr lang="es-PE"/>
          </a:p>
        </p:txBody>
      </p:sp>
      <p:sp>
        <p:nvSpPr>
          <p:cNvPr id="108" name="Text 105"/>
          <p:cNvSpPr txBox="1"/>
          <p:nvPr/>
        </p:nvSpPr>
        <p:spPr>
          <a:xfrm>
            <a:off x="12825009" y="385518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64%</a:t>
            </a:r>
            <a:endParaRPr lang="en-US" sz="750"/>
          </a:p>
        </p:txBody>
      </p:sp>
      <p:sp>
        <p:nvSpPr>
          <p:cNvPr id="109" name="Text 106"/>
          <p:cNvSpPr txBox="1"/>
          <p:nvPr/>
        </p:nvSpPr>
        <p:spPr>
          <a:xfrm>
            <a:off x="1277928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3856711"/>
            <a:ext cx="728899" cy="1236497"/>
          </a:xfrm>
          <a:prstGeom prst="rect">
            <a:avLst/>
          </a:prstGeom>
          <a:solidFill>
            <a:srgbClr val="13807B"/>
          </a:solidFill>
          <a:ln/>
        </p:spPr>
        <p:txBody>
          <a:bodyPr/>
          <a:lstStyle/>
          <a:p>
            <a:endParaRPr lang="es-PE"/>
          </a:p>
        </p:txBody>
      </p:sp>
      <p:sp>
        <p:nvSpPr>
          <p:cNvPr id="111" name="Text 108"/>
          <p:cNvSpPr txBox="1"/>
          <p:nvPr/>
        </p:nvSpPr>
        <p:spPr>
          <a:xfrm>
            <a:off x="13681923" y="367383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112" name="Text 109"/>
          <p:cNvSpPr txBox="1"/>
          <p:nvPr/>
        </p:nvSpPr>
        <p:spPr>
          <a:xfrm>
            <a:off x="13636203"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3510491"/>
            <a:ext cx="728899" cy="1582717"/>
          </a:xfrm>
          <a:prstGeom prst="rect">
            <a:avLst/>
          </a:prstGeom>
          <a:solidFill>
            <a:srgbClr val="13807B"/>
          </a:solidFill>
          <a:ln/>
        </p:spPr>
        <p:txBody>
          <a:bodyPr/>
          <a:lstStyle/>
          <a:p>
            <a:endParaRPr lang="es-PE"/>
          </a:p>
        </p:txBody>
      </p:sp>
      <p:sp>
        <p:nvSpPr>
          <p:cNvPr id="114" name="Text 111"/>
          <p:cNvSpPr txBox="1"/>
          <p:nvPr/>
        </p:nvSpPr>
        <p:spPr>
          <a:xfrm>
            <a:off x="14538838" y="332761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96%</a:t>
            </a:r>
            <a:endParaRPr lang="en-US" sz="750"/>
          </a:p>
        </p:txBody>
      </p:sp>
      <p:sp>
        <p:nvSpPr>
          <p:cNvPr id="115" name="Text 112"/>
          <p:cNvSpPr txBox="1"/>
          <p:nvPr/>
        </p:nvSpPr>
        <p:spPr>
          <a:xfrm>
            <a:off x="1449311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5093208"/>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5623560"/>
            <a:ext cx="201168" cy="128016"/>
          </a:xfrm>
          <a:prstGeom prst="rect">
            <a:avLst/>
          </a:prstGeom>
          <a:solidFill>
            <a:srgbClr val="13807B"/>
          </a:solidFill>
          <a:ln/>
        </p:spPr>
        <p:txBody>
          <a:bodyPr/>
          <a:lstStyle/>
          <a:p>
            <a:endParaRPr lang="es-PE"/>
          </a:p>
        </p:txBody>
      </p:sp>
      <p:sp>
        <p:nvSpPr>
          <p:cNvPr id="118" name="Text 115"/>
          <p:cNvSpPr txBox="1"/>
          <p:nvPr/>
        </p:nvSpPr>
        <p:spPr>
          <a:xfrm>
            <a:off x="896112" y="558698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119" name="Shape 116"/>
          <p:cNvSpPr/>
          <p:nvPr/>
        </p:nvSpPr>
        <p:spPr>
          <a:xfrm>
            <a:off x="2788920" y="5687568"/>
            <a:ext cx="320040" cy="0"/>
          </a:xfrm>
          <a:prstGeom prst="line">
            <a:avLst/>
          </a:prstGeom>
          <a:noFill/>
          <a:ln w="22225">
            <a:solidFill>
              <a:srgbClr val="0B2E2C"/>
            </a:solidFill>
            <a:prstDash val="solid"/>
          </a:ln>
        </p:spPr>
        <p:txBody>
          <a:bodyPr/>
          <a:lstStyle/>
          <a:p>
            <a:endParaRPr lang="es-PE"/>
          </a:p>
        </p:txBody>
      </p:sp>
      <p:sp>
        <p:nvSpPr>
          <p:cNvPr id="120" name="Text 117"/>
          <p:cNvSpPr txBox="1"/>
          <p:nvPr/>
        </p:nvSpPr>
        <p:spPr>
          <a:xfrm>
            <a:off x="3154680" y="558698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121" name="Shape 118"/>
          <p:cNvSpPr/>
          <p:nvPr/>
        </p:nvSpPr>
        <p:spPr>
          <a:xfrm>
            <a:off x="4434840" y="5687568"/>
            <a:ext cx="320040" cy="0"/>
          </a:xfrm>
          <a:prstGeom prst="line">
            <a:avLst/>
          </a:prstGeom>
          <a:noFill/>
          <a:ln w="22225">
            <a:solidFill>
              <a:srgbClr val="E67E22"/>
            </a:solidFill>
            <a:prstDash val="dash"/>
          </a:ln>
        </p:spPr>
        <p:txBody>
          <a:bodyPr/>
          <a:lstStyle/>
          <a:p>
            <a:endParaRPr lang="es-PE"/>
          </a:p>
        </p:txBody>
      </p:sp>
      <p:sp>
        <p:nvSpPr>
          <p:cNvPr id="122" name="Text 119"/>
          <p:cNvSpPr txBox="1"/>
          <p:nvPr/>
        </p:nvSpPr>
        <p:spPr>
          <a:xfrm>
            <a:off x="4800600" y="558698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123" name="Text 120"/>
          <p:cNvSpPr txBox="1"/>
          <p:nvPr/>
        </p:nvSpPr>
        <p:spPr>
          <a:xfrm>
            <a:off x="11430000" y="558698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124" name="Shape 121"/>
          <p:cNvSpPr/>
          <p:nvPr/>
        </p:nvSpPr>
        <p:spPr>
          <a:xfrm>
            <a:off x="658368" y="5897880"/>
            <a:ext cx="14938553" cy="2715768"/>
          </a:xfrm>
          <a:prstGeom prst="rect">
            <a:avLst/>
          </a:prstGeom>
          <a:solidFill>
            <a:srgbClr val="F6FBFA"/>
          </a:solidFill>
          <a:ln w="9525">
            <a:solidFill>
              <a:srgbClr val="D5DFDE"/>
            </a:solidFill>
            <a:prstDash val="solid"/>
          </a:ln>
        </p:spPr>
        <p:txBody>
          <a:bodyPr/>
          <a:lstStyle/>
          <a:p>
            <a:endParaRPr lang="es-PE"/>
          </a:p>
        </p:txBody>
      </p:sp>
      <p:sp>
        <p:nvSpPr>
          <p:cNvPr id="125" name="Shape 122"/>
          <p:cNvSpPr/>
          <p:nvPr/>
        </p:nvSpPr>
        <p:spPr>
          <a:xfrm>
            <a:off x="658368" y="5897880"/>
            <a:ext cx="54864" cy="2715768"/>
          </a:xfrm>
          <a:prstGeom prst="rect">
            <a:avLst/>
          </a:prstGeom>
          <a:solidFill>
            <a:srgbClr val="13807B"/>
          </a:solidFill>
          <a:ln/>
        </p:spPr>
        <p:txBody>
          <a:bodyPr/>
          <a:lstStyle/>
          <a:p>
            <a:endParaRPr lang="es-PE"/>
          </a:p>
        </p:txBody>
      </p:sp>
      <p:sp>
        <p:nvSpPr>
          <p:cNvPr id="126" name="Text 123"/>
          <p:cNvSpPr txBox="1"/>
          <p:nvPr/>
        </p:nvSpPr>
        <p:spPr>
          <a:xfrm>
            <a:off x="914400" y="600760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27" name="Text 124"/>
          <p:cNvSpPr txBox="1"/>
          <p:nvPr/>
        </p:nvSpPr>
        <p:spPr>
          <a:xfrm>
            <a:off x="914400"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128" name="Text 125"/>
          <p:cNvSpPr txBox="1"/>
          <p:nvPr/>
        </p:nvSpPr>
        <p:spPr>
          <a:xfrm>
            <a:off x="914400"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3 clusters cierran 2026Q2 iguales o por encima de donde empezaron: Próximo Recurrente +11pp (85%→96%, el mayor share de toda la cartera), Emprendedor Izipay y Nuevo en Expansión +1pp cada uno.</a:t>
            </a:r>
            <a:endParaRPr lang="en-US" sz="950"/>
          </a:p>
        </p:txBody>
      </p:sp>
      <p:sp>
        <p:nvSpPr>
          <p:cNvPr id="129" name="Text 126"/>
          <p:cNvSpPr txBox="1"/>
          <p:nvPr/>
        </p:nvSpPr>
        <p:spPr>
          <a:xfrm>
            <a:off x="5900014"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130" name="Text 127"/>
          <p:cNvSpPr txBox="1"/>
          <p:nvPr/>
        </p:nvSpPr>
        <p:spPr>
          <a:xfrm>
            <a:off x="5900014"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Usar Próximo Recurrente (96%, +11pp) como caso de referencia: entender qué de la propuesta de valor ahí generó crecimiento y no solo estabilidad, y evaluar si es replicable en Nuevo en Expansión.</a:t>
            </a:r>
            <a:endParaRPr lang="en-US" sz="950"/>
          </a:p>
        </p:txBody>
      </p:sp>
      <p:sp>
        <p:nvSpPr>
          <p:cNvPr id="131" name="Text 128"/>
          <p:cNvSpPr txBox="1"/>
          <p:nvPr/>
        </p:nvSpPr>
        <p:spPr>
          <a:xfrm>
            <a:off x="10885627" y="628192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132" name="Text 129"/>
          <p:cNvSpPr txBox="1"/>
          <p:nvPr/>
        </p:nvSpPr>
        <p:spPr>
          <a:xfrm>
            <a:off x="10885627"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tres muestran una caída fuerte a mitad de periodo (2025Q4) antes de recuperarse — confirmar que esa caída no se repite en el próximo Q4 antes de mover tasa justo en esa ventana.</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UNIDADES (N)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5 de los 6 clusters con deuda, "no gestionado" es otra vez el filtro que más resta; Cliente por Reactivar es la excepción</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1,729</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185546"/>
            <a:ext cx="589416" cy="1156586"/>
          </a:xfrm>
          <a:prstGeom prst="rect">
            <a:avLst/>
          </a:prstGeom>
          <a:solidFill>
            <a:srgbClr val="5AA6A3"/>
          </a:solidFill>
          <a:ln/>
        </p:spPr>
        <p:txBody>
          <a:bodyPr/>
          <a:lstStyle/>
          <a:p>
            <a:endParaRPr lang="es-PE"/>
          </a:p>
        </p:txBody>
      </p:sp>
      <p:sp>
        <p:nvSpPr>
          <p:cNvPr id="13" name="Text 10"/>
          <p:cNvSpPr txBox="1"/>
          <p:nvPr/>
        </p:nvSpPr>
        <p:spPr>
          <a:xfrm>
            <a:off x="2007970" y="198437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1,524</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521745"/>
            <a:ext cx="589416" cy="820387"/>
          </a:xfrm>
          <a:prstGeom prst="rect">
            <a:avLst/>
          </a:prstGeom>
          <a:solidFill>
            <a:srgbClr val="0B2E2C"/>
          </a:solidFill>
          <a:ln/>
        </p:spPr>
        <p:txBody>
          <a:bodyPr/>
          <a:lstStyle/>
          <a:p>
            <a:endParaRPr lang="es-PE"/>
          </a:p>
        </p:txBody>
      </p:sp>
      <p:sp>
        <p:nvSpPr>
          <p:cNvPr id="16" name="Text 13"/>
          <p:cNvSpPr txBox="1"/>
          <p:nvPr/>
        </p:nvSpPr>
        <p:spPr>
          <a:xfrm>
            <a:off x="3964832" y="2320577"/>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1,081</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185546"/>
            <a:ext cx="400803" cy="69061"/>
          </a:xfrm>
          <a:prstGeom prst="rect">
            <a:avLst/>
          </a:prstGeom>
          <a:solidFill>
            <a:srgbClr val="C0392B"/>
          </a:solidFill>
          <a:ln/>
        </p:spPr>
        <p:txBody>
          <a:bodyPr/>
          <a:lstStyle/>
          <a:p>
            <a:endParaRPr lang="es-PE"/>
          </a:p>
        </p:txBody>
      </p:sp>
      <p:sp>
        <p:nvSpPr>
          <p:cNvPr id="19" name="Text 16"/>
          <p:cNvSpPr txBox="1"/>
          <p:nvPr/>
        </p:nvSpPr>
        <p:spPr>
          <a:xfrm>
            <a:off x="3397115" y="214692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91</a:t>
            </a:r>
            <a:endParaRPr lang="en-US" sz="650"/>
          </a:p>
        </p:txBody>
      </p:sp>
      <p:sp>
        <p:nvSpPr>
          <p:cNvPr id="20" name="Text 17"/>
          <p:cNvSpPr txBox="1"/>
          <p:nvPr/>
        </p:nvSpPr>
        <p:spPr>
          <a:xfrm>
            <a:off x="2676272" y="187465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254607"/>
            <a:ext cx="400803" cy="267138"/>
          </a:xfrm>
          <a:prstGeom prst="rect">
            <a:avLst/>
          </a:prstGeom>
          <a:solidFill>
            <a:srgbClr val="C0392B"/>
          </a:solidFill>
          <a:ln/>
        </p:spPr>
        <p:txBody>
          <a:bodyPr/>
          <a:lstStyle/>
          <a:p>
            <a:endParaRPr lang="es-PE"/>
          </a:p>
        </p:txBody>
      </p:sp>
      <p:sp>
        <p:nvSpPr>
          <p:cNvPr id="22" name="Text 19"/>
          <p:cNvSpPr txBox="1"/>
          <p:nvPr/>
        </p:nvSpPr>
        <p:spPr>
          <a:xfrm>
            <a:off x="3357128" y="231502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352</a:t>
            </a:r>
            <a:endParaRPr lang="en-US" sz="650"/>
          </a:p>
        </p:txBody>
      </p:sp>
      <p:sp>
        <p:nvSpPr>
          <p:cNvPr id="23" name="Text 20"/>
          <p:cNvSpPr txBox="1"/>
          <p:nvPr/>
        </p:nvSpPr>
        <p:spPr>
          <a:xfrm>
            <a:off x="3265688" y="19437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185546"/>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254607"/>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521745"/>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2,748</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89178"/>
            <a:ext cx="589416" cy="1252954"/>
          </a:xfrm>
          <a:prstGeom prst="rect">
            <a:avLst/>
          </a:prstGeom>
          <a:solidFill>
            <a:srgbClr val="5AA6A3"/>
          </a:solidFill>
          <a:ln/>
        </p:spPr>
        <p:txBody>
          <a:bodyPr/>
          <a:lstStyle/>
          <a:p>
            <a:endParaRPr lang="es-PE"/>
          </a:p>
        </p:txBody>
      </p:sp>
      <p:sp>
        <p:nvSpPr>
          <p:cNvPr id="35" name="Text 32"/>
          <p:cNvSpPr txBox="1"/>
          <p:nvPr/>
        </p:nvSpPr>
        <p:spPr>
          <a:xfrm>
            <a:off x="7060640" y="188801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2,624</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524656"/>
            <a:ext cx="589416" cy="817476"/>
          </a:xfrm>
          <a:prstGeom prst="rect">
            <a:avLst/>
          </a:prstGeom>
          <a:solidFill>
            <a:srgbClr val="0B2E2C"/>
          </a:solidFill>
          <a:ln/>
        </p:spPr>
        <p:txBody>
          <a:bodyPr/>
          <a:lstStyle/>
          <a:p>
            <a:endParaRPr lang="es-PE"/>
          </a:p>
        </p:txBody>
      </p:sp>
      <p:sp>
        <p:nvSpPr>
          <p:cNvPr id="38" name="Text 35"/>
          <p:cNvSpPr txBox="1"/>
          <p:nvPr/>
        </p:nvSpPr>
        <p:spPr>
          <a:xfrm>
            <a:off x="9017502" y="232348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1,712</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89178"/>
            <a:ext cx="400803" cy="36767"/>
          </a:xfrm>
          <a:prstGeom prst="rect">
            <a:avLst/>
          </a:prstGeom>
          <a:solidFill>
            <a:srgbClr val="C0392B"/>
          </a:solidFill>
          <a:ln/>
        </p:spPr>
        <p:txBody>
          <a:bodyPr/>
          <a:lstStyle/>
          <a:p>
            <a:endParaRPr lang="es-PE"/>
          </a:p>
        </p:txBody>
      </p:sp>
      <p:sp>
        <p:nvSpPr>
          <p:cNvPr id="41" name="Text 38"/>
          <p:cNvSpPr txBox="1"/>
          <p:nvPr/>
        </p:nvSpPr>
        <p:spPr>
          <a:xfrm>
            <a:off x="8449785" y="203440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77</a:t>
            </a:r>
            <a:endParaRPr lang="en-US" sz="650"/>
          </a:p>
        </p:txBody>
      </p:sp>
      <p:sp>
        <p:nvSpPr>
          <p:cNvPr id="42" name="Text 39"/>
          <p:cNvSpPr txBox="1"/>
          <p:nvPr/>
        </p:nvSpPr>
        <p:spPr>
          <a:xfrm>
            <a:off x="7728941" y="177828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125945"/>
            <a:ext cx="400803" cy="398711"/>
          </a:xfrm>
          <a:prstGeom prst="rect">
            <a:avLst/>
          </a:prstGeom>
          <a:solidFill>
            <a:srgbClr val="C0392B"/>
          </a:solidFill>
          <a:ln/>
        </p:spPr>
        <p:txBody>
          <a:bodyPr/>
          <a:lstStyle/>
          <a:p>
            <a:endParaRPr lang="es-PE"/>
          </a:p>
        </p:txBody>
      </p:sp>
      <p:sp>
        <p:nvSpPr>
          <p:cNvPr id="44" name="Text 41"/>
          <p:cNvSpPr txBox="1"/>
          <p:nvPr/>
        </p:nvSpPr>
        <p:spPr>
          <a:xfrm>
            <a:off x="8409798" y="225214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835</a:t>
            </a:r>
            <a:endParaRPr lang="en-US" sz="650"/>
          </a:p>
        </p:txBody>
      </p:sp>
      <p:sp>
        <p:nvSpPr>
          <p:cNvPr id="45" name="Text 42"/>
          <p:cNvSpPr txBox="1"/>
          <p:nvPr/>
        </p:nvSpPr>
        <p:spPr>
          <a:xfrm>
            <a:off x="8318358" y="181504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89178"/>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125945"/>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524656"/>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1,851</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120707"/>
            <a:ext cx="589416" cy="1221425"/>
          </a:xfrm>
          <a:prstGeom prst="rect">
            <a:avLst/>
          </a:prstGeom>
          <a:solidFill>
            <a:srgbClr val="5AA6A3"/>
          </a:solidFill>
          <a:ln/>
        </p:spPr>
        <p:txBody>
          <a:bodyPr/>
          <a:lstStyle/>
          <a:p>
            <a:endParaRPr lang="es-PE"/>
          </a:p>
        </p:txBody>
      </p:sp>
      <p:sp>
        <p:nvSpPr>
          <p:cNvPr id="57" name="Text 54"/>
          <p:cNvSpPr txBox="1"/>
          <p:nvPr/>
        </p:nvSpPr>
        <p:spPr>
          <a:xfrm>
            <a:off x="12113310" y="19195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1,723</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523359"/>
            <a:ext cx="589416" cy="818773"/>
          </a:xfrm>
          <a:prstGeom prst="rect">
            <a:avLst/>
          </a:prstGeom>
          <a:solidFill>
            <a:srgbClr val="0B2E2C"/>
          </a:solidFill>
          <a:ln/>
        </p:spPr>
        <p:txBody>
          <a:bodyPr/>
          <a:lstStyle/>
          <a:p>
            <a:endParaRPr lang="es-PE"/>
          </a:p>
        </p:txBody>
      </p:sp>
      <p:sp>
        <p:nvSpPr>
          <p:cNvPr id="60" name="Text 57"/>
          <p:cNvSpPr txBox="1"/>
          <p:nvPr/>
        </p:nvSpPr>
        <p:spPr>
          <a:xfrm>
            <a:off x="14070172" y="232219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1,155</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120707"/>
            <a:ext cx="400803" cy="125474"/>
          </a:xfrm>
          <a:prstGeom prst="rect">
            <a:avLst/>
          </a:prstGeom>
          <a:solidFill>
            <a:srgbClr val="C0392B"/>
          </a:solidFill>
          <a:ln/>
        </p:spPr>
        <p:txBody>
          <a:bodyPr/>
          <a:lstStyle/>
          <a:p>
            <a:endParaRPr lang="es-PE"/>
          </a:p>
        </p:txBody>
      </p:sp>
      <p:sp>
        <p:nvSpPr>
          <p:cNvPr id="63" name="Text 60"/>
          <p:cNvSpPr txBox="1"/>
          <p:nvPr/>
        </p:nvSpPr>
        <p:spPr>
          <a:xfrm>
            <a:off x="13502454" y="211029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177</a:t>
            </a:r>
            <a:endParaRPr lang="en-US" sz="650"/>
          </a:p>
        </p:txBody>
      </p:sp>
      <p:sp>
        <p:nvSpPr>
          <p:cNvPr id="64" name="Text 61"/>
          <p:cNvSpPr txBox="1"/>
          <p:nvPr/>
        </p:nvSpPr>
        <p:spPr>
          <a:xfrm>
            <a:off x="12781611" y="18098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246181"/>
            <a:ext cx="400803" cy="277178"/>
          </a:xfrm>
          <a:prstGeom prst="rect">
            <a:avLst/>
          </a:prstGeom>
          <a:solidFill>
            <a:srgbClr val="C0392B"/>
          </a:solidFill>
          <a:ln/>
        </p:spPr>
        <p:txBody>
          <a:bodyPr/>
          <a:lstStyle/>
          <a:p>
            <a:endParaRPr lang="es-PE"/>
          </a:p>
        </p:txBody>
      </p:sp>
      <p:sp>
        <p:nvSpPr>
          <p:cNvPr id="66" name="Text 63"/>
          <p:cNvSpPr txBox="1"/>
          <p:nvPr/>
        </p:nvSpPr>
        <p:spPr>
          <a:xfrm>
            <a:off x="13462467" y="231161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391</a:t>
            </a:r>
            <a:endParaRPr lang="en-US" sz="650"/>
          </a:p>
        </p:txBody>
      </p:sp>
      <p:sp>
        <p:nvSpPr>
          <p:cNvPr id="67" name="Text 64"/>
          <p:cNvSpPr txBox="1"/>
          <p:nvPr/>
        </p:nvSpPr>
        <p:spPr>
          <a:xfrm>
            <a:off x="13371027" y="193528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120707"/>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246181"/>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523359"/>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3,225</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01749"/>
            <a:ext cx="589416" cy="1176675"/>
          </a:xfrm>
          <a:prstGeom prst="rect">
            <a:avLst/>
          </a:prstGeom>
          <a:solidFill>
            <a:srgbClr val="5AA6A3"/>
          </a:solidFill>
          <a:ln/>
        </p:spPr>
        <p:txBody>
          <a:bodyPr/>
          <a:lstStyle/>
          <a:p>
            <a:endParaRPr lang="es-PE"/>
          </a:p>
        </p:txBody>
      </p:sp>
      <p:sp>
        <p:nvSpPr>
          <p:cNvPr id="79" name="Text 76"/>
          <p:cNvSpPr txBox="1"/>
          <p:nvPr/>
        </p:nvSpPr>
        <p:spPr>
          <a:xfrm>
            <a:off x="2007970" y="430058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2,892</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008305"/>
            <a:ext cx="589416" cy="670119"/>
          </a:xfrm>
          <a:prstGeom prst="rect">
            <a:avLst/>
          </a:prstGeom>
          <a:solidFill>
            <a:srgbClr val="0B2E2C"/>
          </a:solidFill>
          <a:ln/>
        </p:spPr>
        <p:txBody>
          <a:bodyPr/>
          <a:lstStyle/>
          <a:p>
            <a:endParaRPr lang="es-PE"/>
          </a:p>
        </p:txBody>
      </p:sp>
      <p:sp>
        <p:nvSpPr>
          <p:cNvPr id="82" name="Text 79"/>
          <p:cNvSpPr txBox="1"/>
          <p:nvPr/>
        </p:nvSpPr>
        <p:spPr>
          <a:xfrm>
            <a:off x="3964832" y="4807137"/>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1,647</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01749"/>
            <a:ext cx="400803" cy="60624"/>
          </a:xfrm>
          <a:prstGeom prst="rect">
            <a:avLst/>
          </a:prstGeom>
          <a:solidFill>
            <a:srgbClr val="C0392B"/>
          </a:solidFill>
          <a:ln/>
        </p:spPr>
        <p:txBody>
          <a:bodyPr/>
          <a:lstStyle/>
          <a:p>
            <a:endParaRPr lang="es-PE"/>
          </a:p>
        </p:txBody>
      </p:sp>
      <p:sp>
        <p:nvSpPr>
          <p:cNvPr id="85" name="Text 82"/>
          <p:cNvSpPr txBox="1"/>
          <p:nvPr/>
        </p:nvSpPr>
        <p:spPr>
          <a:xfrm>
            <a:off x="3397115" y="445890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149</a:t>
            </a:r>
            <a:endParaRPr lang="en-US" sz="650"/>
          </a:p>
        </p:txBody>
      </p:sp>
      <p:sp>
        <p:nvSpPr>
          <p:cNvPr id="86" name="Text 83"/>
          <p:cNvSpPr txBox="1"/>
          <p:nvPr/>
        </p:nvSpPr>
        <p:spPr>
          <a:xfrm>
            <a:off x="2676272" y="419085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4562373"/>
            <a:ext cx="400803" cy="445932"/>
          </a:xfrm>
          <a:prstGeom prst="rect">
            <a:avLst/>
          </a:prstGeom>
          <a:solidFill>
            <a:srgbClr val="C0392B"/>
          </a:solidFill>
          <a:ln/>
        </p:spPr>
        <p:txBody>
          <a:bodyPr/>
          <a:lstStyle/>
          <a:p>
            <a:endParaRPr lang="es-PE"/>
          </a:p>
        </p:txBody>
      </p:sp>
      <p:sp>
        <p:nvSpPr>
          <p:cNvPr id="88" name="Text 85"/>
          <p:cNvSpPr txBox="1"/>
          <p:nvPr/>
        </p:nvSpPr>
        <p:spPr>
          <a:xfrm>
            <a:off x="3357128" y="471218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1,096</a:t>
            </a:r>
            <a:endParaRPr lang="en-US" sz="650"/>
          </a:p>
        </p:txBody>
      </p:sp>
      <p:sp>
        <p:nvSpPr>
          <p:cNvPr id="89" name="Text 86"/>
          <p:cNvSpPr txBox="1"/>
          <p:nvPr/>
        </p:nvSpPr>
        <p:spPr>
          <a:xfrm>
            <a:off x="3265688" y="425147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01749"/>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4562373"/>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008305"/>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2,841</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25841"/>
            <a:ext cx="589416" cy="1252583"/>
          </a:xfrm>
          <a:prstGeom prst="rect">
            <a:avLst/>
          </a:prstGeom>
          <a:solidFill>
            <a:srgbClr val="5AA6A3"/>
          </a:solidFill>
          <a:ln/>
        </p:spPr>
        <p:txBody>
          <a:bodyPr/>
          <a:lstStyle/>
          <a:p>
            <a:endParaRPr lang="es-PE"/>
          </a:p>
        </p:txBody>
      </p:sp>
      <p:sp>
        <p:nvSpPr>
          <p:cNvPr id="101" name="Text 98"/>
          <p:cNvSpPr txBox="1"/>
          <p:nvPr/>
        </p:nvSpPr>
        <p:spPr>
          <a:xfrm>
            <a:off x="7060640" y="422467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2,712</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4931123"/>
            <a:ext cx="589416" cy="747301"/>
          </a:xfrm>
          <a:prstGeom prst="rect">
            <a:avLst/>
          </a:prstGeom>
          <a:solidFill>
            <a:srgbClr val="0B2E2C"/>
          </a:solidFill>
          <a:ln/>
        </p:spPr>
        <p:txBody>
          <a:bodyPr/>
          <a:lstStyle/>
          <a:p>
            <a:endParaRPr lang="es-PE"/>
          </a:p>
        </p:txBody>
      </p:sp>
      <p:sp>
        <p:nvSpPr>
          <p:cNvPr id="104" name="Text 101"/>
          <p:cNvSpPr txBox="1"/>
          <p:nvPr/>
        </p:nvSpPr>
        <p:spPr>
          <a:xfrm>
            <a:off x="9017502" y="472995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1,618</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25841"/>
            <a:ext cx="400803" cy="145950"/>
          </a:xfrm>
          <a:prstGeom prst="rect">
            <a:avLst/>
          </a:prstGeom>
          <a:solidFill>
            <a:srgbClr val="C0392B"/>
          </a:solidFill>
          <a:ln/>
        </p:spPr>
        <p:txBody>
          <a:bodyPr/>
          <a:lstStyle/>
          <a:p>
            <a:endParaRPr lang="es-PE"/>
          </a:p>
        </p:txBody>
      </p:sp>
      <p:sp>
        <p:nvSpPr>
          <p:cNvPr id="107" name="Text 104"/>
          <p:cNvSpPr txBox="1"/>
          <p:nvPr/>
        </p:nvSpPr>
        <p:spPr>
          <a:xfrm>
            <a:off x="8449785" y="442566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316</a:t>
            </a:r>
            <a:endParaRPr lang="en-US" sz="650"/>
          </a:p>
        </p:txBody>
      </p:sp>
      <p:sp>
        <p:nvSpPr>
          <p:cNvPr id="108" name="Text 105"/>
          <p:cNvSpPr txBox="1"/>
          <p:nvPr/>
        </p:nvSpPr>
        <p:spPr>
          <a:xfrm>
            <a:off x="7728941" y="411494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4571791"/>
            <a:ext cx="400803" cy="359332"/>
          </a:xfrm>
          <a:prstGeom prst="rect">
            <a:avLst/>
          </a:prstGeom>
          <a:solidFill>
            <a:srgbClr val="C0392B"/>
          </a:solidFill>
          <a:ln/>
        </p:spPr>
        <p:txBody>
          <a:bodyPr/>
          <a:lstStyle/>
          <a:p>
            <a:endParaRPr lang="es-PE"/>
          </a:p>
        </p:txBody>
      </p:sp>
      <p:sp>
        <p:nvSpPr>
          <p:cNvPr id="110" name="Text 107"/>
          <p:cNvSpPr txBox="1"/>
          <p:nvPr/>
        </p:nvSpPr>
        <p:spPr>
          <a:xfrm>
            <a:off x="8409798" y="467830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778</a:t>
            </a:r>
            <a:endParaRPr lang="en-US" sz="650"/>
          </a:p>
        </p:txBody>
      </p:sp>
      <p:sp>
        <p:nvSpPr>
          <p:cNvPr id="111" name="Text 108"/>
          <p:cNvSpPr txBox="1"/>
          <p:nvPr/>
        </p:nvSpPr>
        <p:spPr>
          <a:xfrm>
            <a:off x="8318358" y="426089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25841"/>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4571791"/>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4931123"/>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1,644</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475607"/>
            <a:ext cx="589416" cy="1202817"/>
          </a:xfrm>
          <a:prstGeom prst="rect">
            <a:avLst/>
          </a:prstGeom>
          <a:solidFill>
            <a:srgbClr val="5AA6A3"/>
          </a:solidFill>
          <a:ln/>
        </p:spPr>
        <p:txBody>
          <a:bodyPr/>
          <a:lstStyle/>
          <a:p>
            <a:endParaRPr lang="es-PE"/>
          </a:p>
        </p:txBody>
      </p:sp>
      <p:sp>
        <p:nvSpPr>
          <p:cNvPr id="123" name="Text 120"/>
          <p:cNvSpPr txBox="1"/>
          <p:nvPr/>
        </p:nvSpPr>
        <p:spPr>
          <a:xfrm>
            <a:off x="12113310" y="42744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1,507</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4946517"/>
            <a:ext cx="589416" cy="731907"/>
          </a:xfrm>
          <a:prstGeom prst="rect">
            <a:avLst/>
          </a:prstGeom>
          <a:solidFill>
            <a:srgbClr val="0B2E2C"/>
          </a:solidFill>
          <a:ln/>
        </p:spPr>
        <p:txBody>
          <a:bodyPr/>
          <a:lstStyle/>
          <a:p>
            <a:endParaRPr lang="es-PE"/>
          </a:p>
        </p:txBody>
      </p:sp>
      <p:sp>
        <p:nvSpPr>
          <p:cNvPr id="126" name="Text 123"/>
          <p:cNvSpPr txBox="1"/>
          <p:nvPr/>
        </p:nvSpPr>
        <p:spPr>
          <a:xfrm>
            <a:off x="14070172" y="474534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917</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475607"/>
            <a:ext cx="400803" cy="304895"/>
          </a:xfrm>
          <a:prstGeom prst="rect">
            <a:avLst/>
          </a:prstGeom>
          <a:solidFill>
            <a:srgbClr val="C0392B"/>
          </a:solidFill>
          <a:ln/>
        </p:spPr>
        <p:txBody>
          <a:bodyPr/>
          <a:lstStyle/>
          <a:p>
            <a:endParaRPr lang="es-PE"/>
          </a:p>
        </p:txBody>
      </p:sp>
      <p:sp>
        <p:nvSpPr>
          <p:cNvPr id="129" name="Text 126"/>
          <p:cNvSpPr txBox="1"/>
          <p:nvPr/>
        </p:nvSpPr>
        <p:spPr>
          <a:xfrm>
            <a:off x="12873051" y="4554902"/>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382</a:t>
            </a:r>
            <a:endParaRPr lang="en-US" sz="650"/>
          </a:p>
        </p:txBody>
      </p:sp>
      <p:sp>
        <p:nvSpPr>
          <p:cNvPr id="130" name="Text 127"/>
          <p:cNvSpPr txBox="1"/>
          <p:nvPr/>
        </p:nvSpPr>
        <p:spPr>
          <a:xfrm>
            <a:off x="12781611" y="41647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4780502"/>
            <a:ext cx="400803" cy="166016"/>
          </a:xfrm>
          <a:prstGeom prst="rect">
            <a:avLst/>
          </a:prstGeom>
          <a:solidFill>
            <a:srgbClr val="C0392B"/>
          </a:solidFill>
          <a:ln/>
        </p:spPr>
        <p:txBody>
          <a:bodyPr/>
          <a:lstStyle/>
          <a:p>
            <a:endParaRPr lang="es-PE"/>
          </a:p>
        </p:txBody>
      </p:sp>
      <p:sp>
        <p:nvSpPr>
          <p:cNvPr id="132" name="Text 129"/>
          <p:cNvSpPr txBox="1"/>
          <p:nvPr/>
        </p:nvSpPr>
        <p:spPr>
          <a:xfrm>
            <a:off x="13462467" y="479035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208</a:t>
            </a:r>
            <a:endParaRPr lang="en-US" sz="650"/>
          </a:p>
        </p:txBody>
      </p:sp>
      <p:sp>
        <p:nvSpPr>
          <p:cNvPr id="133" name="Text 130"/>
          <p:cNvSpPr txBox="1"/>
          <p:nvPr/>
        </p:nvSpPr>
        <p:spPr>
          <a:xfrm>
            <a:off x="13371027" y="446960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475607"/>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4780502"/>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4946517"/>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domina en Maduro Multibanco (1,096 vs. 149), Socio en Crecimiento (835 vs. 77), Gran Cuenta por Conquistar (778 vs. 316), Cuenta Estratégica (391 vs. 177) y Cliente Ancla (352 vs. 91) — en estos 5, la falta de seguimiento comercial pesa mucho más que el desajuste de monto.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Cliente por Reactivar es la única excepción: "monto no comparable" (382) supera a "no gestionado" (208) — el mismo patrón atípico que este cluster viene mostrando en cortes anteriores.</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Maduro Multibanco es, con creces, el caso más extremo: 1,096 oportunidades comparables no gestionadas acumuladas en 5 trimestres, el mayor volumen de gestión comercial pendiente de los 9 clusters.</a:t>
            </a:r>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MONTO (S/ MM)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monto, con deuda se parte 3 y 3: "no gestionado" domina en la mitad, "monto no comparable" en la otra</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304.2</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09409"/>
            <a:ext cx="589416" cy="1132723"/>
          </a:xfrm>
          <a:prstGeom prst="rect">
            <a:avLst/>
          </a:prstGeom>
          <a:solidFill>
            <a:srgbClr val="5AA6A3"/>
          </a:solidFill>
          <a:ln/>
        </p:spPr>
        <p:txBody>
          <a:bodyPr/>
          <a:lstStyle/>
          <a:p>
            <a:endParaRPr lang="es-PE"/>
          </a:p>
        </p:txBody>
      </p:sp>
      <p:sp>
        <p:nvSpPr>
          <p:cNvPr id="13" name="Text 10"/>
          <p:cNvSpPr txBox="1"/>
          <p:nvPr/>
        </p:nvSpPr>
        <p:spPr>
          <a:xfrm>
            <a:off x="2007970" y="200824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262.6</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586408"/>
            <a:ext cx="589416" cy="755724"/>
          </a:xfrm>
          <a:prstGeom prst="rect">
            <a:avLst/>
          </a:prstGeom>
          <a:solidFill>
            <a:srgbClr val="0B2E2C"/>
          </a:solidFill>
          <a:ln/>
        </p:spPr>
        <p:txBody>
          <a:bodyPr/>
          <a:lstStyle/>
          <a:p>
            <a:endParaRPr lang="es-PE"/>
          </a:p>
        </p:txBody>
      </p:sp>
      <p:sp>
        <p:nvSpPr>
          <p:cNvPr id="16" name="Text 13"/>
          <p:cNvSpPr txBox="1"/>
          <p:nvPr/>
        </p:nvSpPr>
        <p:spPr>
          <a:xfrm>
            <a:off x="3964832" y="238524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175.2</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09409"/>
            <a:ext cx="400803" cy="149678"/>
          </a:xfrm>
          <a:prstGeom prst="rect">
            <a:avLst/>
          </a:prstGeom>
          <a:solidFill>
            <a:srgbClr val="C0392B"/>
          </a:solidFill>
          <a:ln/>
        </p:spPr>
        <p:txBody>
          <a:bodyPr/>
          <a:lstStyle/>
          <a:p>
            <a:endParaRPr lang="es-PE"/>
          </a:p>
        </p:txBody>
      </p:sp>
      <p:sp>
        <p:nvSpPr>
          <p:cNvPr id="19" name="Text 16"/>
          <p:cNvSpPr txBox="1"/>
          <p:nvPr/>
        </p:nvSpPr>
        <p:spPr>
          <a:xfrm>
            <a:off x="2767712" y="221109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34.7</a:t>
            </a:r>
            <a:endParaRPr lang="en-US" sz="650"/>
          </a:p>
        </p:txBody>
      </p:sp>
      <p:sp>
        <p:nvSpPr>
          <p:cNvPr id="20" name="Text 17"/>
          <p:cNvSpPr txBox="1"/>
          <p:nvPr/>
        </p:nvSpPr>
        <p:spPr>
          <a:xfrm>
            <a:off x="2676272" y="189851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359087"/>
            <a:ext cx="400803" cy="227321"/>
          </a:xfrm>
          <a:prstGeom prst="rect">
            <a:avLst/>
          </a:prstGeom>
          <a:solidFill>
            <a:srgbClr val="C0392B"/>
          </a:solidFill>
          <a:ln/>
        </p:spPr>
        <p:txBody>
          <a:bodyPr/>
          <a:lstStyle/>
          <a:p>
            <a:endParaRPr lang="es-PE"/>
          </a:p>
        </p:txBody>
      </p:sp>
      <p:sp>
        <p:nvSpPr>
          <p:cNvPr id="22" name="Text 19"/>
          <p:cNvSpPr txBox="1"/>
          <p:nvPr/>
        </p:nvSpPr>
        <p:spPr>
          <a:xfrm>
            <a:off x="3357128" y="239959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52.7</a:t>
            </a:r>
            <a:endParaRPr lang="en-US" sz="650"/>
          </a:p>
        </p:txBody>
      </p:sp>
      <p:sp>
        <p:nvSpPr>
          <p:cNvPr id="23" name="Text 20"/>
          <p:cNvSpPr txBox="1"/>
          <p:nvPr/>
        </p:nvSpPr>
        <p:spPr>
          <a:xfrm>
            <a:off x="3265688" y="204819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09409"/>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359087"/>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586408"/>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361.9</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71302"/>
            <a:ext cx="589416" cy="1270830"/>
          </a:xfrm>
          <a:prstGeom prst="rect">
            <a:avLst/>
          </a:prstGeom>
          <a:solidFill>
            <a:srgbClr val="5AA6A3"/>
          </a:solidFill>
          <a:ln/>
        </p:spPr>
        <p:txBody>
          <a:bodyPr/>
          <a:lstStyle/>
          <a:p>
            <a:endParaRPr lang="es-PE"/>
          </a:p>
        </p:txBody>
      </p:sp>
      <p:sp>
        <p:nvSpPr>
          <p:cNvPr id="35" name="Text 32"/>
          <p:cNvSpPr txBox="1"/>
          <p:nvPr/>
        </p:nvSpPr>
        <p:spPr>
          <a:xfrm>
            <a:off x="7060640" y="187013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350.5</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602476"/>
            <a:ext cx="589416" cy="739656"/>
          </a:xfrm>
          <a:prstGeom prst="rect">
            <a:avLst/>
          </a:prstGeom>
          <a:solidFill>
            <a:srgbClr val="0B2E2C"/>
          </a:solidFill>
          <a:ln/>
        </p:spPr>
        <p:txBody>
          <a:bodyPr/>
          <a:lstStyle/>
          <a:p>
            <a:endParaRPr lang="es-PE"/>
          </a:p>
        </p:txBody>
      </p:sp>
      <p:sp>
        <p:nvSpPr>
          <p:cNvPr id="38" name="Text 35"/>
          <p:cNvSpPr txBox="1"/>
          <p:nvPr/>
        </p:nvSpPr>
        <p:spPr>
          <a:xfrm>
            <a:off x="9017502" y="240130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204.0</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71302"/>
            <a:ext cx="400803" cy="150832"/>
          </a:xfrm>
          <a:prstGeom prst="rect">
            <a:avLst/>
          </a:prstGeom>
          <a:solidFill>
            <a:srgbClr val="C0392B"/>
          </a:solidFill>
          <a:ln/>
        </p:spPr>
        <p:txBody>
          <a:bodyPr/>
          <a:lstStyle/>
          <a:p>
            <a:endParaRPr lang="es-PE"/>
          </a:p>
        </p:txBody>
      </p:sp>
      <p:sp>
        <p:nvSpPr>
          <p:cNvPr id="41" name="Text 38"/>
          <p:cNvSpPr txBox="1"/>
          <p:nvPr/>
        </p:nvSpPr>
        <p:spPr>
          <a:xfrm>
            <a:off x="7820381" y="207356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41.6</a:t>
            </a:r>
            <a:endParaRPr lang="en-US" sz="650"/>
          </a:p>
        </p:txBody>
      </p:sp>
      <p:sp>
        <p:nvSpPr>
          <p:cNvPr id="42" name="Text 39"/>
          <p:cNvSpPr txBox="1"/>
          <p:nvPr/>
        </p:nvSpPr>
        <p:spPr>
          <a:xfrm>
            <a:off x="7728941" y="176040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222133"/>
            <a:ext cx="400803" cy="380343"/>
          </a:xfrm>
          <a:prstGeom prst="rect">
            <a:avLst/>
          </a:prstGeom>
          <a:solidFill>
            <a:srgbClr val="C0392B"/>
          </a:solidFill>
          <a:ln/>
        </p:spPr>
        <p:txBody>
          <a:bodyPr/>
          <a:lstStyle/>
          <a:p>
            <a:endParaRPr lang="es-PE"/>
          </a:p>
        </p:txBody>
      </p:sp>
      <p:sp>
        <p:nvSpPr>
          <p:cNvPr id="44" name="Text 41"/>
          <p:cNvSpPr txBox="1"/>
          <p:nvPr/>
        </p:nvSpPr>
        <p:spPr>
          <a:xfrm>
            <a:off x="8409798" y="233915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104.9</a:t>
            </a:r>
            <a:endParaRPr lang="en-US" sz="650"/>
          </a:p>
        </p:txBody>
      </p:sp>
      <p:sp>
        <p:nvSpPr>
          <p:cNvPr id="45" name="Text 42"/>
          <p:cNvSpPr txBox="1"/>
          <p:nvPr/>
        </p:nvSpPr>
        <p:spPr>
          <a:xfrm>
            <a:off x="8318358" y="191123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71302"/>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222133"/>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602476"/>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458.2</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166282"/>
            <a:ext cx="589416" cy="1175850"/>
          </a:xfrm>
          <a:prstGeom prst="rect">
            <a:avLst/>
          </a:prstGeom>
          <a:solidFill>
            <a:srgbClr val="5AA6A3"/>
          </a:solidFill>
          <a:ln/>
        </p:spPr>
        <p:txBody>
          <a:bodyPr/>
          <a:lstStyle/>
          <a:p>
            <a:endParaRPr lang="es-PE"/>
          </a:p>
        </p:txBody>
      </p:sp>
      <p:sp>
        <p:nvSpPr>
          <p:cNvPr id="57" name="Text 54"/>
          <p:cNvSpPr txBox="1"/>
          <p:nvPr/>
        </p:nvSpPr>
        <p:spPr>
          <a:xfrm>
            <a:off x="12113310" y="19651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410.6</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640803"/>
            <a:ext cx="589416" cy="701329"/>
          </a:xfrm>
          <a:prstGeom prst="rect">
            <a:avLst/>
          </a:prstGeom>
          <a:solidFill>
            <a:srgbClr val="0B2E2C"/>
          </a:solidFill>
          <a:ln/>
        </p:spPr>
        <p:txBody>
          <a:bodyPr/>
          <a:lstStyle/>
          <a:p>
            <a:endParaRPr lang="es-PE"/>
          </a:p>
        </p:txBody>
      </p:sp>
      <p:sp>
        <p:nvSpPr>
          <p:cNvPr id="60" name="Text 57"/>
          <p:cNvSpPr txBox="1"/>
          <p:nvPr/>
        </p:nvSpPr>
        <p:spPr>
          <a:xfrm>
            <a:off x="14070172" y="243963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244.9</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166282"/>
            <a:ext cx="400803" cy="273200"/>
          </a:xfrm>
          <a:prstGeom prst="rect">
            <a:avLst/>
          </a:prstGeom>
          <a:solidFill>
            <a:srgbClr val="C0392B"/>
          </a:solidFill>
          <a:ln/>
        </p:spPr>
        <p:txBody>
          <a:bodyPr/>
          <a:lstStyle/>
          <a:p>
            <a:endParaRPr lang="es-PE"/>
          </a:p>
        </p:txBody>
      </p:sp>
      <p:sp>
        <p:nvSpPr>
          <p:cNvPr id="63" name="Text 60"/>
          <p:cNvSpPr txBox="1"/>
          <p:nvPr/>
        </p:nvSpPr>
        <p:spPr>
          <a:xfrm>
            <a:off x="12873051" y="222973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95.4</a:t>
            </a:r>
            <a:endParaRPr lang="en-US" sz="650"/>
          </a:p>
        </p:txBody>
      </p:sp>
      <p:sp>
        <p:nvSpPr>
          <p:cNvPr id="64" name="Text 61"/>
          <p:cNvSpPr txBox="1"/>
          <p:nvPr/>
        </p:nvSpPr>
        <p:spPr>
          <a:xfrm>
            <a:off x="12781611" y="18553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439482"/>
            <a:ext cx="400803" cy="201321"/>
          </a:xfrm>
          <a:prstGeom prst="rect">
            <a:avLst/>
          </a:prstGeom>
          <a:solidFill>
            <a:srgbClr val="C0392B"/>
          </a:solidFill>
          <a:ln/>
        </p:spPr>
        <p:txBody>
          <a:bodyPr/>
          <a:lstStyle/>
          <a:p>
            <a:endParaRPr lang="es-PE"/>
          </a:p>
        </p:txBody>
      </p:sp>
      <p:sp>
        <p:nvSpPr>
          <p:cNvPr id="66" name="Text 63"/>
          <p:cNvSpPr txBox="1"/>
          <p:nvPr/>
        </p:nvSpPr>
        <p:spPr>
          <a:xfrm>
            <a:off x="13462467" y="246699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70.3</a:t>
            </a:r>
            <a:endParaRPr lang="en-US" sz="650"/>
          </a:p>
        </p:txBody>
      </p:sp>
      <p:sp>
        <p:nvSpPr>
          <p:cNvPr id="67" name="Text 64"/>
          <p:cNvSpPr txBox="1"/>
          <p:nvPr/>
        </p:nvSpPr>
        <p:spPr>
          <a:xfrm>
            <a:off x="13371027" y="21285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166282"/>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439482"/>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640803"/>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520.9</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04303"/>
            <a:ext cx="589416" cy="1174121"/>
          </a:xfrm>
          <a:prstGeom prst="rect">
            <a:avLst/>
          </a:prstGeom>
          <a:solidFill>
            <a:srgbClr val="5AA6A3"/>
          </a:solidFill>
          <a:ln/>
        </p:spPr>
        <p:txBody>
          <a:bodyPr/>
          <a:lstStyle/>
          <a:p>
            <a:endParaRPr lang="es-PE"/>
          </a:p>
        </p:txBody>
      </p:sp>
      <p:sp>
        <p:nvSpPr>
          <p:cNvPr id="79" name="Text 76"/>
          <p:cNvSpPr txBox="1"/>
          <p:nvPr/>
        </p:nvSpPr>
        <p:spPr>
          <a:xfrm>
            <a:off x="2007970" y="430313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466.1</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066803"/>
            <a:ext cx="589416" cy="611621"/>
          </a:xfrm>
          <a:prstGeom prst="rect">
            <a:avLst/>
          </a:prstGeom>
          <a:solidFill>
            <a:srgbClr val="0B2E2C"/>
          </a:solidFill>
          <a:ln/>
        </p:spPr>
        <p:txBody>
          <a:bodyPr/>
          <a:lstStyle/>
          <a:p>
            <a:endParaRPr lang="es-PE"/>
          </a:p>
        </p:txBody>
      </p:sp>
      <p:sp>
        <p:nvSpPr>
          <p:cNvPr id="82" name="Text 79"/>
          <p:cNvSpPr txBox="1"/>
          <p:nvPr/>
        </p:nvSpPr>
        <p:spPr>
          <a:xfrm>
            <a:off x="3964832" y="486563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242.8</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04303"/>
            <a:ext cx="400803" cy="193965"/>
          </a:xfrm>
          <a:prstGeom prst="rect">
            <a:avLst/>
          </a:prstGeom>
          <a:solidFill>
            <a:srgbClr val="C0392B"/>
          </a:solidFill>
          <a:ln/>
        </p:spPr>
        <p:txBody>
          <a:bodyPr/>
          <a:lstStyle/>
          <a:p>
            <a:endParaRPr lang="es-PE"/>
          </a:p>
        </p:txBody>
      </p:sp>
      <p:sp>
        <p:nvSpPr>
          <p:cNvPr id="85" name="Text 82"/>
          <p:cNvSpPr txBox="1"/>
          <p:nvPr/>
        </p:nvSpPr>
        <p:spPr>
          <a:xfrm>
            <a:off x="2767712" y="452813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77.0</a:t>
            </a:r>
            <a:endParaRPr lang="en-US" sz="650"/>
          </a:p>
        </p:txBody>
      </p:sp>
      <p:sp>
        <p:nvSpPr>
          <p:cNvPr id="86" name="Text 83"/>
          <p:cNvSpPr txBox="1"/>
          <p:nvPr/>
        </p:nvSpPr>
        <p:spPr>
          <a:xfrm>
            <a:off x="2676272" y="419340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4698268"/>
            <a:ext cx="400803" cy="368534"/>
          </a:xfrm>
          <a:prstGeom prst="rect">
            <a:avLst/>
          </a:prstGeom>
          <a:solidFill>
            <a:srgbClr val="C0392B"/>
          </a:solidFill>
          <a:ln/>
        </p:spPr>
        <p:txBody>
          <a:bodyPr/>
          <a:lstStyle/>
          <a:p>
            <a:endParaRPr lang="es-PE"/>
          </a:p>
        </p:txBody>
      </p:sp>
      <p:sp>
        <p:nvSpPr>
          <p:cNvPr id="88" name="Text 85"/>
          <p:cNvSpPr txBox="1"/>
          <p:nvPr/>
        </p:nvSpPr>
        <p:spPr>
          <a:xfrm>
            <a:off x="3357128" y="480938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146.3</a:t>
            </a:r>
            <a:endParaRPr lang="en-US" sz="650"/>
          </a:p>
        </p:txBody>
      </p:sp>
      <p:sp>
        <p:nvSpPr>
          <p:cNvPr id="89" name="Text 86"/>
          <p:cNvSpPr txBox="1"/>
          <p:nvPr/>
        </p:nvSpPr>
        <p:spPr>
          <a:xfrm>
            <a:off x="3265688" y="438737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04303"/>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4698268"/>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066803"/>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748.7</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49683"/>
            <a:ext cx="589416" cy="1228741"/>
          </a:xfrm>
          <a:prstGeom prst="rect">
            <a:avLst/>
          </a:prstGeom>
          <a:solidFill>
            <a:srgbClr val="5AA6A3"/>
          </a:solidFill>
          <a:ln/>
        </p:spPr>
        <p:txBody>
          <a:bodyPr/>
          <a:lstStyle/>
          <a:p>
            <a:endParaRPr lang="es-PE"/>
          </a:p>
        </p:txBody>
      </p:sp>
      <p:sp>
        <p:nvSpPr>
          <p:cNvPr id="101" name="Text 98"/>
          <p:cNvSpPr txBox="1"/>
          <p:nvPr/>
        </p:nvSpPr>
        <p:spPr>
          <a:xfrm>
            <a:off x="7060640" y="424851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701.1</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094636"/>
            <a:ext cx="589416" cy="583788"/>
          </a:xfrm>
          <a:prstGeom prst="rect">
            <a:avLst/>
          </a:prstGeom>
          <a:solidFill>
            <a:srgbClr val="0B2E2C"/>
          </a:solidFill>
          <a:ln/>
        </p:spPr>
        <p:txBody>
          <a:bodyPr/>
          <a:lstStyle/>
          <a:p>
            <a:endParaRPr lang="es-PE"/>
          </a:p>
        </p:txBody>
      </p:sp>
      <p:sp>
        <p:nvSpPr>
          <p:cNvPr id="104" name="Text 101"/>
          <p:cNvSpPr txBox="1"/>
          <p:nvPr/>
        </p:nvSpPr>
        <p:spPr>
          <a:xfrm>
            <a:off x="9017502" y="489346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333.1</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49683"/>
            <a:ext cx="400803" cy="401694"/>
          </a:xfrm>
          <a:prstGeom prst="rect">
            <a:avLst/>
          </a:prstGeom>
          <a:solidFill>
            <a:srgbClr val="C0392B"/>
          </a:solidFill>
          <a:ln/>
        </p:spPr>
        <p:txBody>
          <a:bodyPr/>
          <a:lstStyle/>
          <a:p>
            <a:endParaRPr lang="es-PE"/>
          </a:p>
        </p:txBody>
      </p:sp>
      <p:sp>
        <p:nvSpPr>
          <p:cNvPr id="107" name="Text 104"/>
          <p:cNvSpPr txBox="1"/>
          <p:nvPr/>
        </p:nvSpPr>
        <p:spPr>
          <a:xfrm>
            <a:off x="7820381" y="457737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229.2</a:t>
            </a:r>
            <a:endParaRPr lang="en-US" sz="650"/>
          </a:p>
        </p:txBody>
      </p:sp>
      <p:sp>
        <p:nvSpPr>
          <p:cNvPr id="108" name="Text 105"/>
          <p:cNvSpPr txBox="1"/>
          <p:nvPr/>
        </p:nvSpPr>
        <p:spPr>
          <a:xfrm>
            <a:off x="7728941" y="413878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4851377"/>
            <a:ext cx="400803" cy="243259"/>
          </a:xfrm>
          <a:prstGeom prst="rect">
            <a:avLst/>
          </a:prstGeom>
          <a:solidFill>
            <a:srgbClr val="C0392B"/>
          </a:solidFill>
          <a:ln/>
        </p:spPr>
        <p:txBody>
          <a:bodyPr/>
          <a:lstStyle/>
          <a:p>
            <a:endParaRPr lang="es-PE"/>
          </a:p>
        </p:txBody>
      </p:sp>
      <p:sp>
        <p:nvSpPr>
          <p:cNvPr id="110" name="Text 107"/>
          <p:cNvSpPr txBox="1"/>
          <p:nvPr/>
        </p:nvSpPr>
        <p:spPr>
          <a:xfrm>
            <a:off x="8409798" y="489985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138.8</a:t>
            </a:r>
            <a:endParaRPr lang="en-US" sz="650"/>
          </a:p>
        </p:txBody>
      </p:sp>
      <p:sp>
        <p:nvSpPr>
          <p:cNvPr id="111" name="Text 108"/>
          <p:cNvSpPr txBox="1"/>
          <p:nvPr/>
        </p:nvSpPr>
        <p:spPr>
          <a:xfrm>
            <a:off x="8318358" y="454048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49683"/>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4851377"/>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094636"/>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204.9</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468082"/>
            <a:ext cx="589416" cy="1210342"/>
          </a:xfrm>
          <a:prstGeom prst="rect">
            <a:avLst/>
          </a:prstGeom>
          <a:solidFill>
            <a:srgbClr val="5AA6A3"/>
          </a:solidFill>
          <a:ln/>
        </p:spPr>
        <p:txBody>
          <a:bodyPr/>
          <a:lstStyle/>
          <a:p>
            <a:endParaRPr lang="es-PE"/>
          </a:p>
        </p:txBody>
      </p:sp>
      <p:sp>
        <p:nvSpPr>
          <p:cNvPr id="123" name="Text 120"/>
          <p:cNvSpPr txBox="1"/>
          <p:nvPr/>
        </p:nvSpPr>
        <p:spPr>
          <a:xfrm>
            <a:off x="12113310" y="42669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189.0</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5143696"/>
            <a:ext cx="589416" cy="534728"/>
          </a:xfrm>
          <a:prstGeom prst="rect">
            <a:avLst/>
          </a:prstGeom>
          <a:solidFill>
            <a:srgbClr val="0B2E2C"/>
          </a:solidFill>
          <a:ln/>
        </p:spPr>
        <p:txBody>
          <a:bodyPr/>
          <a:lstStyle/>
          <a:p>
            <a:endParaRPr lang="es-PE"/>
          </a:p>
        </p:txBody>
      </p:sp>
      <p:sp>
        <p:nvSpPr>
          <p:cNvPr id="126" name="Text 123"/>
          <p:cNvSpPr txBox="1"/>
          <p:nvPr/>
        </p:nvSpPr>
        <p:spPr>
          <a:xfrm>
            <a:off x="14070172" y="494252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83.5</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468082"/>
            <a:ext cx="400803" cy="553299"/>
          </a:xfrm>
          <a:prstGeom prst="rect">
            <a:avLst/>
          </a:prstGeom>
          <a:solidFill>
            <a:srgbClr val="C0392B"/>
          </a:solidFill>
          <a:ln/>
        </p:spPr>
        <p:txBody>
          <a:bodyPr/>
          <a:lstStyle/>
          <a:p>
            <a:endParaRPr lang="es-PE"/>
          </a:p>
        </p:txBody>
      </p:sp>
      <p:sp>
        <p:nvSpPr>
          <p:cNvPr id="129" name="Text 126"/>
          <p:cNvSpPr txBox="1"/>
          <p:nvPr/>
        </p:nvSpPr>
        <p:spPr>
          <a:xfrm>
            <a:off x="12873051" y="467158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86.4</a:t>
            </a:r>
            <a:endParaRPr lang="en-US" sz="650"/>
          </a:p>
        </p:txBody>
      </p:sp>
      <p:sp>
        <p:nvSpPr>
          <p:cNvPr id="130" name="Text 127"/>
          <p:cNvSpPr txBox="1"/>
          <p:nvPr/>
        </p:nvSpPr>
        <p:spPr>
          <a:xfrm>
            <a:off x="12781611" y="41571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5021381"/>
            <a:ext cx="400803" cy="122315"/>
          </a:xfrm>
          <a:prstGeom prst="rect">
            <a:avLst/>
          </a:prstGeom>
          <a:solidFill>
            <a:srgbClr val="C0392B"/>
          </a:solidFill>
          <a:ln/>
        </p:spPr>
        <p:txBody>
          <a:bodyPr/>
          <a:lstStyle/>
          <a:p>
            <a:endParaRPr lang="es-PE"/>
          </a:p>
        </p:txBody>
      </p:sp>
      <p:sp>
        <p:nvSpPr>
          <p:cNvPr id="132" name="Text 129"/>
          <p:cNvSpPr txBox="1"/>
          <p:nvPr/>
        </p:nvSpPr>
        <p:spPr>
          <a:xfrm>
            <a:off x="14091870" y="5009387"/>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19.1</a:t>
            </a:r>
            <a:endParaRPr lang="en-US" sz="650"/>
          </a:p>
        </p:txBody>
      </p:sp>
      <p:sp>
        <p:nvSpPr>
          <p:cNvPr id="133" name="Text 130"/>
          <p:cNvSpPr txBox="1"/>
          <p:nvPr/>
        </p:nvSpPr>
        <p:spPr>
          <a:xfrm>
            <a:off x="13371027" y="471048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468082"/>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5021381"/>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5143696"/>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domina en monto en Maduro Multibanco (S/146.3 vs. 77.0 MM), Socio en Crecimiento (S/104.9 vs. 41.6 MM) y Cliente Ancla (S/52.7 vs. 34.7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domina en Gran Cuenta por Conquistar (S/229.2 vs. 138.8 MM, el mayor desajuste de monto de toda la cartera con deuda), Cuenta Estratégica (S/95.4 vs. 70.3 MM) y Cliente por Reactivar (S/86.4 vs. 19.1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En unidades, "no gestionado" dominaba en 5 de los 6; en monto se reparte parejo — sugiere que las oportunidades no gestionadas tienden a ser de ticket más chico, mientras que el desajuste de monto concentra los tickets grandes, sobre todo en Gran Cuenta por Conquistar.</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UNIDADES (N)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sin deuda el patrón es mixto: Emprendedor Izipay se explica por gestión (por poco), los otros dos por desajuste de monto</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404</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081437"/>
            <a:ext cx="589416" cy="3414107"/>
          </a:xfrm>
          <a:prstGeom prst="rect">
            <a:avLst/>
          </a:prstGeom>
          <a:solidFill>
            <a:srgbClr val="5AA6A3"/>
          </a:solidFill>
          <a:ln/>
        </p:spPr>
        <p:txBody>
          <a:bodyPr/>
          <a:lstStyle/>
          <a:p>
            <a:endParaRPr lang="es-PE"/>
          </a:p>
        </p:txBody>
      </p:sp>
      <p:sp>
        <p:nvSpPr>
          <p:cNvPr id="13" name="Text 10"/>
          <p:cNvSpPr txBox="1"/>
          <p:nvPr/>
        </p:nvSpPr>
        <p:spPr>
          <a:xfrm>
            <a:off x="2007970" y="188026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398</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210109"/>
            <a:ext cx="589416" cy="3285435"/>
          </a:xfrm>
          <a:prstGeom prst="rect">
            <a:avLst/>
          </a:prstGeom>
          <a:solidFill>
            <a:srgbClr val="0B2E2C"/>
          </a:solidFill>
          <a:ln/>
        </p:spPr>
        <p:txBody>
          <a:bodyPr/>
          <a:lstStyle/>
          <a:p>
            <a:endParaRPr lang="es-PE"/>
          </a:p>
        </p:txBody>
      </p:sp>
      <p:sp>
        <p:nvSpPr>
          <p:cNvPr id="16" name="Text 13"/>
          <p:cNvSpPr txBox="1"/>
          <p:nvPr/>
        </p:nvSpPr>
        <p:spPr>
          <a:xfrm>
            <a:off x="3964832" y="200894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383</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081437"/>
            <a:ext cx="400803" cy="60047"/>
          </a:xfrm>
          <a:prstGeom prst="rect">
            <a:avLst/>
          </a:prstGeom>
          <a:solidFill>
            <a:srgbClr val="C0392B"/>
          </a:solidFill>
          <a:ln/>
        </p:spPr>
        <p:txBody>
          <a:bodyPr/>
          <a:lstStyle/>
          <a:p>
            <a:endParaRPr lang="es-PE"/>
          </a:p>
        </p:txBody>
      </p:sp>
      <p:sp>
        <p:nvSpPr>
          <p:cNvPr id="19" name="Text 16"/>
          <p:cNvSpPr txBox="1"/>
          <p:nvPr/>
        </p:nvSpPr>
        <p:spPr>
          <a:xfrm>
            <a:off x="3397115" y="203830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7</a:t>
            </a:r>
            <a:endParaRPr lang="en-US" sz="650"/>
          </a:p>
        </p:txBody>
      </p:sp>
      <p:sp>
        <p:nvSpPr>
          <p:cNvPr id="20" name="Text 17"/>
          <p:cNvSpPr txBox="1"/>
          <p:nvPr/>
        </p:nvSpPr>
        <p:spPr>
          <a:xfrm>
            <a:off x="2676272" y="177054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141484"/>
            <a:ext cx="400803" cy="68625"/>
          </a:xfrm>
          <a:prstGeom prst="rect">
            <a:avLst/>
          </a:prstGeom>
          <a:solidFill>
            <a:srgbClr val="C0392B"/>
          </a:solidFill>
          <a:ln/>
        </p:spPr>
        <p:txBody>
          <a:bodyPr/>
          <a:lstStyle/>
          <a:p>
            <a:endParaRPr lang="es-PE"/>
          </a:p>
        </p:txBody>
      </p:sp>
      <p:sp>
        <p:nvSpPr>
          <p:cNvPr id="22" name="Text 19"/>
          <p:cNvSpPr txBox="1"/>
          <p:nvPr/>
        </p:nvSpPr>
        <p:spPr>
          <a:xfrm>
            <a:off x="3986531" y="2102645"/>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8</a:t>
            </a:r>
            <a:endParaRPr lang="en-US" sz="650"/>
          </a:p>
        </p:txBody>
      </p:sp>
      <p:sp>
        <p:nvSpPr>
          <p:cNvPr id="23" name="Text 20"/>
          <p:cNvSpPr txBox="1"/>
          <p:nvPr/>
        </p:nvSpPr>
        <p:spPr>
          <a:xfrm>
            <a:off x="3265688" y="183058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081437"/>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141484"/>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210109"/>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428</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62357"/>
            <a:ext cx="589416" cy="3433187"/>
          </a:xfrm>
          <a:prstGeom prst="rect">
            <a:avLst/>
          </a:prstGeom>
          <a:solidFill>
            <a:srgbClr val="5AA6A3"/>
          </a:solidFill>
          <a:ln/>
        </p:spPr>
        <p:txBody>
          <a:bodyPr/>
          <a:lstStyle/>
          <a:p>
            <a:endParaRPr lang="es-PE"/>
          </a:p>
        </p:txBody>
      </p:sp>
      <p:sp>
        <p:nvSpPr>
          <p:cNvPr id="35" name="Text 32"/>
          <p:cNvSpPr txBox="1"/>
          <p:nvPr/>
        </p:nvSpPr>
        <p:spPr>
          <a:xfrm>
            <a:off x="7060640" y="186118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424</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596768"/>
            <a:ext cx="589416" cy="2898776"/>
          </a:xfrm>
          <a:prstGeom prst="rect">
            <a:avLst/>
          </a:prstGeom>
          <a:solidFill>
            <a:srgbClr val="0B2E2C"/>
          </a:solidFill>
          <a:ln/>
        </p:spPr>
        <p:txBody>
          <a:bodyPr/>
          <a:lstStyle/>
          <a:p>
            <a:endParaRPr lang="es-PE"/>
          </a:p>
        </p:txBody>
      </p:sp>
      <p:sp>
        <p:nvSpPr>
          <p:cNvPr id="38" name="Text 35"/>
          <p:cNvSpPr txBox="1"/>
          <p:nvPr/>
        </p:nvSpPr>
        <p:spPr>
          <a:xfrm>
            <a:off x="9017502" y="23956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358</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62357"/>
            <a:ext cx="400803" cy="477731"/>
          </a:xfrm>
          <a:prstGeom prst="rect">
            <a:avLst/>
          </a:prstGeom>
          <a:solidFill>
            <a:srgbClr val="C0392B"/>
          </a:solidFill>
          <a:ln/>
        </p:spPr>
        <p:txBody>
          <a:bodyPr/>
          <a:lstStyle/>
          <a:p>
            <a:endParaRPr lang="es-PE"/>
          </a:p>
        </p:txBody>
      </p:sp>
      <p:sp>
        <p:nvSpPr>
          <p:cNvPr id="41" name="Text 38"/>
          <p:cNvSpPr txBox="1"/>
          <p:nvPr/>
        </p:nvSpPr>
        <p:spPr>
          <a:xfrm>
            <a:off x="7820381" y="222807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59</a:t>
            </a:r>
            <a:endParaRPr lang="en-US" sz="650"/>
          </a:p>
        </p:txBody>
      </p:sp>
      <p:sp>
        <p:nvSpPr>
          <p:cNvPr id="42" name="Text 39"/>
          <p:cNvSpPr txBox="1"/>
          <p:nvPr/>
        </p:nvSpPr>
        <p:spPr>
          <a:xfrm>
            <a:off x="7728941" y="175146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540088"/>
            <a:ext cx="400803" cy="56680"/>
          </a:xfrm>
          <a:prstGeom prst="rect">
            <a:avLst/>
          </a:prstGeom>
          <a:solidFill>
            <a:srgbClr val="C0392B"/>
          </a:solidFill>
          <a:ln/>
        </p:spPr>
        <p:txBody>
          <a:bodyPr/>
          <a:lstStyle/>
          <a:p>
            <a:endParaRPr lang="es-PE"/>
          </a:p>
        </p:txBody>
      </p:sp>
      <p:sp>
        <p:nvSpPr>
          <p:cNvPr id="44" name="Text 41"/>
          <p:cNvSpPr txBox="1"/>
          <p:nvPr/>
        </p:nvSpPr>
        <p:spPr>
          <a:xfrm>
            <a:off x="9039201" y="2495276"/>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7</a:t>
            </a:r>
            <a:endParaRPr lang="en-US" sz="650"/>
          </a:p>
        </p:txBody>
      </p:sp>
      <p:sp>
        <p:nvSpPr>
          <p:cNvPr id="45" name="Text 42"/>
          <p:cNvSpPr txBox="1"/>
          <p:nvPr/>
        </p:nvSpPr>
        <p:spPr>
          <a:xfrm>
            <a:off x="8318358" y="222919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62357"/>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540088"/>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596768"/>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513</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84012"/>
            <a:ext cx="589416" cy="3411532"/>
          </a:xfrm>
          <a:prstGeom prst="rect">
            <a:avLst/>
          </a:prstGeom>
          <a:solidFill>
            <a:srgbClr val="5AA6A3"/>
          </a:solidFill>
          <a:ln/>
        </p:spPr>
        <p:txBody>
          <a:bodyPr/>
          <a:lstStyle/>
          <a:p>
            <a:endParaRPr lang="es-PE"/>
          </a:p>
        </p:txBody>
      </p:sp>
      <p:sp>
        <p:nvSpPr>
          <p:cNvPr id="57" name="Text 54"/>
          <p:cNvSpPr txBox="1"/>
          <p:nvPr/>
        </p:nvSpPr>
        <p:spPr>
          <a:xfrm>
            <a:off x="12113310" y="188284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505</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664986"/>
            <a:ext cx="589416" cy="2830558"/>
          </a:xfrm>
          <a:prstGeom prst="rect">
            <a:avLst/>
          </a:prstGeom>
          <a:solidFill>
            <a:srgbClr val="0B2E2C"/>
          </a:solidFill>
          <a:ln/>
        </p:spPr>
        <p:txBody>
          <a:bodyPr/>
          <a:lstStyle/>
          <a:p>
            <a:endParaRPr lang="es-PE"/>
          </a:p>
        </p:txBody>
      </p:sp>
      <p:sp>
        <p:nvSpPr>
          <p:cNvPr id="60" name="Text 57"/>
          <p:cNvSpPr txBox="1"/>
          <p:nvPr/>
        </p:nvSpPr>
        <p:spPr>
          <a:xfrm>
            <a:off x="14070172" y="246381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419</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84012"/>
            <a:ext cx="400803" cy="432353"/>
          </a:xfrm>
          <a:prstGeom prst="rect">
            <a:avLst/>
          </a:prstGeom>
          <a:solidFill>
            <a:srgbClr val="C0392B"/>
          </a:solidFill>
          <a:ln/>
        </p:spPr>
        <p:txBody>
          <a:bodyPr/>
          <a:lstStyle/>
          <a:p>
            <a:endParaRPr lang="es-PE"/>
          </a:p>
        </p:txBody>
      </p:sp>
      <p:sp>
        <p:nvSpPr>
          <p:cNvPr id="63" name="Text 60"/>
          <p:cNvSpPr txBox="1"/>
          <p:nvPr/>
        </p:nvSpPr>
        <p:spPr>
          <a:xfrm>
            <a:off x="12873051" y="222703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64</a:t>
            </a:r>
            <a:endParaRPr lang="en-US" sz="650"/>
          </a:p>
        </p:txBody>
      </p:sp>
      <p:sp>
        <p:nvSpPr>
          <p:cNvPr id="64" name="Text 61"/>
          <p:cNvSpPr txBox="1"/>
          <p:nvPr/>
        </p:nvSpPr>
        <p:spPr>
          <a:xfrm>
            <a:off x="12781611" y="177311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516365"/>
            <a:ext cx="400803" cy="148621"/>
          </a:xfrm>
          <a:prstGeom prst="rect">
            <a:avLst/>
          </a:prstGeom>
          <a:solidFill>
            <a:srgbClr val="C0392B"/>
          </a:solidFill>
          <a:ln/>
        </p:spPr>
        <p:txBody>
          <a:bodyPr/>
          <a:lstStyle/>
          <a:p>
            <a:endParaRPr lang="es-PE"/>
          </a:p>
        </p:txBody>
      </p:sp>
      <p:sp>
        <p:nvSpPr>
          <p:cNvPr id="66" name="Text 63"/>
          <p:cNvSpPr txBox="1"/>
          <p:nvPr/>
        </p:nvSpPr>
        <p:spPr>
          <a:xfrm>
            <a:off x="13462467" y="251752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22</a:t>
            </a:r>
            <a:endParaRPr lang="en-US" sz="650"/>
          </a:p>
        </p:txBody>
      </p:sp>
      <p:sp>
        <p:nvSpPr>
          <p:cNvPr id="67" name="Text 64"/>
          <p:cNvSpPr txBox="1"/>
          <p:nvPr/>
        </p:nvSpPr>
        <p:spPr>
          <a:xfrm>
            <a:off x="13371027" y="220546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84012"/>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516365"/>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664986"/>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Emprendedor Izipay es el único donde "no gestionado" (8) supera a "monto no comparable" (7) — un empate casi técnico, a diferencia de los otros dos.</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Nuevo en Expansión (59 vs. 7) y Próximo Recurrente (64 vs. 22) muestran el patrón opuesto: el desajuste de monto domina con claridad.</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En los 3, los volúmenes absolutos siguen siendo chicos frente a cualquier cluster con deuda — el problema de escala real sigue estando del lado de con deuda, no de sin deuda.</a:t>
            </a:r>
            <a:endParaRPr 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MONTO (S/ MM)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sin deuda, el desajuste de monto domina en valor en los 3 — incluso en Emprendedor Izipay, que en unidades se explicaba por gestión</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21.1</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43487"/>
            <a:ext cx="589416" cy="3252057"/>
          </a:xfrm>
          <a:prstGeom prst="rect">
            <a:avLst/>
          </a:prstGeom>
          <a:solidFill>
            <a:srgbClr val="5AA6A3"/>
          </a:solidFill>
          <a:ln/>
        </p:spPr>
        <p:txBody>
          <a:bodyPr/>
          <a:lstStyle/>
          <a:p>
            <a:endParaRPr lang="es-PE"/>
          </a:p>
        </p:txBody>
      </p:sp>
      <p:sp>
        <p:nvSpPr>
          <p:cNvPr id="13" name="Text 10"/>
          <p:cNvSpPr txBox="1"/>
          <p:nvPr/>
        </p:nvSpPr>
        <p:spPr>
          <a:xfrm>
            <a:off x="2007970" y="204231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19.8</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703374"/>
            <a:ext cx="589416" cy="2792170"/>
          </a:xfrm>
          <a:prstGeom prst="rect">
            <a:avLst/>
          </a:prstGeom>
          <a:solidFill>
            <a:srgbClr val="0B2E2C"/>
          </a:solidFill>
          <a:ln/>
        </p:spPr>
        <p:txBody>
          <a:bodyPr/>
          <a:lstStyle/>
          <a:p>
            <a:endParaRPr lang="es-PE"/>
          </a:p>
        </p:txBody>
      </p:sp>
      <p:sp>
        <p:nvSpPr>
          <p:cNvPr id="16" name="Text 13"/>
          <p:cNvSpPr txBox="1"/>
          <p:nvPr/>
        </p:nvSpPr>
        <p:spPr>
          <a:xfrm>
            <a:off x="3964832" y="250220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17.0</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43487"/>
            <a:ext cx="400803" cy="328491"/>
          </a:xfrm>
          <a:prstGeom prst="rect">
            <a:avLst/>
          </a:prstGeom>
          <a:solidFill>
            <a:srgbClr val="C0392B"/>
          </a:solidFill>
          <a:ln/>
        </p:spPr>
        <p:txBody>
          <a:bodyPr/>
          <a:lstStyle/>
          <a:p>
            <a:endParaRPr lang="es-PE"/>
          </a:p>
        </p:txBody>
      </p:sp>
      <p:sp>
        <p:nvSpPr>
          <p:cNvPr id="19" name="Text 16"/>
          <p:cNvSpPr txBox="1"/>
          <p:nvPr/>
        </p:nvSpPr>
        <p:spPr>
          <a:xfrm>
            <a:off x="2767712" y="233458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2.0</a:t>
            </a:r>
            <a:endParaRPr lang="en-US" sz="650"/>
          </a:p>
        </p:txBody>
      </p:sp>
      <p:sp>
        <p:nvSpPr>
          <p:cNvPr id="20" name="Text 17"/>
          <p:cNvSpPr txBox="1"/>
          <p:nvPr/>
        </p:nvSpPr>
        <p:spPr>
          <a:xfrm>
            <a:off x="2676272" y="193259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571978"/>
            <a:ext cx="400803" cy="131396"/>
          </a:xfrm>
          <a:prstGeom prst="rect">
            <a:avLst/>
          </a:prstGeom>
          <a:solidFill>
            <a:srgbClr val="C0392B"/>
          </a:solidFill>
          <a:ln/>
        </p:spPr>
        <p:txBody>
          <a:bodyPr/>
          <a:lstStyle/>
          <a:p>
            <a:endParaRPr lang="es-PE"/>
          </a:p>
        </p:txBody>
      </p:sp>
      <p:sp>
        <p:nvSpPr>
          <p:cNvPr id="22" name="Text 19"/>
          <p:cNvSpPr txBox="1"/>
          <p:nvPr/>
        </p:nvSpPr>
        <p:spPr>
          <a:xfrm>
            <a:off x="3986531" y="256452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0.8</a:t>
            </a:r>
            <a:endParaRPr lang="en-US" sz="650"/>
          </a:p>
        </p:txBody>
      </p:sp>
      <p:sp>
        <p:nvSpPr>
          <p:cNvPr id="23" name="Text 20"/>
          <p:cNvSpPr txBox="1"/>
          <p:nvPr/>
        </p:nvSpPr>
        <p:spPr>
          <a:xfrm>
            <a:off x="3265688" y="226108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43487"/>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571978"/>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703374"/>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43.6</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53814"/>
            <a:ext cx="589416" cy="3441730"/>
          </a:xfrm>
          <a:prstGeom prst="rect">
            <a:avLst/>
          </a:prstGeom>
          <a:solidFill>
            <a:srgbClr val="5AA6A3"/>
          </a:solidFill>
          <a:ln/>
        </p:spPr>
        <p:txBody>
          <a:bodyPr/>
          <a:lstStyle/>
          <a:p>
            <a:endParaRPr lang="es-PE"/>
          </a:p>
        </p:txBody>
      </p:sp>
      <p:sp>
        <p:nvSpPr>
          <p:cNvPr id="35" name="Text 32"/>
          <p:cNvSpPr txBox="1"/>
          <p:nvPr/>
        </p:nvSpPr>
        <p:spPr>
          <a:xfrm>
            <a:off x="7060640" y="185264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43.3</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3293790"/>
            <a:ext cx="589416" cy="2201754"/>
          </a:xfrm>
          <a:prstGeom prst="rect">
            <a:avLst/>
          </a:prstGeom>
          <a:solidFill>
            <a:srgbClr val="0B2E2C"/>
          </a:solidFill>
          <a:ln/>
        </p:spPr>
        <p:txBody>
          <a:bodyPr/>
          <a:lstStyle/>
          <a:p>
            <a:endParaRPr lang="es-PE"/>
          </a:p>
        </p:txBody>
      </p:sp>
      <p:sp>
        <p:nvSpPr>
          <p:cNvPr id="38" name="Text 35"/>
          <p:cNvSpPr txBox="1"/>
          <p:nvPr/>
        </p:nvSpPr>
        <p:spPr>
          <a:xfrm>
            <a:off x="9017502" y="309262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27.7</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53814"/>
            <a:ext cx="400803" cy="1160491"/>
          </a:xfrm>
          <a:prstGeom prst="rect">
            <a:avLst/>
          </a:prstGeom>
          <a:solidFill>
            <a:srgbClr val="C0392B"/>
          </a:solidFill>
          <a:ln/>
        </p:spPr>
        <p:txBody>
          <a:bodyPr/>
          <a:lstStyle/>
          <a:p>
            <a:endParaRPr lang="es-PE"/>
          </a:p>
        </p:txBody>
      </p:sp>
      <p:sp>
        <p:nvSpPr>
          <p:cNvPr id="41" name="Text 38"/>
          <p:cNvSpPr txBox="1"/>
          <p:nvPr/>
        </p:nvSpPr>
        <p:spPr>
          <a:xfrm>
            <a:off x="7820381" y="256090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14.6</a:t>
            </a:r>
            <a:endParaRPr lang="en-US" sz="650"/>
          </a:p>
        </p:txBody>
      </p:sp>
      <p:sp>
        <p:nvSpPr>
          <p:cNvPr id="42" name="Text 39"/>
          <p:cNvSpPr txBox="1"/>
          <p:nvPr/>
        </p:nvSpPr>
        <p:spPr>
          <a:xfrm>
            <a:off x="7728941" y="174291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3214305"/>
            <a:ext cx="400803" cy="79486"/>
          </a:xfrm>
          <a:prstGeom prst="rect">
            <a:avLst/>
          </a:prstGeom>
          <a:solidFill>
            <a:srgbClr val="C0392B"/>
          </a:solidFill>
          <a:ln/>
        </p:spPr>
        <p:txBody>
          <a:bodyPr/>
          <a:lstStyle/>
          <a:p>
            <a:endParaRPr lang="es-PE"/>
          </a:p>
        </p:txBody>
      </p:sp>
      <p:sp>
        <p:nvSpPr>
          <p:cNvPr id="44" name="Text 41"/>
          <p:cNvSpPr txBox="1"/>
          <p:nvPr/>
        </p:nvSpPr>
        <p:spPr>
          <a:xfrm>
            <a:off x="9039201" y="3180896"/>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1.0</a:t>
            </a:r>
            <a:endParaRPr lang="en-US" sz="650"/>
          </a:p>
        </p:txBody>
      </p:sp>
      <p:sp>
        <p:nvSpPr>
          <p:cNvPr id="45" name="Text 42"/>
          <p:cNvSpPr txBox="1"/>
          <p:nvPr/>
        </p:nvSpPr>
        <p:spPr>
          <a:xfrm>
            <a:off x="8318358" y="290340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53814"/>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3214305"/>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3293790"/>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70.2</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84272"/>
            <a:ext cx="589416" cy="3411272"/>
          </a:xfrm>
          <a:prstGeom prst="rect">
            <a:avLst/>
          </a:prstGeom>
          <a:solidFill>
            <a:srgbClr val="5AA6A3"/>
          </a:solidFill>
          <a:ln/>
        </p:spPr>
        <p:txBody>
          <a:bodyPr/>
          <a:lstStyle/>
          <a:p>
            <a:endParaRPr lang="es-PE"/>
          </a:p>
        </p:txBody>
      </p:sp>
      <p:sp>
        <p:nvSpPr>
          <p:cNvPr id="57" name="Text 54"/>
          <p:cNvSpPr txBox="1"/>
          <p:nvPr/>
        </p:nvSpPr>
        <p:spPr>
          <a:xfrm>
            <a:off x="12113310" y="188310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69.1</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3668958"/>
            <a:ext cx="589416" cy="1826586"/>
          </a:xfrm>
          <a:prstGeom prst="rect">
            <a:avLst/>
          </a:prstGeom>
          <a:solidFill>
            <a:srgbClr val="0B2E2C"/>
          </a:solidFill>
          <a:ln/>
        </p:spPr>
        <p:txBody>
          <a:bodyPr/>
          <a:lstStyle/>
          <a:p>
            <a:endParaRPr lang="es-PE"/>
          </a:p>
        </p:txBody>
      </p:sp>
      <p:sp>
        <p:nvSpPr>
          <p:cNvPr id="60" name="Text 57"/>
          <p:cNvSpPr txBox="1"/>
          <p:nvPr/>
        </p:nvSpPr>
        <p:spPr>
          <a:xfrm>
            <a:off x="14070172" y="346779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37.0</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84272"/>
            <a:ext cx="400803" cy="1471142"/>
          </a:xfrm>
          <a:prstGeom prst="rect">
            <a:avLst/>
          </a:prstGeom>
          <a:solidFill>
            <a:srgbClr val="C0392B"/>
          </a:solidFill>
          <a:ln/>
        </p:spPr>
        <p:txBody>
          <a:bodyPr/>
          <a:lstStyle/>
          <a:p>
            <a:endParaRPr lang="es-PE"/>
          </a:p>
        </p:txBody>
      </p:sp>
      <p:sp>
        <p:nvSpPr>
          <p:cNvPr id="63" name="Text 60"/>
          <p:cNvSpPr txBox="1"/>
          <p:nvPr/>
        </p:nvSpPr>
        <p:spPr>
          <a:xfrm>
            <a:off x="12873051" y="274669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29.8</a:t>
            </a:r>
            <a:endParaRPr lang="en-US" sz="650"/>
          </a:p>
        </p:txBody>
      </p:sp>
      <p:sp>
        <p:nvSpPr>
          <p:cNvPr id="64" name="Text 61"/>
          <p:cNvSpPr txBox="1"/>
          <p:nvPr/>
        </p:nvSpPr>
        <p:spPr>
          <a:xfrm>
            <a:off x="12781611" y="177337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3555414"/>
            <a:ext cx="400803" cy="113545"/>
          </a:xfrm>
          <a:prstGeom prst="rect">
            <a:avLst/>
          </a:prstGeom>
          <a:solidFill>
            <a:srgbClr val="C0392B"/>
          </a:solidFill>
          <a:ln/>
        </p:spPr>
        <p:txBody>
          <a:bodyPr/>
          <a:lstStyle/>
          <a:p>
            <a:endParaRPr lang="es-PE"/>
          </a:p>
        </p:txBody>
      </p:sp>
      <p:sp>
        <p:nvSpPr>
          <p:cNvPr id="66" name="Text 63"/>
          <p:cNvSpPr txBox="1"/>
          <p:nvPr/>
        </p:nvSpPr>
        <p:spPr>
          <a:xfrm>
            <a:off x="14091870" y="353903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2.3</a:t>
            </a:r>
            <a:endParaRPr lang="en-US" sz="650"/>
          </a:p>
        </p:txBody>
      </p:sp>
      <p:sp>
        <p:nvSpPr>
          <p:cNvPr id="67" name="Text 64"/>
          <p:cNvSpPr txBox="1"/>
          <p:nvPr/>
        </p:nvSpPr>
        <p:spPr>
          <a:xfrm>
            <a:off x="13371027" y="324451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84272"/>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3555414"/>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3668958"/>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Próximo Recurrente (S/29.8 vs. 2.3 MM), Nuevo en Expansión (S/14.6 vs. 1.0 MM) y Emprendedor Izipay (S/2.0 vs. 0.8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El giro de Emprendedor Izipay (gestión en unidades, monto en valor) sugiere que sus pocas oportunidades no gestionadas son de ticket chico — no alcanzan a cambiar la lectura cuando se pesa por valor.</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Próximo Recurrente vuelve a concentrar, por buen margen, el mayor desajuste de monto de los 3 — el mismo patrón que se repite en cada corte de datos que hemos visto.</a:t>
            </a:r>
            <a:endParaRPr 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1000" b="1">
                <a:solidFill>
                  <a:srgbClr val="13807B"/>
                </a:solidFill>
                <a:latin typeface="Arial" pitchFamily="34" charset="0"/>
                <a:ea typeface="Arial" pitchFamily="34" charset="-122"/>
                <a:cs typeface="Arial" pitchFamily="34" charset="-120"/>
              </a:rPr>
              <a:t>SEGMENTACIÓN ESTRATÉGICA · SHARE OF SALES · MARCO METODOLÓGICO</a:t>
            </a:r>
            <a:endParaRPr lang="en-US" sz="1000"/>
          </a:p>
        </p:txBody>
      </p:sp>
      <p:sp>
        <p:nvSpPr>
          <p:cNvPr id="3" name="Text 1"/>
          <p:cNvSpPr txBox="1"/>
          <p:nvPr/>
        </p:nvSpPr>
        <p:spPr>
          <a:xfrm>
            <a:off x="658368" y="530352"/>
            <a:ext cx="13990320" cy="685800"/>
          </a:xfrm>
          <a:prstGeom prst="rect">
            <a:avLst/>
          </a:prstGeom>
          <a:noFill/>
          <a:ln/>
        </p:spPr>
        <p:txBody>
          <a:bodyPr wrap="square" lIns="0" tIns="0" rIns="0" bIns="0" rtlCol="0" anchor="ctr"/>
          <a:lstStyle/>
          <a:p>
            <a:pPr marL="0" indent="0">
              <a:lnSpc>
                <a:spcPct val="100000"/>
              </a:lnSpc>
              <a:buNone/>
            </a:pPr>
            <a:r>
              <a:rPr lang="en-US" sz="2100" b="1">
                <a:solidFill>
                  <a:srgbClr val="13807B"/>
                </a:solidFill>
                <a:latin typeface="Arial" pitchFamily="34" charset="0"/>
                <a:ea typeface="Arial" pitchFamily="34" charset="-122"/>
                <a:cs typeface="Arial" pitchFamily="34" charset="-120"/>
              </a:rPr>
              <a:t>Cuatro capas para medir el share de forma justa: cada capa retira competencia que IBK no podía ganar</a:t>
            </a:r>
            <a:endParaRPr lang="en-US" sz="21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 name="Shape 3"/>
          <p:cNvSpPr/>
          <p:nvPr/>
        </p:nvSpPr>
        <p:spPr>
          <a:xfrm>
            <a:off x="658368" y="1627632"/>
            <a:ext cx="3487750" cy="402336"/>
          </a:xfrm>
          <a:prstGeom prst="rect">
            <a:avLst/>
          </a:prstGeom>
          <a:solidFill>
            <a:srgbClr val="445A6E"/>
          </a:solidFill>
          <a:ln/>
        </p:spPr>
        <p:txBody>
          <a:bodyPr/>
          <a:lstStyle/>
          <a:p>
            <a:endParaRPr lang="es-PE"/>
          </a:p>
        </p:txBody>
      </p:sp>
      <p:sp>
        <p:nvSpPr>
          <p:cNvPr id="7" name="Text 4"/>
          <p:cNvSpPr txBox="1"/>
          <p:nvPr/>
        </p:nvSpPr>
        <p:spPr>
          <a:xfrm>
            <a:off x="822960"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1 · V1</a:t>
            </a:r>
            <a:endParaRPr lang="en-US" sz="1200"/>
          </a:p>
        </p:txBody>
      </p:sp>
      <p:sp>
        <p:nvSpPr>
          <p:cNvPr id="8" name="Text 5"/>
          <p:cNvSpPr txBox="1"/>
          <p:nvPr/>
        </p:nvSpPr>
        <p:spPr>
          <a:xfrm>
            <a:off x="822960"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Universo total</a:t>
            </a:r>
            <a:endParaRPr lang="en-US" sz="1400"/>
          </a:p>
        </p:txBody>
      </p:sp>
      <p:sp>
        <p:nvSpPr>
          <p:cNvPr id="9" name="Text 6"/>
          <p:cNvSpPr txBox="1"/>
          <p:nvPr/>
        </p:nvSpPr>
        <p:spPr>
          <a:xfrm>
            <a:off x="822960"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Todos los desembolsos del cliente: competencia interna (otro producto de CT) y externa (otros bancos).</a:t>
            </a:r>
            <a:endParaRPr lang="en-US" sz="1100"/>
          </a:p>
        </p:txBody>
      </p:sp>
      <p:sp>
        <p:nvSpPr>
          <p:cNvPr id="10" name="Text 7"/>
          <p:cNvSpPr txBox="1"/>
          <p:nvPr/>
        </p:nvSpPr>
        <p:spPr>
          <a:xfrm>
            <a:off x="822960"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11" name="Shape 8"/>
          <p:cNvSpPr/>
          <p:nvPr/>
        </p:nvSpPr>
        <p:spPr>
          <a:xfrm>
            <a:off x="822960" y="4690872"/>
            <a:ext cx="721062" cy="347472"/>
          </a:xfrm>
          <a:prstGeom prst="rect">
            <a:avLst/>
          </a:prstGeom>
          <a:solidFill>
            <a:srgbClr val="8FCBC6"/>
          </a:solidFill>
          <a:ln/>
        </p:spPr>
        <p:txBody>
          <a:bodyPr/>
          <a:lstStyle/>
          <a:p>
            <a:endParaRPr lang="es-PE"/>
          </a:p>
        </p:txBody>
      </p:sp>
      <p:sp>
        <p:nvSpPr>
          <p:cNvPr id="12" name="Text 9"/>
          <p:cNvSpPr txBox="1"/>
          <p:nvPr/>
        </p:nvSpPr>
        <p:spPr>
          <a:xfrm>
            <a:off x="731520"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Interna</a:t>
            </a:r>
            <a:endParaRPr lang="en-US" sz="750"/>
          </a:p>
        </p:txBody>
      </p:sp>
      <p:sp>
        <p:nvSpPr>
          <p:cNvPr id="13" name="Shape 10"/>
          <p:cNvSpPr/>
          <p:nvPr/>
        </p:nvSpPr>
        <p:spPr>
          <a:xfrm>
            <a:off x="1635462" y="4690872"/>
            <a:ext cx="721062" cy="347472"/>
          </a:xfrm>
          <a:prstGeom prst="rect">
            <a:avLst/>
          </a:prstGeom>
          <a:solidFill>
            <a:srgbClr val="8FCBC6"/>
          </a:solidFill>
          <a:ln/>
        </p:spPr>
        <p:txBody>
          <a:bodyPr/>
          <a:lstStyle/>
          <a:p>
            <a:endParaRPr lang="es-PE"/>
          </a:p>
        </p:txBody>
      </p:sp>
      <p:sp>
        <p:nvSpPr>
          <p:cNvPr id="14" name="Text 11"/>
          <p:cNvSpPr txBox="1"/>
          <p:nvPr/>
        </p:nvSpPr>
        <p:spPr>
          <a:xfrm>
            <a:off x="154402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15" name="Shape 12"/>
          <p:cNvSpPr/>
          <p:nvPr/>
        </p:nvSpPr>
        <p:spPr>
          <a:xfrm>
            <a:off x="2447963" y="4690872"/>
            <a:ext cx="721062" cy="347472"/>
          </a:xfrm>
          <a:prstGeom prst="rect">
            <a:avLst/>
          </a:prstGeom>
          <a:solidFill>
            <a:srgbClr val="8FCBC6"/>
          </a:solidFill>
          <a:ln/>
        </p:spPr>
        <p:txBody>
          <a:bodyPr/>
          <a:lstStyle/>
          <a:p>
            <a:endParaRPr lang="es-PE"/>
          </a:p>
        </p:txBody>
      </p:sp>
      <p:sp>
        <p:nvSpPr>
          <p:cNvPr id="16" name="Text 13"/>
          <p:cNvSpPr txBox="1"/>
          <p:nvPr/>
        </p:nvSpPr>
        <p:spPr>
          <a:xfrm>
            <a:off x="235652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17" name="Shape 14"/>
          <p:cNvSpPr/>
          <p:nvPr/>
        </p:nvSpPr>
        <p:spPr>
          <a:xfrm>
            <a:off x="3260465" y="4690872"/>
            <a:ext cx="721062" cy="347472"/>
          </a:xfrm>
          <a:prstGeom prst="rect">
            <a:avLst/>
          </a:prstGeom>
          <a:solidFill>
            <a:srgbClr val="0C514E"/>
          </a:solidFill>
          <a:ln/>
        </p:spPr>
        <p:txBody>
          <a:bodyPr/>
          <a:lstStyle/>
          <a:p>
            <a:endParaRPr lang="es-PE"/>
          </a:p>
        </p:txBody>
      </p:sp>
      <p:sp>
        <p:nvSpPr>
          <p:cNvPr id="18" name="Text 15"/>
          <p:cNvSpPr txBox="1"/>
          <p:nvPr/>
        </p:nvSpPr>
        <p:spPr>
          <a:xfrm>
            <a:off x="3169025"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19" name="Shape 16"/>
          <p:cNvSpPr/>
          <p:nvPr/>
        </p:nvSpPr>
        <p:spPr>
          <a:xfrm>
            <a:off x="822960" y="5632704"/>
            <a:ext cx="3158566" cy="0"/>
          </a:xfrm>
          <a:prstGeom prst="line">
            <a:avLst/>
          </a:prstGeom>
          <a:noFill/>
          <a:ln w="9525">
            <a:solidFill>
              <a:srgbClr val="D5DFDE"/>
            </a:solidFill>
            <a:prstDash val="solid"/>
          </a:ln>
        </p:spPr>
        <p:txBody>
          <a:bodyPr/>
          <a:lstStyle/>
          <a:p>
            <a:endParaRPr lang="es-PE"/>
          </a:p>
        </p:txBody>
      </p:sp>
      <p:sp>
        <p:nvSpPr>
          <p:cNvPr id="20" name="Text 17"/>
          <p:cNvSpPr txBox="1"/>
          <p:nvPr/>
        </p:nvSpPr>
        <p:spPr>
          <a:xfrm>
            <a:off x="822960"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PUNTO DE PARTIDA</a:t>
            </a:r>
            <a:endParaRPr lang="en-US" sz="850"/>
          </a:p>
        </p:txBody>
      </p:sp>
      <p:sp>
        <p:nvSpPr>
          <p:cNvPr id="21" name="Text 18"/>
          <p:cNvSpPr txBox="1"/>
          <p:nvPr/>
        </p:nvSpPr>
        <p:spPr>
          <a:xfrm>
            <a:off x="822960" y="5961888"/>
            <a:ext cx="3158566" cy="347472"/>
          </a:xfrm>
          <a:prstGeom prst="rect">
            <a:avLst/>
          </a:prstGeom>
          <a:noFill/>
          <a:ln/>
        </p:spPr>
        <p:txBody>
          <a:bodyPr wrap="square" lIns="0" tIns="0" rIns="0" bIns="0" rtlCol="0" anchor="ctr"/>
          <a:lstStyle/>
          <a:p>
            <a:pPr marL="0" indent="0">
              <a:buNone/>
            </a:pPr>
            <a:r>
              <a:rPr lang="en-US" sz="1500" b="1">
                <a:solidFill>
                  <a:srgbClr val="13807B"/>
                </a:solidFill>
                <a:latin typeface="Arial" pitchFamily="34" charset="0"/>
                <a:ea typeface="Arial" pitchFamily="34" charset="-122"/>
                <a:cs typeface="Arial" pitchFamily="34" charset="-120"/>
              </a:rPr>
              <a:t>Todo el universo relevante</a:t>
            </a:r>
            <a:endParaRPr lang="en-US" sz="1500"/>
          </a:p>
        </p:txBody>
      </p:sp>
      <p:sp>
        <p:nvSpPr>
          <p:cNvPr id="22" name="Shape 19"/>
          <p:cNvSpPr/>
          <p:nvPr/>
        </p:nvSpPr>
        <p:spPr>
          <a:xfrm>
            <a:off x="4200982" y="3872484"/>
            <a:ext cx="219456" cy="402336"/>
          </a:xfrm>
          <a:prstGeom prst="chevron">
            <a:avLst/>
          </a:prstGeom>
          <a:solidFill>
            <a:srgbClr val="D5DFDE"/>
          </a:solidFill>
          <a:ln/>
        </p:spPr>
        <p:txBody>
          <a:bodyPr/>
          <a:lstStyle/>
          <a:p>
            <a:endParaRPr lang="es-PE"/>
          </a:p>
        </p:txBody>
      </p:sp>
      <p:sp>
        <p:nvSpPr>
          <p:cNvPr id="23" name="Shape 20"/>
          <p:cNvSpPr/>
          <p:nvPr/>
        </p:nvSpPr>
        <p:spPr>
          <a:xfrm>
            <a:off x="4475302"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24" name="Shape 21"/>
          <p:cNvSpPr/>
          <p:nvPr/>
        </p:nvSpPr>
        <p:spPr>
          <a:xfrm>
            <a:off x="4475302" y="1627632"/>
            <a:ext cx="3487750" cy="402336"/>
          </a:xfrm>
          <a:prstGeom prst="rect">
            <a:avLst/>
          </a:prstGeom>
          <a:solidFill>
            <a:srgbClr val="2F9E98"/>
          </a:solidFill>
          <a:ln/>
        </p:spPr>
        <p:txBody>
          <a:bodyPr/>
          <a:lstStyle/>
          <a:p>
            <a:endParaRPr lang="es-PE"/>
          </a:p>
        </p:txBody>
      </p:sp>
      <p:sp>
        <p:nvSpPr>
          <p:cNvPr id="25" name="Text 22"/>
          <p:cNvSpPr txBox="1"/>
          <p:nvPr/>
        </p:nvSpPr>
        <p:spPr>
          <a:xfrm>
            <a:off x="4639894"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2 · V2</a:t>
            </a:r>
            <a:endParaRPr lang="en-US" sz="1200"/>
          </a:p>
        </p:txBody>
      </p:sp>
      <p:sp>
        <p:nvSpPr>
          <p:cNvPr id="26" name="Text 23"/>
          <p:cNvSpPr txBox="1"/>
          <p:nvPr/>
        </p:nvSpPr>
        <p:spPr>
          <a:xfrm>
            <a:off x="4639894"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Sin competencia interna</a:t>
            </a:r>
            <a:endParaRPr lang="en-US" sz="1400"/>
          </a:p>
        </p:txBody>
      </p:sp>
      <p:sp>
        <p:nvSpPr>
          <p:cNvPr id="27" name="Text 24"/>
          <p:cNvSpPr txBox="1"/>
          <p:nvPr/>
        </p:nvSpPr>
        <p:spPr>
          <a:xfrm>
            <a:off x="4639894"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28" name="Text 25"/>
          <p:cNvSpPr txBox="1"/>
          <p:nvPr/>
        </p:nvSpPr>
        <p:spPr>
          <a:xfrm>
            <a:off x="4639894"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29" name="Shape 26"/>
          <p:cNvSpPr/>
          <p:nvPr/>
        </p:nvSpPr>
        <p:spPr>
          <a:xfrm>
            <a:off x="463989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30" name="Text 27"/>
          <p:cNvSpPr txBox="1"/>
          <p:nvPr/>
        </p:nvSpPr>
        <p:spPr>
          <a:xfrm>
            <a:off x="454845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31" name="Shape 28"/>
          <p:cNvSpPr/>
          <p:nvPr/>
        </p:nvSpPr>
        <p:spPr>
          <a:xfrm>
            <a:off x="5452396" y="4690872"/>
            <a:ext cx="721062" cy="347472"/>
          </a:xfrm>
          <a:prstGeom prst="rect">
            <a:avLst/>
          </a:prstGeom>
          <a:solidFill>
            <a:srgbClr val="8FCBC6"/>
          </a:solidFill>
          <a:ln/>
        </p:spPr>
        <p:txBody>
          <a:bodyPr/>
          <a:lstStyle/>
          <a:p>
            <a:endParaRPr lang="es-PE"/>
          </a:p>
        </p:txBody>
      </p:sp>
      <p:sp>
        <p:nvSpPr>
          <p:cNvPr id="32" name="Text 29"/>
          <p:cNvSpPr txBox="1"/>
          <p:nvPr/>
        </p:nvSpPr>
        <p:spPr>
          <a:xfrm>
            <a:off x="5360956"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33" name="Shape 30"/>
          <p:cNvSpPr/>
          <p:nvPr/>
        </p:nvSpPr>
        <p:spPr>
          <a:xfrm>
            <a:off x="6264897" y="4690872"/>
            <a:ext cx="721062" cy="347472"/>
          </a:xfrm>
          <a:prstGeom prst="rect">
            <a:avLst/>
          </a:prstGeom>
          <a:solidFill>
            <a:srgbClr val="8FCBC6"/>
          </a:solidFill>
          <a:ln/>
        </p:spPr>
        <p:txBody>
          <a:bodyPr/>
          <a:lstStyle/>
          <a:p>
            <a:endParaRPr lang="es-PE"/>
          </a:p>
        </p:txBody>
      </p:sp>
      <p:sp>
        <p:nvSpPr>
          <p:cNvPr id="34" name="Text 31"/>
          <p:cNvSpPr txBox="1"/>
          <p:nvPr/>
        </p:nvSpPr>
        <p:spPr>
          <a:xfrm>
            <a:off x="617345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35" name="Shape 32"/>
          <p:cNvSpPr/>
          <p:nvPr/>
        </p:nvSpPr>
        <p:spPr>
          <a:xfrm>
            <a:off x="7077399" y="4690872"/>
            <a:ext cx="721062" cy="347472"/>
          </a:xfrm>
          <a:prstGeom prst="rect">
            <a:avLst/>
          </a:prstGeom>
          <a:solidFill>
            <a:srgbClr val="0C514E"/>
          </a:solidFill>
          <a:ln/>
        </p:spPr>
        <p:txBody>
          <a:bodyPr/>
          <a:lstStyle/>
          <a:p>
            <a:endParaRPr lang="es-PE"/>
          </a:p>
        </p:txBody>
      </p:sp>
      <p:sp>
        <p:nvSpPr>
          <p:cNvPr id="36" name="Text 33"/>
          <p:cNvSpPr txBox="1"/>
          <p:nvPr/>
        </p:nvSpPr>
        <p:spPr>
          <a:xfrm>
            <a:off x="6985959"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37" name="Shape 34"/>
          <p:cNvSpPr/>
          <p:nvPr/>
        </p:nvSpPr>
        <p:spPr>
          <a:xfrm>
            <a:off x="4639894" y="5632704"/>
            <a:ext cx="3158566" cy="0"/>
          </a:xfrm>
          <a:prstGeom prst="line">
            <a:avLst/>
          </a:prstGeom>
          <a:noFill/>
          <a:ln w="9525">
            <a:solidFill>
              <a:srgbClr val="D5DFDE"/>
            </a:solidFill>
            <a:prstDash val="solid"/>
          </a:ln>
        </p:spPr>
        <p:txBody>
          <a:bodyPr/>
          <a:lstStyle/>
          <a:p>
            <a:endParaRPr lang="es-PE"/>
          </a:p>
        </p:txBody>
      </p:sp>
      <p:sp>
        <p:nvSpPr>
          <p:cNvPr id="38" name="Text 35"/>
          <p:cNvSpPr txBox="1"/>
          <p:nvPr/>
        </p:nvSpPr>
        <p:spPr>
          <a:xfrm>
            <a:off x="4639894"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39" name="Text 36"/>
          <p:cNvSpPr txBox="1"/>
          <p:nvPr/>
        </p:nvSpPr>
        <p:spPr>
          <a:xfrm>
            <a:off x="4639894"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Competencia interna</a:t>
            </a:r>
            <a:endParaRPr lang="en-US" sz="1500"/>
          </a:p>
        </p:txBody>
      </p:sp>
      <p:sp>
        <p:nvSpPr>
          <p:cNvPr id="40" name="Shape 37"/>
          <p:cNvSpPr/>
          <p:nvPr/>
        </p:nvSpPr>
        <p:spPr>
          <a:xfrm>
            <a:off x="8017916" y="3872484"/>
            <a:ext cx="219456" cy="402336"/>
          </a:xfrm>
          <a:prstGeom prst="chevron">
            <a:avLst/>
          </a:prstGeom>
          <a:solidFill>
            <a:srgbClr val="D5DFDE"/>
          </a:solidFill>
          <a:ln/>
        </p:spPr>
        <p:txBody>
          <a:bodyPr/>
          <a:lstStyle/>
          <a:p>
            <a:endParaRPr lang="es-PE"/>
          </a:p>
        </p:txBody>
      </p:sp>
      <p:sp>
        <p:nvSpPr>
          <p:cNvPr id="41" name="Shape 38"/>
          <p:cNvSpPr/>
          <p:nvPr/>
        </p:nvSpPr>
        <p:spPr>
          <a:xfrm>
            <a:off x="8292236"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42" name="Shape 39"/>
          <p:cNvSpPr/>
          <p:nvPr/>
        </p:nvSpPr>
        <p:spPr>
          <a:xfrm>
            <a:off x="8292236" y="1627632"/>
            <a:ext cx="3487750" cy="402336"/>
          </a:xfrm>
          <a:prstGeom prst="rect">
            <a:avLst/>
          </a:prstGeom>
          <a:solidFill>
            <a:srgbClr val="13807B"/>
          </a:solidFill>
          <a:ln/>
        </p:spPr>
        <p:txBody>
          <a:bodyPr/>
          <a:lstStyle/>
          <a:p>
            <a:endParaRPr lang="es-PE"/>
          </a:p>
        </p:txBody>
      </p:sp>
      <p:sp>
        <p:nvSpPr>
          <p:cNvPr id="43" name="Text 40"/>
          <p:cNvSpPr txBox="1"/>
          <p:nvPr/>
        </p:nvSpPr>
        <p:spPr>
          <a:xfrm>
            <a:off x="8456828"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3 · V3</a:t>
            </a:r>
            <a:endParaRPr lang="en-US" sz="1200"/>
          </a:p>
        </p:txBody>
      </p:sp>
      <p:sp>
        <p:nvSpPr>
          <p:cNvPr id="44" name="Text 41"/>
          <p:cNvSpPr txBox="1"/>
          <p:nvPr/>
        </p:nvSpPr>
        <p:spPr>
          <a:xfrm>
            <a:off x="8456828"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a:t>
            </a:r>
            <a:endParaRPr lang="en-US" sz="1400"/>
          </a:p>
        </p:txBody>
      </p:sp>
      <p:sp>
        <p:nvSpPr>
          <p:cNvPr id="45" name="Text 42"/>
          <p:cNvSpPr txBox="1"/>
          <p:nvPr/>
        </p:nvSpPr>
        <p:spPr>
          <a:xfrm>
            <a:off x="8456828" y="2743200"/>
            <a:ext cx="3158566" cy="1417320"/>
          </a:xfrm>
          <a:prstGeom prst="rect">
            <a:avLst/>
          </a:prstGeom>
          <a:noFill/>
          <a:ln/>
        </p:spPr>
        <p:txBody>
          <a:bodyPr wrap="square" lIns="0" tIns="0" rIns="0" bIns="0" rtlCol="0" anchor="t"/>
          <a:lstStyle/>
          <a:p>
            <a:pPr>
              <a:lnSpc>
                <a:spcPct val="135000"/>
              </a:lnSpc>
            </a:pPr>
            <a:r>
              <a:rPr lang="en-US" sz="1100">
                <a:solidFill>
                  <a:srgbClr val="0B2E2C"/>
                </a:solidFill>
                <a:latin typeface="Arial" pitchFamily="34" charset="0"/>
                <a:ea typeface="Arial" pitchFamily="34" charset="-122"/>
                <a:cs typeface="Arial" pitchFamily="34" charset="-120"/>
              </a:rPr>
              <a:t>Se retira la competencia con un monto muy distinto al que maneja el </a:t>
            </a:r>
            <a:r>
              <a:rPr lang="en-US" sz="1100" err="1">
                <a:solidFill>
                  <a:srgbClr val="0B2E2C"/>
                </a:solidFill>
                <a:latin typeface="Arial" pitchFamily="34" charset="0"/>
                <a:ea typeface="Arial" pitchFamily="34" charset="-122"/>
                <a:cs typeface="Arial" pitchFamily="34" charset="-120"/>
              </a:rPr>
              <a:t>cliente</a:t>
            </a:r>
            <a:r>
              <a:rPr lang="en-US" sz="1100">
                <a:solidFill>
                  <a:srgbClr val="0B2E2C"/>
                </a:solidFill>
                <a:latin typeface="Arial" pitchFamily="34" charset="0"/>
                <a:ea typeface="Arial" pitchFamily="34" charset="-122"/>
                <a:cs typeface="Arial" pitchFamily="34" charset="-120"/>
              </a:rPr>
              <a:t> (</a:t>
            </a:r>
            <a:r>
              <a:rPr lang="es-ES" sz="1100">
                <a:solidFill>
                  <a:srgbClr val="0B2E2C"/>
                </a:solidFill>
                <a:latin typeface="Arial" pitchFamily="34" charset="0"/>
                <a:ea typeface="Arial" pitchFamily="34" charset="-122"/>
                <a:cs typeface="Arial" pitchFamily="34" charset="-120"/>
              </a:rPr>
              <a:t>menor al 70% y mayor al 120% del monto ofertado</a:t>
            </a:r>
            <a:r>
              <a:rPr lang="en-US" sz="1100">
                <a:solidFill>
                  <a:srgbClr val="0B2E2C"/>
                </a:solidFill>
                <a:latin typeface="Arial" pitchFamily="34" charset="0"/>
                <a:ea typeface="Arial" pitchFamily="34" charset="-122"/>
                <a:cs typeface="Arial" pitchFamily="34" charset="-120"/>
              </a:rPr>
              <a:t>).</a:t>
            </a:r>
            <a:endParaRPr lang="en-US" sz="1100"/>
          </a:p>
        </p:txBody>
      </p:sp>
      <p:sp>
        <p:nvSpPr>
          <p:cNvPr id="46" name="Text 43"/>
          <p:cNvSpPr txBox="1"/>
          <p:nvPr/>
        </p:nvSpPr>
        <p:spPr>
          <a:xfrm>
            <a:off x="8456828"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47" name="Shape 44"/>
          <p:cNvSpPr/>
          <p:nvPr/>
        </p:nvSpPr>
        <p:spPr>
          <a:xfrm>
            <a:off x="8456828"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48" name="Text 45"/>
          <p:cNvSpPr txBox="1"/>
          <p:nvPr/>
        </p:nvSpPr>
        <p:spPr>
          <a:xfrm>
            <a:off x="8365388"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49" name="Shape 46"/>
          <p:cNvSpPr/>
          <p:nvPr/>
        </p:nvSpPr>
        <p:spPr>
          <a:xfrm>
            <a:off x="9269330"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50" name="Text 47"/>
          <p:cNvSpPr txBox="1"/>
          <p:nvPr/>
        </p:nvSpPr>
        <p:spPr>
          <a:xfrm>
            <a:off x="9177890"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51" name="Shape 48"/>
          <p:cNvSpPr/>
          <p:nvPr/>
        </p:nvSpPr>
        <p:spPr>
          <a:xfrm>
            <a:off x="10081832" y="4690872"/>
            <a:ext cx="721062" cy="347472"/>
          </a:xfrm>
          <a:prstGeom prst="rect">
            <a:avLst/>
          </a:prstGeom>
          <a:solidFill>
            <a:srgbClr val="8FCBC6"/>
          </a:solidFill>
          <a:ln/>
        </p:spPr>
        <p:txBody>
          <a:bodyPr/>
          <a:lstStyle/>
          <a:p>
            <a:endParaRPr lang="es-PE"/>
          </a:p>
        </p:txBody>
      </p:sp>
      <p:sp>
        <p:nvSpPr>
          <p:cNvPr id="52" name="Text 49"/>
          <p:cNvSpPr txBox="1"/>
          <p:nvPr/>
        </p:nvSpPr>
        <p:spPr>
          <a:xfrm>
            <a:off x="999039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53" name="Shape 50"/>
          <p:cNvSpPr/>
          <p:nvPr/>
        </p:nvSpPr>
        <p:spPr>
          <a:xfrm>
            <a:off x="10894333" y="4690872"/>
            <a:ext cx="721062" cy="347472"/>
          </a:xfrm>
          <a:prstGeom prst="rect">
            <a:avLst/>
          </a:prstGeom>
          <a:solidFill>
            <a:srgbClr val="0C514E"/>
          </a:solidFill>
          <a:ln/>
        </p:spPr>
        <p:txBody>
          <a:bodyPr/>
          <a:lstStyle/>
          <a:p>
            <a:endParaRPr lang="es-PE"/>
          </a:p>
        </p:txBody>
      </p:sp>
      <p:sp>
        <p:nvSpPr>
          <p:cNvPr id="54" name="Text 51"/>
          <p:cNvSpPr txBox="1"/>
          <p:nvPr/>
        </p:nvSpPr>
        <p:spPr>
          <a:xfrm>
            <a:off x="1080289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55" name="Shape 52"/>
          <p:cNvSpPr/>
          <p:nvPr/>
        </p:nvSpPr>
        <p:spPr>
          <a:xfrm>
            <a:off x="8456828" y="5632704"/>
            <a:ext cx="3158566" cy="0"/>
          </a:xfrm>
          <a:prstGeom prst="line">
            <a:avLst/>
          </a:prstGeom>
          <a:noFill/>
          <a:ln w="9525">
            <a:solidFill>
              <a:srgbClr val="D5DFDE"/>
            </a:solidFill>
            <a:prstDash val="solid"/>
          </a:ln>
        </p:spPr>
        <p:txBody>
          <a:bodyPr/>
          <a:lstStyle/>
          <a:p>
            <a:endParaRPr lang="es-PE"/>
          </a:p>
        </p:txBody>
      </p:sp>
      <p:sp>
        <p:nvSpPr>
          <p:cNvPr id="56" name="Text 53"/>
          <p:cNvSpPr txBox="1"/>
          <p:nvPr/>
        </p:nvSpPr>
        <p:spPr>
          <a:xfrm>
            <a:off x="8456828"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57" name="Text 54"/>
          <p:cNvSpPr txBox="1"/>
          <p:nvPr/>
        </p:nvSpPr>
        <p:spPr>
          <a:xfrm>
            <a:off x="8456828"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Monto no comparable</a:t>
            </a:r>
            <a:endParaRPr lang="en-US" sz="1500"/>
          </a:p>
        </p:txBody>
      </p:sp>
      <p:sp>
        <p:nvSpPr>
          <p:cNvPr id="58" name="Shape 55"/>
          <p:cNvSpPr/>
          <p:nvPr/>
        </p:nvSpPr>
        <p:spPr>
          <a:xfrm>
            <a:off x="11834851" y="3872484"/>
            <a:ext cx="219456" cy="402336"/>
          </a:xfrm>
          <a:prstGeom prst="chevron">
            <a:avLst/>
          </a:prstGeom>
          <a:solidFill>
            <a:srgbClr val="D5DFDE"/>
          </a:solidFill>
          <a:ln/>
        </p:spPr>
        <p:txBody>
          <a:bodyPr/>
          <a:lstStyle/>
          <a:p>
            <a:endParaRPr lang="es-PE"/>
          </a:p>
        </p:txBody>
      </p:sp>
      <p:sp>
        <p:nvSpPr>
          <p:cNvPr id="59" name="Shape 56"/>
          <p:cNvSpPr/>
          <p:nvPr/>
        </p:nvSpPr>
        <p:spPr>
          <a:xfrm>
            <a:off x="12109171"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0" name="Shape 57"/>
          <p:cNvSpPr/>
          <p:nvPr/>
        </p:nvSpPr>
        <p:spPr>
          <a:xfrm>
            <a:off x="12109171" y="1627632"/>
            <a:ext cx="3487750" cy="402336"/>
          </a:xfrm>
          <a:prstGeom prst="rect">
            <a:avLst/>
          </a:prstGeom>
          <a:solidFill>
            <a:srgbClr val="0C514E"/>
          </a:solidFill>
          <a:ln/>
        </p:spPr>
        <p:txBody>
          <a:bodyPr/>
          <a:lstStyle/>
          <a:p>
            <a:endParaRPr lang="es-PE"/>
          </a:p>
        </p:txBody>
      </p:sp>
      <p:sp>
        <p:nvSpPr>
          <p:cNvPr id="61" name="Text 58"/>
          <p:cNvSpPr txBox="1"/>
          <p:nvPr/>
        </p:nvSpPr>
        <p:spPr>
          <a:xfrm>
            <a:off x="12273763"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4 · V4</a:t>
            </a:r>
            <a:endParaRPr lang="en-US" sz="1200"/>
          </a:p>
        </p:txBody>
      </p:sp>
      <p:sp>
        <p:nvSpPr>
          <p:cNvPr id="62" name="Text 59"/>
          <p:cNvSpPr txBox="1"/>
          <p:nvPr/>
        </p:nvSpPr>
        <p:spPr>
          <a:xfrm>
            <a:off x="12273763"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 y gestionado</a:t>
            </a:r>
            <a:endParaRPr lang="en-US" sz="1400"/>
          </a:p>
        </p:txBody>
      </p:sp>
      <p:sp>
        <p:nvSpPr>
          <p:cNvPr id="63" name="Text 60"/>
          <p:cNvSpPr txBox="1"/>
          <p:nvPr/>
        </p:nvSpPr>
        <p:spPr>
          <a:xfrm>
            <a:off x="12273763"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de monto comparable que IBK no gestionó activamente.</a:t>
            </a:r>
            <a:endParaRPr lang="en-US" sz="1100"/>
          </a:p>
        </p:txBody>
      </p:sp>
      <p:sp>
        <p:nvSpPr>
          <p:cNvPr id="64" name="Text 61"/>
          <p:cNvSpPr txBox="1"/>
          <p:nvPr/>
        </p:nvSpPr>
        <p:spPr>
          <a:xfrm>
            <a:off x="12273763"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65" name="Shape 62"/>
          <p:cNvSpPr/>
          <p:nvPr/>
        </p:nvSpPr>
        <p:spPr>
          <a:xfrm>
            <a:off x="12273763"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6" name="Text 63"/>
          <p:cNvSpPr txBox="1"/>
          <p:nvPr/>
        </p:nvSpPr>
        <p:spPr>
          <a:xfrm>
            <a:off x="12182323"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67" name="Shape 64"/>
          <p:cNvSpPr/>
          <p:nvPr/>
        </p:nvSpPr>
        <p:spPr>
          <a:xfrm>
            <a:off x="1308626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8" name="Text 65"/>
          <p:cNvSpPr txBox="1"/>
          <p:nvPr/>
        </p:nvSpPr>
        <p:spPr>
          <a:xfrm>
            <a:off x="1299482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69" name="Shape 66"/>
          <p:cNvSpPr/>
          <p:nvPr/>
        </p:nvSpPr>
        <p:spPr>
          <a:xfrm>
            <a:off x="13898766"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70" name="Text 67"/>
          <p:cNvSpPr txBox="1"/>
          <p:nvPr/>
        </p:nvSpPr>
        <p:spPr>
          <a:xfrm>
            <a:off x="13807326"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gest.</a:t>
            </a:r>
            <a:endParaRPr lang="en-US" sz="750"/>
          </a:p>
        </p:txBody>
      </p:sp>
      <p:sp>
        <p:nvSpPr>
          <p:cNvPr id="71" name="Shape 68"/>
          <p:cNvSpPr/>
          <p:nvPr/>
        </p:nvSpPr>
        <p:spPr>
          <a:xfrm>
            <a:off x="14711267" y="4690872"/>
            <a:ext cx="721062" cy="347472"/>
          </a:xfrm>
          <a:prstGeom prst="rect">
            <a:avLst/>
          </a:prstGeom>
          <a:solidFill>
            <a:srgbClr val="0C514E"/>
          </a:solidFill>
          <a:ln/>
        </p:spPr>
        <p:txBody>
          <a:bodyPr/>
          <a:lstStyle/>
          <a:p>
            <a:endParaRPr lang="es-PE"/>
          </a:p>
        </p:txBody>
      </p:sp>
      <p:sp>
        <p:nvSpPr>
          <p:cNvPr id="72" name="Text 69"/>
          <p:cNvSpPr txBox="1"/>
          <p:nvPr/>
        </p:nvSpPr>
        <p:spPr>
          <a:xfrm>
            <a:off x="1461982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73" name="Shape 70"/>
          <p:cNvSpPr/>
          <p:nvPr/>
        </p:nvSpPr>
        <p:spPr>
          <a:xfrm>
            <a:off x="12273763" y="5632704"/>
            <a:ext cx="3158566" cy="0"/>
          </a:xfrm>
          <a:prstGeom prst="line">
            <a:avLst/>
          </a:prstGeom>
          <a:noFill/>
          <a:ln w="9525">
            <a:solidFill>
              <a:srgbClr val="D5DFDE"/>
            </a:solidFill>
            <a:prstDash val="solid"/>
          </a:ln>
        </p:spPr>
        <p:txBody>
          <a:bodyPr/>
          <a:lstStyle/>
          <a:p>
            <a:endParaRPr lang="es-PE"/>
          </a:p>
        </p:txBody>
      </p:sp>
      <p:sp>
        <p:nvSpPr>
          <p:cNvPr id="74" name="Text 71"/>
          <p:cNvSpPr txBox="1"/>
          <p:nvPr/>
        </p:nvSpPr>
        <p:spPr>
          <a:xfrm>
            <a:off x="12273763"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75" name="Text 72"/>
          <p:cNvSpPr txBox="1"/>
          <p:nvPr/>
        </p:nvSpPr>
        <p:spPr>
          <a:xfrm>
            <a:off x="12273763"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No gestionado</a:t>
            </a:r>
            <a:endParaRPr lang="en-US" sz="1500"/>
          </a:p>
        </p:txBody>
      </p:sp>
      <p:sp>
        <p:nvSpPr>
          <p:cNvPr id="76" name="Shape 73"/>
          <p:cNvSpPr/>
          <p:nvPr/>
        </p:nvSpPr>
        <p:spPr>
          <a:xfrm>
            <a:off x="658368" y="6739128"/>
            <a:ext cx="14938553" cy="777240"/>
          </a:xfrm>
          <a:prstGeom prst="rect">
            <a:avLst/>
          </a:prstGeom>
          <a:solidFill>
            <a:srgbClr val="F6FBFA"/>
          </a:solidFill>
          <a:ln w="9525">
            <a:solidFill>
              <a:srgbClr val="D5DFDE"/>
            </a:solidFill>
            <a:prstDash val="solid"/>
          </a:ln>
        </p:spPr>
        <p:txBody>
          <a:bodyPr/>
          <a:lstStyle/>
          <a:p>
            <a:endParaRPr lang="es-PE"/>
          </a:p>
        </p:txBody>
      </p:sp>
      <p:sp>
        <p:nvSpPr>
          <p:cNvPr id="77" name="Text 74"/>
          <p:cNvSpPr txBox="1"/>
          <p:nvPr/>
        </p:nvSpPr>
        <p:spPr>
          <a:xfrm>
            <a:off x="914400" y="6830568"/>
            <a:ext cx="14538960" cy="594360"/>
          </a:xfrm>
          <a:prstGeom prst="rect">
            <a:avLst/>
          </a:prstGeom>
          <a:noFill/>
          <a:ln/>
        </p:spPr>
        <p:txBody>
          <a:bodyPr wrap="square" lIns="0" tIns="0" rIns="0" bIns="0" rtlCol="0" anchor="t"/>
          <a:lstStyle/>
          <a:p>
            <a:pPr marL="0" indent="0">
              <a:lnSpc>
                <a:spcPct val="115000"/>
              </a:lnSpc>
              <a:buNone/>
            </a:pPr>
            <a:r>
              <a:rPr lang="en-US" sz="1100" b="1">
                <a:solidFill>
                  <a:srgbClr val="13807B"/>
                </a:solidFill>
                <a:latin typeface="Arial" pitchFamily="34" charset="0"/>
                <a:ea typeface="Arial" pitchFamily="34" charset="-122"/>
                <a:cs typeface="Arial" pitchFamily="34" charset="-120"/>
              </a:rPr>
              <a:t>En la práctica  </a:t>
            </a:r>
            <a:r>
              <a:rPr lang="en-US" sz="1100">
                <a:solidFill>
                  <a:srgbClr val="0B2E2C"/>
                </a:solidFill>
                <a:latin typeface="Arial" pitchFamily="34" charset="0"/>
                <a:ea typeface="Arial" pitchFamily="34" charset="-122"/>
                <a:cs typeface="Arial" pitchFamily="34" charset="-120"/>
              </a:rPr>
              <a:t>V1 siempre es el número más chico y V4 el más grande, porque cada capa compara contra un grupo más parecido al cliente. La distancia entre dos capas seguidas indica cuánto pesa lo que esa capa retiró: si V4 es mucho más alto que V3, gran parte de lo que en V1 parecía "competencia perdida" en realidad eran oportunidades que IBK no gestionó, no clientes que se fueron con otro banco.</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CON DEUDA · UNIDADES (N)</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Los 6 clusters con deuda caen, pero de forma más moderada de lo visto antes — parten de niveles mucho más altos</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Ancla</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2,4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-11 pp</a:t>
            </a:r>
            <a:endParaRPr lang="en-US" sz="750"/>
          </a:p>
        </p:txBody>
      </p:sp>
      <p:sp>
        <p:nvSpPr>
          <p:cNvPr id="12" name="Shape 9"/>
          <p:cNvSpPr/>
          <p:nvPr/>
        </p:nvSpPr>
        <p:spPr>
          <a:xfrm>
            <a:off x="65836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a:off x="1078992" y="2143910"/>
            <a:ext cx="1071143" cy="19342"/>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63252"/>
            <a:ext cx="1071143" cy="96708"/>
          </a:xfrm>
          <a:prstGeom prst="line">
            <a:avLst/>
          </a:prstGeom>
          <a:noFill/>
          <a:ln w="19050">
            <a:solidFill>
              <a:srgbClr val="0B2E2C"/>
            </a:solidFill>
            <a:prstDash val="solid"/>
          </a:ln>
        </p:spPr>
        <p:txBody>
          <a:bodyPr/>
          <a:lstStyle/>
          <a:p>
            <a:endParaRPr lang="es-PE"/>
          </a:p>
        </p:txBody>
      </p:sp>
      <p:sp>
        <p:nvSpPr>
          <p:cNvPr id="16" name="Shape 13"/>
          <p:cNvSpPr/>
          <p:nvPr/>
        </p:nvSpPr>
        <p:spPr>
          <a:xfrm flipV="1">
            <a:off x="3221279" y="2230947"/>
            <a:ext cx="1071143" cy="29012"/>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163252"/>
            <a:ext cx="1071143" cy="67695"/>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405021"/>
            <a:ext cx="1071143" cy="48354"/>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405021"/>
            <a:ext cx="1071143" cy="0"/>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405021"/>
            <a:ext cx="1071143" cy="48354"/>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414692"/>
            <a:ext cx="1071143" cy="38683"/>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194274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20,6</a:t>
            </a:r>
            <a:endParaRPr lang="en-US" sz="700"/>
          </a:p>
        </p:txBody>
      </p:sp>
      <p:sp>
        <p:nvSpPr>
          <p:cNvPr id="23" name="Text 20"/>
          <p:cNvSpPr txBox="1"/>
          <p:nvPr/>
        </p:nvSpPr>
        <p:spPr>
          <a:xfrm>
            <a:off x="5043526" y="19620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20,4</a:t>
            </a:r>
            <a:endParaRPr lang="en-US" sz="700"/>
          </a:p>
        </p:txBody>
      </p:sp>
      <p:sp>
        <p:nvSpPr>
          <p:cNvPr id="24" name="Text 21"/>
          <p:cNvSpPr txBox="1"/>
          <p:nvPr/>
        </p:nvSpPr>
        <p:spPr>
          <a:xfrm>
            <a:off x="758952" y="250823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17,4</a:t>
            </a:r>
            <a:endParaRPr lang="en-US" sz="700"/>
          </a:p>
        </p:txBody>
      </p:sp>
      <p:sp>
        <p:nvSpPr>
          <p:cNvPr id="25" name="Text 22"/>
          <p:cNvSpPr txBox="1"/>
          <p:nvPr/>
        </p:nvSpPr>
        <p:spPr>
          <a:xfrm>
            <a:off x="5043526" y="24695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17,8</a:t>
            </a:r>
            <a:endParaRPr lang="en-US" sz="700"/>
          </a:p>
        </p:txBody>
      </p:sp>
      <p:sp>
        <p:nvSpPr>
          <p:cNvPr id="26" name="Text 23"/>
          <p:cNvSpPr txBox="1"/>
          <p:nvPr/>
        </p:nvSpPr>
        <p:spPr>
          <a:xfrm>
            <a:off x="71323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2900148"/>
            <a:ext cx="728899" cy="332256"/>
          </a:xfrm>
          <a:prstGeom prst="rect">
            <a:avLst/>
          </a:prstGeom>
          <a:solidFill>
            <a:srgbClr val="13807B"/>
          </a:solidFill>
          <a:ln/>
        </p:spPr>
        <p:txBody>
          <a:bodyPr/>
          <a:lstStyle/>
          <a:p>
            <a:endParaRPr lang="es-PE"/>
          </a:p>
        </p:txBody>
      </p:sp>
      <p:sp>
        <p:nvSpPr>
          <p:cNvPr id="28" name="Text 25"/>
          <p:cNvSpPr txBox="1"/>
          <p:nvPr/>
        </p:nvSpPr>
        <p:spPr>
          <a:xfrm>
            <a:off x="1005840" y="271726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96%</a:t>
            </a:r>
            <a:endParaRPr lang="en-US" sz="750"/>
          </a:p>
        </p:txBody>
      </p:sp>
      <p:sp>
        <p:nvSpPr>
          <p:cNvPr id="29" name="Text 26"/>
          <p:cNvSpPr txBox="1"/>
          <p:nvPr/>
        </p:nvSpPr>
        <p:spPr>
          <a:xfrm>
            <a:off x="96012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2913992"/>
            <a:ext cx="728899" cy="318412"/>
          </a:xfrm>
          <a:prstGeom prst="rect">
            <a:avLst/>
          </a:prstGeom>
          <a:solidFill>
            <a:srgbClr val="13807B"/>
          </a:solidFill>
          <a:ln/>
        </p:spPr>
        <p:txBody>
          <a:bodyPr/>
          <a:lstStyle/>
          <a:p>
            <a:endParaRPr lang="es-PE"/>
          </a:p>
        </p:txBody>
      </p:sp>
      <p:sp>
        <p:nvSpPr>
          <p:cNvPr id="31" name="Text 28"/>
          <p:cNvSpPr txBox="1"/>
          <p:nvPr/>
        </p:nvSpPr>
        <p:spPr>
          <a:xfrm>
            <a:off x="1862755" y="273111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92%</a:t>
            </a:r>
            <a:endParaRPr lang="en-US" sz="750"/>
          </a:p>
        </p:txBody>
      </p:sp>
      <p:sp>
        <p:nvSpPr>
          <p:cNvPr id="32" name="Text 29"/>
          <p:cNvSpPr txBox="1"/>
          <p:nvPr/>
        </p:nvSpPr>
        <p:spPr>
          <a:xfrm>
            <a:off x="1817035"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2913992"/>
            <a:ext cx="728899" cy="318412"/>
          </a:xfrm>
          <a:prstGeom prst="rect">
            <a:avLst/>
          </a:prstGeom>
          <a:solidFill>
            <a:srgbClr val="13807B"/>
          </a:solidFill>
          <a:ln/>
        </p:spPr>
        <p:txBody>
          <a:bodyPr/>
          <a:lstStyle/>
          <a:p>
            <a:endParaRPr lang="es-PE"/>
          </a:p>
        </p:txBody>
      </p:sp>
      <p:sp>
        <p:nvSpPr>
          <p:cNvPr id="34" name="Text 31"/>
          <p:cNvSpPr txBox="1"/>
          <p:nvPr/>
        </p:nvSpPr>
        <p:spPr>
          <a:xfrm>
            <a:off x="2719669" y="273111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92%</a:t>
            </a:r>
            <a:endParaRPr lang="en-US" sz="750"/>
          </a:p>
        </p:txBody>
      </p:sp>
      <p:sp>
        <p:nvSpPr>
          <p:cNvPr id="35" name="Text 32"/>
          <p:cNvSpPr txBox="1"/>
          <p:nvPr/>
        </p:nvSpPr>
        <p:spPr>
          <a:xfrm>
            <a:off x="267394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2913992"/>
            <a:ext cx="728899" cy="318412"/>
          </a:xfrm>
          <a:prstGeom prst="rect">
            <a:avLst/>
          </a:prstGeom>
          <a:solidFill>
            <a:srgbClr val="13807B"/>
          </a:solidFill>
          <a:ln/>
        </p:spPr>
        <p:txBody>
          <a:bodyPr/>
          <a:lstStyle/>
          <a:p>
            <a:endParaRPr lang="es-PE"/>
          </a:p>
        </p:txBody>
      </p:sp>
      <p:sp>
        <p:nvSpPr>
          <p:cNvPr id="37" name="Text 34"/>
          <p:cNvSpPr txBox="1"/>
          <p:nvPr/>
        </p:nvSpPr>
        <p:spPr>
          <a:xfrm>
            <a:off x="3576584" y="273111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92%</a:t>
            </a:r>
            <a:endParaRPr lang="en-US" sz="750"/>
          </a:p>
        </p:txBody>
      </p:sp>
      <p:sp>
        <p:nvSpPr>
          <p:cNvPr id="38" name="Text 35"/>
          <p:cNvSpPr txBox="1"/>
          <p:nvPr/>
        </p:nvSpPr>
        <p:spPr>
          <a:xfrm>
            <a:off x="353086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2938219"/>
            <a:ext cx="728899" cy="294185"/>
          </a:xfrm>
          <a:prstGeom prst="rect">
            <a:avLst/>
          </a:prstGeom>
          <a:solidFill>
            <a:srgbClr val="13807B"/>
          </a:solidFill>
          <a:ln/>
        </p:spPr>
        <p:txBody>
          <a:bodyPr/>
          <a:lstStyle/>
          <a:p>
            <a:endParaRPr lang="es-PE"/>
          </a:p>
        </p:txBody>
      </p:sp>
      <p:sp>
        <p:nvSpPr>
          <p:cNvPr id="40" name="Text 37"/>
          <p:cNvSpPr txBox="1"/>
          <p:nvPr/>
        </p:nvSpPr>
        <p:spPr>
          <a:xfrm>
            <a:off x="4433499" y="275533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85%</a:t>
            </a:r>
            <a:endParaRPr lang="en-US" sz="750"/>
          </a:p>
        </p:txBody>
      </p:sp>
      <p:sp>
        <p:nvSpPr>
          <p:cNvPr id="41" name="Text 38"/>
          <p:cNvSpPr txBox="1"/>
          <p:nvPr/>
        </p:nvSpPr>
        <p:spPr>
          <a:xfrm>
            <a:off x="438777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3232404"/>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Socio en Crecimiento</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-15 pp</a:t>
            </a:r>
            <a:endParaRPr lang="en-US" sz="750"/>
          </a:p>
        </p:txBody>
      </p:sp>
      <p:sp>
        <p:nvSpPr>
          <p:cNvPr id="49" name="Shape 46"/>
          <p:cNvSpPr/>
          <p:nvPr/>
        </p:nvSpPr>
        <p:spPr>
          <a:xfrm>
            <a:off x="571103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a:off x="6131662" y="2137721"/>
            <a:ext cx="1071143" cy="26691"/>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4412"/>
            <a:ext cx="1071143" cy="62280"/>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226692"/>
            <a:ext cx="1071143" cy="0"/>
          </a:xfrm>
          <a:prstGeom prst="line">
            <a:avLst/>
          </a:prstGeom>
          <a:noFill/>
          <a:ln w="19050">
            <a:solidFill>
              <a:srgbClr val="0B2E2C"/>
            </a:solidFill>
            <a:prstDash val="solid"/>
          </a:ln>
        </p:spPr>
        <p:txBody>
          <a:bodyPr/>
          <a:lstStyle/>
          <a:p>
            <a:endParaRPr lang="es-PE"/>
          </a:p>
        </p:txBody>
      </p:sp>
      <p:sp>
        <p:nvSpPr>
          <p:cNvPr id="54" name="Shape 51"/>
          <p:cNvSpPr/>
          <p:nvPr/>
        </p:nvSpPr>
        <p:spPr>
          <a:xfrm flipV="1">
            <a:off x="9345092" y="2182206"/>
            <a:ext cx="1071143" cy="44486"/>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377943"/>
            <a:ext cx="1071143" cy="26691"/>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377943"/>
            <a:ext cx="1071143" cy="26691"/>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404634"/>
            <a:ext cx="1071143" cy="53383"/>
          </a:xfrm>
          <a:prstGeom prst="line">
            <a:avLst/>
          </a:prstGeom>
          <a:noFill/>
          <a:ln w="19050">
            <a:solidFill>
              <a:srgbClr val="E67E22"/>
            </a:solidFill>
            <a:prstDash val="dash"/>
          </a:ln>
        </p:spPr>
        <p:txBody>
          <a:bodyPr/>
          <a:lstStyle/>
          <a:p>
            <a:endParaRPr lang="es-PE"/>
          </a:p>
        </p:txBody>
      </p:sp>
      <p:sp>
        <p:nvSpPr>
          <p:cNvPr id="58" name="Shape 55"/>
          <p:cNvSpPr/>
          <p:nvPr/>
        </p:nvSpPr>
        <p:spPr>
          <a:xfrm flipV="1">
            <a:off x="9345092" y="2395737"/>
            <a:ext cx="1071143" cy="62280"/>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193655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21,2</a:t>
            </a:r>
            <a:endParaRPr lang="en-US" sz="700"/>
          </a:p>
        </p:txBody>
      </p:sp>
      <p:sp>
        <p:nvSpPr>
          <p:cNvPr id="60" name="Text 57"/>
          <p:cNvSpPr txBox="1"/>
          <p:nvPr/>
        </p:nvSpPr>
        <p:spPr>
          <a:xfrm>
            <a:off x="10096195" y="1981038"/>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20,7</a:t>
            </a:r>
            <a:endParaRPr lang="en-US" sz="700"/>
          </a:p>
        </p:txBody>
      </p:sp>
      <p:sp>
        <p:nvSpPr>
          <p:cNvPr id="61" name="Text 58"/>
          <p:cNvSpPr txBox="1"/>
          <p:nvPr/>
        </p:nvSpPr>
        <p:spPr>
          <a:xfrm>
            <a:off x="5811622" y="245949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18,2</a:t>
            </a:r>
            <a:endParaRPr lang="en-US" sz="700"/>
          </a:p>
        </p:txBody>
      </p:sp>
      <p:sp>
        <p:nvSpPr>
          <p:cNvPr id="62" name="Text 59"/>
          <p:cNvSpPr txBox="1"/>
          <p:nvPr/>
        </p:nvSpPr>
        <p:spPr>
          <a:xfrm>
            <a:off x="10096195" y="2450601"/>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18,3</a:t>
            </a:r>
            <a:endParaRPr lang="en-US" sz="700"/>
          </a:p>
        </p:txBody>
      </p:sp>
      <p:sp>
        <p:nvSpPr>
          <p:cNvPr id="63" name="Text 60"/>
          <p:cNvSpPr txBox="1"/>
          <p:nvPr/>
        </p:nvSpPr>
        <p:spPr>
          <a:xfrm>
            <a:off x="576590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2920914"/>
            <a:ext cx="728899" cy="311490"/>
          </a:xfrm>
          <a:prstGeom prst="rect">
            <a:avLst/>
          </a:prstGeom>
          <a:solidFill>
            <a:srgbClr val="13807B"/>
          </a:solidFill>
          <a:ln/>
        </p:spPr>
        <p:txBody>
          <a:bodyPr/>
          <a:lstStyle/>
          <a:p>
            <a:endParaRPr lang="es-PE"/>
          </a:p>
        </p:txBody>
      </p:sp>
      <p:sp>
        <p:nvSpPr>
          <p:cNvPr id="65" name="Text 62"/>
          <p:cNvSpPr txBox="1"/>
          <p:nvPr/>
        </p:nvSpPr>
        <p:spPr>
          <a:xfrm>
            <a:off x="6058510" y="273803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90%</a:t>
            </a:r>
            <a:endParaRPr lang="en-US" sz="750"/>
          </a:p>
        </p:txBody>
      </p:sp>
      <p:sp>
        <p:nvSpPr>
          <p:cNvPr id="66" name="Text 63"/>
          <p:cNvSpPr txBox="1"/>
          <p:nvPr/>
        </p:nvSpPr>
        <p:spPr>
          <a:xfrm>
            <a:off x="601279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2955524"/>
            <a:ext cx="728899" cy="276880"/>
          </a:xfrm>
          <a:prstGeom prst="rect">
            <a:avLst/>
          </a:prstGeom>
          <a:solidFill>
            <a:srgbClr val="13807B"/>
          </a:solidFill>
          <a:ln/>
        </p:spPr>
        <p:txBody>
          <a:bodyPr/>
          <a:lstStyle/>
          <a:p>
            <a:endParaRPr lang="es-PE"/>
          </a:p>
        </p:txBody>
      </p:sp>
      <p:sp>
        <p:nvSpPr>
          <p:cNvPr id="68" name="Text 65"/>
          <p:cNvSpPr txBox="1"/>
          <p:nvPr/>
        </p:nvSpPr>
        <p:spPr>
          <a:xfrm>
            <a:off x="6915424" y="277264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80%</a:t>
            </a:r>
            <a:endParaRPr lang="en-US" sz="750"/>
          </a:p>
        </p:txBody>
      </p:sp>
      <p:sp>
        <p:nvSpPr>
          <p:cNvPr id="69" name="Text 66"/>
          <p:cNvSpPr txBox="1"/>
          <p:nvPr/>
        </p:nvSpPr>
        <p:spPr>
          <a:xfrm>
            <a:off x="686970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2962446"/>
            <a:ext cx="728899" cy="269958"/>
          </a:xfrm>
          <a:prstGeom prst="rect">
            <a:avLst/>
          </a:prstGeom>
          <a:solidFill>
            <a:srgbClr val="13807B"/>
          </a:solidFill>
          <a:ln/>
        </p:spPr>
        <p:txBody>
          <a:bodyPr/>
          <a:lstStyle/>
          <a:p>
            <a:endParaRPr lang="es-PE"/>
          </a:p>
        </p:txBody>
      </p:sp>
      <p:sp>
        <p:nvSpPr>
          <p:cNvPr id="71" name="Text 68"/>
          <p:cNvSpPr txBox="1"/>
          <p:nvPr/>
        </p:nvSpPr>
        <p:spPr>
          <a:xfrm>
            <a:off x="7772339" y="277956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78%</a:t>
            </a:r>
            <a:endParaRPr lang="en-US" sz="750"/>
          </a:p>
        </p:txBody>
      </p:sp>
      <p:sp>
        <p:nvSpPr>
          <p:cNvPr id="72" name="Text 69"/>
          <p:cNvSpPr txBox="1"/>
          <p:nvPr/>
        </p:nvSpPr>
        <p:spPr>
          <a:xfrm>
            <a:off x="772661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2955524"/>
            <a:ext cx="728899" cy="276880"/>
          </a:xfrm>
          <a:prstGeom prst="rect">
            <a:avLst/>
          </a:prstGeom>
          <a:solidFill>
            <a:srgbClr val="13807B"/>
          </a:solidFill>
          <a:ln/>
        </p:spPr>
        <p:txBody>
          <a:bodyPr/>
          <a:lstStyle/>
          <a:p>
            <a:endParaRPr lang="es-PE"/>
          </a:p>
        </p:txBody>
      </p:sp>
      <p:sp>
        <p:nvSpPr>
          <p:cNvPr id="74" name="Text 71"/>
          <p:cNvSpPr txBox="1"/>
          <p:nvPr/>
        </p:nvSpPr>
        <p:spPr>
          <a:xfrm>
            <a:off x="8629254" y="277264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80%</a:t>
            </a:r>
            <a:endParaRPr lang="en-US" sz="750"/>
          </a:p>
        </p:txBody>
      </p:sp>
      <p:sp>
        <p:nvSpPr>
          <p:cNvPr id="75" name="Text 72"/>
          <p:cNvSpPr txBox="1"/>
          <p:nvPr/>
        </p:nvSpPr>
        <p:spPr>
          <a:xfrm>
            <a:off x="858353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2972829"/>
            <a:ext cx="728899" cy="259575"/>
          </a:xfrm>
          <a:prstGeom prst="rect">
            <a:avLst/>
          </a:prstGeom>
          <a:solidFill>
            <a:srgbClr val="13807B"/>
          </a:solidFill>
          <a:ln/>
        </p:spPr>
        <p:txBody>
          <a:bodyPr/>
          <a:lstStyle/>
          <a:p>
            <a:endParaRPr lang="es-PE"/>
          </a:p>
        </p:txBody>
      </p:sp>
      <p:sp>
        <p:nvSpPr>
          <p:cNvPr id="77" name="Text 74"/>
          <p:cNvSpPr txBox="1"/>
          <p:nvPr/>
        </p:nvSpPr>
        <p:spPr>
          <a:xfrm>
            <a:off x="9486168" y="278994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78" name="Text 75"/>
          <p:cNvSpPr txBox="1"/>
          <p:nvPr/>
        </p:nvSpPr>
        <p:spPr>
          <a:xfrm>
            <a:off x="944044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3232404"/>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Cuenta Estratégica</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2,8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-15 pp</a:t>
            </a:r>
            <a:endParaRPr lang="en-US" sz="750"/>
          </a:p>
        </p:txBody>
      </p:sp>
      <p:sp>
        <p:nvSpPr>
          <p:cNvPr id="86" name="Shape 83"/>
          <p:cNvSpPr/>
          <p:nvPr/>
        </p:nvSpPr>
        <p:spPr>
          <a:xfrm>
            <a:off x="10763707"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a:off x="11184331" y="2133692"/>
            <a:ext cx="1071143" cy="41968"/>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75660"/>
            <a:ext cx="1071143" cy="67148"/>
          </a:xfrm>
          <a:prstGeom prst="line">
            <a:avLst/>
          </a:prstGeom>
          <a:noFill/>
          <a:ln w="19050">
            <a:solidFill>
              <a:srgbClr val="0B2E2C"/>
            </a:solidFill>
            <a:prstDash val="solid"/>
          </a:ln>
        </p:spPr>
        <p:txBody>
          <a:bodyPr/>
          <a:lstStyle/>
          <a:p>
            <a:endParaRPr lang="es-PE"/>
          </a:p>
        </p:txBody>
      </p:sp>
      <p:sp>
        <p:nvSpPr>
          <p:cNvPr id="90" name="Shape 87"/>
          <p:cNvSpPr/>
          <p:nvPr/>
        </p:nvSpPr>
        <p:spPr>
          <a:xfrm flipV="1">
            <a:off x="13326618" y="2226021"/>
            <a:ext cx="1071143" cy="16787"/>
          </a:xfrm>
          <a:prstGeom prst="line">
            <a:avLst/>
          </a:prstGeom>
          <a:noFill/>
          <a:ln w="19050">
            <a:solidFill>
              <a:srgbClr val="0B2E2C"/>
            </a:solidFill>
            <a:prstDash val="solid"/>
          </a:ln>
        </p:spPr>
        <p:txBody>
          <a:bodyPr/>
          <a:lstStyle/>
          <a:p>
            <a:endParaRPr lang="es-PE"/>
          </a:p>
        </p:txBody>
      </p:sp>
      <p:sp>
        <p:nvSpPr>
          <p:cNvPr id="91" name="Shape 88"/>
          <p:cNvSpPr/>
          <p:nvPr/>
        </p:nvSpPr>
        <p:spPr>
          <a:xfrm flipV="1">
            <a:off x="14397761" y="2200840"/>
            <a:ext cx="1071143" cy="25181"/>
          </a:xfrm>
          <a:prstGeom prst="line">
            <a:avLst/>
          </a:prstGeom>
          <a:noFill/>
          <a:ln w="19050">
            <a:solidFill>
              <a:srgbClr val="0B2E2C"/>
            </a:solidFill>
            <a:prstDash val="solid"/>
          </a:ln>
        </p:spPr>
        <p:txBody>
          <a:bodyPr/>
          <a:lstStyle/>
          <a:p>
            <a:endParaRPr lang="es-PE"/>
          </a:p>
        </p:txBody>
      </p:sp>
      <p:sp>
        <p:nvSpPr>
          <p:cNvPr id="92" name="Shape 89"/>
          <p:cNvSpPr/>
          <p:nvPr/>
        </p:nvSpPr>
        <p:spPr>
          <a:xfrm flipV="1">
            <a:off x="11184331" y="2427465"/>
            <a:ext cx="1071143" cy="16787"/>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427465"/>
            <a:ext cx="1071143" cy="0"/>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427465"/>
            <a:ext cx="1071143" cy="33574"/>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410678"/>
            <a:ext cx="1071143" cy="50361"/>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193252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97" name="Text 94"/>
          <p:cNvSpPr txBox="1"/>
          <p:nvPr/>
        </p:nvSpPr>
        <p:spPr>
          <a:xfrm>
            <a:off x="15148865" y="199967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20,0</a:t>
            </a:r>
            <a:endParaRPr lang="en-US" sz="700"/>
          </a:p>
        </p:txBody>
      </p:sp>
      <p:sp>
        <p:nvSpPr>
          <p:cNvPr id="98" name="Text 95"/>
          <p:cNvSpPr txBox="1"/>
          <p:nvPr/>
        </p:nvSpPr>
        <p:spPr>
          <a:xfrm>
            <a:off x="10864291" y="249911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17,1</a:t>
            </a:r>
            <a:endParaRPr lang="en-US" sz="700"/>
          </a:p>
        </p:txBody>
      </p:sp>
      <p:sp>
        <p:nvSpPr>
          <p:cNvPr id="99" name="Text 96"/>
          <p:cNvSpPr txBox="1"/>
          <p:nvPr/>
        </p:nvSpPr>
        <p:spPr>
          <a:xfrm>
            <a:off x="15148865" y="2465542"/>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00" name="Text 97"/>
          <p:cNvSpPr txBox="1"/>
          <p:nvPr/>
        </p:nvSpPr>
        <p:spPr>
          <a:xfrm>
            <a:off x="10818571"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2907070"/>
            <a:ext cx="728899" cy="325334"/>
          </a:xfrm>
          <a:prstGeom prst="rect">
            <a:avLst/>
          </a:prstGeom>
          <a:solidFill>
            <a:srgbClr val="13807B"/>
          </a:solidFill>
          <a:ln/>
        </p:spPr>
        <p:txBody>
          <a:bodyPr/>
          <a:lstStyle/>
          <a:p>
            <a:endParaRPr lang="es-PE"/>
          </a:p>
        </p:txBody>
      </p:sp>
      <p:sp>
        <p:nvSpPr>
          <p:cNvPr id="102" name="Text 99"/>
          <p:cNvSpPr txBox="1"/>
          <p:nvPr/>
        </p:nvSpPr>
        <p:spPr>
          <a:xfrm>
            <a:off x="11111179" y="272419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94%</a:t>
            </a:r>
            <a:endParaRPr lang="en-US" sz="750"/>
          </a:p>
        </p:txBody>
      </p:sp>
      <p:sp>
        <p:nvSpPr>
          <p:cNvPr id="103" name="Text 100"/>
          <p:cNvSpPr txBox="1"/>
          <p:nvPr/>
        </p:nvSpPr>
        <p:spPr>
          <a:xfrm>
            <a:off x="1106545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2924375"/>
            <a:ext cx="728899" cy="308029"/>
          </a:xfrm>
          <a:prstGeom prst="rect">
            <a:avLst/>
          </a:prstGeom>
          <a:solidFill>
            <a:srgbClr val="13807B"/>
          </a:solidFill>
          <a:ln/>
        </p:spPr>
        <p:txBody>
          <a:bodyPr/>
          <a:lstStyle/>
          <a:p>
            <a:endParaRPr lang="es-PE"/>
          </a:p>
        </p:txBody>
      </p:sp>
      <p:sp>
        <p:nvSpPr>
          <p:cNvPr id="105" name="Text 102"/>
          <p:cNvSpPr txBox="1"/>
          <p:nvPr/>
        </p:nvSpPr>
        <p:spPr>
          <a:xfrm>
            <a:off x="11968094" y="274149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106" name="Text 103"/>
          <p:cNvSpPr txBox="1"/>
          <p:nvPr/>
        </p:nvSpPr>
        <p:spPr>
          <a:xfrm>
            <a:off x="1192237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2962446"/>
            <a:ext cx="728899" cy="269958"/>
          </a:xfrm>
          <a:prstGeom prst="rect">
            <a:avLst/>
          </a:prstGeom>
          <a:solidFill>
            <a:srgbClr val="13807B"/>
          </a:solidFill>
          <a:ln/>
        </p:spPr>
        <p:txBody>
          <a:bodyPr/>
          <a:lstStyle/>
          <a:p>
            <a:endParaRPr lang="es-PE"/>
          </a:p>
        </p:txBody>
      </p:sp>
      <p:sp>
        <p:nvSpPr>
          <p:cNvPr id="108" name="Text 105"/>
          <p:cNvSpPr txBox="1"/>
          <p:nvPr/>
        </p:nvSpPr>
        <p:spPr>
          <a:xfrm>
            <a:off x="12825009" y="277956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78%</a:t>
            </a:r>
            <a:endParaRPr lang="en-US" sz="750"/>
          </a:p>
        </p:txBody>
      </p:sp>
      <p:sp>
        <p:nvSpPr>
          <p:cNvPr id="109" name="Text 106"/>
          <p:cNvSpPr txBox="1"/>
          <p:nvPr/>
        </p:nvSpPr>
        <p:spPr>
          <a:xfrm>
            <a:off x="1277928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2934758"/>
            <a:ext cx="728899" cy="297646"/>
          </a:xfrm>
          <a:prstGeom prst="rect">
            <a:avLst/>
          </a:prstGeom>
          <a:solidFill>
            <a:srgbClr val="13807B"/>
          </a:solidFill>
          <a:ln/>
        </p:spPr>
        <p:txBody>
          <a:bodyPr/>
          <a:lstStyle/>
          <a:p>
            <a:endParaRPr lang="es-PE"/>
          </a:p>
        </p:txBody>
      </p:sp>
      <p:sp>
        <p:nvSpPr>
          <p:cNvPr id="111" name="Text 108"/>
          <p:cNvSpPr txBox="1"/>
          <p:nvPr/>
        </p:nvSpPr>
        <p:spPr>
          <a:xfrm>
            <a:off x="13681923" y="275187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86%</a:t>
            </a:r>
            <a:endParaRPr lang="en-US" sz="750"/>
          </a:p>
        </p:txBody>
      </p:sp>
      <p:sp>
        <p:nvSpPr>
          <p:cNvPr id="112" name="Text 109"/>
          <p:cNvSpPr txBox="1"/>
          <p:nvPr/>
        </p:nvSpPr>
        <p:spPr>
          <a:xfrm>
            <a:off x="13636203"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2958985"/>
            <a:ext cx="728899" cy="273419"/>
          </a:xfrm>
          <a:prstGeom prst="rect">
            <a:avLst/>
          </a:prstGeom>
          <a:solidFill>
            <a:srgbClr val="13807B"/>
          </a:solidFill>
          <a:ln/>
        </p:spPr>
        <p:txBody>
          <a:bodyPr/>
          <a:lstStyle/>
          <a:p>
            <a:endParaRPr lang="es-PE"/>
          </a:p>
        </p:txBody>
      </p:sp>
      <p:sp>
        <p:nvSpPr>
          <p:cNvPr id="114" name="Text 111"/>
          <p:cNvSpPr txBox="1"/>
          <p:nvPr/>
        </p:nvSpPr>
        <p:spPr>
          <a:xfrm>
            <a:off x="14538838" y="277610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115" name="Text 112"/>
          <p:cNvSpPr txBox="1"/>
          <p:nvPr/>
        </p:nvSpPr>
        <p:spPr>
          <a:xfrm>
            <a:off x="1449311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3232404"/>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3835908"/>
            <a:ext cx="4833214" cy="329184"/>
          </a:xfrm>
          <a:prstGeom prst="rect">
            <a:avLst/>
          </a:prstGeom>
          <a:solidFill>
            <a:srgbClr val="13807B"/>
          </a:solidFill>
          <a:ln/>
        </p:spPr>
        <p:txBody>
          <a:bodyPr/>
          <a:lstStyle/>
          <a:p>
            <a:endParaRPr lang="es-PE"/>
          </a:p>
        </p:txBody>
      </p:sp>
      <p:sp>
        <p:nvSpPr>
          <p:cNvPr id="118" name="Text 115"/>
          <p:cNvSpPr txBox="1"/>
          <p:nvPr/>
        </p:nvSpPr>
        <p:spPr>
          <a:xfrm>
            <a:off x="76809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Maduro Multibanco</a:t>
            </a:r>
            <a:endParaRPr lang="en-US" sz="1100"/>
          </a:p>
        </p:txBody>
      </p:sp>
      <p:sp>
        <p:nvSpPr>
          <p:cNvPr id="119" name="Shape 116"/>
          <p:cNvSpPr/>
          <p:nvPr/>
        </p:nvSpPr>
        <p:spPr>
          <a:xfrm>
            <a:off x="2783674" y="3881628"/>
            <a:ext cx="1401632" cy="237744"/>
          </a:xfrm>
          <a:prstGeom prst="roundRect">
            <a:avLst>
              <a:gd name="adj" fmla="val 23077"/>
            </a:avLst>
          </a:prstGeom>
          <a:solidFill>
            <a:srgbClr val="0B2E2C"/>
          </a:solidFill>
          <a:ln/>
        </p:spPr>
        <p:txBody>
          <a:bodyPr/>
          <a:lstStyle/>
          <a:p>
            <a:endParaRPr lang="es-PE"/>
          </a:p>
        </p:txBody>
      </p:sp>
      <p:sp>
        <p:nvSpPr>
          <p:cNvPr id="120" name="Text 117"/>
          <p:cNvSpPr txBox="1"/>
          <p:nvPr/>
        </p:nvSpPr>
        <p:spPr>
          <a:xfrm>
            <a:off x="278367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3,0 pp</a:t>
            </a:r>
            <a:endParaRPr lang="en-US" sz="750"/>
          </a:p>
        </p:txBody>
      </p:sp>
      <p:sp>
        <p:nvSpPr>
          <p:cNvPr id="121" name="Shape 118"/>
          <p:cNvSpPr/>
          <p:nvPr/>
        </p:nvSpPr>
        <p:spPr>
          <a:xfrm>
            <a:off x="4258458" y="3881628"/>
            <a:ext cx="1159971" cy="237744"/>
          </a:xfrm>
          <a:prstGeom prst="roundRect">
            <a:avLst>
              <a:gd name="adj" fmla="val 23077"/>
            </a:avLst>
          </a:prstGeom>
          <a:solidFill>
            <a:srgbClr val="FFFFFF"/>
          </a:solidFill>
          <a:ln/>
        </p:spPr>
        <p:txBody>
          <a:bodyPr/>
          <a:lstStyle/>
          <a:p>
            <a:endParaRPr lang="es-PE"/>
          </a:p>
        </p:txBody>
      </p:sp>
      <p:sp>
        <p:nvSpPr>
          <p:cNvPr id="122" name="Text 119"/>
          <p:cNvSpPr txBox="1"/>
          <p:nvPr/>
        </p:nvSpPr>
        <p:spPr>
          <a:xfrm>
            <a:off x="425845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-20 pp</a:t>
            </a:r>
            <a:endParaRPr lang="en-US" sz="750"/>
          </a:p>
        </p:txBody>
      </p:sp>
      <p:sp>
        <p:nvSpPr>
          <p:cNvPr id="123" name="Shape 120"/>
          <p:cNvSpPr/>
          <p:nvPr/>
        </p:nvSpPr>
        <p:spPr>
          <a:xfrm>
            <a:off x="65836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24" name="Text 121"/>
          <p:cNvSpPr txBox="1"/>
          <p:nvPr/>
        </p:nvSpPr>
        <p:spPr>
          <a:xfrm>
            <a:off x="71323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25" name="Shape 122"/>
          <p:cNvSpPr/>
          <p:nvPr/>
        </p:nvSpPr>
        <p:spPr>
          <a:xfrm>
            <a:off x="1078992" y="4541893"/>
            <a:ext cx="1071143" cy="41190"/>
          </a:xfrm>
          <a:prstGeom prst="line">
            <a:avLst/>
          </a:prstGeom>
          <a:noFill/>
          <a:ln w="19050">
            <a:solidFill>
              <a:srgbClr val="0B2E2C"/>
            </a:solidFill>
            <a:prstDash val="solid"/>
          </a:ln>
        </p:spPr>
        <p:txBody>
          <a:bodyPr/>
          <a:lstStyle/>
          <a:p>
            <a:endParaRPr lang="es-PE"/>
          </a:p>
        </p:txBody>
      </p:sp>
      <p:sp>
        <p:nvSpPr>
          <p:cNvPr id="126" name="Shape 123"/>
          <p:cNvSpPr/>
          <p:nvPr/>
        </p:nvSpPr>
        <p:spPr>
          <a:xfrm>
            <a:off x="2150135" y="4583083"/>
            <a:ext cx="1071143" cy="57666"/>
          </a:xfrm>
          <a:prstGeom prst="line">
            <a:avLst/>
          </a:prstGeom>
          <a:noFill/>
          <a:ln w="19050">
            <a:solidFill>
              <a:srgbClr val="0B2E2C"/>
            </a:solidFill>
            <a:prstDash val="solid"/>
          </a:ln>
        </p:spPr>
        <p:txBody>
          <a:bodyPr/>
          <a:lstStyle/>
          <a:p>
            <a:endParaRPr lang="es-PE"/>
          </a:p>
        </p:txBody>
      </p:sp>
      <p:sp>
        <p:nvSpPr>
          <p:cNvPr id="127" name="Shape 124"/>
          <p:cNvSpPr/>
          <p:nvPr/>
        </p:nvSpPr>
        <p:spPr>
          <a:xfrm flipV="1">
            <a:off x="3221279" y="4591321"/>
            <a:ext cx="1071143" cy="49428"/>
          </a:xfrm>
          <a:prstGeom prst="line">
            <a:avLst/>
          </a:prstGeom>
          <a:noFill/>
          <a:ln w="19050">
            <a:solidFill>
              <a:srgbClr val="0B2E2C"/>
            </a:solidFill>
            <a:prstDash val="solid"/>
          </a:ln>
        </p:spPr>
        <p:txBody>
          <a:bodyPr/>
          <a:lstStyle/>
          <a:p>
            <a:endParaRPr lang="es-PE"/>
          </a:p>
        </p:txBody>
      </p:sp>
      <p:sp>
        <p:nvSpPr>
          <p:cNvPr id="128" name="Shape 125"/>
          <p:cNvSpPr/>
          <p:nvPr/>
        </p:nvSpPr>
        <p:spPr>
          <a:xfrm flipV="1">
            <a:off x="4292422" y="4574845"/>
            <a:ext cx="1071143" cy="16476"/>
          </a:xfrm>
          <a:prstGeom prst="line">
            <a:avLst/>
          </a:prstGeom>
          <a:noFill/>
          <a:ln w="19050">
            <a:solidFill>
              <a:srgbClr val="0B2E2C"/>
            </a:solidFill>
            <a:prstDash val="solid"/>
          </a:ln>
        </p:spPr>
        <p:txBody>
          <a:bodyPr/>
          <a:lstStyle/>
          <a:p>
            <a:endParaRPr lang="es-PE"/>
          </a:p>
        </p:txBody>
      </p:sp>
      <p:sp>
        <p:nvSpPr>
          <p:cNvPr id="129" name="Shape 126"/>
          <p:cNvSpPr/>
          <p:nvPr/>
        </p:nvSpPr>
        <p:spPr>
          <a:xfrm>
            <a:off x="1078992" y="4813749"/>
            <a:ext cx="1071143" cy="8238"/>
          </a:xfrm>
          <a:prstGeom prst="line">
            <a:avLst/>
          </a:prstGeom>
          <a:noFill/>
          <a:ln w="19050">
            <a:solidFill>
              <a:srgbClr val="E67E22"/>
            </a:solidFill>
            <a:prstDash val="dash"/>
          </a:ln>
        </p:spPr>
        <p:txBody>
          <a:bodyPr/>
          <a:lstStyle/>
          <a:p>
            <a:endParaRPr lang="es-PE"/>
          </a:p>
        </p:txBody>
      </p:sp>
      <p:sp>
        <p:nvSpPr>
          <p:cNvPr id="130" name="Shape 127"/>
          <p:cNvSpPr/>
          <p:nvPr/>
        </p:nvSpPr>
        <p:spPr>
          <a:xfrm>
            <a:off x="2150135" y="4821987"/>
            <a:ext cx="1071143" cy="8238"/>
          </a:xfrm>
          <a:prstGeom prst="line">
            <a:avLst/>
          </a:prstGeom>
          <a:noFill/>
          <a:ln w="19050">
            <a:solidFill>
              <a:srgbClr val="E67E22"/>
            </a:solidFill>
            <a:prstDash val="dash"/>
          </a:ln>
        </p:spPr>
        <p:txBody>
          <a:bodyPr/>
          <a:lstStyle/>
          <a:p>
            <a:endParaRPr lang="es-PE"/>
          </a:p>
        </p:txBody>
      </p:sp>
      <p:sp>
        <p:nvSpPr>
          <p:cNvPr id="131" name="Shape 128"/>
          <p:cNvSpPr/>
          <p:nvPr/>
        </p:nvSpPr>
        <p:spPr>
          <a:xfrm>
            <a:off x="3221279" y="4830225"/>
            <a:ext cx="1071143" cy="41190"/>
          </a:xfrm>
          <a:prstGeom prst="line">
            <a:avLst/>
          </a:prstGeom>
          <a:noFill/>
          <a:ln w="19050">
            <a:solidFill>
              <a:srgbClr val="E67E22"/>
            </a:solidFill>
            <a:prstDash val="dash"/>
          </a:ln>
        </p:spPr>
        <p:txBody>
          <a:bodyPr/>
          <a:lstStyle/>
          <a:p>
            <a:endParaRPr lang="es-PE"/>
          </a:p>
        </p:txBody>
      </p:sp>
      <p:sp>
        <p:nvSpPr>
          <p:cNvPr id="132" name="Shape 129"/>
          <p:cNvSpPr/>
          <p:nvPr/>
        </p:nvSpPr>
        <p:spPr>
          <a:xfrm flipV="1">
            <a:off x="4292422" y="4838463"/>
            <a:ext cx="1071143" cy="32952"/>
          </a:xfrm>
          <a:prstGeom prst="line">
            <a:avLst/>
          </a:prstGeom>
          <a:noFill/>
          <a:ln w="19050">
            <a:solidFill>
              <a:srgbClr val="E67E22"/>
            </a:solidFill>
            <a:prstDash val="dash"/>
          </a:ln>
        </p:spPr>
        <p:txBody>
          <a:bodyPr/>
          <a:lstStyle/>
          <a:p>
            <a:endParaRPr lang="es-PE"/>
          </a:p>
        </p:txBody>
      </p:sp>
      <p:sp>
        <p:nvSpPr>
          <p:cNvPr id="133" name="Text 130"/>
          <p:cNvSpPr txBox="1"/>
          <p:nvPr/>
        </p:nvSpPr>
        <p:spPr>
          <a:xfrm>
            <a:off x="758952" y="434072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20,9</a:t>
            </a:r>
            <a:endParaRPr lang="en-US" sz="700"/>
          </a:p>
        </p:txBody>
      </p:sp>
      <p:sp>
        <p:nvSpPr>
          <p:cNvPr id="134" name="Text 131"/>
          <p:cNvSpPr txBox="1"/>
          <p:nvPr/>
        </p:nvSpPr>
        <p:spPr>
          <a:xfrm>
            <a:off x="5043526" y="4373677"/>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20,5</a:t>
            </a:r>
            <a:endParaRPr lang="en-US" sz="700"/>
          </a:p>
        </p:txBody>
      </p:sp>
      <p:sp>
        <p:nvSpPr>
          <p:cNvPr id="135" name="Text 132"/>
          <p:cNvSpPr txBox="1"/>
          <p:nvPr/>
        </p:nvSpPr>
        <p:spPr>
          <a:xfrm>
            <a:off x="758952" y="4868613"/>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17,6</a:t>
            </a:r>
            <a:endParaRPr lang="en-US" sz="700"/>
          </a:p>
        </p:txBody>
      </p:sp>
      <p:sp>
        <p:nvSpPr>
          <p:cNvPr id="136" name="Text 133"/>
          <p:cNvSpPr txBox="1"/>
          <p:nvPr/>
        </p:nvSpPr>
        <p:spPr>
          <a:xfrm>
            <a:off x="5043526" y="4893327"/>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37" name="Text 134"/>
          <p:cNvSpPr txBox="1"/>
          <p:nvPr/>
        </p:nvSpPr>
        <p:spPr>
          <a:xfrm>
            <a:off x="71323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38" name="Shape 135"/>
          <p:cNvSpPr/>
          <p:nvPr/>
        </p:nvSpPr>
        <p:spPr>
          <a:xfrm>
            <a:off x="1143000" y="5337280"/>
            <a:ext cx="728899" cy="304568"/>
          </a:xfrm>
          <a:prstGeom prst="rect">
            <a:avLst/>
          </a:prstGeom>
          <a:solidFill>
            <a:srgbClr val="13807B"/>
          </a:solidFill>
          <a:ln/>
        </p:spPr>
        <p:txBody>
          <a:bodyPr/>
          <a:lstStyle/>
          <a:p>
            <a:endParaRPr lang="es-PE"/>
          </a:p>
        </p:txBody>
      </p:sp>
      <p:sp>
        <p:nvSpPr>
          <p:cNvPr id="139" name="Text 136"/>
          <p:cNvSpPr txBox="1"/>
          <p:nvPr/>
        </p:nvSpPr>
        <p:spPr>
          <a:xfrm>
            <a:off x="1005840" y="515440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88%</a:t>
            </a:r>
            <a:endParaRPr lang="en-US" sz="750"/>
          </a:p>
        </p:txBody>
      </p:sp>
      <p:sp>
        <p:nvSpPr>
          <p:cNvPr id="140" name="Text 137"/>
          <p:cNvSpPr txBox="1"/>
          <p:nvPr/>
        </p:nvSpPr>
        <p:spPr>
          <a:xfrm>
            <a:off x="96012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41" name="Shape 138"/>
          <p:cNvSpPr/>
          <p:nvPr/>
        </p:nvSpPr>
        <p:spPr>
          <a:xfrm>
            <a:off x="1999915" y="5340741"/>
            <a:ext cx="728899" cy="301107"/>
          </a:xfrm>
          <a:prstGeom prst="rect">
            <a:avLst/>
          </a:prstGeom>
          <a:solidFill>
            <a:srgbClr val="13807B"/>
          </a:solidFill>
          <a:ln/>
        </p:spPr>
        <p:txBody>
          <a:bodyPr/>
          <a:lstStyle/>
          <a:p>
            <a:endParaRPr lang="es-PE"/>
          </a:p>
        </p:txBody>
      </p:sp>
      <p:sp>
        <p:nvSpPr>
          <p:cNvPr id="142" name="Text 139"/>
          <p:cNvSpPr txBox="1"/>
          <p:nvPr/>
        </p:nvSpPr>
        <p:spPr>
          <a:xfrm>
            <a:off x="1862755" y="515786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87%</a:t>
            </a:r>
            <a:endParaRPr lang="en-US" sz="750"/>
          </a:p>
        </p:txBody>
      </p:sp>
      <p:sp>
        <p:nvSpPr>
          <p:cNvPr id="143" name="Text 140"/>
          <p:cNvSpPr txBox="1"/>
          <p:nvPr/>
        </p:nvSpPr>
        <p:spPr>
          <a:xfrm>
            <a:off x="1817035"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44" name="Shape 141"/>
          <p:cNvSpPr/>
          <p:nvPr/>
        </p:nvSpPr>
        <p:spPr>
          <a:xfrm>
            <a:off x="2856829" y="5382273"/>
            <a:ext cx="728899" cy="259575"/>
          </a:xfrm>
          <a:prstGeom prst="rect">
            <a:avLst/>
          </a:prstGeom>
          <a:solidFill>
            <a:srgbClr val="13807B"/>
          </a:solidFill>
          <a:ln/>
        </p:spPr>
        <p:txBody>
          <a:bodyPr/>
          <a:lstStyle/>
          <a:p>
            <a:endParaRPr lang="es-PE"/>
          </a:p>
        </p:txBody>
      </p:sp>
      <p:sp>
        <p:nvSpPr>
          <p:cNvPr id="145" name="Text 142"/>
          <p:cNvSpPr txBox="1"/>
          <p:nvPr/>
        </p:nvSpPr>
        <p:spPr>
          <a:xfrm>
            <a:off x="2719669" y="519939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146" name="Text 143"/>
          <p:cNvSpPr txBox="1"/>
          <p:nvPr/>
        </p:nvSpPr>
        <p:spPr>
          <a:xfrm>
            <a:off x="267394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47" name="Shape 144"/>
          <p:cNvSpPr/>
          <p:nvPr/>
        </p:nvSpPr>
        <p:spPr>
          <a:xfrm>
            <a:off x="3713744" y="5368429"/>
            <a:ext cx="728899" cy="273419"/>
          </a:xfrm>
          <a:prstGeom prst="rect">
            <a:avLst/>
          </a:prstGeom>
          <a:solidFill>
            <a:srgbClr val="13807B"/>
          </a:solidFill>
          <a:ln/>
        </p:spPr>
        <p:txBody>
          <a:bodyPr/>
          <a:lstStyle/>
          <a:p>
            <a:endParaRPr lang="es-PE"/>
          </a:p>
        </p:txBody>
      </p:sp>
      <p:sp>
        <p:nvSpPr>
          <p:cNvPr id="148" name="Text 145"/>
          <p:cNvSpPr txBox="1"/>
          <p:nvPr/>
        </p:nvSpPr>
        <p:spPr>
          <a:xfrm>
            <a:off x="3576584" y="518554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149" name="Text 146"/>
          <p:cNvSpPr txBox="1"/>
          <p:nvPr/>
        </p:nvSpPr>
        <p:spPr>
          <a:xfrm>
            <a:off x="353086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50" name="Shape 147"/>
          <p:cNvSpPr/>
          <p:nvPr/>
        </p:nvSpPr>
        <p:spPr>
          <a:xfrm>
            <a:off x="4570659" y="5406500"/>
            <a:ext cx="728899" cy="235348"/>
          </a:xfrm>
          <a:prstGeom prst="rect">
            <a:avLst/>
          </a:prstGeom>
          <a:solidFill>
            <a:srgbClr val="13807B"/>
          </a:solidFill>
          <a:ln/>
        </p:spPr>
        <p:txBody>
          <a:bodyPr/>
          <a:lstStyle/>
          <a:p>
            <a:endParaRPr lang="es-PE"/>
          </a:p>
        </p:txBody>
      </p:sp>
      <p:sp>
        <p:nvSpPr>
          <p:cNvPr id="151" name="Text 148"/>
          <p:cNvSpPr txBox="1"/>
          <p:nvPr/>
        </p:nvSpPr>
        <p:spPr>
          <a:xfrm>
            <a:off x="4433499" y="522362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68%</a:t>
            </a:r>
            <a:endParaRPr lang="en-US" sz="750"/>
          </a:p>
        </p:txBody>
      </p:sp>
      <p:sp>
        <p:nvSpPr>
          <p:cNvPr id="152" name="Text 149"/>
          <p:cNvSpPr txBox="1"/>
          <p:nvPr/>
        </p:nvSpPr>
        <p:spPr>
          <a:xfrm>
            <a:off x="438777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53" name="Shape 150"/>
          <p:cNvSpPr/>
          <p:nvPr/>
        </p:nvSpPr>
        <p:spPr>
          <a:xfrm>
            <a:off x="1042416" y="5641848"/>
            <a:ext cx="4357726" cy="0"/>
          </a:xfrm>
          <a:prstGeom prst="line">
            <a:avLst/>
          </a:prstGeom>
          <a:noFill/>
          <a:ln w="9525">
            <a:solidFill>
              <a:srgbClr val="D5DFDE"/>
            </a:solidFill>
            <a:prstDash val="solid"/>
          </a:ln>
        </p:spPr>
        <p:txBody>
          <a:bodyPr/>
          <a:lstStyle/>
          <a:p>
            <a:endParaRPr lang="es-PE"/>
          </a:p>
        </p:txBody>
      </p:sp>
      <p:sp>
        <p:nvSpPr>
          <p:cNvPr id="154" name="Shape 151"/>
          <p:cNvSpPr/>
          <p:nvPr/>
        </p:nvSpPr>
        <p:spPr>
          <a:xfrm>
            <a:off x="5711038" y="3835908"/>
            <a:ext cx="4833214" cy="329184"/>
          </a:xfrm>
          <a:prstGeom prst="rect">
            <a:avLst/>
          </a:prstGeom>
          <a:solidFill>
            <a:srgbClr val="13807B"/>
          </a:solidFill>
          <a:ln/>
        </p:spPr>
        <p:txBody>
          <a:bodyPr/>
          <a:lstStyle/>
          <a:p>
            <a:endParaRPr lang="es-PE"/>
          </a:p>
        </p:txBody>
      </p:sp>
      <p:sp>
        <p:nvSpPr>
          <p:cNvPr id="155" name="Text 152"/>
          <p:cNvSpPr txBox="1"/>
          <p:nvPr/>
        </p:nvSpPr>
        <p:spPr>
          <a:xfrm>
            <a:off x="582076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Gran Cuenta por Conquistar</a:t>
            </a:r>
            <a:endParaRPr lang="en-US" sz="1100"/>
          </a:p>
        </p:txBody>
      </p:sp>
      <p:sp>
        <p:nvSpPr>
          <p:cNvPr id="156" name="Shape 153"/>
          <p:cNvSpPr/>
          <p:nvPr/>
        </p:nvSpPr>
        <p:spPr>
          <a:xfrm>
            <a:off x="7836344" y="3881628"/>
            <a:ext cx="1401632" cy="237744"/>
          </a:xfrm>
          <a:prstGeom prst="roundRect">
            <a:avLst>
              <a:gd name="adj" fmla="val 23077"/>
            </a:avLst>
          </a:prstGeom>
          <a:solidFill>
            <a:srgbClr val="0B2E2C"/>
          </a:solidFill>
          <a:ln/>
        </p:spPr>
        <p:txBody>
          <a:bodyPr/>
          <a:lstStyle/>
          <a:p>
            <a:endParaRPr lang="es-PE"/>
          </a:p>
        </p:txBody>
      </p:sp>
      <p:sp>
        <p:nvSpPr>
          <p:cNvPr id="157" name="Text 154"/>
          <p:cNvSpPr txBox="1"/>
          <p:nvPr/>
        </p:nvSpPr>
        <p:spPr>
          <a:xfrm>
            <a:off x="783634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3,3 pp</a:t>
            </a:r>
            <a:endParaRPr lang="en-US" sz="750"/>
          </a:p>
        </p:txBody>
      </p:sp>
      <p:sp>
        <p:nvSpPr>
          <p:cNvPr id="158" name="Shape 155"/>
          <p:cNvSpPr/>
          <p:nvPr/>
        </p:nvSpPr>
        <p:spPr>
          <a:xfrm>
            <a:off x="9311128" y="3881628"/>
            <a:ext cx="1159971" cy="237744"/>
          </a:xfrm>
          <a:prstGeom prst="roundRect">
            <a:avLst>
              <a:gd name="adj" fmla="val 23077"/>
            </a:avLst>
          </a:prstGeom>
          <a:solidFill>
            <a:srgbClr val="FFFFFF"/>
          </a:solidFill>
          <a:ln/>
        </p:spPr>
        <p:txBody>
          <a:bodyPr/>
          <a:lstStyle/>
          <a:p>
            <a:endParaRPr lang="es-PE"/>
          </a:p>
        </p:txBody>
      </p:sp>
      <p:sp>
        <p:nvSpPr>
          <p:cNvPr id="159" name="Text 156"/>
          <p:cNvSpPr txBox="1"/>
          <p:nvPr/>
        </p:nvSpPr>
        <p:spPr>
          <a:xfrm>
            <a:off x="931112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-19 pp</a:t>
            </a:r>
            <a:endParaRPr lang="en-US" sz="750"/>
          </a:p>
        </p:txBody>
      </p:sp>
      <p:sp>
        <p:nvSpPr>
          <p:cNvPr id="160" name="Shape 157"/>
          <p:cNvSpPr/>
          <p:nvPr/>
        </p:nvSpPr>
        <p:spPr>
          <a:xfrm>
            <a:off x="571103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61" name="Text 158"/>
          <p:cNvSpPr txBox="1"/>
          <p:nvPr/>
        </p:nvSpPr>
        <p:spPr>
          <a:xfrm>
            <a:off x="576590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62" name="Shape 159"/>
          <p:cNvSpPr/>
          <p:nvPr/>
        </p:nvSpPr>
        <p:spPr>
          <a:xfrm>
            <a:off x="6131662" y="4535302"/>
            <a:ext cx="1071143" cy="59314"/>
          </a:xfrm>
          <a:prstGeom prst="line">
            <a:avLst/>
          </a:prstGeom>
          <a:noFill/>
          <a:ln w="19050">
            <a:solidFill>
              <a:srgbClr val="0B2E2C"/>
            </a:solidFill>
            <a:prstDash val="solid"/>
          </a:ln>
        </p:spPr>
        <p:txBody>
          <a:bodyPr/>
          <a:lstStyle/>
          <a:p>
            <a:endParaRPr lang="es-PE"/>
          </a:p>
        </p:txBody>
      </p:sp>
      <p:sp>
        <p:nvSpPr>
          <p:cNvPr id="163" name="Shape 160"/>
          <p:cNvSpPr/>
          <p:nvPr/>
        </p:nvSpPr>
        <p:spPr>
          <a:xfrm>
            <a:off x="7202805" y="4594616"/>
            <a:ext cx="1071143" cy="74143"/>
          </a:xfrm>
          <a:prstGeom prst="line">
            <a:avLst/>
          </a:prstGeom>
          <a:noFill/>
          <a:ln w="19050">
            <a:solidFill>
              <a:srgbClr val="0B2E2C"/>
            </a:solidFill>
            <a:prstDash val="solid"/>
          </a:ln>
        </p:spPr>
        <p:txBody>
          <a:bodyPr/>
          <a:lstStyle/>
          <a:p>
            <a:endParaRPr lang="es-PE"/>
          </a:p>
        </p:txBody>
      </p:sp>
      <p:sp>
        <p:nvSpPr>
          <p:cNvPr id="164" name="Shape 161"/>
          <p:cNvSpPr/>
          <p:nvPr/>
        </p:nvSpPr>
        <p:spPr>
          <a:xfrm flipV="1">
            <a:off x="8273948" y="4639102"/>
            <a:ext cx="1071143" cy="29657"/>
          </a:xfrm>
          <a:prstGeom prst="line">
            <a:avLst/>
          </a:prstGeom>
          <a:noFill/>
          <a:ln w="19050">
            <a:solidFill>
              <a:srgbClr val="0B2E2C"/>
            </a:solidFill>
            <a:prstDash val="solid"/>
          </a:ln>
        </p:spPr>
        <p:txBody>
          <a:bodyPr/>
          <a:lstStyle/>
          <a:p>
            <a:endParaRPr lang="es-PE"/>
          </a:p>
        </p:txBody>
      </p:sp>
      <p:sp>
        <p:nvSpPr>
          <p:cNvPr id="165" name="Shape 162"/>
          <p:cNvSpPr/>
          <p:nvPr/>
        </p:nvSpPr>
        <p:spPr>
          <a:xfrm flipV="1">
            <a:off x="9345092" y="4572373"/>
            <a:ext cx="1071143" cy="66728"/>
          </a:xfrm>
          <a:prstGeom prst="line">
            <a:avLst/>
          </a:prstGeom>
          <a:noFill/>
          <a:ln w="19050">
            <a:solidFill>
              <a:srgbClr val="0B2E2C"/>
            </a:solidFill>
            <a:prstDash val="solid"/>
          </a:ln>
        </p:spPr>
        <p:txBody>
          <a:bodyPr/>
          <a:lstStyle/>
          <a:p>
            <a:endParaRPr lang="es-PE"/>
          </a:p>
        </p:txBody>
      </p:sp>
      <p:sp>
        <p:nvSpPr>
          <p:cNvPr id="166" name="Shape 163"/>
          <p:cNvSpPr/>
          <p:nvPr/>
        </p:nvSpPr>
        <p:spPr>
          <a:xfrm>
            <a:off x="6131662" y="4831872"/>
            <a:ext cx="1071143" cy="14829"/>
          </a:xfrm>
          <a:prstGeom prst="line">
            <a:avLst/>
          </a:prstGeom>
          <a:noFill/>
          <a:ln w="19050">
            <a:solidFill>
              <a:srgbClr val="E67E22"/>
            </a:solidFill>
            <a:prstDash val="dash"/>
          </a:ln>
        </p:spPr>
        <p:txBody>
          <a:bodyPr/>
          <a:lstStyle/>
          <a:p>
            <a:endParaRPr lang="es-PE"/>
          </a:p>
        </p:txBody>
      </p:sp>
      <p:sp>
        <p:nvSpPr>
          <p:cNvPr id="167" name="Shape 164"/>
          <p:cNvSpPr/>
          <p:nvPr/>
        </p:nvSpPr>
        <p:spPr>
          <a:xfrm>
            <a:off x="7202805" y="4846701"/>
            <a:ext cx="1071143" cy="22243"/>
          </a:xfrm>
          <a:prstGeom prst="line">
            <a:avLst/>
          </a:prstGeom>
          <a:noFill/>
          <a:ln w="19050">
            <a:solidFill>
              <a:srgbClr val="E67E22"/>
            </a:solidFill>
            <a:prstDash val="dash"/>
          </a:ln>
        </p:spPr>
        <p:txBody>
          <a:bodyPr/>
          <a:lstStyle/>
          <a:p>
            <a:endParaRPr lang="es-PE"/>
          </a:p>
        </p:txBody>
      </p:sp>
      <p:sp>
        <p:nvSpPr>
          <p:cNvPr id="168" name="Shape 165"/>
          <p:cNvSpPr/>
          <p:nvPr/>
        </p:nvSpPr>
        <p:spPr>
          <a:xfrm>
            <a:off x="8273948" y="4868944"/>
            <a:ext cx="1071143" cy="7414"/>
          </a:xfrm>
          <a:prstGeom prst="line">
            <a:avLst/>
          </a:prstGeom>
          <a:noFill/>
          <a:ln w="19050">
            <a:solidFill>
              <a:srgbClr val="E67E22"/>
            </a:solidFill>
            <a:prstDash val="dash"/>
          </a:ln>
        </p:spPr>
        <p:txBody>
          <a:bodyPr/>
          <a:lstStyle/>
          <a:p>
            <a:endParaRPr lang="es-PE"/>
          </a:p>
        </p:txBody>
      </p:sp>
      <p:sp>
        <p:nvSpPr>
          <p:cNvPr id="169" name="Shape 166"/>
          <p:cNvSpPr/>
          <p:nvPr/>
        </p:nvSpPr>
        <p:spPr>
          <a:xfrm flipV="1">
            <a:off x="9345092" y="4817044"/>
            <a:ext cx="1071143" cy="59314"/>
          </a:xfrm>
          <a:prstGeom prst="line">
            <a:avLst/>
          </a:prstGeom>
          <a:noFill/>
          <a:ln w="19050">
            <a:solidFill>
              <a:srgbClr val="E67E22"/>
            </a:solidFill>
            <a:prstDash val="dash"/>
          </a:ln>
        </p:spPr>
        <p:txBody>
          <a:bodyPr/>
          <a:lstStyle/>
          <a:p>
            <a:endParaRPr lang="es-PE"/>
          </a:p>
        </p:txBody>
      </p:sp>
      <p:sp>
        <p:nvSpPr>
          <p:cNvPr id="170" name="Text 167"/>
          <p:cNvSpPr txBox="1"/>
          <p:nvPr/>
        </p:nvSpPr>
        <p:spPr>
          <a:xfrm>
            <a:off x="5811622" y="433413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21,3</a:t>
            </a:r>
            <a:endParaRPr lang="en-US" sz="700"/>
          </a:p>
        </p:txBody>
      </p:sp>
      <p:sp>
        <p:nvSpPr>
          <p:cNvPr id="171" name="Text 168"/>
          <p:cNvSpPr txBox="1"/>
          <p:nvPr/>
        </p:nvSpPr>
        <p:spPr>
          <a:xfrm>
            <a:off x="10096195" y="437120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172" name="Text 169"/>
          <p:cNvSpPr txBox="1"/>
          <p:nvPr/>
        </p:nvSpPr>
        <p:spPr>
          <a:xfrm>
            <a:off x="5811622" y="488673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73" name="Text 170"/>
          <p:cNvSpPr txBox="1"/>
          <p:nvPr/>
        </p:nvSpPr>
        <p:spPr>
          <a:xfrm>
            <a:off x="10096195" y="487190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74" name="Text 171"/>
          <p:cNvSpPr txBox="1"/>
          <p:nvPr/>
        </p:nvSpPr>
        <p:spPr>
          <a:xfrm>
            <a:off x="576590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75" name="Shape 172"/>
          <p:cNvSpPr/>
          <p:nvPr/>
        </p:nvSpPr>
        <p:spPr>
          <a:xfrm>
            <a:off x="6195670" y="5347663"/>
            <a:ext cx="728899" cy="294185"/>
          </a:xfrm>
          <a:prstGeom prst="rect">
            <a:avLst/>
          </a:prstGeom>
          <a:solidFill>
            <a:srgbClr val="13807B"/>
          </a:solidFill>
          <a:ln/>
        </p:spPr>
        <p:txBody>
          <a:bodyPr/>
          <a:lstStyle/>
          <a:p>
            <a:endParaRPr lang="es-PE"/>
          </a:p>
        </p:txBody>
      </p:sp>
      <p:sp>
        <p:nvSpPr>
          <p:cNvPr id="176" name="Text 173"/>
          <p:cNvSpPr txBox="1"/>
          <p:nvPr/>
        </p:nvSpPr>
        <p:spPr>
          <a:xfrm>
            <a:off x="6058510" y="516478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85%</a:t>
            </a:r>
            <a:endParaRPr lang="en-US" sz="750"/>
          </a:p>
        </p:txBody>
      </p:sp>
      <p:sp>
        <p:nvSpPr>
          <p:cNvPr id="177" name="Text 174"/>
          <p:cNvSpPr txBox="1"/>
          <p:nvPr/>
        </p:nvSpPr>
        <p:spPr>
          <a:xfrm>
            <a:off x="601279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78" name="Shape 175"/>
          <p:cNvSpPr/>
          <p:nvPr/>
        </p:nvSpPr>
        <p:spPr>
          <a:xfrm>
            <a:off x="7052584" y="5371890"/>
            <a:ext cx="728899" cy="269958"/>
          </a:xfrm>
          <a:prstGeom prst="rect">
            <a:avLst/>
          </a:prstGeom>
          <a:solidFill>
            <a:srgbClr val="13807B"/>
          </a:solidFill>
          <a:ln/>
        </p:spPr>
        <p:txBody>
          <a:bodyPr/>
          <a:lstStyle/>
          <a:p>
            <a:endParaRPr lang="es-PE"/>
          </a:p>
        </p:txBody>
      </p:sp>
      <p:sp>
        <p:nvSpPr>
          <p:cNvPr id="179" name="Text 176"/>
          <p:cNvSpPr txBox="1"/>
          <p:nvPr/>
        </p:nvSpPr>
        <p:spPr>
          <a:xfrm>
            <a:off x="6915424" y="518901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78%</a:t>
            </a:r>
            <a:endParaRPr lang="en-US" sz="750"/>
          </a:p>
        </p:txBody>
      </p:sp>
      <p:sp>
        <p:nvSpPr>
          <p:cNvPr id="180" name="Text 177"/>
          <p:cNvSpPr txBox="1"/>
          <p:nvPr/>
        </p:nvSpPr>
        <p:spPr>
          <a:xfrm>
            <a:off x="686970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81" name="Shape 178"/>
          <p:cNvSpPr/>
          <p:nvPr/>
        </p:nvSpPr>
        <p:spPr>
          <a:xfrm>
            <a:off x="7909499" y="5378812"/>
            <a:ext cx="728899" cy="263036"/>
          </a:xfrm>
          <a:prstGeom prst="rect">
            <a:avLst/>
          </a:prstGeom>
          <a:solidFill>
            <a:srgbClr val="13807B"/>
          </a:solidFill>
          <a:ln/>
        </p:spPr>
        <p:txBody>
          <a:bodyPr/>
          <a:lstStyle/>
          <a:p>
            <a:endParaRPr lang="es-PE"/>
          </a:p>
        </p:txBody>
      </p:sp>
      <p:sp>
        <p:nvSpPr>
          <p:cNvPr id="182" name="Text 179"/>
          <p:cNvSpPr txBox="1"/>
          <p:nvPr/>
        </p:nvSpPr>
        <p:spPr>
          <a:xfrm>
            <a:off x="7772339" y="519593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76%</a:t>
            </a:r>
            <a:endParaRPr lang="en-US" sz="750"/>
          </a:p>
        </p:txBody>
      </p:sp>
      <p:sp>
        <p:nvSpPr>
          <p:cNvPr id="183" name="Text 180"/>
          <p:cNvSpPr txBox="1"/>
          <p:nvPr/>
        </p:nvSpPr>
        <p:spPr>
          <a:xfrm>
            <a:off x="772661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84" name="Shape 181"/>
          <p:cNvSpPr/>
          <p:nvPr/>
        </p:nvSpPr>
        <p:spPr>
          <a:xfrm>
            <a:off x="8766414" y="5361507"/>
            <a:ext cx="728899" cy="280341"/>
          </a:xfrm>
          <a:prstGeom prst="rect">
            <a:avLst/>
          </a:prstGeom>
          <a:solidFill>
            <a:srgbClr val="13807B"/>
          </a:solidFill>
          <a:ln/>
        </p:spPr>
        <p:txBody>
          <a:bodyPr/>
          <a:lstStyle/>
          <a:p>
            <a:endParaRPr lang="es-PE"/>
          </a:p>
        </p:txBody>
      </p:sp>
      <p:sp>
        <p:nvSpPr>
          <p:cNvPr id="185" name="Text 182"/>
          <p:cNvSpPr txBox="1"/>
          <p:nvPr/>
        </p:nvSpPr>
        <p:spPr>
          <a:xfrm>
            <a:off x="8629254" y="517862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81%</a:t>
            </a:r>
            <a:endParaRPr lang="en-US" sz="750"/>
          </a:p>
        </p:txBody>
      </p:sp>
      <p:sp>
        <p:nvSpPr>
          <p:cNvPr id="186" name="Text 183"/>
          <p:cNvSpPr txBox="1"/>
          <p:nvPr/>
        </p:nvSpPr>
        <p:spPr>
          <a:xfrm>
            <a:off x="858353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87" name="Shape 184"/>
          <p:cNvSpPr/>
          <p:nvPr/>
        </p:nvSpPr>
        <p:spPr>
          <a:xfrm>
            <a:off x="9623328" y="5413422"/>
            <a:ext cx="728899" cy="228426"/>
          </a:xfrm>
          <a:prstGeom prst="rect">
            <a:avLst/>
          </a:prstGeom>
          <a:solidFill>
            <a:srgbClr val="13807B"/>
          </a:solidFill>
          <a:ln/>
        </p:spPr>
        <p:txBody>
          <a:bodyPr/>
          <a:lstStyle/>
          <a:p>
            <a:endParaRPr lang="es-PE"/>
          </a:p>
        </p:txBody>
      </p:sp>
      <p:sp>
        <p:nvSpPr>
          <p:cNvPr id="188" name="Text 185"/>
          <p:cNvSpPr txBox="1"/>
          <p:nvPr/>
        </p:nvSpPr>
        <p:spPr>
          <a:xfrm>
            <a:off x="9486168" y="523054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66%</a:t>
            </a:r>
            <a:endParaRPr lang="en-US" sz="750"/>
          </a:p>
        </p:txBody>
      </p:sp>
      <p:sp>
        <p:nvSpPr>
          <p:cNvPr id="189" name="Text 186"/>
          <p:cNvSpPr txBox="1"/>
          <p:nvPr/>
        </p:nvSpPr>
        <p:spPr>
          <a:xfrm>
            <a:off x="944044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90" name="Shape 187"/>
          <p:cNvSpPr/>
          <p:nvPr/>
        </p:nvSpPr>
        <p:spPr>
          <a:xfrm>
            <a:off x="6095086" y="5641848"/>
            <a:ext cx="4357726" cy="0"/>
          </a:xfrm>
          <a:prstGeom prst="line">
            <a:avLst/>
          </a:prstGeom>
          <a:noFill/>
          <a:ln w="9525">
            <a:solidFill>
              <a:srgbClr val="D5DFDE"/>
            </a:solidFill>
            <a:prstDash val="solid"/>
          </a:ln>
        </p:spPr>
        <p:txBody>
          <a:bodyPr/>
          <a:lstStyle/>
          <a:p>
            <a:endParaRPr lang="es-PE"/>
          </a:p>
        </p:txBody>
      </p:sp>
      <p:sp>
        <p:nvSpPr>
          <p:cNvPr id="191" name="Shape 188"/>
          <p:cNvSpPr/>
          <p:nvPr/>
        </p:nvSpPr>
        <p:spPr>
          <a:xfrm>
            <a:off x="10763707" y="3835908"/>
            <a:ext cx="4833214" cy="329184"/>
          </a:xfrm>
          <a:prstGeom prst="rect">
            <a:avLst/>
          </a:prstGeom>
          <a:solidFill>
            <a:srgbClr val="13807B"/>
          </a:solidFill>
          <a:ln/>
        </p:spPr>
        <p:txBody>
          <a:bodyPr/>
          <a:lstStyle/>
          <a:p>
            <a:endParaRPr lang="es-PE"/>
          </a:p>
        </p:txBody>
      </p:sp>
      <p:sp>
        <p:nvSpPr>
          <p:cNvPr id="192" name="Text 189"/>
          <p:cNvSpPr txBox="1"/>
          <p:nvPr/>
        </p:nvSpPr>
        <p:spPr>
          <a:xfrm>
            <a:off x="10873435"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por Reactivar</a:t>
            </a:r>
            <a:endParaRPr lang="en-US" sz="1100"/>
          </a:p>
        </p:txBody>
      </p:sp>
      <p:sp>
        <p:nvSpPr>
          <p:cNvPr id="193" name="Shape 190"/>
          <p:cNvSpPr/>
          <p:nvPr/>
        </p:nvSpPr>
        <p:spPr>
          <a:xfrm>
            <a:off x="12889014" y="3881628"/>
            <a:ext cx="1401632" cy="237744"/>
          </a:xfrm>
          <a:prstGeom prst="roundRect">
            <a:avLst>
              <a:gd name="adj" fmla="val 23077"/>
            </a:avLst>
          </a:prstGeom>
          <a:solidFill>
            <a:srgbClr val="0B2E2C"/>
          </a:solidFill>
          <a:ln/>
        </p:spPr>
        <p:txBody>
          <a:bodyPr/>
          <a:lstStyle/>
          <a:p>
            <a:endParaRPr lang="es-PE"/>
          </a:p>
        </p:txBody>
      </p:sp>
      <p:sp>
        <p:nvSpPr>
          <p:cNvPr id="194" name="Text 191"/>
          <p:cNvSpPr txBox="1"/>
          <p:nvPr/>
        </p:nvSpPr>
        <p:spPr>
          <a:xfrm>
            <a:off x="1288901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3,8 pp</a:t>
            </a:r>
            <a:endParaRPr lang="en-US" sz="750"/>
          </a:p>
        </p:txBody>
      </p:sp>
      <p:sp>
        <p:nvSpPr>
          <p:cNvPr id="195" name="Shape 192"/>
          <p:cNvSpPr/>
          <p:nvPr/>
        </p:nvSpPr>
        <p:spPr>
          <a:xfrm>
            <a:off x="14363798" y="3881628"/>
            <a:ext cx="1159971" cy="237744"/>
          </a:xfrm>
          <a:prstGeom prst="roundRect">
            <a:avLst>
              <a:gd name="adj" fmla="val 23077"/>
            </a:avLst>
          </a:prstGeom>
          <a:solidFill>
            <a:srgbClr val="FFFFFF"/>
          </a:solidFill>
          <a:ln/>
        </p:spPr>
        <p:txBody>
          <a:bodyPr/>
          <a:lstStyle/>
          <a:p>
            <a:endParaRPr lang="es-PE"/>
          </a:p>
        </p:txBody>
      </p:sp>
      <p:sp>
        <p:nvSpPr>
          <p:cNvPr id="196" name="Text 193"/>
          <p:cNvSpPr txBox="1"/>
          <p:nvPr/>
        </p:nvSpPr>
        <p:spPr>
          <a:xfrm>
            <a:off x="1436379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-9 pp</a:t>
            </a:r>
            <a:endParaRPr lang="en-US" sz="750"/>
          </a:p>
        </p:txBody>
      </p:sp>
      <p:sp>
        <p:nvSpPr>
          <p:cNvPr id="197" name="Shape 194"/>
          <p:cNvSpPr/>
          <p:nvPr/>
        </p:nvSpPr>
        <p:spPr>
          <a:xfrm>
            <a:off x="10763707"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98" name="Text 195"/>
          <p:cNvSpPr txBox="1"/>
          <p:nvPr/>
        </p:nvSpPr>
        <p:spPr>
          <a:xfrm>
            <a:off x="10818571"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99" name="Shape 196"/>
          <p:cNvSpPr/>
          <p:nvPr/>
        </p:nvSpPr>
        <p:spPr>
          <a:xfrm flipV="1">
            <a:off x="11184331" y="4543847"/>
            <a:ext cx="1071143" cy="75399"/>
          </a:xfrm>
          <a:prstGeom prst="line">
            <a:avLst/>
          </a:prstGeom>
          <a:noFill/>
          <a:ln w="19050">
            <a:solidFill>
              <a:srgbClr val="0B2E2C"/>
            </a:solidFill>
            <a:prstDash val="solid"/>
          </a:ln>
        </p:spPr>
        <p:txBody>
          <a:bodyPr/>
          <a:lstStyle/>
          <a:p>
            <a:endParaRPr lang="es-PE"/>
          </a:p>
        </p:txBody>
      </p:sp>
      <p:sp>
        <p:nvSpPr>
          <p:cNvPr id="200" name="Shape 197"/>
          <p:cNvSpPr/>
          <p:nvPr/>
        </p:nvSpPr>
        <p:spPr>
          <a:xfrm flipV="1">
            <a:off x="12255475" y="4536307"/>
            <a:ext cx="1071143" cy="7540"/>
          </a:xfrm>
          <a:prstGeom prst="line">
            <a:avLst/>
          </a:prstGeom>
          <a:noFill/>
          <a:ln w="19050">
            <a:solidFill>
              <a:srgbClr val="0B2E2C"/>
            </a:solidFill>
            <a:prstDash val="solid"/>
          </a:ln>
        </p:spPr>
        <p:txBody>
          <a:bodyPr/>
          <a:lstStyle/>
          <a:p>
            <a:endParaRPr lang="es-PE"/>
          </a:p>
        </p:txBody>
      </p:sp>
      <p:sp>
        <p:nvSpPr>
          <p:cNvPr id="201" name="Shape 198"/>
          <p:cNvSpPr/>
          <p:nvPr/>
        </p:nvSpPr>
        <p:spPr>
          <a:xfrm>
            <a:off x="13326618" y="4536307"/>
            <a:ext cx="1071143" cy="0"/>
          </a:xfrm>
          <a:prstGeom prst="line">
            <a:avLst/>
          </a:prstGeom>
          <a:noFill/>
          <a:ln w="19050">
            <a:solidFill>
              <a:srgbClr val="0B2E2C"/>
            </a:solidFill>
            <a:prstDash val="solid"/>
          </a:ln>
        </p:spPr>
        <p:txBody>
          <a:bodyPr/>
          <a:lstStyle/>
          <a:p>
            <a:endParaRPr lang="es-PE"/>
          </a:p>
        </p:txBody>
      </p:sp>
      <p:sp>
        <p:nvSpPr>
          <p:cNvPr id="202" name="Shape 199"/>
          <p:cNvSpPr/>
          <p:nvPr/>
        </p:nvSpPr>
        <p:spPr>
          <a:xfrm>
            <a:off x="14397761" y="4536307"/>
            <a:ext cx="1071143" cy="15080"/>
          </a:xfrm>
          <a:prstGeom prst="line">
            <a:avLst/>
          </a:prstGeom>
          <a:noFill/>
          <a:ln w="19050">
            <a:solidFill>
              <a:srgbClr val="0B2E2C"/>
            </a:solidFill>
            <a:prstDash val="solid"/>
          </a:ln>
        </p:spPr>
        <p:txBody>
          <a:bodyPr/>
          <a:lstStyle/>
          <a:p>
            <a:endParaRPr lang="es-PE"/>
          </a:p>
        </p:txBody>
      </p:sp>
      <p:sp>
        <p:nvSpPr>
          <p:cNvPr id="203" name="Shape 200"/>
          <p:cNvSpPr/>
          <p:nvPr/>
        </p:nvSpPr>
        <p:spPr>
          <a:xfrm flipV="1">
            <a:off x="11184331" y="4815285"/>
            <a:ext cx="1071143" cy="37700"/>
          </a:xfrm>
          <a:prstGeom prst="line">
            <a:avLst/>
          </a:prstGeom>
          <a:noFill/>
          <a:ln w="19050">
            <a:solidFill>
              <a:srgbClr val="E67E22"/>
            </a:solidFill>
            <a:prstDash val="dash"/>
          </a:ln>
        </p:spPr>
        <p:txBody>
          <a:bodyPr/>
          <a:lstStyle/>
          <a:p>
            <a:endParaRPr lang="es-PE"/>
          </a:p>
        </p:txBody>
      </p:sp>
      <p:sp>
        <p:nvSpPr>
          <p:cNvPr id="204" name="Shape 201"/>
          <p:cNvSpPr/>
          <p:nvPr/>
        </p:nvSpPr>
        <p:spPr>
          <a:xfrm>
            <a:off x="12255475" y="4815285"/>
            <a:ext cx="1071143" cy="60319"/>
          </a:xfrm>
          <a:prstGeom prst="line">
            <a:avLst/>
          </a:prstGeom>
          <a:noFill/>
          <a:ln w="19050">
            <a:solidFill>
              <a:srgbClr val="E67E22"/>
            </a:solidFill>
            <a:prstDash val="dash"/>
          </a:ln>
        </p:spPr>
        <p:txBody>
          <a:bodyPr/>
          <a:lstStyle/>
          <a:p>
            <a:endParaRPr lang="es-PE"/>
          </a:p>
        </p:txBody>
      </p:sp>
      <p:sp>
        <p:nvSpPr>
          <p:cNvPr id="205" name="Shape 202"/>
          <p:cNvSpPr/>
          <p:nvPr/>
        </p:nvSpPr>
        <p:spPr>
          <a:xfrm flipV="1">
            <a:off x="13326618" y="4860524"/>
            <a:ext cx="1071143" cy="15080"/>
          </a:xfrm>
          <a:prstGeom prst="line">
            <a:avLst/>
          </a:prstGeom>
          <a:noFill/>
          <a:ln w="19050">
            <a:solidFill>
              <a:srgbClr val="E67E22"/>
            </a:solidFill>
            <a:prstDash val="dash"/>
          </a:ln>
        </p:spPr>
        <p:txBody>
          <a:bodyPr/>
          <a:lstStyle/>
          <a:p>
            <a:endParaRPr lang="es-PE"/>
          </a:p>
        </p:txBody>
      </p:sp>
      <p:sp>
        <p:nvSpPr>
          <p:cNvPr id="206" name="Shape 203"/>
          <p:cNvSpPr/>
          <p:nvPr/>
        </p:nvSpPr>
        <p:spPr>
          <a:xfrm flipV="1">
            <a:off x="14397761" y="4822825"/>
            <a:ext cx="1071143" cy="37700"/>
          </a:xfrm>
          <a:prstGeom prst="line">
            <a:avLst/>
          </a:prstGeom>
          <a:noFill/>
          <a:ln w="19050">
            <a:solidFill>
              <a:srgbClr val="E67E22"/>
            </a:solidFill>
            <a:prstDash val="dash"/>
          </a:ln>
        </p:spPr>
        <p:txBody>
          <a:bodyPr/>
          <a:lstStyle/>
          <a:p>
            <a:endParaRPr lang="es-PE"/>
          </a:p>
        </p:txBody>
      </p:sp>
      <p:sp>
        <p:nvSpPr>
          <p:cNvPr id="207" name="Text 204"/>
          <p:cNvSpPr txBox="1"/>
          <p:nvPr/>
        </p:nvSpPr>
        <p:spPr>
          <a:xfrm>
            <a:off x="10864291" y="441807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21,9</a:t>
            </a:r>
            <a:endParaRPr lang="en-US" sz="700"/>
          </a:p>
        </p:txBody>
      </p:sp>
      <p:sp>
        <p:nvSpPr>
          <p:cNvPr id="208" name="Text 205"/>
          <p:cNvSpPr txBox="1"/>
          <p:nvPr/>
        </p:nvSpPr>
        <p:spPr>
          <a:xfrm>
            <a:off x="15148865" y="43502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22,8</a:t>
            </a:r>
            <a:endParaRPr lang="en-US" sz="700"/>
          </a:p>
        </p:txBody>
      </p:sp>
      <p:sp>
        <p:nvSpPr>
          <p:cNvPr id="209" name="Text 206"/>
          <p:cNvSpPr txBox="1"/>
          <p:nvPr/>
        </p:nvSpPr>
        <p:spPr>
          <a:xfrm>
            <a:off x="10864291" y="490784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18,8</a:t>
            </a:r>
            <a:endParaRPr lang="en-US" sz="700"/>
          </a:p>
        </p:txBody>
      </p:sp>
      <p:sp>
        <p:nvSpPr>
          <p:cNvPr id="210" name="Text 207"/>
          <p:cNvSpPr txBox="1"/>
          <p:nvPr/>
        </p:nvSpPr>
        <p:spPr>
          <a:xfrm>
            <a:off x="15148865" y="487768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19,2</a:t>
            </a:r>
            <a:endParaRPr lang="en-US" sz="700"/>
          </a:p>
        </p:txBody>
      </p:sp>
      <p:sp>
        <p:nvSpPr>
          <p:cNvPr id="211" name="Text 208"/>
          <p:cNvSpPr txBox="1"/>
          <p:nvPr/>
        </p:nvSpPr>
        <p:spPr>
          <a:xfrm>
            <a:off x="10818571"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12" name="Shape 209"/>
          <p:cNvSpPr/>
          <p:nvPr/>
        </p:nvSpPr>
        <p:spPr>
          <a:xfrm>
            <a:off x="11248339" y="5337280"/>
            <a:ext cx="728899" cy="304568"/>
          </a:xfrm>
          <a:prstGeom prst="rect">
            <a:avLst/>
          </a:prstGeom>
          <a:solidFill>
            <a:srgbClr val="13807B"/>
          </a:solidFill>
          <a:ln/>
        </p:spPr>
        <p:txBody>
          <a:bodyPr/>
          <a:lstStyle/>
          <a:p>
            <a:endParaRPr lang="es-PE"/>
          </a:p>
        </p:txBody>
      </p:sp>
      <p:sp>
        <p:nvSpPr>
          <p:cNvPr id="213" name="Text 210"/>
          <p:cNvSpPr txBox="1"/>
          <p:nvPr/>
        </p:nvSpPr>
        <p:spPr>
          <a:xfrm>
            <a:off x="11111179" y="515440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88%</a:t>
            </a:r>
            <a:endParaRPr lang="en-US" sz="750"/>
          </a:p>
        </p:txBody>
      </p:sp>
      <p:sp>
        <p:nvSpPr>
          <p:cNvPr id="214" name="Text 211"/>
          <p:cNvSpPr txBox="1"/>
          <p:nvPr/>
        </p:nvSpPr>
        <p:spPr>
          <a:xfrm>
            <a:off x="1106545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215" name="Shape 212"/>
          <p:cNvSpPr/>
          <p:nvPr/>
        </p:nvSpPr>
        <p:spPr>
          <a:xfrm>
            <a:off x="12105254" y="5316514"/>
            <a:ext cx="728899" cy="325334"/>
          </a:xfrm>
          <a:prstGeom prst="rect">
            <a:avLst/>
          </a:prstGeom>
          <a:solidFill>
            <a:srgbClr val="13807B"/>
          </a:solidFill>
          <a:ln/>
        </p:spPr>
        <p:txBody>
          <a:bodyPr/>
          <a:lstStyle/>
          <a:p>
            <a:endParaRPr lang="es-PE"/>
          </a:p>
        </p:txBody>
      </p:sp>
      <p:sp>
        <p:nvSpPr>
          <p:cNvPr id="216" name="Text 213"/>
          <p:cNvSpPr txBox="1"/>
          <p:nvPr/>
        </p:nvSpPr>
        <p:spPr>
          <a:xfrm>
            <a:off x="11968094" y="513363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94%</a:t>
            </a:r>
            <a:endParaRPr lang="en-US" sz="750"/>
          </a:p>
        </p:txBody>
      </p:sp>
      <p:sp>
        <p:nvSpPr>
          <p:cNvPr id="217" name="Text 214"/>
          <p:cNvSpPr txBox="1"/>
          <p:nvPr/>
        </p:nvSpPr>
        <p:spPr>
          <a:xfrm>
            <a:off x="1192237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218" name="Shape 215"/>
          <p:cNvSpPr/>
          <p:nvPr/>
        </p:nvSpPr>
        <p:spPr>
          <a:xfrm>
            <a:off x="12962169" y="5351124"/>
            <a:ext cx="728899" cy="290724"/>
          </a:xfrm>
          <a:prstGeom prst="rect">
            <a:avLst/>
          </a:prstGeom>
          <a:solidFill>
            <a:srgbClr val="13807B"/>
          </a:solidFill>
          <a:ln/>
        </p:spPr>
        <p:txBody>
          <a:bodyPr/>
          <a:lstStyle/>
          <a:p>
            <a:endParaRPr lang="es-PE"/>
          </a:p>
        </p:txBody>
      </p:sp>
      <p:sp>
        <p:nvSpPr>
          <p:cNvPr id="219" name="Text 216"/>
          <p:cNvSpPr txBox="1"/>
          <p:nvPr/>
        </p:nvSpPr>
        <p:spPr>
          <a:xfrm>
            <a:off x="12825009" y="516824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84%</a:t>
            </a:r>
            <a:endParaRPr lang="en-US" sz="750"/>
          </a:p>
        </p:txBody>
      </p:sp>
      <p:sp>
        <p:nvSpPr>
          <p:cNvPr id="220" name="Text 217"/>
          <p:cNvSpPr txBox="1"/>
          <p:nvPr/>
        </p:nvSpPr>
        <p:spPr>
          <a:xfrm>
            <a:off x="1277928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221" name="Shape 218"/>
          <p:cNvSpPr/>
          <p:nvPr/>
        </p:nvSpPr>
        <p:spPr>
          <a:xfrm>
            <a:off x="13819083" y="5351124"/>
            <a:ext cx="728899" cy="290724"/>
          </a:xfrm>
          <a:prstGeom prst="rect">
            <a:avLst/>
          </a:prstGeom>
          <a:solidFill>
            <a:srgbClr val="13807B"/>
          </a:solidFill>
          <a:ln/>
        </p:spPr>
        <p:txBody>
          <a:bodyPr/>
          <a:lstStyle/>
          <a:p>
            <a:endParaRPr lang="es-PE"/>
          </a:p>
        </p:txBody>
      </p:sp>
      <p:sp>
        <p:nvSpPr>
          <p:cNvPr id="222" name="Text 219"/>
          <p:cNvSpPr txBox="1"/>
          <p:nvPr/>
        </p:nvSpPr>
        <p:spPr>
          <a:xfrm>
            <a:off x="13681923" y="516824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84%</a:t>
            </a:r>
            <a:endParaRPr lang="en-US" sz="750"/>
          </a:p>
        </p:txBody>
      </p:sp>
      <p:sp>
        <p:nvSpPr>
          <p:cNvPr id="223" name="Text 220"/>
          <p:cNvSpPr txBox="1"/>
          <p:nvPr/>
        </p:nvSpPr>
        <p:spPr>
          <a:xfrm>
            <a:off x="13636203"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224" name="Shape 221"/>
          <p:cNvSpPr/>
          <p:nvPr/>
        </p:nvSpPr>
        <p:spPr>
          <a:xfrm>
            <a:off x="14675998" y="5368429"/>
            <a:ext cx="728899" cy="273419"/>
          </a:xfrm>
          <a:prstGeom prst="rect">
            <a:avLst/>
          </a:prstGeom>
          <a:solidFill>
            <a:srgbClr val="13807B"/>
          </a:solidFill>
          <a:ln/>
        </p:spPr>
        <p:txBody>
          <a:bodyPr/>
          <a:lstStyle/>
          <a:p>
            <a:endParaRPr lang="es-PE"/>
          </a:p>
        </p:txBody>
      </p:sp>
      <p:sp>
        <p:nvSpPr>
          <p:cNvPr id="225" name="Text 222"/>
          <p:cNvSpPr txBox="1"/>
          <p:nvPr/>
        </p:nvSpPr>
        <p:spPr>
          <a:xfrm>
            <a:off x="14538838" y="518554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226" name="Text 223"/>
          <p:cNvSpPr txBox="1"/>
          <p:nvPr/>
        </p:nvSpPr>
        <p:spPr>
          <a:xfrm>
            <a:off x="1449311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227" name="Shape 224"/>
          <p:cNvSpPr/>
          <p:nvPr/>
        </p:nvSpPr>
        <p:spPr>
          <a:xfrm>
            <a:off x="11147755" y="5641848"/>
            <a:ext cx="4357726" cy="0"/>
          </a:xfrm>
          <a:prstGeom prst="line">
            <a:avLst/>
          </a:prstGeom>
          <a:noFill/>
          <a:ln w="9525">
            <a:solidFill>
              <a:srgbClr val="D5DFDE"/>
            </a:solidFill>
            <a:prstDash val="solid"/>
          </a:ln>
        </p:spPr>
        <p:txBody>
          <a:bodyPr/>
          <a:lstStyle/>
          <a:p>
            <a:endParaRPr lang="es-PE"/>
          </a:p>
        </p:txBody>
      </p:sp>
      <p:sp>
        <p:nvSpPr>
          <p:cNvPr id="228" name="Shape 225"/>
          <p:cNvSpPr/>
          <p:nvPr/>
        </p:nvSpPr>
        <p:spPr>
          <a:xfrm>
            <a:off x="658368" y="6172200"/>
            <a:ext cx="201168" cy="128016"/>
          </a:xfrm>
          <a:prstGeom prst="rect">
            <a:avLst/>
          </a:prstGeom>
          <a:solidFill>
            <a:srgbClr val="13807B"/>
          </a:solidFill>
          <a:ln/>
        </p:spPr>
        <p:txBody>
          <a:bodyPr/>
          <a:lstStyle/>
          <a:p>
            <a:endParaRPr lang="es-PE"/>
          </a:p>
        </p:txBody>
      </p:sp>
      <p:sp>
        <p:nvSpPr>
          <p:cNvPr id="229" name="Text 226"/>
          <p:cNvSpPr txBox="1"/>
          <p:nvPr/>
        </p:nvSpPr>
        <p:spPr>
          <a:xfrm>
            <a:off x="896112" y="613562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230" name="Shape 227"/>
          <p:cNvSpPr/>
          <p:nvPr/>
        </p:nvSpPr>
        <p:spPr>
          <a:xfrm>
            <a:off x="2788920" y="6236208"/>
            <a:ext cx="320040" cy="0"/>
          </a:xfrm>
          <a:prstGeom prst="line">
            <a:avLst/>
          </a:prstGeom>
          <a:noFill/>
          <a:ln w="22225">
            <a:solidFill>
              <a:srgbClr val="0B2E2C"/>
            </a:solidFill>
            <a:prstDash val="solid"/>
          </a:ln>
        </p:spPr>
        <p:txBody>
          <a:bodyPr/>
          <a:lstStyle/>
          <a:p>
            <a:endParaRPr lang="es-PE"/>
          </a:p>
        </p:txBody>
      </p:sp>
      <p:sp>
        <p:nvSpPr>
          <p:cNvPr id="231" name="Text 228"/>
          <p:cNvSpPr txBox="1"/>
          <p:nvPr/>
        </p:nvSpPr>
        <p:spPr>
          <a:xfrm>
            <a:off x="3154680" y="613562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232" name="Shape 229"/>
          <p:cNvSpPr/>
          <p:nvPr/>
        </p:nvSpPr>
        <p:spPr>
          <a:xfrm>
            <a:off x="4434840" y="6236208"/>
            <a:ext cx="320040" cy="0"/>
          </a:xfrm>
          <a:prstGeom prst="line">
            <a:avLst/>
          </a:prstGeom>
          <a:noFill/>
          <a:ln w="22225">
            <a:solidFill>
              <a:srgbClr val="E67E22"/>
            </a:solidFill>
            <a:prstDash val="dash"/>
          </a:ln>
        </p:spPr>
        <p:txBody>
          <a:bodyPr/>
          <a:lstStyle/>
          <a:p>
            <a:endParaRPr lang="es-PE"/>
          </a:p>
        </p:txBody>
      </p:sp>
      <p:sp>
        <p:nvSpPr>
          <p:cNvPr id="233" name="Text 230"/>
          <p:cNvSpPr txBox="1"/>
          <p:nvPr/>
        </p:nvSpPr>
        <p:spPr>
          <a:xfrm>
            <a:off x="4800600" y="613562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234" name="Text 231"/>
          <p:cNvSpPr txBox="1"/>
          <p:nvPr/>
        </p:nvSpPr>
        <p:spPr>
          <a:xfrm>
            <a:off x="11430000" y="613562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235" name="Shape 232"/>
          <p:cNvSpPr/>
          <p:nvPr/>
        </p:nvSpPr>
        <p:spPr>
          <a:xfrm>
            <a:off x="658368" y="6446520"/>
            <a:ext cx="14938553" cy="2167128"/>
          </a:xfrm>
          <a:prstGeom prst="rect">
            <a:avLst/>
          </a:prstGeom>
          <a:solidFill>
            <a:srgbClr val="F6FBFA"/>
          </a:solidFill>
          <a:ln w="9525">
            <a:solidFill>
              <a:srgbClr val="D5DFDE"/>
            </a:solidFill>
            <a:prstDash val="solid"/>
          </a:ln>
        </p:spPr>
        <p:txBody>
          <a:bodyPr/>
          <a:lstStyle/>
          <a:p>
            <a:endParaRPr lang="es-PE"/>
          </a:p>
        </p:txBody>
      </p:sp>
      <p:sp>
        <p:nvSpPr>
          <p:cNvPr id="236" name="Shape 233"/>
          <p:cNvSpPr/>
          <p:nvPr/>
        </p:nvSpPr>
        <p:spPr>
          <a:xfrm>
            <a:off x="658368" y="6446520"/>
            <a:ext cx="54864" cy="2167128"/>
          </a:xfrm>
          <a:prstGeom prst="rect">
            <a:avLst/>
          </a:prstGeom>
          <a:solidFill>
            <a:srgbClr val="13807B"/>
          </a:solidFill>
          <a:ln/>
        </p:spPr>
        <p:txBody>
          <a:bodyPr/>
          <a:lstStyle/>
          <a:p>
            <a:endParaRPr lang="es-PE"/>
          </a:p>
        </p:txBody>
      </p:sp>
      <p:sp>
        <p:nvSpPr>
          <p:cNvPr id="237" name="Text 234"/>
          <p:cNvSpPr txBox="1"/>
          <p:nvPr/>
        </p:nvSpPr>
        <p:spPr>
          <a:xfrm>
            <a:off x="914400" y="655624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238" name="Text 235"/>
          <p:cNvSpPr txBox="1"/>
          <p:nvPr/>
        </p:nvSpPr>
        <p:spPr>
          <a:xfrm>
            <a:off x="914400"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239" name="Text 236"/>
          <p:cNvSpPr txBox="1"/>
          <p:nvPr/>
        </p:nvSpPr>
        <p:spPr>
          <a:xfrm>
            <a:off x="914400"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6 clusters caen entre 2025Q2 y 2026Q2 (-9pp a -20pp), partiendo de niveles altos (85%-96% en 2025Q2) — con este corte, la caída es mucho más moderada que en versiones anteriores del análisis, y la brecha TEA se mantiene estable (~2.4-3.8pp).</a:t>
            </a:r>
            <a:endParaRPr lang="en-US" sz="950"/>
          </a:p>
        </p:txBody>
      </p:sp>
      <p:sp>
        <p:nvSpPr>
          <p:cNvPr id="240" name="Text 237"/>
          <p:cNvSpPr txBox="1"/>
          <p:nvPr/>
        </p:nvSpPr>
        <p:spPr>
          <a:xfrm>
            <a:off x="5900014"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241" name="Text 238"/>
          <p:cNvSpPr txBox="1"/>
          <p:nvPr/>
        </p:nvSpPr>
        <p:spPr>
          <a:xfrm>
            <a:off x="5900014"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Maduro Multibanco (-20pp) y Gran Cuenta por Conquistar (-19pp) son los de mayor caída — ahí conviene testear una baja selectiva de TEA ofertada antes de escalarlo a los demás.</a:t>
            </a:r>
            <a:endParaRPr lang="en-US" sz="950"/>
          </a:p>
        </p:txBody>
      </p:sp>
      <p:sp>
        <p:nvSpPr>
          <p:cNvPr id="242" name="Text 239"/>
          <p:cNvSpPr txBox="1"/>
          <p:nvPr/>
        </p:nvSpPr>
        <p:spPr>
          <a:xfrm>
            <a:off x="10885627" y="683056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243" name="Text 240"/>
          <p:cNvSpPr txBox="1"/>
          <p:nvPr/>
        </p:nvSpPr>
        <p:spPr>
          <a:xfrm>
            <a:off x="10885627"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Cliente por Reactivar (-9pp) y Cliente Ancla (-11pp) son los más resilientes y ya operan sobre 85%-92% de share — el margen de mejora ahí es mucho menor que en el resto, no priorizar tasa aquí.</a:t>
            </a:r>
            <a:endParaRPr lang="en-US" sz="9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CON DEUDA · MONTO (S/)</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En monto la caída es más pronunciada que en unidades en casi todos: Socio en Crecimiento y Maduro Multibanco lideran con -24pp</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Ancla</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2,4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-16 pp</a:t>
            </a:r>
            <a:endParaRPr lang="en-US" sz="750"/>
          </a:p>
        </p:txBody>
      </p:sp>
      <p:sp>
        <p:nvSpPr>
          <p:cNvPr id="12" name="Shape 9"/>
          <p:cNvSpPr/>
          <p:nvPr/>
        </p:nvSpPr>
        <p:spPr>
          <a:xfrm>
            <a:off x="65836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a:off x="1078992" y="2143910"/>
            <a:ext cx="1071143" cy="19342"/>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63252"/>
            <a:ext cx="1071143" cy="96708"/>
          </a:xfrm>
          <a:prstGeom prst="line">
            <a:avLst/>
          </a:prstGeom>
          <a:noFill/>
          <a:ln w="19050">
            <a:solidFill>
              <a:srgbClr val="0B2E2C"/>
            </a:solidFill>
            <a:prstDash val="solid"/>
          </a:ln>
        </p:spPr>
        <p:txBody>
          <a:bodyPr/>
          <a:lstStyle/>
          <a:p>
            <a:endParaRPr lang="es-PE"/>
          </a:p>
        </p:txBody>
      </p:sp>
      <p:sp>
        <p:nvSpPr>
          <p:cNvPr id="16" name="Shape 13"/>
          <p:cNvSpPr/>
          <p:nvPr/>
        </p:nvSpPr>
        <p:spPr>
          <a:xfrm flipV="1">
            <a:off x="3221279" y="2230947"/>
            <a:ext cx="1071143" cy="29012"/>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163252"/>
            <a:ext cx="1071143" cy="67695"/>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405021"/>
            <a:ext cx="1071143" cy="48354"/>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405021"/>
            <a:ext cx="1071143" cy="0"/>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405021"/>
            <a:ext cx="1071143" cy="48354"/>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414692"/>
            <a:ext cx="1071143" cy="38683"/>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194274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20,6</a:t>
            </a:r>
            <a:endParaRPr lang="en-US" sz="700"/>
          </a:p>
        </p:txBody>
      </p:sp>
      <p:sp>
        <p:nvSpPr>
          <p:cNvPr id="23" name="Text 20"/>
          <p:cNvSpPr txBox="1"/>
          <p:nvPr/>
        </p:nvSpPr>
        <p:spPr>
          <a:xfrm>
            <a:off x="5043526" y="19620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20,4</a:t>
            </a:r>
            <a:endParaRPr lang="en-US" sz="700"/>
          </a:p>
        </p:txBody>
      </p:sp>
      <p:sp>
        <p:nvSpPr>
          <p:cNvPr id="24" name="Text 21"/>
          <p:cNvSpPr txBox="1"/>
          <p:nvPr/>
        </p:nvSpPr>
        <p:spPr>
          <a:xfrm>
            <a:off x="758952" y="250823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17,4</a:t>
            </a:r>
            <a:endParaRPr lang="en-US" sz="700"/>
          </a:p>
        </p:txBody>
      </p:sp>
      <p:sp>
        <p:nvSpPr>
          <p:cNvPr id="25" name="Text 22"/>
          <p:cNvSpPr txBox="1"/>
          <p:nvPr/>
        </p:nvSpPr>
        <p:spPr>
          <a:xfrm>
            <a:off x="5043526" y="24695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17,8</a:t>
            </a:r>
            <a:endParaRPr lang="en-US" sz="700"/>
          </a:p>
        </p:txBody>
      </p:sp>
      <p:sp>
        <p:nvSpPr>
          <p:cNvPr id="26" name="Text 23"/>
          <p:cNvSpPr txBox="1"/>
          <p:nvPr/>
        </p:nvSpPr>
        <p:spPr>
          <a:xfrm>
            <a:off x="71323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2896687"/>
            <a:ext cx="728899" cy="335717"/>
          </a:xfrm>
          <a:prstGeom prst="rect">
            <a:avLst/>
          </a:prstGeom>
          <a:solidFill>
            <a:srgbClr val="13807B"/>
          </a:solidFill>
          <a:ln/>
        </p:spPr>
        <p:txBody>
          <a:bodyPr/>
          <a:lstStyle/>
          <a:p>
            <a:endParaRPr lang="es-PE"/>
          </a:p>
        </p:txBody>
      </p:sp>
      <p:sp>
        <p:nvSpPr>
          <p:cNvPr id="28" name="Text 25"/>
          <p:cNvSpPr txBox="1"/>
          <p:nvPr/>
        </p:nvSpPr>
        <p:spPr>
          <a:xfrm>
            <a:off x="1005840" y="271380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97%</a:t>
            </a:r>
            <a:endParaRPr lang="en-US" sz="750"/>
          </a:p>
        </p:txBody>
      </p:sp>
      <p:sp>
        <p:nvSpPr>
          <p:cNvPr id="29" name="Text 26"/>
          <p:cNvSpPr txBox="1"/>
          <p:nvPr/>
        </p:nvSpPr>
        <p:spPr>
          <a:xfrm>
            <a:off x="96012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2924375"/>
            <a:ext cx="728899" cy="308029"/>
          </a:xfrm>
          <a:prstGeom prst="rect">
            <a:avLst/>
          </a:prstGeom>
          <a:solidFill>
            <a:srgbClr val="13807B"/>
          </a:solidFill>
          <a:ln/>
        </p:spPr>
        <p:txBody>
          <a:bodyPr/>
          <a:lstStyle/>
          <a:p>
            <a:endParaRPr lang="es-PE"/>
          </a:p>
        </p:txBody>
      </p:sp>
      <p:sp>
        <p:nvSpPr>
          <p:cNvPr id="31" name="Text 28"/>
          <p:cNvSpPr txBox="1"/>
          <p:nvPr/>
        </p:nvSpPr>
        <p:spPr>
          <a:xfrm>
            <a:off x="1862755" y="274149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32" name="Text 29"/>
          <p:cNvSpPr txBox="1"/>
          <p:nvPr/>
        </p:nvSpPr>
        <p:spPr>
          <a:xfrm>
            <a:off x="1817035"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2927836"/>
            <a:ext cx="728899" cy="304568"/>
          </a:xfrm>
          <a:prstGeom prst="rect">
            <a:avLst/>
          </a:prstGeom>
          <a:solidFill>
            <a:srgbClr val="13807B"/>
          </a:solidFill>
          <a:ln/>
        </p:spPr>
        <p:txBody>
          <a:bodyPr/>
          <a:lstStyle/>
          <a:p>
            <a:endParaRPr lang="es-PE"/>
          </a:p>
        </p:txBody>
      </p:sp>
      <p:sp>
        <p:nvSpPr>
          <p:cNvPr id="34" name="Text 31"/>
          <p:cNvSpPr txBox="1"/>
          <p:nvPr/>
        </p:nvSpPr>
        <p:spPr>
          <a:xfrm>
            <a:off x="2719669" y="274495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88%</a:t>
            </a:r>
            <a:endParaRPr lang="en-US" sz="750"/>
          </a:p>
        </p:txBody>
      </p:sp>
      <p:sp>
        <p:nvSpPr>
          <p:cNvPr id="35" name="Text 32"/>
          <p:cNvSpPr txBox="1"/>
          <p:nvPr/>
        </p:nvSpPr>
        <p:spPr>
          <a:xfrm>
            <a:off x="267394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2917453"/>
            <a:ext cx="728899" cy="314951"/>
          </a:xfrm>
          <a:prstGeom prst="rect">
            <a:avLst/>
          </a:prstGeom>
          <a:solidFill>
            <a:srgbClr val="13807B"/>
          </a:solidFill>
          <a:ln/>
        </p:spPr>
        <p:txBody>
          <a:bodyPr/>
          <a:lstStyle/>
          <a:p>
            <a:endParaRPr lang="es-PE"/>
          </a:p>
        </p:txBody>
      </p:sp>
      <p:sp>
        <p:nvSpPr>
          <p:cNvPr id="37" name="Text 34"/>
          <p:cNvSpPr txBox="1"/>
          <p:nvPr/>
        </p:nvSpPr>
        <p:spPr>
          <a:xfrm>
            <a:off x="3576584" y="273457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91%</a:t>
            </a:r>
            <a:endParaRPr lang="en-US" sz="750"/>
          </a:p>
        </p:txBody>
      </p:sp>
      <p:sp>
        <p:nvSpPr>
          <p:cNvPr id="38" name="Text 35"/>
          <p:cNvSpPr txBox="1"/>
          <p:nvPr/>
        </p:nvSpPr>
        <p:spPr>
          <a:xfrm>
            <a:off x="353086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2952063"/>
            <a:ext cx="728899" cy="280341"/>
          </a:xfrm>
          <a:prstGeom prst="rect">
            <a:avLst/>
          </a:prstGeom>
          <a:solidFill>
            <a:srgbClr val="13807B"/>
          </a:solidFill>
          <a:ln/>
        </p:spPr>
        <p:txBody>
          <a:bodyPr/>
          <a:lstStyle/>
          <a:p>
            <a:endParaRPr lang="es-PE"/>
          </a:p>
        </p:txBody>
      </p:sp>
      <p:sp>
        <p:nvSpPr>
          <p:cNvPr id="40" name="Text 37"/>
          <p:cNvSpPr txBox="1"/>
          <p:nvPr/>
        </p:nvSpPr>
        <p:spPr>
          <a:xfrm>
            <a:off x="4433499" y="276918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81%</a:t>
            </a:r>
            <a:endParaRPr lang="en-US" sz="750"/>
          </a:p>
        </p:txBody>
      </p:sp>
      <p:sp>
        <p:nvSpPr>
          <p:cNvPr id="41" name="Text 38"/>
          <p:cNvSpPr txBox="1"/>
          <p:nvPr/>
        </p:nvSpPr>
        <p:spPr>
          <a:xfrm>
            <a:off x="438777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3232404"/>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Socio en Crecimiento</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-24 pp</a:t>
            </a:r>
            <a:endParaRPr lang="en-US" sz="750"/>
          </a:p>
        </p:txBody>
      </p:sp>
      <p:sp>
        <p:nvSpPr>
          <p:cNvPr id="49" name="Shape 46"/>
          <p:cNvSpPr/>
          <p:nvPr/>
        </p:nvSpPr>
        <p:spPr>
          <a:xfrm>
            <a:off x="5711038"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a:off x="6131662" y="2137721"/>
            <a:ext cx="1071143" cy="26691"/>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4412"/>
            <a:ext cx="1071143" cy="62280"/>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226692"/>
            <a:ext cx="1071143" cy="0"/>
          </a:xfrm>
          <a:prstGeom prst="line">
            <a:avLst/>
          </a:prstGeom>
          <a:noFill/>
          <a:ln w="19050">
            <a:solidFill>
              <a:srgbClr val="0B2E2C"/>
            </a:solidFill>
            <a:prstDash val="solid"/>
          </a:ln>
        </p:spPr>
        <p:txBody>
          <a:bodyPr/>
          <a:lstStyle/>
          <a:p>
            <a:endParaRPr lang="es-PE"/>
          </a:p>
        </p:txBody>
      </p:sp>
      <p:sp>
        <p:nvSpPr>
          <p:cNvPr id="54" name="Shape 51"/>
          <p:cNvSpPr/>
          <p:nvPr/>
        </p:nvSpPr>
        <p:spPr>
          <a:xfrm flipV="1">
            <a:off x="9345092" y="2182206"/>
            <a:ext cx="1071143" cy="44486"/>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377943"/>
            <a:ext cx="1071143" cy="26691"/>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377943"/>
            <a:ext cx="1071143" cy="26691"/>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404634"/>
            <a:ext cx="1071143" cy="53383"/>
          </a:xfrm>
          <a:prstGeom prst="line">
            <a:avLst/>
          </a:prstGeom>
          <a:noFill/>
          <a:ln w="19050">
            <a:solidFill>
              <a:srgbClr val="E67E22"/>
            </a:solidFill>
            <a:prstDash val="dash"/>
          </a:ln>
        </p:spPr>
        <p:txBody>
          <a:bodyPr/>
          <a:lstStyle/>
          <a:p>
            <a:endParaRPr lang="es-PE"/>
          </a:p>
        </p:txBody>
      </p:sp>
      <p:sp>
        <p:nvSpPr>
          <p:cNvPr id="58" name="Shape 55"/>
          <p:cNvSpPr/>
          <p:nvPr/>
        </p:nvSpPr>
        <p:spPr>
          <a:xfrm flipV="1">
            <a:off x="9345092" y="2395737"/>
            <a:ext cx="1071143" cy="62280"/>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193655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21,2</a:t>
            </a:r>
            <a:endParaRPr lang="en-US" sz="700"/>
          </a:p>
        </p:txBody>
      </p:sp>
      <p:sp>
        <p:nvSpPr>
          <p:cNvPr id="60" name="Text 57"/>
          <p:cNvSpPr txBox="1"/>
          <p:nvPr/>
        </p:nvSpPr>
        <p:spPr>
          <a:xfrm>
            <a:off x="10096195" y="1981038"/>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20,7</a:t>
            </a:r>
            <a:endParaRPr lang="en-US" sz="700"/>
          </a:p>
        </p:txBody>
      </p:sp>
      <p:sp>
        <p:nvSpPr>
          <p:cNvPr id="61" name="Text 58"/>
          <p:cNvSpPr txBox="1"/>
          <p:nvPr/>
        </p:nvSpPr>
        <p:spPr>
          <a:xfrm>
            <a:off x="5811622" y="245949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18,2</a:t>
            </a:r>
            <a:endParaRPr lang="en-US" sz="700"/>
          </a:p>
        </p:txBody>
      </p:sp>
      <p:sp>
        <p:nvSpPr>
          <p:cNvPr id="62" name="Text 59"/>
          <p:cNvSpPr txBox="1"/>
          <p:nvPr/>
        </p:nvSpPr>
        <p:spPr>
          <a:xfrm>
            <a:off x="10096195" y="2450601"/>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18,3</a:t>
            </a:r>
            <a:endParaRPr lang="en-US" sz="700"/>
          </a:p>
        </p:txBody>
      </p:sp>
      <p:sp>
        <p:nvSpPr>
          <p:cNvPr id="63" name="Text 60"/>
          <p:cNvSpPr txBox="1"/>
          <p:nvPr/>
        </p:nvSpPr>
        <p:spPr>
          <a:xfrm>
            <a:off x="5765902"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2941680"/>
            <a:ext cx="728899" cy="290724"/>
          </a:xfrm>
          <a:prstGeom prst="rect">
            <a:avLst/>
          </a:prstGeom>
          <a:solidFill>
            <a:srgbClr val="13807B"/>
          </a:solidFill>
          <a:ln/>
        </p:spPr>
        <p:txBody>
          <a:bodyPr/>
          <a:lstStyle/>
          <a:p>
            <a:endParaRPr lang="es-PE"/>
          </a:p>
        </p:txBody>
      </p:sp>
      <p:sp>
        <p:nvSpPr>
          <p:cNvPr id="65" name="Text 62"/>
          <p:cNvSpPr txBox="1"/>
          <p:nvPr/>
        </p:nvSpPr>
        <p:spPr>
          <a:xfrm>
            <a:off x="6058510" y="275880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84%</a:t>
            </a:r>
            <a:endParaRPr lang="en-US" sz="750"/>
          </a:p>
        </p:txBody>
      </p:sp>
      <p:sp>
        <p:nvSpPr>
          <p:cNvPr id="66" name="Text 63"/>
          <p:cNvSpPr txBox="1"/>
          <p:nvPr/>
        </p:nvSpPr>
        <p:spPr>
          <a:xfrm>
            <a:off x="6012790"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3000517"/>
            <a:ext cx="728899" cy="231887"/>
          </a:xfrm>
          <a:prstGeom prst="rect">
            <a:avLst/>
          </a:prstGeom>
          <a:solidFill>
            <a:srgbClr val="13807B"/>
          </a:solidFill>
          <a:ln/>
        </p:spPr>
        <p:txBody>
          <a:bodyPr/>
          <a:lstStyle/>
          <a:p>
            <a:endParaRPr lang="es-PE"/>
          </a:p>
        </p:txBody>
      </p:sp>
      <p:sp>
        <p:nvSpPr>
          <p:cNvPr id="68" name="Text 65"/>
          <p:cNvSpPr txBox="1"/>
          <p:nvPr/>
        </p:nvSpPr>
        <p:spPr>
          <a:xfrm>
            <a:off x="6915424" y="281763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67%</a:t>
            </a:r>
            <a:endParaRPr lang="en-US" sz="750"/>
          </a:p>
        </p:txBody>
      </p:sp>
      <p:sp>
        <p:nvSpPr>
          <p:cNvPr id="69" name="Text 66"/>
          <p:cNvSpPr txBox="1"/>
          <p:nvPr/>
        </p:nvSpPr>
        <p:spPr>
          <a:xfrm>
            <a:off x="686970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3010900"/>
            <a:ext cx="728899" cy="221504"/>
          </a:xfrm>
          <a:prstGeom prst="rect">
            <a:avLst/>
          </a:prstGeom>
          <a:solidFill>
            <a:srgbClr val="13807B"/>
          </a:solidFill>
          <a:ln/>
        </p:spPr>
        <p:txBody>
          <a:bodyPr/>
          <a:lstStyle/>
          <a:p>
            <a:endParaRPr lang="es-PE"/>
          </a:p>
        </p:txBody>
      </p:sp>
      <p:sp>
        <p:nvSpPr>
          <p:cNvPr id="71" name="Text 68"/>
          <p:cNvSpPr txBox="1"/>
          <p:nvPr/>
        </p:nvSpPr>
        <p:spPr>
          <a:xfrm>
            <a:off x="7772339" y="282802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64%</a:t>
            </a:r>
            <a:endParaRPr lang="en-US" sz="750"/>
          </a:p>
        </p:txBody>
      </p:sp>
      <p:sp>
        <p:nvSpPr>
          <p:cNvPr id="72" name="Text 69"/>
          <p:cNvSpPr txBox="1"/>
          <p:nvPr/>
        </p:nvSpPr>
        <p:spPr>
          <a:xfrm>
            <a:off x="772661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3010900"/>
            <a:ext cx="728899" cy="221504"/>
          </a:xfrm>
          <a:prstGeom prst="rect">
            <a:avLst/>
          </a:prstGeom>
          <a:solidFill>
            <a:srgbClr val="13807B"/>
          </a:solidFill>
          <a:ln/>
        </p:spPr>
        <p:txBody>
          <a:bodyPr/>
          <a:lstStyle/>
          <a:p>
            <a:endParaRPr lang="es-PE"/>
          </a:p>
        </p:txBody>
      </p:sp>
      <p:sp>
        <p:nvSpPr>
          <p:cNvPr id="74" name="Text 71"/>
          <p:cNvSpPr txBox="1"/>
          <p:nvPr/>
        </p:nvSpPr>
        <p:spPr>
          <a:xfrm>
            <a:off x="8629254" y="282802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64%</a:t>
            </a:r>
            <a:endParaRPr lang="en-US" sz="750"/>
          </a:p>
        </p:txBody>
      </p:sp>
      <p:sp>
        <p:nvSpPr>
          <p:cNvPr id="75" name="Text 72"/>
          <p:cNvSpPr txBox="1"/>
          <p:nvPr/>
        </p:nvSpPr>
        <p:spPr>
          <a:xfrm>
            <a:off x="858353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024744"/>
            <a:ext cx="728899" cy="207660"/>
          </a:xfrm>
          <a:prstGeom prst="rect">
            <a:avLst/>
          </a:prstGeom>
          <a:solidFill>
            <a:srgbClr val="13807B"/>
          </a:solidFill>
          <a:ln/>
        </p:spPr>
        <p:txBody>
          <a:bodyPr/>
          <a:lstStyle/>
          <a:p>
            <a:endParaRPr lang="es-PE"/>
          </a:p>
        </p:txBody>
      </p:sp>
      <p:sp>
        <p:nvSpPr>
          <p:cNvPr id="77" name="Text 74"/>
          <p:cNvSpPr txBox="1"/>
          <p:nvPr/>
        </p:nvSpPr>
        <p:spPr>
          <a:xfrm>
            <a:off x="9486168" y="284186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60%</a:t>
            </a:r>
            <a:endParaRPr lang="en-US" sz="750"/>
          </a:p>
        </p:txBody>
      </p:sp>
      <p:sp>
        <p:nvSpPr>
          <p:cNvPr id="78" name="Text 75"/>
          <p:cNvSpPr txBox="1"/>
          <p:nvPr/>
        </p:nvSpPr>
        <p:spPr>
          <a:xfrm>
            <a:off x="944044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3232404"/>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Cuenta Estratégica</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2,8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-15 pp</a:t>
            </a:r>
            <a:endParaRPr lang="en-US" sz="750"/>
          </a:p>
        </p:txBody>
      </p:sp>
      <p:sp>
        <p:nvSpPr>
          <p:cNvPr id="86" name="Shape 83"/>
          <p:cNvSpPr/>
          <p:nvPr/>
        </p:nvSpPr>
        <p:spPr>
          <a:xfrm>
            <a:off x="10763707" y="1755648"/>
            <a:ext cx="4833214" cy="1915668"/>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a:off x="11184331" y="2133692"/>
            <a:ext cx="1071143" cy="41968"/>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75660"/>
            <a:ext cx="1071143" cy="67148"/>
          </a:xfrm>
          <a:prstGeom prst="line">
            <a:avLst/>
          </a:prstGeom>
          <a:noFill/>
          <a:ln w="19050">
            <a:solidFill>
              <a:srgbClr val="0B2E2C"/>
            </a:solidFill>
            <a:prstDash val="solid"/>
          </a:ln>
        </p:spPr>
        <p:txBody>
          <a:bodyPr/>
          <a:lstStyle/>
          <a:p>
            <a:endParaRPr lang="es-PE"/>
          </a:p>
        </p:txBody>
      </p:sp>
      <p:sp>
        <p:nvSpPr>
          <p:cNvPr id="90" name="Shape 87"/>
          <p:cNvSpPr/>
          <p:nvPr/>
        </p:nvSpPr>
        <p:spPr>
          <a:xfrm flipV="1">
            <a:off x="13326618" y="2226021"/>
            <a:ext cx="1071143" cy="16787"/>
          </a:xfrm>
          <a:prstGeom prst="line">
            <a:avLst/>
          </a:prstGeom>
          <a:noFill/>
          <a:ln w="19050">
            <a:solidFill>
              <a:srgbClr val="0B2E2C"/>
            </a:solidFill>
            <a:prstDash val="solid"/>
          </a:ln>
        </p:spPr>
        <p:txBody>
          <a:bodyPr/>
          <a:lstStyle/>
          <a:p>
            <a:endParaRPr lang="es-PE"/>
          </a:p>
        </p:txBody>
      </p:sp>
      <p:sp>
        <p:nvSpPr>
          <p:cNvPr id="91" name="Shape 88"/>
          <p:cNvSpPr/>
          <p:nvPr/>
        </p:nvSpPr>
        <p:spPr>
          <a:xfrm flipV="1">
            <a:off x="14397761" y="2200840"/>
            <a:ext cx="1071143" cy="25181"/>
          </a:xfrm>
          <a:prstGeom prst="line">
            <a:avLst/>
          </a:prstGeom>
          <a:noFill/>
          <a:ln w="19050">
            <a:solidFill>
              <a:srgbClr val="0B2E2C"/>
            </a:solidFill>
            <a:prstDash val="solid"/>
          </a:ln>
        </p:spPr>
        <p:txBody>
          <a:bodyPr/>
          <a:lstStyle/>
          <a:p>
            <a:endParaRPr lang="es-PE"/>
          </a:p>
        </p:txBody>
      </p:sp>
      <p:sp>
        <p:nvSpPr>
          <p:cNvPr id="92" name="Shape 89"/>
          <p:cNvSpPr/>
          <p:nvPr/>
        </p:nvSpPr>
        <p:spPr>
          <a:xfrm flipV="1">
            <a:off x="11184331" y="2427465"/>
            <a:ext cx="1071143" cy="16787"/>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427465"/>
            <a:ext cx="1071143" cy="0"/>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427465"/>
            <a:ext cx="1071143" cy="33574"/>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410678"/>
            <a:ext cx="1071143" cy="50361"/>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193252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97" name="Text 94"/>
          <p:cNvSpPr txBox="1"/>
          <p:nvPr/>
        </p:nvSpPr>
        <p:spPr>
          <a:xfrm>
            <a:off x="15148865" y="1999672"/>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20,0</a:t>
            </a:r>
            <a:endParaRPr lang="en-US" sz="700"/>
          </a:p>
        </p:txBody>
      </p:sp>
      <p:sp>
        <p:nvSpPr>
          <p:cNvPr id="98" name="Text 95"/>
          <p:cNvSpPr txBox="1"/>
          <p:nvPr/>
        </p:nvSpPr>
        <p:spPr>
          <a:xfrm>
            <a:off x="10864291" y="249911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17,1</a:t>
            </a:r>
            <a:endParaRPr lang="en-US" sz="700"/>
          </a:p>
        </p:txBody>
      </p:sp>
      <p:sp>
        <p:nvSpPr>
          <p:cNvPr id="99" name="Text 96"/>
          <p:cNvSpPr txBox="1"/>
          <p:nvPr/>
        </p:nvSpPr>
        <p:spPr>
          <a:xfrm>
            <a:off x="15148865" y="2465542"/>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00" name="Text 97"/>
          <p:cNvSpPr txBox="1"/>
          <p:nvPr/>
        </p:nvSpPr>
        <p:spPr>
          <a:xfrm>
            <a:off x="10818571" y="2703424"/>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2910531"/>
            <a:ext cx="728899" cy="321873"/>
          </a:xfrm>
          <a:prstGeom prst="rect">
            <a:avLst/>
          </a:prstGeom>
          <a:solidFill>
            <a:srgbClr val="13807B"/>
          </a:solidFill>
          <a:ln/>
        </p:spPr>
        <p:txBody>
          <a:bodyPr/>
          <a:lstStyle/>
          <a:p>
            <a:endParaRPr lang="es-PE"/>
          </a:p>
        </p:txBody>
      </p:sp>
      <p:sp>
        <p:nvSpPr>
          <p:cNvPr id="102" name="Text 99"/>
          <p:cNvSpPr txBox="1"/>
          <p:nvPr/>
        </p:nvSpPr>
        <p:spPr>
          <a:xfrm>
            <a:off x="11111179" y="272765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93%</a:t>
            </a:r>
            <a:endParaRPr lang="en-US" sz="750"/>
          </a:p>
        </p:txBody>
      </p:sp>
      <p:sp>
        <p:nvSpPr>
          <p:cNvPr id="103" name="Text 100"/>
          <p:cNvSpPr txBox="1"/>
          <p:nvPr/>
        </p:nvSpPr>
        <p:spPr>
          <a:xfrm>
            <a:off x="1106545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2931297"/>
            <a:ext cx="728899" cy="301107"/>
          </a:xfrm>
          <a:prstGeom prst="rect">
            <a:avLst/>
          </a:prstGeom>
          <a:solidFill>
            <a:srgbClr val="13807B"/>
          </a:solidFill>
          <a:ln/>
        </p:spPr>
        <p:txBody>
          <a:bodyPr/>
          <a:lstStyle/>
          <a:p>
            <a:endParaRPr lang="es-PE"/>
          </a:p>
        </p:txBody>
      </p:sp>
      <p:sp>
        <p:nvSpPr>
          <p:cNvPr id="105" name="Text 102"/>
          <p:cNvSpPr txBox="1"/>
          <p:nvPr/>
        </p:nvSpPr>
        <p:spPr>
          <a:xfrm>
            <a:off x="11968094" y="274841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87%</a:t>
            </a:r>
            <a:endParaRPr lang="en-US" sz="750"/>
          </a:p>
        </p:txBody>
      </p:sp>
      <p:sp>
        <p:nvSpPr>
          <p:cNvPr id="106" name="Text 103"/>
          <p:cNvSpPr txBox="1"/>
          <p:nvPr/>
        </p:nvSpPr>
        <p:spPr>
          <a:xfrm>
            <a:off x="11922374"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2976290"/>
            <a:ext cx="728899" cy="256114"/>
          </a:xfrm>
          <a:prstGeom prst="rect">
            <a:avLst/>
          </a:prstGeom>
          <a:solidFill>
            <a:srgbClr val="13807B"/>
          </a:solidFill>
          <a:ln/>
        </p:spPr>
        <p:txBody>
          <a:bodyPr/>
          <a:lstStyle/>
          <a:p>
            <a:endParaRPr lang="es-PE"/>
          </a:p>
        </p:txBody>
      </p:sp>
      <p:sp>
        <p:nvSpPr>
          <p:cNvPr id="108" name="Text 105"/>
          <p:cNvSpPr txBox="1"/>
          <p:nvPr/>
        </p:nvSpPr>
        <p:spPr>
          <a:xfrm>
            <a:off x="12825009" y="279341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74%</a:t>
            </a:r>
            <a:endParaRPr lang="en-US" sz="750"/>
          </a:p>
        </p:txBody>
      </p:sp>
      <p:sp>
        <p:nvSpPr>
          <p:cNvPr id="109" name="Text 106"/>
          <p:cNvSpPr txBox="1"/>
          <p:nvPr/>
        </p:nvSpPr>
        <p:spPr>
          <a:xfrm>
            <a:off x="12779289"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2945141"/>
            <a:ext cx="728899" cy="287263"/>
          </a:xfrm>
          <a:prstGeom prst="rect">
            <a:avLst/>
          </a:prstGeom>
          <a:solidFill>
            <a:srgbClr val="13807B"/>
          </a:solidFill>
          <a:ln/>
        </p:spPr>
        <p:txBody>
          <a:bodyPr/>
          <a:lstStyle/>
          <a:p>
            <a:endParaRPr lang="es-PE"/>
          </a:p>
        </p:txBody>
      </p:sp>
      <p:sp>
        <p:nvSpPr>
          <p:cNvPr id="111" name="Text 108"/>
          <p:cNvSpPr txBox="1"/>
          <p:nvPr/>
        </p:nvSpPr>
        <p:spPr>
          <a:xfrm>
            <a:off x="13681923" y="276226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83%</a:t>
            </a:r>
            <a:endParaRPr lang="en-US" sz="750"/>
          </a:p>
        </p:txBody>
      </p:sp>
      <p:sp>
        <p:nvSpPr>
          <p:cNvPr id="112" name="Text 109"/>
          <p:cNvSpPr txBox="1"/>
          <p:nvPr/>
        </p:nvSpPr>
        <p:spPr>
          <a:xfrm>
            <a:off x="13636203"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2962446"/>
            <a:ext cx="728899" cy="269958"/>
          </a:xfrm>
          <a:prstGeom prst="rect">
            <a:avLst/>
          </a:prstGeom>
          <a:solidFill>
            <a:srgbClr val="13807B"/>
          </a:solidFill>
          <a:ln/>
        </p:spPr>
        <p:txBody>
          <a:bodyPr/>
          <a:lstStyle/>
          <a:p>
            <a:endParaRPr lang="es-PE"/>
          </a:p>
        </p:txBody>
      </p:sp>
      <p:sp>
        <p:nvSpPr>
          <p:cNvPr id="114" name="Text 111"/>
          <p:cNvSpPr txBox="1"/>
          <p:nvPr/>
        </p:nvSpPr>
        <p:spPr>
          <a:xfrm>
            <a:off x="14538838" y="277956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78%</a:t>
            </a:r>
            <a:endParaRPr lang="en-US" sz="750"/>
          </a:p>
        </p:txBody>
      </p:sp>
      <p:sp>
        <p:nvSpPr>
          <p:cNvPr id="115" name="Text 112"/>
          <p:cNvSpPr txBox="1"/>
          <p:nvPr/>
        </p:nvSpPr>
        <p:spPr>
          <a:xfrm>
            <a:off x="14493118" y="3268980"/>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3232404"/>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3835908"/>
            <a:ext cx="4833214" cy="329184"/>
          </a:xfrm>
          <a:prstGeom prst="rect">
            <a:avLst/>
          </a:prstGeom>
          <a:solidFill>
            <a:srgbClr val="13807B"/>
          </a:solidFill>
          <a:ln/>
        </p:spPr>
        <p:txBody>
          <a:bodyPr/>
          <a:lstStyle/>
          <a:p>
            <a:endParaRPr lang="es-PE"/>
          </a:p>
        </p:txBody>
      </p:sp>
      <p:sp>
        <p:nvSpPr>
          <p:cNvPr id="118" name="Text 115"/>
          <p:cNvSpPr txBox="1"/>
          <p:nvPr/>
        </p:nvSpPr>
        <p:spPr>
          <a:xfrm>
            <a:off x="76809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Maduro Multibanco</a:t>
            </a:r>
            <a:endParaRPr lang="en-US" sz="1100"/>
          </a:p>
        </p:txBody>
      </p:sp>
      <p:sp>
        <p:nvSpPr>
          <p:cNvPr id="119" name="Shape 116"/>
          <p:cNvSpPr/>
          <p:nvPr/>
        </p:nvSpPr>
        <p:spPr>
          <a:xfrm>
            <a:off x="2783674" y="3881628"/>
            <a:ext cx="1401632" cy="237744"/>
          </a:xfrm>
          <a:prstGeom prst="roundRect">
            <a:avLst>
              <a:gd name="adj" fmla="val 23077"/>
            </a:avLst>
          </a:prstGeom>
          <a:solidFill>
            <a:srgbClr val="0B2E2C"/>
          </a:solidFill>
          <a:ln/>
        </p:spPr>
        <p:txBody>
          <a:bodyPr/>
          <a:lstStyle/>
          <a:p>
            <a:endParaRPr lang="es-PE"/>
          </a:p>
        </p:txBody>
      </p:sp>
      <p:sp>
        <p:nvSpPr>
          <p:cNvPr id="120" name="Text 117"/>
          <p:cNvSpPr txBox="1"/>
          <p:nvPr/>
        </p:nvSpPr>
        <p:spPr>
          <a:xfrm>
            <a:off x="278367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3,0 pp</a:t>
            </a:r>
            <a:endParaRPr lang="en-US" sz="750"/>
          </a:p>
        </p:txBody>
      </p:sp>
      <p:sp>
        <p:nvSpPr>
          <p:cNvPr id="121" name="Shape 118"/>
          <p:cNvSpPr/>
          <p:nvPr/>
        </p:nvSpPr>
        <p:spPr>
          <a:xfrm>
            <a:off x="4258458" y="3881628"/>
            <a:ext cx="1159971" cy="237744"/>
          </a:xfrm>
          <a:prstGeom prst="roundRect">
            <a:avLst>
              <a:gd name="adj" fmla="val 23077"/>
            </a:avLst>
          </a:prstGeom>
          <a:solidFill>
            <a:srgbClr val="FFFFFF"/>
          </a:solidFill>
          <a:ln/>
        </p:spPr>
        <p:txBody>
          <a:bodyPr/>
          <a:lstStyle/>
          <a:p>
            <a:endParaRPr lang="es-PE"/>
          </a:p>
        </p:txBody>
      </p:sp>
      <p:sp>
        <p:nvSpPr>
          <p:cNvPr id="122" name="Text 119"/>
          <p:cNvSpPr txBox="1"/>
          <p:nvPr/>
        </p:nvSpPr>
        <p:spPr>
          <a:xfrm>
            <a:off x="425845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-24 pp</a:t>
            </a:r>
            <a:endParaRPr lang="en-US" sz="750"/>
          </a:p>
        </p:txBody>
      </p:sp>
      <p:sp>
        <p:nvSpPr>
          <p:cNvPr id="123" name="Shape 120"/>
          <p:cNvSpPr/>
          <p:nvPr/>
        </p:nvSpPr>
        <p:spPr>
          <a:xfrm>
            <a:off x="65836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24" name="Text 121"/>
          <p:cNvSpPr txBox="1"/>
          <p:nvPr/>
        </p:nvSpPr>
        <p:spPr>
          <a:xfrm>
            <a:off x="71323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25" name="Shape 122"/>
          <p:cNvSpPr/>
          <p:nvPr/>
        </p:nvSpPr>
        <p:spPr>
          <a:xfrm>
            <a:off x="1078992" y="4541893"/>
            <a:ext cx="1071143" cy="41190"/>
          </a:xfrm>
          <a:prstGeom prst="line">
            <a:avLst/>
          </a:prstGeom>
          <a:noFill/>
          <a:ln w="19050">
            <a:solidFill>
              <a:srgbClr val="0B2E2C"/>
            </a:solidFill>
            <a:prstDash val="solid"/>
          </a:ln>
        </p:spPr>
        <p:txBody>
          <a:bodyPr/>
          <a:lstStyle/>
          <a:p>
            <a:endParaRPr lang="es-PE"/>
          </a:p>
        </p:txBody>
      </p:sp>
      <p:sp>
        <p:nvSpPr>
          <p:cNvPr id="126" name="Shape 123"/>
          <p:cNvSpPr/>
          <p:nvPr/>
        </p:nvSpPr>
        <p:spPr>
          <a:xfrm>
            <a:off x="2150135" y="4583083"/>
            <a:ext cx="1071143" cy="57666"/>
          </a:xfrm>
          <a:prstGeom prst="line">
            <a:avLst/>
          </a:prstGeom>
          <a:noFill/>
          <a:ln w="19050">
            <a:solidFill>
              <a:srgbClr val="0B2E2C"/>
            </a:solidFill>
            <a:prstDash val="solid"/>
          </a:ln>
        </p:spPr>
        <p:txBody>
          <a:bodyPr/>
          <a:lstStyle/>
          <a:p>
            <a:endParaRPr lang="es-PE"/>
          </a:p>
        </p:txBody>
      </p:sp>
      <p:sp>
        <p:nvSpPr>
          <p:cNvPr id="127" name="Shape 124"/>
          <p:cNvSpPr/>
          <p:nvPr/>
        </p:nvSpPr>
        <p:spPr>
          <a:xfrm flipV="1">
            <a:off x="3221279" y="4591321"/>
            <a:ext cx="1071143" cy="49428"/>
          </a:xfrm>
          <a:prstGeom prst="line">
            <a:avLst/>
          </a:prstGeom>
          <a:noFill/>
          <a:ln w="19050">
            <a:solidFill>
              <a:srgbClr val="0B2E2C"/>
            </a:solidFill>
            <a:prstDash val="solid"/>
          </a:ln>
        </p:spPr>
        <p:txBody>
          <a:bodyPr/>
          <a:lstStyle/>
          <a:p>
            <a:endParaRPr lang="es-PE"/>
          </a:p>
        </p:txBody>
      </p:sp>
      <p:sp>
        <p:nvSpPr>
          <p:cNvPr id="128" name="Shape 125"/>
          <p:cNvSpPr/>
          <p:nvPr/>
        </p:nvSpPr>
        <p:spPr>
          <a:xfrm flipV="1">
            <a:off x="4292422" y="4574845"/>
            <a:ext cx="1071143" cy="16476"/>
          </a:xfrm>
          <a:prstGeom prst="line">
            <a:avLst/>
          </a:prstGeom>
          <a:noFill/>
          <a:ln w="19050">
            <a:solidFill>
              <a:srgbClr val="0B2E2C"/>
            </a:solidFill>
            <a:prstDash val="solid"/>
          </a:ln>
        </p:spPr>
        <p:txBody>
          <a:bodyPr/>
          <a:lstStyle/>
          <a:p>
            <a:endParaRPr lang="es-PE"/>
          </a:p>
        </p:txBody>
      </p:sp>
      <p:sp>
        <p:nvSpPr>
          <p:cNvPr id="129" name="Shape 126"/>
          <p:cNvSpPr/>
          <p:nvPr/>
        </p:nvSpPr>
        <p:spPr>
          <a:xfrm>
            <a:off x="1078992" y="4813749"/>
            <a:ext cx="1071143" cy="8238"/>
          </a:xfrm>
          <a:prstGeom prst="line">
            <a:avLst/>
          </a:prstGeom>
          <a:noFill/>
          <a:ln w="19050">
            <a:solidFill>
              <a:srgbClr val="E67E22"/>
            </a:solidFill>
            <a:prstDash val="dash"/>
          </a:ln>
        </p:spPr>
        <p:txBody>
          <a:bodyPr/>
          <a:lstStyle/>
          <a:p>
            <a:endParaRPr lang="es-PE"/>
          </a:p>
        </p:txBody>
      </p:sp>
      <p:sp>
        <p:nvSpPr>
          <p:cNvPr id="130" name="Shape 127"/>
          <p:cNvSpPr/>
          <p:nvPr/>
        </p:nvSpPr>
        <p:spPr>
          <a:xfrm>
            <a:off x="2150135" y="4821987"/>
            <a:ext cx="1071143" cy="8238"/>
          </a:xfrm>
          <a:prstGeom prst="line">
            <a:avLst/>
          </a:prstGeom>
          <a:noFill/>
          <a:ln w="19050">
            <a:solidFill>
              <a:srgbClr val="E67E22"/>
            </a:solidFill>
            <a:prstDash val="dash"/>
          </a:ln>
        </p:spPr>
        <p:txBody>
          <a:bodyPr/>
          <a:lstStyle/>
          <a:p>
            <a:endParaRPr lang="es-PE"/>
          </a:p>
        </p:txBody>
      </p:sp>
      <p:sp>
        <p:nvSpPr>
          <p:cNvPr id="131" name="Shape 128"/>
          <p:cNvSpPr/>
          <p:nvPr/>
        </p:nvSpPr>
        <p:spPr>
          <a:xfrm>
            <a:off x="3221279" y="4830225"/>
            <a:ext cx="1071143" cy="41190"/>
          </a:xfrm>
          <a:prstGeom prst="line">
            <a:avLst/>
          </a:prstGeom>
          <a:noFill/>
          <a:ln w="19050">
            <a:solidFill>
              <a:srgbClr val="E67E22"/>
            </a:solidFill>
            <a:prstDash val="dash"/>
          </a:ln>
        </p:spPr>
        <p:txBody>
          <a:bodyPr/>
          <a:lstStyle/>
          <a:p>
            <a:endParaRPr lang="es-PE"/>
          </a:p>
        </p:txBody>
      </p:sp>
      <p:sp>
        <p:nvSpPr>
          <p:cNvPr id="132" name="Shape 129"/>
          <p:cNvSpPr/>
          <p:nvPr/>
        </p:nvSpPr>
        <p:spPr>
          <a:xfrm flipV="1">
            <a:off x="4292422" y="4838463"/>
            <a:ext cx="1071143" cy="32952"/>
          </a:xfrm>
          <a:prstGeom prst="line">
            <a:avLst/>
          </a:prstGeom>
          <a:noFill/>
          <a:ln w="19050">
            <a:solidFill>
              <a:srgbClr val="E67E22"/>
            </a:solidFill>
            <a:prstDash val="dash"/>
          </a:ln>
        </p:spPr>
        <p:txBody>
          <a:bodyPr/>
          <a:lstStyle/>
          <a:p>
            <a:endParaRPr lang="es-PE"/>
          </a:p>
        </p:txBody>
      </p:sp>
      <p:sp>
        <p:nvSpPr>
          <p:cNvPr id="133" name="Text 130"/>
          <p:cNvSpPr txBox="1"/>
          <p:nvPr/>
        </p:nvSpPr>
        <p:spPr>
          <a:xfrm>
            <a:off x="758952" y="434072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20,9</a:t>
            </a:r>
            <a:endParaRPr lang="en-US" sz="700"/>
          </a:p>
        </p:txBody>
      </p:sp>
      <p:sp>
        <p:nvSpPr>
          <p:cNvPr id="134" name="Text 131"/>
          <p:cNvSpPr txBox="1"/>
          <p:nvPr/>
        </p:nvSpPr>
        <p:spPr>
          <a:xfrm>
            <a:off x="5043526" y="4373677"/>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20,5</a:t>
            </a:r>
            <a:endParaRPr lang="en-US" sz="700"/>
          </a:p>
        </p:txBody>
      </p:sp>
      <p:sp>
        <p:nvSpPr>
          <p:cNvPr id="135" name="Text 132"/>
          <p:cNvSpPr txBox="1"/>
          <p:nvPr/>
        </p:nvSpPr>
        <p:spPr>
          <a:xfrm>
            <a:off x="758952" y="4868613"/>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17,6</a:t>
            </a:r>
            <a:endParaRPr lang="en-US" sz="700"/>
          </a:p>
        </p:txBody>
      </p:sp>
      <p:sp>
        <p:nvSpPr>
          <p:cNvPr id="136" name="Text 133"/>
          <p:cNvSpPr txBox="1"/>
          <p:nvPr/>
        </p:nvSpPr>
        <p:spPr>
          <a:xfrm>
            <a:off x="5043526" y="4893327"/>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37" name="Text 134"/>
          <p:cNvSpPr txBox="1"/>
          <p:nvPr/>
        </p:nvSpPr>
        <p:spPr>
          <a:xfrm>
            <a:off x="71323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38" name="Shape 135"/>
          <p:cNvSpPr/>
          <p:nvPr/>
        </p:nvSpPr>
        <p:spPr>
          <a:xfrm>
            <a:off x="1143000" y="5344202"/>
            <a:ext cx="728899" cy="297646"/>
          </a:xfrm>
          <a:prstGeom prst="rect">
            <a:avLst/>
          </a:prstGeom>
          <a:solidFill>
            <a:srgbClr val="13807B"/>
          </a:solidFill>
          <a:ln/>
        </p:spPr>
        <p:txBody>
          <a:bodyPr/>
          <a:lstStyle/>
          <a:p>
            <a:endParaRPr lang="es-PE"/>
          </a:p>
        </p:txBody>
      </p:sp>
      <p:sp>
        <p:nvSpPr>
          <p:cNvPr id="139" name="Text 136"/>
          <p:cNvSpPr txBox="1"/>
          <p:nvPr/>
        </p:nvSpPr>
        <p:spPr>
          <a:xfrm>
            <a:off x="1005840" y="5161322"/>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86%</a:t>
            </a:r>
            <a:endParaRPr lang="en-US" sz="750"/>
          </a:p>
        </p:txBody>
      </p:sp>
      <p:sp>
        <p:nvSpPr>
          <p:cNvPr id="140" name="Text 137"/>
          <p:cNvSpPr txBox="1"/>
          <p:nvPr/>
        </p:nvSpPr>
        <p:spPr>
          <a:xfrm>
            <a:off x="96012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41" name="Shape 138"/>
          <p:cNvSpPr/>
          <p:nvPr/>
        </p:nvSpPr>
        <p:spPr>
          <a:xfrm>
            <a:off x="1999915" y="5347663"/>
            <a:ext cx="728899" cy="294185"/>
          </a:xfrm>
          <a:prstGeom prst="rect">
            <a:avLst/>
          </a:prstGeom>
          <a:solidFill>
            <a:srgbClr val="13807B"/>
          </a:solidFill>
          <a:ln/>
        </p:spPr>
        <p:txBody>
          <a:bodyPr/>
          <a:lstStyle/>
          <a:p>
            <a:endParaRPr lang="es-PE"/>
          </a:p>
        </p:txBody>
      </p:sp>
      <p:sp>
        <p:nvSpPr>
          <p:cNvPr id="142" name="Text 139"/>
          <p:cNvSpPr txBox="1"/>
          <p:nvPr/>
        </p:nvSpPr>
        <p:spPr>
          <a:xfrm>
            <a:off x="1862755" y="516478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85%</a:t>
            </a:r>
            <a:endParaRPr lang="en-US" sz="750"/>
          </a:p>
        </p:txBody>
      </p:sp>
      <p:sp>
        <p:nvSpPr>
          <p:cNvPr id="143" name="Text 140"/>
          <p:cNvSpPr txBox="1"/>
          <p:nvPr/>
        </p:nvSpPr>
        <p:spPr>
          <a:xfrm>
            <a:off x="1817035"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44" name="Shape 141"/>
          <p:cNvSpPr/>
          <p:nvPr/>
        </p:nvSpPr>
        <p:spPr>
          <a:xfrm>
            <a:off x="2856829" y="5399578"/>
            <a:ext cx="728899" cy="242270"/>
          </a:xfrm>
          <a:prstGeom prst="rect">
            <a:avLst/>
          </a:prstGeom>
          <a:solidFill>
            <a:srgbClr val="13807B"/>
          </a:solidFill>
          <a:ln/>
        </p:spPr>
        <p:txBody>
          <a:bodyPr/>
          <a:lstStyle/>
          <a:p>
            <a:endParaRPr lang="es-PE"/>
          </a:p>
        </p:txBody>
      </p:sp>
      <p:sp>
        <p:nvSpPr>
          <p:cNvPr id="145" name="Text 142"/>
          <p:cNvSpPr txBox="1"/>
          <p:nvPr/>
        </p:nvSpPr>
        <p:spPr>
          <a:xfrm>
            <a:off x="2719669" y="521669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70%</a:t>
            </a:r>
            <a:endParaRPr lang="en-US" sz="750"/>
          </a:p>
        </p:txBody>
      </p:sp>
      <p:sp>
        <p:nvSpPr>
          <p:cNvPr id="146" name="Text 143"/>
          <p:cNvSpPr txBox="1"/>
          <p:nvPr/>
        </p:nvSpPr>
        <p:spPr>
          <a:xfrm>
            <a:off x="267394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47" name="Shape 144"/>
          <p:cNvSpPr/>
          <p:nvPr/>
        </p:nvSpPr>
        <p:spPr>
          <a:xfrm>
            <a:off x="3713744" y="5382273"/>
            <a:ext cx="728899" cy="259575"/>
          </a:xfrm>
          <a:prstGeom prst="rect">
            <a:avLst/>
          </a:prstGeom>
          <a:solidFill>
            <a:srgbClr val="13807B"/>
          </a:solidFill>
          <a:ln/>
        </p:spPr>
        <p:txBody>
          <a:bodyPr/>
          <a:lstStyle/>
          <a:p>
            <a:endParaRPr lang="es-PE"/>
          </a:p>
        </p:txBody>
      </p:sp>
      <p:sp>
        <p:nvSpPr>
          <p:cNvPr id="148" name="Text 145"/>
          <p:cNvSpPr txBox="1"/>
          <p:nvPr/>
        </p:nvSpPr>
        <p:spPr>
          <a:xfrm>
            <a:off x="3576584" y="519939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149" name="Text 146"/>
          <p:cNvSpPr txBox="1"/>
          <p:nvPr/>
        </p:nvSpPr>
        <p:spPr>
          <a:xfrm>
            <a:off x="353086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50" name="Shape 147"/>
          <p:cNvSpPr/>
          <p:nvPr/>
        </p:nvSpPr>
        <p:spPr>
          <a:xfrm>
            <a:off x="4570659" y="5427266"/>
            <a:ext cx="728899" cy="214582"/>
          </a:xfrm>
          <a:prstGeom prst="rect">
            <a:avLst/>
          </a:prstGeom>
          <a:solidFill>
            <a:srgbClr val="13807B"/>
          </a:solidFill>
          <a:ln/>
        </p:spPr>
        <p:txBody>
          <a:bodyPr/>
          <a:lstStyle/>
          <a:p>
            <a:endParaRPr lang="es-PE"/>
          </a:p>
        </p:txBody>
      </p:sp>
      <p:sp>
        <p:nvSpPr>
          <p:cNvPr id="151" name="Text 148"/>
          <p:cNvSpPr txBox="1"/>
          <p:nvPr/>
        </p:nvSpPr>
        <p:spPr>
          <a:xfrm>
            <a:off x="4433499" y="524438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62%</a:t>
            </a:r>
            <a:endParaRPr lang="en-US" sz="750"/>
          </a:p>
        </p:txBody>
      </p:sp>
      <p:sp>
        <p:nvSpPr>
          <p:cNvPr id="152" name="Text 149"/>
          <p:cNvSpPr txBox="1"/>
          <p:nvPr/>
        </p:nvSpPr>
        <p:spPr>
          <a:xfrm>
            <a:off x="438777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53" name="Shape 150"/>
          <p:cNvSpPr/>
          <p:nvPr/>
        </p:nvSpPr>
        <p:spPr>
          <a:xfrm>
            <a:off x="1042416" y="5641848"/>
            <a:ext cx="4357726" cy="0"/>
          </a:xfrm>
          <a:prstGeom prst="line">
            <a:avLst/>
          </a:prstGeom>
          <a:noFill/>
          <a:ln w="9525">
            <a:solidFill>
              <a:srgbClr val="D5DFDE"/>
            </a:solidFill>
            <a:prstDash val="solid"/>
          </a:ln>
        </p:spPr>
        <p:txBody>
          <a:bodyPr/>
          <a:lstStyle/>
          <a:p>
            <a:endParaRPr lang="es-PE"/>
          </a:p>
        </p:txBody>
      </p:sp>
      <p:sp>
        <p:nvSpPr>
          <p:cNvPr id="154" name="Shape 151"/>
          <p:cNvSpPr/>
          <p:nvPr/>
        </p:nvSpPr>
        <p:spPr>
          <a:xfrm>
            <a:off x="5711038" y="3835908"/>
            <a:ext cx="4833214" cy="329184"/>
          </a:xfrm>
          <a:prstGeom prst="rect">
            <a:avLst/>
          </a:prstGeom>
          <a:solidFill>
            <a:srgbClr val="13807B"/>
          </a:solidFill>
          <a:ln/>
        </p:spPr>
        <p:txBody>
          <a:bodyPr/>
          <a:lstStyle/>
          <a:p>
            <a:endParaRPr lang="es-PE"/>
          </a:p>
        </p:txBody>
      </p:sp>
      <p:sp>
        <p:nvSpPr>
          <p:cNvPr id="155" name="Text 152"/>
          <p:cNvSpPr txBox="1"/>
          <p:nvPr/>
        </p:nvSpPr>
        <p:spPr>
          <a:xfrm>
            <a:off x="5820766"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Gran Cuenta por Conquistar</a:t>
            </a:r>
            <a:endParaRPr lang="en-US" sz="1100"/>
          </a:p>
        </p:txBody>
      </p:sp>
      <p:sp>
        <p:nvSpPr>
          <p:cNvPr id="156" name="Shape 153"/>
          <p:cNvSpPr/>
          <p:nvPr/>
        </p:nvSpPr>
        <p:spPr>
          <a:xfrm>
            <a:off x="7836344" y="3881628"/>
            <a:ext cx="1401632" cy="237744"/>
          </a:xfrm>
          <a:prstGeom prst="roundRect">
            <a:avLst>
              <a:gd name="adj" fmla="val 23077"/>
            </a:avLst>
          </a:prstGeom>
          <a:solidFill>
            <a:srgbClr val="0B2E2C"/>
          </a:solidFill>
          <a:ln/>
        </p:spPr>
        <p:txBody>
          <a:bodyPr/>
          <a:lstStyle/>
          <a:p>
            <a:endParaRPr lang="es-PE"/>
          </a:p>
        </p:txBody>
      </p:sp>
      <p:sp>
        <p:nvSpPr>
          <p:cNvPr id="157" name="Text 154"/>
          <p:cNvSpPr txBox="1"/>
          <p:nvPr/>
        </p:nvSpPr>
        <p:spPr>
          <a:xfrm>
            <a:off x="783634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3,3 pp</a:t>
            </a:r>
            <a:endParaRPr lang="en-US" sz="750"/>
          </a:p>
        </p:txBody>
      </p:sp>
      <p:sp>
        <p:nvSpPr>
          <p:cNvPr id="158" name="Shape 155"/>
          <p:cNvSpPr/>
          <p:nvPr/>
        </p:nvSpPr>
        <p:spPr>
          <a:xfrm>
            <a:off x="9311128" y="3881628"/>
            <a:ext cx="1159971" cy="237744"/>
          </a:xfrm>
          <a:prstGeom prst="roundRect">
            <a:avLst>
              <a:gd name="adj" fmla="val 23077"/>
            </a:avLst>
          </a:prstGeom>
          <a:solidFill>
            <a:srgbClr val="FFFFFF"/>
          </a:solidFill>
          <a:ln/>
        </p:spPr>
        <p:txBody>
          <a:bodyPr/>
          <a:lstStyle/>
          <a:p>
            <a:endParaRPr lang="es-PE"/>
          </a:p>
        </p:txBody>
      </p:sp>
      <p:sp>
        <p:nvSpPr>
          <p:cNvPr id="159" name="Text 156"/>
          <p:cNvSpPr txBox="1"/>
          <p:nvPr/>
        </p:nvSpPr>
        <p:spPr>
          <a:xfrm>
            <a:off x="931112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-23 pp</a:t>
            </a:r>
            <a:endParaRPr lang="en-US" sz="750"/>
          </a:p>
        </p:txBody>
      </p:sp>
      <p:sp>
        <p:nvSpPr>
          <p:cNvPr id="160" name="Shape 157"/>
          <p:cNvSpPr/>
          <p:nvPr/>
        </p:nvSpPr>
        <p:spPr>
          <a:xfrm>
            <a:off x="5711038"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61" name="Text 158"/>
          <p:cNvSpPr txBox="1"/>
          <p:nvPr/>
        </p:nvSpPr>
        <p:spPr>
          <a:xfrm>
            <a:off x="5765902"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62" name="Shape 159"/>
          <p:cNvSpPr/>
          <p:nvPr/>
        </p:nvSpPr>
        <p:spPr>
          <a:xfrm>
            <a:off x="6131662" y="4535302"/>
            <a:ext cx="1071143" cy="59314"/>
          </a:xfrm>
          <a:prstGeom prst="line">
            <a:avLst/>
          </a:prstGeom>
          <a:noFill/>
          <a:ln w="19050">
            <a:solidFill>
              <a:srgbClr val="0B2E2C"/>
            </a:solidFill>
            <a:prstDash val="solid"/>
          </a:ln>
        </p:spPr>
        <p:txBody>
          <a:bodyPr/>
          <a:lstStyle/>
          <a:p>
            <a:endParaRPr lang="es-PE"/>
          </a:p>
        </p:txBody>
      </p:sp>
      <p:sp>
        <p:nvSpPr>
          <p:cNvPr id="163" name="Shape 160"/>
          <p:cNvSpPr/>
          <p:nvPr/>
        </p:nvSpPr>
        <p:spPr>
          <a:xfrm>
            <a:off x="7202805" y="4594616"/>
            <a:ext cx="1071143" cy="74143"/>
          </a:xfrm>
          <a:prstGeom prst="line">
            <a:avLst/>
          </a:prstGeom>
          <a:noFill/>
          <a:ln w="19050">
            <a:solidFill>
              <a:srgbClr val="0B2E2C"/>
            </a:solidFill>
            <a:prstDash val="solid"/>
          </a:ln>
        </p:spPr>
        <p:txBody>
          <a:bodyPr/>
          <a:lstStyle/>
          <a:p>
            <a:endParaRPr lang="es-PE"/>
          </a:p>
        </p:txBody>
      </p:sp>
      <p:sp>
        <p:nvSpPr>
          <p:cNvPr id="164" name="Shape 161"/>
          <p:cNvSpPr/>
          <p:nvPr/>
        </p:nvSpPr>
        <p:spPr>
          <a:xfrm flipV="1">
            <a:off x="8273948" y="4639102"/>
            <a:ext cx="1071143" cy="29657"/>
          </a:xfrm>
          <a:prstGeom prst="line">
            <a:avLst/>
          </a:prstGeom>
          <a:noFill/>
          <a:ln w="19050">
            <a:solidFill>
              <a:srgbClr val="0B2E2C"/>
            </a:solidFill>
            <a:prstDash val="solid"/>
          </a:ln>
        </p:spPr>
        <p:txBody>
          <a:bodyPr/>
          <a:lstStyle/>
          <a:p>
            <a:endParaRPr lang="es-PE"/>
          </a:p>
        </p:txBody>
      </p:sp>
      <p:sp>
        <p:nvSpPr>
          <p:cNvPr id="165" name="Shape 162"/>
          <p:cNvSpPr/>
          <p:nvPr/>
        </p:nvSpPr>
        <p:spPr>
          <a:xfrm flipV="1">
            <a:off x="9345092" y="4572373"/>
            <a:ext cx="1071143" cy="66728"/>
          </a:xfrm>
          <a:prstGeom prst="line">
            <a:avLst/>
          </a:prstGeom>
          <a:noFill/>
          <a:ln w="19050">
            <a:solidFill>
              <a:srgbClr val="0B2E2C"/>
            </a:solidFill>
            <a:prstDash val="solid"/>
          </a:ln>
        </p:spPr>
        <p:txBody>
          <a:bodyPr/>
          <a:lstStyle/>
          <a:p>
            <a:endParaRPr lang="es-PE"/>
          </a:p>
        </p:txBody>
      </p:sp>
      <p:sp>
        <p:nvSpPr>
          <p:cNvPr id="166" name="Shape 163"/>
          <p:cNvSpPr/>
          <p:nvPr/>
        </p:nvSpPr>
        <p:spPr>
          <a:xfrm>
            <a:off x="6131662" y="4831872"/>
            <a:ext cx="1071143" cy="14829"/>
          </a:xfrm>
          <a:prstGeom prst="line">
            <a:avLst/>
          </a:prstGeom>
          <a:noFill/>
          <a:ln w="19050">
            <a:solidFill>
              <a:srgbClr val="E67E22"/>
            </a:solidFill>
            <a:prstDash val="dash"/>
          </a:ln>
        </p:spPr>
        <p:txBody>
          <a:bodyPr/>
          <a:lstStyle/>
          <a:p>
            <a:endParaRPr lang="es-PE"/>
          </a:p>
        </p:txBody>
      </p:sp>
      <p:sp>
        <p:nvSpPr>
          <p:cNvPr id="167" name="Shape 164"/>
          <p:cNvSpPr/>
          <p:nvPr/>
        </p:nvSpPr>
        <p:spPr>
          <a:xfrm>
            <a:off x="7202805" y="4846701"/>
            <a:ext cx="1071143" cy="22243"/>
          </a:xfrm>
          <a:prstGeom prst="line">
            <a:avLst/>
          </a:prstGeom>
          <a:noFill/>
          <a:ln w="19050">
            <a:solidFill>
              <a:srgbClr val="E67E22"/>
            </a:solidFill>
            <a:prstDash val="dash"/>
          </a:ln>
        </p:spPr>
        <p:txBody>
          <a:bodyPr/>
          <a:lstStyle/>
          <a:p>
            <a:endParaRPr lang="es-PE"/>
          </a:p>
        </p:txBody>
      </p:sp>
      <p:sp>
        <p:nvSpPr>
          <p:cNvPr id="168" name="Shape 165"/>
          <p:cNvSpPr/>
          <p:nvPr/>
        </p:nvSpPr>
        <p:spPr>
          <a:xfrm>
            <a:off x="8273948" y="4868944"/>
            <a:ext cx="1071143" cy="7414"/>
          </a:xfrm>
          <a:prstGeom prst="line">
            <a:avLst/>
          </a:prstGeom>
          <a:noFill/>
          <a:ln w="19050">
            <a:solidFill>
              <a:srgbClr val="E67E22"/>
            </a:solidFill>
            <a:prstDash val="dash"/>
          </a:ln>
        </p:spPr>
        <p:txBody>
          <a:bodyPr/>
          <a:lstStyle/>
          <a:p>
            <a:endParaRPr lang="es-PE"/>
          </a:p>
        </p:txBody>
      </p:sp>
      <p:sp>
        <p:nvSpPr>
          <p:cNvPr id="169" name="Shape 166"/>
          <p:cNvSpPr/>
          <p:nvPr/>
        </p:nvSpPr>
        <p:spPr>
          <a:xfrm flipV="1">
            <a:off x="9345092" y="4817044"/>
            <a:ext cx="1071143" cy="59314"/>
          </a:xfrm>
          <a:prstGeom prst="line">
            <a:avLst/>
          </a:prstGeom>
          <a:noFill/>
          <a:ln w="19050">
            <a:solidFill>
              <a:srgbClr val="E67E22"/>
            </a:solidFill>
            <a:prstDash val="dash"/>
          </a:ln>
        </p:spPr>
        <p:txBody>
          <a:bodyPr/>
          <a:lstStyle/>
          <a:p>
            <a:endParaRPr lang="es-PE"/>
          </a:p>
        </p:txBody>
      </p:sp>
      <p:sp>
        <p:nvSpPr>
          <p:cNvPr id="170" name="Text 167"/>
          <p:cNvSpPr txBox="1"/>
          <p:nvPr/>
        </p:nvSpPr>
        <p:spPr>
          <a:xfrm>
            <a:off x="5811622" y="433413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21,3</a:t>
            </a:r>
            <a:endParaRPr lang="en-US" sz="700"/>
          </a:p>
        </p:txBody>
      </p:sp>
      <p:sp>
        <p:nvSpPr>
          <p:cNvPr id="171" name="Text 168"/>
          <p:cNvSpPr txBox="1"/>
          <p:nvPr/>
        </p:nvSpPr>
        <p:spPr>
          <a:xfrm>
            <a:off x="10096195" y="4371205"/>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20,8</a:t>
            </a:r>
            <a:endParaRPr lang="en-US" sz="700"/>
          </a:p>
        </p:txBody>
      </p:sp>
      <p:sp>
        <p:nvSpPr>
          <p:cNvPr id="172" name="Text 169"/>
          <p:cNvSpPr txBox="1"/>
          <p:nvPr/>
        </p:nvSpPr>
        <p:spPr>
          <a:xfrm>
            <a:off x="5811622" y="488673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17,3</a:t>
            </a:r>
            <a:endParaRPr lang="en-US" sz="700"/>
          </a:p>
        </p:txBody>
      </p:sp>
      <p:sp>
        <p:nvSpPr>
          <p:cNvPr id="173" name="Text 170"/>
          <p:cNvSpPr txBox="1"/>
          <p:nvPr/>
        </p:nvSpPr>
        <p:spPr>
          <a:xfrm>
            <a:off x="10096195" y="487190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17,5</a:t>
            </a:r>
            <a:endParaRPr lang="en-US" sz="700"/>
          </a:p>
        </p:txBody>
      </p:sp>
      <p:sp>
        <p:nvSpPr>
          <p:cNvPr id="174" name="Text 171"/>
          <p:cNvSpPr txBox="1"/>
          <p:nvPr/>
        </p:nvSpPr>
        <p:spPr>
          <a:xfrm>
            <a:off x="5765902"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75" name="Shape 172"/>
          <p:cNvSpPr/>
          <p:nvPr/>
        </p:nvSpPr>
        <p:spPr>
          <a:xfrm>
            <a:off x="6195670" y="5354585"/>
            <a:ext cx="728899" cy="287263"/>
          </a:xfrm>
          <a:prstGeom prst="rect">
            <a:avLst/>
          </a:prstGeom>
          <a:solidFill>
            <a:srgbClr val="13807B"/>
          </a:solidFill>
          <a:ln/>
        </p:spPr>
        <p:txBody>
          <a:bodyPr/>
          <a:lstStyle/>
          <a:p>
            <a:endParaRPr lang="es-PE"/>
          </a:p>
        </p:txBody>
      </p:sp>
      <p:sp>
        <p:nvSpPr>
          <p:cNvPr id="176" name="Text 173"/>
          <p:cNvSpPr txBox="1"/>
          <p:nvPr/>
        </p:nvSpPr>
        <p:spPr>
          <a:xfrm>
            <a:off x="6058510" y="517170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83%</a:t>
            </a:r>
            <a:endParaRPr lang="en-US" sz="750"/>
          </a:p>
        </p:txBody>
      </p:sp>
      <p:sp>
        <p:nvSpPr>
          <p:cNvPr id="177" name="Text 174"/>
          <p:cNvSpPr txBox="1"/>
          <p:nvPr/>
        </p:nvSpPr>
        <p:spPr>
          <a:xfrm>
            <a:off x="6012790"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78" name="Shape 175"/>
          <p:cNvSpPr/>
          <p:nvPr/>
        </p:nvSpPr>
        <p:spPr>
          <a:xfrm>
            <a:off x="7052584" y="5375351"/>
            <a:ext cx="728899" cy="266497"/>
          </a:xfrm>
          <a:prstGeom prst="rect">
            <a:avLst/>
          </a:prstGeom>
          <a:solidFill>
            <a:srgbClr val="13807B"/>
          </a:solidFill>
          <a:ln/>
        </p:spPr>
        <p:txBody>
          <a:bodyPr/>
          <a:lstStyle/>
          <a:p>
            <a:endParaRPr lang="es-PE"/>
          </a:p>
        </p:txBody>
      </p:sp>
      <p:sp>
        <p:nvSpPr>
          <p:cNvPr id="179" name="Text 176"/>
          <p:cNvSpPr txBox="1"/>
          <p:nvPr/>
        </p:nvSpPr>
        <p:spPr>
          <a:xfrm>
            <a:off x="6915424" y="519247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77%</a:t>
            </a:r>
            <a:endParaRPr lang="en-US" sz="750"/>
          </a:p>
        </p:txBody>
      </p:sp>
      <p:sp>
        <p:nvSpPr>
          <p:cNvPr id="180" name="Text 177"/>
          <p:cNvSpPr txBox="1"/>
          <p:nvPr/>
        </p:nvSpPr>
        <p:spPr>
          <a:xfrm>
            <a:off x="686970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81" name="Shape 178"/>
          <p:cNvSpPr/>
          <p:nvPr/>
        </p:nvSpPr>
        <p:spPr>
          <a:xfrm>
            <a:off x="7909499" y="5389195"/>
            <a:ext cx="728899" cy="252653"/>
          </a:xfrm>
          <a:prstGeom prst="rect">
            <a:avLst/>
          </a:prstGeom>
          <a:solidFill>
            <a:srgbClr val="13807B"/>
          </a:solidFill>
          <a:ln/>
        </p:spPr>
        <p:txBody>
          <a:bodyPr/>
          <a:lstStyle/>
          <a:p>
            <a:endParaRPr lang="es-PE"/>
          </a:p>
        </p:txBody>
      </p:sp>
      <p:sp>
        <p:nvSpPr>
          <p:cNvPr id="182" name="Text 179"/>
          <p:cNvSpPr txBox="1"/>
          <p:nvPr/>
        </p:nvSpPr>
        <p:spPr>
          <a:xfrm>
            <a:off x="7772339" y="520631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73%</a:t>
            </a:r>
            <a:endParaRPr lang="en-US" sz="750"/>
          </a:p>
        </p:txBody>
      </p:sp>
      <p:sp>
        <p:nvSpPr>
          <p:cNvPr id="183" name="Text 180"/>
          <p:cNvSpPr txBox="1"/>
          <p:nvPr/>
        </p:nvSpPr>
        <p:spPr>
          <a:xfrm>
            <a:off x="772661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84" name="Shape 181"/>
          <p:cNvSpPr/>
          <p:nvPr/>
        </p:nvSpPr>
        <p:spPr>
          <a:xfrm>
            <a:off x="8766414" y="5375351"/>
            <a:ext cx="728899" cy="266497"/>
          </a:xfrm>
          <a:prstGeom prst="rect">
            <a:avLst/>
          </a:prstGeom>
          <a:solidFill>
            <a:srgbClr val="13807B"/>
          </a:solidFill>
          <a:ln/>
        </p:spPr>
        <p:txBody>
          <a:bodyPr/>
          <a:lstStyle/>
          <a:p>
            <a:endParaRPr lang="es-PE"/>
          </a:p>
        </p:txBody>
      </p:sp>
      <p:sp>
        <p:nvSpPr>
          <p:cNvPr id="185" name="Text 182"/>
          <p:cNvSpPr txBox="1"/>
          <p:nvPr/>
        </p:nvSpPr>
        <p:spPr>
          <a:xfrm>
            <a:off x="8629254" y="519247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77%</a:t>
            </a:r>
            <a:endParaRPr lang="en-US" sz="750"/>
          </a:p>
        </p:txBody>
      </p:sp>
      <p:sp>
        <p:nvSpPr>
          <p:cNvPr id="186" name="Text 183"/>
          <p:cNvSpPr txBox="1"/>
          <p:nvPr/>
        </p:nvSpPr>
        <p:spPr>
          <a:xfrm>
            <a:off x="858353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87" name="Shape 184"/>
          <p:cNvSpPr/>
          <p:nvPr/>
        </p:nvSpPr>
        <p:spPr>
          <a:xfrm>
            <a:off x="9623328" y="5434188"/>
            <a:ext cx="728899" cy="207660"/>
          </a:xfrm>
          <a:prstGeom prst="rect">
            <a:avLst/>
          </a:prstGeom>
          <a:solidFill>
            <a:srgbClr val="13807B"/>
          </a:solidFill>
          <a:ln/>
        </p:spPr>
        <p:txBody>
          <a:bodyPr/>
          <a:lstStyle/>
          <a:p>
            <a:endParaRPr lang="es-PE"/>
          </a:p>
        </p:txBody>
      </p:sp>
      <p:sp>
        <p:nvSpPr>
          <p:cNvPr id="188" name="Text 185"/>
          <p:cNvSpPr txBox="1"/>
          <p:nvPr/>
        </p:nvSpPr>
        <p:spPr>
          <a:xfrm>
            <a:off x="9486168" y="525130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60%</a:t>
            </a:r>
            <a:endParaRPr lang="en-US" sz="750"/>
          </a:p>
        </p:txBody>
      </p:sp>
      <p:sp>
        <p:nvSpPr>
          <p:cNvPr id="189" name="Text 186"/>
          <p:cNvSpPr txBox="1"/>
          <p:nvPr/>
        </p:nvSpPr>
        <p:spPr>
          <a:xfrm>
            <a:off x="944044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90" name="Shape 187"/>
          <p:cNvSpPr/>
          <p:nvPr/>
        </p:nvSpPr>
        <p:spPr>
          <a:xfrm>
            <a:off x="6095086" y="5641848"/>
            <a:ext cx="4357726" cy="0"/>
          </a:xfrm>
          <a:prstGeom prst="line">
            <a:avLst/>
          </a:prstGeom>
          <a:noFill/>
          <a:ln w="9525">
            <a:solidFill>
              <a:srgbClr val="D5DFDE"/>
            </a:solidFill>
            <a:prstDash val="solid"/>
          </a:ln>
        </p:spPr>
        <p:txBody>
          <a:bodyPr/>
          <a:lstStyle/>
          <a:p>
            <a:endParaRPr lang="es-PE"/>
          </a:p>
        </p:txBody>
      </p:sp>
      <p:sp>
        <p:nvSpPr>
          <p:cNvPr id="191" name="Shape 188"/>
          <p:cNvSpPr/>
          <p:nvPr/>
        </p:nvSpPr>
        <p:spPr>
          <a:xfrm>
            <a:off x="10763707" y="3835908"/>
            <a:ext cx="4833214" cy="329184"/>
          </a:xfrm>
          <a:prstGeom prst="rect">
            <a:avLst/>
          </a:prstGeom>
          <a:solidFill>
            <a:srgbClr val="13807B"/>
          </a:solidFill>
          <a:ln/>
        </p:spPr>
        <p:txBody>
          <a:bodyPr/>
          <a:lstStyle/>
          <a:p>
            <a:endParaRPr lang="es-PE"/>
          </a:p>
        </p:txBody>
      </p:sp>
      <p:sp>
        <p:nvSpPr>
          <p:cNvPr id="192" name="Text 189"/>
          <p:cNvSpPr txBox="1"/>
          <p:nvPr/>
        </p:nvSpPr>
        <p:spPr>
          <a:xfrm>
            <a:off x="10873435" y="3835908"/>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Cliente por Reactivar</a:t>
            </a:r>
            <a:endParaRPr lang="en-US" sz="1100"/>
          </a:p>
        </p:txBody>
      </p:sp>
      <p:sp>
        <p:nvSpPr>
          <p:cNvPr id="193" name="Shape 190"/>
          <p:cNvSpPr/>
          <p:nvPr/>
        </p:nvSpPr>
        <p:spPr>
          <a:xfrm>
            <a:off x="12889014" y="3881628"/>
            <a:ext cx="1401632" cy="237744"/>
          </a:xfrm>
          <a:prstGeom prst="roundRect">
            <a:avLst>
              <a:gd name="adj" fmla="val 23077"/>
            </a:avLst>
          </a:prstGeom>
          <a:solidFill>
            <a:srgbClr val="0B2E2C"/>
          </a:solidFill>
          <a:ln/>
        </p:spPr>
        <p:txBody>
          <a:bodyPr/>
          <a:lstStyle/>
          <a:p>
            <a:endParaRPr lang="es-PE"/>
          </a:p>
        </p:txBody>
      </p:sp>
      <p:sp>
        <p:nvSpPr>
          <p:cNvPr id="194" name="Text 191"/>
          <p:cNvSpPr txBox="1"/>
          <p:nvPr/>
        </p:nvSpPr>
        <p:spPr>
          <a:xfrm>
            <a:off x="12889014" y="3881628"/>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3,8 pp</a:t>
            </a:r>
            <a:endParaRPr lang="en-US" sz="750"/>
          </a:p>
        </p:txBody>
      </p:sp>
      <p:sp>
        <p:nvSpPr>
          <p:cNvPr id="195" name="Shape 192"/>
          <p:cNvSpPr/>
          <p:nvPr/>
        </p:nvSpPr>
        <p:spPr>
          <a:xfrm>
            <a:off x="14363798" y="3881628"/>
            <a:ext cx="1159971" cy="237744"/>
          </a:xfrm>
          <a:prstGeom prst="roundRect">
            <a:avLst>
              <a:gd name="adj" fmla="val 23077"/>
            </a:avLst>
          </a:prstGeom>
          <a:solidFill>
            <a:srgbClr val="FFFFFF"/>
          </a:solidFill>
          <a:ln/>
        </p:spPr>
        <p:txBody>
          <a:bodyPr/>
          <a:lstStyle/>
          <a:p>
            <a:endParaRPr lang="es-PE"/>
          </a:p>
        </p:txBody>
      </p:sp>
      <p:sp>
        <p:nvSpPr>
          <p:cNvPr id="196" name="Text 193"/>
          <p:cNvSpPr txBox="1"/>
          <p:nvPr/>
        </p:nvSpPr>
        <p:spPr>
          <a:xfrm>
            <a:off x="14363798" y="3881628"/>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-10 pp</a:t>
            </a:r>
            <a:endParaRPr lang="en-US" sz="750"/>
          </a:p>
        </p:txBody>
      </p:sp>
      <p:sp>
        <p:nvSpPr>
          <p:cNvPr id="197" name="Shape 194"/>
          <p:cNvSpPr/>
          <p:nvPr/>
        </p:nvSpPr>
        <p:spPr>
          <a:xfrm>
            <a:off x="10763707" y="4165092"/>
            <a:ext cx="4833214" cy="1915668"/>
          </a:xfrm>
          <a:prstGeom prst="rect">
            <a:avLst/>
          </a:prstGeom>
          <a:solidFill>
            <a:srgbClr val="FFFFFF"/>
          </a:solidFill>
          <a:ln w="9525">
            <a:solidFill>
              <a:srgbClr val="D5DFDE"/>
            </a:solidFill>
            <a:prstDash val="solid"/>
          </a:ln>
        </p:spPr>
        <p:txBody>
          <a:bodyPr/>
          <a:lstStyle/>
          <a:p>
            <a:endParaRPr lang="es-PE"/>
          </a:p>
        </p:txBody>
      </p:sp>
      <p:sp>
        <p:nvSpPr>
          <p:cNvPr id="198" name="Text 195"/>
          <p:cNvSpPr txBox="1"/>
          <p:nvPr/>
        </p:nvSpPr>
        <p:spPr>
          <a:xfrm>
            <a:off x="10818571" y="4293108"/>
            <a:ext cx="365760" cy="673456"/>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99" name="Shape 196"/>
          <p:cNvSpPr/>
          <p:nvPr/>
        </p:nvSpPr>
        <p:spPr>
          <a:xfrm flipV="1">
            <a:off x="11184331" y="4543847"/>
            <a:ext cx="1071143" cy="75399"/>
          </a:xfrm>
          <a:prstGeom prst="line">
            <a:avLst/>
          </a:prstGeom>
          <a:noFill/>
          <a:ln w="19050">
            <a:solidFill>
              <a:srgbClr val="0B2E2C"/>
            </a:solidFill>
            <a:prstDash val="solid"/>
          </a:ln>
        </p:spPr>
        <p:txBody>
          <a:bodyPr/>
          <a:lstStyle/>
          <a:p>
            <a:endParaRPr lang="es-PE"/>
          </a:p>
        </p:txBody>
      </p:sp>
      <p:sp>
        <p:nvSpPr>
          <p:cNvPr id="200" name="Shape 197"/>
          <p:cNvSpPr/>
          <p:nvPr/>
        </p:nvSpPr>
        <p:spPr>
          <a:xfrm flipV="1">
            <a:off x="12255475" y="4536307"/>
            <a:ext cx="1071143" cy="7540"/>
          </a:xfrm>
          <a:prstGeom prst="line">
            <a:avLst/>
          </a:prstGeom>
          <a:noFill/>
          <a:ln w="19050">
            <a:solidFill>
              <a:srgbClr val="0B2E2C"/>
            </a:solidFill>
            <a:prstDash val="solid"/>
          </a:ln>
        </p:spPr>
        <p:txBody>
          <a:bodyPr/>
          <a:lstStyle/>
          <a:p>
            <a:endParaRPr lang="es-PE"/>
          </a:p>
        </p:txBody>
      </p:sp>
      <p:sp>
        <p:nvSpPr>
          <p:cNvPr id="201" name="Shape 198"/>
          <p:cNvSpPr/>
          <p:nvPr/>
        </p:nvSpPr>
        <p:spPr>
          <a:xfrm>
            <a:off x="13326618" y="4536307"/>
            <a:ext cx="1071143" cy="0"/>
          </a:xfrm>
          <a:prstGeom prst="line">
            <a:avLst/>
          </a:prstGeom>
          <a:noFill/>
          <a:ln w="19050">
            <a:solidFill>
              <a:srgbClr val="0B2E2C"/>
            </a:solidFill>
            <a:prstDash val="solid"/>
          </a:ln>
        </p:spPr>
        <p:txBody>
          <a:bodyPr/>
          <a:lstStyle/>
          <a:p>
            <a:endParaRPr lang="es-PE"/>
          </a:p>
        </p:txBody>
      </p:sp>
      <p:sp>
        <p:nvSpPr>
          <p:cNvPr id="202" name="Shape 199"/>
          <p:cNvSpPr/>
          <p:nvPr/>
        </p:nvSpPr>
        <p:spPr>
          <a:xfrm>
            <a:off x="14397761" y="4536307"/>
            <a:ext cx="1071143" cy="15080"/>
          </a:xfrm>
          <a:prstGeom prst="line">
            <a:avLst/>
          </a:prstGeom>
          <a:noFill/>
          <a:ln w="19050">
            <a:solidFill>
              <a:srgbClr val="0B2E2C"/>
            </a:solidFill>
            <a:prstDash val="solid"/>
          </a:ln>
        </p:spPr>
        <p:txBody>
          <a:bodyPr/>
          <a:lstStyle/>
          <a:p>
            <a:endParaRPr lang="es-PE"/>
          </a:p>
        </p:txBody>
      </p:sp>
      <p:sp>
        <p:nvSpPr>
          <p:cNvPr id="203" name="Shape 200"/>
          <p:cNvSpPr/>
          <p:nvPr/>
        </p:nvSpPr>
        <p:spPr>
          <a:xfrm flipV="1">
            <a:off x="11184331" y="4815285"/>
            <a:ext cx="1071143" cy="37700"/>
          </a:xfrm>
          <a:prstGeom prst="line">
            <a:avLst/>
          </a:prstGeom>
          <a:noFill/>
          <a:ln w="19050">
            <a:solidFill>
              <a:srgbClr val="E67E22"/>
            </a:solidFill>
            <a:prstDash val="dash"/>
          </a:ln>
        </p:spPr>
        <p:txBody>
          <a:bodyPr/>
          <a:lstStyle/>
          <a:p>
            <a:endParaRPr lang="es-PE"/>
          </a:p>
        </p:txBody>
      </p:sp>
      <p:sp>
        <p:nvSpPr>
          <p:cNvPr id="204" name="Shape 201"/>
          <p:cNvSpPr/>
          <p:nvPr/>
        </p:nvSpPr>
        <p:spPr>
          <a:xfrm>
            <a:off x="12255475" y="4815285"/>
            <a:ext cx="1071143" cy="60319"/>
          </a:xfrm>
          <a:prstGeom prst="line">
            <a:avLst/>
          </a:prstGeom>
          <a:noFill/>
          <a:ln w="19050">
            <a:solidFill>
              <a:srgbClr val="E67E22"/>
            </a:solidFill>
            <a:prstDash val="dash"/>
          </a:ln>
        </p:spPr>
        <p:txBody>
          <a:bodyPr/>
          <a:lstStyle/>
          <a:p>
            <a:endParaRPr lang="es-PE"/>
          </a:p>
        </p:txBody>
      </p:sp>
      <p:sp>
        <p:nvSpPr>
          <p:cNvPr id="205" name="Shape 202"/>
          <p:cNvSpPr/>
          <p:nvPr/>
        </p:nvSpPr>
        <p:spPr>
          <a:xfrm flipV="1">
            <a:off x="13326618" y="4860524"/>
            <a:ext cx="1071143" cy="15080"/>
          </a:xfrm>
          <a:prstGeom prst="line">
            <a:avLst/>
          </a:prstGeom>
          <a:noFill/>
          <a:ln w="19050">
            <a:solidFill>
              <a:srgbClr val="E67E22"/>
            </a:solidFill>
            <a:prstDash val="dash"/>
          </a:ln>
        </p:spPr>
        <p:txBody>
          <a:bodyPr/>
          <a:lstStyle/>
          <a:p>
            <a:endParaRPr lang="es-PE"/>
          </a:p>
        </p:txBody>
      </p:sp>
      <p:sp>
        <p:nvSpPr>
          <p:cNvPr id="206" name="Shape 203"/>
          <p:cNvSpPr/>
          <p:nvPr/>
        </p:nvSpPr>
        <p:spPr>
          <a:xfrm flipV="1">
            <a:off x="14397761" y="4822825"/>
            <a:ext cx="1071143" cy="37700"/>
          </a:xfrm>
          <a:prstGeom prst="line">
            <a:avLst/>
          </a:prstGeom>
          <a:noFill/>
          <a:ln w="19050">
            <a:solidFill>
              <a:srgbClr val="E67E22"/>
            </a:solidFill>
            <a:prstDash val="dash"/>
          </a:ln>
        </p:spPr>
        <p:txBody>
          <a:bodyPr/>
          <a:lstStyle/>
          <a:p>
            <a:endParaRPr lang="es-PE"/>
          </a:p>
        </p:txBody>
      </p:sp>
      <p:sp>
        <p:nvSpPr>
          <p:cNvPr id="207" name="Text 204"/>
          <p:cNvSpPr txBox="1"/>
          <p:nvPr/>
        </p:nvSpPr>
        <p:spPr>
          <a:xfrm>
            <a:off x="10864291" y="441807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21,9</a:t>
            </a:r>
            <a:endParaRPr lang="en-US" sz="700"/>
          </a:p>
        </p:txBody>
      </p:sp>
      <p:sp>
        <p:nvSpPr>
          <p:cNvPr id="208" name="Text 205"/>
          <p:cNvSpPr txBox="1"/>
          <p:nvPr/>
        </p:nvSpPr>
        <p:spPr>
          <a:xfrm>
            <a:off x="15148865" y="43502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22,8</a:t>
            </a:r>
            <a:endParaRPr lang="en-US" sz="700"/>
          </a:p>
        </p:txBody>
      </p:sp>
      <p:sp>
        <p:nvSpPr>
          <p:cNvPr id="209" name="Text 206"/>
          <p:cNvSpPr txBox="1"/>
          <p:nvPr/>
        </p:nvSpPr>
        <p:spPr>
          <a:xfrm>
            <a:off x="10864291" y="4907848"/>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18,8</a:t>
            </a:r>
            <a:endParaRPr lang="en-US" sz="700"/>
          </a:p>
        </p:txBody>
      </p:sp>
      <p:sp>
        <p:nvSpPr>
          <p:cNvPr id="210" name="Text 207"/>
          <p:cNvSpPr txBox="1"/>
          <p:nvPr/>
        </p:nvSpPr>
        <p:spPr>
          <a:xfrm>
            <a:off x="15148865" y="4877689"/>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19,2</a:t>
            </a:r>
            <a:endParaRPr lang="en-US" sz="700"/>
          </a:p>
        </p:txBody>
      </p:sp>
      <p:sp>
        <p:nvSpPr>
          <p:cNvPr id="211" name="Text 208"/>
          <p:cNvSpPr txBox="1"/>
          <p:nvPr/>
        </p:nvSpPr>
        <p:spPr>
          <a:xfrm>
            <a:off x="10818571" y="5112868"/>
            <a:ext cx="365760" cy="711860"/>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12" name="Shape 209"/>
          <p:cNvSpPr/>
          <p:nvPr/>
        </p:nvSpPr>
        <p:spPr>
          <a:xfrm>
            <a:off x="11248339" y="5333819"/>
            <a:ext cx="728899" cy="308029"/>
          </a:xfrm>
          <a:prstGeom prst="rect">
            <a:avLst/>
          </a:prstGeom>
          <a:solidFill>
            <a:srgbClr val="13807B"/>
          </a:solidFill>
          <a:ln/>
        </p:spPr>
        <p:txBody>
          <a:bodyPr/>
          <a:lstStyle/>
          <a:p>
            <a:endParaRPr lang="es-PE"/>
          </a:p>
        </p:txBody>
      </p:sp>
      <p:sp>
        <p:nvSpPr>
          <p:cNvPr id="213" name="Text 210"/>
          <p:cNvSpPr txBox="1"/>
          <p:nvPr/>
        </p:nvSpPr>
        <p:spPr>
          <a:xfrm>
            <a:off x="11111179" y="515093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214" name="Text 211"/>
          <p:cNvSpPr txBox="1"/>
          <p:nvPr/>
        </p:nvSpPr>
        <p:spPr>
          <a:xfrm>
            <a:off x="1106545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215" name="Shape 212"/>
          <p:cNvSpPr/>
          <p:nvPr/>
        </p:nvSpPr>
        <p:spPr>
          <a:xfrm>
            <a:off x="12105254" y="5316514"/>
            <a:ext cx="728899" cy="325334"/>
          </a:xfrm>
          <a:prstGeom prst="rect">
            <a:avLst/>
          </a:prstGeom>
          <a:solidFill>
            <a:srgbClr val="13807B"/>
          </a:solidFill>
          <a:ln/>
        </p:spPr>
        <p:txBody>
          <a:bodyPr/>
          <a:lstStyle/>
          <a:p>
            <a:endParaRPr lang="es-PE"/>
          </a:p>
        </p:txBody>
      </p:sp>
      <p:sp>
        <p:nvSpPr>
          <p:cNvPr id="216" name="Text 213"/>
          <p:cNvSpPr txBox="1"/>
          <p:nvPr/>
        </p:nvSpPr>
        <p:spPr>
          <a:xfrm>
            <a:off x="11968094" y="513363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94%</a:t>
            </a:r>
            <a:endParaRPr lang="en-US" sz="750"/>
          </a:p>
        </p:txBody>
      </p:sp>
      <p:sp>
        <p:nvSpPr>
          <p:cNvPr id="217" name="Text 214"/>
          <p:cNvSpPr txBox="1"/>
          <p:nvPr/>
        </p:nvSpPr>
        <p:spPr>
          <a:xfrm>
            <a:off x="11922374"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218" name="Shape 215"/>
          <p:cNvSpPr/>
          <p:nvPr/>
        </p:nvSpPr>
        <p:spPr>
          <a:xfrm>
            <a:off x="12962169" y="5358046"/>
            <a:ext cx="728899" cy="283802"/>
          </a:xfrm>
          <a:prstGeom prst="rect">
            <a:avLst/>
          </a:prstGeom>
          <a:solidFill>
            <a:srgbClr val="13807B"/>
          </a:solidFill>
          <a:ln/>
        </p:spPr>
        <p:txBody>
          <a:bodyPr/>
          <a:lstStyle/>
          <a:p>
            <a:endParaRPr lang="es-PE"/>
          </a:p>
        </p:txBody>
      </p:sp>
      <p:sp>
        <p:nvSpPr>
          <p:cNvPr id="219" name="Text 216"/>
          <p:cNvSpPr txBox="1"/>
          <p:nvPr/>
        </p:nvSpPr>
        <p:spPr>
          <a:xfrm>
            <a:off x="12825009" y="5175166"/>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82%</a:t>
            </a:r>
            <a:endParaRPr lang="en-US" sz="750"/>
          </a:p>
        </p:txBody>
      </p:sp>
      <p:sp>
        <p:nvSpPr>
          <p:cNvPr id="220" name="Text 217"/>
          <p:cNvSpPr txBox="1"/>
          <p:nvPr/>
        </p:nvSpPr>
        <p:spPr>
          <a:xfrm>
            <a:off x="12779289"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221" name="Shape 218"/>
          <p:cNvSpPr/>
          <p:nvPr/>
        </p:nvSpPr>
        <p:spPr>
          <a:xfrm>
            <a:off x="13819083" y="5354585"/>
            <a:ext cx="728899" cy="287263"/>
          </a:xfrm>
          <a:prstGeom prst="rect">
            <a:avLst/>
          </a:prstGeom>
          <a:solidFill>
            <a:srgbClr val="13807B"/>
          </a:solidFill>
          <a:ln/>
        </p:spPr>
        <p:txBody>
          <a:bodyPr/>
          <a:lstStyle/>
          <a:p>
            <a:endParaRPr lang="es-PE"/>
          </a:p>
        </p:txBody>
      </p:sp>
      <p:sp>
        <p:nvSpPr>
          <p:cNvPr id="222" name="Text 219"/>
          <p:cNvSpPr txBox="1"/>
          <p:nvPr/>
        </p:nvSpPr>
        <p:spPr>
          <a:xfrm>
            <a:off x="13681923" y="517170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83%</a:t>
            </a:r>
            <a:endParaRPr lang="en-US" sz="750"/>
          </a:p>
        </p:txBody>
      </p:sp>
      <p:sp>
        <p:nvSpPr>
          <p:cNvPr id="223" name="Text 220"/>
          <p:cNvSpPr txBox="1"/>
          <p:nvPr/>
        </p:nvSpPr>
        <p:spPr>
          <a:xfrm>
            <a:off x="13636203"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224" name="Shape 221"/>
          <p:cNvSpPr/>
          <p:nvPr/>
        </p:nvSpPr>
        <p:spPr>
          <a:xfrm>
            <a:off x="14675998" y="5368429"/>
            <a:ext cx="728899" cy="273419"/>
          </a:xfrm>
          <a:prstGeom prst="rect">
            <a:avLst/>
          </a:prstGeom>
          <a:solidFill>
            <a:srgbClr val="13807B"/>
          </a:solidFill>
          <a:ln/>
        </p:spPr>
        <p:txBody>
          <a:bodyPr/>
          <a:lstStyle/>
          <a:p>
            <a:endParaRPr lang="es-PE"/>
          </a:p>
        </p:txBody>
      </p:sp>
      <p:sp>
        <p:nvSpPr>
          <p:cNvPr id="225" name="Text 222"/>
          <p:cNvSpPr txBox="1"/>
          <p:nvPr/>
        </p:nvSpPr>
        <p:spPr>
          <a:xfrm>
            <a:off x="14538838" y="5185549"/>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79%</a:t>
            </a:r>
            <a:endParaRPr lang="en-US" sz="750"/>
          </a:p>
        </p:txBody>
      </p:sp>
      <p:sp>
        <p:nvSpPr>
          <p:cNvPr id="226" name="Text 223"/>
          <p:cNvSpPr txBox="1"/>
          <p:nvPr/>
        </p:nvSpPr>
        <p:spPr>
          <a:xfrm>
            <a:off x="14493118" y="567842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227" name="Shape 224"/>
          <p:cNvSpPr/>
          <p:nvPr/>
        </p:nvSpPr>
        <p:spPr>
          <a:xfrm>
            <a:off x="11147755" y="5641848"/>
            <a:ext cx="4357726" cy="0"/>
          </a:xfrm>
          <a:prstGeom prst="line">
            <a:avLst/>
          </a:prstGeom>
          <a:noFill/>
          <a:ln w="9525">
            <a:solidFill>
              <a:srgbClr val="D5DFDE"/>
            </a:solidFill>
            <a:prstDash val="solid"/>
          </a:ln>
        </p:spPr>
        <p:txBody>
          <a:bodyPr/>
          <a:lstStyle/>
          <a:p>
            <a:endParaRPr lang="es-PE"/>
          </a:p>
        </p:txBody>
      </p:sp>
      <p:sp>
        <p:nvSpPr>
          <p:cNvPr id="228" name="Shape 225"/>
          <p:cNvSpPr/>
          <p:nvPr/>
        </p:nvSpPr>
        <p:spPr>
          <a:xfrm>
            <a:off x="658368" y="6172200"/>
            <a:ext cx="201168" cy="128016"/>
          </a:xfrm>
          <a:prstGeom prst="rect">
            <a:avLst/>
          </a:prstGeom>
          <a:solidFill>
            <a:srgbClr val="13807B"/>
          </a:solidFill>
          <a:ln/>
        </p:spPr>
        <p:txBody>
          <a:bodyPr/>
          <a:lstStyle/>
          <a:p>
            <a:endParaRPr lang="es-PE"/>
          </a:p>
        </p:txBody>
      </p:sp>
      <p:sp>
        <p:nvSpPr>
          <p:cNvPr id="229" name="Text 226"/>
          <p:cNvSpPr txBox="1"/>
          <p:nvPr/>
        </p:nvSpPr>
        <p:spPr>
          <a:xfrm>
            <a:off x="896112" y="613562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230" name="Shape 227"/>
          <p:cNvSpPr/>
          <p:nvPr/>
        </p:nvSpPr>
        <p:spPr>
          <a:xfrm>
            <a:off x="2788920" y="6236208"/>
            <a:ext cx="320040" cy="0"/>
          </a:xfrm>
          <a:prstGeom prst="line">
            <a:avLst/>
          </a:prstGeom>
          <a:noFill/>
          <a:ln w="22225">
            <a:solidFill>
              <a:srgbClr val="0B2E2C"/>
            </a:solidFill>
            <a:prstDash val="solid"/>
          </a:ln>
        </p:spPr>
        <p:txBody>
          <a:bodyPr/>
          <a:lstStyle/>
          <a:p>
            <a:endParaRPr lang="es-PE"/>
          </a:p>
        </p:txBody>
      </p:sp>
      <p:sp>
        <p:nvSpPr>
          <p:cNvPr id="231" name="Text 228"/>
          <p:cNvSpPr txBox="1"/>
          <p:nvPr/>
        </p:nvSpPr>
        <p:spPr>
          <a:xfrm>
            <a:off x="3154680" y="613562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232" name="Shape 229"/>
          <p:cNvSpPr/>
          <p:nvPr/>
        </p:nvSpPr>
        <p:spPr>
          <a:xfrm>
            <a:off x="4434840" y="6236208"/>
            <a:ext cx="320040" cy="0"/>
          </a:xfrm>
          <a:prstGeom prst="line">
            <a:avLst/>
          </a:prstGeom>
          <a:noFill/>
          <a:ln w="22225">
            <a:solidFill>
              <a:srgbClr val="E67E22"/>
            </a:solidFill>
            <a:prstDash val="dash"/>
          </a:ln>
        </p:spPr>
        <p:txBody>
          <a:bodyPr/>
          <a:lstStyle/>
          <a:p>
            <a:endParaRPr lang="es-PE"/>
          </a:p>
        </p:txBody>
      </p:sp>
      <p:sp>
        <p:nvSpPr>
          <p:cNvPr id="233" name="Text 230"/>
          <p:cNvSpPr txBox="1"/>
          <p:nvPr/>
        </p:nvSpPr>
        <p:spPr>
          <a:xfrm>
            <a:off x="4800600" y="613562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234" name="Text 231"/>
          <p:cNvSpPr txBox="1"/>
          <p:nvPr/>
        </p:nvSpPr>
        <p:spPr>
          <a:xfrm>
            <a:off x="11430000" y="613562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235" name="Shape 232"/>
          <p:cNvSpPr/>
          <p:nvPr/>
        </p:nvSpPr>
        <p:spPr>
          <a:xfrm>
            <a:off x="658368" y="6446520"/>
            <a:ext cx="14938553" cy="2167128"/>
          </a:xfrm>
          <a:prstGeom prst="rect">
            <a:avLst/>
          </a:prstGeom>
          <a:solidFill>
            <a:srgbClr val="F6FBFA"/>
          </a:solidFill>
          <a:ln w="9525">
            <a:solidFill>
              <a:srgbClr val="D5DFDE"/>
            </a:solidFill>
            <a:prstDash val="solid"/>
          </a:ln>
        </p:spPr>
        <p:txBody>
          <a:bodyPr/>
          <a:lstStyle/>
          <a:p>
            <a:endParaRPr lang="es-PE"/>
          </a:p>
        </p:txBody>
      </p:sp>
      <p:sp>
        <p:nvSpPr>
          <p:cNvPr id="236" name="Shape 233"/>
          <p:cNvSpPr/>
          <p:nvPr/>
        </p:nvSpPr>
        <p:spPr>
          <a:xfrm>
            <a:off x="658368" y="6446520"/>
            <a:ext cx="54864" cy="2167128"/>
          </a:xfrm>
          <a:prstGeom prst="rect">
            <a:avLst/>
          </a:prstGeom>
          <a:solidFill>
            <a:srgbClr val="13807B"/>
          </a:solidFill>
          <a:ln/>
        </p:spPr>
        <p:txBody>
          <a:bodyPr/>
          <a:lstStyle/>
          <a:p>
            <a:endParaRPr lang="es-PE"/>
          </a:p>
        </p:txBody>
      </p:sp>
      <p:sp>
        <p:nvSpPr>
          <p:cNvPr id="237" name="Text 234"/>
          <p:cNvSpPr txBox="1"/>
          <p:nvPr/>
        </p:nvSpPr>
        <p:spPr>
          <a:xfrm>
            <a:off x="914400" y="655624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238" name="Text 235"/>
          <p:cNvSpPr txBox="1"/>
          <p:nvPr/>
        </p:nvSpPr>
        <p:spPr>
          <a:xfrm>
            <a:off x="914400"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239" name="Text 236"/>
          <p:cNvSpPr txBox="1"/>
          <p:nvPr/>
        </p:nvSpPr>
        <p:spPr>
          <a:xfrm>
            <a:off x="914400"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En monto la caída es igual o mayor que en unidades para casi todos los clusters: Socio en Crecimiento y Maduro Multibanco caen -24pp, Gran Cuenta por Conquistar -23pp — el desajuste de valor pesa más que el de volumen en estos 3.</a:t>
            </a:r>
            <a:endParaRPr lang="en-US" sz="950"/>
          </a:p>
        </p:txBody>
      </p:sp>
      <p:sp>
        <p:nvSpPr>
          <p:cNvPr id="240" name="Text 237"/>
          <p:cNvSpPr txBox="1"/>
          <p:nvPr/>
        </p:nvSpPr>
        <p:spPr>
          <a:xfrm>
            <a:off x="5900014" y="683056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241" name="Text 238"/>
          <p:cNvSpPr txBox="1"/>
          <p:nvPr/>
        </p:nvSpPr>
        <p:spPr>
          <a:xfrm>
            <a:off x="5900014"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Priorizar Socio en Crecimiento, Maduro Multibanco y Gran Cuenta por Conquistar (-23pp a -24pp) para cualquier revisión de tasa o de línea — son los que más valor de share ceden.</a:t>
            </a:r>
            <a:endParaRPr lang="en-US" sz="950"/>
          </a:p>
        </p:txBody>
      </p:sp>
      <p:sp>
        <p:nvSpPr>
          <p:cNvPr id="242" name="Text 239"/>
          <p:cNvSpPr txBox="1"/>
          <p:nvPr/>
        </p:nvSpPr>
        <p:spPr>
          <a:xfrm>
            <a:off x="10885627" y="683056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243" name="Text 240"/>
          <p:cNvSpPr txBox="1"/>
          <p:nvPr/>
        </p:nvSpPr>
        <p:spPr>
          <a:xfrm>
            <a:off x="10885627" y="7031736"/>
            <a:ext cx="4711294" cy="147218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Cliente por Reactivar (-10pp) y Cuenta Estratégica (-15pp) resisten mejor en monto — no bajar tasa ahí todavía, el impacto esperado es menor.</a:t>
            </a:r>
            <a:endParaRPr lang="en-US" sz="9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SIN DEUDA · UNIDADES (N)</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Los 3 clusters sin deuda sostienen un share casi total — hay espacio para subir tasa en 2 de los 3</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Emprendedor Izipay</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0 pp</a:t>
            </a:r>
            <a:endParaRPr lang="en-US" sz="750"/>
          </a:p>
        </p:txBody>
      </p:sp>
      <p:sp>
        <p:nvSpPr>
          <p:cNvPr id="12" name="Shape 9"/>
          <p:cNvSpPr/>
          <p:nvPr/>
        </p:nvSpPr>
        <p:spPr>
          <a:xfrm>
            <a:off x="65836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flipV="1">
            <a:off x="1078992" y="2159855"/>
            <a:ext cx="1071143" cy="104975"/>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59855"/>
            <a:ext cx="1071143" cy="233278"/>
          </a:xfrm>
          <a:prstGeom prst="line">
            <a:avLst/>
          </a:prstGeom>
          <a:noFill/>
          <a:ln w="19050">
            <a:solidFill>
              <a:srgbClr val="0B2E2C"/>
            </a:solidFill>
            <a:prstDash val="solid"/>
          </a:ln>
        </p:spPr>
        <p:txBody>
          <a:bodyPr/>
          <a:lstStyle/>
          <a:p>
            <a:endParaRPr lang="es-PE"/>
          </a:p>
        </p:txBody>
      </p:sp>
      <p:sp>
        <p:nvSpPr>
          <p:cNvPr id="16" name="Shape 13"/>
          <p:cNvSpPr/>
          <p:nvPr/>
        </p:nvSpPr>
        <p:spPr>
          <a:xfrm>
            <a:off x="3221279" y="2393134"/>
            <a:ext cx="1071143" cy="291598"/>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614748"/>
            <a:ext cx="1071143" cy="69983"/>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358142"/>
            <a:ext cx="1071143" cy="233278"/>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358142"/>
            <a:ext cx="1071143" cy="338254"/>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696395"/>
            <a:ext cx="1071143" cy="303262"/>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918010"/>
            <a:ext cx="1071143" cy="81647"/>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206366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25,7</a:t>
            </a:r>
            <a:endParaRPr lang="en-US" sz="700"/>
          </a:p>
        </p:txBody>
      </p:sp>
      <p:sp>
        <p:nvSpPr>
          <p:cNvPr id="23" name="Text 20"/>
          <p:cNvSpPr txBox="1"/>
          <p:nvPr/>
        </p:nvSpPr>
        <p:spPr>
          <a:xfrm>
            <a:off x="5043526" y="2413580"/>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24" name="Text 21"/>
          <p:cNvSpPr txBox="1"/>
          <p:nvPr/>
        </p:nvSpPr>
        <p:spPr>
          <a:xfrm>
            <a:off x="758952" y="264628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22,9</a:t>
            </a:r>
            <a:endParaRPr lang="en-US" sz="700"/>
          </a:p>
        </p:txBody>
      </p:sp>
      <p:sp>
        <p:nvSpPr>
          <p:cNvPr id="25" name="Text 22"/>
          <p:cNvSpPr txBox="1"/>
          <p:nvPr/>
        </p:nvSpPr>
        <p:spPr>
          <a:xfrm>
            <a:off x="5043526" y="297287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20,1</a:t>
            </a:r>
            <a:endParaRPr lang="en-US" sz="700"/>
          </a:p>
        </p:txBody>
      </p:sp>
      <p:sp>
        <p:nvSpPr>
          <p:cNvPr id="26" name="Text 23"/>
          <p:cNvSpPr txBox="1"/>
          <p:nvPr/>
        </p:nvSpPr>
        <p:spPr>
          <a:xfrm>
            <a:off x="71323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3494005"/>
            <a:ext cx="728899" cy="1599203"/>
          </a:xfrm>
          <a:prstGeom prst="rect">
            <a:avLst/>
          </a:prstGeom>
          <a:solidFill>
            <a:srgbClr val="13807B"/>
          </a:solidFill>
          <a:ln/>
        </p:spPr>
        <p:txBody>
          <a:bodyPr/>
          <a:lstStyle/>
          <a:p>
            <a:endParaRPr lang="es-PE"/>
          </a:p>
        </p:txBody>
      </p:sp>
      <p:sp>
        <p:nvSpPr>
          <p:cNvPr id="28" name="Text 25"/>
          <p:cNvSpPr txBox="1"/>
          <p:nvPr/>
        </p:nvSpPr>
        <p:spPr>
          <a:xfrm>
            <a:off x="1005840" y="331112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97%</a:t>
            </a:r>
            <a:endParaRPr lang="en-US" sz="750"/>
          </a:p>
        </p:txBody>
      </p:sp>
      <p:sp>
        <p:nvSpPr>
          <p:cNvPr id="29" name="Text 26"/>
          <p:cNvSpPr txBox="1"/>
          <p:nvPr/>
        </p:nvSpPr>
        <p:spPr>
          <a:xfrm>
            <a:off x="96012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3461031"/>
            <a:ext cx="728899" cy="1632177"/>
          </a:xfrm>
          <a:prstGeom prst="rect">
            <a:avLst/>
          </a:prstGeom>
          <a:solidFill>
            <a:srgbClr val="13807B"/>
          </a:solidFill>
          <a:ln/>
        </p:spPr>
        <p:txBody>
          <a:bodyPr/>
          <a:lstStyle/>
          <a:p>
            <a:endParaRPr lang="es-PE"/>
          </a:p>
        </p:txBody>
      </p:sp>
      <p:sp>
        <p:nvSpPr>
          <p:cNvPr id="31" name="Text 28"/>
          <p:cNvSpPr txBox="1"/>
          <p:nvPr/>
        </p:nvSpPr>
        <p:spPr>
          <a:xfrm>
            <a:off x="1862755" y="327815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99%</a:t>
            </a:r>
            <a:endParaRPr lang="en-US" sz="750"/>
          </a:p>
        </p:txBody>
      </p:sp>
      <p:sp>
        <p:nvSpPr>
          <p:cNvPr id="32" name="Text 29"/>
          <p:cNvSpPr txBox="1"/>
          <p:nvPr/>
        </p:nvSpPr>
        <p:spPr>
          <a:xfrm>
            <a:off x="1817035"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3444545"/>
            <a:ext cx="728899" cy="1648663"/>
          </a:xfrm>
          <a:prstGeom prst="rect">
            <a:avLst/>
          </a:prstGeom>
          <a:solidFill>
            <a:srgbClr val="13807B"/>
          </a:solidFill>
          <a:ln/>
        </p:spPr>
        <p:txBody>
          <a:bodyPr/>
          <a:lstStyle/>
          <a:p>
            <a:endParaRPr lang="es-PE"/>
          </a:p>
        </p:txBody>
      </p:sp>
      <p:sp>
        <p:nvSpPr>
          <p:cNvPr id="34" name="Text 31"/>
          <p:cNvSpPr txBox="1"/>
          <p:nvPr/>
        </p:nvSpPr>
        <p:spPr>
          <a:xfrm>
            <a:off x="2719669" y="326166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100%</a:t>
            </a:r>
            <a:endParaRPr lang="en-US" sz="750"/>
          </a:p>
        </p:txBody>
      </p:sp>
      <p:sp>
        <p:nvSpPr>
          <p:cNvPr id="35" name="Text 32"/>
          <p:cNvSpPr txBox="1"/>
          <p:nvPr/>
        </p:nvSpPr>
        <p:spPr>
          <a:xfrm>
            <a:off x="267394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3477518"/>
            <a:ext cx="728899" cy="1615690"/>
          </a:xfrm>
          <a:prstGeom prst="rect">
            <a:avLst/>
          </a:prstGeom>
          <a:solidFill>
            <a:srgbClr val="13807B"/>
          </a:solidFill>
          <a:ln/>
        </p:spPr>
        <p:txBody>
          <a:bodyPr/>
          <a:lstStyle/>
          <a:p>
            <a:endParaRPr lang="es-PE"/>
          </a:p>
        </p:txBody>
      </p:sp>
      <p:sp>
        <p:nvSpPr>
          <p:cNvPr id="37" name="Text 34"/>
          <p:cNvSpPr txBox="1"/>
          <p:nvPr/>
        </p:nvSpPr>
        <p:spPr>
          <a:xfrm>
            <a:off x="3576584" y="329463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98%</a:t>
            </a:r>
            <a:endParaRPr lang="en-US" sz="750"/>
          </a:p>
        </p:txBody>
      </p:sp>
      <p:sp>
        <p:nvSpPr>
          <p:cNvPr id="38" name="Text 35"/>
          <p:cNvSpPr txBox="1"/>
          <p:nvPr/>
        </p:nvSpPr>
        <p:spPr>
          <a:xfrm>
            <a:off x="353086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3494005"/>
            <a:ext cx="728899" cy="1599203"/>
          </a:xfrm>
          <a:prstGeom prst="rect">
            <a:avLst/>
          </a:prstGeom>
          <a:solidFill>
            <a:srgbClr val="13807B"/>
          </a:solidFill>
          <a:ln/>
        </p:spPr>
        <p:txBody>
          <a:bodyPr/>
          <a:lstStyle/>
          <a:p>
            <a:endParaRPr lang="es-PE"/>
          </a:p>
        </p:txBody>
      </p:sp>
      <p:sp>
        <p:nvSpPr>
          <p:cNvPr id="40" name="Text 37"/>
          <p:cNvSpPr txBox="1"/>
          <p:nvPr/>
        </p:nvSpPr>
        <p:spPr>
          <a:xfrm>
            <a:off x="4433499" y="331112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97%</a:t>
            </a:r>
            <a:endParaRPr lang="en-US" sz="750"/>
          </a:p>
        </p:txBody>
      </p:sp>
      <p:sp>
        <p:nvSpPr>
          <p:cNvPr id="41" name="Text 38"/>
          <p:cNvSpPr txBox="1"/>
          <p:nvPr/>
        </p:nvSpPr>
        <p:spPr>
          <a:xfrm>
            <a:off x="438777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5093208"/>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Nuevo en Expansión</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3,4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-5 pp</a:t>
            </a:r>
            <a:endParaRPr lang="en-US" sz="750"/>
          </a:p>
        </p:txBody>
      </p:sp>
      <p:sp>
        <p:nvSpPr>
          <p:cNvPr id="49" name="Shape 46"/>
          <p:cNvSpPr/>
          <p:nvPr/>
        </p:nvSpPr>
        <p:spPr>
          <a:xfrm>
            <a:off x="571103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flipV="1">
            <a:off x="6131662" y="2162077"/>
            <a:ext cx="1071143" cy="107475"/>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2077"/>
            <a:ext cx="1071143" cy="298541"/>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460618"/>
            <a:ext cx="1071143" cy="155241"/>
          </a:xfrm>
          <a:prstGeom prst="line">
            <a:avLst/>
          </a:prstGeom>
          <a:noFill/>
          <a:ln w="19050">
            <a:solidFill>
              <a:srgbClr val="0B2E2C"/>
            </a:solidFill>
            <a:prstDash val="solid"/>
          </a:ln>
        </p:spPr>
        <p:txBody>
          <a:bodyPr/>
          <a:lstStyle/>
          <a:p>
            <a:endParaRPr lang="es-PE"/>
          </a:p>
        </p:txBody>
      </p:sp>
      <p:sp>
        <p:nvSpPr>
          <p:cNvPr id="54" name="Shape 51"/>
          <p:cNvSpPr/>
          <p:nvPr/>
        </p:nvSpPr>
        <p:spPr>
          <a:xfrm>
            <a:off x="9345092" y="2615859"/>
            <a:ext cx="1071143" cy="11942"/>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603917"/>
            <a:ext cx="1071143" cy="23883"/>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603917"/>
            <a:ext cx="1071143" cy="370190"/>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974108"/>
            <a:ext cx="1071143" cy="0"/>
          </a:xfrm>
          <a:prstGeom prst="line">
            <a:avLst/>
          </a:prstGeom>
          <a:noFill/>
          <a:ln w="19050">
            <a:solidFill>
              <a:srgbClr val="E67E22"/>
            </a:solidFill>
            <a:prstDash val="dash"/>
          </a:ln>
        </p:spPr>
        <p:txBody>
          <a:bodyPr/>
          <a:lstStyle/>
          <a:p>
            <a:endParaRPr lang="es-PE"/>
          </a:p>
        </p:txBody>
      </p:sp>
      <p:sp>
        <p:nvSpPr>
          <p:cNvPr id="58" name="Shape 55"/>
          <p:cNvSpPr/>
          <p:nvPr/>
        </p:nvSpPr>
        <p:spPr>
          <a:xfrm>
            <a:off x="9345092" y="2974108"/>
            <a:ext cx="1071143" cy="23883"/>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20683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25,6</a:t>
            </a:r>
            <a:endParaRPr lang="en-US" sz="700"/>
          </a:p>
        </p:txBody>
      </p:sp>
      <p:sp>
        <p:nvSpPr>
          <p:cNvPr id="60" name="Text 57"/>
          <p:cNvSpPr txBox="1"/>
          <p:nvPr/>
        </p:nvSpPr>
        <p:spPr>
          <a:xfrm>
            <a:off x="10096195" y="242663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22,6</a:t>
            </a:r>
            <a:endParaRPr lang="en-US" sz="700"/>
          </a:p>
        </p:txBody>
      </p:sp>
      <p:sp>
        <p:nvSpPr>
          <p:cNvPr id="61" name="Text 58"/>
          <p:cNvSpPr txBox="1"/>
          <p:nvPr/>
        </p:nvSpPr>
        <p:spPr>
          <a:xfrm>
            <a:off x="5811622" y="268266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22,6</a:t>
            </a:r>
            <a:endParaRPr lang="en-US" sz="700"/>
          </a:p>
        </p:txBody>
      </p:sp>
      <p:sp>
        <p:nvSpPr>
          <p:cNvPr id="62" name="Text 59"/>
          <p:cNvSpPr txBox="1"/>
          <p:nvPr/>
        </p:nvSpPr>
        <p:spPr>
          <a:xfrm>
            <a:off x="10096195" y="305285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63" name="Text 60"/>
          <p:cNvSpPr txBox="1"/>
          <p:nvPr/>
        </p:nvSpPr>
        <p:spPr>
          <a:xfrm>
            <a:off x="576590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3543465"/>
            <a:ext cx="728899" cy="1549743"/>
          </a:xfrm>
          <a:prstGeom prst="rect">
            <a:avLst/>
          </a:prstGeom>
          <a:solidFill>
            <a:srgbClr val="13807B"/>
          </a:solidFill>
          <a:ln/>
        </p:spPr>
        <p:txBody>
          <a:bodyPr/>
          <a:lstStyle/>
          <a:p>
            <a:endParaRPr lang="es-PE"/>
          </a:p>
        </p:txBody>
      </p:sp>
      <p:sp>
        <p:nvSpPr>
          <p:cNvPr id="65" name="Text 62"/>
          <p:cNvSpPr txBox="1"/>
          <p:nvPr/>
        </p:nvSpPr>
        <p:spPr>
          <a:xfrm>
            <a:off x="6058510" y="336058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94%</a:t>
            </a:r>
            <a:endParaRPr lang="en-US" sz="750"/>
          </a:p>
        </p:txBody>
      </p:sp>
      <p:sp>
        <p:nvSpPr>
          <p:cNvPr id="66" name="Text 63"/>
          <p:cNvSpPr txBox="1"/>
          <p:nvPr/>
        </p:nvSpPr>
        <p:spPr>
          <a:xfrm>
            <a:off x="601279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3856711"/>
            <a:ext cx="728899" cy="1236497"/>
          </a:xfrm>
          <a:prstGeom prst="rect">
            <a:avLst/>
          </a:prstGeom>
          <a:solidFill>
            <a:srgbClr val="13807B"/>
          </a:solidFill>
          <a:ln/>
        </p:spPr>
        <p:txBody>
          <a:bodyPr/>
          <a:lstStyle/>
          <a:p>
            <a:endParaRPr lang="es-PE"/>
          </a:p>
        </p:txBody>
      </p:sp>
      <p:sp>
        <p:nvSpPr>
          <p:cNvPr id="68" name="Text 65"/>
          <p:cNvSpPr txBox="1"/>
          <p:nvPr/>
        </p:nvSpPr>
        <p:spPr>
          <a:xfrm>
            <a:off x="6915424" y="367383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75%</a:t>
            </a:r>
            <a:endParaRPr lang="en-US" sz="750"/>
          </a:p>
        </p:txBody>
      </p:sp>
      <p:sp>
        <p:nvSpPr>
          <p:cNvPr id="69" name="Text 66"/>
          <p:cNvSpPr txBox="1"/>
          <p:nvPr/>
        </p:nvSpPr>
        <p:spPr>
          <a:xfrm>
            <a:off x="686970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3774277"/>
            <a:ext cx="728899" cy="1318931"/>
          </a:xfrm>
          <a:prstGeom prst="rect">
            <a:avLst/>
          </a:prstGeom>
          <a:solidFill>
            <a:srgbClr val="13807B"/>
          </a:solidFill>
          <a:ln/>
        </p:spPr>
        <p:txBody>
          <a:bodyPr/>
          <a:lstStyle/>
          <a:p>
            <a:endParaRPr lang="es-PE"/>
          </a:p>
        </p:txBody>
      </p:sp>
      <p:sp>
        <p:nvSpPr>
          <p:cNvPr id="71" name="Text 68"/>
          <p:cNvSpPr txBox="1"/>
          <p:nvPr/>
        </p:nvSpPr>
        <p:spPr>
          <a:xfrm>
            <a:off x="7772339" y="359139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80%</a:t>
            </a:r>
            <a:endParaRPr lang="en-US" sz="750"/>
          </a:p>
        </p:txBody>
      </p:sp>
      <p:sp>
        <p:nvSpPr>
          <p:cNvPr id="72" name="Text 69"/>
          <p:cNvSpPr txBox="1"/>
          <p:nvPr/>
        </p:nvSpPr>
        <p:spPr>
          <a:xfrm>
            <a:off x="772661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3823737"/>
            <a:ext cx="728899" cy="1269471"/>
          </a:xfrm>
          <a:prstGeom prst="rect">
            <a:avLst/>
          </a:prstGeom>
          <a:solidFill>
            <a:srgbClr val="13807B"/>
          </a:solidFill>
          <a:ln/>
        </p:spPr>
        <p:txBody>
          <a:bodyPr/>
          <a:lstStyle/>
          <a:p>
            <a:endParaRPr lang="es-PE"/>
          </a:p>
        </p:txBody>
      </p:sp>
      <p:sp>
        <p:nvSpPr>
          <p:cNvPr id="74" name="Text 71"/>
          <p:cNvSpPr txBox="1"/>
          <p:nvPr/>
        </p:nvSpPr>
        <p:spPr>
          <a:xfrm>
            <a:off x="8629254" y="3640857"/>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77%</a:t>
            </a:r>
            <a:endParaRPr lang="en-US" sz="750"/>
          </a:p>
        </p:txBody>
      </p:sp>
      <p:sp>
        <p:nvSpPr>
          <p:cNvPr id="75" name="Text 72"/>
          <p:cNvSpPr txBox="1"/>
          <p:nvPr/>
        </p:nvSpPr>
        <p:spPr>
          <a:xfrm>
            <a:off x="858353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625898"/>
            <a:ext cx="728899" cy="1467310"/>
          </a:xfrm>
          <a:prstGeom prst="rect">
            <a:avLst/>
          </a:prstGeom>
          <a:solidFill>
            <a:srgbClr val="13807B"/>
          </a:solidFill>
          <a:ln/>
        </p:spPr>
        <p:txBody>
          <a:bodyPr/>
          <a:lstStyle/>
          <a:p>
            <a:endParaRPr lang="es-PE"/>
          </a:p>
        </p:txBody>
      </p:sp>
      <p:sp>
        <p:nvSpPr>
          <p:cNvPr id="77" name="Text 74"/>
          <p:cNvSpPr txBox="1"/>
          <p:nvPr/>
        </p:nvSpPr>
        <p:spPr>
          <a:xfrm>
            <a:off x="9486168" y="344301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78" name="Text 75"/>
          <p:cNvSpPr txBox="1"/>
          <p:nvPr/>
        </p:nvSpPr>
        <p:spPr>
          <a:xfrm>
            <a:off x="944044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5093208"/>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Próximo Recurrente</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4,6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+3 pp</a:t>
            </a:r>
            <a:endParaRPr lang="en-US" sz="750"/>
          </a:p>
        </p:txBody>
      </p:sp>
      <p:sp>
        <p:nvSpPr>
          <p:cNvPr id="86" name="Shape 83"/>
          <p:cNvSpPr/>
          <p:nvPr/>
        </p:nvSpPr>
        <p:spPr>
          <a:xfrm>
            <a:off x="10763707"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flipV="1">
            <a:off x="11184331" y="2147602"/>
            <a:ext cx="1071143" cy="151984"/>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47602"/>
            <a:ext cx="1071143" cy="172249"/>
          </a:xfrm>
          <a:prstGeom prst="line">
            <a:avLst/>
          </a:prstGeom>
          <a:noFill/>
          <a:ln w="19050">
            <a:solidFill>
              <a:srgbClr val="0B2E2C"/>
            </a:solidFill>
            <a:prstDash val="solid"/>
          </a:ln>
        </p:spPr>
        <p:txBody>
          <a:bodyPr/>
          <a:lstStyle/>
          <a:p>
            <a:endParaRPr lang="es-PE"/>
          </a:p>
        </p:txBody>
      </p:sp>
      <p:sp>
        <p:nvSpPr>
          <p:cNvPr id="90" name="Shape 87"/>
          <p:cNvSpPr/>
          <p:nvPr/>
        </p:nvSpPr>
        <p:spPr>
          <a:xfrm>
            <a:off x="13326618" y="2319851"/>
            <a:ext cx="1071143" cy="202646"/>
          </a:xfrm>
          <a:prstGeom prst="line">
            <a:avLst/>
          </a:prstGeom>
          <a:noFill/>
          <a:ln w="19050">
            <a:solidFill>
              <a:srgbClr val="0B2E2C"/>
            </a:solidFill>
            <a:prstDash val="solid"/>
          </a:ln>
        </p:spPr>
        <p:txBody>
          <a:bodyPr/>
          <a:lstStyle/>
          <a:p>
            <a:endParaRPr lang="es-PE"/>
          </a:p>
        </p:txBody>
      </p:sp>
      <p:sp>
        <p:nvSpPr>
          <p:cNvPr id="91" name="Shape 88"/>
          <p:cNvSpPr/>
          <p:nvPr/>
        </p:nvSpPr>
        <p:spPr>
          <a:xfrm>
            <a:off x="14397761" y="2522497"/>
            <a:ext cx="1071143" cy="50661"/>
          </a:xfrm>
          <a:prstGeom prst="line">
            <a:avLst/>
          </a:prstGeom>
          <a:noFill/>
          <a:ln w="19050">
            <a:solidFill>
              <a:srgbClr val="0B2E2C"/>
            </a:solidFill>
            <a:prstDash val="solid"/>
          </a:ln>
        </p:spPr>
        <p:txBody>
          <a:bodyPr/>
          <a:lstStyle/>
          <a:p>
            <a:endParaRPr lang="es-PE"/>
          </a:p>
        </p:txBody>
      </p:sp>
      <p:sp>
        <p:nvSpPr>
          <p:cNvPr id="92" name="Shape 89"/>
          <p:cNvSpPr/>
          <p:nvPr/>
        </p:nvSpPr>
        <p:spPr>
          <a:xfrm>
            <a:off x="11184331" y="2694746"/>
            <a:ext cx="1071143" cy="70926"/>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765672"/>
            <a:ext cx="1071143" cy="70926"/>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836598"/>
            <a:ext cx="1071143" cy="172249"/>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897392"/>
            <a:ext cx="1071143" cy="111455"/>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20984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25,4</a:t>
            </a:r>
            <a:endParaRPr lang="en-US" sz="700"/>
          </a:p>
        </p:txBody>
      </p:sp>
      <p:sp>
        <p:nvSpPr>
          <p:cNvPr id="97" name="Text 94"/>
          <p:cNvSpPr txBox="1"/>
          <p:nvPr/>
        </p:nvSpPr>
        <p:spPr>
          <a:xfrm>
            <a:off x="15148865" y="2371991"/>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98" name="Text 95"/>
          <p:cNvSpPr txBox="1"/>
          <p:nvPr/>
        </p:nvSpPr>
        <p:spPr>
          <a:xfrm>
            <a:off x="10864291" y="2749610"/>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21,5</a:t>
            </a:r>
            <a:endParaRPr lang="en-US" sz="700"/>
          </a:p>
        </p:txBody>
      </p:sp>
      <p:sp>
        <p:nvSpPr>
          <p:cNvPr id="99" name="Text 96"/>
          <p:cNvSpPr txBox="1"/>
          <p:nvPr/>
        </p:nvSpPr>
        <p:spPr>
          <a:xfrm>
            <a:off x="15148865" y="29522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100" name="Text 97"/>
          <p:cNvSpPr txBox="1"/>
          <p:nvPr/>
        </p:nvSpPr>
        <p:spPr>
          <a:xfrm>
            <a:off x="10818571"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3510491"/>
            <a:ext cx="728899" cy="1582717"/>
          </a:xfrm>
          <a:prstGeom prst="rect">
            <a:avLst/>
          </a:prstGeom>
          <a:solidFill>
            <a:srgbClr val="13807B"/>
          </a:solidFill>
          <a:ln/>
        </p:spPr>
        <p:txBody>
          <a:bodyPr/>
          <a:lstStyle/>
          <a:p>
            <a:endParaRPr lang="es-PE"/>
          </a:p>
        </p:txBody>
      </p:sp>
      <p:sp>
        <p:nvSpPr>
          <p:cNvPr id="102" name="Text 99"/>
          <p:cNvSpPr txBox="1"/>
          <p:nvPr/>
        </p:nvSpPr>
        <p:spPr>
          <a:xfrm>
            <a:off x="11111179" y="332761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96%</a:t>
            </a:r>
            <a:endParaRPr lang="en-US" sz="750"/>
          </a:p>
        </p:txBody>
      </p:sp>
      <p:sp>
        <p:nvSpPr>
          <p:cNvPr id="103" name="Text 100"/>
          <p:cNvSpPr txBox="1"/>
          <p:nvPr/>
        </p:nvSpPr>
        <p:spPr>
          <a:xfrm>
            <a:off x="1106545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3559951"/>
            <a:ext cx="728899" cy="1533257"/>
          </a:xfrm>
          <a:prstGeom prst="rect">
            <a:avLst/>
          </a:prstGeom>
          <a:solidFill>
            <a:srgbClr val="13807B"/>
          </a:solidFill>
          <a:ln/>
        </p:spPr>
        <p:txBody>
          <a:bodyPr/>
          <a:lstStyle/>
          <a:p>
            <a:endParaRPr lang="es-PE"/>
          </a:p>
        </p:txBody>
      </p:sp>
      <p:sp>
        <p:nvSpPr>
          <p:cNvPr id="105" name="Text 102"/>
          <p:cNvSpPr txBox="1"/>
          <p:nvPr/>
        </p:nvSpPr>
        <p:spPr>
          <a:xfrm>
            <a:off x="11968094" y="337707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93%</a:t>
            </a:r>
            <a:endParaRPr lang="en-US" sz="750"/>
          </a:p>
        </p:txBody>
      </p:sp>
      <p:sp>
        <p:nvSpPr>
          <p:cNvPr id="106" name="Text 103"/>
          <p:cNvSpPr txBox="1"/>
          <p:nvPr/>
        </p:nvSpPr>
        <p:spPr>
          <a:xfrm>
            <a:off x="1192237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3724818"/>
            <a:ext cx="728899" cy="1368390"/>
          </a:xfrm>
          <a:prstGeom prst="rect">
            <a:avLst/>
          </a:prstGeom>
          <a:solidFill>
            <a:srgbClr val="13807B"/>
          </a:solidFill>
          <a:ln/>
        </p:spPr>
        <p:txBody>
          <a:bodyPr/>
          <a:lstStyle/>
          <a:p>
            <a:endParaRPr lang="es-PE"/>
          </a:p>
        </p:txBody>
      </p:sp>
      <p:sp>
        <p:nvSpPr>
          <p:cNvPr id="108" name="Text 105"/>
          <p:cNvSpPr txBox="1"/>
          <p:nvPr/>
        </p:nvSpPr>
        <p:spPr>
          <a:xfrm>
            <a:off x="12825009" y="354193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83%</a:t>
            </a:r>
            <a:endParaRPr lang="en-US" sz="750"/>
          </a:p>
        </p:txBody>
      </p:sp>
      <p:sp>
        <p:nvSpPr>
          <p:cNvPr id="109" name="Text 106"/>
          <p:cNvSpPr txBox="1"/>
          <p:nvPr/>
        </p:nvSpPr>
        <p:spPr>
          <a:xfrm>
            <a:off x="1277928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3625898"/>
            <a:ext cx="728899" cy="1467310"/>
          </a:xfrm>
          <a:prstGeom prst="rect">
            <a:avLst/>
          </a:prstGeom>
          <a:solidFill>
            <a:srgbClr val="13807B"/>
          </a:solidFill>
          <a:ln/>
        </p:spPr>
        <p:txBody>
          <a:bodyPr/>
          <a:lstStyle/>
          <a:p>
            <a:endParaRPr lang="es-PE"/>
          </a:p>
        </p:txBody>
      </p:sp>
      <p:sp>
        <p:nvSpPr>
          <p:cNvPr id="111" name="Text 108"/>
          <p:cNvSpPr txBox="1"/>
          <p:nvPr/>
        </p:nvSpPr>
        <p:spPr>
          <a:xfrm>
            <a:off x="13681923" y="344301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89%</a:t>
            </a:r>
            <a:endParaRPr lang="en-US" sz="750"/>
          </a:p>
        </p:txBody>
      </p:sp>
      <p:sp>
        <p:nvSpPr>
          <p:cNvPr id="112" name="Text 109"/>
          <p:cNvSpPr txBox="1"/>
          <p:nvPr/>
        </p:nvSpPr>
        <p:spPr>
          <a:xfrm>
            <a:off x="13636203"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3461031"/>
            <a:ext cx="728899" cy="1632177"/>
          </a:xfrm>
          <a:prstGeom prst="rect">
            <a:avLst/>
          </a:prstGeom>
          <a:solidFill>
            <a:srgbClr val="13807B"/>
          </a:solidFill>
          <a:ln/>
        </p:spPr>
        <p:txBody>
          <a:bodyPr/>
          <a:lstStyle/>
          <a:p>
            <a:endParaRPr lang="es-PE"/>
          </a:p>
        </p:txBody>
      </p:sp>
      <p:sp>
        <p:nvSpPr>
          <p:cNvPr id="114" name="Text 111"/>
          <p:cNvSpPr txBox="1"/>
          <p:nvPr/>
        </p:nvSpPr>
        <p:spPr>
          <a:xfrm>
            <a:off x="14538838" y="327815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99%</a:t>
            </a:r>
            <a:endParaRPr lang="en-US" sz="750"/>
          </a:p>
        </p:txBody>
      </p:sp>
      <p:sp>
        <p:nvSpPr>
          <p:cNvPr id="115" name="Text 112"/>
          <p:cNvSpPr txBox="1"/>
          <p:nvPr/>
        </p:nvSpPr>
        <p:spPr>
          <a:xfrm>
            <a:off x="1449311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5093208"/>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5623560"/>
            <a:ext cx="201168" cy="128016"/>
          </a:xfrm>
          <a:prstGeom prst="rect">
            <a:avLst/>
          </a:prstGeom>
          <a:solidFill>
            <a:srgbClr val="13807B"/>
          </a:solidFill>
          <a:ln/>
        </p:spPr>
        <p:txBody>
          <a:bodyPr/>
          <a:lstStyle/>
          <a:p>
            <a:endParaRPr lang="es-PE"/>
          </a:p>
        </p:txBody>
      </p:sp>
      <p:sp>
        <p:nvSpPr>
          <p:cNvPr id="118" name="Text 115"/>
          <p:cNvSpPr txBox="1"/>
          <p:nvPr/>
        </p:nvSpPr>
        <p:spPr>
          <a:xfrm>
            <a:off x="896112" y="558698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119" name="Shape 116"/>
          <p:cNvSpPr/>
          <p:nvPr/>
        </p:nvSpPr>
        <p:spPr>
          <a:xfrm>
            <a:off x="2788920" y="5687568"/>
            <a:ext cx="320040" cy="0"/>
          </a:xfrm>
          <a:prstGeom prst="line">
            <a:avLst/>
          </a:prstGeom>
          <a:noFill/>
          <a:ln w="22225">
            <a:solidFill>
              <a:srgbClr val="0B2E2C"/>
            </a:solidFill>
            <a:prstDash val="solid"/>
          </a:ln>
        </p:spPr>
        <p:txBody>
          <a:bodyPr/>
          <a:lstStyle/>
          <a:p>
            <a:endParaRPr lang="es-PE"/>
          </a:p>
        </p:txBody>
      </p:sp>
      <p:sp>
        <p:nvSpPr>
          <p:cNvPr id="120" name="Text 117"/>
          <p:cNvSpPr txBox="1"/>
          <p:nvPr/>
        </p:nvSpPr>
        <p:spPr>
          <a:xfrm>
            <a:off x="3154680" y="558698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121" name="Shape 118"/>
          <p:cNvSpPr/>
          <p:nvPr/>
        </p:nvSpPr>
        <p:spPr>
          <a:xfrm>
            <a:off x="4434840" y="5687568"/>
            <a:ext cx="320040" cy="0"/>
          </a:xfrm>
          <a:prstGeom prst="line">
            <a:avLst/>
          </a:prstGeom>
          <a:noFill/>
          <a:ln w="22225">
            <a:solidFill>
              <a:srgbClr val="E67E22"/>
            </a:solidFill>
            <a:prstDash val="dash"/>
          </a:ln>
        </p:spPr>
        <p:txBody>
          <a:bodyPr/>
          <a:lstStyle/>
          <a:p>
            <a:endParaRPr lang="es-PE"/>
          </a:p>
        </p:txBody>
      </p:sp>
      <p:sp>
        <p:nvSpPr>
          <p:cNvPr id="122" name="Text 119"/>
          <p:cNvSpPr txBox="1"/>
          <p:nvPr/>
        </p:nvSpPr>
        <p:spPr>
          <a:xfrm>
            <a:off x="4800600" y="558698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123" name="Text 120"/>
          <p:cNvSpPr txBox="1"/>
          <p:nvPr/>
        </p:nvSpPr>
        <p:spPr>
          <a:xfrm>
            <a:off x="11430000" y="558698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124" name="Shape 121"/>
          <p:cNvSpPr/>
          <p:nvPr/>
        </p:nvSpPr>
        <p:spPr>
          <a:xfrm>
            <a:off x="658368" y="5897880"/>
            <a:ext cx="14938553" cy="2715768"/>
          </a:xfrm>
          <a:prstGeom prst="rect">
            <a:avLst/>
          </a:prstGeom>
          <a:solidFill>
            <a:srgbClr val="F6FBFA"/>
          </a:solidFill>
          <a:ln w="9525">
            <a:solidFill>
              <a:srgbClr val="D5DFDE"/>
            </a:solidFill>
            <a:prstDash val="solid"/>
          </a:ln>
        </p:spPr>
        <p:txBody>
          <a:bodyPr/>
          <a:lstStyle/>
          <a:p>
            <a:endParaRPr lang="es-PE"/>
          </a:p>
        </p:txBody>
      </p:sp>
      <p:sp>
        <p:nvSpPr>
          <p:cNvPr id="125" name="Shape 122"/>
          <p:cNvSpPr/>
          <p:nvPr/>
        </p:nvSpPr>
        <p:spPr>
          <a:xfrm>
            <a:off x="658368" y="5897880"/>
            <a:ext cx="54864" cy="2715768"/>
          </a:xfrm>
          <a:prstGeom prst="rect">
            <a:avLst/>
          </a:prstGeom>
          <a:solidFill>
            <a:srgbClr val="13807B"/>
          </a:solidFill>
          <a:ln/>
        </p:spPr>
        <p:txBody>
          <a:bodyPr/>
          <a:lstStyle/>
          <a:p>
            <a:endParaRPr lang="es-PE"/>
          </a:p>
        </p:txBody>
      </p:sp>
      <p:sp>
        <p:nvSpPr>
          <p:cNvPr id="126" name="Text 123"/>
          <p:cNvSpPr txBox="1"/>
          <p:nvPr/>
        </p:nvSpPr>
        <p:spPr>
          <a:xfrm>
            <a:off x="914400" y="600760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27" name="Text 124"/>
          <p:cNvSpPr txBox="1"/>
          <p:nvPr/>
        </p:nvSpPr>
        <p:spPr>
          <a:xfrm>
            <a:off x="914400"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128" name="Text 125"/>
          <p:cNvSpPr txBox="1"/>
          <p:nvPr/>
        </p:nvSpPr>
        <p:spPr>
          <a:xfrm>
            <a:off x="914400"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3 clusters sostienen un share muy alto (75%-100% en cualquier trimestre) con la TEA ofertada más alta de la cartera — sin competencia visible, casi no hay margen para perder share.</a:t>
            </a:r>
            <a:endParaRPr lang="en-US" sz="950"/>
          </a:p>
        </p:txBody>
      </p:sp>
      <p:sp>
        <p:nvSpPr>
          <p:cNvPr id="129" name="Text 126"/>
          <p:cNvSpPr txBox="1"/>
          <p:nvPr/>
        </p:nvSpPr>
        <p:spPr>
          <a:xfrm>
            <a:off x="5900014"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130" name="Text 127"/>
          <p:cNvSpPr txBox="1"/>
          <p:nvPr/>
        </p:nvSpPr>
        <p:spPr>
          <a:xfrm>
            <a:off x="5900014"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Emprendedor Izipay (0pp) y Próximo Recurrente (+3pp) son los candidatos más claros para testear un alza de tasa: sostienen o mejoran su share ya con la TEA más alta del grupo.</a:t>
            </a:r>
            <a:endParaRPr lang="en-US" sz="950"/>
          </a:p>
        </p:txBody>
      </p:sp>
      <p:sp>
        <p:nvSpPr>
          <p:cNvPr id="131" name="Text 128"/>
          <p:cNvSpPr txBox="1"/>
          <p:nvPr/>
        </p:nvSpPr>
        <p:spPr>
          <a:xfrm>
            <a:off x="10885627" y="628192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132" name="Text 129"/>
          <p:cNvSpPr txBox="1"/>
          <p:nvPr/>
        </p:nvSpPr>
        <p:spPr>
          <a:xfrm>
            <a:off x="10885627"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Nuevo en Expansión (-5pp) es el único con caída, y viene de una fuerte volatilidad intermedia (cae a 75% en 2025Q3) — antes de subir tasa ahí, confirmar que esa caída no se repite.</a:t>
            </a:r>
            <a:endParaRPr lang="en-US" sz="9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SHARE OF SALES · SIN DEUDA · MONTO (S/)</a:t>
            </a:r>
            <a:endParaRPr lang="en-US" sz="950"/>
          </a:p>
        </p:txBody>
      </p:sp>
      <p:sp>
        <p:nvSpPr>
          <p:cNvPr id="3" name="Text 1"/>
          <p:cNvSpPr txBox="1"/>
          <p:nvPr/>
        </p:nvSpPr>
        <p:spPr>
          <a:xfrm>
            <a:off x="658368" y="530352"/>
            <a:ext cx="13990320" cy="548640"/>
          </a:xfrm>
          <a:prstGeom prst="rect">
            <a:avLst/>
          </a:prstGeom>
          <a:noFill/>
          <a:ln/>
        </p:spPr>
        <p:txBody>
          <a:bodyPr wrap="square" lIns="0" tIns="0" rIns="0" bIns="0" rtlCol="0" anchor="ctr"/>
          <a:lstStyle/>
          <a:p>
            <a:pPr marL="0" indent="0">
              <a:lnSpc>
                <a:spcPct val="100000"/>
              </a:lnSpc>
              <a:buNone/>
            </a:pPr>
            <a:r>
              <a:rPr lang="en-US" sz="1700" b="1">
                <a:solidFill>
                  <a:srgbClr val="0B2E2C"/>
                </a:solidFill>
                <a:latin typeface="Arial" pitchFamily="34" charset="0"/>
                <a:ea typeface="Arial" pitchFamily="34" charset="-122"/>
                <a:cs typeface="Arial" pitchFamily="34" charset="-120"/>
              </a:rPr>
              <a:t>En monto, Próximo Recurrente crece +6pp y Emprendedor Izipay se mantiene estable — solo Nuevo en Expansión cae, y poco</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298448"/>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26464"/>
            <a:ext cx="4833214" cy="329184"/>
          </a:xfrm>
          <a:prstGeom prst="rect">
            <a:avLst/>
          </a:prstGeom>
          <a:solidFill>
            <a:srgbClr val="13807B"/>
          </a:solidFill>
          <a:ln/>
        </p:spPr>
        <p:txBody>
          <a:bodyPr/>
          <a:lstStyle/>
          <a:p>
            <a:endParaRPr lang="es-PE"/>
          </a:p>
        </p:txBody>
      </p:sp>
      <p:sp>
        <p:nvSpPr>
          <p:cNvPr id="7" name="Text 4"/>
          <p:cNvSpPr txBox="1"/>
          <p:nvPr/>
        </p:nvSpPr>
        <p:spPr>
          <a:xfrm>
            <a:off x="76809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Emprendedor Izipay</a:t>
            </a:r>
            <a:endParaRPr lang="en-US" sz="1100"/>
          </a:p>
        </p:txBody>
      </p:sp>
      <p:sp>
        <p:nvSpPr>
          <p:cNvPr id="8" name="Shape 5"/>
          <p:cNvSpPr/>
          <p:nvPr/>
        </p:nvSpPr>
        <p:spPr>
          <a:xfrm>
            <a:off x="2783674" y="1472184"/>
            <a:ext cx="1401632" cy="237744"/>
          </a:xfrm>
          <a:prstGeom prst="roundRect">
            <a:avLst>
              <a:gd name="adj" fmla="val 23077"/>
            </a:avLst>
          </a:prstGeom>
          <a:solidFill>
            <a:srgbClr val="0B2E2C"/>
          </a:solidFill>
          <a:ln/>
        </p:spPr>
        <p:txBody>
          <a:bodyPr/>
          <a:lstStyle/>
          <a:p>
            <a:endParaRPr lang="es-PE"/>
          </a:p>
        </p:txBody>
      </p:sp>
      <p:sp>
        <p:nvSpPr>
          <p:cNvPr id="9" name="Text 6"/>
          <p:cNvSpPr txBox="1"/>
          <p:nvPr/>
        </p:nvSpPr>
        <p:spPr>
          <a:xfrm>
            <a:off x="278367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2,5 pp</a:t>
            </a:r>
            <a:endParaRPr lang="en-US" sz="750"/>
          </a:p>
        </p:txBody>
      </p:sp>
      <p:sp>
        <p:nvSpPr>
          <p:cNvPr id="10" name="Shape 7"/>
          <p:cNvSpPr/>
          <p:nvPr/>
        </p:nvSpPr>
        <p:spPr>
          <a:xfrm>
            <a:off x="4258458" y="1472184"/>
            <a:ext cx="1159971" cy="237744"/>
          </a:xfrm>
          <a:prstGeom prst="roundRect">
            <a:avLst>
              <a:gd name="adj" fmla="val 23077"/>
            </a:avLst>
          </a:prstGeom>
          <a:solidFill>
            <a:srgbClr val="FFFFFF"/>
          </a:solidFill>
          <a:ln/>
        </p:spPr>
        <p:txBody>
          <a:bodyPr/>
          <a:lstStyle/>
          <a:p>
            <a:endParaRPr lang="es-PE"/>
          </a:p>
        </p:txBody>
      </p:sp>
      <p:sp>
        <p:nvSpPr>
          <p:cNvPr id="11" name="Text 8"/>
          <p:cNvSpPr txBox="1"/>
          <p:nvPr/>
        </p:nvSpPr>
        <p:spPr>
          <a:xfrm>
            <a:off x="425845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0 pp</a:t>
            </a:r>
            <a:endParaRPr lang="en-US" sz="750"/>
          </a:p>
        </p:txBody>
      </p:sp>
      <p:sp>
        <p:nvSpPr>
          <p:cNvPr id="12" name="Shape 9"/>
          <p:cNvSpPr/>
          <p:nvPr/>
        </p:nvSpPr>
        <p:spPr>
          <a:xfrm>
            <a:off x="65836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13" name="Text 10"/>
          <p:cNvSpPr txBox="1"/>
          <p:nvPr/>
        </p:nvSpPr>
        <p:spPr>
          <a:xfrm>
            <a:off x="71323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14" name="Shape 11"/>
          <p:cNvSpPr/>
          <p:nvPr/>
        </p:nvSpPr>
        <p:spPr>
          <a:xfrm flipV="1">
            <a:off x="1078992" y="2159855"/>
            <a:ext cx="1071143" cy="104975"/>
          </a:xfrm>
          <a:prstGeom prst="line">
            <a:avLst/>
          </a:prstGeom>
          <a:noFill/>
          <a:ln w="19050">
            <a:solidFill>
              <a:srgbClr val="0B2E2C"/>
            </a:solidFill>
            <a:prstDash val="solid"/>
          </a:ln>
        </p:spPr>
        <p:txBody>
          <a:bodyPr/>
          <a:lstStyle/>
          <a:p>
            <a:endParaRPr lang="es-PE"/>
          </a:p>
        </p:txBody>
      </p:sp>
      <p:sp>
        <p:nvSpPr>
          <p:cNvPr id="15" name="Shape 12"/>
          <p:cNvSpPr/>
          <p:nvPr/>
        </p:nvSpPr>
        <p:spPr>
          <a:xfrm>
            <a:off x="2150135" y="2159855"/>
            <a:ext cx="1071143" cy="233278"/>
          </a:xfrm>
          <a:prstGeom prst="line">
            <a:avLst/>
          </a:prstGeom>
          <a:noFill/>
          <a:ln w="19050">
            <a:solidFill>
              <a:srgbClr val="0B2E2C"/>
            </a:solidFill>
            <a:prstDash val="solid"/>
          </a:ln>
        </p:spPr>
        <p:txBody>
          <a:bodyPr/>
          <a:lstStyle/>
          <a:p>
            <a:endParaRPr lang="es-PE"/>
          </a:p>
        </p:txBody>
      </p:sp>
      <p:sp>
        <p:nvSpPr>
          <p:cNvPr id="16" name="Shape 13"/>
          <p:cNvSpPr/>
          <p:nvPr/>
        </p:nvSpPr>
        <p:spPr>
          <a:xfrm>
            <a:off x="3221279" y="2393134"/>
            <a:ext cx="1071143" cy="291598"/>
          </a:xfrm>
          <a:prstGeom prst="line">
            <a:avLst/>
          </a:prstGeom>
          <a:noFill/>
          <a:ln w="19050">
            <a:solidFill>
              <a:srgbClr val="0B2E2C"/>
            </a:solidFill>
            <a:prstDash val="solid"/>
          </a:ln>
        </p:spPr>
        <p:txBody>
          <a:bodyPr/>
          <a:lstStyle/>
          <a:p>
            <a:endParaRPr lang="es-PE"/>
          </a:p>
        </p:txBody>
      </p:sp>
      <p:sp>
        <p:nvSpPr>
          <p:cNvPr id="17" name="Shape 14"/>
          <p:cNvSpPr/>
          <p:nvPr/>
        </p:nvSpPr>
        <p:spPr>
          <a:xfrm flipV="1">
            <a:off x="4292422" y="2614748"/>
            <a:ext cx="1071143" cy="69983"/>
          </a:xfrm>
          <a:prstGeom prst="line">
            <a:avLst/>
          </a:prstGeom>
          <a:noFill/>
          <a:ln w="19050">
            <a:solidFill>
              <a:srgbClr val="0B2E2C"/>
            </a:solidFill>
            <a:prstDash val="solid"/>
          </a:ln>
        </p:spPr>
        <p:txBody>
          <a:bodyPr/>
          <a:lstStyle/>
          <a:p>
            <a:endParaRPr lang="es-PE"/>
          </a:p>
        </p:txBody>
      </p:sp>
      <p:sp>
        <p:nvSpPr>
          <p:cNvPr id="18" name="Shape 15"/>
          <p:cNvSpPr/>
          <p:nvPr/>
        </p:nvSpPr>
        <p:spPr>
          <a:xfrm flipV="1">
            <a:off x="1078992" y="2358142"/>
            <a:ext cx="1071143" cy="233278"/>
          </a:xfrm>
          <a:prstGeom prst="line">
            <a:avLst/>
          </a:prstGeom>
          <a:noFill/>
          <a:ln w="19050">
            <a:solidFill>
              <a:srgbClr val="E67E22"/>
            </a:solidFill>
            <a:prstDash val="dash"/>
          </a:ln>
        </p:spPr>
        <p:txBody>
          <a:bodyPr/>
          <a:lstStyle/>
          <a:p>
            <a:endParaRPr lang="es-PE"/>
          </a:p>
        </p:txBody>
      </p:sp>
      <p:sp>
        <p:nvSpPr>
          <p:cNvPr id="19" name="Shape 16"/>
          <p:cNvSpPr/>
          <p:nvPr/>
        </p:nvSpPr>
        <p:spPr>
          <a:xfrm>
            <a:off x="2150135" y="2358142"/>
            <a:ext cx="1071143" cy="338254"/>
          </a:xfrm>
          <a:prstGeom prst="line">
            <a:avLst/>
          </a:prstGeom>
          <a:noFill/>
          <a:ln w="19050">
            <a:solidFill>
              <a:srgbClr val="E67E22"/>
            </a:solidFill>
            <a:prstDash val="dash"/>
          </a:ln>
        </p:spPr>
        <p:txBody>
          <a:bodyPr/>
          <a:lstStyle/>
          <a:p>
            <a:endParaRPr lang="es-PE"/>
          </a:p>
        </p:txBody>
      </p:sp>
      <p:sp>
        <p:nvSpPr>
          <p:cNvPr id="20" name="Shape 17"/>
          <p:cNvSpPr/>
          <p:nvPr/>
        </p:nvSpPr>
        <p:spPr>
          <a:xfrm>
            <a:off x="3221279" y="2696395"/>
            <a:ext cx="1071143" cy="303262"/>
          </a:xfrm>
          <a:prstGeom prst="line">
            <a:avLst/>
          </a:prstGeom>
          <a:noFill/>
          <a:ln w="19050">
            <a:solidFill>
              <a:srgbClr val="E67E22"/>
            </a:solidFill>
            <a:prstDash val="dash"/>
          </a:ln>
        </p:spPr>
        <p:txBody>
          <a:bodyPr/>
          <a:lstStyle/>
          <a:p>
            <a:endParaRPr lang="es-PE"/>
          </a:p>
        </p:txBody>
      </p:sp>
      <p:sp>
        <p:nvSpPr>
          <p:cNvPr id="21" name="Shape 18"/>
          <p:cNvSpPr/>
          <p:nvPr/>
        </p:nvSpPr>
        <p:spPr>
          <a:xfrm flipV="1">
            <a:off x="4292422" y="2918010"/>
            <a:ext cx="1071143" cy="81647"/>
          </a:xfrm>
          <a:prstGeom prst="line">
            <a:avLst/>
          </a:prstGeom>
          <a:noFill/>
          <a:ln w="19050">
            <a:solidFill>
              <a:srgbClr val="E67E22"/>
            </a:solidFill>
            <a:prstDash val="dash"/>
          </a:ln>
        </p:spPr>
        <p:txBody>
          <a:bodyPr/>
          <a:lstStyle/>
          <a:p>
            <a:endParaRPr lang="es-PE"/>
          </a:p>
        </p:txBody>
      </p:sp>
      <p:sp>
        <p:nvSpPr>
          <p:cNvPr id="22" name="Text 19"/>
          <p:cNvSpPr txBox="1"/>
          <p:nvPr/>
        </p:nvSpPr>
        <p:spPr>
          <a:xfrm>
            <a:off x="758952" y="206366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25,7</a:t>
            </a:r>
            <a:endParaRPr lang="en-US" sz="700"/>
          </a:p>
        </p:txBody>
      </p:sp>
      <p:sp>
        <p:nvSpPr>
          <p:cNvPr id="23" name="Text 20"/>
          <p:cNvSpPr txBox="1"/>
          <p:nvPr/>
        </p:nvSpPr>
        <p:spPr>
          <a:xfrm>
            <a:off x="5043526" y="2413580"/>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24" name="Text 21"/>
          <p:cNvSpPr txBox="1"/>
          <p:nvPr/>
        </p:nvSpPr>
        <p:spPr>
          <a:xfrm>
            <a:off x="758952" y="264628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22,9</a:t>
            </a:r>
            <a:endParaRPr lang="en-US" sz="700"/>
          </a:p>
        </p:txBody>
      </p:sp>
      <p:sp>
        <p:nvSpPr>
          <p:cNvPr id="25" name="Text 22"/>
          <p:cNvSpPr txBox="1"/>
          <p:nvPr/>
        </p:nvSpPr>
        <p:spPr>
          <a:xfrm>
            <a:off x="5043526" y="2972874"/>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20,1</a:t>
            </a:r>
            <a:endParaRPr lang="en-US" sz="700"/>
          </a:p>
        </p:txBody>
      </p:sp>
      <p:sp>
        <p:nvSpPr>
          <p:cNvPr id="26" name="Text 23"/>
          <p:cNvSpPr txBox="1"/>
          <p:nvPr/>
        </p:nvSpPr>
        <p:spPr>
          <a:xfrm>
            <a:off x="71323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27" name="Shape 24"/>
          <p:cNvSpPr/>
          <p:nvPr/>
        </p:nvSpPr>
        <p:spPr>
          <a:xfrm>
            <a:off x="1143000" y="3576438"/>
            <a:ext cx="728899" cy="1516770"/>
          </a:xfrm>
          <a:prstGeom prst="rect">
            <a:avLst/>
          </a:prstGeom>
          <a:solidFill>
            <a:srgbClr val="13807B"/>
          </a:solidFill>
          <a:ln/>
        </p:spPr>
        <p:txBody>
          <a:bodyPr/>
          <a:lstStyle/>
          <a:p>
            <a:endParaRPr lang="es-PE"/>
          </a:p>
        </p:txBody>
      </p:sp>
      <p:sp>
        <p:nvSpPr>
          <p:cNvPr id="28" name="Text 25"/>
          <p:cNvSpPr txBox="1"/>
          <p:nvPr/>
        </p:nvSpPr>
        <p:spPr>
          <a:xfrm>
            <a:off x="1005840" y="339355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92%</a:t>
            </a:r>
            <a:endParaRPr lang="en-US" sz="750"/>
          </a:p>
        </p:txBody>
      </p:sp>
      <p:sp>
        <p:nvSpPr>
          <p:cNvPr id="29" name="Text 26"/>
          <p:cNvSpPr txBox="1"/>
          <p:nvPr/>
        </p:nvSpPr>
        <p:spPr>
          <a:xfrm>
            <a:off x="96012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30" name="Shape 27"/>
          <p:cNvSpPr/>
          <p:nvPr/>
        </p:nvSpPr>
        <p:spPr>
          <a:xfrm>
            <a:off x="1999915" y="3494005"/>
            <a:ext cx="728899" cy="1599203"/>
          </a:xfrm>
          <a:prstGeom prst="rect">
            <a:avLst/>
          </a:prstGeom>
          <a:solidFill>
            <a:srgbClr val="13807B"/>
          </a:solidFill>
          <a:ln/>
        </p:spPr>
        <p:txBody>
          <a:bodyPr/>
          <a:lstStyle/>
          <a:p>
            <a:endParaRPr lang="es-PE"/>
          </a:p>
        </p:txBody>
      </p:sp>
      <p:sp>
        <p:nvSpPr>
          <p:cNvPr id="31" name="Text 28"/>
          <p:cNvSpPr txBox="1"/>
          <p:nvPr/>
        </p:nvSpPr>
        <p:spPr>
          <a:xfrm>
            <a:off x="1862755" y="331112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97%</a:t>
            </a:r>
            <a:endParaRPr lang="en-US" sz="750"/>
          </a:p>
        </p:txBody>
      </p:sp>
      <p:sp>
        <p:nvSpPr>
          <p:cNvPr id="32" name="Text 29"/>
          <p:cNvSpPr txBox="1"/>
          <p:nvPr/>
        </p:nvSpPr>
        <p:spPr>
          <a:xfrm>
            <a:off x="1817035"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33" name="Shape 30"/>
          <p:cNvSpPr/>
          <p:nvPr/>
        </p:nvSpPr>
        <p:spPr>
          <a:xfrm>
            <a:off x="2856829" y="3444545"/>
            <a:ext cx="728899" cy="1648663"/>
          </a:xfrm>
          <a:prstGeom prst="rect">
            <a:avLst/>
          </a:prstGeom>
          <a:solidFill>
            <a:srgbClr val="13807B"/>
          </a:solidFill>
          <a:ln/>
        </p:spPr>
        <p:txBody>
          <a:bodyPr/>
          <a:lstStyle/>
          <a:p>
            <a:endParaRPr lang="es-PE"/>
          </a:p>
        </p:txBody>
      </p:sp>
      <p:sp>
        <p:nvSpPr>
          <p:cNvPr id="34" name="Text 31"/>
          <p:cNvSpPr txBox="1"/>
          <p:nvPr/>
        </p:nvSpPr>
        <p:spPr>
          <a:xfrm>
            <a:off x="2719669" y="3261665"/>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100%</a:t>
            </a:r>
            <a:endParaRPr lang="en-US" sz="750"/>
          </a:p>
        </p:txBody>
      </p:sp>
      <p:sp>
        <p:nvSpPr>
          <p:cNvPr id="35" name="Text 32"/>
          <p:cNvSpPr txBox="1"/>
          <p:nvPr/>
        </p:nvSpPr>
        <p:spPr>
          <a:xfrm>
            <a:off x="267394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36" name="Shape 33"/>
          <p:cNvSpPr/>
          <p:nvPr/>
        </p:nvSpPr>
        <p:spPr>
          <a:xfrm>
            <a:off x="3713744" y="3510491"/>
            <a:ext cx="728899" cy="1582717"/>
          </a:xfrm>
          <a:prstGeom prst="rect">
            <a:avLst/>
          </a:prstGeom>
          <a:solidFill>
            <a:srgbClr val="13807B"/>
          </a:solidFill>
          <a:ln/>
        </p:spPr>
        <p:txBody>
          <a:bodyPr/>
          <a:lstStyle/>
          <a:p>
            <a:endParaRPr lang="es-PE"/>
          </a:p>
        </p:txBody>
      </p:sp>
      <p:sp>
        <p:nvSpPr>
          <p:cNvPr id="37" name="Text 34"/>
          <p:cNvSpPr txBox="1"/>
          <p:nvPr/>
        </p:nvSpPr>
        <p:spPr>
          <a:xfrm>
            <a:off x="3576584" y="332761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96%</a:t>
            </a:r>
            <a:endParaRPr lang="en-US" sz="750"/>
          </a:p>
        </p:txBody>
      </p:sp>
      <p:sp>
        <p:nvSpPr>
          <p:cNvPr id="38" name="Text 35"/>
          <p:cNvSpPr txBox="1"/>
          <p:nvPr/>
        </p:nvSpPr>
        <p:spPr>
          <a:xfrm>
            <a:off x="353086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39" name="Shape 36"/>
          <p:cNvSpPr/>
          <p:nvPr/>
        </p:nvSpPr>
        <p:spPr>
          <a:xfrm>
            <a:off x="4570659" y="3576438"/>
            <a:ext cx="728899" cy="1516770"/>
          </a:xfrm>
          <a:prstGeom prst="rect">
            <a:avLst/>
          </a:prstGeom>
          <a:solidFill>
            <a:srgbClr val="13807B"/>
          </a:solidFill>
          <a:ln/>
        </p:spPr>
        <p:txBody>
          <a:bodyPr/>
          <a:lstStyle/>
          <a:p>
            <a:endParaRPr lang="es-PE"/>
          </a:p>
        </p:txBody>
      </p:sp>
      <p:sp>
        <p:nvSpPr>
          <p:cNvPr id="40" name="Text 37"/>
          <p:cNvSpPr txBox="1"/>
          <p:nvPr/>
        </p:nvSpPr>
        <p:spPr>
          <a:xfrm>
            <a:off x="4433499" y="339355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92%</a:t>
            </a:r>
            <a:endParaRPr lang="en-US" sz="750"/>
          </a:p>
        </p:txBody>
      </p:sp>
      <p:sp>
        <p:nvSpPr>
          <p:cNvPr id="41" name="Text 38"/>
          <p:cNvSpPr txBox="1"/>
          <p:nvPr/>
        </p:nvSpPr>
        <p:spPr>
          <a:xfrm>
            <a:off x="438777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42" name="Shape 39"/>
          <p:cNvSpPr/>
          <p:nvPr/>
        </p:nvSpPr>
        <p:spPr>
          <a:xfrm>
            <a:off x="1042416" y="5093208"/>
            <a:ext cx="4357726" cy="0"/>
          </a:xfrm>
          <a:prstGeom prst="line">
            <a:avLst/>
          </a:prstGeom>
          <a:noFill/>
          <a:ln w="9525">
            <a:solidFill>
              <a:srgbClr val="D5DFDE"/>
            </a:solidFill>
            <a:prstDash val="solid"/>
          </a:ln>
        </p:spPr>
        <p:txBody>
          <a:bodyPr/>
          <a:lstStyle/>
          <a:p>
            <a:endParaRPr lang="es-PE"/>
          </a:p>
        </p:txBody>
      </p:sp>
      <p:sp>
        <p:nvSpPr>
          <p:cNvPr id="43" name="Shape 40"/>
          <p:cNvSpPr/>
          <p:nvPr/>
        </p:nvSpPr>
        <p:spPr>
          <a:xfrm>
            <a:off x="5711038" y="1426464"/>
            <a:ext cx="4833214" cy="329184"/>
          </a:xfrm>
          <a:prstGeom prst="rect">
            <a:avLst/>
          </a:prstGeom>
          <a:solidFill>
            <a:srgbClr val="13807B"/>
          </a:solidFill>
          <a:ln/>
        </p:spPr>
        <p:txBody>
          <a:bodyPr/>
          <a:lstStyle/>
          <a:p>
            <a:endParaRPr lang="es-PE"/>
          </a:p>
        </p:txBody>
      </p:sp>
      <p:sp>
        <p:nvSpPr>
          <p:cNvPr id="44" name="Text 41"/>
          <p:cNvSpPr txBox="1"/>
          <p:nvPr/>
        </p:nvSpPr>
        <p:spPr>
          <a:xfrm>
            <a:off x="5820766"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Nuevo en Expansión</a:t>
            </a:r>
            <a:endParaRPr lang="en-US" sz="1100"/>
          </a:p>
        </p:txBody>
      </p:sp>
      <p:sp>
        <p:nvSpPr>
          <p:cNvPr id="45" name="Shape 42"/>
          <p:cNvSpPr/>
          <p:nvPr/>
        </p:nvSpPr>
        <p:spPr>
          <a:xfrm>
            <a:off x="7836344" y="1472184"/>
            <a:ext cx="1401632" cy="237744"/>
          </a:xfrm>
          <a:prstGeom prst="roundRect">
            <a:avLst>
              <a:gd name="adj" fmla="val 23077"/>
            </a:avLst>
          </a:prstGeom>
          <a:solidFill>
            <a:srgbClr val="0B2E2C"/>
          </a:solidFill>
          <a:ln/>
        </p:spPr>
        <p:txBody>
          <a:bodyPr/>
          <a:lstStyle/>
          <a:p>
            <a:endParaRPr lang="es-PE"/>
          </a:p>
        </p:txBody>
      </p:sp>
      <p:sp>
        <p:nvSpPr>
          <p:cNvPr id="46" name="Text 43"/>
          <p:cNvSpPr txBox="1"/>
          <p:nvPr/>
        </p:nvSpPr>
        <p:spPr>
          <a:xfrm>
            <a:off x="783634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3,4 pp</a:t>
            </a:r>
            <a:endParaRPr lang="en-US" sz="750"/>
          </a:p>
        </p:txBody>
      </p:sp>
      <p:sp>
        <p:nvSpPr>
          <p:cNvPr id="47" name="Shape 44"/>
          <p:cNvSpPr/>
          <p:nvPr/>
        </p:nvSpPr>
        <p:spPr>
          <a:xfrm>
            <a:off x="9311128" y="1472184"/>
            <a:ext cx="1159971" cy="237744"/>
          </a:xfrm>
          <a:prstGeom prst="roundRect">
            <a:avLst>
              <a:gd name="adj" fmla="val 23077"/>
            </a:avLst>
          </a:prstGeom>
          <a:solidFill>
            <a:srgbClr val="FFFFFF"/>
          </a:solidFill>
          <a:ln/>
        </p:spPr>
        <p:txBody>
          <a:bodyPr/>
          <a:lstStyle/>
          <a:p>
            <a:endParaRPr lang="es-PE"/>
          </a:p>
        </p:txBody>
      </p:sp>
      <p:sp>
        <p:nvSpPr>
          <p:cNvPr id="48" name="Text 45"/>
          <p:cNvSpPr txBox="1"/>
          <p:nvPr/>
        </p:nvSpPr>
        <p:spPr>
          <a:xfrm>
            <a:off x="9311128" y="1472184"/>
            <a:ext cx="1159971" cy="237744"/>
          </a:xfrm>
          <a:prstGeom prst="rect">
            <a:avLst/>
          </a:prstGeom>
          <a:noFill/>
          <a:ln/>
        </p:spPr>
        <p:txBody>
          <a:bodyPr wrap="square" lIns="0" tIns="0" rIns="0" bIns="0" rtlCol="0" anchor="ctr"/>
          <a:lstStyle/>
          <a:p>
            <a:pPr marL="0" indent="0" algn="ctr">
              <a:buNone/>
            </a:pPr>
            <a:r>
              <a:rPr lang="en-US" sz="750" b="1">
                <a:solidFill>
                  <a:srgbClr val="C0392B"/>
                </a:solidFill>
                <a:latin typeface="Arial" pitchFamily="34" charset="0"/>
                <a:ea typeface="Arial" pitchFamily="34" charset="-122"/>
                <a:cs typeface="Arial" pitchFamily="34" charset="-120"/>
              </a:rPr>
              <a:t>share -2 pp</a:t>
            </a:r>
            <a:endParaRPr lang="en-US" sz="750"/>
          </a:p>
        </p:txBody>
      </p:sp>
      <p:sp>
        <p:nvSpPr>
          <p:cNvPr id="49" name="Shape 46"/>
          <p:cNvSpPr/>
          <p:nvPr/>
        </p:nvSpPr>
        <p:spPr>
          <a:xfrm>
            <a:off x="5711038"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50" name="Text 47"/>
          <p:cNvSpPr txBox="1"/>
          <p:nvPr/>
        </p:nvSpPr>
        <p:spPr>
          <a:xfrm>
            <a:off x="5765902"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51" name="Shape 48"/>
          <p:cNvSpPr/>
          <p:nvPr/>
        </p:nvSpPr>
        <p:spPr>
          <a:xfrm flipV="1">
            <a:off x="6131662" y="2162077"/>
            <a:ext cx="1071143" cy="107475"/>
          </a:xfrm>
          <a:prstGeom prst="line">
            <a:avLst/>
          </a:prstGeom>
          <a:noFill/>
          <a:ln w="19050">
            <a:solidFill>
              <a:srgbClr val="0B2E2C"/>
            </a:solidFill>
            <a:prstDash val="solid"/>
          </a:ln>
        </p:spPr>
        <p:txBody>
          <a:bodyPr/>
          <a:lstStyle/>
          <a:p>
            <a:endParaRPr lang="es-PE"/>
          </a:p>
        </p:txBody>
      </p:sp>
      <p:sp>
        <p:nvSpPr>
          <p:cNvPr id="52" name="Shape 49"/>
          <p:cNvSpPr/>
          <p:nvPr/>
        </p:nvSpPr>
        <p:spPr>
          <a:xfrm>
            <a:off x="7202805" y="2162077"/>
            <a:ext cx="1071143" cy="298541"/>
          </a:xfrm>
          <a:prstGeom prst="line">
            <a:avLst/>
          </a:prstGeom>
          <a:noFill/>
          <a:ln w="19050">
            <a:solidFill>
              <a:srgbClr val="0B2E2C"/>
            </a:solidFill>
            <a:prstDash val="solid"/>
          </a:ln>
        </p:spPr>
        <p:txBody>
          <a:bodyPr/>
          <a:lstStyle/>
          <a:p>
            <a:endParaRPr lang="es-PE"/>
          </a:p>
        </p:txBody>
      </p:sp>
      <p:sp>
        <p:nvSpPr>
          <p:cNvPr id="53" name="Shape 50"/>
          <p:cNvSpPr/>
          <p:nvPr/>
        </p:nvSpPr>
        <p:spPr>
          <a:xfrm>
            <a:off x="8273948" y="2460618"/>
            <a:ext cx="1071143" cy="155241"/>
          </a:xfrm>
          <a:prstGeom prst="line">
            <a:avLst/>
          </a:prstGeom>
          <a:noFill/>
          <a:ln w="19050">
            <a:solidFill>
              <a:srgbClr val="0B2E2C"/>
            </a:solidFill>
            <a:prstDash val="solid"/>
          </a:ln>
        </p:spPr>
        <p:txBody>
          <a:bodyPr/>
          <a:lstStyle/>
          <a:p>
            <a:endParaRPr lang="es-PE"/>
          </a:p>
        </p:txBody>
      </p:sp>
      <p:sp>
        <p:nvSpPr>
          <p:cNvPr id="54" name="Shape 51"/>
          <p:cNvSpPr/>
          <p:nvPr/>
        </p:nvSpPr>
        <p:spPr>
          <a:xfrm>
            <a:off x="9345092" y="2615859"/>
            <a:ext cx="1071143" cy="11942"/>
          </a:xfrm>
          <a:prstGeom prst="line">
            <a:avLst/>
          </a:prstGeom>
          <a:noFill/>
          <a:ln w="19050">
            <a:solidFill>
              <a:srgbClr val="0B2E2C"/>
            </a:solidFill>
            <a:prstDash val="solid"/>
          </a:ln>
        </p:spPr>
        <p:txBody>
          <a:bodyPr/>
          <a:lstStyle/>
          <a:p>
            <a:endParaRPr lang="es-PE"/>
          </a:p>
        </p:txBody>
      </p:sp>
      <p:sp>
        <p:nvSpPr>
          <p:cNvPr id="55" name="Shape 52"/>
          <p:cNvSpPr/>
          <p:nvPr/>
        </p:nvSpPr>
        <p:spPr>
          <a:xfrm flipV="1">
            <a:off x="6131662" y="2603917"/>
            <a:ext cx="1071143" cy="23883"/>
          </a:xfrm>
          <a:prstGeom prst="line">
            <a:avLst/>
          </a:prstGeom>
          <a:noFill/>
          <a:ln w="19050">
            <a:solidFill>
              <a:srgbClr val="E67E22"/>
            </a:solidFill>
            <a:prstDash val="dash"/>
          </a:ln>
        </p:spPr>
        <p:txBody>
          <a:bodyPr/>
          <a:lstStyle/>
          <a:p>
            <a:endParaRPr lang="es-PE"/>
          </a:p>
        </p:txBody>
      </p:sp>
      <p:sp>
        <p:nvSpPr>
          <p:cNvPr id="56" name="Shape 53"/>
          <p:cNvSpPr/>
          <p:nvPr/>
        </p:nvSpPr>
        <p:spPr>
          <a:xfrm>
            <a:off x="7202805" y="2603917"/>
            <a:ext cx="1071143" cy="370190"/>
          </a:xfrm>
          <a:prstGeom prst="line">
            <a:avLst/>
          </a:prstGeom>
          <a:noFill/>
          <a:ln w="19050">
            <a:solidFill>
              <a:srgbClr val="E67E22"/>
            </a:solidFill>
            <a:prstDash val="dash"/>
          </a:ln>
        </p:spPr>
        <p:txBody>
          <a:bodyPr/>
          <a:lstStyle/>
          <a:p>
            <a:endParaRPr lang="es-PE"/>
          </a:p>
        </p:txBody>
      </p:sp>
      <p:sp>
        <p:nvSpPr>
          <p:cNvPr id="57" name="Shape 54"/>
          <p:cNvSpPr/>
          <p:nvPr/>
        </p:nvSpPr>
        <p:spPr>
          <a:xfrm>
            <a:off x="8273948" y="2974108"/>
            <a:ext cx="1071143" cy="0"/>
          </a:xfrm>
          <a:prstGeom prst="line">
            <a:avLst/>
          </a:prstGeom>
          <a:noFill/>
          <a:ln w="19050">
            <a:solidFill>
              <a:srgbClr val="E67E22"/>
            </a:solidFill>
            <a:prstDash val="dash"/>
          </a:ln>
        </p:spPr>
        <p:txBody>
          <a:bodyPr/>
          <a:lstStyle/>
          <a:p>
            <a:endParaRPr lang="es-PE"/>
          </a:p>
        </p:txBody>
      </p:sp>
      <p:sp>
        <p:nvSpPr>
          <p:cNvPr id="58" name="Shape 55"/>
          <p:cNvSpPr/>
          <p:nvPr/>
        </p:nvSpPr>
        <p:spPr>
          <a:xfrm>
            <a:off x="9345092" y="2974108"/>
            <a:ext cx="1071143" cy="23883"/>
          </a:xfrm>
          <a:prstGeom prst="line">
            <a:avLst/>
          </a:prstGeom>
          <a:noFill/>
          <a:ln w="19050">
            <a:solidFill>
              <a:srgbClr val="E67E22"/>
            </a:solidFill>
            <a:prstDash val="dash"/>
          </a:ln>
        </p:spPr>
        <p:txBody>
          <a:bodyPr/>
          <a:lstStyle/>
          <a:p>
            <a:endParaRPr lang="es-PE"/>
          </a:p>
        </p:txBody>
      </p:sp>
      <p:sp>
        <p:nvSpPr>
          <p:cNvPr id="59" name="Text 56"/>
          <p:cNvSpPr txBox="1"/>
          <p:nvPr/>
        </p:nvSpPr>
        <p:spPr>
          <a:xfrm>
            <a:off x="5811622" y="2068384"/>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25,6</a:t>
            </a:r>
            <a:endParaRPr lang="en-US" sz="700"/>
          </a:p>
        </p:txBody>
      </p:sp>
      <p:sp>
        <p:nvSpPr>
          <p:cNvPr id="60" name="Text 57"/>
          <p:cNvSpPr txBox="1"/>
          <p:nvPr/>
        </p:nvSpPr>
        <p:spPr>
          <a:xfrm>
            <a:off x="10096195" y="2426633"/>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22,6</a:t>
            </a:r>
            <a:endParaRPr lang="en-US" sz="700"/>
          </a:p>
        </p:txBody>
      </p:sp>
      <p:sp>
        <p:nvSpPr>
          <p:cNvPr id="61" name="Text 58"/>
          <p:cNvSpPr txBox="1"/>
          <p:nvPr/>
        </p:nvSpPr>
        <p:spPr>
          <a:xfrm>
            <a:off x="5811622" y="268266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22,6</a:t>
            </a:r>
            <a:endParaRPr lang="en-US" sz="700"/>
          </a:p>
        </p:txBody>
      </p:sp>
      <p:sp>
        <p:nvSpPr>
          <p:cNvPr id="62" name="Text 59"/>
          <p:cNvSpPr txBox="1"/>
          <p:nvPr/>
        </p:nvSpPr>
        <p:spPr>
          <a:xfrm>
            <a:off x="10096195" y="3052855"/>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63" name="Text 60"/>
          <p:cNvSpPr txBox="1"/>
          <p:nvPr/>
        </p:nvSpPr>
        <p:spPr>
          <a:xfrm>
            <a:off x="5765902"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64" name="Shape 61"/>
          <p:cNvSpPr/>
          <p:nvPr/>
        </p:nvSpPr>
        <p:spPr>
          <a:xfrm>
            <a:off x="6195670" y="3658871"/>
            <a:ext cx="728899" cy="1434337"/>
          </a:xfrm>
          <a:prstGeom prst="rect">
            <a:avLst/>
          </a:prstGeom>
          <a:solidFill>
            <a:srgbClr val="13807B"/>
          </a:solidFill>
          <a:ln/>
        </p:spPr>
        <p:txBody>
          <a:bodyPr/>
          <a:lstStyle/>
          <a:p>
            <a:endParaRPr lang="es-PE"/>
          </a:p>
        </p:txBody>
      </p:sp>
      <p:sp>
        <p:nvSpPr>
          <p:cNvPr id="65" name="Text 62"/>
          <p:cNvSpPr txBox="1"/>
          <p:nvPr/>
        </p:nvSpPr>
        <p:spPr>
          <a:xfrm>
            <a:off x="6058510" y="347599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87%</a:t>
            </a:r>
            <a:endParaRPr lang="en-US" sz="750"/>
          </a:p>
        </p:txBody>
      </p:sp>
      <p:sp>
        <p:nvSpPr>
          <p:cNvPr id="66" name="Text 63"/>
          <p:cNvSpPr txBox="1"/>
          <p:nvPr/>
        </p:nvSpPr>
        <p:spPr>
          <a:xfrm>
            <a:off x="6012790"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67" name="Shape 64"/>
          <p:cNvSpPr/>
          <p:nvPr/>
        </p:nvSpPr>
        <p:spPr>
          <a:xfrm>
            <a:off x="7052584" y="4087523"/>
            <a:ext cx="728899" cy="1005685"/>
          </a:xfrm>
          <a:prstGeom prst="rect">
            <a:avLst/>
          </a:prstGeom>
          <a:solidFill>
            <a:srgbClr val="13807B"/>
          </a:solidFill>
          <a:ln/>
        </p:spPr>
        <p:txBody>
          <a:bodyPr/>
          <a:lstStyle/>
          <a:p>
            <a:endParaRPr lang="es-PE"/>
          </a:p>
        </p:txBody>
      </p:sp>
      <p:sp>
        <p:nvSpPr>
          <p:cNvPr id="68" name="Text 65"/>
          <p:cNvSpPr txBox="1"/>
          <p:nvPr/>
        </p:nvSpPr>
        <p:spPr>
          <a:xfrm>
            <a:off x="6915424" y="3904643"/>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61%</a:t>
            </a:r>
            <a:endParaRPr lang="en-US" sz="750"/>
          </a:p>
        </p:txBody>
      </p:sp>
      <p:sp>
        <p:nvSpPr>
          <p:cNvPr id="69" name="Text 66"/>
          <p:cNvSpPr txBox="1"/>
          <p:nvPr/>
        </p:nvSpPr>
        <p:spPr>
          <a:xfrm>
            <a:off x="686970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70" name="Shape 67"/>
          <p:cNvSpPr/>
          <p:nvPr/>
        </p:nvSpPr>
        <p:spPr>
          <a:xfrm>
            <a:off x="7909499" y="4104010"/>
            <a:ext cx="728899" cy="989198"/>
          </a:xfrm>
          <a:prstGeom prst="rect">
            <a:avLst/>
          </a:prstGeom>
          <a:solidFill>
            <a:srgbClr val="13807B"/>
          </a:solidFill>
          <a:ln/>
        </p:spPr>
        <p:txBody>
          <a:bodyPr/>
          <a:lstStyle/>
          <a:p>
            <a:endParaRPr lang="es-PE"/>
          </a:p>
        </p:txBody>
      </p:sp>
      <p:sp>
        <p:nvSpPr>
          <p:cNvPr id="71" name="Text 68"/>
          <p:cNvSpPr txBox="1"/>
          <p:nvPr/>
        </p:nvSpPr>
        <p:spPr>
          <a:xfrm>
            <a:off x="7772339" y="3921130"/>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60%</a:t>
            </a:r>
            <a:endParaRPr lang="en-US" sz="750"/>
          </a:p>
        </p:txBody>
      </p:sp>
      <p:sp>
        <p:nvSpPr>
          <p:cNvPr id="72" name="Text 69"/>
          <p:cNvSpPr txBox="1"/>
          <p:nvPr/>
        </p:nvSpPr>
        <p:spPr>
          <a:xfrm>
            <a:off x="772661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73" name="Shape 70"/>
          <p:cNvSpPr/>
          <p:nvPr/>
        </p:nvSpPr>
        <p:spPr>
          <a:xfrm>
            <a:off x="8766414" y="4038064"/>
            <a:ext cx="728899" cy="1055144"/>
          </a:xfrm>
          <a:prstGeom prst="rect">
            <a:avLst/>
          </a:prstGeom>
          <a:solidFill>
            <a:srgbClr val="13807B"/>
          </a:solidFill>
          <a:ln/>
        </p:spPr>
        <p:txBody>
          <a:bodyPr/>
          <a:lstStyle/>
          <a:p>
            <a:endParaRPr lang="es-PE"/>
          </a:p>
        </p:txBody>
      </p:sp>
      <p:sp>
        <p:nvSpPr>
          <p:cNvPr id="74" name="Text 71"/>
          <p:cNvSpPr txBox="1"/>
          <p:nvPr/>
        </p:nvSpPr>
        <p:spPr>
          <a:xfrm>
            <a:off x="8629254" y="385518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64%</a:t>
            </a:r>
            <a:endParaRPr lang="en-US" sz="750"/>
          </a:p>
        </p:txBody>
      </p:sp>
      <p:sp>
        <p:nvSpPr>
          <p:cNvPr id="75" name="Text 72"/>
          <p:cNvSpPr txBox="1"/>
          <p:nvPr/>
        </p:nvSpPr>
        <p:spPr>
          <a:xfrm>
            <a:off x="858353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76" name="Shape 73"/>
          <p:cNvSpPr/>
          <p:nvPr/>
        </p:nvSpPr>
        <p:spPr>
          <a:xfrm>
            <a:off x="9623328" y="3691844"/>
            <a:ext cx="728899" cy="1401364"/>
          </a:xfrm>
          <a:prstGeom prst="rect">
            <a:avLst/>
          </a:prstGeom>
          <a:solidFill>
            <a:srgbClr val="13807B"/>
          </a:solidFill>
          <a:ln/>
        </p:spPr>
        <p:txBody>
          <a:bodyPr/>
          <a:lstStyle/>
          <a:p>
            <a:endParaRPr lang="es-PE"/>
          </a:p>
        </p:txBody>
      </p:sp>
      <p:sp>
        <p:nvSpPr>
          <p:cNvPr id="77" name="Text 74"/>
          <p:cNvSpPr txBox="1"/>
          <p:nvPr/>
        </p:nvSpPr>
        <p:spPr>
          <a:xfrm>
            <a:off x="9486168" y="350896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85%</a:t>
            </a:r>
            <a:endParaRPr lang="en-US" sz="750"/>
          </a:p>
        </p:txBody>
      </p:sp>
      <p:sp>
        <p:nvSpPr>
          <p:cNvPr id="78" name="Text 75"/>
          <p:cNvSpPr txBox="1"/>
          <p:nvPr/>
        </p:nvSpPr>
        <p:spPr>
          <a:xfrm>
            <a:off x="944044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79" name="Shape 76"/>
          <p:cNvSpPr/>
          <p:nvPr/>
        </p:nvSpPr>
        <p:spPr>
          <a:xfrm>
            <a:off x="6095086" y="5093208"/>
            <a:ext cx="4357726" cy="0"/>
          </a:xfrm>
          <a:prstGeom prst="line">
            <a:avLst/>
          </a:prstGeom>
          <a:noFill/>
          <a:ln w="9525">
            <a:solidFill>
              <a:srgbClr val="D5DFDE"/>
            </a:solidFill>
            <a:prstDash val="solid"/>
          </a:ln>
        </p:spPr>
        <p:txBody>
          <a:bodyPr/>
          <a:lstStyle/>
          <a:p>
            <a:endParaRPr lang="es-PE"/>
          </a:p>
        </p:txBody>
      </p:sp>
      <p:sp>
        <p:nvSpPr>
          <p:cNvPr id="80" name="Shape 77"/>
          <p:cNvSpPr/>
          <p:nvPr/>
        </p:nvSpPr>
        <p:spPr>
          <a:xfrm>
            <a:off x="10763707" y="1426464"/>
            <a:ext cx="4833214" cy="329184"/>
          </a:xfrm>
          <a:prstGeom prst="rect">
            <a:avLst/>
          </a:prstGeom>
          <a:solidFill>
            <a:srgbClr val="13807B"/>
          </a:solidFill>
          <a:ln/>
        </p:spPr>
        <p:txBody>
          <a:bodyPr/>
          <a:lstStyle/>
          <a:p>
            <a:endParaRPr lang="es-PE"/>
          </a:p>
        </p:txBody>
      </p:sp>
      <p:sp>
        <p:nvSpPr>
          <p:cNvPr id="81" name="Text 78"/>
          <p:cNvSpPr txBox="1"/>
          <p:nvPr/>
        </p:nvSpPr>
        <p:spPr>
          <a:xfrm>
            <a:off x="10873435" y="1426464"/>
            <a:ext cx="2029950" cy="329184"/>
          </a:xfrm>
          <a:prstGeom prst="rect">
            <a:avLst/>
          </a:prstGeom>
          <a:noFill/>
          <a:ln/>
        </p:spPr>
        <p:txBody>
          <a:bodyPr wrap="square" lIns="0" tIns="0" rIns="0" bIns="0" rtlCol="0" anchor="ctr"/>
          <a:lstStyle/>
          <a:p>
            <a:pPr marL="0" indent="0">
              <a:buNone/>
            </a:pPr>
            <a:r>
              <a:rPr lang="en-US" sz="1100" b="1">
                <a:solidFill>
                  <a:srgbClr val="FFFFFF"/>
                </a:solidFill>
                <a:latin typeface="Arial" pitchFamily="34" charset="0"/>
                <a:ea typeface="Arial" pitchFamily="34" charset="-122"/>
                <a:cs typeface="Arial" pitchFamily="34" charset="-120"/>
              </a:rPr>
              <a:t>Próximo Recurrente</a:t>
            </a:r>
            <a:endParaRPr lang="en-US" sz="1100"/>
          </a:p>
        </p:txBody>
      </p:sp>
      <p:sp>
        <p:nvSpPr>
          <p:cNvPr id="82" name="Shape 79"/>
          <p:cNvSpPr/>
          <p:nvPr/>
        </p:nvSpPr>
        <p:spPr>
          <a:xfrm>
            <a:off x="12889014" y="1472184"/>
            <a:ext cx="1401632" cy="237744"/>
          </a:xfrm>
          <a:prstGeom prst="roundRect">
            <a:avLst>
              <a:gd name="adj" fmla="val 23077"/>
            </a:avLst>
          </a:prstGeom>
          <a:solidFill>
            <a:srgbClr val="0B2E2C"/>
          </a:solidFill>
          <a:ln/>
        </p:spPr>
        <p:txBody>
          <a:bodyPr/>
          <a:lstStyle/>
          <a:p>
            <a:endParaRPr lang="es-PE"/>
          </a:p>
        </p:txBody>
      </p:sp>
      <p:sp>
        <p:nvSpPr>
          <p:cNvPr id="83" name="Text 80"/>
          <p:cNvSpPr txBox="1"/>
          <p:nvPr/>
        </p:nvSpPr>
        <p:spPr>
          <a:xfrm>
            <a:off x="12889014" y="1472184"/>
            <a:ext cx="1401632"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brecha TEA 4,6 pp</a:t>
            </a:r>
            <a:endParaRPr lang="en-US" sz="750"/>
          </a:p>
        </p:txBody>
      </p:sp>
      <p:sp>
        <p:nvSpPr>
          <p:cNvPr id="84" name="Shape 81"/>
          <p:cNvSpPr/>
          <p:nvPr/>
        </p:nvSpPr>
        <p:spPr>
          <a:xfrm>
            <a:off x="14363798" y="1472184"/>
            <a:ext cx="1159971" cy="237744"/>
          </a:xfrm>
          <a:prstGeom prst="roundRect">
            <a:avLst>
              <a:gd name="adj" fmla="val 23077"/>
            </a:avLst>
          </a:prstGeom>
          <a:solidFill>
            <a:srgbClr val="FFFFFF"/>
          </a:solidFill>
          <a:ln/>
        </p:spPr>
        <p:txBody>
          <a:bodyPr/>
          <a:lstStyle/>
          <a:p>
            <a:endParaRPr lang="es-PE"/>
          </a:p>
        </p:txBody>
      </p:sp>
      <p:sp>
        <p:nvSpPr>
          <p:cNvPr id="85" name="Text 82"/>
          <p:cNvSpPr txBox="1"/>
          <p:nvPr/>
        </p:nvSpPr>
        <p:spPr>
          <a:xfrm>
            <a:off x="14363798" y="1472184"/>
            <a:ext cx="1159971" cy="237744"/>
          </a:xfrm>
          <a:prstGeom prst="rect">
            <a:avLst/>
          </a:prstGeom>
          <a:noFill/>
          <a:ln/>
        </p:spPr>
        <p:txBody>
          <a:bodyPr wrap="square" lIns="0" tIns="0" rIns="0" bIns="0" rtlCol="0" anchor="ctr"/>
          <a:lstStyle/>
          <a:p>
            <a:pPr marL="0" indent="0" algn="ctr">
              <a:buNone/>
            </a:pPr>
            <a:r>
              <a:rPr lang="en-US" sz="750" b="1">
                <a:solidFill>
                  <a:srgbClr val="13807B"/>
                </a:solidFill>
                <a:latin typeface="Arial" pitchFamily="34" charset="0"/>
                <a:ea typeface="Arial" pitchFamily="34" charset="-122"/>
                <a:cs typeface="Arial" pitchFamily="34" charset="-120"/>
              </a:rPr>
              <a:t>share +6 pp</a:t>
            </a:r>
            <a:endParaRPr lang="en-US" sz="750"/>
          </a:p>
        </p:txBody>
      </p:sp>
      <p:sp>
        <p:nvSpPr>
          <p:cNvPr id="86" name="Shape 83"/>
          <p:cNvSpPr/>
          <p:nvPr/>
        </p:nvSpPr>
        <p:spPr>
          <a:xfrm>
            <a:off x="10763707" y="1755648"/>
            <a:ext cx="4833214" cy="3776472"/>
          </a:xfrm>
          <a:prstGeom prst="rect">
            <a:avLst/>
          </a:prstGeom>
          <a:solidFill>
            <a:srgbClr val="FFFFFF"/>
          </a:solidFill>
          <a:ln w="9525">
            <a:solidFill>
              <a:srgbClr val="D5DFDE"/>
            </a:solidFill>
            <a:prstDash val="solid"/>
          </a:ln>
        </p:spPr>
        <p:txBody>
          <a:bodyPr/>
          <a:lstStyle/>
          <a:p>
            <a:endParaRPr lang="es-PE"/>
          </a:p>
        </p:txBody>
      </p:sp>
      <p:sp>
        <p:nvSpPr>
          <p:cNvPr id="87" name="Text 84"/>
          <p:cNvSpPr txBox="1"/>
          <p:nvPr/>
        </p:nvSpPr>
        <p:spPr>
          <a:xfrm>
            <a:off x="10818571" y="1883664"/>
            <a:ext cx="365760" cy="1231697"/>
          </a:xfrm>
          <a:prstGeom prst="rect">
            <a:avLst/>
          </a:prstGeom>
          <a:noFill/>
          <a:ln/>
        </p:spPr>
        <p:txBody>
          <a:bodyPr wrap="square" lIns="0" tIns="0" rIns="0" bIns="0" rtlCol="0" anchor="ctr"/>
          <a:lstStyle/>
          <a:p>
            <a:pPr marL="0" indent="0" algn="l">
              <a:lnSpc>
                <a:spcPct val="90000"/>
              </a:lnSpc>
              <a:buNone/>
            </a:pPr>
            <a:r>
              <a:rPr lang="en-US" sz="700">
                <a:solidFill>
                  <a:srgbClr val="6E7E7D"/>
                </a:solidFill>
                <a:latin typeface="Arial" pitchFamily="34" charset="0"/>
                <a:ea typeface="Arial" pitchFamily="34" charset="-122"/>
                <a:cs typeface="Arial" pitchFamily="34" charset="-120"/>
              </a:rPr>
              <a:t>TEA</a:t>
            </a:r>
            <a:endParaRPr lang="en-US" sz="700"/>
          </a:p>
          <a:p>
            <a:pPr marL="0" indent="0" algn="l">
              <a:lnSpc>
                <a:spcPct val="90000"/>
              </a:lnSpc>
              <a:buNone/>
            </a:pPr>
            <a:r>
              <a:rPr lang="en-US" sz="700">
                <a:solidFill>
                  <a:srgbClr val="6E7E7D"/>
                </a:solidFill>
                <a:latin typeface="Arial" pitchFamily="34" charset="0"/>
                <a:ea typeface="Arial" pitchFamily="34" charset="-122"/>
                <a:cs typeface="Arial" pitchFamily="34" charset="-120"/>
              </a:rPr>
              <a:t>%</a:t>
            </a:r>
            <a:endParaRPr lang="en-US" sz="700"/>
          </a:p>
        </p:txBody>
      </p:sp>
      <p:sp>
        <p:nvSpPr>
          <p:cNvPr id="88" name="Shape 85"/>
          <p:cNvSpPr/>
          <p:nvPr/>
        </p:nvSpPr>
        <p:spPr>
          <a:xfrm flipV="1">
            <a:off x="11184331" y="2147602"/>
            <a:ext cx="1071143" cy="151984"/>
          </a:xfrm>
          <a:prstGeom prst="line">
            <a:avLst/>
          </a:prstGeom>
          <a:noFill/>
          <a:ln w="19050">
            <a:solidFill>
              <a:srgbClr val="0B2E2C"/>
            </a:solidFill>
            <a:prstDash val="solid"/>
          </a:ln>
        </p:spPr>
        <p:txBody>
          <a:bodyPr/>
          <a:lstStyle/>
          <a:p>
            <a:endParaRPr lang="es-PE"/>
          </a:p>
        </p:txBody>
      </p:sp>
      <p:sp>
        <p:nvSpPr>
          <p:cNvPr id="89" name="Shape 86"/>
          <p:cNvSpPr/>
          <p:nvPr/>
        </p:nvSpPr>
        <p:spPr>
          <a:xfrm>
            <a:off x="12255475" y="2147602"/>
            <a:ext cx="1071143" cy="172249"/>
          </a:xfrm>
          <a:prstGeom prst="line">
            <a:avLst/>
          </a:prstGeom>
          <a:noFill/>
          <a:ln w="19050">
            <a:solidFill>
              <a:srgbClr val="0B2E2C"/>
            </a:solidFill>
            <a:prstDash val="solid"/>
          </a:ln>
        </p:spPr>
        <p:txBody>
          <a:bodyPr/>
          <a:lstStyle/>
          <a:p>
            <a:endParaRPr lang="es-PE"/>
          </a:p>
        </p:txBody>
      </p:sp>
      <p:sp>
        <p:nvSpPr>
          <p:cNvPr id="90" name="Shape 87"/>
          <p:cNvSpPr/>
          <p:nvPr/>
        </p:nvSpPr>
        <p:spPr>
          <a:xfrm>
            <a:off x="13326618" y="2319851"/>
            <a:ext cx="1071143" cy="202646"/>
          </a:xfrm>
          <a:prstGeom prst="line">
            <a:avLst/>
          </a:prstGeom>
          <a:noFill/>
          <a:ln w="19050">
            <a:solidFill>
              <a:srgbClr val="0B2E2C"/>
            </a:solidFill>
            <a:prstDash val="solid"/>
          </a:ln>
        </p:spPr>
        <p:txBody>
          <a:bodyPr/>
          <a:lstStyle/>
          <a:p>
            <a:endParaRPr lang="es-PE"/>
          </a:p>
        </p:txBody>
      </p:sp>
      <p:sp>
        <p:nvSpPr>
          <p:cNvPr id="91" name="Shape 88"/>
          <p:cNvSpPr/>
          <p:nvPr/>
        </p:nvSpPr>
        <p:spPr>
          <a:xfrm>
            <a:off x="14397761" y="2522497"/>
            <a:ext cx="1071143" cy="50661"/>
          </a:xfrm>
          <a:prstGeom prst="line">
            <a:avLst/>
          </a:prstGeom>
          <a:noFill/>
          <a:ln w="19050">
            <a:solidFill>
              <a:srgbClr val="0B2E2C"/>
            </a:solidFill>
            <a:prstDash val="solid"/>
          </a:ln>
        </p:spPr>
        <p:txBody>
          <a:bodyPr/>
          <a:lstStyle/>
          <a:p>
            <a:endParaRPr lang="es-PE"/>
          </a:p>
        </p:txBody>
      </p:sp>
      <p:sp>
        <p:nvSpPr>
          <p:cNvPr id="92" name="Shape 89"/>
          <p:cNvSpPr/>
          <p:nvPr/>
        </p:nvSpPr>
        <p:spPr>
          <a:xfrm>
            <a:off x="11184331" y="2694746"/>
            <a:ext cx="1071143" cy="70926"/>
          </a:xfrm>
          <a:prstGeom prst="line">
            <a:avLst/>
          </a:prstGeom>
          <a:noFill/>
          <a:ln w="19050">
            <a:solidFill>
              <a:srgbClr val="E67E22"/>
            </a:solidFill>
            <a:prstDash val="dash"/>
          </a:ln>
        </p:spPr>
        <p:txBody>
          <a:bodyPr/>
          <a:lstStyle/>
          <a:p>
            <a:endParaRPr lang="es-PE"/>
          </a:p>
        </p:txBody>
      </p:sp>
      <p:sp>
        <p:nvSpPr>
          <p:cNvPr id="93" name="Shape 90"/>
          <p:cNvSpPr/>
          <p:nvPr/>
        </p:nvSpPr>
        <p:spPr>
          <a:xfrm>
            <a:off x="12255475" y="2765672"/>
            <a:ext cx="1071143" cy="70926"/>
          </a:xfrm>
          <a:prstGeom prst="line">
            <a:avLst/>
          </a:prstGeom>
          <a:noFill/>
          <a:ln w="19050">
            <a:solidFill>
              <a:srgbClr val="E67E22"/>
            </a:solidFill>
            <a:prstDash val="dash"/>
          </a:ln>
        </p:spPr>
        <p:txBody>
          <a:bodyPr/>
          <a:lstStyle/>
          <a:p>
            <a:endParaRPr lang="es-PE"/>
          </a:p>
        </p:txBody>
      </p:sp>
      <p:sp>
        <p:nvSpPr>
          <p:cNvPr id="94" name="Shape 91"/>
          <p:cNvSpPr/>
          <p:nvPr/>
        </p:nvSpPr>
        <p:spPr>
          <a:xfrm>
            <a:off x="13326618" y="2836598"/>
            <a:ext cx="1071143" cy="172249"/>
          </a:xfrm>
          <a:prstGeom prst="line">
            <a:avLst/>
          </a:prstGeom>
          <a:noFill/>
          <a:ln w="19050">
            <a:solidFill>
              <a:srgbClr val="E67E22"/>
            </a:solidFill>
            <a:prstDash val="dash"/>
          </a:ln>
        </p:spPr>
        <p:txBody>
          <a:bodyPr/>
          <a:lstStyle/>
          <a:p>
            <a:endParaRPr lang="es-PE"/>
          </a:p>
        </p:txBody>
      </p:sp>
      <p:sp>
        <p:nvSpPr>
          <p:cNvPr id="95" name="Shape 92"/>
          <p:cNvSpPr/>
          <p:nvPr/>
        </p:nvSpPr>
        <p:spPr>
          <a:xfrm flipV="1">
            <a:off x="14397761" y="2897392"/>
            <a:ext cx="1071143" cy="111455"/>
          </a:xfrm>
          <a:prstGeom prst="line">
            <a:avLst/>
          </a:prstGeom>
          <a:noFill/>
          <a:ln w="19050">
            <a:solidFill>
              <a:srgbClr val="E67E22"/>
            </a:solidFill>
            <a:prstDash val="dash"/>
          </a:ln>
        </p:spPr>
        <p:txBody>
          <a:bodyPr/>
          <a:lstStyle/>
          <a:p>
            <a:endParaRPr lang="es-PE"/>
          </a:p>
        </p:txBody>
      </p:sp>
      <p:sp>
        <p:nvSpPr>
          <p:cNvPr id="96" name="Text 93"/>
          <p:cNvSpPr txBox="1"/>
          <p:nvPr/>
        </p:nvSpPr>
        <p:spPr>
          <a:xfrm>
            <a:off x="10864291" y="2098419"/>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25,4</a:t>
            </a:r>
            <a:endParaRPr lang="en-US" sz="700"/>
          </a:p>
        </p:txBody>
      </p:sp>
      <p:sp>
        <p:nvSpPr>
          <p:cNvPr id="97" name="Text 94"/>
          <p:cNvSpPr txBox="1"/>
          <p:nvPr/>
        </p:nvSpPr>
        <p:spPr>
          <a:xfrm>
            <a:off x="15148865" y="2371991"/>
            <a:ext cx="640080" cy="146304"/>
          </a:xfrm>
          <a:prstGeom prst="rect">
            <a:avLst/>
          </a:prstGeom>
          <a:noFill/>
          <a:ln/>
        </p:spPr>
        <p:txBody>
          <a:bodyPr wrap="square" lIns="0" tIns="0" rIns="0" bIns="0" rtlCol="0" anchor="ctr"/>
          <a:lstStyle/>
          <a:p>
            <a:pPr marL="0" indent="0" algn="ctr">
              <a:buNone/>
            </a:pPr>
            <a:r>
              <a:rPr lang="en-US" sz="700" b="1">
                <a:solidFill>
                  <a:srgbClr val="0B2E2C"/>
                </a:solidFill>
                <a:latin typeface="Arial" pitchFamily="34" charset="0"/>
                <a:ea typeface="Arial" pitchFamily="34" charset="-122"/>
                <a:cs typeface="Arial" pitchFamily="34" charset="-120"/>
              </a:rPr>
              <a:t>22,7</a:t>
            </a:r>
            <a:endParaRPr lang="en-US" sz="700"/>
          </a:p>
        </p:txBody>
      </p:sp>
      <p:sp>
        <p:nvSpPr>
          <p:cNvPr id="98" name="Text 95"/>
          <p:cNvSpPr txBox="1"/>
          <p:nvPr/>
        </p:nvSpPr>
        <p:spPr>
          <a:xfrm>
            <a:off x="10864291" y="2749610"/>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21,5</a:t>
            </a:r>
            <a:endParaRPr lang="en-US" sz="700"/>
          </a:p>
        </p:txBody>
      </p:sp>
      <p:sp>
        <p:nvSpPr>
          <p:cNvPr id="99" name="Text 96"/>
          <p:cNvSpPr txBox="1"/>
          <p:nvPr/>
        </p:nvSpPr>
        <p:spPr>
          <a:xfrm>
            <a:off x="15148865" y="2952256"/>
            <a:ext cx="640080" cy="146304"/>
          </a:xfrm>
          <a:prstGeom prst="rect">
            <a:avLst/>
          </a:prstGeom>
          <a:noFill/>
          <a:ln/>
        </p:spPr>
        <p:txBody>
          <a:bodyPr wrap="square" lIns="0" tIns="0" rIns="0" bIns="0" rtlCol="0" anchor="ctr"/>
          <a:lstStyle/>
          <a:p>
            <a:pPr marL="0" indent="0" algn="ctr">
              <a:buNone/>
            </a:pPr>
            <a:r>
              <a:rPr lang="en-US" sz="700" b="1">
                <a:solidFill>
                  <a:srgbClr val="E67E22"/>
                </a:solidFill>
                <a:latin typeface="Arial" pitchFamily="34" charset="0"/>
                <a:ea typeface="Arial" pitchFamily="34" charset="-122"/>
                <a:cs typeface="Arial" pitchFamily="34" charset="-120"/>
              </a:rPr>
              <a:t>19,5</a:t>
            </a:r>
            <a:endParaRPr lang="en-US" sz="700"/>
          </a:p>
        </p:txBody>
      </p:sp>
      <p:sp>
        <p:nvSpPr>
          <p:cNvPr id="100" name="Text 97"/>
          <p:cNvSpPr txBox="1"/>
          <p:nvPr/>
        </p:nvSpPr>
        <p:spPr>
          <a:xfrm>
            <a:off x="10818571" y="3261665"/>
            <a:ext cx="365760" cy="2014423"/>
          </a:xfrm>
          <a:prstGeom prst="rect">
            <a:avLst/>
          </a:prstGeom>
          <a:noFill/>
          <a:ln/>
        </p:spPr>
        <p:txBody>
          <a:bodyPr wrap="square" lIns="0" tIns="0" rIns="0" bIns="0" rtlCol="0" anchor="t"/>
          <a:lstStyle/>
          <a:p>
            <a:pPr marL="0" indent="0" algn="l">
              <a:buNone/>
            </a:pPr>
            <a:r>
              <a:rPr lang="en-US" sz="700">
                <a:solidFill>
                  <a:srgbClr val="6E7E7D"/>
                </a:solidFill>
                <a:latin typeface="Arial" pitchFamily="34" charset="0"/>
                <a:ea typeface="Arial" pitchFamily="34" charset="-122"/>
                <a:cs typeface="Arial" pitchFamily="34" charset="-120"/>
              </a:rPr>
              <a:t>SHARE</a:t>
            </a:r>
            <a:endParaRPr lang="en-US" sz="700"/>
          </a:p>
        </p:txBody>
      </p:sp>
      <p:sp>
        <p:nvSpPr>
          <p:cNvPr id="101" name="Shape 98"/>
          <p:cNvSpPr/>
          <p:nvPr/>
        </p:nvSpPr>
        <p:spPr>
          <a:xfrm>
            <a:off x="11248339" y="3559951"/>
            <a:ext cx="728899" cy="1533257"/>
          </a:xfrm>
          <a:prstGeom prst="rect">
            <a:avLst/>
          </a:prstGeom>
          <a:solidFill>
            <a:srgbClr val="13807B"/>
          </a:solidFill>
          <a:ln/>
        </p:spPr>
        <p:txBody>
          <a:bodyPr/>
          <a:lstStyle/>
          <a:p>
            <a:endParaRPr lang="es-PE"/>
          </a:p>
        </p:txBody>
      </p:sp>
      <p:sp>
        <p:nvSpPr>
          <p:cNvPr id="102" name="Text 99"/>
          <p:cNvSpPr txBox="1"/>
          <p:nvPr/>
        </p:nvSpPr>
        <p:spPr>
          <a:xfrm>
            <a:off x="11111179" y="337707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93%</a:t>
            </a:r>
            <a:endParaRPr lang="en-US" sz="750"/>
          </a:p>
        </p:txBody>
      </p:sp>
      <p:sp>
        <p:nvSpPr>
          <p:cNvPr id="103" name="Text 100"/>
          <p:cNvSpPr txBox="1"/>
          <p:nvPr/>
        </p:nvSpPr>
        <p:spPr>
          <a:xfrm>
            <a:off x="1106545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2025Q2</a:t>
            </a:r>
            <a:endParaRPr lang="en-US" sz="650"/>
          </a:p>
        </p:txBody>
      </p:sp>
      <p:sp>
        <p:nvSpPr>
          <p:cNvPr id="104" name="Shape 101"/>
          <p:cNvSpPr/>
          <p:nvPr/>
        </p:nvSpPr>
        <p:spPr>
          <a:xfrm>
            <a:off x="12105254" y="3675358"/>
            <a:ext cx="728899" cy="1417850"/>
          </a:xfrm>
          <a:prstGeom prst="rect">
            <a:avLst/>
          </a:prstGeom>
          <a:solidFill>
            <a:srgbClr val="13807B"/>
          </a:solidFill>
          <a:ln/>
        </p:spPr>
        <p:txBody>
          <a:bodyPr/>
          <a:lstStyle/>
          <a:p>
            <a:endParaRPr lang="es-PE"/>
          </a:p>
        </p:txBody>
      </p:sp>
      <p:sp>
        <p:nvSpPr>
          <p:cNvPr id="105" name="Text 102"/>
          <p:cNvSpPr txBox="1"/>
          <p:nvPr/>
        </p:nvSpPr>
        <p:spPr>
          <a:xfrm>
            <a:off x="11968094" y="349247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86%</a:t>
            </a:r>
            <a:endParaRPr lang="en-US" sz="750"/>
          </a:p>
        </p:txBody>
      </p:sp>
      <p:sp>
        <p:nvSpPr>
          <p:cNvPr id="106" name="Text 103"/>
          <p:cNvSpPr txBox="1"/>
          <p:nvPr/>
        </p:nvSpPr>
        <p:spPr>
          <a:xfrm>
            <a:off x="11922374"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2025Q3</a:t>
            </a:r>
            <a:endParaRPr lang="en-US" sz="650"/>
          </a:p>
        </p:txBody>
      </p:sp>
      <p:sp>
        <p:nvSpPr>
          <p:cNvPr id="107" name="Shape 104"/>
          <p:cNvSpPr/>
          <p:nvPr/>
        </p:nvSpPr>
        <p:spPr>
          <a:xfrm>
            <a:off x="12962169" y="3939144"/>
            <a:ext cx="728899" cy="1154064"/>
          </a:xfrm>
          <a:prstGeom prst="rect">
            <a:avLst/>
          </a:prstGeom>
          <a:solidFill>
            <a:srgbClr val="13807B"/>
          </a:solidFill>
          <a:ln/>
        </p:spPr>
        <p:txBody>
          <a:bodyPr/>
          <a:lstStyle/>
          <a:p>
            <a:endParaRPr lang="es-PE"/>
          </a:p>
        </p:txBody>
      </p:sp>
      <p:sp>
        <p:nvSpPr>
          <p:cNvPr id="108" name="Text 105"/>
          <p:cNvSpPr txBox="1"/>
          <p:nvPr/>
        </p:nvSpPr>
        <p:spPr>
          <a:xfrm>
            <a:off x="12825009" y="3756264"/>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70%</a:t>
            </a:r>
            <a:endParaRPr lang="en-US" sz="750"/>
          </a:p>
        </p:txBody>
      </p:sp>
      <p:sp>
        <p:nvSpPr>
          <p:cNvPr id="109" name="Text 106"/>
          <p:cNvSpPr txBox="1"/>
          <p:nvPr/>
        </p:nvSpPr>
        <p:spPr>
          <a:xfrm>
            <a:off x="12779289"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2025Q4</a:t>
            </a:r>
            <a:endParaRPr lang="en-US" sz="650"/>
          </a:p>
        </p:txBody>
      </p:sp>
      <p:sp>
        <p:nvSpPr>
          <p:cNvPr id="110" name="Shape 107"/>
          <p:cNvSpPr/>
          <p:nvPr/>
        </p:nvSpPr>
        <p:spPr>
          <a:xfrm>
            <a:off x="13819083" y="3724818"/>
            <a:ext cx="728899" cy="1368390"/>
          </a:xfrm>
          <a:prstGeom prst="rect">
            <a:avLst/>
          </a:prstGeom>
          <a:solidFill>
            <a:srgbClr val="13807B"/>
          </a:solidFill>
          <a:ln/>
        </p:spPr>
        <p:txBody>
          <a:bodyPr/>
          <a:lstStyle/>
          <a:p>
            <a:endParaRPr lang="es-PE"/>
          </a:p>
        </p:txBody>
      </p:sp>
      <p:sp>
        <p:nvSpPr>
          <p:cNvPr id="111" name="Text 108"/>
          <p:cNvSpPr txBox="1"/>
          <p:nvPr/>
        </p:nvSpPr>
        <p:spPr>
          <a:xfrm>
            <a:off x="13681923" y="3541938"/>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83%</a:t>
            </a:r>
            <a:endParaRPr lang="en-US" sz="750"/>
          </a:p>
        </p:txBody>
      </p:sp>
      <p:sp>
        <p:nvSpPr>
          <p:cNvPr id="112" name="Text 109"/>
          <p:cNvSpPr txBox="1"/>
          <p:nvPr/>
        </p:nvSpPr>
        <p:spPr>
          <a:xfrm>
            <a:off x="13636203"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2026Q1</a:t>
            </a:r>
            <a:endParaRPr lang="en-US" sz="650"/>
          </a:p>
        </p:txBody>
      </p:sp>
      <p:sp>
        <p:nvSpPr>
          <p:cNvPr id="113" name="Shape 110"/>
          <p:cNvSpPr/>
          <p:nvPr/>
        </p:nvSpPr>
        <p:spPr>
          <a:xfrm>
            <a:off x="14675998" y="3461031"/>
            <a:ext cx="728899" cy="1632177"/>
          </a:xfrm>
          <a:prstGeom prst="rect">
            <a:avLst/>
          </a:prstGeom>
          <a:solidFill>
            <a:srgbClr val="13807B"/>
          </a:solidFill>
          <a:ln/>
        </p:spPr>
        <p:txBody>
          <a:bodyPr/>
          <a:lstStyle/>
          <a:p>
            <a:endParaRPr lang="es-PE"/>
          </a:p>
        </p:txBody>
      </p:sp>
      <p:sp>
        <p:nvSpPr>
          <p:cNvPr id="114" name="Text 111"/>
          <p:cNvSpPr txBox="1"/>
          <p:nvPr/>
        </p:nvSpPr>
        <p:spPr>
          <a:xfrm>
            <a:off x="14538838" y="3278151"/>
            <a:ext cx="1003219" cy="164592"/>
          </a:xfrm>
          <a:prstGeom prst="rect">
            <a:avLst/>
          </a:prstGeom>
          <a:noFill/>
          <a:ln/>
        </p:spPr>
        <p:txBody>
          <a:bodyPr wrap="square" lIns="0" tIns="0" rIns="0" bIns="0" rtlCol="0" anchor="ctr"/>
          <a:lstStyle/>
          <a:p>
            <a:pPr marL="0" indent="0" algn="ctr">
              <a:buNone/>
            </a:pPr>
            <a:r>
              <a:rPr lang="en-US" sz="750" b="1">
                <a:solidFill>
                  <a:srgbClr val="0B2E2C"/>
                </a:solidFill>
                <a:latin typeface="Arial" pitchFamily="34" charset="0"/>
                <a:ea typeface="Arial" pitchFamily="34" charset="-122"/>
                <a:cs typeface="Arial" pitchFamily="34" charset="-120"/>
              </a:rPr>
              <a:t>99%</a:t>
            </a:r>
            <a:endParaRPr lang="en-US" sz="750"/>
          </a:p>
        </p:txBody>
      </p:sp>
      <p:sp>
        <p:nvSpPr>
          <p:cNvPr id="115" name="Text 112"/>
          <p:cNvSpPr txBox="1"/>
          <p:nvPr/>
        </p:nvSpPr>
        <p:spPr>
          <a:xfrm>
            <a:off x="14493118" y="5129784"/>
            <a:ext cx="1094659" cy="164592"/>
          </a:xfrm>
          <a:prstGeom prst="rect">
            <a:avLst/>
          </a:prstGeom>
          <a:noFill/>
          <a:ln/>
        </p:spPr>
        <p:txBody>
          <a:bodyPr wrap="square" lIns="0" tIns="0" rIns="0" bIns="0" rtlCol="0" anchor="ctr"/>
          <a:lstStyle/>
          <a:p>
            <a:pPr marL="0" indent="0" algn="ctr">
              <a:buNone/>
            </a:pPr>
            <a:r>
              <a:rPr lang="en-US" sz="650">
                <a:solidFill>
                  <a:srgbClr val="6E7E7D"/>
                </a:solidFill>
                <a:latin typeface="Arial" pitchFamily="34" charset="0"/>
                <a:ea typeface="Arial" pitchFamily="34" charset="-122"/>
                <a:cs typeface="Arial" pitchFamily="34" charset="-120"/>
              </a:rPr>
              <a:t>2026Q2</a:t>
            </a:r>
            <a:endParaRPr lang="en-US" sz="650"/>
          </a:p>
        </p:txBody>
      </p:sp>
      <p:sp>
        <p:nvSpPr>
          <p:cNvPr id="116" name="Shape 113"/>
          <p:cNvSpPr/>
          <p:nvPr/>
        </p:nvSpPr>
        <p:spPr>
          <a:xfrm>
            <a:off x="11147755" y="5093208"/>
            <a:ext cx="4357726" cy="0"/>
          </a:xfrm>
          <a:prstGeom prst="line">
            <a:avLst/>
          </a:prstGeom>
          <a:noFill/>
          <a:ln w="9525">
            <a:solidFill>
              <a:srgbClr val="D5DFDE"/>
            </a:solidFill>
            <a:prstDash val="solid"/>
          </a:ln>
        </p:spPr>
        <p:txBody>
          <a:bodyPr/>
          <a:lstStyle/>
          <a:p>
            <a:endParaRPr lang="es-PE"/>
          </a:p>
        </p:txBody>
      </p:sp>
      <p:sp>
        <p:nvSpPr>
          <p:cNvPr id="117" name="Shape 114"/>
          <p:cNvSpPr/>
          <p:nvPr/>
        </p:nvSpPr>
        <p:spPr>
          <a:xfrm>
            <a:off x="658368" y="5623560"/>
            <a:ext cx="201168" cy="128016"/>
          </a:xfrm>
          <a:prstGeom prst="rect">
            <a:avLst/>
          </a:prstGeom>
          <a:solidFill>
            <a:srgbClr val="13807B"/>
          </a:solidFill>
          <a:ln/>
        </p:spPr>
        <p:txBody>
          <a:bodyPr/>
          <a:lstStyle/>
          <a:p>
            <a:endParaRPr lang="es-PE"/>
          </a:p>
        </p:txBody>
      </p:sp>
      <p:sp>
        <p:nvSpPr>
          <p:cNvPr id="118" name="Text 115"/>
          <p:cNvSpPr txBox="1"/>
          <p:nvPr/>
        </p:nvSpPr>
        <p:spPr>
          <a:xfrm>
            <a:off x="896112" y="5586984"/>
            <a:ext cx="182880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Share · sin gestión (V4)</a:t>
            </a:r>
            <a:endParaRPr lang="en-US" sz="850"/>
          </a:p>
        </p:txBody>
      </p:sp>
      <p:sp>
        <p:nvSpPr>
          <p:cNvPr id="119" name="Shape 116"/>
          <p:cNvSpPr/>
          <p:nvPr/>
        </p:nvSpPr>
        <p:spPr>
          <a:xfrm>
            <a:off x="2788920" y="5687568"/>
            <a:ext cx="320040" cy="0"/>
          </a:xfrm>
          <a:prstGeom prst="line">
            <a:avLst/>
          </a:prstGeom>
          <a:noFill/>
          <a:ln w="22225">
            <a:solidFill>
              <a:srgbClr val="0B2E2C"/>
            </a:solidFill>
            <a:prstDash val="solid"/>
          </a:ln>
        </p:spPr>
        <p:txBody>
          <a:bodyPr/>
          <a:lstStyle/>
          <a:p>
            <a:endParaRPr lang="es-PE"/>
          </a:p>
        </p:txBody>
      </p:sp>
      <p:sp>
        <p:nvSpPr>
          <p:cNvPr id="120" name="Text 117"/>
          <p:cNvSpPr txBox="1"/>
          <p:nvPr/>
        </p:nvSpPr>
        <p:spPr>
          <a:xfrm>
            <a:off x="3154680" y="5586984"/>
            <a:ext cx="128016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Ofertada</a:t>
            </a:r>
            <a:endParaRPr lang="en-US" sz="850"/>
          </a:p>
        </p:txBody>
      </p:sp>
      <p:sp>
        <p:nvSpPr>
          <p:cNvPr id="121" name="Shape 118"/>
          <p:cNvSpPr/>
          <p:nvPr/>
        </p:nvSpPr>
        <p:spPr>
          <a:xfrm>
            <a:off x="4434840" y="5687568"/>
            <a:ext cx="320040" cy="0"/>
          </a:xfrm>
          <a:prstGeom prst="line">
            <a:avLst/>
          </a:prstGeom>
          <a:noFill/>
          <a:ln w="22225">
            <a:solidFill>
              <a:srgbClr val="E67E22"/>
            </a:solidFill>
            <a:prstDash val="dash"/>
          </a:ln>
        </p:spPr>
        <p:txBody>
          <a:bodyPr/>
          <a:lstStyle/>
          <a:p>
            <a:endParaRPr lang="es-PE"/>
          </a:p>
        </p:txBody>
      </p:sp>
      <p:sp>
        <p:nvSpPr>
          <p:cNvPr id="122" name="Text 119"/>
          <p:cNvSpPr txBox="1"/>
          <p:nvPr/>
        </p:nvSpPr>
        <p:spPr>
          <a:xfrm>
            <a:off x="4800600" y="5586984"/>
            <a:ext cx="1645920" cy="201168"/>
          </a:xfrm>
          <a:prstGeom prst="rect">
            <a:avLst/>
          </a:prstGeom>
          <a:noFill/>
          <a:ln/>
        </p:spPr>
        <p:txBody>
          <a:bodyPr wrap="square" lIns="0" tIns="0" rIns="0" bIns="0" rtlCol="0" anchor="ctr"/>
          <a:lstStyle/>
          <a:p>
            <a:pPr marL="0" indent="0">
              <a:buNone/>
            </a:pPr>
            <a:r>
              <a:rPr lang="en-US" sz="850">
                <a:solidFill>
                  <a:srgbClr val="6E7E7D"/>
                </a:solidFill>
                <a:latin typeface="Arial" pitchFamily="34" charset="0"/>
                <a:ea typeface="Arial" pitchFamily="34" charset="-122"/>
                <a:cs typeface="Arial" pitchFamily="34" charset="-120"/>
              </a:rPr>
              <a:t>TEA Desembolsada</a:t>
            </a:r>
            <a:endParaRPr lang="en-US" sz="850"/>
          </a:p>
        </p:txBody>
      </p:sp>
      <p:sp>
        <p:nvSpPr>
          <p:cNvPr id="123" name="Text 120"/>
          <p:cNvSpPr txBox="1"/>
          <p:nvPr/>
        </p:nvSpPr>
        <p:spPr>
          <a:xfrm>
            <a:off x="11430000" y="5586984"/>
            <a:ext cx="4114800" cy="201168"/>
          </a:xfrm>
          <a:prstGeom prst="rect">
            <a:avLst/>
          </a:prstGeom>
          <a:noFill/>
          <a:ln/>
        </p:spPr>
        <p:txBody>
          <a:bodyPr wrap="square" lIns="0" tIns="0" rIns="0" bIns="0" rtlCol="0" anchor="ctr"/>
          <a:lstStyle/>
          <a:p>
            <a:pPr marL="0" indent="0" algn="r">
              <a:buNone/>
            </a:pPr>
            <a:r>
              <a:rPr lang="en-US" sz="800" i="1">
                <a:solidFill>
                  <a:srgbClr val="6E7E7D"/>
                </a:solidFill>
                <a:latin typeface="Arial" pitchFamily="34" charset="0"/>
                <a:ea typeface="Arial" pitchFamily="34" charset="-122"/>
                <a:cs typeface="Arial" pitchFamily="34" charset="-120"/>
              </a:rPr>
              <a:t>Número sobre la barra = % sin gestión (V4)</a:t>
            </a:r>
            <a:endParaRPr lang="en-US" sz="800"/>
          </a:p>
        </p:txBody>
      </p:sp>
      <p:sp>
        <p:nvSpPr>
          <p:cNvPr id="124" name="Shape 121"/>
          <p:cNvSpPr/>
          <p:nvPr/>
        </p:nvSpPr>
        <p:spPr>
          <a:xfrm>
            <a:off x="658368" y="5897880"/>
            <a:ext cx="14938553" cy="2715768"/>
          </a:xfrm>
          <a:prstGeom prst="rect">
            <a:avLst/>
          </a:prstGeom>
          <a:solidFill>
            <a:srgbClr val="F6FBFA"/>
          </a:solidFill>
          <a:ln w="9525">
            <a:solidFill>
              <a:srgbClr val="D5DFDE"/>
            </a:solidFill>
            <a:prstDash val="solid"/>
          </a:ln>
        </p:spPr>
        <p:txBody>
          <a:bodyPr/>
          <a:lstStyle/>
          <a:p>
            <a:endParaRPr lang="es-PE"/>
          </a:p>
        </p:txBody>
      </p:sp>
      <p:sp>
        <p:nvSpPr>
          <p:cNvPr id="125" name="Shape 122"/>
          <p:cNvSpPr/>
          <p:nvPr/>
        </p:nvSpPr>
        <p:spPr>
          <a:xfrm>
            <a:off x="658368" y="5897880"/>
            <a:ext cx="54864" cy="2715768"/>
          </a:xfrm>
          <a:prstGeom prst="rect">
            <a:avLst/>
          </a:prstGeom>
          <a:solidFill>
            <a:srgbClr val="13807B"/>
          </a:solidFill>
          <a:ln/>
        </p:spPr>
        <p:txBody>
          <a:bodyPr/>
          <a:lstStyle/>
          <a:p>
            <a:endParaRPr lang="es-PE"/>
          </a:p>
        </p:txBody>
      </p:sp>
      <p:sp>
        <p:nvSpPr>
          <p:cNvPr id="126" name="Text 123"/>
          <p:cNvSpPr txBox="1"/>
          <p:nvPr/>
        </p:nvSpPr>
        <p:spPr>
          <a:xfrm>
            <a:off x="914400" y="6007608"/>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27" name="Text 124"/>
          <p:cNvSpPr txBox="1"/>
          <p:nvPr/>
        </p:nvSpPr>
        <p:spPr>
          <a:xfrm>
            <a:off x="914400"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1 · DIAGNÓSTICO</a:t>
            </a:r>
            <a:endParaRPr lang="en-US" sz="850"/>
          </a:p>
        </p:txBody>
      </p:sp>
      <p:sp>
        <p:nvSpPr>
          <p:cNvPr id="128" name="Text 125"/>
          <p:cNvSpPr txBox="1"/>
          <p:nvPr/>
        </p:nvSpPr>
        <p:spPr>
          <a:xfrm>
            <a:off x="914400"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En monto, Próximo Recurrente crece +6pp (93%→99%) y Emprendedor Izipay se mantiene prácticamente igual (92%→92%) — solo Nuevo en Expansión cae, y por poco (-2pp).</a:t>
            </a:r>
            <a:endParaRPr lang="en-US" sz="950"/>
          </a:p>
        </p:txBody>
      </p:sp>
      <p:sp>
        <p:nvSpPr>
          <p:cNvPr id="129" name="Text 126"/>
          <p:cNvSpPr txBox="1"/>
          <p:nvPr/>
        </p:nvSpPr>
        <p:spPr>
          <a:xfrm>
            <a:off x="5900014" y="6281928"/>
            <a:ext cx="4711294" cy="182880"/>
          </a:xfrm>
          <a:prstGeom prst="rect">
            <a:avLst/>
          </a:prstGeom>
          <a:noFill/>
          <a:ln/>
        </p:spPr>
        <p:txBody>
          <a:bodyPr wrap="square" lIns="0" tIns="0" rIns="0" bIns="0" rtlCol="0" anchor="ctr"/>
          <a:lstStyle/>
          <a:p>
            <a:pPr marL="0" indent="0">
              <a:buNone/>
            </a:pPr>
            <a:r>
              <a:rPr lang="en-US" sz="850" b="1">
                <a:solidFill>
                  <a:srgbClr val="13807B"/>
                </a:solidFill>
                <a:latin typeface="Arial" pitchFamily="34" charset="0"/>
                <a:ea typeface="Arial" pitchFamily="34" charset="-122"/>
                <a:cs typeface="Arial" pitchFamily="34" charset="-120"/>
              </a:rPr>
              <a:t>2 · PROPUESTA</a:t>
            </a:r>
            <a:endParaRPr lang="en-US" sz="850"/>
          </a:p>
        </p:txBody>
      </p:sp>
      <p:sp>
        <p:nvSpPr>
          <p:cNvPr id="130" name="Text 127"/>
          <p:cNvSpPr txBox="1"/>
          <p:nvPr/>
        </p:nvSpPr>
        <p:spPr>
          <a:xfrm>
            <a:off x="5900014"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Próximo Recurrente es el caso más claro para testear un alza de tasa en monto: crece en valor mientras ya sostiene la TEA más alta de la cartera.</a:t>
            </a:r>
            <a:endParaRPr lang="en-US" sz="950"/>
          </a:p>
        </p:txBody>
      </p:sp>
      <p:sp>
        <p:nvSpPr>
          <p:cNvPr id="131" name="Text 128"/>
          <p:cNvSpPr txBox="1"/>
          <p:nvPr/>
        </p:nvSpPr>
        <p:spPr>
          <a:xfrm>
            <a:off x="10885627" y="6281928"/>
            <a:ext cx="4711294" cy="182880"/>
          </a:xfrm>
          <a:prstGeom prst="rect">
            <a:avLst/>
          </a:prstGeom>
          <a:noFill/>
          <a:ln/>
        </p:spPr>
        <p:txBody>
          <a:bodyPr wrap="square" lIns="0" tIns="0" rIns="0" bIns="0" rtlCol="0" anchor="ctr"/>
          <a:lstStyle/>
          <a:p>
            <a:pPr marL="0" indent="0">
              <a:buNone/>
            </a:pPr>
            <a:r>
              <a:rPr lang="en-US" sz="850" b="1">
                <a:solidFill>
                  <a:srgbClr val="C77B22"/>
                </a:solidFill>
                <a:latin typeface="Arial" pitchFamily="34" charset="0"/>
                <a:ea typeface="Arial" pitchFamily="34" charset="-122"/>
                <a:cs typeface="Arial" pitchFamily="34" charset="-120"/>
              </a:rPr>
              <a:t>3 · PRECAUCIÓN</a:t>
            </a:r>
            <a:endParaRPr lang="en-US" sz="850"/>
          </a:p>
        </p:txBody>
      </p:sp>
      <p:sp>
        <p:nvSpPr>
          <p:cNvPr id="132" name="Text 129"/>
          <p:cNvSpPr txBox="1"/>
          <p:nvPr/>
        </p:nvSpPr>
        <p:spPr>
          <a:xfrm>
            <a:off x="10885627" y="6483096"/>
            <a:ext cx="4711294" cy="2020824"/>
          </a:xfrm>
          <a:prstGeom prst="rect">
            <a:avLst/>
          </a:prstGeom>
          <a:noFill/>
          <a:ln/>
        </p:spPr>
        <p:txBody>
          <a:bodyPr wrap="square" lIns="0" tIns="0" rIns="0" bIns="0" rtlCol="0" anchor="t"/>
          <a:lstStyle/>
          <a:p>
            <a:pPr marL="0" indent="0">
              <a:lnSpc>
                <a:spcPct val="115000"/>
              </a:lnSpc>
              <a:buNone/>
            </a:pPr>
            <a:r>
              <a:rPr lang="en-US" sz="950">
                <a:solidFill>
                  <a:srgbClr val="0B2E2C"/>
                </a:solidFill>
                <a:latin typeface="Arial" pitchFamily="34" charset="0"/>
                <a:ea typeface="Arial" pitchFamily="34" charset="-122"/>
                <a:cs typeface="Arial" pitchFamily="34" charset="-120"/>
              </a:rPr>
              <a:t>Los 3 muestran caídas intermedias fuertes en 2025Q3-Q4 antes de recuperar — confirmar que ese patrón estacional no se repite antes de mover tasa en esa ventana.</a:t>
            </a:r>
            <a:endParaRPr lang="en-US" sz="95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UNIDADES (N)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los 6 clusters con deuda, "monto no comparable" domina de forma abrumadora — sin ninguna excepción</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1,729</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185546"/>
            <a:ext cx="589416" cy="1156586"/>
          </a:xfrm>
          <a:prstGeom prst="rect">
            <a:avLst/>
          </a:prstGeom>
          <a:solidFill>
            <a:srgbClr val="5AA6A3"/>
          </a:solidFill>
          <a:ln/>
        </p:spPr>
        <p:txBody>
          <a:bodyPr/>
          <a:lstStyle/>
          <a:p>
            <a:endParaRPr lang="es-PE"/>
          </a:p>
        </p:txBody>
      </p:sp>
      <p:sp>
        <p:nvSpPr>
          <p:cNvPr id="13" name="Text 10"/>
          <p:cNvSpPr txBox="1"/>
          <p:nvPr/>
        </p:nvSpPr>
        <p:spPr>
          <a:xfrm>
            <a:off x="2007970" y="198437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1,524</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715268"/>
            <a:ext cx="589416" cy="626864"/>
          </a:xfrm>
          <a:prstGeom prst="rect">
            <a:avLst/>
          </a:prstGeom>
          <a:solidFill>
            <a:srgbClr val="0B2E2C"/>
          </a:solidFill>
          <a:ln/>
        </p:spPr>
        <p:txBody>
          <a:bodyPr/>
          <a:lstStyle/>
          <a:p>
            <a:endParaRPr lang="es-PE"/>
          </a:p>
        </p:txBody>
      </p:sp>
      <p:sp>
        <p:nvSpPr>
          <p:cNvPr id="16" name="Text 13"/>
          <p:cNvSpPr txBox="1"/>
          <p:nvPr/>
        </p:nvSpPr>
        <p:spPr>
          <a:xfrm>
            <a:off x="3964832" y="25141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826</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185546"/>
            <a:ext cx="400803" cy="473563"/>
          </a:xfrm>
          <a:prstGeom prst="rect">
            <a:avLst/>
          </a:prstGeom>
          <a:solidFill>
            <a:srgbClr val="C0392B"/>
          </a:solidFill>
          <a:ln/>
        </p:spPr>
        <p:txBody>
          <a:bodyPr/>
          <a:lstStyle/>
          <a:p>
            <a:endParaRPr lang="es-PE"/>
          </a:p>
        </p:txBody>
      </p:sp>
      <p:sp>
        <p:nvSpPr>
          <p:cNvPr id="19" name="Text 16"/>
          <p:cNvSpPr txBox="1"/>
          <p:nvPr/>
        </p:nvSpPr>
        <p:spPr>
          <a:xfrm>
            <a:off x="2767712" y="234917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624</a:t>
            </a:r>
            <a:endParaRPr lang="en-US" sz="650"/>
          </a:p>
        </p:txBody>
      </p:sp>
      <p:sp>
        <p:nvSpPr>
          <p:cNvPr id="20" name="Text 17"/>
          <p:cNvSpPr txBox="1"/>
          <p:nvPr/>
        </p:nvSpPr>
        <p:spPr>
          <a:xfrm>
            <a:off x="2676272" y="187465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659109"/>
            <a:ext cx="400803" cy="56160"/>
          </a:xfrm>
          <a:prstGeom prst="rect">
            <a:avLst/>
          </a:prstGeom>
          <a:solidFill>
            <a:srgbClr val="C0392B"/>
          </a:solidFill>
          <a:ln/>
        </p:spPr>
        <p:txBody>
          <a:bodyPr/>
          <a:lstStyle/>
          <a:p>
            <a:endParaRPr lang="es-PE"/>
          </a:p>
        </p:txBody>
      </p:sp>
      <p:sp>
        <p:nvSpPr>
          <p:cNvPr id="22" name="Text 19"/>
          <p:cNvSpPr txBox="1"/>
          <p:nvPr/>
        </p:nvSpPr>
        <p:spPr>
          <a:xfrm>
            <a:off x="3986531" y="2614036"/>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74</a:t>
            </a:r>
            <a:endParaRPr lang="en-US" sz="650"/>
          </a:p>
        </p:txBody>
      </p:sp>
      <p:sp>
        <p:nvSpPr>
          <p:cNvPr id="23" name="Text 20"/>
          <p:cNvSpPr txBox="1"/>
          <p:nvPr/>
        </p:nvSpPr>
        <p:spPr>
          <a:xfrm>
            <a:off x="3265688" y="234821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185546"/>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659109"/>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715268"/>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2,748</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89178"/>
            <a:ext cx="589416" cy="1252954"/>
          </a:xfrm>
          <a:prstGeom prst="rect">
            <a:avLst/>
          </a:prstGeom>
          <a:solidFill>
            <a:srgbClr val="5AA6A3"/>
          </a:solidFill>
          <a:ln/>
        </p:spPr>
        <p:txBody>
          <a:bodyPr/>
          <a:lstStyle/>
          <a:p>
            <a:endParaRPr lang="es-PE"/>
          </a:p>
        </p:txBody>
      </p:sp>
      <p:sp>
        <p:nvSpPr>
          <p:cNvPr id="35" name="Text 32"/>
          <p:cNvSpPr txBox="1"/>
          <p:nvPr/>
        </p:nvSpPr>
        <p:spPr>
          <a:xfrm>
            <a:off x="7060640" y="188801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2,624</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903312"/>
            <a:ext cx="589416" cy="438820"/>
          </a:xfrm>
          <a:prstGeom prst="rect">
            <a:avLst/>
          </a:prstGeom>
          <a:solidFill>
            <a:srgbClr val="0B2E2C"/>
          </a:solidFill>
          <a:ln/>
        </p:spPr>
        <p:txBody>
          <a:bodyPr/>
          <a:lstStyle/>
          <a:p>
            <a:endParaRPr lang="es-PE"/>
          </a:p>
        </p:txBody>
      </p:sp>
      <p:sp>
        <p:nvSpPr>
          <p:cNvPr id="38" name="Text 35"/>
          <p:cNvSpPr txBox="1"/>
          <p:nvPr/>
        </p:nvSpPr>
        <p:spPr>
          <a:xfrm>
            <a:off x="9017502" y="270214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919</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89178"/>
            <a:ext cx="400803" cy="759222"/>
          </a:xfrm>
          <a:prstGeom prst="rect">
            <a:avLst/>
          </a:prstGeom>
          <a:solidFill>
            <a:srgbClr val="C0392B"/>
          </a:solidFill>
          <a:ln/>
        </p:spPr>
        <p:txBody>
          <a:bodyPr/>
          <a:lstStyle/>
          <a:p>
            <a:endParaRPr lang="es-PE"/>
          </a:p>
        </p:txBody>
      </p:sp>
      <p:sp>
        <p:nvSpPr>
          <p:cNvPr id="41" name="Text 38"/>
          <p:cNvSpPr txBox="1"/>
          <p:nvPr/>
        </p:nvSpPr>
        <p:spPr>
          <a:xfrm>
            <a:off x="7820381" y="239563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1,590</a:t>
            </a:r>
            <a:endParaRPr lang="en-US" sz="650"/>
          </a:p>
        </p:txBody>
      </p:sp>
      <p:sp>
        <p:nvSpPr>
          <p:cNvPr id="42" name="Text 39"/>
          <p:cNvSpPr txBox="1"/>
          <p:nvPr/>
        </p:nvSpPr>
        <p:spPr>
          <a:xfrm>
            <a:off x="7728941" y="177828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848399"/>
            <a:ext cx="400803" cy="54912"/>
          </a:xfrm>
          <a:prstGeom prst="rect">
            <a:avLst/>
          </a:prstGeom>
          <a:solidFill>
            <a:srgbClr val="C0392B"/>
          </a:solidFill>
          <a:ln/>
        </p:spPr>
        <p:txBody>
          <a:bodyPr/>
          <a:lstStyle/>
          <a:p>
            <a:endParaRPr lang="es-PE"/>
          </a:p>
        </p:txBody>
      </p:sp>
      <p:sp>
        <p:nvSpPr>
          <p:cNvPr id="44" name="Text 41"/>
          <p:cNvSpPr txBox="1"/>
          <p:nvPr/>
        </p:nvSpPr>
        <p:spPr>
          <a:xfrm>
            <a:off x="9039201" y="280270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115</a:t>
            </a:r>
            <a:endParaRPr lang="en-US" sz="650"/>
          </a:p>
        </p:txBody>
      </p:sp>
      <p:sp>
        <p:nvSpPr>
          <p:cNvPr id="45" name="Text 42"/>
          <p:cNvSpPr txBox="1"/>
          <p:nvPr/>
        </p:nvSpPr>
        <p:spPr>
          <a:xfrm>
            <a:off x="8318358" y="253750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89178"/>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848399"/>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903312"/>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1,851</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120707"/>
            <a:ext cx="589416" cy="1221425"/>
          </a:xfrm>
          <a:prstGeom prst="rect">
            <a:avLst/>
          </a:prstGeom>
          <a:solidFill>
            <a:srgbClr val="5AA6A3"/>
          </a:solidFill>
          <a:ln/>
        </p:spPr>
        <p:txBody>
          <a:bodyPr/>
          <a:lstStyle/>
          <a:p>
            <a:endParaRPr lang="es-PE"/>
          </a:p>
        </p:txBody>
      </p:sp>
      <p:sp>
        <p:nvSpPr>
          <p:cNvPr id="57" name="Text 54"/>
          <p:cNvSpPr txBox="1"/>
          <p:nvPr/>
        </p:nvSpPr>
        <p:spPr>
          <a:xfrm>
            <a:off x="12113310" y="19195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1,723</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739572"/>
            <a:ext cx="589416" cy="602560"/>
          </a:xfrm>
          <a:prstGeom prst="rect">
            <a:avLst/>
          </a:prstGeom>
          <a:solidFill>
            <a:srgbClr val="0B2E2C"/>
          </a:solidFill>
          <a:ln/>
        </p:spPr>
        <p:txBody>
          <a:bodyPr/>
          <a:lstStyle/>
          <a:p>
            <a:endParaRPr lang="es-PE"/>
          </a:p>
        </p:txBody>
      </p:sp>
      <p:sp>
        <p:nvSpPr>
          <p:cNvPr id="60" name="Text 57"/>
          <p:cNvSpPr txBox="1"/>
          <p:nvPr/>
        </p:nvSpPr>
        <p:spPr>
          <a:xfrm>
            <a:off x="14070172" y="253840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850</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120707"/>
            <a:ext cx="400803" cy="543722"/>
          </a:xfrm>
          <a:prstGeom prst="rect">
            <a:avLst/>
          </a:prstGeom>
          <a:solidFill>
            <a:srgbClr val="C0392B"/>
          </a:solidFill>
          <a:ln/>
        </p:spPr>
        <p:txBody>
          <a:bodyPr/>
          <a:lstStyle/>
          <a:p>
            <a:endParaRPr lang="es-PE"/>
          </a:p>
        </p:txBody>
      </p:sp>
      <p:sp>
        <p:nvSpPr>
          <p:cNvPr id="63" name="Text 60"/>
          <p:cNvSpPr txBox="1"/>
          <p:nvPr/>
        </p:nvSpPr>
        <p:spPr>
          <a:xfrm>
            <a:off x="12873051" y="231941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767</a:t>
            </a:r>
            <a:endParaRPr lang="en-US" sz="650"/>
          </a:p>
        </p:txBody>
      </p:sp>
      <p:sp>
        <p:nvSpPr>
          <p:cNvPr id="64" name="Text 61"/>
          <p:cNvSpPr txBox="1"/>
          <p:nvPr/>
        </p:nvSpPr>
        <p:spPr>
          <a:xfrm>
            <a:off x="12781611" y="18098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664429"/>
            <a:ext cx="400803" cy="75143"/>
          </a:xfrm>
          <a:prstGeom prst="rect">
            <a:avLst/>
          </a:prstGeom>
          <a:solidFill>
            <a:srgbClr val="C0392B"/>
          </a:solidFill>
          <a:ln/>
        </p:spPr>
        <p:txBody>
          <a:bodyPr/>
          <a:lstStyle/>
          <a:p>
            <a:endParaRPr lang="es-PE"/>
          </a:p>
        </p:txBody>
      </p:sp>
      <p:sp>
        <p:nvSpPr>
          <p:cNvPr id="66" name="Text 63"/>
          <p:cNvSpPr txBox="1"/>
          <p:nvPr/>
        </p:nvSpPr>
        <p:spPr>
          <a:xfrm>
            <a:off x="14091870" y="262884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106</a:t>
            </a:r>
            <a:endParaRPr lang="en-US" sz="650"/>
          </a:p>
        </p:txBody>
      </p:sp>
      <p:sp>
        <p:nvSpPr>
          <p:cNvPr id="67" name="Text 64"/>
          <p:cNvSpPr txBox="1"/>
          <p:nvPr/>
        </p:nvSpPr>
        <p:spPr>
          <a:xfrm>
            <a:off x="13371027" y="235353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120707"/>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664429"/>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739572"/>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3,225</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01749"/>
            <a:ext cx="589416" cy="1176675"/>
          </a:xfrm>
          <a:prstGeom prst="rect">
            <a:avLst/>
          </a:prstGeom>
          <a:solidFill>
            <a:srgbClr val="5AA6A3"/>
          </a:solidFill>
          <a:ln/>
        </p:spPr>
        <p:txBody>
          <a:bodyPr/>
          <a:lstStyle/>
          <a:p>
            <a:endParaRPr lang="es-PE"/>
          </a:p>
        </p:txBody>
      </p:sp>
      <p:sp>
        <p:nvSpPr>
          <p:cNvPr id="79" name="Text 76"/>
          <p:cNvSpPr txBox="1"/>
          <p:nvPr/>
        </p:nvSpPr>
        <p:spPr>
          <a:xfrm>
            <a:off x="2007970" y="430058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2,892</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334210"/>
            <a:ext cx="589416" cy="344214"/>
          </a:xfrm>
          <a:prstGeom prst="rect">
            <a:avLst/>
          </a:prstGeom>
          <a:solidFill>
            <a:srgbClr val="0B2E2C"/>
          </a:solidFill>
          <a:ln/>
        </p:spPr>
        <p:txBody>
          <a:bodyPr/>
          <a:lstStyle/>
          <a:p>
            <a:endParaRPr lang="es-PE"/>
          </a:p>
        </p:txBody>
      </p:sp>
      <p:sp>
        <p:nvSpPr>
          <p:cNvPr id="82" name="Text 79"/>
          <p:cNvSpPr txBox="1"/>
          <p:nvPr/>
        </p:nvSpPr>
        <p:spPr>
          <a:xfrm>
            <a:off x="3964832" y="513304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846</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01749"/>
            <a:ext cx="400803" cy="758410"/>
          </a:xfrm>
          <a:prstGeom prst="rect">
            <a:avLst/>
          </a:prstGeom>
          <a:solidFill>
            <a:srgbClr val="C0392B"/>
          </a:solidFill>
          <a:ln/>
        </p:spPr>
        <p:txBody>
          <a:bodyPr/>
          <a:lstStyle/>
          <a:p>
            <a:endParaRPr lang="es-PE"/>
          </a:p>
        </p:txBody>
      </p:sp>
      <p:sp>
        <p:nvSpPr>
          <p:cNvPr id="85" name="Text 82"/>
          <p:cNvSpPr txBox="1"/>
          <p:nvPr/>
        </p:nvSpPr>
        <p:spPr>
          <a:xfrm>
            <a:off x="2767712" y="4807802"/>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1,864</a:t>
            </a:r>
            <a:endParaRPr lang="en-US" sz="650"/>
          </a:p>
        </p:txBody>
      </p:sp>
      <p:sp>
        <p:nvSpPr>
          <p:cNvPr id="86" name="Text 83"/>
          <p:cNvSpPr txBox="1"/>
          <p:nvPr/>
        </p:nvSpPr>
        <p:spPr>
          <a:xfrm>
            <a:off x="2676272" y="419085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5260159"/>
            <a:ext cx="400803" cy="74051"/>
          </a:xfrm>
          <a:prstGeom prst="rect">
            <a:avLst/>
          </a:prstGeom>
          <a:solidFill>
            <a:srgbClr val="C0392B"/>
          </a:solidFill>
          <a:ln/>
        </p:spPr>
        <p:txBody>
          <a:bodyPr/>
          <a:lstStyle/>
          <a:p>
            <a:endParaRPr lang="es-PE"/>
          </a:p>
        </p:txBody>
      </p:sp>
      <p:sp>
        <p:nvSpPr>
          <p:cNvPr id="88" name="Text 85"/>
          <p:cNvSpPr txBox="1"/>
          <p:nvPr/>
        </p:nvSpPr>
        <p:spPr>
          <a:xfrm>
            <a:off x="3986531" y="522403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182</a:t>
            </a:r>
            <a:endParaRPr lang="en-US" sz="650"/>
          </a:p>
        </p:txBody>
      </p:sp>
      <p:sp>
        <p:nvSpPr>
          <p:cNvPr id="89" name="Text 86"/>
          <p:cNvSpPr txBox="1"/>
          <p:nvPr/>
        </p:nvSpPr>
        <p:spPr>
          <a:xfrm>
            <a:off x="3265688" y="494926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01749"/>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5260159"/>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334210"/>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2,841</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25841"/>
            <a:ext cx="589416" cy="1252583"/>
          </a:xfrm>
          <a:prstGeom prst="rect">
            <a:avLst/>
          </a:prstGeom>
          <a:solidFill>
            <a:srgbClr val="5AA6A3"/>
          </a:solidFill>
          <a:ln/>
        </p:spPr>
        <p:txBody>
          <a:bodyPr/>
          <a:lstStyle/>
          <a:p>
            <a:endParaRPr lang="es-PE"/>
          </a:p>
        </p:txBody>
      </p:sp>
      <p:sp>
        <p:nvSpPr>
          <p:cNvPr id="101" name="Text 98"/>
          <p:cNvSpPr txBox="1"/>
          <p:nvPr/>
        </p:nvSpPr>
        <p:spPr>
          <a:xfrm>
            <a:off x="7060640" y="422467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2,712</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192078"/>
            <a:ext cx="589416" cy="486346"/>
          </a:xfrm>
          <a:prstGeom prst="rect">
            <a:avLst/>
          </a:prstGeom>
          <a:solidFill>
            <a:srgbClr val="0B2E2C"/>
          </a:solidFill>
          <a:ln/>
        </p:spPr>
        <p:txBody>
          <a:bodyPr/>
          <a:lstStyle/>
          <a:p>
            <a:endParaRPr lang="es-PE"/>
          </a:p>
        </p:txBody>
      </p:sp>
      <p:sp>
        <p:nvSpPr>
          <p:cNvPr id="104" name="Text 101"/>
          <p:cNvSpPr txBox="1"/>
          <p:nvPr/>
        </p:nvSpPr>
        <p:spPr>
          <a:xfrm>
            <a:off x="9017502" y="499091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1,053</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25841"/>
            <a:ext cx="400803" cy="660932"/>
          </a:xfrm>
          <a:prstGeom prst="rect">
            <a:avLst/>
          </a:prstGeom>
          <a:solidFill>
            <a:srgbClr val="C0392B"/>
          </a:solidFill>
          <a:ln/>
        </p:spPr>
        <p:txBody>
          <a:bodyPr/>
          <a:lstStyle/>
          <a:p>
            <a:endParaRPr lang="es-PE"/>
          </a:p>
        </p:txBody>
      </p:sp>
      <p:sp>
        <p:nvSpPr>
          <p:cNvPr id="107" name="Text 104"/>
          <p:cNvSpPr txBox="1"/>
          <p:nvPr/>
        </p:nvSpPr>
        <p:spPr>
          <a:xfrm>
            <a:off x="7820381" y="468315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1,431</a:t>
            </a:r>
            <a:endParaRPr lang="en-US" sz="650"/>
          </a:p>
        </p:txBody>
      </p:sp>
      <p:sp>
        <p:nvSpPr>
          <p:cNvPr id="108" name="Text 105"/>
          <p:cNvSpPr txBox="1"/>
          <p:nvPr/>
        </p:nvSpPr>
        <p:spPr>
          <a:xfrm>
            <a:off x="7728941" y="411494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5086772"/>
            <a:ext cx="400803" cy="105306"/>
          </a:xfrm>
          <a:prstGeom prst="rect">
            <a:avLst/>
          </a:prstGeom>
          <a:solidFill>
            <a:srgbClr val="C0392B"/>
          </a:solidFill>
          <a:ln/>
        </p:spPr>
        <p:txBody>
          <a:bodyPr/>
          <a:lstStyle/>
          <a:p>
            <a:endParaRPr lang="es-PE"/>
          </a:p>
        </p:txBody>
      </p:sp>
      <p:sp>
        <p:nvSpPr>
          <p:cNvPr id="110" name="Text 107"/>
          <p:cNvSpPr txBox="1"/>
          <p:nvPr/>
        </p:nvSpPr>
        <p:spPr>
          <a:xfrm>
            <a:off x="9039201" y="506627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228</a:t>
            </a:r>
            <a:endParaRPr lang="en-US" sz="650"/>
          </a:p>
        </p:txBody>
      </p:sp>
      <p:sp>
        <p:nvSpPr>
          <p:cNvPr id="111" name="Text 108"/>
          <p:cNvSpPr txBox="1"/>
          <p:nvPr/>
        </p:nvSpPr>
        <p:spPr>
          <a:xfrm>
            <a:off x="8318358" y="477587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25841"/>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5086772"/>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192078"/>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1,644</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475607"/>
            <a:ext cx="589416" cy="1202817"/>
          </a:xfrm>
          <a:prstGeom prst="rect">
            <a:avLst/>
          </a:prstGeom>
          <a:solidFill>
            <a:srgbClr val="5AA6A3"/>
          </a:solidFill>
          <a:ln/>
        </p:spPr>
        <p:txBody>
          <a:bodyPr/>
          <a:lstStyle/>
          <a:p>
            <a:endParaRPr lang="es-PE"/>
          </a:p>
        </p:txBody>
      </p:sp>
      <p:sp>
        <p:nvSpPr>
          <p:cNvPr id="123" name="Text 120"/>
          <p:cNvSpPr txBox="1"/>
          <p:nvPr/>
        </p:nvSpPr>
        <p:spPr>
          <a:xfrm>
            <a:off x="12113310" y="42744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1,507</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4993608"/>
            <a:ext cx="589416" cy="684816"/>
          </a:xfrm>
          <a:prstGeom prst="rect">
            <a:avLst/>
          </a:prstGeom>
          <a:solidFill>
            <a:srgbClr val="0B2E2C"/>
          </a:solidFill>
          <a:ln/>
        </p:spPr>
        <p:txBody>
          <a:bodyPr/>
          <a:lstStyle/>
          <a:p>
            <a:endParaRPr lang="es-PE"/>
          </a:p>
        </p:txBody>
      </p:sp>
      <p:sp>
        <p:nvSpPr>
          <p:cNvPr id="126" name="Text 123"/>
          <p:cNvSpPr txBox="1"/>
          <p:nvPr/>
        </p:nvSpPr>
        <p:spPr>
          <a:xfrm>
            <a:off x="14070172" y="479244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858</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475607"/>
            <a:ext cx="400803" cy="430205"/>
          </a:xfrm>
          <a:prstGeom prst="rect">
            <a:avLst/>
          </a:prstGeom>
          <a:solidFill>
            <a:srgbClr val="C0392B"/>
          </a:solidFill>
          <a:ln/>
        </p:spPr>
        <p:txBody>
          <a:bodyPr/>
          <a:lstStyle/>
          <a:p>
            <a:endParaRPr lang="es-PE"/>
          </a:p>
        </p:txBody>
      </p:sp>
      <p:sp>
        <p:nvSpPr>
          <p:cNvPr id="129" name="Text 126"/>
          <p:cNvSpPr txBox="1"/>
          <p:nvPr/>
        </p:nvSpPr>
        <p:spPr>
          <a:xfrm>
            <a:off x="12873051" y="461755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539</a:t>
            </a:r>
            <a:endParaRPr lang="en-US" sz="650"/>
          </a:p>
        </p:txBody>
      </p:sp>
      <p:sp>
        <p:nvSpPr>
          <p:cNvPr id="130" name="Text 127"/>
          <p:cNvSpPr txBox="1"/>
          <p:nvPr/>
        </p:nvSpPr>
        <p:spPr>
          <a:xfrm>
            <a:off x="12781611" y="41647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4905812"/>
            <a:ext cx="400803" cy="87797"/>
          </a:xfrm>
          <a:prstGeom prst="rect">
            <a:avLst/>
          </a:prstGeom>
          <a:solidFill>
            <a:srgbClr val="C0392B"/>
          </a:solidFill>
          <a:ln/>
        </p:spPr>
        <p:txBody>
          <a:bodyPr/>
          <a:lstStyle/>
          <a:p>
            <a:endParaRPr lang="es-PE"/>
          </a:p>
        </p:txBody>
      </p:sp>
      <p:sp>
        <p:nvSpPr>
          <p:cNvPr id="132" name="Text 129"/>
          <p:cNvSpPr txBox="1"/>
          <p:nvPr/>
        </p:nvSpPr>
        <p:spPr>
          <a:xfrm>
            <a:off x="14091870" y="487655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110</a:t>
            </a:r>
            <a:endParaRPr lang="en-US" sz="650"/>
          </a:p>
        </p:txBody>
      </p:sp>
      <p:sp>
        <p:nvSpPr>
          <p:cNvPr id="133" name="Text 130"/>
          <p:cNvSpPr txBox="1"/>
          <p:nvPr/>
        </p:nvSpPr>
        <p:spPr>
          <a:xfrm>
            <a:off x="13371027" y="459491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475607"/>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4905812"/>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4993608"/>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por un margen muy amplio en los 6: Maduro Multibanco (1,864 vs. 182), Socio en Crecimiento (1,590 vs. 115), Gran Cuenta por Conquistar (1,431 vs. 228), Cuenta Estratégica (767 vs. 106), Cliente Ancla (624 vs. 74) y Cliente por Reactivar (539 vs. 110).</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A diferencia de cortes anteriores, esta vez no hay ninguna excepción: ni siquiera Cliente por Reactivar, que venía siendo el único cluster con un balance distinto, se aleja del patrón — aquí el desajuste de monto le gana por casi 5 a 1.</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Maduro Multibanco sigue siendo el de mayor volumen absoluto (1,864 en "monto no comparable"), pero ahora la brecha frente a "no gestionado" es más de 10 veces, no el doble como en cortes previos — el desajuste de ticket domina con mucha más claridad en este corte.</a:t>
            </a:r>
            <a:endParaRPr lang="en-US"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UNIDADES (N)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sin deuda se repite el mismo patrón, todavía más marcado: el desajuste de monto domina por 10-15 veces</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404</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081437"/>
            <a:ext cx="589416" cy="3414107"/>
          </a:xfrm>
          <a:prstGeom prst="rect">
            <a:avLst/>
          </a:prstGeom>
          <a:solidFill>
            <a:srgbClr val="5AA6A3"/>
          </a:solidFill>
          <a:ln/>
        </p:spPr>
        <p:txBody>
          <a:bodyPr/>
          <a:lstStyle/>
          <a:p>
            <a:endParaRPr lang="es-PE"/>
          </a:p>
        </p:txBody>
      </p:sp>
      <p:sp>
        <p:nvSpPr>
          <p:cNvPr id="13" name="Text 10"/>
          <p:cNvSpPr txBox="1"/>
          <p:nvPr/>
        </p:nvSpPr>
        <p:spPr>
          <a:xfrm>
            <a:off x="2007970" y="188026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398</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338782"/>
            <a:ext cx="589416" cy="3156762"/>
          </a:xfrm>
          <a:prstGeom prst="rect">
            <a:avLst/>
          </a:prstGeom>
          <a:solidFill>
            <a:srgbClr val="0B2E2C"/>
          </a:solidFill>
          <a:ln/>
        </p:spPr>
        <p:txBody>
          <a:bodyPr/>
          <a:lstStyle/>
          <a:p>
            <a:endParaRPr lang="es-PE"/>
          </a:p>
        </p:txBody>
      </p:sp>
      <p:sp>
        <p:nvSpPr>
          <p:cNvPr id="16" name="Text 13"/>
          <p:cNvSpPr txBox="1"/>
          <p:nvPr/>
        </p:nvSpPr>
        <p:spPr>
          <a:xfrm>
            <a:off x="3964832" y="21376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368</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081437"/>
            <a:ext cx="400803" cy="240188"/>
          </a:xfrm>
          <a:prstGeom prst="rect">
            <a:avLst/>
          </a:prstGeom>
          <a:solidFill>
            <a:srgbClr val="C0392B"/>
          </a:solidFill>
          <a:ln/>
        </p:spPr>
        <p:txBody>
          <a:bodyPr/>
          <a:lstStyle/>
          <a:p>
            <a:endParaRPr lang="es-PE"/>
          </a:p>
        </p:txBody>
      </p:sp>
      <p:sp>
        <p:nvSpPr>
          <p:cNvPr id="19" name="Text 16"/>
          <p:cNvSpPr txBox="1"/>
          <p:nvPr/>
        </p:nvSpPr>
        <p:spPr>
          <a:xfrm>
            <a:off x="2767712" y="212837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28</a:t>
            </a:r>
            <a:endParaRPr lang="en-US" sz="650"/>
          </a:p>
        </p:txBody>
      </p:sp>
      <p:sp>
        <p:nvSpPr>
          <p:cNvPr id="20" name="Text 17"/>
          <p:cNvSpPr txBox="1"/>
          <p:nvPr/>
        </p:nvSpPr>
        <p:spPr>
          <a:xfrm>
            <a:off x="2676272" y="177054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321625"/>
            <a:ext cx="400803" cy="18288"/>
          </a:xfrm>
          <a:prstGeom prst="rect">
            <a:avLst/>
          </a:prstGeom>
          <a:solidFill>
            <a:srgbClr val="C0392B"/>
          </a:solidFill>
          <a:ln/>
        </p:spPr>
        <p:txBody>
          <a:bodyPr/>
          <a:lstStyle/>
          <a:p>
            <a:endParaRPr lang="es-PE"/>
          </a:p>
        </p:txBody>
      </p:sp>
      <p:sp>
        <p:nvSpPr>
          <p:cNvPr id="22" name="Text 19"/>
          <p:cNvSpPr txBox="1"/>
          <p:nvPr/>
        </p:nvSpPr>
        <p:spPr>
          <a:xfrm>
            <a:off x="3986531" y="2257617"/>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a:t>
            </a:r>
            <a:endParaRPr lang="en-US" sz="650"/>
          </a:p>
        </p:txBody>
      </p:sp>
      <p:sp>
        <p:nvSpPr>
          <p:cNvPr id="23" name="Text 20"/>
          <p:cNvSpPr txBox="1"/>
          <p:nvPr/>
        </p:nvSpPr>
        <p:spPr>
          <a:xfrm>
            <a:off x="3265688" y="201072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081437"/>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321625"/>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338782"/>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428</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62357"/>
            <a:ext cx="589416" cy="3433187"/>
          </a:xfrm>
          <a:prstGeom prst="rect">
            <a:avLst/>
          </a:prstGeom>
          <a:solidFill>
            <a:srgbClr val="5AA6A3"/>
          </a:solidFill>
          <a:ln/>
        </p:spPr>
        <p:txBody>
          <a:bodyPr/>
          <a:lstStyle/>
          <a:p>
            <a:endParaRPr lang="es-PE"/>
          </a:p>
        </p:txBody>
      </p:sp>
      <p:sp>
        <p:nvSpPr>
          <p:cNvPr id="35" name="Text 32"/>
          <p:cNvSpPr txBox="1"/>
          <p:nvPr/>
        </p:nvSpPr>
        <p:spPr>
          <a:xfrm>
            <a:off x="7060640" y="186118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424</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880168"/>
            <a:ext cx="589416" cy="2615376"/>
          </a:xfrm>
          <a:prstGeom prst="rect">
            <a:avLst/>
          </a:prstGeom>
          <a:solidFill>
            <a:srgbClr val="0B2E2C"/>
          </a:solidFill>
          <a:ln/>
        </p:spPr>
        <p:txBody>
          <a:bodyPr/>
          <a:lstStyle/>
          <a:p>
            <a:endParaRPr lang="es-PE"/>
          </a:p>
        </p:txBody>
      </p:sp>
      <p:sp>
        <p:nvSpPr>
          <p:cNvPr id="38" name="Text 35"/>
          <p:cNvSpPr txBox="1"/>
          <p:nvPr/>
        </p:nvSpPr>
        <p:spPr>
          <a:xfrm>
            <a:off x="9017502" y="26790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323</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62357"/>
            <a:ext cx="400803" cy="785423"/>
          </a:xfrm>
          <a:prstGeom prst="rect">
            <a:avLst/>
          </a:prstGeom>
          <a:solidFill>
            <a:srgbClr val="C0392B"/>
          </a:solidFill>
          <a:ln/>
        </p:spPr>
        <p:txBody>
          <a:bodyPr/>
          <a:lstStyle/>
          <a:p>
            <a:endParaRPr lang="es-PE"/>
          </a:p>
        </p:txBody>
      </p:sp>
      <p:sp>
        <p:nvSpPr>
          <p:cNvPr id="41" name="Text 38"/>
          <p:cNvSpPr txBox="1"/>
          <p:nvPr/>
        </p:nvSpPr>
        <p:spPr>
          <a:xfrm>
            <a:off x="7820381" y="238191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97</a:t>
            </a:r>
            <a:endParaRPr lang="en-US" sz="650"/>
          </a:p>
        </p:txBody>
      </p:sp>
      <p:sp>
        <p:nvSpPr>
          <p:cNvPr id="42" name="Text 39"/>
          <p:cNvSpPr txBox="1"/>
          <p:nvPr/>
        </p:nvSpPr>
        <p:spPr>
          <a:xfrm>
            <a:off x="7728941" y="175146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847779"/>
            <a:ext cx="400803" cy="32389"/>
          </a:xfrm>
          <a:prstGeom prst="rect">
            <a:avLst/>
          </a:prstGeom>
          <a:solidFill>
            <a:srgbClr val="C0392B"/>
          </a:solidFill>
          <a:ln/>
        </p:spPr>
        <p:txBody>
          <a:bodyPr/>
          <a:lstStyle/>
          <a:p>
            <a:endParaRPr lang="es-PE"/>
          </a:p>
        </p:txBody>
      </p:sp>
      <p:sp>
        <p:nvSpPr>
          <p:cNvPr id="44" name="Text 41"/>
          <p:cNvSpPr txBox="1"/>
          <p:nvPr/>
        </p:nvSpPr>
        <p:spPr>
          <a:xfrm>
            <a:off x="9039201" y="2790821"/>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4</a:t>
            </a:r>
            <a:endParaRPr lang="en-US" sz="650"/>
          </a:p>
        </p:txBody>
      </p:sp>
      <p:sp>
        <p:nvSpPr>
          <p:cNvPr id="45" name="Text 42"/>
          <p:cNvSpPr txBox="1"/>
          <p:nvPr/>
        </p:nvSpPr>
        <p:spPr>
          <a:xfrm>
            <a:off x="8318358" y="253688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62357"/>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847779"/>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880168"/>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513</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84012"/>
            <a:ext cx="589416" cy="3411532"/>
          </a:xfrm>
          <a:prstGeom prst="rect">
            <a:avLst/>
          </a:prstGeom>
          <a:solidFill>
            <a:srgbClr val="5AA6A3"/>
          </a:solidFill>
          <a:ln/>
        </p:spPr>
        <p:txBody>
          <a:bodyPr/>
          <a:lstStyle/>
          <a:p>
            <a:endParaRPr lang="es-PE"/>
          </a:p>
        </p:txBody>
      </p:sp>
      <p:sp>
        <p:nvSpPr>
          <p:cNvPr id="57" name="Text 54"/>
          <p:cNvSpPr txBox="1"/>
          <p:nvPr/>
        </p:nvSpPr>
        <p:spPr>
          <a:xfrm>
            <a:off x="12113310" y="188284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505</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833874"/>
            <a:ext cx="589416" cy="2661670"/>
          </a:xfrm>
          <a:prstGeom prst="rect">
            <a:avLst/>
          </a:prstGeom>
          <a:solidFill>
            <a:srgbClr val="0B2E2C"/>
          </a:solidFill>
          <a:ln/>
        </p:spPr>
        <p:txBody>
          <a:bodyPr/>
          <a:lstStyle/>
          <a:p>
            <a:endParaRPr lang="es-PE"/>
          </a:p>
        </p:txBody>
      </p:sp>
      <p:sp>
        <p:nvSpPr>
          <p:cNvPr id="60" name="Text 57"/>
          <p:cNvSpPr txBox="1"/>
          <p:nvPr/>
        </p:nvSpPr>
        <p:spPr>
          <a:xfrm>
            <a:off x="14070172" y="263270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394</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84012"/>
            <a:ext cx="400803" cy="695817"/>
          </a:xfrm>
          <a:prstGeom prst="rect">
            <a:avLst/>
          </a:prstGeom>
          <a:solidFill>
            <a:srgbClr val="C0392B"/>
          </a:solidFill>
          <a:ln/>
        </p:spPr>
        <p:txBody>
          <a:bodyPr/>
          <a:lstStyle/>
          <a:p>
            <a:endParaRPr lang="es-PE"/>
          </a:p>
        </p:txBody>
      </p:sp>
      <p:sp>
        <p:nvSpPr>
          <p:cNvPr id="63" name="Text 60"/>
          <p:cNvSpPr txBox="1"/>
          <p:nvPr/>
        </p:nvSpPr>
        <p:spPr>
          <a:xfrm>
            <a:off x="12873051" y="235876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103</a:t>
            </a:r>
            <a:endParaRPr lang="en-US" sz="650"/>
          </a:p>
        </p:txBody>
      </p:sp>
      <p:sp>
        <p:nvSpPr>
          <p:cNvPr id="64" name="Text 61"/>
          <p:cNvSpPr txBox="1"/>
          <p:nvPr/>
        </p:nvSpPr>
        <p:spPr>
          <a:xfrm>
            <a:off x="12781611" y="177311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779829"/>
            <a:ext cx="400803" cy="54044"/>
          </a:xfrm>
          <a:prstGeom prst="rect">
            <a:avLst/>
          </a:prstGeom>
          <a:solidFill>
            <a:srgbClr val="C0392B"/>
          </a:solidFill>
          <a:ln/>
        </p:spPr>
        <p:txBody>
          <a:bodyPr/>
          <a:lstStyle/>
          <a:p>
            <a:endParaRPr lang="es-PE"/>
          </a:p>
        </p:txBody>
      </p:sp>
      <p:sp>
        <p:nvSpPr>
          <p:cNvPr id="66" name="Text 63"/>
          <p:cNvSpPr txBox="1"/>
          <p:nvPr/>
        </p:nvSpPr>
        <p:spPr>
          <a:xfrm>
            <a:off x="14091870" y="2733700"/>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8</a:t>
            </a:r>
            <a:endParaRPr lang="en-US" sz="650"/>
          </a:p>
        </p:txBody>
      </p:sp>
      <p:sp>
        <p:nvSpPr>
          <p:cNvPr id="67" name="Text 64"/>
          <p:cNvSpPr txBox="1"/>
          <p:nvPr/>
        </p:nvSpPr>
        <p:spPr>
          <a:xfrm>
            <a:off x="13371027" y="246893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84012"/>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779829"/>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833874"/>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con una brecha proporcionalmente mayor que en con deuda: Próximo Recurrente (103 vs. 8), Nuevo en Expansión (97 vs. 4) y Emprendedor Izipay (28 vs. 2).</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El giro de Emprendedor Izipay respecto al corte anterior es total: antes era el único donde "no gestionado" empataba o superaba a "monto no comparable"; con este corte, el desajuste de monto le gana por 14 a 1.</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queda casi en cero en los 3 (2-8 casos) — con esta metodología, prácticamente no hay margen de gestión comercial en ningún cluster sin deuda.</a:t>
            </a:r>
            <a:endParaRPr 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MONTO (S/ MM)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monto se confirma el mismo patrón: "monto no comparable" domina en los 6 clusters con deuda, sin excepción</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304.2</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09409"/>
            <a:ext cx="589416" cy="1132723"/>
          </a:xfrm>
          <a:prstGeom prst="rect">
            <a:avLst/>
          </a:prstGeom>
          <a:solidFill>
            <a:srgbClr val="5AA6A3"/>
          </a:solidFill>
          <a:ln/>
        </p:spPr>
        <p:txBody>
          <a:bodyPr/>
          <a:lstStyle/>
          <a:p>
            <a:endParaRPr lang="es-PE"/>
          </a:p>
        </p:txBody>
      </p:sp>
      <p:sp>
        <p:nvSpPr>
          <p:cNvPr id="13" name="Text 10"/>
          <p:cNvSpPr txBox="1"/>
          <p:nvPr/>
        </p:nvSpPr>
        <p:spPr>
          <a:xfrm>
            <a:off x="2007970" y="200824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262.6</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720558"/>
            <a:ext cx="589416" cy="621574"/>
          </a:xfrm>
          <a:prstGeom prst="rect">
            <a:avLst/>
          </a:prstGeom>
          <a:solidFill>
            <a:srgbClr val="0B2E2C"/>
          </a:solidFill>
          <a:ln/>
        </p:spPr>
        <p:txBody>
          <a:bodyPr/>
          <a:lstStyle/>
          <a:p>
            <a:endParaRPr lang="es-PE"/>
          </a:p>
        </p:txBody>
      </p:sp>
      <p:sp>
        <p:nvSpPr>
          <p:cNvPr id="16" name="Text 13"/>
          <p:cNvSpPr txBox="1"/>
          <p:nvPr/>
        </p:nvSpPr>
        <p:spPr>
          <a:xfrm>
            <a:off x="3964832" y="251939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144.1</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09409"/>
            <a:ext cx="400803" cy="436094"/>
          </a:xfrm>
          <a:prstGeom prst="rect">
            <a:avLst/>
          </a:prstGeom>
          <a:solidFill>
            <a:srgbClr val="C0392B"/>
          </a:solidFill>
          <a:ln/>
        </p:spPr>
        <p:txBody>
          <a:bodyPr/>
          <a:lstStyle/>
          <a:p>
            <a:endParaRPr lang="es-PE"/>
          </a:p>
        </p:txBody>
      </p:sp>
      <p:sp>
        <p:nvSpPr>
          <p:cNvPr id="19" name="Text 16"/>
          <p:cNvSpPr txBox="1"/>
          <p:nvPr/>
        </p:nvSpPr>
        <p:spPr>
          <a:xfrm>
            <a:off x="2767712" y="235430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101.1</a:t>
            </a:r>
            <a:endParaRPr lang="en-US" sz="650"/>
          </a:p>
        </p:txBody>
      </p:sp>
      <p:sp>
        <p:nvSpPr>
          <p:cNvPr id="20" name="Text 17"/>
          <p:cNvSpPr txBox="1"/>
          <p:nvPr/>
        </p:nvSpPr>
        <p:spPr>
          <a:xfrm>
            <a:off x="2676272" y="189851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645503"/>
            <a:ext cx="400803" cy="75055"/>
          </a:xfrm>
          <a:prstGeom prst="rect">
            <a:avLst/>
          </a:prstGeom>
          <a:solidFill>
            <a:srgbClr val="C0392B"/>
          </a:solidFill>
          <a:ln/>
        </p:spPr>
        <p:txBody>
          <a:bodyPr/>
          <a:lstStyle/>
          <a:p>
            <a:endParaRPr lang="es-PE"/>
          </a:p>
        </p:txBody>
      </p:sp>
      <p:sp>
        <p:nvSpPr>
          <p:cNvPr id="22" name="Text 19"/>
          <p:cNvSpPr txBox="1"/>
          <p:nvPr/>
        </p:nvSpPr>
        <p:spPr>
          <a:xfrm>
            <a:off x="3986531" y="260987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17.4</a:t>
            </a:r>
            <a:endParaRPr lang="en-US" sz="650"/>
          </a:p>
        </p:txBody>
      </p:sp>
      <p:sp>
        <p:nvSpPr>
          <p:cNvPr id="23" name="Text 20"/>
          <p:cNvSpPr txBox="1"/>
          <p:nvPr/>
        </p:nvSpPr>
        <p:spPr>
          <a:xfrm>
            <a:off x="3265688" y="233460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09409"/>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645503"/>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720558"/>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361.9</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71302"/>
            <a:ext cx="589416" cy="1270830"/>
          </a:xfrm>
          <a:prstGeom prst="rect">
            <a:avLst/>
          </a:prstGeom>
          <a:solidFill>
            <a:srgbClr val="5AA6A3"/>
          </a:solidFill>
          <a:ln/>
        </p:spPr>
        <p:txBody>
          <a:bodyPr/>
          <a:lstStyle/>
          <a:p>
            <a:endParaRPr lang="es-PE"/>
          </a:p>
        </p:txBody>
      </p:sp>
      <p:sp>
        <p:nvSpPr>
          <p:cNvPr id="35" name="Text 32"/>
          <p:cNvSpPr txBox="1"/>
          <p:nvPr/>
        </p:nvSpPr>
        <p:spPr>
          <a:xfrm>
            <a:off x="7060640" y="187013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350.5</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909578"/>
            <a:ext cx="589416" cy="432554"/>
          </a:xfrm>
          <a:prstGeom prst="rect">
            <a:avLst/>
          </a:prstGeom>
          <a:solidFill>
            <a:srgbClr val="0B2E2C"/>
          </a:solidFill>
          <a:ln/>
        </p:spPr>
        <p:txBody>
          <a:bodyPr/>
          <a:lstStyle/>
          <a:p>
            <a:endParaRPr lang="es-PE"/>
          </a:p>
        </p:txBody>
      </p:sp>
      <p:sp>
        <p:nvSpPr>
          <p:cNvPr id="38" name="Text 35"/>
          <p:cNvSpPr txBox="1"/>
          <p:nvPr/>
        </p:nvSpPr>
        <p:spPr>
          <a:xfrm>
            <a:off x="9017502" y="270841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119.3</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71302"/>
            <a:ext cx="400803" cy="737843"/>
          </a:xfrm>
          <a:prstGeom prst="rect">
            <a:avLst/>
          </a:prstGeom>
          <a:solidFill>
            <a:srgbClr val="C0392B"/>
          </a:solidFill>
          <a:ln/>
        </p:spPr>
        <p:txBody>
          <a:bodyPr/>
          <a:lstStyle/>
          <a:p>
            <a:endParaRPr lang="es-PE"/>
          </a:p>
        </p:txBody>
      </p:sp>
      <p:sp>
        <p:nvSpPr>
          <p:cNvPr id="41" name="Text 38"/>
          <p:cNvSpPr txBox="1"/>
          <p:nvPr/>
        </p:nvSpPr>
        <p:spPr>
          <a:xfrm>
            <a:off x="7820381" y="236707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203.5</a:t>
            </a:r>
            <a:endParaRPr lang="en-US" sz="650"/>
          </a:p>
        </p:txBody>
      </p:sp>
      <p:sp>
        <p:nvSpPr>
          <p:cNvPr id="42" name="Text 39"/>
          <p:cNvSpPr txBox="1"/>
          <p:nvPr/>
        </p:nvSpPr>
        <p:spPr>
          <a:xfrm>
            <a:off x="7728941" y="176040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809145"/>
            <a:ext cx="400803" cy="100434"/>
          </a:xfrm>
          <a:prstGeom prst="rect">
            <a:avLst/>
          </a:prstGeom>
          <a:solidFill>
            <a:srgbClr val="C0392B"/>
          </a:solidFill>
          <a:ln/>
        </p:spPr>
        <p:txBody>
          <a:bodyPr/>
          <a:lstStyle/>
          <a:p>
            <a:endParaRPr lang="es-PE"/>
          </a:p>
        </p:txBody>
      </p:sp>
      <p:sp>
        <p:nvSpPr>
          <p:cNvPr id="44" name="Text 41"/>
          <p:cNvSpPr txBox="1"/>
          <p:nvPr/>
        </p:nvSpPr>
        <p:spPr>
          <a:xfrm>
            <a:off x="9039201" y="2786210"/>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27.7</a:t>
            </a:r>
            <a:endParaRPr lang="en-US" sz="650"/>
          </a:p>
        </p:txBody>
      </p:sp>
      <p:sp>
        <p:nvSpPr>
          <p:cNvPr id="45" name="Text 42"/>
          <p:cNvSpPr txBox="1"/>
          <p:nvPr/>
        </p:nvSpPr>
        <p:spPr>
          <a:xfrm>
            <a:off x="8318358" y="249824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71302"/>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809145"/>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909578"/>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458.2</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166282"/>
            <a:ext cx="589416" cy="1175850"/>
          </a:xfrm>
          <a:prstGeom prst="rect">
            <a:avLst/>
          </a:prstGeom>
          <a:solidFill>
            <a:srgbClr val="5AA6A3"/>
          </a:solidFill>
          <a:ln/>
        </p:spPr>
        <p:txBody>
          <a:bodyPr/>
          <a:lstStyle/>
          <a:p>
            <a:endParaRPr lang="es-PE"/>
          </a:p>
        </p:txBody>
      </p:sp>
      <p:sp>
        <p:nvSpPr>
          <p:cNvPr id="57" name="Text 54"/>
          <p:cNvSpPr txBox="1"/>
          <p:nvPr/>
        </p:nvSpPr>
        <p:spPr>
          <a:xfrm>
            <a:off x="12113310" y="19651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410.6</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770530"/>
            <a:ext cx="589416" cy="571602"/>
          </a:xfrm>
          <a:prstGeom prst="rect">
            <a:avLst/>
          </a:prstGeom>
          <a:solidFill>
            <a:srgbClr val="0B2E2C"/>
          </a:solidFill>
          <a:ln/>
        </p:spPr>
        <p:txBody>
          <a:bodyPr/>
          <a:lstStyle/>
          <a:p>
            <a:endParaRPr lang="es-PE"/>
          </a:p>
        </p:txBody>
      </p:sp>
      <p:sp>
        <p:nvSpPr>
          <p:cNvPr id="60" name="Text 57"/>
          <p:cNvSpPr txBox="1"/>
          <p:nvPr/>
        </p:nvSpPr>
        <p:spPr>
          <a:xfrm>
            <a:off x="14070172" y="256936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199.6</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166282"/>
            <a:ext cx="400803" cy="520914"/>
          </a:xfrm>
          <a:prstGeom prst="rect">
            <a:avLst/>
          </a:prstGeom>
          <a:solidFill>
            <a:srgbClr val="C0392B"/>
          </a:solidFill>
          <a:ln/>
        </p:spPr>
        <p:txBody>
          <a:bodyPr/>
          <a:lstStyle/>
          <a:p>
            <a:endParaRPr lang="es-PE"/>
          </a:p>
        </p:txBody>
      </p:sp>
      <p:sp>
        <p:nvSpPr>
          <p:cNvPr id="63" name="Text 60"/>
          <p:cNvSpPr txBox="1"/>
          <p:nvPr/>
        </p:nvSpPr>
        <p:spPr>
          <a:xfrm>
            <a:off x="12873051" y="235358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181.9</a:t>
            </a:r>
            <a:endParaRPr lang="en-US" sz="650"/>
          </a:p>
        </p:txBody>
      </p:sp>
      <p:sp>
        <p:nvSpPr>
          <p:cNvPr id="64" name="Text 61"/>
          <p:cNvSpPr txBox="1"/>
          <p:nvPr/>
        </p:nvSpPr>
        <p:spPr>
          <a:xfrm>
            <a:off x="12781611" y="18553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687195"/>
            <a:ext cx="400803" cy="83335"/>
          </a:xfrm>
          <a:prstGeom prst="rect">
            <a:avLst/>
          </a:prstGeom>
          <a:solidFill>
            <a:srgbClr val="C0392B"/>
          </a:solidFill>
          <a:ln/>
        </p:spPr>
        <p:txBody>
          <a:bodyPr/>
          <a:lstStyle/>
          <a:p>
            <a:endParaRPr lang="es-PE"/>
          </a:p>
        </p:txBody>
      </p:sp>
      <p:sp>
        <p:nvSpPr>
          <p:cNvPr id="66" name="Text 63"/>
          <p:cNvSpPr txBox="1"/>
          <p:nvPr/>
        </p:nvSpPr>
        <p:spPr>
          <a:xfrm>
            <a:off x="14091870" y="2655711"/>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29.1</a:t>
            </a:r>
            <a:endParaRPr lang="en-US" sz="650"/>
          </a:p>
        </p:txBody>
      </p:sp>
      <p:sp>
        <p:nvSpPr>
          <p:cNvPr id="67" name="Text 64"/>
          <p:cNvSpPr txBox="1"/>
          <p:nvPr/>
        </p:nvSpPr>
        <p:spPr>
          <a:xfrm>
            <a:off x="13371027" y="237629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166282"/>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687195"/>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770530"/>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520.9</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04303"/>
            <a:ext cx="589416" cy="1174121"/>
          </a:xfrm>
          <a:prstGeom prst="rect">
            <a:avLst/>
          </a:prstGeom>
          <a:solidFill>
            <a:srgbClr val="5AA6A3"/>
          </a:solidFill>
          <a:ln/>
        </p:spPr>
        <p:txBody>
          <a:bodyPr/>
          <a:lstStyle/>
          <a:p>
            <a:endParaRPr lang="es-PE"/>
          </a:p>
        </p:txBody>
      </p:sp>
      <p:sp>
        <p:nvSpPr>
          <p:cNvPr id="79" name="Text 76"/>
          <p:cNvSpPr txBox="1"/>
          <p:nvPr/>
        </p:nvSpPr>
        <p:spPr>
          <a:xfrm>
            <a:off x="2007970" y="430313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466.1</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290493"/>
            <a:ext cx="589416" cy="387931"/>
          </a:xfrm>
          <a:prstGeom prst="rect">
            <a:avLst/>
          </a:prstGeom>
          <a:solidFill>
            <a:srgbClr val="0B2E2C"/>
          </a:solidFill>
          <a:ln/>
        </p:spPr>
        <p:txBody>
          <a:bodyPr/>
          <a:lstStyle/>
          <a:p>
            <a:endParaRPr lang="es-PE"/>
          </a:p>
        </p:txBody>
      </p:sp>
      <p:sp>
        <p:nvSpPr>
          <p:cNvPr id="82" name="Text 79"/>
          <p:cNvSpPr txBox="1"/>
          <p:nvPr/>
        </p:nvSpPr>
        <p:spPr>
          <a:xfrm>
            <a:off x="3964832" y="508932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154.0</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04303"/>
            <a:ext cx="400803" cy="679383"/>
          </a:xfrm>
          <a:prstGeom prst="rect">
            <a:avLst/>
          </a:prstGeom>
          <a:solidFill>
            <a:srgbClr val="C0392B"/>
          </a:solidFill>
          <a:ln/>
        </p:spPr>
        <p:txBody>
          <a:bodyPr/>
          <a:lstStyle/>
          <a:p>
            <a:endParaRPr lang="es-PE"/>
          </a:p>
        </p:txBody>
      </p:sp>
      <p:sp>
        <p:nvSpPr>
          <p:cNvPr id="85" name="Text 82"/>
          <p:cNvSpPr txBox="1"/>
          <p:nvPr/>
        </p:nvSpPr>
        <p:spPr>
          <a:xfrm>
            <a:off x="2767712" y="477084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269.7</a:t>
            </a:r>
            <a:endParaRPr lang="en-US" sz="650"/>
          </a:p>
        </p:txBody>
      </p:sp>
      <p:sp>
        <p:nvSpPr>
          <p:cNvPr id="86" name="Text 83"/>
          <p:cNvSpPr txBox="1"/>
          <p:nvPr/>
        </p:nvSpPr>
        <p:spPr>
          <a:xfrm>
            <a:off x="2676272" y="419340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5183686"/>
            <a:ext cx="400803" cy="106807"/>
          </a:xfrm>
          <a:prstGeom prst="rect">
            <a:avLst/>
          </a:prstGeom>
          <a:solidFill>
            <a:srgbClr val="C0392B"/>
          </a:solidFill>
          <a:ln/>
        </p:spPr>
        <p:txBody>
          <a:bodyPr/>
          <a:lstStyle/>
          <a:p>
            <a:endParaRPr lang="es-PE"/>
          </a:p>
        </p:txBody>
      </p:sp>
      <p:sp>
        <p:nvSpPr>
          <p:cNvPr id="88" name="Text 85"/>
          <p:cNvSpPr txBox="1"/>
          <p:nvPr/>
        </p:nvSpPr>
        <p:spPr>
          <a:xfrm>
            <a:off x="3986531" y="516393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42.4</a:t>
            </a:r>
            <a:endParaRPr lang="en-US" sz="650"/>
          </a:p>
        </p:txBody>
      </p:sp>
      <p:sp>
        <p:nvSpPr>
          <p:cNvPr id="89" name="Text 86"/>
          <p:cNvSpPr txBox="1"/>
          <p:nvPr/>
        </p:nvSpPr>
        <p:spPr>
          <a:xfrm>
            <a:off x="3265688" y="487279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04303"/>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5183686"/>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290493"/>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748.7</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49683"/>
            <a:ext cx="589416" cy="1228741"/>
          </a:xfrm>
          <a:prstGeom prst="rect">
            <a:avLst/>
          </a:prstGeom>
          <a:solidFill>
            <a:srgbClr val="5AA6A3"/>
          </a:solidFill>
          <a:ln/>
        </p:spPr>
        <p:txBody>
          <a:bodyPr/>
          <a:lstStyle/>
          <a:p>
            <a:endParaRPr lang="es-PE"/>
          </a:p>
        </p:txBody>
      </p:sp>
      <p:sp>
        <p:nvSpPr>
          <p:cNvPr id="101" name="Text 98"/>
          <p:cNvSpPr txBox="1"/>
          <p:nvPr/>
        </p:nvSpPr>
        <p:spPr>
          <a:xfrm>
            <a:off x="7060640" y="424851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701.1</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228008"/>
            <a:ext cx="589416" cy="450416"/>
          </a:xfrm>
          <a:prstGeom prst="rect">
            <a:avLst/>
          </a:prstGeom>
          <a:solidFill>
            <a:srgbClr val="0B2E2C"/>
          </a:solidFill>
          <a:ln/>
        </p:spPr>
        <p:txBody>
          <a:bodyPr/>
          <a:lstStyle/>
          <a:p>
            <a:endParaRPr lang="es-PE"/>
          </a:p>
        </p:txBody>
      </p:sp>
      <p:sp>
        <p:nvSpPr>
          <p:cNvPr id="104" name="Text 101"/>
          <p:cNvSpPr txBox="1"/>
          <p:nvPr/>
        </p:nvSpPr>
        <p:spPr>
          <a:xfrm>
            <a:off x="9017502" y="502684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257.0</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49683"/>
            <a:ext cx="400803" cy="665809"/>
          </a:xfrm>
          <a:prstGeom prst="rect">
            <a:avLst/>
          </a:prstGeom>
          <a:solidFill>
            <a:srgbClr val="C0392B"/>
          </a:solidFill>
          <a:ln/>
        </p:spPr>
        <p:txBody>
          <a:bodyPr/>
          <a:lstStyle/>
          <a:p>
            <a:endParaRPr lang="es-PE"/>
          </a:p>
        </p:txBody>
      </p:sp>
      <p:sp>
        <p:nvSpPr>
          <p:cNvPr id="107" name="Text 104"/>
          <p:cNvSpPr txBox="1"/>
          <p:nvPr/>
        </p:nvSpPr>
        <p:spPr>
          <a:xfrm>
            <a:off x="7820381" y="470943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379.9</a:t>
            </a:r>
            <a:endParaRPr lang="en-US" sz="650"/>
          </a:p>
        </p:txBody>
      </p:sp>
      <p:sp>
        <p:nvSpPr>
          <p:cNvPr id="108" name="Text 105"/>
          <p:cNvSpPr txBox="1"/>
          <p:nvPr/>
        </p:nvSpPr>
        <p:spPr>
          <a:xfrm>
            <a:off x="7728941" y="413878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5115492"/>
            <a:ext cx="400803" cy="112516"/>
          </a:xfrm>
          <a:prstGeom prst="rect">
            <a:avLst/>
          </a:prstGeom>
          <a:solidFill>
            <a:srgbClr val="C0392B"/>
          </a:solidFill>
          <a:ln/>
        </p:spPr>
        <p:txBody>
          <a:bodyPr/>
          <a:lstStyle/>
          <a:p>
            <a:endParaRPr lang="es-PE"/>
          </a:p>
        </p:txBody>
      </p:sp>
      <p:sp>
        <p:nvSpPr>
          <p:cNvPr id="110" name="Text 107"/>
          <p:cNvSpPr txBox="1"/>
          <p:nvPr/>
        </p:nvSpPr>
        <p:spPr>
          <a:xfrm>
            <a:off x="9039201" y="509859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64.2</a:t>
            </a:r>
            <a:endParaRPr lang="en-US" sz="650"/>
          </a:p>
        </p:txBody>
      </p:sp>
      <p:sp>
        <p:nvSpPr>
          <p:cNvPr id="111" name="Text 108"/>
          <p:cNvSpPr txBox="1"/>
          <p:nvPr/>
        </p:nvSpPr>
        <p:spPr>
          <a:xfrm>
            <a:off x="8318358" y="480459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49683"/>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5115492"/>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228008"/>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204.9</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468082"/>
            <a:ext cx="589416" cy="1210342"/>
          </a:xfrm>
          <a:prstGeom prst="rect">
            <a:avLst/>
          </a:prstGeom>
          <a:solidFill>
            <a:srgbClr val="5AA6A3"/>
          </a:solidFill>
          <a:ln/>
        </p:spPr>
        <p:txBody>
          <a:bodyPr/>
          <a:lstStyle/>
          <a:p>
            <a:endParaRPr lang="es-PE"/>
          </a:p>
        </p:txBody>
      </p:sp>
      <p:sp>
        <p:nvSpPr>
          <p:cNvPr id="123" name="Text 120"/>
          <p:cNvSpPr txBox="1"/>
          <p:nvPr/>
        </p:nvSpPr>
        <p:spPr>
          <a:xfrm>
            <a:off x="12113310" y="42669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189.0</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5169952"/>
            <a:ext cx="589416" cy="508472"/>
          </a:xfrm>
          <a:prstGeom prst="rect">
            <a:avLst/>
          </a:prstGeom>
          <a:solidFill>
            <a:srgbClr val="0B2E2C"/>
          </a:solidFill>
          <a:ln/>
        </p:spPr>
        <p:txBody>
          <a:bodyPr/>
          <a:lstStyle/>
          <a:p>
            <a:endParaRPr lang="es-PE"/>
          </a:p>
        </p:txBody>
      </p:sp>
      <p:sp>
        <p:nvSpPr>
          <p:cNvPr id="126" name="Text 123"/>
          <p:cNvSpPr txBox="1"/>
          <p:nvPr/>
        </p:nvSpPr>
        <p:spPr>
          <a:xfrm>
            <a:off x="14070172" y="496878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79.4</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468082"/>
            <a:ext cx="400803" cy="623102"/>
          </a:xfrm>
          <a:prstGeom prst="rect">
            <a:avLst/>
          </a:prstGeom>
          <a:solidFill>
            <a:srgbClr val="C0392B"/>
          </a:solidFill>
          <a:ln/>
        </p:spPr>
        <p:txBody>
          <a:bodyPr/>
          <a:lstStyle/>
          <a:p>
            <a:endParaRPr lang="es-PE"/>
          </a:p>
        </p:txBody>
      </p:sp>
      <p:sp>
        <p:nvSpPr>
          <p:cNvPr id="129" name="Text 126"/>
          <p:cNvSpPr txBox="1"/>
          <p:nvPr/>
        </p:nvSpPr>
        <p:spPr>
          <a:xfrm>
            <a:off x="12873051" y="470648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97.3</a:t>
            </a:r>
            <a:endParaRPr lang="en-US" sz="650"/>
          </a:p>
        </p:txBody>
      </p:sp>
      <p:sp>
        <p:nvSpPr>
          <p:cNvPr id="130" name="Text 127"/>
          <p:cNvSpPr txBox="1"/>
          <p:nvPr/>
        </p:nvSpPr>
        <p:spPr>
          <a:xfrm>
            <a:off x="12781611" y="41571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5091184"/>
            <a:ext cx="400803" cy="78768"/>
          </a:xfrm>
          <a:prstGeom prst="rect">
            <a:avLst/>
          </a:prstGeom>
          <a:solidFill>
            <a:srgbClr val="C0392B"/>
          </a:solidFill>
          <a:ln/>
        </p:spPr>
        <p:txBody>
          <a:bodyPr/>
          <a:lstStyle/>
          <a:p>
            <a:endParaRPr lang="es-PE"/>
          </a:p>
        </p:txBody>
      </p:sp>
      <p:sp>
        <p:nvSpPr>
          <p:cNvPr id="132" name="Text 129"/>
          <p:cNvSpPr txBox="1"/>
          <p:nvPr/>
        </p:nvSpPr>
        <p:spPr>
          <a:xfrm>
            <a:off x="14091870" y="5057416"/>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12.3</a:t>
            </a:r>
            <a:endParaRPr lang="en-US" sz="650"/>
          </a:p>
        </p:txBody>
      </p:sp>
      <p:sp>
        <p:nvSpPr>
          <p:cNvPr id="133" name="Text 130"/>
          <p:cNvSpPr txBox="1"/>
          <p:nvPr/>
        </p:nvSpPr>
        <p:spPr>
          <a:xfrm>
            <a:off x="13371027" y="478028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468082"/>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5091184"/>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5169952"/>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domina en los 6 en monto, igual que en unidades: Gran Cuenta por Conquistar (S/379.9 vs. 64.2 MM), Maduro Multibanco (S/269.7 vs. 42.4 MM), Socio en Crecimiento (S/203.5 vs. 27.7 MM), Cuenta Estratégica (S/181.9 vs. 29.1 MM), Cliente Ancla (S/101.1 vs. 17.4 MM) y Cliente por Reactivar (S/97.3 vs. 12.3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Gran Cuenta por Conquistar es, por lejos, el mayor desajuste de monto de toda la cartera (S/379.9 MM) — casi 6 veces su propio "no gestionado" y más grande que el de cualquier otro cluster.</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Con este corte, la lectura de monto y de unidades coinciden totalmente: en los 6 clusters con deuda, el techo del share es el desajuste de ticket frente a la competencia, no la falta de gestión comercial.</a:t>
            </a:r>
            <a:endParaRPr 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MONTO (S/ MM) · 2025Q2 A 2026Q2 (5 TRIMESTRES)</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sin deuda, el desajuste de monto domina en valor en los 3, con la misma contundencia que en unidades</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21.1</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43487"/>
            <a:ext cx="589416" cy="3252057"/>
          </a:xfrm>
          <a:prstGeom prst="rect">
            <a:avLst/>
          </a:prstGeom>
          <a:solidFill>
            <a:srgbClr val="5AA6A3"/>
          </a:solidFill>
          <a:ln/>
        </p:spPr>
        <p:txBody>
          <a:bodyPr/>
          <a:lstStyle/>
          <a:p>
            <a:endParaRPr lang="es-PE"/>
          </a:p>
        </p:txBody>
      </p:sp>
      <p:sp>
        <p:nvSpPr>
          <p:cNvPr id="13" name="Text 10"/>
          <p:cNvSpPr txBox="1"/>
          <p:nvPr/>
        </p:nvSpPr>
        <p:spPr>
          <a:xfrm>
            <a:off x="2007970" y="204231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19.8</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900468"/>
            <a:ext cx="589416" cy="2595076"/>
          </a:xfrm>
          <a:prstGeom prst="rect">
            <a:avLst/>
          </a:prstGeom>
          <a:solidFill>
            <a:srgbClr val="0B2E2C"/>
          </a:solidFill>
          <a:ln/>
        </p:spPr>
        <p:txBody>
          <a:bodyPr/>
          <a:lstStyle/>
          <a:p>
            <a:endParaRPr lang="es-PE"/>
          </a:p>
        </p:txBody>
      </p:sp>
      <p:sp>
        <p:nvSpPr>
          <p:cNvPr id="16" name="Text 13"/>
          <p:cNvSpPr txBox="1"/>
          <p:nvPr/>
        </p:nvSpPr>
        <p:spPr>
          <a:xfrm>
            <a:off x="3964832" y="26993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15.8</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43487"/>
            <a:ext cx="400803" cy="591283"/>
          </a:xfrm>
          <a:prstGeom prst="rect">
            <a:avLst/>
          </a:prstGeom>
          <a:solidFill>
            <a:srgbClr val="C0392B"/>
          </a:solidFill>
          <a:ln/>
        </p:spPr>
        <p:txBody>
          <a:bodyPr/>
          <a:lstStyle/>
          <a:p>
            <a:endParaRPr lang="es-PE"/>
          </a:p>
        </p:txBody>
      </p:sp>
      <p:sp>
        <p:nvSpPr>
          <p:cNvPr id="19" name="Text 16"/>
          <p:cNvSpPr txBox="1"/>
          <p:nvPr/>
        </p:nvSpPr>
        <p:spPr>
          <a:xfrm>
            <a:off x="2767712" y="246597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3.6</a:t>
            </a:r>
            <a:endParaRPr lang="en-US" sz="650"/>
          </a:p>
        </p:txBody>
      </p:sp>
      <p:sp>
        <p:nvSpPr>
          <p:cNvPr id="20" name="Text 17"/>
          <p:cNvSpPr txBox="1"/>
          <p:nvPr/>
        </p:nvSpPr>
        <p:spPr>
          <a:xfrm>
            <a:off x="2676272" y="193259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834770"/>
            <a:ext cx="400803" cy="65698"/>
          </a:xfrm>
          <a:prstGeom prst="rect">
            <a:avLst/>
          </a:prstGeom>
          <a:solidFill>
            <a:srgbClr val="C0392B"/>
          </a:solidFill>
          <a:ln/>
        </p:spPr>
        <p:txBody>
          <a:bodyPr/>
          <a:lstStyle/>
          <a:p>
            <a:endParaRPr lang="es-PE"/>
          </a:p>
        </p:txBody>
      </p:sp>
      <p:sp>
        <p:nvSpPr>
          <p:cNvPr id="22" name="Text 19"/>
          <p:cNvSpPr txBox="1"/>
          <p:nvPr/>
        </p:nvSpPr>
        <p:spPr>
          <a:xfrm>
            <a:off x="3986531" y="2794467"/>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0.4</a:t>
            </a:r>
            <a:endParaRPr lang="en-US" sz="650"/>
          </a:p>
        </p:txBody>
      </p:sp>
      <p:sp>
        <p:nvSpPr>
          <p:cNvPr id="23" name="Text 20"/>
          <p:cNvSpPr txBox="1"/>
          <p:nvPr/>
        </p:nvSpPr>
        <p:spPr>
          <a:xfrm>
            <a:off x="3265688" y="2523874"/>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43487"/>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834770"/>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900468"/>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43.6</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53814"/>
            <a:ext cx="589416" cy="3441730"/>
          </a:xfrm>
          <a:prstGeom prst="rect">
            <a:avLst/>
          </a:prstGeom>
          <a:solidFill>
            <a:srgbClr val="5AA6A3"/>
          </a:solidFill>
          <a:ln/>
        </p:spPr>
        <p:txBody>
          <a:bodyPr/>
          <a:lstStyle/>
          <a:p>
            <a:endParaRPr lang="es-PE"/>
          </a:p>
        </p:txBody>
      </p:sp>
      <p:sp>
        <p:nvSpPr>
          <p:cNvPr id="35" name="Text 32"/>
          <p:cNvSpPr txBox="1"/>
          <p:nvPr/>
        </p:nvSpPr>
        <p:spPr>
          <a:xfrm>
            <a:off x="7060640" y="185264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43.3</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3516350"/>
            <a:ext cx="589416" cy="1979194"/>
          </a:xfrm>
          <a:prstGeom prst="rect">
            <a:avLst/>
          </a:prstGeom>
          <a:solidFill>
            <a:srgbClr val="0B2E2C"/>
          </a:solidFill>
          <a:ln/>
        </p:spPr>
        <p:txBody>
          <a:bodyPr/>
          <a:lstStyle/>
          <a:p>
            <a:endParaRPr lang="es-PE"/>
          </a:p>
        </p:txBody>
      </p:sp>
      <p:sp>
        <p:nvSpPr>
          <p:cNvPr id="38" name="Text 35"/>
          <p:cNvSpPr txBox="1"/>
          <p:nvPr/>
        </p:nvSpPr>
        <p:spPr>
          <a:xfrm>
            <a:off x="9017502" y="331518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24.9</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53814"/>
            <a:ext cx="400803" cy="1406897"/>
          </a:xfrm>
          <a:prstGeom prst="rect">
            <a:avLst/>
          </a:prstGeom>
          <a:solidFill>
            <a:srgbClr val="C0392B"/>
          </a:solidFill>
          <a:ln/>
        </p:spPr>
        <p:txBody>
          <a:bodyPr/>
          <a:lstStyle/>
          <a:p>
            <a:endParaRPr lang="es-PE"/>
          </a:p>
        </p:txBody>
      </p:sp>
      <p:sp>
        <p:nvSpPr>
          <p:cNvPr id="41" name="Text 38"/>
          <p:cNvSpPr txBox="1"/>
          <p:nvPr/>
        </p:nvSpPr>
        <p:spPr>
          <a:xfrm>
            <a:off x="7820381" y="268411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17.7</a:t>
            </a:r>
            <a:endParaRPr lang="en-US" sz="650"/>
          </a:p>
        </p:txBody>
      </p:sp>
      <p:sp>
        <p:nvSpPr>
          <p:cNvPr id="42" name="Text 39"/>
          <p:cNvSpPr txBox="1"/>
          <p:nvPr/>
        </p:nvSpPr>
        <p:spPr>
          <a:xfrm>
            <a:off x="7728941" y="174291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3460710"/>
            <a:ext cx="400803" cy="55640"/>
          </a:xfrm>
          <a:prstGeom prst="rect">
            <a:avLst/>
          </a:prstGeom>
          <a:solidFill>
            <a:srgbClr val="C0392B"/>
          </a:solidFill>
          <a:ln/>
        </p:spPr>
        <p:txBody>
          <a:bodyPr/>
          <a:lstStyle/>
          <a:p>
            <a:endParaRPr lang="es-PE"/>
          </a:p>
        </p:txBody>
      </p:sp>
      <p:sp>
        <p:nvSpPr>
          <p:cNvPr id="44" name="Text 41"/>
          <p:cNvSpPr txBox="1"/>
          <p:nvPr/>
        </p:nvSpPr>
        <p:spPr>
          <a:xfrm>
            <a:off x="9039201" y="341537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0.7</a:t>
            </a:r>
            <a:endParaRPr lang="en-US" sz="650"/>
          </a:p>
        </p:txBody>
      </p:sp>
      <p:sp>
        <p:nvSpPr>
          <p:cNvPr id="45" name="Text 42"/>
          <p:cNvSpPr txBox="1"/>
          <p:nvPr/>
        </p:nvSpPr>
        <p:spPr>
          <a:xfrm>
            <a:off x="8318358" y="3149814"/>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53814"/>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3460710"/>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3516350"/>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70.2</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84272"/>
            <a:ext cx="589416" cy="3411272"/>
          </a:xfrm>
          <a:prstGeom prst="rect">
            <a:avLst/>
          </a:prstGeom>
          <a:solidFill>
            <a:srgbClr val="5AA6A3"/>
          </a:solidFill>
          <a:ln/>
        </p:spPr>
        <p:txBody>
          <a:bodyPr/>
          <a:lstStyle/>
          <a:p>
            <a:endParaRPr lang="es-PE"/>
          </a:p>
        </p:txBody>
      </p:sp>
      <p:sp>
        <p:nvSpPr>
          <p:cNvPr id="57" name="Text 54"/>
          <p:cNvSpPr txBox="1"/>
          <p:nvPr/>
        </p:nvSpPr>
        <p:spPr>
          <a:xfrm>
            <a:off x="12113310" y="188310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69.1</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3767693"/>
            <a:ext cx="589416" cy="1727851"/>
          </a:xfrm>
          <a:prstGeom prst="rect">
            <a:avLst/>
          </a:prstGeom>
          <a:solidFill>
            <a:srgbClr val="0B2E2C"/>
          </a:solidFill>
          <a:ln/>
        </p:spPr>
        <p:txBody>
          <a:bodyPr/>
          <a:lstStyle/>
          <a:p>
            <a:endParaRPr lang="es-PE"/>
          </a:p>
        </p:txBody>
      </p:sp>
      <p:sp>
        <p:nvSpPr>
          <p:cNvPr id="60" name="Text 57"/>
          <p:cNvSpPr txBox="1"/>
          <p:nvPr/>
        </p:nvSpPr>
        <p:spPr>
          <a:xfrm>
            <a:off x="14070172" y="356652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35.0</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84272"/>
            <a:ext cx="400803" cy="1629117"/>
          </a:xfrm>
          <a:prstGeom prst="rect">
            <a:avLst/>
          </a:prstGeom>
          <a:solidFill>
            <a:srgbClr val="C0392B"/>
          </a:solidFill>
          <a:ln/>
        </p:spPr>
        <p:txBody>
          <a:bodyPr/>
          <a:lstStyle/>
          <a:p>
            <a:endParaRPr lang="es-PE"/>
          </a:p>
        </p:txBody>
      </p:sp>
      <p:sp>
        <p:nvSpPr>
          <p:cNvPr id="63" name="Text 60"/>
          <p:cNvSpPr txBox="1"/>
          <p:nvPr/>
        </p:nvSpPr>
        <p:spPr>
          <a:xfrm>
            <a:off x="12873051" y="282567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33.0</a:t>
            </a:r>
            <a:endParaRPr lang="en-US" sz="650"/>
          </a:p>
        </p:txBody>
      </p:sp>
      <p:sp>
        <p:nvSpPr>
          <p:cNvPr id="64" name="Text 61"/>
          <p:cNvSpPr txBox="1"/>
          <p:nvPr/>
        </p:nvSpPr>
        <p:spPr>
          <a:xfrm>
            <a:off x="12781611" y="177337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3713389"/>
            <a:ext cx="400803" cy="54304"/>
          </a:xfrm>
          <a:prstGeom prst="rect">
            <a:avLst/>
          </a:prstGeom>
          <a:solidFill>
            <a:srgbClr val="C0392B"/>
          </a:solidFill>
          <a:ln/>
        </p:spPr>
        <p:txBody>
          <a:bodyPr/>
          <a:lstStyle/>
          <a:p>
            <a:endParaRPr lang="es-PE"/>
          </a:p>
        </p:txBody>
      </p:sp>
      <p:sp>
        <p:nvSpPr>
          <p:cNvPr id="66" name="Text 63"/>
          <p:cNvSpPr txBox="1"/>
          <p:nvPr/>
        </p:nvSpPr>
        <p:spPr>
          <a:xfrm>
            <a:off x="14091870" y="366738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1.1</a:t>
            </a:r>
            <a:endParaRPr lang="en-US" sz="650"/>
          </a:p>
        </p:txBody>
      </p:sp>
      <p:sp>
        <p:nvSpPr>
          <p:cNvPr id="67" name="Text 64"/>
          <p:cNvSpPr txBox="1"/>
          <p:nvPr/>
        </p:nvSpPr>
        <p:spPr>
          <a:xfrm>
            <a:off x="13371027" y="340249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84272"/>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3713389"/>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3767693"/>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y por mucho: Próximo Recurrente (S/33.0 vs. 1.1 MM), Nuevo en Expansión (S/17.7 vs. 0.7 MM) y Emprendedor Izipay (S/3.6 vs. 0.4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A diferencia del corte anterior, ahora Emprendedor Izipay también queda claramente del lado del desajuste de monto tanto en unidades como en valor — ya no hay ningún cluster, con deuda o sin deuda, donde "no gestionado" sea la categoría relevante.</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Próximo Recurrente vuelve a concentrar el mayor desajuste de monto de los 3 — el patrón más consistente de todos los cortes de datos que hemos revisado hasta ahora.</a:t>
            </a:r>
            <a:endParaRPr 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1000" b="1">
                <a:solidFill>
                  <a:srgbClr val="13807B"/>
                </a:solidFill>
                <a:latin typeface="Arial" pitchFamily="34" charset="0"/>
                <a:ea typeface="Arial" pitchFamily="34" charset="-122"/>
                <a:cs typeface="Arial" pitchFamily="34" charset="-120"/>
              </a:rPr>
              <a:t>SEGMENTACIÓN ESTRATÉGICA · SHARE OF SALES · MARCO METODOLÓGICO</a:t>
            </a:r>
            <a:endParaRPr lang="en-US" sz="1000"/>
          </a:p>
        </p:txBody>
      </p:sp>
      <p:sp>
        <p:nvSpPr>
          <p:cNvPr id="3" name="Text 1"/>
          <p:cNvSpPr txBox="1"/>
          <p:nvPr/>
        </p:nvSpPr>
        <p:spPr>
          <a:xfrm>
            <a:off x="658368" y="530352"/>
            <a:ext cx="13990320" cy="685800"/>
          </a:xfrm>
          <a:prstGeom prst="rect">
            <a:avLst/>
          </a:prstGeom>
          <a:noFill/>
          <a:ln/>
        </p:spPr>
        <p:txBody>
          <a:bodyPr wrap="square" lIns="0" tIns="0" rIns="0" bIns="0" rtlCol="0" anchor="ctr"/>
          <a:lstStyle/>
          <a:p>
            <a:pPr marL="0" indent="0">
              <a:lnSpc>
                <a:spcPct val="100000"/>
              </a:lnSpc>
              <a:buNone/>
            </a:pPr>
            <a:r>
              <a:rPr lang="en-US" sz="2100" b="1">
                <a:solidFill>
                  <a:srgbClr val="13807B"/>
                </a:solidFill>
                <a:latin typeface="Arial" pitchFamily="34" charset="0"/>
                <a:ea typeface="Arial" pitchFamily="34" charset="-122"/>
                <a:cs typeface="Arial" pitchFamily="34" charset="-120"/>
              </a:rPr>
              <a:t>Cuatro capas para medir el share de forma justa: cada capa retira competencia que IBK no podía ganar</a:t>
            </a:r>
            <a:endParaRPr lang="en-US" sz="21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 name="Shape 3"/>
          <p:cNvSpPr/>
          <p:nvPr/>
        </p:nvSpPr>
        <p:spPr>
          <a:xfrm>
            <a:off x="658368" y="1627632"/>
            <a:ext cx="3487750" cy="402336"/>
          </a:xfrm>
          <a:prstGeom prst="rect">
            <a:avLst/>
          </a:prstGeom>
          <a:solidFill>
            <a:srgbClr val="445A6E"/>
          </a:solidFill>
          <a:ln/>
        </p:spPr>
        <p:txBody>
          <a:bodyPr/>
          <a:lstStyle/>
          <a:p>
            <a:endParaRPr lang="es-PE"/>
          </a:p>
        </p:txBody>
      </p:sp>
      <p:sp>
        <p:nvSpPr>
          <p:cNvPr id="7" name="Text 4"/>
          <p:cNvSpPr txBox="1"/>
          <p:nvPr/>
        </p:nvSpPr>
        <p:spPr>
          <a:xfrm>
            <a:off x="822960"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1 · V1</a:t>
            </a:r>
            <a:endParaRPr lang="en-US" sz="1200"/>
          </a:p>
        </p:txBody>
      </p:sp>
      <p:sp>
        <p:nvSpPr>
          <p:cNvPr id="8" name="Text 5"/>
          <p:cNvSpPr txBox="1"/>
          <p:nvPr/>
        </p:nvSpPr>
        <p:spPr>
          <a:xfrm>
            <a:off x="822960"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Universo total</a:t>
            </a:r>
            <a:endParaRPr lang="en-US" sz="1400"/>
          </a:p>
        </p:txBody>
      </p:sp>
      <p:sp>
        <p:nvSpPr>
          <p:cNvPr id="9" name="Text 6"/>
          <p:cNvSpPr txBox="1"/>
          <p:nvPr/>
        </p:nvSpPr>
        <p:spPr>
          <a:xfrm>
            <a:off x="822960"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Todos los desembolsos del cliente: competencia interna (otro producto de CT) y externa (otros bancos).</a:t>
            </a:r>
            <a:endParaRPr lang="en-US" sz="1100"/>
          </a:p>
        </p:txBody>
      </p:sp>
      <p:sp>
        <p:nvSpPr>
          <p:cNvPr id="10" name="Text 7"/>
          <p:cNvSpPr txBox="1"/>
          <p:nvPr/>
        </p:nvSpPr>
        <p:spPr>
          <a:xfrm>
            <a:off x="822960"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11" name="Shape 8"/>
          <p:cNvSpPr/>
          <p:nvPr/>
        </p:nvSpPr>
        <p:spPr>
          <a:xfrm>
            <a:off x="822960" y="4690872"/>
            <a:ext cx="721062" cy="347472"/>
          </a:xfrm>
          <a:prstGeom prst="rect">
            <a:avLst/>
          </a:prstGeom>
          <a:solidFill>
            <a:srgbClr val="8FCBC6"/>
          </a:solidFill>
          <a:ln/>
        </p:spPr>
        <p:txBody>
          <a:bodyPr/>
          <a:lstStyle/>
          <a:p>
            <a:endParaRPr lang="es-PE"/>
          </a:p>
        </p:txBody>
      </p:sp>
      <p:sp>
        <p:nvSpPr>
          <p:cNvPr id="12" name="Text 9"/>
          <p:cNvSpPr txBox="1"/>
          <p:nvPr/>
        </p:nvSpPr>
        <p:spPr>
          <a:xfrm>
            <a:off x="731520"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Interna</a:t>
            </a:r>
            <a:endParaRPr lang="en-US" sz="750"/>
          </a:p>
        </p:txBody>
      </p:sp>
      <p:sp>
        <p:nvSpPr>
          <p:cNvPr id="13" name="Shape 10"/>
          <p:cNvSpPr/>
          <p:nvPr/>
        </p:nvSpPr>
        <p:spPr>
          <a:xfrm>
            <a:off x="1635462" y="4690872"/>
            <a:ext cx="721062" cy="347472"/>
          </a:xfrm>
          <a:prstGeom prst="rect">
            <a:avLst/>
          </a:prstGeom>
          <a:solidFill>
            <a:srgbClr val="8FCBC6"/>
          </a:solidFill>
          <a:ln/>
        </p:spPr>
        <p:txBody>
          <a:bodyPr/>
          <a:lstStyle/>
          <a:p>
            <a:endParaRPr lang="es-PE"/>
          </a:p>
        </p:txBody>
      </p:sp>
      <p:sp>
        <p:nvSpPr>
          <p:cNvPr id="14" name="Text 11"/>
          <p:cNvSpPr txBox="1"/>
          <p:nvPr/>
        </p:nvSpPr>
        <p:spPr>
          <a:xfrm>
            <a:off x="154402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15" name="Shape 12"/>
          <p:cNvSpPr/>
          <p:nvPr/>
        </p:nvSpPr>
        <p:spPr>
          <a:xfrm>
            <a:off x="2447963" y="4690872"/>
            <a:ext cx="721062" cy="347472"/>
          </a:xfrm>
          <a:prstGeom prst="rect">
            <a:avLst/>
          </a:prstGeom>
          <a:solidFill>
            <a:srgbClr val="8FCBC6"/>
          </a:solidFill>
          <a:ln/>
        </p:spPr>
        <p:txBody>
          <a:bodyPr/>
          <a:lstStyle/>
          <a:p>
            <a:endParaRPr lang="es-PE"/>
          </a:p>
        </p:txBody>
      </p:sp>
      <p:sp>
        <p:nvSpPr>
          <p:cNvPr id="16" name="Text 13"/>
          <p:cNvSpPr txBox="1"/>
          <p:nvPr/>
        </p:nvSpPr>
        <p:spPr>
          <a:xfrm>
            <a:off x="235652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17" name="Shape 14"/>
          <p:cNvSpPr/>
          <p:nvPr/>
        </p:nvSpPr>
        <p:spPr>
          <a:xfrm>
            <a:off x="3260465" y="4690872"/>
            <a:ext cx="721062" cy="347472"/>
          </a:xfrm>
          <a:prstGeom prst="rect">
            <a:avLst/>
          </a:prstGeom>
          <a:solidFill>
            <a:srgbClr val="0C514E"/>
          </a:solidFill>
          <a:ln/>
        </p:spPr>
        <p:txBody>
          <a:bodyPr/>
          <a:lstStyle/>
          <a:p>
            <a:endParaRPr lang="es-PE"/>
          </a:p>
        </p:txBody>
      </p:sp>
      <p:sp>
        <p:nvSpPr>
          <p:cNvPr id="18" name="Text 15"/>
          <p:cNvSpPr txBox="1"/>
          <p:nvPr/>
        </p:nvSpPr>
        <p:spPr>
          <a:xfrm>
            <a:off x="3169025"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19" name="Shape 16"/>
          <p:cNvSpPr/>
          <p:nvPr/>
        </p:nvSpPr>
        <p:spPr>
          <a:xfrm>
            <a:off x="822960" y="5632704"/>
            <a:ext cx="3158566" cy="0"/>
          </a:xfrm>
          <a:prstGeom prst="line">
            <a:avLst/>
          </a:prstGeom>
          <a:noFill/>
          <a:ln w="9525">
            <a:solidFill>
              <a:srgbClr val="D5DFDE"/>
            </a:solidFill>
            <a:prstDash val="solid"/>
          </a:ln>
        </p:spPr>
        <p:txBody>
          <a:bodyPr/>
          <a:lstStyle/>
          <a:p>
            <a:endParaRPr lang="es-PE"/>
          </a:p>
        </p:txBody>
      </p:sp>
      <p:sp>
        <p:nvSpPr>
          <p:cNvPr id="20" name="Text 17"/>
          <p:cNvSpPr txBox="1"/>
          <p:nvPr/>
        </p:nvSpPr>
        <p:spPr>
          <a:xfrm>
            <a:off x="822960"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PUNTO DE PARTIDA</a:t>
            </a:r>
            <a:endParaRPr lang="en-US" sz="850"/>
          </a:p>
        </p:txBody>
      </p:sp>
      <p:sp>
        <p:nvSpPr>
          <p:cNvPr id="21" name="Text 18"/>
          <p:cNvSpPr txBox="1"/>
          <p:nvPr/>
        </p:nvSpPr>
        <p:spPr>
          <a:xfrm>
            <a:off x="822960" y="5961888"/>
            <a:ext cx="3158566" cy="347472"/>
          </a:xfrm>
          <a:prstGeom prst="rect">
            <a:avLst/>
          </a:prstGeom>
          <a:noFill/>
          <a:ln/>
        </p:spPr>
        <p:txBody>
          <a:bodyPr wrap="square" lIns="0" tIns="0" rIns="0" bIns="0" rtlCol="0" anchor="ctr"/>
          <a:lstStyle/>
          <a:p>
            <a:pPr marL="0" indent="0">
              <a:buNone/>
            </a:pPr>
            <a:r>
              <a:rPr lang="en-US" sz="1500" b="1">
                <a:solidFill>
                  <a:srgbClr val="13807B"/>
                </a:solidFill>
                <a:latin typeface="Arial" pitchFamily="34" charset="0"/>
                <a:ea typeface="Arial" pitchFamily="34" charset="-122"/>
                <a:cs typeface="Arial" pitchFamily="34" charset="-120"/>
              </a:rPr>
              <a:t>Todo el universo relevante</a:t>
            </a:r>
            <a:endParaRPr lang="en-US" sz="1500"/>
          </a:p>
        </p:txBody>
      </p:sp>
      <p:sp>
        <p:nvSpPr>
          <p:cNvPr id="22" name="Shape 19"/>
          <p:cNvSpPr/>
          <p:nvPr/>
        </p:nvSpPr>
        <p:spPr>
          <a:xfrm>
            <a:off x="4200982" y="3872484"/>
            <a:ext cx="219456" cy="402336"/>
          </a:xfrm>
          <a:prstGeom prst="chevron">
            <a:avLst/>
          </a:prstGeom>
          <a:solidFill>
            <a:srgbClr val="D5DFDE"/>
          </a:solidFill>
          <a:ln/>
        </p:spPr>
        <p:txBody>
          <a:bodyPr/>
          <a:lstStyle/>
          <a:p>
            <a:endParaRPr lang="es-PE"/>
          </a:p>
        </p:txBody>
      </p:sp>
      <p:sp>
        <p:nvSpPr>
          <p:cNvPr id="23" name="Shape 20"/>
          <p:cNvSpPr/>
          <p:nvPr/>
        </p:nvSpPr>
        <p:spPr>
          <a:xfrm>
            <a:off x="4475302"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24" name="Shape 21"/>
          <p:cNvSpPr/>
          <p:nvPr/>
        </p:nvSpPr>
        <p:spPr>
          <a:xfrm>
            <a:off x="4475302" y="1627632"/>
            <a:ext cx="3487750" cy="402336"/>
          </a:xfrm>
          <a:prstGeom prst="rect">
            <a:avLst/>
          </a:prstGeom>
          <a:solidFill>
            <a:srgbClr val="2F9E98"/>
          </a:solidFill>
          <a:ln/>
        </p:spPr>
        <p:txBody>
          <a:bodyPr/>
          <a:lstStyle/>
          <a:p>
            <a:endParaRPr lang="es-PE"/>
          </a:p>
        </p:txBody>
      </p:sp>
      <p:sp>
        <p:nvSpPr>
          <p:cNvPr id="25" name="Text 22"/>
          <p:cNvSpPr txBox="1"/>
          <p:nvPr/>
        </p:nvSpPr>
        <p:spPr>
          <a:xfrm>
            <a:off x="4639894"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2 · V2</a:t>
            </a:r>
            <a:endParaRPr lang="en-US" sz="1200"/>
          </a:p>
        </p:txBody>
      </p:sp>
      <p:sp>
        <p:nvSpPr>
          <p:cNvPr id="26" name="Text 23"/>
          <p:cNvSpPr txBox="1"/>
          <p:nvPr/>
        </p:nvSpPr>
        <p:spPr>
          <a:xfrm>
            <a:off x="4639894"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Sin competencia interna</a:t>
            </a:r>
            <a:endParaRPr lang="en-US" sz="1400"/>
          </a:p>
        </p:txBody>
      </p:sp>
      <p:sp>
        <p:nvSpPr>
          <p:cNvPr id="27" name="Text 24"/>
          <p:cNvSpPr txBox="1"/>
          <p:nvPr/>
        </p:nvSpPr>
        <p:spPr>
          <a:xfrm>
            <a:off x="4639894"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28" name="Text 25"/>
          <p:cNvSpPr txBox="1"/>
          <p:nvPr/>
        </p:nvSpPr>
        <p:spPr>
          <a:xfrm>
            <a:off x="4639894"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29" name="Shape 26"/>
          <p:cNvSpPr/>
          <p:nvPr/>
        </p:nvSpPr>
        <p:spPr>
          <a:xfrm>
            <a:off x="463989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30" name="Text 27"/>
          <p:cNvSpPr txBox="1"/>
          <p:nvPr/>
        </p:nvSpPr>
        <p:spPr>
          <a:xfrm>
            <a:off x="454845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31" name="Shape 28"/>
          <p:cNvSpPr/>
          <p:nvPr/>
        </p:nvSpPr>
        <p:spPr>
          <a:xfrm>
            <a:off x="5452396" y="4690872"/>
            <a:ext cx="721062" cy="347472"/>
          </a:xfrm>
          <a:prstGeom prst="rect">
            <a:avLst/>
          </a:prstGeom>
          <a:solidFill>
            <a:srgbClr val="8FCBC6"/>
          </a:solidFill>
          <a:ln/>
        </p:spPr>
        <p:txBody>
          <a:bodyPr/>
          <a:lstStyle/>
          <a:p>
            <a:endParaRPr lang="es-PE"/>
          </a:p>
        </p:txBody>
      </p:sp>
      <p:sp>
        <p:nvSpPr>
          <p:cNvPr id="32" name="Text 29"/>
          <p:cNvSpPr txBox="1"/>
          <p:nvPr/>
        </p:nvSpPr>
        <p:spPr>
          <a:xfrm>
            <a:off x="5360956"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33" name="Shape 30"/>
          <p:cNvSpPr/>
          <p:nvPr/>
        </p:nvSpPr>
        <p:spPr>
          <a:xfrm>
            <a:off x="6264897" y="4690872"/>
            <a:ext cx="721062" cy="347472"/>
          </a:xfrm>
          <a:prstGeom prst="rect">
            <a:avLst/>
          </a:prstGeom>
          <a:solidFill>
            <a:srgbClr val="8FCBC6"/>
          </a:solidFill>
          <a:ln/>
        </p:spPr>
        <p:txBody>
          <a:bodyPr/>
          <a:lstStyle/>
          <a:p>
            <a:endParaRPr lang="es-PE"/>
          </a:p>
        </p:txBody>
      </p:sp>
      <p:sp>
        <p:nvSpPr>
          <p:cNvPr id="34" name="Text 31"/>
          <p:cNvSpPr txBox="1"/>
          <p:nvPr/>
        </p:nvSpPr>
        <p:spPr>
          <a:xfrm>
            <a:off x="617345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35" name="Shape 32"/>
          <p:cNvSpPr/>
          <p:nvPr/>
        </p:nvSpPr>
        <p:spPr>
          <a:xfrm>
            <a:off x="7077399" y="4690872"/>
            <a:ext cx="721062" cy="347472"/>
          </a:xfrm>
          <a:prstGeom prst="rect">
            <a:avLst/>
          </a:prstGeom>
          <a:solidFill>
            <a:srgbClr val="0C514E"/>
          </a:solidFill>
          <a:ln/>
        </p:spPr>
        <p:txBody>
          <a:bodyPr/>
          <a:lstStyle/>
          <a:p>
            <a:endParaRPr lang="es-PE"/>
          </a:p>
        </p:txBody>
      </p:sp>
      <p:sp>
        <p:nvSpPr>
          <p:cNvPr id="36" name="Text 33"/>
          <p:cNvSpPr txBox="1"/>
          <p:nvPr/>
        </p:nvSpPr>
        <p:spPr>
          <a:xfrm>
            <a:off x="6985959"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37" name="Shape 34"/>
          <p:cNvSpPr/>
          <p:nvPr/>
        </p:nvSpPr>
        <p:spPr>
          <a:xfrm>
            <a:off x="4639894" y="5632704"/>
            <a:ext cx="3158566" cy="0"/>
          </a:xfrm>
          <a:prstGeom prst="line">
            <a:avLst/>
          </a:prstGeom>
          <a:noFill/>
          <a:ln w="9525">
            <a:solidFill>
              <a:srgbClr val="D5DFDE"/>
            </a:solidFill>
            <a:prstDash val="solid"/>
          </a:ln>
        </p:spPr>
        <p:txBody>
          <a:bodyPr/>
          <a:lstStyle/>
          <a:p>
            <a:endParaRPr lang="es-PE"/>
          </a:p>
        </p:txBody>
      </p:sp>
      <p:sp>
        <p:nvSpPr>
          <p:cNvPr id="38" name="Text 35"/>
          <p:cNvSpPr txBox="1"/>
          <p:nvPr/>
        </p:nvSpPr>
        <p:spPr>
          <a:xfrm>
            <a:off x="4639894"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39" name="Text 36"/>
          <p:cNvSpPr txBox="1"/>
          <p:nvPr/>
        </p:nvSpPr>
        <p:spPr>
          <a:xfrm>
            <a:off x="4639894"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Competencia interna</a:t>
            </a:r>
            <a:endParaRPr lang="en-US" sz="1500"/>
          </a:p>
        </p:txBody>
      </p:sp>
      <p:sp>
        <p:nvSpPr>
          <p:cNvPr id="40" name="Shape 37"/>
          <p:cNvSpPr/>
          <p:nvPr/>
        </p:nvSpPr>
        <p:spPr>
          <a:xfrm>
            <a:off x="8017916" y="3872484"/>
            <a:ext cx="219456" cy="402336"/>
          </a:xfrm>
          <a:prstGeom prst="chevron">
            <a:avLst/>
          </a:prstGeom>
          <a:solidFill>
            <a:srgbClr val="D5DFDE"/>
          </a:solidFill>
          <a:ln/>
        </p:spPr>
        <p:txBody>
          <a:bodyPr/>
          <a:lstStyle/>
          <a:p>
            <a:endParaRPr lang="es-PE"/>
          </a:p>
        </p:txBody>
      </p:sp>
      <p:sp>
        <p:nvSpPr>
          <p:cNvPr id="41" name="Shape 38"/>
          <p:cNvSpPr/>
          <p:nvPr/>
        </p:nvSpPr>
        <p:spPr>
          <a:xfrm>
            <a:off x="8292236"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42" name="Shape 39"/>
          <p:cNvSpPr/>
          <p:nvPr/>
        </p:nvSpPr>
        <p:spPr>
          <a:xfrm>
            <a:off x="8292236" y="1627632"/>
            <a:ext cx="3487750" cy="402336"/>
          </a:xfrm>
          <a:prstGeom prst="rect">
            <a:avLst/>
          </a:prstGeom>
          <a:solidFill>
            <a:srgbClr val="13807B"/>
          </a:solidFill>
          <a:ln/>
        </p:spPr>
        <p:txBody>
          <a:bodyPr/>
          <a:lstStyle/>
          <a:p>
            <a:endParaRPr lang="es-PE"/>
          </a:p>
        </p:txBody>
      </p:sp>
      <p:sp>
        <p:nvSpPr>
          <p:cNvPr id="43" name="Text 40"/>
          <p:cNvSpPr txBox="1"/>
          <p:nvPr/>
        </p:nvSpPr>
        <p:spPr>
          <a:xfrm>
            <a:off x="8456828"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3 · V3</a:t>
            </a:r>
            <a:endParaRPr lang="en-US" sz="1200"/>
          </a:p>
        </p:txBody>
      </p:sp>
      <p:sp>
        <p:nvSpPr>
          <p:cNvPr id="44" name="Text 41"/>
          <p:cNvSpPr txBox="1"/>
          <p:nvPr/>
        </p:nvSpPr>
        <p:spPr>
          <a:xfrm>
            <a:off x="8456828"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a:t>
            </a:r>
            <a:endParaRPr lang="en-US" sz="1400"/>
          </a:p>
        </p:txBody>
      </p:sp>
      <p:sp>
        <p:nvSpPr>
          <p:cNvPr id="45" name="Text 42"/>
          <p:cNvSpPr txBox="1"/>
          <p:nvPr/>
        </p:nvSpPr>
        <p:spPr>
          <a:xfrm>
            <a:off x="8456828"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con un monto muy distinto al que maneja el cliente (mayor al 120% del monto ofertado).</a:t>
            </a:r>
            <a:endParaRPr lang="en-US" sz="1100"/>
          </a:p>
        </p:txBody>
      </p:sp>
      <p:sp>
        <p:nvSpPr>
          <p:cNvPr id="46" name="Text 43"/>
          <p:cNvSpPr txBox="1"/>
          <p:nvPr/>
        </p:nvSpPr>
        <p:spPr>
          <a:xfrm>
            <a:off x="8456828"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47" name="Shape 44"/>
          <p:cNvSpPr/>
          <p:nvPr/>
        </p:nvSpPr>
        <p:spPr>
          <a:xfrm>
            <a:off x="8456828"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48" name="Text 45"/>
          <p:cNvSpPr txBox="1"/>
          <p:nvPr/>
        </p:nvSpPr>
        <p:spPr>
          <a:xfrm>
            <a:off x="8365388"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49" name="Shape 46"/>
          <p:cNvSpPr/>
          <p:nvPr/>
        </p:nvSpPr>
        <p:spPr>
          <a:xfrm>
            <a:off x="9269330"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50" name="Text 47"/>
          <p:cNvSpPr txBox="1"/>
          <p:nvPr/>
        </p:nvSpPr>
        <p:spPr>
          <a:xfrm>
            <a:off x="9177890"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51" name="Shape 48"/>
          <p:cNvSpPr/>
          <p:nvPr/>
        </p:nvSpPr>
        <p:spPr>
          <a:xfrm>
            <a:off x="10081832" y="4690872"/>
            <a:ext cx="721062" cy="347472"/>
          </a:xfrm>
          <a:prstGeom prst="rect">
            <a:avLst/>
          </a:prstGeom>
          <a:solidFill>
            <a:srgbClr val="8FCBC6"/>
          </a:solidFill>
          <a:ln/>
        </p:spPr>
        <p:txBody>
          <a:bodyPr/>
          <a:lstStyle/>
          <a:p>
            <a:endParaRPr lang="es-PE"/>
          </a:p>
        </p:txBody>
      </p:sp>
      <p:sp>
        <p:nvSpPr>
          <p:cNvPr id="52" name="Text 49"/>
          <p:cNvSpPr txBox="1"/>
          <p:nvPr/>
        </p:nvSpPr>
        <p:spPr>
          <a:xfrm>
            <a:off x="999039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53" name="Shape 50"/>
          <p:cNvSpPr/>
          <p:nvPr/>
        </p:nvSpPr>
        <p:spPr>
          <a:xfrm>
            <a:off x="10894333" y="4690872"/>
            <a:ext cx="721062" cy="347472"/>
          </a:xfrm>
          <a:prstGeom prst="rect">
            <a:avLst/>
          </a:prstGeom>
          <a:solidFill>
            <a:srgbClr val="0C514E"/>
          </a:solidFill>
          <a:ln/>
        </p:spPr>
        <p:txBody>
          <a:bodyPr/>
          <a:lstStyle/>
          <a:p>
            <a:endParaRPr lang="es-PE"/>
          </a:p>
        </p:txBody>
      </p:sp>
      <p:sp>
        <p:nvSpPr>
          <p:cNvPr id="54" name="Text 51"/>
          <p:cNvSpPr txBox="1"/>
          <p:nvPr/>
        </p:nvSpPr>
        <p:spPr>
          <a:xfrm>
            <a:off x="1080289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55" name="Shape 52"/>
          <p:cNvSpPr/>
          <p:nvPr/>
        </p:nvSpPr>
        <p:spPr>
          <a:xfrm>
            <a:off x="8456828" y="5632704"/>
            <a:ext cx="3158566" cy="0"/>
          </a:xfrm>
          <a:prstGeom prst="line">
            <a:avLst/>
          </a:prstGeom>
          <a:noFill/>
          <a:ln w="9525">
            <a:solidFill>
              <a:srgbClr val="D5DFDE"/>
            </a:solidFill>
            <a:prstDash val="solid"/>
          </a:ln>
        </p:spPr>
        <p:txBody>
          <a:bodyPr/>
          <a:lstStyle/>
          <a:p>
            <a:endParaRPr lang="es-PE"/>
          </a:p>
        </p:txBody>
      </p:sp>
      <p:sp>
        <p:nvSpPr>
          <p:cNvPr id="56" name="Text 53"/>
          <p:cNvSpPr txBox="1"/>
          <p:nvPr/>
        </p:nvSpPr>
        <p:spPr>
          <a:xfrm>
            <a:off x="8456828"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57" name="Text 54"/>
          <p:cNvSpPr txBox="1"/>
          <p:nvPr/>
        </p:nvSpPr>
        <p:spPr>
          <a:xfrm>
            <a:off x="8456828"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Monto no comparable</a:t>
            </a:r>
            <a:endParaRPr lang="en-US" sz="1500"/>
          </a:p>
        </p:txBody>
      </p:sp>
      <p:sp>
        <p:nvSpPr>
          <p:cNvPr id="58" name="Shape 55"/>
          <p:cNvSpPr/>
          <p:nvPr/>
        </p:nvSpPr>
        <p:spPr>
          <a:xfrm>
            <a:off x="11834851" y="3872484"/>
            <a:ext cx="219456" cy="402336"/>
          </a:xfrm>
          <a:prstGeom prst="chevron">
            <a:avLst/>
          </a:prstGeom>
          <a:solidFill>
            <a:srgbClr val="D5DFDE"/>
          </a:solidFill>
          <a:ln/>
        </p:spPr>
        <p:txBody>
          <a:bodyPr/>
          <a:lstStyle/>
          <a:p>
            <a:endParaRPr lang="es-PE"/>
          </a:p>
        </p:txBody>
      </p:sp>
      <p:sp>
        <p:nvSpPr>
          <p:cNvPr id="59" name="Shape 56"/>
          <p:cNvSpPr/>
          <p:nvPr/>
        </p:nvSpPr>
        <p:spPr>
          <a:xfrm>
            <a:off x="12109171"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0" name="Shape 57"/>
          <p:cNvSpPr/>
          <p:nvPr/>
        </p:nvSpPr>
        <p:spPr>
          <a:xfrm>
            <a:off x="12109171" y="1627632"/>
            <a:ext cx="3487750" cy="402336"/>
          </a:xfrm>
          <a:prstGeom prst="rect">
            <a:avLst/>
          </a:prstGeom>
          <a:solidFill>
            <a:srgbClr val="0C514E"/>
          </a:solidFill>
          <a:ln/>
        </p:spPr>
        <p:txBody>
          <a:bodyPr/>
          <a:lstStyle/>
          <a:p>
            <a:endParaRPr lang="es-PE"/>
          </a:p>
        </p:txBody>
      </p:sp>
      <p:sp>
        <p:nvSpPr>
          <p:cNvPr id="61" name="Text 58"/>
          <p:cNvSpPr txBox="1"/>
          <p:nvPr/>
        </p:nvSpPr>
        <p:spPr>
          <a:xfrm>
            <a:off x="12273763"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4 · V4</a:t>
            </a:r>
            <a:endParaRPr lang="en-US" sz="1200"/>
          </a:p>
        </p:txBody>
      </p:sp>
      <p:sp>
        <p:nvSpPr>
          <p:cNvPr id="62" name="Text 59"/>
          <p:cNvSpPr txBox="1"/>
          <p:nvPr/>
        </p:nvSpPr>
        <p:spPr>
          <a:xfrm>
            <a:off x="12273763"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 y gestionado</a:t>
            </a:r>
            <a:endParaRPr lang="en-US" sz="1400"/>
          </a:p>
        </p:txBody>
      </p:sp>
      <p:sp>
        <p:nvSpPr>
          <p:cNvPr id="63" name="Text 60"/>
          <p:cNvSpPr txBox="1"/>
          <p:nvPr/>
        </p:nvSpPr>
        <p:spPr>
          <a:xfrm>
            <a:off x="12273763"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de monto comparable que IBK no gestionó activamente.</a:t>
            </a:r>
            <a:endParaRPr lang="en-US" sz="1100"/>
          </a:p>
        </p:txBody>
      </p:sp>
      <p:sp>
        <p:nvSpPr>
          <p:cNvPr id="64" name="Text 61"/>
          <p:cNvSpPr txBox="1"/>
          <p:nvPr/>
        </p:nvSpPr>
        <p:spPr>
          <a:xfrm>
            <a:off x="12273763"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65" name="Shape 62"/>
          <p:cNvSpPr/>
          <p:nvPr/>
        </p:nvSpPr>
        <p:spPr>
          <a:xfrm>
            <a:off x="12273763"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6" name="Text 63"/>
          <p:cNvSpPr txBox="1"/>
          <p:nvPr/>
        </p:nvSpPr>
        <p:spPr>
          <a:xfrm>
            <a:off x="12182323"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67" name="Shape 64"/>
          <p:cNvSpPr/>
          <p:nvPr/>
        </p:nvSpPr>
        <p:spPr>
          <a:xfrm>
            <a:off x="1308626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8" name="Text 65"/>
          <p:cNvSpPr txBox="1"/>
          <p:nvPr/>
        </p:nvSpPr>
        <p:spPr>
          <a:xfrm>
            <a:off x="1299482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69" name="Shape 66"/>
          <p:cNvSpPr/>
          <p:nvPr/>
        </p:nvSpPr>
        <p:spPr>
          <a:xfrm>
            <a:off x="13898766"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70" name="Text 67"/>
          <p:cNvSpPr txBox="1"/>
          <p:nvPr/>
        </p:nvSpPr>
        <p:spPr>
          <a:xfrm>
            <a:off x="13807326"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gest.</a:t>
            </a:r>
            <a:endParaRPr lang="en-US" sz="750"/>
          </a:p>
        </p:txBody>
      </p:sp>
      <p:sp>
        <p:nvSpPr>
          <p:cNvPr id="71" name="Shape 68"/>
          <p:cNvSpPr/>
          <p:nvPr/>
        </p:nvSpPr>
        <p:spPr>
          <a:xfrm>
            <a:off x="14711267" y="4690872"/>
            <a:ext cx="721062" cy="347472"/>
          </a:xfrm>
          <a:prstGeom prst="rect">
            <a:avLst/>
          </a:prstGeom>
          <a:solidFill>
            <a:srgbClr val="0C514E"/>
          </a:solidFill>
          <a:ln/>
        </p:spPr>
        <p:txBody>
          <a:bodyPr/>
          <a:lstStyle/>
          <a:p>
            <a:endParaRPr lang="es-PE"/>
          </a:p>
        </p:txBody>
      </p:sp>
      <p:sp>
        <p:nvSpPr>
          <p:cNvPr id="72" name="Text 69"/>
          <p:cNvSpPr txBox="1"/>
          <p:nvPr/>
        </p:nvSpPr>
        <p:spPr>
          <a:xfrm>
            <a:off x="1461982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73" name="Shape 70"/>
          <p:cNvSpPr/>
          <p:nvPr/>
        </p:nvSpPr>
        <p:spPr>
          <a:xfrm>
            <a:off x="12273763" y="5632704"/>
            <a:ext cx="3158566" cy="0"/>
          </a:xfrm>
          <a:prstGeom prst="line">
            <a:avLst/>
          </a:prstGeom>
          <a:noFill/>
          <a:ln w="9525">
            <a:solidFill>
              <a:srgbClr val="D5DFDE"/>
            </a:solidFill>
            <a:prstDash val="solid"/>
          </a:ln>
        </p:spPr>
        <p:txBody>
          <a:bodyPr/>
          <a:lstStyle/>
          <a:p>
            <a:endParaRPr lang="es-PE"/>
          </a:p>
        </p:txBody>
      </p:sp>
      <p:sp>
        <p:nvSpPr>
          <p:cNvPr id="74" name="Text 71"/>
          <p:cNvSpPr txBox="1"/>
          <p:nvPr/>
        </p:nvSpPr>
        <p:spPr>
          <a:xfrm>
            <a:off x="12273763"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75" name="Text 72"/>
          <p:cNvSpPr txBox="1"/>
          <p:nvPr/>
        </p:nvSpPr>
        <p:spPr>
          <a:xfrm>
            <a:off x="12273763"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No gestionado</a:t>
            </a:r>
            <a:endParaRPr lang="en-US" sz="1500"/>
          </a:p>
        </p:txBody>
      </p:sp>
      <p:sp>
        <p:nvSpPr>
          <p:cNvPr id="76" name="Shape 73"/>
          <p:cNvSpPr/>
          <p:nvPr/>
        </p:nvSpPr>
        <p:spPr>
          <a:xfrm>
            <a:off x="658368" y="6739128"/>
            <a:ext cx="14938553" cy="777240"/>
          </a:xfrm>
          <a:prstGeom prst="rect">
            <a:avLst/>
          </a:prstGeom>
          <a:solidFill>
            <a:srgbClr val="F6FBFA"/>
          </a:solidFill>
          <a:ln w="9525">
            <a:solidFill>
              <a:srgbClr val="D5DFDE"/>
            </a:solidFill>
            <a:prstDash val="solid"/>
          </a:ln>
        </p:spPr>
        <p:txBody>
          <a:bodyPr/>
          <a:lstStyle/>
          <a:p>
            <a:endParaRPr lang="es-PE"/>
          </a:p>
        </p:txBody>
      </p:sp>
      <p:sp>
        <p:nvSpPr>
          <p:cNvPr id="77" name="Text 74"/>
          <p:cNvSpPr txBox="1"/>
          <p:nvPr/>
        </p:nvSpPr>
        <p:spPr>
          <a:xfrm>
            <a:off x="914400" y="6830568"/>
            <a:ext cx="14538960" cy="594360"/>
          </a:xfrm>
          <a:prstGeom prst="rect">
            <a:avLst/>
          </a:prstGeom>
          <a:noFill/>
          <a:ln/>
        </p:spPr>
        <p:txBody>
          <a:bodyPr wrap="square" lIns="0" tIns="0" rIns="0" bIns="0" rtlCol="0" anchor="t"/>
          <a:lstStyle/>
          <a:p>
            <a:pPr marL="0" indent="0">
              <a:lnSpc>
                <a:spcPct val="115000"/>
              </a:lnSpc>
              <a:buNone/>
            </a:pPr>
            <a:r>
              <a:rPr lang="en-US" sz="1100" b="1">
                <a:solidFill>
                  <a:srgbClr val="13807B"/>
                </a:solidFill>
                <a:latin typeface="Arial" pitchFamily="34" charset="0"/>
                <a:ea typeface="Arial" pitchFamily="34" charset="-122"/>
                <a:cs typeface="Arial" pitchFamily="34" charset="-120"/>
              </a:rPr>
              <a:t>En la práctica  </a:t>
            </a:r>
            <a:r>
              <a:rPr lang="en-US" sz="1100">
                <a:solidFill>
                  <a:srgbClr val="0B2E2C"/>
                </a:solidFill>
                <a:latin typeface="Arial" pitchFamily="34" charset="0"/>
                <a:ea typeface="Arial" pitchFamily="34" charset="-122"/>
                <a:cs typeface="Arial" pitchFamily="34" charset="-120"/>
              </a:rPr>
              <a:t>V1 siempre es el número más chico y V4 el más grande, porque cada capa compara contra un grupo más parecido al cliente. La distancia entre dos capas seguidas indica cuánto pesa lo que esa capa retiró: si V4 es mucho más alto que V3, gran parte de lo que en V1 parecía "competencia perdida" en realidad eran oportunidades que IBK no gestionó, no clientes que se fueron con otro banco.</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UNIDADES (N)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5 de los 6 clusters con deuda, el filtro que más resta es "no gestionado", no el desajuste de monto</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885</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67195"/>
            <a:ext cx="589416" cy="1074937"/>
          </a:xfrm>
          <a:prstGeom prst="rect">
            <a:avLst/>
          </a:prstGeom>
          <a:solidFill>
            <a:srgbClr val="5AA6A3"/>
          </a:solidFill>
          <a:ln/>
        </p:spPr>
        <p:txBody>
          <a:bodyPr/>
          <a:lstStyle/>
          <a:p>
            <a:endParaRPr lang="es-PE"/>
          </a:p>
        </p:txBody>
      </p:sp>
      <p:sp>
        <p:nvSpPr>
          <p:cNvPr id="13" name="Text 10"/>
          <p:cNvSpPr txBox="1"/>
          <p:nvPr/>
        </p:nvSpPr>
        <p:spPr>
          <a:xfrm>
            <a:off x="2007970" y="2066027"/>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725</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668999"/>
            <a:ext cx="589416" cy="673133"/>
          </a:xfrm>
          <a:prstGeom prst="rect">
            <a:avLst/>
          </a:prstGeom>
          <a:solidFill>
            <a:srgbClr val="0B2E2C"/>
          </a:solidFill>
          <a:ln/>
        </p:spPr>
        <p:txBody>
          <a:bodyPr/>
          <a:lstStyle/>
          <a:p>
            <a:endParaRPr lang="es-PE"/>
          </a:p>
        </p:txBody>
      </p:sp>
      <p:sp>
        <p:nvSpPr>
          <p:cNvPr id="16" name="Text 13"/>
          <p:cNvSpPr txBox="1"/>
          <p:nvPr/>
        </p:nvSpPr>
        <p:spPr>
          <a:xfrm>
            <a:off x="3964832" y="246783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454</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67195"/>
            <a:ext cx="400803" cy="77099"/>
          </a:xfrm>
          <a:prstGeom prst="rect">
            <a:avLst/>
          </a:prstGeom>
          <a:solidFill>
            <a:srgbClr val="C0392B"/>
          </a:solidFill>
          <a:ln/>
        </p:spPr>
        <p:txBody>
          <a:bodyPr/>
          <a:lstStyle/>
          <a:p>
            <a:endParaRPr lang="es-PE"/>
          </a:p>
        </p:txBody>
      </p:sp>
      <p:sp>
        <p:nvSpPr>
          <p:cNvPr id="19" name="Text 16"/>
          <p:cNvSpPr txBox="1"/>
          <p:nvPr/>
        </p:nvSpPr>
        <p:spPr>
          <a:xfrm>
            <a:off x="3397115" y="223259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52</a:t>
            </a:r>
            <a:endParaRPr lang="en-US" sz="650"/>
          </a:p>
        </p:txBody>
      </p:sp>
      <p:sp>
        <p:nvSpPr>
          <p:cNvPr id="20" name="Text 17"/>
          <p:cNvSpPr txBox="1"/>
          <p:nvPr/>
        </p:nvSpPr>
        <p:spPr>
          <a:xfrm>
            <a:off x="2676272" y="195629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344294"/>
            <a:ext cx="400803" cy="324705"/>
          </a:xfrm>
          <a:prstGeom prst="rect">
            <a:avLst/>
          </a:prstGeom>
          <a:solidFill>
            <a:srgbClr val="C0392B"/>
          </a:solidFill>
          <a:ln/>
        </p:spPr>
        <p:txBody>
          <a:bodyPr/>
          <a:lstStyle/>
          <a:p>
            <a:endParaRPr lang="es-PE"/>
          </a:p>
        </p:txBody>
      </p:sp>
      <p:sp>
        <p:nvSpPr>
          <p:cNvPr id="22" name="Text 19"/>
          <p:cNvSpPr txBox="1"/>
          <p:nvPr/>
        </p:nvSpPr>
        <p:spPr>
          <a:xfrm>
            <a:off x="3357128" y="243349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219</a:t>
            </a:r>
            <a:endParaRPr lang="en-US" sz="650"/>
          </a:p>
        </p:txBody>
      </p:sp>
      <p:sp>
        <p:nvSpPr>
          <p:cNvPr id="23" name="Text 20"/>
          <p:cNvSpPr txBox="1"/>
          <p:nvPr/>
        </p:nvSpPr>
        <p:spPr>
          <a:xfrm>
            <a:off x="3265688" y="203339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67195"/>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344294"/>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668999"/>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1,134</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147993"/>
            <a:ext cx="589416" cy="1194139"/>
          </a:xfrm>
          <a:prstGeom prst="rect">
            <a:avLst/>
          </a:prstGeom>
          <a:solidFill>
            <a:srgbClr val="5AA6A3"/>
          </a:solidFill>
          <a:ln/>
        </p:spPr>
        <p:txBody>
          <a:bodyPr/>
          <a:lstStyle/>
          <a:p>
            <a:endParaRPr lang="es-PE"/>
          </a:p>
        </p:txBody>
      </p:sp>
      <p:sp>
        <p:nvSpPr>
          <p:cNvPr id="35" name="Text 32"/>
          <p:cNvSpPr txBox="1"/>
          <p:nvPr/>
        </p:nvSpPr>
        <p:spPr>
          <a:xfrm>
            <a:off x="7060640" y="194682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1,032</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562239"/>
            <a:ext cx="589416" cy="779893"/>
          </a:xfrm>
          <a:prstGeom prst="rect">
            <a:avLst/>
          </a:prstGeom>
          <a:solidFill>
            <a:srgbClr val="0B2E2C"/>
          </a:solidFill>
          <a:ln/>
        </p:spPr>
        <p:txBody>
          <a:bodyPr/>
          <a:lstStyle/>
          <a:p>
            <a:endParaRPr lang="es-PE"/>
          </a:p>
        </p:txBody>
      </p:sp>
      <p:sp>
        <p:nvSpPr>
          <p:cNvPr id="38" name="Text 35"/>
          <p:cNvSpPr txBox="1"/>
          <p:nvPr/>
        </p:nvSpPr>
        <p:spPr>
          <a:xfrm>
            <a:off x="9017502" y="236107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674</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147993"/>
            <a:ext cx="400803" cy="30085"/>
          </a:xfrm>
          <a:prstGeom prst="rect">
            <a:avLst/>
          </a:prstGeom>
          <a:solidFill>
            <a:srgbClr val="C0392B"/>
          </a:solidFill>
          <a:ln/>
        </p:spPr>
        <p:txBody>
          <a:bodyPr/>
          <a:lstStyle/>
          <a:p>
            <a:endParaRPr lang="es-PE"/>
          </a:p>
        </p:txBody>
      </p:sp>
      <p:sp>
        <p:nvSpPr>
          <p:cNvPr id="41" name="Text 38"/>
          <p:cNvSpPr txBox="1"/>
          <p:nvPr/>
        </p:nvSpPr>
        <p:spPr>
          <a:xfrm>
            <a:off x="8449785" y="208988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26</a:t>
            </a:r>
            <a:endParaRPr lang="en-US" sz="650"/>
          </a:p>
        </p:txBody>
      </p:sp>
      <p:sp>
        <p:nvSpPr>
          <p:cNvPr id="42" name="Text 39"/>
          <p:cNvSpPr txBox="1"/>
          <p:nvPr/>
        </p:nvSpPr>
        <p:spPr>
          <a:xfrm>
            <a:off x="7728941" y="183709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178078"/>
            <a:ext cx="400803" cy="384161"/>
          </a:xfrm>
          <a:prstGeom prst="rect">
            <a:avLst/>
          </a:prstGeom>
          <a:solidFill>
            <a:srgbClr val="C0392B"/>
          </a:solidFill>
          <a:ln/>
        </p:spPr>
        <p:txBody>
          <a:bodyPr/>
          <a:lstStyle/>
          <a:p>
            <a:endParaRPr lang="es-PE"/>
          </a:p>
        </p:txBody>
      </p:sp>
      <p:sp>
        <p:nvSpPr>
          <p:cNvPr id="44" name="Text 41"/>
          <p:cNvSpPr txBox="1"/>
          <p:nvPr/>
        </p:nvSpPr>
        <p:spPr>
          <a:xfrm>
            <a:off x="8409798" y="229700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332</a:t>
            </a:r>
            <a:endParaRPr lang="en-US" sz="650"/>
          </a:p>
        </p:txBody>
      </p:sp>
      <p:sp>
        <p:nvSpPr>
          <p:cNvPr id="45" name="Text 42"/>
          <p:cNvSpPr txBox="1"/>
          <p:nvPr/>
        </p:nvSpPr>
        <p:spPr>
          <a:xfrm>
            <a:off x="8318358" y="186718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147993"/>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178078"/>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562239"/>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977</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152186"/>
            <a:ext cx="589416" cy="1189946"/>
          </a:xfrm>
          <a:prstGeom prst="rect">
            <a:avLst/>
          </a:prstGeom>
          <a:solidFill>
            <a:srgbClr val="5AA6A3"/>
          </a:solidFill>
          <a:ln/>
        </p:spPr>
        <p:txBody>
          <a:bodyPr/>
          <a:lstStyle/>
          <a:p>
            <a:endParaRPr lang="es-PE"/>
          </a:p>
        </p:txBody>
      </p:sp>
      <p:sp>
        <p:nvSpPr>
          <p:cNvPr id="57" name="Text 54"/>
          <p:cNvSpPr txBox="1"/>
          <p:nvPr/>
        </p:nvSpPr>
        <p:spPr>
          <a:xfrm>
            <a:off x="12113310" y="195101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886</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588679"/>
            <a:ext cx="589416" cy="753453"/>
          </a:xfrm>
          <a:prstGeom prst="rect">
            <a:avLst/>
          </a:prstGeom>
          <a:solidFill>
            <a:srgbClr val="0B2E2C"/>
          </a:solidFill>
          <a:ln/>
        </p:spPr>
        <p:txBody>
          <a:bodyPr/>
          <a:lstStyle/>
          <a:p>
            <a:endParaRPr lang="es-PE"/>
          </a:p>
        </p:txBody>
      </p:sp>
      <p:sp>
        <p:nvSpPr>
          <p:cNvPr id="60" name="Text 57"/>
          <p:cNvSpPr txBox="1"/>
          <p:nvPr/>
        </p:nvSpPr>
        <p:spPr>
          <a:xfrm>
            <a:off x="14070172" y="238751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561</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152186"/>
            <a:ext cx="400803" cy="134305"/>
          </a:xfrm>
          <a:prstGeom prst="rect">
            <a:avLst/>
          </a:prstGeom>
          <a:solidFill>
            <a:srgbClr val="C0392B"/>
          </a:solidFill>
          <a:ln/>
        </p:spPr>
        <p:txBody>
          <a:bodyPr/>
          <a:lstStyle/>
          <a:p>
            <a:endParaRPr lang="es-PE"/>
          </a:p>
        </p:txBody>
      </p:sp>
      <p:sp>
        <p:nvSpPr>
          <p:cNvPr id="63" name="Text 60"/>
          <p:cNvSpPr txBox="1"/>
          <p:nvPr/>
        </p:nvSpPr>
        <p:spPr>
          <a:xfrm>
            <a:off x="13502454" y="2146187"/>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100</a:t>
            </a:r>
            <a:endParaRPr lang="en-US" sz="650"/>
          </a:p>
        </p:txBody>
      </p:sp>
      <p:sp>
        <p:nvSpPr>
          <p:cNvPr id="64" name="Text 61"/>
          <p:cNvSpPr txBox="1"/>
          <p:nvPr/>
        </p:nvSpPr>
        <p:spPr>
          <a:xfrm>
            <a:off x="12781611" y="184129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286491"/>
            <a:ext cx="400803" cy="302187"/>
          </a:xfrm>
          <a:prstGeom prst="rect">
            <a:avLst/>
          </a:prstGeom>
          <a:solidFill>
            <a:srgbClr val="C0392B"/>
          </a:solidFill>
          <a:ln/>
        </p:spPr>
        <p:txBody>
          <a:bodyPr/>
          <a:lstStyle/>
          <a:p>
            <a:endParaRPr lang="es-PE"/>
          </a:p>
        </p:txBody>
      </p:sp>
      <p:sp>
        <p:nvSpPr>
          <p:cNvPr id="66" name="Text 63"/>
          <p:cNvSpPr txBox="1"/>
          <p:nvPr/>
        </p:nvSpPr>
        <p:spPr>
          <a:xfrm>
            <a:off x="13462467" y="236443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225</a:t>
            </a:r>
            <a:endParaRPr lang="en-US" sz="650"/>
          </a:p>
        </p:txBody>
      </p:sp>
      <p:sp>
        <p:nvSpPr>
          <p:cNvPr id="67" name="Text 64"/>
          <p:cNvSpPr txBox="1"/>
          <p:nvPr/>
        </p:nvSpPr>
        <p:spPr>
          <a:xfrm>
            <a:off x="13371027" y="197559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152186"/>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286491"/>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588679"/>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1,507</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70007"/>
            <a:ext cx="589416" cy="1108417"/>
          </a:xfrm>
          <a:prstGeom prst="rect">
            <a:avLst/>
          </a:prstGeom>
          <a:solidFill>
            <a:srgbClr val="5AA6A3"/>
          </a:solidFill>
          <a:ln/>
        </p:spPr>
        <p:txBody>
          <a:bodyPr/>
          <a:lstStyle/>
          <a:p>
            <a:endParaRPr lang="es-PE"/>
          </a:p>
        </p:txBody>
      </p:sp>
      <p:sp>
        <p:nvSpPr>
          <p:cNvPr id="79" name="Text 76"/>
          <p:cNvSpPr txBox="1"/>
          <p:nvPr/>
        </p:nvSpPr>
        <p:spPr>
          <a:xfrm>
            <a:off x="2007970" y="43688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1,273</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110719"/>
            <a:ext cx="589416" cy="567705"/>
          </a:xfrm>
          <a:prstGeom prst="rect">
            <a:avLst/>
          </a:prstGeom>
          <a:solidFill>
            <a:srgbClr val="0B2E2C"/>
          </a:solidFill>
          <a:ln/>
        </p:spPr>
        <p:txBody>
          <a:bodyPr/>
          <a:lstStyle/>
          <a:p>
            <a:endParaRPr lang="es-PE"/>
          </a:p>
        </p:txBody>
      </p:sp>
      <p:sp>
        <p:nvSpPr>
          <p:cNvPr id="82" name="Text 79"/>
          <p:cNvSpPr txBox="1"/>
          <p:nvPr/>
        </p:nvSpPr>
        <p:spPr>
          <a:xfrm>
            <a:off x="3964832" y="490955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652</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70007"/>
            <a:ext cx="400803" cy="57467"/>
          </a:xfrm>
          <a:prstGeom prst="rect">
            <a:avLst/>
          </a:prstGeom>
          <a:solidFill>
            <a:srgbClr val="C0392B"/>
          </a:solidFill>
          <a:ln/>
        </p:spPr>
        <p:txBody>
          <a:bodyPr/>
          <a:lstStyle/>
          <a:p>
            <a:endParaRPr lang="es-PE"/>
          </a:p>
        </p:txBody>
      </p:sp>
      <p:sp>
        <p:nvSpPr>
          <p:cNvPr id="85" name="Text 82"/>
          <p:cNvSpPr txBox="1"/>
          <p:nvPr/>
        </p:nvSpPr>
        <p:spPr>
          <a:xfrm>
            <a:off x="3397115" y="452558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66</a:t>
            </a:r>
            <a:endParaRPr lang="en-US" sz="650"/>
          </a:p>
        </p:txBody>
      </p:sp>
      <p:sp>
        <p:nvSpPr>
          <p:cNvPr id="86" name="Text 83"/>
          <p:cNvSpPr txBox="1"/>
          <p:nvPr/>
        </p:nvSpPr>
        <p:spPr>
          <a:xfrm>
            <a:off x="2676272" y="42591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4627474"/>
            <a:ext cx="400803" cy="483246"/>
          </a:xfrm>
          <a:prstGeom prst="rect">
            <a:avLst/>
          </a:prstGeom>
          <a:solidFill>
            <a:srgbClr val="C0392B"/>
          </a:solidFill>
          <a:ln/>
        </p:spPr>
        <p:txBody>
          <a:bodyPr/>
          <a:lstStyle/>
          <a:p>
            <a:endParaRPr lang="es-PE"/>
          </a:p>
        </p:txBody>
      </p:sp>
      <p:sp>
        <p:nvSpPr>
          <p:cNvPr id="88" name="Text 85"/>
          <p:cNvSpPr txBox="1"/>
          <p:nvPr/>
        </p:nvSpPr>
        <p:spPr>
          <a:xfrm>
            <a:off x="3357128" y="479594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555</a:t>
            </a:r>
            <a:endParaRPr lang="en-US" sz="650"/>
          </a:p>
        </p:txBody>
      </p:sp>
      <p:sp>
        <p:nvSpPr>
          <p:cNvPr id="89" name="Text 86"/>
          <p:cNvSpPr txBox="1"/>
          <p:nvPr/>
        </p:nvSpPr>
        <p:spPr>
          <a:xfrm>
            <a:off x="3265688" y="431657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70007"/>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4627474"/>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110719"/>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1,046</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61599"/>
            <a:ext cx="589416" cy="1216825"/>
          </a:xfrm>
          <a:prstGeom prst="rect">
            <a:avLst/>
          </a:prstGeom>
          <a:solidFill>
            <a:srgbClr val="5AA6A3"/>
          </a:solidFill>
          <a:ln/>
        </p:spPr>
        <p:txBody>
          <a:bodyPr/>
          <a:lstStyle/>
          <a:p>
            <a:endParaRPr lang="es-PE"/>
          </a:p>
        </p:txBody>
      </p:sp>
      <p:sp>
        <p:nvSpPr>
          <p:cNvPr id="101" name="Text 98"/>
          <p:cNvSpPr txBox="1"/>
          <p:nvPr/>
        </p:nvSpPr>
        <p:spPr>
          <a:xfrm>
            <a:off x="7060640" y="426043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970</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011052"/>
            <a:ext cx="589416" cy="667372"/>
          </a:xfrm>
          <a:prstGeom prst="rect">
            <a:avLst/>
          </a:prstGeom>
          <a:solidFill>
            <a:srgbClr val="0B2E2C"/>
          </a:solidFill>
          <a:ln/>
        </p:spPr>
        <p:txBody>
          <a:bodyPr/>
          <a:lstStyle/>
          <a:p>
            <a:endParaRPr lang="es-PE"/>
          </a:p>
        </p:txBody>
      </p:sp>
      <p:sp>
        <p:nvSpPr>
          <p:cNvPr id="104" name="Text 101"/>
          <p:cNvSpPr txBox="1"/>
          <p:nvPr/>
        </p:nvSpPr>
        <p:spPr>
          <a:xfrm>
            <a:off x="9017502" y="480988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532</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61599"/>
            <a:ext cx="400803" cy="120428"/>
          </a:xfrm>
          <a:prstGeom prst="rect">
            <a:avLst/>
          </a:prstGeom>
          <a:solidFill>
            <a:srgbClr val="C0392B"/>
          </a:solidFill>
          <a:ln/>
        </p:spPr>
        <p:txBody>
          <a:bodyPr/>
          <a:lstStyle/>
          <a:p>
            <a:endParaRPr lang="es-PE"/>
          </a:p>
        </p:txBody>
      </p:sp>
      <p:sp>
        <p:nvSpPr>
          <p:cNvPr id="107" name="Text 104"/>
          <p:cNvSpPr txBox="1"/>
          <p:nvPr/>
        </p:nvSpPr>
        <p:spPr>
          <a:xfrm>
            <a:off x="8449785" y="4448661"/>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96</a:t>
            </a:r>
            <a:endParaRPr lang="en-US" sz="650"/>
          </a:p>
        </p:txBody>
      </p:sp>
      <p:sp>
        <p:nvSpPr>
          <p:cNvPr id="108" name="Text 105"/>
          <p:cNvSpPr txBox="1"/>
          <p:nvPr/>
        </p:nvSpPr>
        <p:spPr>
          <a:xfrm>
            <a:off x="7728941" y="415070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4582027"/>
            <a:ext cx="400803" cy="429025"/>
          </a:xfrm>
          <a:prstGeom prst="rect">
            <a:avLst/>
          </a:prstGeom>
          <a:solidFill>
            <a:srgbClr val="C0392B"/>
          </a:solidFill>
          <a:ln/>
        </p:spPr>
        <p:txBody>
          <a:bodyPr/>
          <a:lstStyle/>
          <a:p>
            <a:endParaRPr lang="es-PE"/>
          </a:p>
        </p:txBody>
      </p:sp>
      <p:sp>
        <p:nvSpPr>
          <p:cNvPr id="110" name="Text 107"/>
          <p:cNvSpPr txBox="1"/>
          <p:nvPr/>
        </p:nvSpPr>
        <p:spPr>
          <a:xfrm>
            <a:off x="8409798" y="472338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342</a:t>
            </a:r>
            <a:endParaRPr lang="en-US" sz="650"/>
          </a:p>
        </p:txBody>
      </p:sp>
      <p:sp>
        <p:nvSpPr>
          <p:cNvPr id="111" name="Text 108"/>
          <p:cNvSpPr txBox="1"/>
          <p:nvPr/>
        </p:nvSpPr>
        <p:spPr>
          <a:xfrm>
            <a:off x="8318358" y="427113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61599"/>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4582027"/>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011052"/>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685</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580804"/>
            <a:ext cx="589416" cy="1097620"/>
          </a:xfrm>
          <a:prstGeom prst="rect">
            <a:avLst/>
          </a:prstGeom>
          <a:solidFill>
            <a:srgbClr val="5AA6A3"/>
          </a:solidFill>
          <a:ln/>
        </p:spPr>
        <p:txBody>
          <a:bodyPr/>
          <a:lstStyle/>
          <a:p>
            <a:endParaRPr lang="es-PE"/>
          </a:p>
        </p:txBody>
      </p:sp>
      <p:sp>
        <p:nvSpPr>
          <p:cNvPr id="123" name="Text 120"/>
          <p:cNvSpPr txBox="1"/>
          <p:nvPr/>
        </p:nvSpPr>
        <p:spPr>
          <a:xfrm>
            <a:off x="12113310" y="437963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573</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5157390"/>
            <a:ext cx="589416" cy="521034"/>
          </a:xfrm>
          <a:prstGeom prst="rect">
            <a:avLst/>
          </a:prstGeom>
          <a:solidFill>
            <a:srgbClr val="0B2E2C"/>
          </a:solidFill>
          <a:ln/>
        </p:spPr>
        <p:txBody>
          <a:bodyPr/>
          <a:lstStyle/>
          <a:p>
            <a:endParaRPr lang="es-PE"/>
          </a:p>
        </p:txBody>
      </p:sp>
      <p:sp>
        <p:nvSpPr>
          <p:cNvPr id="126" name="Text 123"/>
          <p:cNvSpPr txBox="1"/>
          <p:nvPr/>
        </p:nvSpPr>
        <p:spPr>
          <a:xfrm>
            <a:off x="14070172" y="495622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272</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580804"/>
            <a:ext cx="400803" cy="298829"/>
          </a:xfrm>
          <a:prstGeom prst="rect">
            <a:avLst/>
          </a:prstGeom>
          <a:solidFill>
            <a:srgbClr val="C0392B"/>
          </a:solidFill>
          <a:ln/>
        </p:spPr>
        <p:txBody>
          <a:bodyPr/>
          <a:lstStyle/>
          <a:p>
            <a:endParaRPr lang="es-PE"/>
          </a:p>
        </p:txBody>
      </p:sp>
      <p:sp>
        <p:nvSpPr>
          <p:cNvPr id="129" name="Text 126"/>
          <p:cNvSpPr txBox="1"/>
          <p:nvPr/>
        </p:nvSpPr>
        <p:spPr>
          <a:xfrm>
            <a:off x="12873051" y="465706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156</a:t>
            </a:r>
            <a:endParaRPr lang="en-US" sz="650"/>
          </a:p>
        </p:txBody>
      </p:sp>
      <p:sp>
        <p:nvSpPr>
          <p:cNvPr id="130" name="Text 127"/>
          <p:cNvSpPr txBox="1"/>
          <p:nvPr/>
        </p:nvSpPr>
        <p:spPr>
          <a:xfrm>
            <a:off x="12781611" y="426990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4879632"/>
            <a:ext cx="400803" cy="277757"/>
          </a:xfrm>
          <a:prstGeom prst="rect">
            <a:avLst/>
          </a:prstGeom>
          <a:solidFill>
            <a:srgbClr val="C0392B"/>
          </a:solidFill>
          <a:ln/>
        </p:spPr>
        <p:txBody>
          <a:bodyPr/>
          <a:lstStyle/>
          <a:p>
            <a:endParaRPr lang="es-PE"/>
          </a:p>
        </p:txBody>
      </p:sp>
      <p:sp>
        <p:nvSpPr>
          <p:cNvPr id="132" name="Text 129"/>
          <p:cNvSpPr txBox="1"/>
          <p:nvPr/>
        </p:nvSpPr>
        <p:spPr>
          <a:xfrm>
            <a:off x="13462467" y="494535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145</a:t>
            </a:r>
            <a:endParaRPr lang="en-US" sz="650"/>
          </a:p>
        </p:txBody>
      </p:sp>
      <p:sp>
        <p:nvSpPr>
          <p:cNvPr id="133" name="Text 130"/>
          <p:cNvSpPr txBox="1"/>
          <p:nvPr/>
        </p:nvSpPr>
        <p:spPr>
          <a:xfrm>
            <a:off x="13371027" y="456873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580804"/>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4879632"/>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5157390"/>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supera a "monto no comparable" en Cliente Ancla (219 vs. 52), Socio en Crecimiento (332 vs. 26), Cuenta Estratégica (225 vs. 100), Maduro Multibanco (555 vs. 66) y Gran Cuenta por Conquistar (342 vs. 96) — en estos 5, el universo relevante se achica sobre todo por falta de gestión comercial, no por diferencias de monto.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Cliente por Reactivar es la única excepción, y por poco: "monto no comparable" (156) es apenas mayor que "no gestionado" (145) — prácticamente empatado.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Maduro Multibanco combina el universo inicial más grande (1,507) con el mayor volumen de "no gestionado" (555) — el caso más claro para priorizar una intervención comercial estructurada antes de tocar tasa.</a:t>
            </a:r>
            <a:endParaRPr lang="en-US" sz="1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MONTO (S/ MM)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monto, con deuda se parte 3 y 3: en 3 clusters domina "no gestionado", en los otros 3 domina el desajuste de monto</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157.8</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87744"/>
            <a:ext cx="589416" cy="1054388"/>
          </a:xfrm>
          <a:prstGeom prst="rect">
            <a:avLst/>
          </a:prstGeom>
          <a:solidFill>
            <a:srgbClr val="5AA6A3"/>
          </a:solidFill>
          <a:ln/>
        </p:spPr>
        <p:txBody>
          <a:bodyPr/>
          <a:lstStyle/>
          <a:p>
            <a:endParaRPr lang="es-PE"/>
          </a:p>
        </p:txBody>
      </p:sp>
      <p:sp>
        <p:nvSpPr>
          <p:cNvPr id="13" name="Text 10"/>
          <p:cNvSpPr txBox="1"/>
          <p:nvPr/>
        </p:nvSpPr>
        <p:spPr>
          <a:xfrm>
            <a:off x="2007970" y="208657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126.8</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727627"/>
            <a:ext cx="589416" cy="614505"/>
          </a:xfrm>
          <a:prstGeom prst="rect">
            <a:avLst/>
          </a:prstGeom>
          <a:solidFill>
            <a:srgbClr val="0B2E2C"/>
          </a:solidFill>
          <a:ln/>
        </p:spPr>
        <p:txBody>
          <a:bodyPr/>
          <a:lstStyle/>
          <a:p>
            <a:endParaRPr lang="es-PE"/>
          </a:p>
        </p:txBody>
      </p:sp>
      <p:sp>
        <p:nvSpPr>
          <p:cNvPr id="16" name="Text 13"/>
          <p:cNvSpPr txBox="1"/>
          <p:nvPr/>
        </p:nvSpPr>
        <p:spPr>
          <a:xfrm>
            <a:off x="3964832" y="252645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73.9</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87744"/>
            <a:ext cx="400803" cy="153834"/>
          </a:xfrm>
          <a:prstGeom prst="rect">
            <a:avLst/>
          </a:prstGeom>
          <a:solidFill>
            <a:srgbClr val="C0392B"/>
          </a:solidFill>
          <a:ln/>
        </p:spPr>
        <p:txBody>
          <a:bodyPr/>
          <a:lstStyle/>
          <a:p>
            <a:endParaRPr lang="es-PE"/>
          </a:p>
        </p:txBody>
      </p:sp>
      <p:sp>
        <p:nvSpPr>
          <p:cNvPr id="19" name="Text 16"/>
          <p:cNvSpPr txBox="1"/>
          <p:nvPr/>
        </p:nvSpPr>
        <p:spPr>
          <a:xfrm>
            <a:off x="2767712" y="229150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18.5</a:t>
            </a:r>
            <a:endParaRPr lang="en-US" sz="650"/>
          </a:p>
        </p:txBody>
      </p:sp>
      <p:sp>
        <p:nvSpPr>
          <p:cNvPr id="20" name="Text 17"/>
          <p:cNvSpPr txBox="1"/>
          <p:nvPr/>
        </p:nvSpPr>
        <p:spPr>
          <a:xfrm>
            <a:off x="2676272" y="197684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441578"/>
            <a:ext cx="400803" cy="286048"/>
          </a:xfrm>
          <a:prstGeom prst="rect">
            <a:avLst/>
          </a:prstGeom>
          <a:solidFill>
            <a:srgbClr val="C0392B"/>
          </a:solidFill>
          <a:ln/>
        </p:spPr>
        <p:txBody>
          <a:bodyPr/>
          <a:lstStyle/>
          <a:p>
            <a:endParaRPr lang="es-PE"/>
          </a:p>
        </p:txBody>
      </p:sp>
      <p:sp>
        <p:nvSpPr>
          <p:cNvPr id="22" name="Text 19"/>
          <p:cNvSpPr txBox="1"/>
          <p:nvPr/>
        </p:nvSpPr>
        <p:spPr>
          <a:xfrm>
            <a:off x="3357128" y="251145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34.4</a:t>
            </a:r>
            <a:endParaRPr lang="en-US" sz="650"/>
          </a:p>
        </p:txBody>
      </p:sp>
      <p:sp>
        <p:nvSpPr>
          <p:cNvPr id="23" name="Text 20"/>
          <p:cNvSpPr txBox="1"/>
          <p:nvPr/>
        </p:nvSpPr>
        <p:spPr>
          <a:xfrm>
            <a:off x="3265688" y="213068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87744"/>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441578"/>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727627"/>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153.2</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102771"/>
            <a:ext cx="589416" cy="1239361"/>
          </a:xfrm>
          <a:prstGeom prst="rect">
            <a:avLst/>
          </a:prstGeom>
          <a:solidFill>
            <a:srgbClr val="5AA6A3"/>
          </a:solidFill>
          <a:ln/>
        </p:spPr>
        <p:txBody>
          <a:bodyPr/>
          <a:lstStyle/>
          <a:p>
            <a:endParaRPr lang="es-PE"/>
          </a:p>
        </p:txBody>
      </p:sp>
      <p:sp>
        <p:nvSpPr>
          <p:cNvPr id="35" name="Text 32"/>
          <p:cNvSpPr txBox="1"/>
          <p:nvPr/>
        </p:nvSpPr>
        <p:spPr>
          <a:xfrm>
            <a:off x="7060640" y="190160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144.7</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630377"/>
            <a:ext cx="589416" cy="711755"/>
          </a:xfrm>
          <a:prstGeom prst="rect">
            <a:avLst/>
          </a:prstGeom>
          <a:solidFill>
            <a:srgbClr val="0B2E2C"/>
          </a:solidFill>
          <a:ln/>
        </p:spPr>
        <p:txBody>
          <a:bodyPr/>
          <a:lstStyle/>
          <a:p>
            <a:endParaRPr lang="es-PE"/>
          </a:p>
        </p:txBody>
      </p:sp>
      <p:sp>
        <p:nvSpPr>
          <p:cNvPr id="38" name="Text 35"/>
          <p:cNvSpPr txBox="1"/>
          <p:nvPr/>
        </p:nvSpPr>
        <p:spPr>
          <a:xfrm>
            <a:off x="9017502" y="242920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83.1</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102771"/>
            <a:ext cx="400803" cy="150745"/>
          </a:xfrm>
          <a:prstGeom prst="rect">
            <a:avLst/>
          </a:prstGeom>
          <a:solidFill>
            <a:srgbClr val="C0392B"/>
          </a:solidFill>
          <a:ln/>
        </p:spPr>
        <p:txBody>
          <a:bodyPr/>
          <a:lstStyle/>
          <a:p>
            <a:endParaRPr lang="es-PE"/>
          </a:p>
        </p:txBody>
      </p:sp>
      <p:sp>
        <p:nvSpPr>
          <p:cNvPr id="41" name="Text 38"/>
          <p:cNvSpPr txBox="1"/>
          <p:nvPr/>
        </p:nvSpPr>
        <p:spPr>
          <a:xfrm>
            <a:off x="7820381" y="210499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17.6</a:t>
            </a:r>
            <a:endParaRPr lang="en-US" sz="650"/>
          </a:p>
        </p:txBody>
      </p:sp>
      <p:sp>
        <p:nvSpPr>
          <p:cNvPr id="42" name="Text 39"/>
          <p:cNvSpPr txBox="1"/>
          <p:nvPr/>
        </p:nvSpPr>
        <p:spPr>
          <a:xfrm>
            <a:off x="7728941" y="179187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253516"/>
            <a:ext cx="400803" cy="376862"/>
          </a:xfrm>
          <a:prstGeom prst="rect">
            <a:avLst/>
          </a:prstGeom>
          <a:solidFill>
            <a:srgbClr val="C0392B"/>
          </a:solidFill>
          <a:ln/>
        </p:spPr>
        <p:txBody>
          <a:bodyPr/>
          <a:lstStyle/>
          <a:p>
            <a:endParaRPr lang="es-PE"/>
          </a:p>
        </p:txBody>
      </p:sp>
      <p:sp>
        <p:nvSpPr>
          <p:cNvPr id="44" name="Text 41"/>
          <p:cNvSpPr txBox="1"/>
          <p:nvPr/>
        </p:nvSpPr>
        <p:spPr>
          <a:xfrm>
            <a:off x="8409798" y="236879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44.0</a:t>
            </a:r>
            <a:endParaRPr lang="en-US" sz="650"/>
          </a:p>
        </p:txBody>
      </p:sp>
      <p:sp>
        <p:nvSpPr>
          <p:cNvPr id="45" name="Text 42"/>
          <p:cNvSpPr txBox="1"/>
          <p:nvPr/>
        </p:nvSpPr>
        <p:spPr>
          <a:xfrm>
            <a:off x="8318358" y="194262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102771"/>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253516"/>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630377"/>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251.6</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205201"/>
            <a:ext cx="589416" cy="1136931"/>
          </a:xfrm>
          <a:prstGeom prst="rect">
            <a:avLst/>
          </a:prstGeom>
          <a:solidFill>
            <a:srgbClr val="5AA6A3"/>
          </a:solidFill>
          <a:ln/>
        </p:spPr>
        <p:txBody>
          <a:bodyPr/>
          <a:lstStyle/>
          <a:p>
            <a:endParaRPr lang="es-PE"/>
          </a:p>
        </p:txBody>
      </p:sp>
      <p:sp>
        <p:nvSpPr>
          <p:cNvPr id="57" name="Text 54"/>
          <p:cNvSpPr txBox="1"/>
          <p:nvPr/>
        </p:nvSpPr>
        <p:spPr>
          <a:xfrm>
            <a:off x="12113310" y="200403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218.0</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707433"/>
            <a:ext cx="589416" cy="634699"/>
          </a:xfrm>
          <a:prstGeom prst="rect">
            <a:avLst/>
          </a:prstGeom>
          <a:solidFill>
            <a:srgbClr val="0B2E2C"/>
          </a:solidFill>
          <a:ln/>
        </p:spPr>
        <p:txBody>
          <a:bodyPr/>
          <a:lstStyle/>
          <a:p>
            <a:endParaRPr lang="es-PE"/>
          </a:p>
        </p:txBody>
      </p:sp>
      <p:sp>
        <p:nvSpPr>
          <p:cNvPr id="60" name="Text 57"/>
          <p:cNvSpPr txBox="1"/>
          <p:nvPr/>
        </p:nvSpPr>
        <p:spPr>
          <a:xfrm>
            <a:off x="14070172" y="250626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121.7</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205201"/>
            <a:ext cx="400803" cy="289969"/>
          </a:xfrm>
          <a:prstGeom prst="rect">
            <a:avLst/>
          </a:prstGeom>
          <a:solidFill>
            <a:srgbClr val="C0392B"/>
          </a:solidFill>
          <a:ln/>
        </p:spPr>
        <p:txBody>
          <a:bodyPr/>
          <a:lstStyle/>
          <a:p>
            <a:endParaRPr lang="es-PE"/>
          </a:p>
        </p:txBody>
      </p:sp>
      <p:sp>
        <p:nvSpPr>
          <p:cNvPr id="63" name="Text 60"/>
          <p:cNvSpPr txBox="1"/>
          <p:nvPr/>
        </p:nvSpPr>
        <p:spPr>
          <a:xfrm>
            <a:off x="12873051" y="227703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55.6</a:t>
            </a:r>
            <a:endParaRPr lang="en-US" sz="650"/>
          </a:p>
        </p:txBody>
      </p:sp>
      <p:sp>
        <p:nvSpPr>
          <p:cNvPr id="64" name="Text 61"/>
          <p:cNvSpPr txBox="1"/>
          <p:nvPr/>
        </p:nvSpPr>
        <p:spPr>
          <a:xfrm>
            <a:off x="12781611" y="189430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495171"/>
            <a:ext cx="400803" cy="212262"/>
          </a:xfrm>
          <a:prstGeom prst="rect">
            <a:avLst/>
          </a:prstGeom>
          <a:solidFill>
            <a:srgbClr val="C0392B"/>
          </a:solidFill>
          <a:ln/>
        </p:spPr>
        <p:txBody>
          <a:bodyPr/>
          <a:lstStyle/>
          <a:p>
            <a:endParaRPr lang="es-PE"/>
          </a:p>
        </p:txBody>
      </p:sp>
      <p:sp>
        <p:nvSpPr>
          <p:cNvPr id="66" name="Text 63"/>
          <p:cNvSpPr txBox="1"/>
          <p:nvPr/>
        </p:nvSpPr>
        <p:spPr>
          <a:xfrm>
            <a:off x="13462467" y="252815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40.7</a:t>
            </a:r>
            <a:endParaRPr lang="en-US" sz="650"/>
          </a:p>
        </p:txBody>
      </p:sp>
      <p:sp>
        <p:nvSpPr>
          <p:cNvPr id="67" name="Text 64"/>
          <p:cNvSpPr txBox="1"/>
          <p:nvPr/>
        </p:nvSpPr>
        <p:spPr>
          <a:xfrm>
            <a:off x="13371027" y="218427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205201"/>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495171"/>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707433"/>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247.6</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63933"/>
            <a:ext cx="589416" cy="1114491"/>
          </a:xfrm>
          <a:prstGeom prst="rect">
            <a:avLst/>
          </a:prstGeom>
          <a:solidFill>
            <a:srgbClr val="5AA6A3"/>
          </a:solidFill>
          <a:ln/>
        </p:spPr>
        <p:txBody>
          <a:bodyPr/>
          <a:lstStyle/>
          <a:p>
            <a:endParaRPr lang="es-PE"/>
          </a:p>
        </p:txBody>
      </p:sp>
      <p:sp>
        <p:nvSpPr>
          <p:cNvPr id="79" name="Text 76"/>
          <p:cNvSpPr txBox="1"/>
          <p:nvPr/>
        </p:nvSpPr>
        <p:spPr>
          <a:xfrm>
            <a:off x="2007970" y="436276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210.3</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171789"/>
            <a:ext cx="589416" cy="506635"/>
          </a:xfrm>
          <a:prstGeom prst="rect">
            <a:avLst/>
          </a:prstGeom>
          <a:solidFill>
            <a:srgbClr val="0B2E2C"/>
          </a:solidFill>
          <a:ln/>
        </p:spPr>
        <p:txBody>
          <a:bodyPr/>
          <a:lstStyle/>
          <a:p>
            <a:endParaRPr lang="es-PE"/>
          </a:p>
        </p:txBody>
      </p:sp>
      <p:sp>
        <p:nvSpPr>
          <p:cNvPr id="82" name="Text 79"/>
          <p:cNvSpPr txBox="1"/>
          <p:nvPr/>
        </p:nvSpPr>
        <p:spPr>
          <a:xfrm>
            <a:off x="3964832" y="497062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95.6</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63933"/>
            <a:ext cx="400803" cy="191313"/>
          </a:xfrm>
          <a:prstGeom prst="rect">
            <a:avLst/>
          </a:prstGeom>
          <a:solidFill>
            <a:srgbClr val="C0392B"/>
          </a:solidFill>
          <a:ln/>
        </p:spPr>
        <p:txBody>
          <a:bodyPr/>
          <a:lstStyle/>
          <a:p>
            <a:endParaRPr lang="es-PE"/>
          </a:p>
        </p:txBody>
      </p:sp>
      <p:sp>
        <p:nvSpPr>
          <p:cNvPr id="85" name="Text 82"/>
          <p:cNvSpPr txBox="1"/>
          <p:nvPr/>
        </p:nvSpPr>
        <p:spPr>
          <a:xfrm>
            <a:off x="2767712" y="458643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36.1</a:t>
            </a:r>
            <a:endParaRPr lang="en-US" sz="650"/>
          </a:p>
        </p:txBody>
      </p:sp>
      <p:sp>
        <p:nvSpPr>
          <p:cNvPr id="86" name="Text 83"/>
          <p:cNvSpPr txBox="1"/>
          <p:nvPr/>
        </p:nvSpPr>
        <p:spPr>
          <a:xfrm>
            <a:off x="2676272" y="425303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4755246"/>
            <a:ext cx="400803" cy="416543"/>
          </a:xfrm>
          <a:prstGeom prst="rect">
            <a:avLst/>
          </a:prstGeom>
          <a:solidFill>
            <a:srgbClr val="C0392B"/>
          </a:solidFill>
          <a:ln/>
        </p:spPr>
        <p:txBody>
          <a:bodyPr/>
          <a:lstStyle/>
          <a:p>
            <a:endParaRPr lang="es-PE"/>
          </a:p>
        </p:txBody>
      </p:sp>
      <p:sp>
        <p:nvSpPr>
          <p:cNvPr id="88" name="Text 85"/>
          <p:cNvSpPr txBox="1"/>
          <p:nvPr/>
        </p:nvSpPr>
        <p:spPr>
          <a:xfrm>
            <a:off x="3357128" y="489036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78.6</a:t>
            </a:r>
            <a:endParaRPr lang="en-US" sz="650"/>
          </a:p>
        </p:txBody>
      </p:sp>
      <p:sp>
        <p:nvSpPr>
          <p:cNvPr id="89" name="Text 86"/>
          <p:cNvSpPr txBox="1"/>
          <p:nvPr/>
        </p:nvSpPr>
        <p:spPr>
          <a:xfrm>
            <a:off x="3265688" y="444435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63933"/>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4755246"/>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171789"/>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275.2</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96427"/>
            <a:ext cx="589416" cy="1181997"/>
          </a:xfrm>
          <a:prstGeom prst="rect">
            <a:avLst/>
          </a:prstGeom>
          <a:solidFill>
            <a:srgbClr val="5AA6A3"/>
          </a:solidFill>
          <a:ln/>
        </p:spPr>
        <p:txBody>
          <a:bodyPr/>
          <a:lstStyle/>
          <a:p>
            <a:endParaRPr lang="es-PE"/>
          </a:p>
        </p:txBody>
      </p:sp>
      <p:sp>
        <p:nvSpPr>
          <p:cNvPr id="101" name="Text 98"/>
          <p:cNvSpPr txBox="1"/>
          <p:nvPr/>
        </p:nvSpPr>
        <p:spPr>
          <a:xfrm>
            <a:off x="7060640" y="429525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247.9</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145357"/>
            <a:ext cx="589416" cy="533067"/>
          </a:xfrm>
          <a:prstGeom prst="rect">
            <a:avLst/>
          </a:prstGeom>
          <a:solidFill>
            <a:srgbClr val="0B2E2C"/>
          </a:solidFill>
          <a:ln/>
        </p:spPr>
        <p:txBody>
          <a:bodyPr/>
          <a:lstStyle/>
          <a:p>
            <a:endParaRPr lang="es-PE"/>
          </a:p>
        </p:txBody>
      </p:sp>
      <p:sp>
        <p:nvSpPr>
          <p:cNvPr id="104" name="Text 101"/>
          <p:cNvSpPr txBox="1"/>
          <p:nvPr/>
        </p:nvSpPr>
        <p:spPr>
          <a:xfrm>
            <a:off x="9017502" y="494418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111.8</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96427"/>
            <a:ext cx="400803" cy="342345"/>
          </a:xfrm>
          <a:prstGeom prst="rect">
            <a:avLst/>
          </a:prstGeom>
          <a:solidFill>
            <a:srgbClr val="C0392B"/>
          </a:solidFill>
          <a:ln/>
        </p:spPr>
        <p:txBody>
          <a:bodyPr/>
          <a:lstStyle/>
          <a:p>
            <a:endParaRPr lang="es-PE"/>
          </a:p>
        </p:txBody>
      </p:sp>
      <p:sp>
        <p:nvSpPr>
          <p:cNvPr id="107" name="Text 104"/>
          <p:cNvSpPr txBox="1"/>
          <p:nvPr/>
        </p:nvSpPr>
        <p:spPr>
          <a:xfrm>
            <a:off x="7820381" y="459444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71.8</a:t>
            </a:r>
            <a:endParaRPr lang="en-US" sz="650"/>
          </a:p>
        </p:txBody>
      </p:sp>
      <p:sp>
        <p:nvSpPr>
          <p:cNvPr id="108" name="Text 105"/>
          <p:cNvSpPr txBox="1"/>
          <p:nvPr/>
        </p:nvSpPr>
        <p:spPr>
          <a:xfrm>
            <a:off x="7728941" y="418553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4838773"/>
            <a:ext cx="400803" cy="306585"/>
          </a:xfrm>
          <a:prstGeom prst="rect">
            <a:avLst/>
          </a:prstGeom>
          <a:solidFill>
            <a:srgbClr val="C0392B"/>
          </a:solidFill>
          <a:ln/>
        </p:spPr>
        <p:txBody>
          <a:bodyPr/>
          <a:lstStyle/>
          <a:p>
            <a:endParaRPr lang="es-PE"/>
          </a:p>
        </p:txBody>
      </p:sp>
      <p:sp>
        <p:nvSpPr>
          <p:cNvPr id="110" name="Text 107"/>
          <p:cNvSpPr txBox="1"/>
          <p:nvPr/>
        </p:nvSpPr>
        <p:spPr>
          <a:xfrm>
            <a:off x="8409798" y="491891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64.3</a:t>
            </a:r>
            <a:endParaRPr lang="en-US" sz="650"/>
          </a:p>
        </p:txBody>
      </p:sp>
      <p:sp>
        <p:nvSpPr>
          <p:cNvPr id="111" name="Text 108"/>
          <p:cNvSpPr txBox="1"/>
          <p:nvPr/>
        </p:nvSpPr>
        <p:spPr>
          <a:xfrm>
            <a:off x="8318358" y="452787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96427"/>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4838773"/>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145357"/>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89.5</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537794"/>
            <a:ext cx="589416" cy="1140630"/>
          </a:xfrm>
          <a:prstGeom prst="rect">
            <a:avLst/>
          </a:prstGeom>
          <a:solidFill>
            <a:srgbClr val="5AA6A3"/>
          </a:solidFill>
          <a:ln/>
        </p:spPr>
        <p:txBody>
          <a:bodyPr/>
          <a:lstStyle/>
          <a:p>
            <a:endParaRPr lang="es-PE"/>
          </a:p>
        </p:txBody>
      </p:sp>
      <p:sp>
        <p:nvSpPr>
          <p:cNvPr id="123" name="Text 120"/>
          <p:cNvSpPr txBox="1"/>
          <p:nvPr/>
        </p:nvSpPr>
        <p:spPr>
          <a:xfrm>
            <a:off x="12113310" y="433662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77.8</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5270847"/>
            <a:ext cx="589416" cy="407577"/>
          </a:xfrm>
          <a:prstGeom prst="rect">
            <a:avLst/>
          </a:prstGeom>
          <a:solidFill>
            <a:srgbClr val="0B2E2C"/>
          </a:solidFill>
          <a:ln/>
        </p:spPr>
        <p:txBody>
          <a:bodyPr/>
          <a:lstStyle/>
          <a:p>
            <a:endParaRPr lang="es-PE"/>
          </a:p>
        </p:txBody>
      </p:sp>
      <p:sp>
        <p:nvSpPr>
          <p:cNvPr id="126" name="Text 123"/>
          <p:cNvSpPr txBox="1"/>
          <p:nvPr/>
        </p:nvSpPr>
        <p:spPr>
          <a:xfrm>
            <a:off x="14070172" y="506967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27.8</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537794"/>
            <a:ext cx="400803" cy="536594"/>
          </a:xfrm>
          <a:prstGeom prst="rect">
            <a:avLst/>
          </a:prstGeom>
          <a:solidFill>
            <a:srgbClr val="C0392B"/>
          </a:solidFill>
          <a:ln/>
        </p:spPr>
        <p:txBody>
          <a:bodyPr/>
          <a:lstStyle/>
          <a:p>
            <a:endParaRPr lang="es-PE"/>
          </a:p>
        </p:txBody>
      </p:sp>
      <p:sp>
        <p:nvSpPr>
          <p:cNvPr id="129" name="Text 126"/>
          <p:cNvSpPr txBox="1"/>
          <p:nvPr/>
        </p:nvSpPr>
        <p:spPr>
          <a:xfrm>
            <a:off x="12873051" y="473294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36.6</a:t>
            </a:r>
            <a:endParaRPr lang="en-US" sz="650"/>
          </a:p>
        </p:txBody>
      </p:sp>
      <p:sp>
        <p:nvSpPr>
          <p:cNvPr id="130" name="Text 127"/>
          <p:cNvSpPr txBox="1"/>
          <p:nvPr/>
        </p:nvSpPr>
        <p:spPr>
          <a:xfrm>
            <a:off x="12781611" y="422689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5074389"/>
            <a:ext cx="400803" cy="196458"/>
          </a:xfrm>
          <a:prstGeom prst="rect">
            <a:avLst/>
          </a:prstGeom>
          <a:solidFill>
            <a:srgbClr val="C0392B"/>
          </a:solidFill>
          <a:ln/>
        </p:spPr>
        <p:txBody>
          <a:bodyPr/>
          <a:lstStyle/>
          <a:p>
            <a:endParaRPr lang="es-PE"/>
          </a:p>
        </p:txBody>
      </p:sp>
      <p:sp>
        <p:nvSpPr>
          <p:cNvPr id="132" name="Text 129"/>
          <p:cNvSpPr txBox="1"/>
          <p:nvPr/>
        </p:nvSpPr>
        <p:spPr>
          <a:xfrm>
            <a:off x="13462467" y="509946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13.4</a:t>
            </a:r>
            <a:endParaRPr lang="en-US" sz="650"/>
          </a:p>
        </p:txBody>
      </p:sp>
      <p:sp>
        <p:nvSpPr>
          <p:cNvPr id="133" name="Text 130"/>
          <p:cNvSpPr txBox="1"/>
          <p:nvPr/>
        </p:nvSpPr>
        <p:spPr>
          <a:xfrm>
            <a:off x="13371027" y="476349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537794"/>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5074389"/>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5270847"/>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domina en monto en Cliente Ancla (S/34.4 vs. 18.5 MM), Socio en Crecimiento (S/44.0 vs. 17.6 MM) y Maduro Multibanco (S/78.6 vs. 36.1 MM) — el mismo patrón que en unidades.</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domina en Cuenta Estratégica (S/55.6 vs. 40.7 MM), Gran Cuenta por Conquistar (S/71.8 vs. 64.3 MM) y Cliente por Reactivar (S/36.6 vs. 13.4 MM) — al pesar por valor, el desajuste de ticket importa más de lo que se veía en unidades.</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Maduro Multibanco vuelve a ser el caso más claro de gestión pendiente (S/78.6 MM en "no gestionado", el mayor de los 6 en monto) — coincide con lo visto en unidades: es el cluster donde más urge una intervención comercial, no de precio.</a:t>
            </a:r>
            <a:endParaRPr lang="en-US"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UNIDADES (N)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los 3 clusters sin deuda pasa lo contrario: pesa más el desajuste de monto que la falta de gestión</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199</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134458"/>
            <a:ext cx="589416" cy="3361086"/>
          </a:xfrm>
          <a:prstGeom prst="rect">
            <a:avLst/>
          </a:prstGeom>
          <a:solidFill>
            <a:srgbClr val="5AA6A3"/>
          </a:solidFill>
          <a:ln/>
        </p:spPr>
        <p:txBody>
          <a:bodyPr/>
          <a:lstStyle/>
          <a:p>
            <a:endParaRPr lang="es-PE"/>
          </a:p>
        </p:txBody>
      </p:sp>
      <p:sp>
        <p:nvSpPr>
          <p:cNvPr id="13" name="Text 10"/>
          <p:cNvSpPr txBox="1"/>
          <p:nvPr/>
        </p:nvSpPr>
        <p:spPr>
          <a:xfrm>
            <a:off x="2007970" y="193329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193</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291192"/>
            <a:ext cx="589416" cy="3204352"/>
          </a:xfrm>
          <a:prstGeom prst="rect">
            <a:avLst/>
          </a:prstGeom>
          <a:solidFill>
            <a:srgbClr val="0B2E2C"/>
          </a:solidFill>
          <a:ln/>
        </p:spPr>
        <p:txBody>
          <a:bodyPr/>
          <a:lstStyle/>
          <a:p>
            <a:endParaRPr lang="es-PE"/>
          </a:p>
        </p:txBody>
      </p:sp>
      <p:sp>
        <p:nvSpPr>
          <p:cNvPr id="16" name="Text 13"/>
          <p:cNvSpPr txBox="1"/>
          <p:nvPr/>
        </p:nvSpPr>
        <p:spPr>
          <a:xfrm>
            <a:off x="3964832" y="209002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184</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134458"/>
            <a:ext cx="400803" cy="87075"/>
          </a:xfrm>
          <a:prstGeom prst="rect">
            <a:avLst/>
          </a:prstGeom>
          <a:solidFill>
            <a:srgbClr val="C0392B"/>
          </a:solidFill>
          <a:ln/>
        </p:spPr>
        <p:txBody>
          <a:bodyPr/>
          <a:lstStyle/>
          <a:p>
            <a:endParaRPr lang="es-PE"/>
          </a:p>
        </p:txBody>
      </p:sp>
      <p:sp>
        <p:nvSpPr>
          <p:cNvPr id="19" name="Text 16"/>
          <p:cNvSpPr txBox="1"/>
          <p:nvPr/>
        </p:nvSpPr>
        <p:spPr>
          <a:xfrm>
            <a:off x="3397115" y="210484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5</a:t>
            </a:r>
            <a:endParaRPr lang="en-US" sz="650"/>
          </a:p>
        </p:txBody>
      </p:sp>
      <p:sp>
        <p:nvSpPr>
          <p:cNvPr id="20" name="Text 17"/>
          <p:cNvSpPr txBox="1"/>
          <p:nvPr/>
        </p:nvSpPr>
        <p:spPr>
          <a:xfrm>
            <a:off x="2676272" y="182356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221533"/>
            <a:ext cx="400803" cy="69660"/>
          </a:xfrm>
          <a:prstGeom prst="rect">
            <a:avLst/>
          </a:prstGeom>
          <a:solidFill>
            <a:srgbClr val="C0392B"/>
          </a:solidFill>
          <a:ln/>
        </p:spPr>
        <p:txBody>
          <a:bodyPr/>
          <a:lstStyle/>
          <a:p>
            <a:endParaRPr lang="es-PE"/>
          </a:p>
        </p:txBody>
      </p:sp>
      <p:sp>
        <p:nvSpPr>
          <p:cNvPr id="22" name="Text 19"/>
          <p:cNvSpPr txBox="1"/>
          <p:nvPr/>
        </p:nvSpPr>
        <p:spPr>
          <a:xfrm>
            <a:off x="3986531" y="2183210"/>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4</a:t>
            </a:r>
            <a:endParaRPr lang="en-US" sz="650"/>
          </a:p>
        </p:txBody>
      </p:sp>
      <p:sp>
        <p:nvSpPr>
          <p:cNvPr id="23" name="Text 20"/>
          <p:cNvSpPr txBox="1"/>
          <p:nvPr/>
        </p:nvSpPr>
        <p:spPr>
          <a:xfrm>
            <a:off x="3265688" y="191063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134458"/>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221533"/>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291192"/>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165</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113982"/>
            <a:ext cx="589416" cy="3381562"/>
          </a:xfrm>
          <a:prstGeom prst="rect">
            <a:avLst/>
          </a:prstGeom>
          <a:solidFill>
            <a:srgbClr val="5AA6A3"/>
          </a:solidFill>
          <a:ln/>
        </p:spPr>
        <p:txBody>
          <a:bodyPr/>
          <a:lstStyle/>
          <a:p>
            <a:endParaRPr lang="es-PE"/>
          </a:p>
        </p:txBody>
      </p:sp>
      <p:sp>
        <p:nvSpPr>
          <p:cNvPr id="35" name="Text 32"/>
          <p:cNvSpPr txBox="1"/>
          <p:nvPr/>
        </p:nvSpPr>
        <p:spPr>
          <a:xfrm>
            <a:off x="7060640" y="19128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161</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513048"/>
            <a:ext cx="589416" cy="2982496"/>
          </a:xfrm>
          <a:prstGeom prst="rect">
            <a:avLst/>
          </a:prstGeom>
          <a:solidFill>
            <a:srgbClr val="0B2E2C"/>
          </a:solidFill>
          <a:ln/>
        </p:spPr>
        <p:txBody>
          <a:bodyPr/>
          <a:lstStyle/>
          <a:p>
            <a:endParaRPr lang="es-PE"/>
          </a:p>
        </p:txBody>
      </p:sp>
      <p:sp>
        <p:nvSpPr>
          <p:cNvPr id="38" name="Text 35"/>
          <p:cNvSpPr txBox="1"/>
          <p:nvPr/>
        </p:nvSpPr>
        <p:spPr>
          <a:xfrm>
            <a:off x="9017502" y="231188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142</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113982"/>
            <a:ext cx="400803" cy="357059"/>
          </a:xfrm>
          <a:prstGeom prst="rect">
            <a:avLst/>
          </a:prstGeom>
          <a:solidFill>
            <a:srgbClr val="C0392B"/>
          </a:solidFill>
          <a:ln/>
        </p:spPr>
        <p:txBody>
          <a:bodyPr/>
          <a:lstStyle/>
          <a:p>
            <a:endParaRPr lang="es-PE"/>
          </a:p>
        </p:txBody>
      </p:sp>
      <p:sp>
        <p:nvSpPr>
          <p:cNvPr id="41" name="Text 38"/>
          <p:cNvSpPr txBox="1"/>
          <p:nvPr/>
        </p:nvSpPr>
        <p:spPr>
          <a:xfrm>
            <a:off x="7820381" y="221936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17</a:t>
            </a:r>
            <a:endParaRPr lang="en-US" sz="650"/>
          </a:p>
        </p:txBody>
      </p:sp>
      <p:sp>
        <p:nvSpPr>
          <p:cNvPr id="42" name="Text 39"/>
          <p:cNvSpPr txBox="1"/>
          <p:nvPr/>
        </p:nvSpPr>
        <p:spPr>
          <a:xfrm>
            <a:off x="7728941" y="18030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471041"/>
            <a:ext cx="400803" cy="42007"/>
          </a:xfrm>
          <a:prstGeom prst="rect">
            <a:avLst/>
          </a:prstGeom>
          <a:solidFill>
            <a:srgbClr val="C0392B"/>
          </a:solidFill>
          <a:ln/>
        </p:spPr>
        <p:txBody>
          <a:bodyPr/>
          <a:lstStyle/>
          <a:p>
            <a:endParaRPr lang="es-PE"/>
          </a:p>
        </p:txBody>
      </p:sp>
      <p:sp>
        <p:nvSpPr>
          <p:cNvPr id="44" name="Text 41"/>
          <p:cNvSpPr txBox="1"/>
          <p:nvPr/>
        </p:nvSpPr>
        <p:spPr>
          <a:xfrm>
            <a:off x="9039201" y="241889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a:t>
            </a:r>
            <a:endParaRPr lang="en-US" sz="650"/>
          </a:p>
        </p:txBody>
      </p:sp>
      <p:sp>
        <p:nvSpPr>
          <p:cNvPr id="45" name="Text 42"/>
          <p:cNvSpPr txBox="1"/>
          <p:nvPr/>
        </p:nvSpPr>
        <p:spPr>
          <a:xfrm>
            <a:off x="8318358" y="216014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113982"/>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471041"/>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513048"/>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295</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76959"/>
            <a:ext cx="589416" cy="3418585"/>
          </a:xfrm>
          <a:prstGeom prst="rect">
            <a:avLst/>
          </a:prstGeom>
          <a:solidFill>
            <a:srgbClr val="5AA6A3"/>
          </a:solidFill>
          <a:ln/>
        </p:spPr>
        <p:txBody>
          <a:bodyPr/>
          <a:lstStyle/>
          <a:p>
            <a:endParaRPr lang="es-PE"/>
          </a:p>
        </p:txBody>
      </p:sp>
      <p:sp>
        <p:nvSpPr>
          <p:cNvPr id="57" name="Text 54"/>
          <p:cNvSpPr txBox="1"/>
          <p:nvPr/>
        </p:nvSpPr>
        <p:spPr>
          <a:xfrm>
            <a:off x="12113310" y="187579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291</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570363"/>
            <a:ext cx="589416" cy="2925181"/>
          </a:xfrm>
          <a:prstGeom prst="rect">
            <a:avLst/>
          </a:prstGeom>
          <a:solidFill>
            <a:srgbClr val="0B2E2C"/>
          </a:solidFill>
          <a:ln/>
        </p:spPr>
        <p:txBody>
          <a:bodyPr/>
          <a:lstStyle/>
          <a:p>
            <a:endParaRPr lang="es-PE"/>
          </a:p>
        </p:txBody>
      </p:sp>
      <p:sp>
        <p:nvSpPr>
          <p:cNvPr id="60" name="Text 57"/>
          <p:cNvSpPr txBox="1"/>
          <p:nvPr/>
        </p:nvSpPr>
        <p:spPr>
          <a:xfrm>
            <a:off x="14070172" y="236919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249</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76959"/>
            <a:ext cx="400803" cy="375927"/>
          </a:xfrm>
          <a:prstGeom prst="rect">
            <a:avLst/>
          </a:prstGeom>
          <a:solidFill>
            <a:srgbClr val="C0392B"/>
          </a:solidFill>
          <a:ln/>
        </p:spPr>
        <p:txBody>
          <a:bodyPr/>
          <a:lstStyle/>
          <a:p>
            <a:endParaRPr lang="es-PE"/>
          </a:p>
        </p:txBody>
      </p:sp>
      <p:sp>
        <p:nvSpPr>
          <p:cNvPr id="63" name="Text 60"/>
          <p:cNvSpPr txBox="1"/>
          <p:nvPr/>
        </p:nvSpPr>
        <p:spPr>
          <a:xfrm>
            <a:off x="12873051" y="219177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32</a:t>
            </a:r>
            <a:endParaRPr lang="en-US" sz="650"/>
          </a:p>
        </p:txBody>
      </p:sp>
      <p:sp>
        <p:nvSpPr>
          <p:cNvPr id="64" name="Text 61"/>
          <p:cNvSpPr txBox="1"/>
          <p:nvPr/>
        </p:nvSpPr>
        <p:spPr>
          <a:xfrm>
            <a:off x="12781611" y="176606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452886"/>
            <a:ext cx="400803" cy="117477"/>
          </a:xfrm>
          <a:prstGeom prst="rect">
            <a:avLst/>
          </a:prstGeom>
          <a:solidFill>
            <a:srgbClr val="C0392B"/>
          </a:solidFill>
          <a:ln/>
        </p:spPr>
        <p:txBody>
          <a:bodyPr/>
          <a:lstStyle/>
          <a:p>
            <a:endParaRPr lang="es-PE"/>
          </a:p>
        </p:txBody>
      </p:sp>
      <p:sp>
        <p:nvSpPr>
          <p:cNvPr id="66" name="Text 63"/>
          <p:cNvSpPr txBox="1"/>
          <p:nvPr/>
        </p:nvSpPr>
        <p:spPr>
          <a:xfrm>
            <a:off x="14091870" y="243847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10</a:t>
            </a:r>
            <a:endParaRPr lang="en-US" sz="650"/>
          </a:p>
        </p:txBody>
      </p:sp>
      <p:sp>
        <p:nvSpPr>
          <p:cNvPr id="67" name="Text 64"/>
          <p:cNvSpPr txBox="1"/>
          <p:nvPr/>
        </p:nvSpPr>
        <p:spPr>
          <a:xfrm>
            <a:off x="13371027" y="214199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76959"/>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452886"/>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570363"/>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Nuevo en Expansión (17 vs. 2), Próximo Recurrente (32 vs. 10) y Emprendedor Izipay (5 vs. 4) — el patrón inverso al de 5 de los 6 clusters con deuda.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En los 3, la suma de ambos filtros no llega al 16% del universo inicial (el mayor caso es Próximo Recurrente, 295→249) — muy por debajo de lo que se retira en cualquier cluster con deuda.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Con un universo ya tan depurado y sin un problema de gestión que resolver, la conversación en estos 3 clusters pasa directo a por qué se pierde el share dentro de "Relevante" (competencia real), no a si el universo está bien medido.</a:t>
            </a:r>
            <a:endParaRPr lang="en-US"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MONTO (S/ MM)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sin deuda, el desajuste de monto domina por mucho en los 3 — casi no hay demanda comparable sin trabajar</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14.0</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351771"/>
            <a:ext cx="589416" cy="3143773"/>
          </a:xfrm>
          <a:prstGeom prst="rect">
            <a:avLst/>
          </a:prstGeom>
          <a:solidFill>
            <a:srgbClr val="5AA6A3"/>
          </a:solidFill>
          <a:ln/>
        </p:spPr>
        <p:txBody>
          <a:bodyPr/>
          <a:lstStyle/>
          <a:p>
            <a:endParaRPr lang="es-PE"/>
          </a:p>
        </p:txBody>
      </p:sp>
      <p:sp>
        <p:nvSpPr>
          <p:cNvPr id="13" name="Text 10"/>
          <p:cNvSpPr txBox="1"/>
          <p:nvPr/>
        </p:nvSpPr>
        <p:spPr>
          <a:xfrm>
            <a:off x="2007970" y="215060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12.7</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846854"/>
            <a:ext cx="589416" cy="2648690"/>
          </a:xfrm>
          <a:prstGeom prst="rect">
            <a:avLst/>
          </a:prstGeom>
          <a:solidFill>
            <a:srgbClr val="0B2E2C"/>
          </a:solidFill>
          <a:ln/>
        </p:spPr>
        <p:txBody>
          <a:bodyPr/>
          <a:lstStyle/>
          <a:p>
            <a:endParaRPr lang="es-PE"/>
          </a:p>
        </p:txBody>
      </p:sp>
      <p:sp>
        <p:nvSpPr>
          <p:cNvPr id="16" name="Text 13"/>
          <p:cNvSpPr txBox="1"/>
          <p:nvPr/>
        </p:nvSpPr>
        <p:spPr>
          <a:xfrm>
            <a:off x="3964832" y="264568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10.7</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351771"/>
            <a:ext cx="400803" cy="396066"/>
          </a:xfrm>
          <a:prstGeom prst="rect">
            <a:avLst/>
          </a:prstGeom>
          <a:solidFill>
            <a:srgbClr val="C0392B"/>
          </a:solidFill>
          <a:ln/>
        </p:spPr>
        <p:txBody>
          <a:bodyPr/>
          <a:lstStyle/>
          <a:p>
            <a:endParaRPr lang="es-PE"/>
          </a:p>
        </p:txBody>
      </p:sp>
      <p:sp>
        <p:nvSpPr>
          <p:cNvPr id="19" name="Text 16"/>
          <p:cNvSpPr txBox="1"/>
          <p:nvPr/>
        </p:nvSpPr>
        <p:spPr>
          <a:xfrm>
            <a:off x="2767712" y="2476652"/>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1.6</a:t>
            </a:r>
            <a:endParaRPr lang="en-US" sz="650"/>
          </a:p>
        </p:txBody>
      </p:sp>
      <p:sp>
        <p:nvSpPr>
          <p:cNvPr id="20" name="Text 17"/>
          <p:cNvSpPr txBox="1"/>
          <p:nvPr/>
        </p:nvSpPr>
        <p:spPr>
          <a:xfrm>
            <a:off x="2676272" y="204087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747837"/>
            <a:ext cx="400803" cy="99016"/>
          </a:xfrm>
          <a:prstGeom prst="rect">
            <a:avLst/>
          </a:prstGeom>
          <a:solidFill>
            <a:srgbClr val="C0392B"/>
          </a:solidFill>
          <a:ln/>
        </p:spPr>
        <p:txBody>
          <a:bodyPr/>
          <a:lstStyle/>
          <a:p>
            <a:endParaRPr lang="es-PE"/>
          </a:p>
        </p:txBody>
      </p:sp>
      <p:sp>
        <p:nvSpPr>
          <p:cNvPr id="22" name="Text 19"/>
          <p:cNvSpPr txBox="1"/>
          <p:nvPr/>
        </p:nvSpPr>
        <p:spPr>
          <a:xfrm>
            <a:off x="3986531" y="272419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0.4</a:t>
            </a:r>
            <a:endParaRPr lang="en-US" sz="650"/>
          </a:p>
        </p:txBody>
      </p:sp>
      <p:sp>
        <p:nvSpPr>
          <p:cNvPr id="23" name="Text 20"/>
          <p:cNvSpPr txBox="1"/>
          <p:nvPr/>
        </p:nvSpPr>
        <p:spPr>
          <a:xfrm>
            <a:off x="3265688" y="243694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351771"/>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747837"/>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846854"/>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18.6</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85864"/>
            <a:ext cx="589416" cy="3409680"/>
          </a:xfrm>
          <a:prstGeom prst="rect">
            <a:avLst/>
          </a:prstGeom>
          <a:solidFill>
            <a:srgbClr val="5AA6A3"/>
          </a:solidFill>
          <a:ln/>
        </p:spPr>
        <p:txBody>
          <a:bodyPr/>
          <a:lstStyle/>
          <a:p>
            <a:endParaRPr lang="es-PE"/>
          </a:p>
        </p:txBody>
      </p:sp>
      <p:sp>
        <p:nvSpPr>
          <p:cNvPr id="35" name="Text 32"/>
          <p:cNvSpPr txBox="1"/>
          <p:nvPr/>
        </p:nvSpPr>
        <p:spPr>
          <a:xfrm>
            <a:off x="7060640" y="188469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18.3</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980207"/>
            <a:ext cx="589416" cy="2515337"/>
          </a:xfrm>
          <a:prstGeom prst="rect">
            <a:avLst/>
          </a:prstGeom>
          <a:solidFill>
            <a:srgbClr val="0B2E2C"/>
          </a:solidFill>
          <a:ln/>
        </p:spPr>
        <p:txBody>
          <a:bodyPr/>
          <a:lstStyle/>
          <a:p>
            <a:endParaRPr lang="es-PE"/>
          </a:p>
        </p:txBody>
      </p:sp>
      <p:sp>
        <p:nvSpPr>
          <p:cNvPr id="38" name="Text 35"/>
          <p:cNvSpPr txBox="1"/>
          <p:nvPr/>
        </p:nvSpPr>
        <p:spPr>
          <a:xfrm>
            <a:off x="9017502" y="27790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13.5</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85864"/>
            <a:ext cx="400803" cy="838446"/>
          </a:xfrm>
          <a:prstGeom prst="rect">
            <a:avLst/>
          </a:prstGeom>
          <a:solidFill>
            <a:srgbClr val="C0392B"/>
          </a:solidFill>
          <a:ln/>
        </p:spPr>
        <p:txBody>
          <a:bodyPr/>
          <a:lstStyle/>
          <a:p>
            <a:endParaRPr lang="es-PE"/>
          </a:p>
        </p:txBody>
      </p:sp>
      <p:sp>
        <p:nvSpPr>
          <p:cNvPr id="41" name="Text 38"/>
          <p:cNvSpPr txBox="1"/>
          <p:nvPr/>
        </p:nvSpPr>
        <p:spPr>
          <a:xfrm>
            <a:off x="7820381" y="243193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4.5</a:t>
            </a:r>
            <a:endParaRPr lang="en-US" sz="650"/>
          </a:p>
        </p:txBody>
      </p:sp>
      <p:sp>
        <p:nvSpPr>
          <p:cNvPr id="42" name="Text 39"/>
          <p:cNvSpPr txBox="1"/>
          <p:nvPr/>
        </p:nvSpPr>
        <p:spPr>
          <a:xfrm>
            <a:off x="7728941" y="177496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924310"/>
            <a:ext cx="400803" cy="55896"/>
          </a:xfrm>
          <a:prstGeom prst="rect">
            <a:avLst/>
          </a:prstGeom>
          <a:solidFill>
            <a:srgbClr val="C0392B"/>
          </a:solidFill>
          <a:ln/>
        </p:spPr>
        <p:txBody>
          <a:bodyPr/>
          <a:lstStyle/>
          <a:p>
            <a:endParaRPr lang="es-PE"/>
          </a:p>
        </p:txBody>
      </p:sp>
      <p:sp>
        <p:nvSpPr>
          <p:cNvPr id="44" name="Text 41"/>
          <p:cNvSpPr txBox="1"/>
          <p:nvPr/>
        </p:nvSpPr>
        <p:spPr>
          <a:xfrm>
            <a:off x="9039201" y="2879106"/>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0.3</a:t>
            </a:r>
            <a:endParaRPr lang="en-US" sz="650"/>
          </a:p>
        </p:txBody>
      </p:sp>
      <p:sp>
        <p:nvSpPr>
          <p:cNvPr id="45" name="Text 42"/>
          <p:cNvSpPr txBox="1"/>
          <p:nvPr/>
        </p:nvSpPr>
        <p:spPr>
          <a:xfrm>
            <a:off x="8318358" y="2613414"/>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85864"/>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924310"/>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980207"/>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46.9</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66914"/>
            <a:ext cx="589416" cy="3428630"/>
          </a:xfrm>
          <a:prstGeom prst="rect">
            <a:avLst/>
          </a:prstGeom>
          <a:solidFill>
            <a:srgbClr val="5AA6A3"/>
          </a:solidFill>
          <a:ln/>
        </p:spPr>
        <p:txBody>
          <a:bodyPr/>
          <a:lstStyle/>
          <a:p>
            <a:endParaRPr lang="es-PE"/>
          </a:p>
        </p:txBody>
      </p:sp>
      <p:sp>
        <p:nvSpPr>
          <p:cNvPr id="57" name="Text 54"/>
          <p:cNvSpPr txBox="1"/>
          <p:nvPr/>
        </p:nvSpPr>
        <p:spPr>
          <a:xfrm>
            <a:off x="12113310" y="186574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46.4</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3640833"/>
            <a:ext cx="589416" cy="1854711"/>
          </a:xfrm>
          <a:prstGeom prst="rect">
            <a:avLst/>
          </a:prstGeom>
          <a:solidFill>
            <a:srgbClr val="0B2E2C"/>
          </a:solidFill>
          <a:ln/>
        </p:spPr>
        <p:txBody>
          <a:bodyPr/>
          <a:lstStyle/>
          <a:p>
            <a:endParaRPr lang="es-PE"/>
          </a:p>
        </p:txBody>
      </p:sp>
      <p:sp>
        <p:nvSpPr>
          <p:cNvPr id="60" name="Text 57"/>
          <p:cNvSpPr txBox="1"/>
          <p:nvPr/>
        </p:nvSpPr>
        <p:spPr>
          <a:xfrm>
            <a:off x="14070172" y="343966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25.1</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66914"/>
            <a:ext cx="400803" cy="1492636"/>
          </a:xfrm>
          <a:prstGeom prst="rect">
            <a:avLst/>
          </a:prstGeom>
          <a:solidFill>
            <a:srgbClr val="C0392B"/>
          </a:solidFill>
          <a:ln/>
        </p:spPr>
        <p:txBody>
          <a:bodyPr/>
          <a:lstStyle/>
          <a:p>
            <a:endParaRPr lang="es-PE"/>
          </a:p>
        </p:txBody>
      </p:sp>
      <p:sp>
        <p:nvSpPr>
          <p:cNvPr id="63" name="Text 60"/>
          <p:cNvSpPr txBox="1"/>
          <p:nvPr/>
        </p:nvSpPr>
        <p:spPr>
          <a:xfrm>
            <a:off x="12873051" y="274008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20.2</a:t>
            </a:r>
            <a:endParaRPr lang="en-US" sz="650"/>
          </a:p>
        </p:txBody>
      </p:sp>
      <p:sp>
        <p:nvSpPr>
          <p:cNvPr id="64" name="Text 61"/>
          <p:cNvSpPr txBox="1"/>
          <p:nvPr/>
        </p:nvSpPr>
        <p:spPr>
          <a:xfrm>
            <a:off x="12781611" y="175601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3559551"/>
            <a:ext cx="400803" cy="81282"/>
          </a:xfrm>
          <a:prstGeom prst="rect">
            <a:avLst/>
          </a:prstGeom>
          <a:solidFill>
            <a:srgbClr val="C0392B"/>
          </a:solidFill>
          <a:ln/>
        </p:spPr>
        <p:txBody>
          <a:bodyPr/>
          <a:lstStyle/>
          <a:p>
            <a:endParaRPr lang="es-PE"/>
          </a:p>
        </p:txBody>
      </p:sp>
      <p:sp>
        <p:nvSpPr>
          <p:cNvPr id="66" name="Text 63"/>
          <p:cNvSpPr txBox="1"/>
          <p:nvPr/>
        </p:nvSpPr>
        <p:spPr>
          <a:xfrm>
            <a:off x="14091870" y="3527040"/>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1.1</a:t>
            </a:r>
            <a:endParaRPr lang="en-US" sz="650"/>
          </a:p>
        </p:txBody>
      </p:sp>
      <p:sp>
        <p:nvSpPr>
          <p:cNvPr id="67" name="Text 64"/>
          <p:cNvSpPr txBox="1"/>
          <p:nvPr/>
        </p:nvSpPr>
        <p:spPr>
          <a:xfrm>
            <a:off x="13371027" y="324865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66914"/>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3559551"/>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3640833"/>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y por mucho: Próximo Recurrente (S/20.2 vs. 1.1 MM), Nuevo en Expansión (S/4.5 vs. 0.3 MM) y Emprendedor Izipay (S/1.6 vs. 0.4 MM) — igual que en unidades, pero la brecha es aún más marcada en valor.</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Próximo Recurrente concentra el mayor desajuste de monto de los 3 (S/20.2 MM) — probablemente el cluster sin deuda con los tickets más heterogéneos frente a su competencia.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En ningún cluster sin deuda "no gestionado" supera S/1.1 MM — confirma que ahí prácticamente no queda oportunidad de gestión comercial por ganar, ni en unidades ni en monto.</a:t>
            </a:r>
            <a:endParaRPr lang="en-US"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10896"/>
            <a:ext cx="13990320" cy="201168"/>
          </a:xfrm>
          <a:prstGeom prst="rect">
            <a:avLst/>
          </a:prstGeom>
          <a:noFill/>
          <a:ln/>
        </p:spPr>
        <p:txBody>
          <a:bodyPr wrap="square" lIns="0" tIns="0" rIns="0" bIns="0" rtlCol="0" anchor="ctr"/>
          <a:lstStyle/>
          <a:p>
            <a:pPr marL="0" indent="0">
              <a:buNone/>
            </a:pPr>
            <a:r>
              <a:rPr lang="en-US" sz="1000" b="1">
                <a:solidFill>
                  <a:srgbClr val="13807B"/>
                </a:solidFill>
                <a:latin typeface="Arial" pitchFamily="34" charset="0"/>
                <a:ea typeface="Arial" pitchFamily="34" charset="-122"/>
                <a:cs typeface="Arial" pitchFamily="34" charset="-120"/>
              </a:rPr>
              <a:t>SEGMENTACIÓN ESTRATÉGICA · SHARE OF SALES · MARCO METODOLÓGICO</a:t>
            </a:r>
            <a:endParaRPr lang="en-US" sz="1000"/>
          </a:p>
        </p:txBody>
      </p:sp>
      <p:sp>
        <p:nvSpPr>
          <p:cNvPr id="3" name="Text 1"/>
          <p:cNvSpPr txBox="1"/>
          <p:nvPr/>
        </p:nvSpPr>
        <p:spPr>
          <a:xfrm>
            <a:off x="658368" y="530352"/>
            <a:ext cx="13990320" cy="685800"/>
          </a:xfrm>
          <a:prstGeom prst="rect">
            <a:avLst/>
          </a:prstGeom>
          <a:noFill/>
          <a:ln/>
        </p:spPr>
        <p:txBody>
          <a:bodyPr wrap="square" lIns="0" tIns="0" rIns="0" bIns="0" rtlCol="0" anchor="ctr"/>
          <a:lstStyle/>
          <a:p>
            <a:pPr marL="0" indent="0">
              <a:lnSpc>
                <a:spcPct val="100000"/>
              </a:lnSpc>
              <a:buNone/>
            </a:pPr>
            <a:r>
              <a:rPr lang="en-US" sz="2100" b="1">
                <a:solidFill>
                  <a:srgbClr val="13807B"/>
                </a:solidFill>
                <a:latin typeface="Arial" pitchFamily="34" charset="0"/>
                <a:ea typeface="Arial" pitchFamily="34" charset="-122"/>
                <a:cs typeface="Arial" pitchFamily="34" charset="-120"/>
              </a:rPr>
              <a:t>Cuatro capas para medir el share de forma justa: cada capa retira competencia que IBK no podía ganar</a:t>
            </a:r>
            <a:endParaRPr lang="en-US" sz="21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 name="Shape 3"/>
          <p:cNvSpPr/>
          <p:nvPr/>
        </p:nvSpPr>
        <p:spPr>
          <a:xfrm>
            <a:off x="658368" y="1627632"/>
            <a:ext cx="3487750" cy="402336"/>
          </a:xfrm>
          <a:prstGeom prst="rect">
            <a:avLst/>
          </a:prstGeom>
          <a:solidFill>
            <a:srgbClr val="445A6E"/>
          </a:solidFill>
          <a:ln/>
        </p:spPr>
        <p:txBody>
          <a:bodyPr/>
          <a:lstStyle/>
          <a:p>
            <a:endParaRPr lang="es-PE"/>
          </a:p>
        </p:txBody>
      </p:sp>
      <p:sp>
        <p:nvSpPr>
          <p:cNvPr id="7" name="Text 4"/>
          <p:cNvSpPr txBox="1"/>
          <p:nvPr/>
        </p:nvSpPr>
        <p:spPr>
          <a:xfrm>
            <a:off x="822960"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1 · V1</a:t>
            </a:r>
            <a:endParaRPr lang="en-US" sz="1200"/>
          </a:p>
        </p:txBody>
      </p:sp>
      <p:sp>
        <p:nvSpPr>
          <p:cNvPr id="8" name="Text 5"/>
          <p:cNvSpPr txBox="1"/>
          <p:nvPr/>
        </p:nvSpPr>
        <p:spPr>
          <a:xfrm>
            <a:off x="822960"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Universo total</a:t>
            </a:r>
            <a:endParaRPr lang="en-US" sz="1400"/>
          </a:p>
        </p:txBody>
      </p:sp>
      <p:sp>
        <p:nvSpPr>
          <p:cNvPr id="9" name="Text 6"/>
          <p:cNvSpPr txBox="1"/>
          <p:nvPr/>
        </p:nvSpPr>
        <p:spPr>
          <a:xfrm>
            <a:off x="822960"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Todos los desembolsos del cliente: competencia interna (otro producto de CT) y externa (otros bancos).</a:t>
            </a:r>
            <a:endParaRPr lang="en-US" sz="1100"/>
          </a:p>
        </p:txBody>
      </p:sp>
      <p:sp>
        <p:nvSpPr>
          <p:cNvPr id="10" name="Text 7"/>
          <p:cNvSpPr txBox="1"/>
          <p:nvPr/>
        </p:nvSpPr>
        <p:spPr>
          <a:xfrm>
            <a:off x="822960"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11" name="Shape 8"/>
          <p:cNvSpPr/>
          <p:nvPr/>
        </p:nvSpPr>
        <p:spPr>
          <a:xfrm>
            <a:off x="822960" y="4690872"/>
            <a:ext cx="721062" cy="347472"/>
          </a:xfrm>
          <a:prstGeom prst="rect">
            <a:avLst/>
          </a:prstGeom>
          <a:solidFill>
            <a:srgbClr val="8FCBC6"/>
          </a:solidFill>
          <a:ln/>
        </p:spPr>
        <p:txBody>
          <a:bodyPr/>
          <a:lstStyle/>
          <a:p>
            <a:endParaRPr lang="es-PE"/>
          </a:p>
        </p:txBody>
      </p:sp>
      <p:sp>
        <p:nvSpPr>
          <p:cNvPr id="12" name="Text 9"/>
          <p:cNvSpPr txBox="1"/>
          <p:nvPr/>
        </p:nvSpPr>
        <p:spPr>
          <a:xfrm>
            <a:off x="731520"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Interna</a:t>
            </a:r>
            <a:endParaRPr lang="en-US" sz="750"/>
          </a:p>
        </p:txBody>
      </p:sp>
      <p:sp>
        <p:nvSpPr>
          <p:cNvPr id="13" name="Shape 10"/>
          <p:cNvSpPr/>
          <p:nvPr/>
        </p:nvSpPr>
        <p:spPr>
          <a:xfrm>
            <a:off x="1635462" y="4690872"/>
            <a:ext cx="721062" cy="347472"/>
          </a:xfrm>
          <a:prstGeom prst="rect">
            <a:avLst/>
          </a:prstGeom>
          <a:solidFill>
            <a:srgbClr val="8FCBC6"/>
          </a:solidFill>
          <a:ln/>
        </p:spPr>
        <p:txBody>
          <a:bodyPr/>
          <a:lstStyle/>
          <a:p>
            <a:endParaRPr lang="es-PE"/>
          </a:p>
        </p:txBody>
      </p:sp>
      <p:sp>
        <p:nvSpPr>
          <p:cNvPr id="14" name="Text 11"/>
          <p:cNvSpPr txBox="1"/>
          <p:nvPr/>
        </p:nvSpPr>
        <p:spPr>
          <a:xfrm>
            <a:off x="154402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15" name="Shape 12"/>
          <p:cNvSpPr/>
          <p:nvPr/>
        </p:nvSpPr>
        <p:spPr>
          <a:xfrm>
            <a:off x="2447963" y="4690872"/>
            <a:ext cx="721062" cy="347472"/>
          </a:xfrm>
          <a:prstGeom prst="rect">
            <a:avLst/>
          </a:prstGeom>
          <a:solidFill>
            <a:srgbClr val="8FCBC6"/>
          </a:solidFill>
          <a:ln/>
        </p:spPr>
        <p:txBody>
          <a:bodyPr/>
          <a:lstStyle/>
          <a:p>
            <a:endParaRPr lang="es-PE"/>
          </a:p>
        </p:txBody>
      </p:sp>
      <p:sp>
        <p:nvSpPr>
          <p:cNvPr id="16" name="Text 13"/>
          <p:cNvSpPr txBox="1"/>
          <p:nvPr/>
        </p:nvSpPr>
        <p:spPr>
          <a:xfrm>
            <a:off x="235652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17" name="Shape 14"/>
          <p:cNvSpPr/>
          <p:nvPr/>
        </p:nvSpPr>
        <p:spPr>
          <a:xfrm>
            <a:off x="3260465" y="4690872"/>
            <a:ext cx="721062" cy="347472"/>
          </a:xfrm>
          <a:prstGeom prst="rect">
            <a:avLst/>
          </a:prstGeom>
          <a:solidFill>
            <a:srgbClr val="0C514E"/>
          </a:solidFill>
          <a:ln/>
        </p:spPr>
        <p:txBody>
          <a:bodyPr/>
          <a:lstStyle/>
          <a:p>
            <a:endParaRPr lang="es-PE"/>
          </a:p>
        </p:txBody>
      </p:sp>
      <p:sp>
        <p:nvSpPr>
          <p:cNvPr id="18" name="Text 15"/>
          <p:cNvSpPr txBox="1"/>
          <p:nvPr/>
        </p:nvSpPr>
        <p:spPr>
          <a:xfrm>
            <a:off x="3169025"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19" name="Shape 16"/>
          <p:cNvSpPr/>
          <p:nvPr/>
        </p:nvSpPr>
        <p:spPr>
          <a:xfrm>
            <a:off x="822960" y="5632704"/>
            <a:ext cx="3158566" cy="0"/>
          </a:xfrm>
          <a:prstGeom prst="line">
            <a:avLst/>
          </a:prstGeom>
          <a:noFill/>
          <a:ln w="9525">
            <a:solidFill>
              <a:srgbClr val="D5DFDE"/>
            </a:solidFill>
            <a:prstDash val="solid"/>
          </a:ln>
        </p:spPr>
        <p:txBody>
          <a:bodyPr/>
          <a:lstStyle/>
          <a:p>
            <a:endParaRPr lang="es-PE"/>
          </a:p>
        </p:txBody>
      </p:sp>
      <p:sp>
        <p:nvSpPr>
          <p:cNvPr id="20" name="Text 17"/>
          <p:cNvSpPr txBox="1"/>
          <p:nvPr/>
        </p:nvSpPr>
        <p:spPr>
          <a:xfrm>
            <a:off x="822960"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PUNTO DE PARTIDA</a:t>
            </a:r>
            <a:endParaRPr lang="en-US" sz="850"/>
          </a:p>
        </p:txBody>
      </p:sp>
      <p:sp>
        <p:nvSpPr>
          <p:cNvPr id="21" name="Text 18"/>
          <p:cNvSpPr txBox="1"/>
          <p:nvPr/>
        </p:nvSpPr>
        <p:spPr>
          <a:xfrm>
            <a:off x="822960" y="5961888"/>
            <a:ext cx="3158566" cy="347472"/>
          </a:xfrm>
          <a:prstGeom prst="rect">
            <a:avLst/>
          </a:prstGeom>
          <a:noFill/>
          <a:ln/>
        </p:spPr>
        <p:txBody>
          <a:bodyPr wrap="square" lIns="0" tIns="0" rIns="0" bIns="0" rtlCol="0" anchor="ctr"/>
          <a:lstStyle/>
          <a:p>
            <a:pPr marL="0" indent="0">
              <a:buNone/>
            </a:pPr>
            <a:r>
              <a:rPr lang="en-US" sz="1500" b="1">
                <a:solidFill>
                  <a:srgbClr val="13807B"/>
                </a:solidFill>
                <a:latin typeface="Arial" pitchFamily="34" charset="0"/>
                <a:ea typeface="Arial" pitchFamily="34" charset="-122"/>
                <a:cs typeface="Arial" pitchFamily="34" charset="-120"/>
              </a:rPr>
              <a:t>Todo el universo relevante</a:t>
            </a:r>
            <a:endParaRPr lang="en-US" sz="1500"/>
          </a:p>
        </p:txBody>
      </p:sp>
      <p:sp>
        <p:nvSpPr>
          <p:cNvPr id="22" name="Shape 19"/>
          <p:cNvSpPr/>
          <p:nvPr/>
        </p:nvSpPr>
        <p:spPr>
          <a:xfrm>
            <a:off x="4200982" y="3872484"/>
            <a:ext cx="219456" cy="402336"/>
          </a:xfrm>
          <a:prstGeom prst="chevron">
            <a:avLst/>
          </a:prstGeom>
          <a:solidFill>
            <a:srgbClr val="D5DFDE"/>
          </a:solidFill>
          <a:ln/>
        </p:spPr>
        <p:txBody>
          <a:bodyPr/>
          <a:lstStyle/>
          <a:p>
            <a:endParaRPr lang="es-PE"/>
          </a:p>
        </p:txBody>
      </p:sp>
      <p:sp>
        <p:nvSpPr>
          <p:cNvPr id="23" name="Shape 20"/>
          <p:cNvSpPr/>
          <p:nvPr/>
        </p:nvSpPr>
        <p:spPr>
          <a:xfrm>
            <a:off x="4475302"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24" name="Shape 21"/>
          <p:cNvSpPr/>
          <p:nvPr/>
        </p:nvSpPr>
        <p:spPr>
          <a:xfrm>
            <a:off x="4475302" y="1627632"/>
            <a:ext cx="3487750" cy="402336"/>
          </a:xfrm>
          <a:prstGeom prst="rect">
            <a:avLst/>
          </a:prstGeom>
          <a:solidFill>
            <a:srgbClr val="2F9E98"/>
          </a:solidFill>
          <a:ln/>
        </p:spPr>
        <p:txBody>
          <a:bodyPr/>
          <a:lstStyle/>
          <a:p>
            <a:endParaRPr lang="es-PE"/>
          </a:p>
        </p:txBody>
      </p:sp>
      <p:sp>
        <p:nvSpPr>
          <p:cNvPr id="25" name="Text 22"/>
          <p:cNvSpPr txBox="1"/>
          <p:nvPr/>
        </p:nvSpPr>
        <p:spPr>
          <a:xfrm>
            <a:off x="4639894"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2 · V2</a:t>
            </a:r>
            <a:endParaRPr lang="en-US" sz="1200"/>
          </a:p>
        </p:txBody>
      </p:sp>
      <p:sp>
        <p:nvSpPr>
          <p:cNvPr id="26" name="Text 23"/>
          <p:cNvSpPr txBox="1"/>
          <p:nvPr/>
        </p:nvSpPr>
        <p:spPr>
          <a:xfrm>
            <a:off x="4639894"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Sin competencia interna</a:t>
            </a:r>
            <a:endParaRPr lang="en-US" sz="1400"/>
          </a:p>
        </p:txBody>
      </p:sp>
      <p:sp>
        <p:nvSpPr>
          <p:cNvPr id="27" name="Text 24"/>
          <p:cNvSpPr txBox="1"/>
          <p:nvPr/>
        </p:nvSpPr>
        <p:spPr>
          <a:xfrm>
            <a:off x="4639894"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28" name="Text 25"/>
          <p:cNvSpPr txBox="1"/>
          <p:nvPr/>
        </p:nvSpPr>
        <p:spPr>
          <a:xfrm>
            <a:off x="4639894"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29" name="Shape 26"/>
          <p:cNvSpPr/>
          <p:nvPr/>
        </p:nvSpPr>
        <p:spPr>
          <a:xfrm>
            <a:off x="463989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30" name="Text 27"/>
          <p:cNvSpPr txBox="1"/>
          <p:nvPr/>
        </p:nvSpPr>
        <p:spPr>
          <a:xfrm>
            <a:off x="454845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31" name="Shape 28"/>
          <p:cNvSpPr/>
          <p:nvPr/>
        </p:nvSpPr>
        <p:spPr>
          <a:xfrm>
            <a:off x="5452396" y="4690872"/>
            <a:ext cx="721062" cy="347472"/>
          </a:xfrm>
          <a:prstGeom prst="rect">
            <a:avLst/>
          </a:prstGeom>
          <a:solidFill>
            <a:srgbClr val="8FCBC6"/>
          </a:solidFill>
          <a:ln/>
        </p:spPr>
        <p:txBody>
          <a:bodyPr/>
          <a:lstStyle/>
          <a:p>
            <a:endParaRPr lang="es-PE"/>
          </a:p>
        </p:txBody>
      </p:sp>
      <p:sp>
        <p:nvSpPr>
          <p:cNvPr id="32" name="Text 29"/>
          <p:cNvSpPr txBox="1"/>
          <p:nvPr/>
        </p:nvSpPr>
        <p:spPr>
          <a:xfrm>
            <a:off x="5360956"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comp.</a:t>
            </a:r>
            <a:endParaRPr lang="en-US" sz="750"/>
          </a:p>
        </p:txBody>
      </p:sp>
      <p:sp>
        <p:nvSpPr>
          <p:cNvPr id="33" name="Shape 30"/>
          <p:cNvSpPr/>
          <p:nvPr/>
        </p:nvSpPr>
        <p:spPr>
          <a:xfrm>
            <a:off x="6264897" y="4690872"/>
            <a:ext cx="721062" cy="347472"/>
          </a:xfrm>
          <a:prstGeom prst="rect">
            <a:avLst/>
          </a:prstGeom>
          <a:solidFill>
            <a:srgbClr val="8FCBC6"/>
          </a:solidFill>
          <a:ln/>
        </p:spPr>
        <p:txBody>
          <a:bodyPr/>
          <a:lstStyle/>
          <a:p>
            <a:endParaRPr lang="es-PE"/>
          </a:p>
        </p:txBody>
      </p:sp>
      <p:sp>
        <p:nvSpPr>
          <p:cNvPr id="34" name="Text 31"/>
          <p:cNvSpPr txBox="1"/>
          <p:nvPr/>
        </p:nvSpPr>
        <p:spPr>
          <a:xfrm>
            <a:off x="617345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35" name="Shape 32"/>
          <p:cNvSpPr/>
          <p:nvPr/>
        </p:nvSpPr>
        <p:spPr>
          <a:xfrm>
            <a:off x="7077399" y="4690872"/>
            <a:ext cx="721062" cy="347472"/>
          </a:xfrm>
          <a:prstGeom prst="rect">
            <a:avLst/>
          </a:prstGeom>
          <a:solidFill>
            <a:srgbClr val="0C514E"/>
          </a:solidFill>
          <a:ln/>
        </p:spPr>
        <p:txBody>
          <a:bodyPr/>
          <a:lstStyle/>
          <a:p>
            <a:endParaRPr lang="es-PE"/>
          </a:p>
        </p:txBody>
      </p:sp>
      <p:sp>
        <p:nvSpPr>
          <p:cNvPr id="36" name="Text 33"/>
          <p:cNvSpPr txBox="1"/>
          <p:nvPr/>
        </p:nvSpPr>
        <p:spPr>
          <a:xfrm>
            <a:off x="6985959"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37" name="Shape 34"/>
          <p:cNvSpPr/>
          <p:nvPr/>
        </p:nvSpPr>
        <p:spPr>
          <a:xfrm>
            <a:off x="4639894" y="5632704"/>
            <a:ext cx="3158566" cy="0"/>
          </a:xfrm>
          <a:prstGeom prst="line">
            <a:avLst/>
          </a:prstGeom>
          <a:noFill/>
          <a:ln w="9525">
            <a:solidFill>
              <a:srgbClr val="D5DFDE"/>
            </a:solidFill>
            <a:prstDash val="solid"/>
          </a:ln>
        </p:spPr>
        <p:txBody>
          <a:bodyPr/>
          <a:lstStyle/>
          <a:p>
            <a:endParaRPr lang="es-PE"/>
          </a:p>
        </p:txBody>
      </p:sp>
      <p:sp>
        <p:nvSpPr>
          <p:cNvPr id="38" name="Text 35"/>
          <p:cNvSpPr txBox="1"/>
          <p:nvPr/>
        </p:nvSpPr>
        <p:spPr>
          <a:xfrm>
            <a:off x="4639894"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39" name="Text 36"/>
          <p:cNvSpPr txBox="1"/>
          <p:nvPr/>
        </p:nvSpPr>
        <p:spPr>
          <a:xfrm>
            <a:off x="4639894"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Competencia interna</a:t>
            </a:r>
            <a:endParaRPr lang="en-US" sz="1500"/>
          </a:p>
        </p:txBody>
      </p:sp>
      <p:sp>
        <p:nvSpPr>
          <p:cNvPr id="40" name="Shape 37"/>
          <p:cNvSpPr/>
          <p:nvPr/>
        </p:nvSpPr>
        <p:spPr>
          <a:xfrm>
            <a:off x="8017916" y="3872484"/>
            <a:ext cx="219456" cy="402336"/>
          </a:xfrm>
          <a:prstGeom prst="chevron">
            <a:avLst/>
          </a:prstGeom>
          <a:solidFill>
            <a:srgbClr val="D5DFDE"/>
          </a:solidFill>
          <a:ln/>
        </p:spPr>
        <p:txBody>
          <a:bodyPr/>
          <a:lstStyle/>
          <a:p>
            <a:endParaRPr lang="es-PE"/>
          </a:p>
        </p:txBody>
      </p:sp>
      <p:sp>
        <p:nvSpPr>
          <p:cNvPr id="41" name="Shape 38"/>
          <p:cNvSpPr/>
          <p:nvPr/>
        </p:nvSpPr>
        <p:spPr>
          <a:xfrm>
            <a:off x="8292236"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42" name="Shape 39"/>
          <p:cNvSpPr/>
          <p:nvPr/>
        </p:nvSpPr>
        <p:spPr>
          <a:xfrm>
            <a:off x="8292236" y="1627632"/>
            <a:ext cx="3487750" cy="402336"/>
          </a:xfrm>
          <a:prstGeom prst="rect">
            <a:avLst/>
          </a:prstGeom>
          <a:solidFill>
            <a:srgbClr val="13807B"/>
          </a:solidFill>
          <a:ln/>
        </p:spPr>
        <p:txBody>
          <a:bodyPr/>
          <a:lstStyle/>
          <a:p>
            <a:endParaRPr lang="es-PE"/>
          </a:p>
        </p:txBody>
      </p:sp>
      <p:sp>
        <p:nvSpPr>
          <p:cNvPr id="43" name="Text 40"/>
          <p:cNvSpPr txBox="1"/>
          <p:nvPr/>
        </p:nvSpPr>
        <p:spPr>
          <a:xfrm>
            <a:off x="8456828"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3 · V3</a:t>
            </a:r>
            <a:endParaRPr lang="en-US" sz="1200"/>
          </a:p>
        </p:txBody>
      </p:sp>
      <p:sp>
        <p:nvSpPr>
          <p:cNvPr id="44" name="Text 41"/>
          <p:cNvSpPr txBox="1"/>
          <p:nvPr/>
        </p:nvSpPr>
        <p:spPr>
          <a:xfrm>
            <a:off x="8456828"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a:t>
            </a:r>
            <a:endParaRPr lang="en-US" sz="1400"/>
          </a:p>
        </p:txBody>
      </p:sp>
      <p:sp>
        <p:nvSpPr>
          <p:cNvPr id="45" name="Text 42"/>
          <p:cNvSpPr txBox="1"/>
          <p:nvPr/>
        </p:nvSpPr>
        <p:spPr>
          <a:xfrm>
            <a:off x="8456828"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con un monto muy distinto al que maneja el </a:t>
            </a:r>
            <a:r>
              <a:rPr lang="en-US" sz="1100" err="1">
                <a:solidFill>
                  <a:srgbClr val="0B2E2C"/>
                </a:solidFill>
                <a:latin typeface="Arial" pitchFamily="34" charset="0"/>
                <a:ea typeface="Arial" pitchFamily="34" charset="-122"/>
                <a:cs typeface="Arial" pitchFamily="34" charset="-120"/>
              </a:rPr>
              <a:t>cliente</a:t>
            </a:r>
            <a:r>
              <a:rPr lang="en-US" sz="1100">
                <a:solidFill>
                  <a:srgbClr val="0B2E2C"/>
                </a:solidFill>
                <a:latin typeface="Arial" pitchFamily="34" charset="0"/>
                <a:ea typeface="Arial" pitchFamily="34" charset="-122"/>
                <a:cs typeface="Arial" pitchFamily="34" charset="-120"/>
              </a:rPr>
              <a:t> (</a:t>
            </a:r>
            <a:r>
              <a:rPr lang="es-ES" sz="1100">
                <a:solidFill>
                  <a:srgbClr val="0B2E2C"/>
                </a:solidFill>
                <a:latin typeface="Arial" pitchFamily="34" charset="0"/>
                <a:ea typeface="Arial" pitchFamily="34" charset="-122"/>
                <a:cs typeface="Arial" pitchFamily="34" charset="-120"/>
              </a:rPr>
              <a:t>menor al 70% y mayor al 120% del monto ofertado</a:t>
            </a:r>
            <a:r>
              <a:rPr lang="en-US" sz="1100">
                <a:solidFill>
                  <a:srgbClr val="0B2E2C"/>
                </a:solidFill>
                <a:latin typeface="Arial" pitchFamily="34" charset="0"/>
                <a:ea typeface="Arial" pitchFamily="34" charset="-122"/>
                <a:cs typeface="Arial" pitchFamily="34" charset="-120"/>
              </a:rPr>
              <a:t>).</a:t>
            </a:r>
            <a:endParaRPr lang="en-US" sz="1100"/>
          </a:p>
        </p:txBody>
      </p:sp>
      <p:sp>
        <p:nvSpPr>
          <p:cNvPr id="46" name="Text 43"/>
          <p:cNvSpPr txBox="1"/>
          <p:nvPr/>
        </p:nvSpPr>
        <p:spPr>
          <a:xfrm>
            <a:off x="8456828"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47" name="Shape 44"/>
          <p:cNvSpPr/>
          <p:nvPr/>
        </p:nvSpPr>
        <p:spPr>
          <a:xfrm>
            <a:off x="8456828"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48" name="Text 45"/>
          <p:cNvSpPr txBox="1"/>
          <p:nvPr/>
        </p:nvSpPr>
        <p:spPr>
          <a:xfrm>
            <a:off x="8365388"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49" name="Shape 46"/>
          <p:cNvSpPr/>
          <p:nvPr/>
        </p:nvSpPr>
        <p:spPr>
          <a:xfrm>
            <a:off x="9269330"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50" name="Text 47"/>
          <p:cNvSpPr txBox="1"/>
          <p:nvPr/>
        </p:nvSpPr>
        <p:spPr>
          <a:xfrm>
            <a:off x="9177890"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51" name="Shape 48"/>
          <p:cNvSpPr/>
          <p:nvPr/>
        </p:nvSpPr>
        <p:spPr>
          <a:xfrm>
            <a:off x="10081832" y="4690872"/>
            <a:ext cx="721062" cy="347472"/>
          </a:xfrm>
          <a:prstGeom prst="rect">
            <a:avLst/>
          </a:prstGeom>
          <a:solidFill>
            <a:srgbClr val="8FCBC6"/>
          </a:solidFill>
          <a:ln/>
        </p:spPr>
        <p:txBody>
          <a:bodyPr/>
          <a:lstStyle/>
          <a:p>
            <a:endParaRPr lang="es-PE"/>
          </a:p>
        </p:txBody>
      </p:sp>
      <p:sp>
        <p:nvSpPr>
          <p:cNvPr id="52" name="Text 49"/>
          <p:cNvSpPr txBox="1"/>
          <p:nvPr/>
        </p:nvSpPr>
        <p:spPr>
          <a:xfrm>
            <a:off x="9990392"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No gest.</a:t>
            </a:r>
            <a:endParaRPr lang="en-US" sz="750"/>
          </a:p>
        </p:txBody>
      </p:sp>
      <p:sp>
        <p:nvSpPr>
          <p:cNvPr id="53" name="Shape 50"/>
          <p:cNvSpPr/>
          <p:nvPr/>
        </p:nvSpPr>
        <p:spPr>
          <a:xfrm>
            <a:off x="10894333" y="4690872"/>
            <a:ext cx="721062" cy="347472"/>
          </a:xfrm>
          <a:prstGeom prst="rect">
            <a:avLst/>
          </a:prstGeom>
          <a:solidFill>
            <a:srgbClr val="0C514E"/>
          </a:solidFill>
          <a:ln/>
        </p:spPr>
        <p:txBody>
          <a:bodyPr/>
          <a:lstStyle/>
          <a:p>
            <a:endParaRPr lang="es-PE"/>
          </a:p>
        </p:txBody>
      </p:sp>
      <p:sp>
        <p:nvSpPr>
          <p:cNvPr id="54" name="Text 51"/>
          <p:cNvSpPr txBox="1"/>
          <p:nvPr/>
        </p:nvSpPr>
        <p:spPr>
          <a:xfrm>
            <a:off x="10802893"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55" name="Shape 52"/>
          <p:cNvSpPr/>
          <p:nvPr/>
        </p:nvSpPr>
        <p:spPr>
          <a:xfrm>
            <a:off x="8456828" y="5632704"/>
            <a:ext cx="3158566" cy="0"/>
          </a:xfrm>
          <a:prstGeom prst="line">
            <a:avLst/>
          </a:prstGeom>
          <a:noFill/>
          <a:ln w="9525">
            <a:solidFill>
              <a:srgbClr val="D5DFDE"/>
            </a:solidFill>
            <a:prstDash val="solid"/>
          </a:ln>
        </p:spPr>
        <p:txBody>
          <a:bodyPr/>
          <a:lstStyle/>
          <a:p>
            <a:endParaRPr lang="es-PE"/>
          </a:p>
        </p:txBody>
      </p:sp>
      <p:sp>
        <p:nvSpPr>
          <p:cNvPr id="56" name="Text 53"/>
          <p:cNvSpPr txBox="1"/>
          <p:nvPr/>
        </p:nvSpPr>
        <p:spPr>
          <a:xfrm>
            <a:off x="8456828"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57" name="Text 54"/>
          <p:cNvSpPr txBox="1"/>
          <p:nvPr/>
        </p:nvSpPr>
        <p:spPr>
          <a:xfrm>
            <a:off x="8456828"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Monto no comparable</a:t>
            </a:r>
            <a:endParaRPr lang="en-US" sz="1500"/>
          </a:p>
        </p:txBody>
      </p:sp>
      <p:sp>
        <p:nvSpPr>
          <p:cNvPr id="58" name="Shape 55"/>
          <p:cNvSpPr/>
          <p:nvPr/>
        </p:nvSpPr>
        <p:spPr>
          <a:xfrm>
            <a:off x="11834851" y="3872484"/>
            <a:ext cx="219456" cy="402336"/>
          </a:xfrm>
          <a:prstGeom prst="chevron">
            <a:avLst/>
          </a:prstGeom>
          <a:solidFill>
            <a:srgbClr val="D5DFDE"/>
          </a:solidFill>
          <a:ln/>
        </p:spPr>
        <p:txBody>
          <a:bodyPr/>
          <a:lstStyle/>
          <a:p>
            <a:endParaRPr lang="es-PE"/>
          </a:p>
        </p:txBody>
      </p:sp>
      <p:sp>
        <p:nvSpPr>
          <p:cNvPr id="59" name="Shape 56"/>
          <p:cNvSpPr/>
          <p:nvPr/>
        </p:nvSpPr>
        <p:spPr>
          <a:xfrm>
            <a:off x="12109171" y="1627632"/>
            <a:ext cx="3487750" cy="4892040"/>
          </a:xfrm>
          <a:prstGeom prst="rect">
            <a:avLst/>
          </a:prstGeom>
          <a:solidFill>
            <a:srgbClr val="FFFFFF"/>
          </a:solidFill>
          <a:ln w="9525">
            <a:solidFill>
              <a:srgbClr val="D5DFDE"/>
            </a:solidFill>
            <a:prstDash val="solid"/>
          </a:ln>
        </p:spPr>
        <p:txBody>
          <a:bodyPr/>
          <a:lstStyle/>
          <a:p>
            <a:endParaRPr lang="es-PE"/>
          </a:p>
        </p:txBody>
      </p:sp>
      <p:sp>
        <p:nvSpPr>
          <p:cNvPr id="60" name="Shape 57"/>
          <p:cNvSpPr/>
          <p:nvPr/>
        </p:nvSpPr>
        <p:spPr>
          <a:xfrm>
            <a:off x="12109171" y="1627632"/>
            <a:ext cx="3487750" cy="402336"/>
          </a:xfrm>
          <a:prstGeom prst="rect">
            <a:avLst/>
          </a:prstGeom>
          <a:solidFill>
            <a:srgbClr val="0C514E"/>
          </a:solidFill>
          <a:ln/>
        </p:spPr>
        <p:txBody>
          <a:bodyPr/>
          <a:lstStyle/>
          <a:p>
            <a:endParaRPr lang="es-PE"/>
          </a:p>
        </p:txBody>
      </p:sp>
      <p:sp>
        <p:nvSpPr>
          <p:cNvPr id="61" name="Text 58"/>
          <p:cNvSpPr txBox="1"/>
          <p:nvPr/>
        </p:nvSpPr>
        <p:spPr>
          <a:xfrm>
            <a:off x="12273763" y="1627632"/>
            <a:ext cx="3158566" cy="402336"/>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CAPA 4 · V4</a:t>
            </a:r>
            <a:endParaRPr lang="en-US" sz="1200"/>
          </a:p>
        </p:txBody>
      </p:sp>
      <p:sp>
        <p:nvSpPr>
          <p:cNvPr id="62" name="Text 59"/>
          <p:cNvSpPr txBox="1"/>
          <p:nvPr/>
        </p:nvSpPr>
        <p:spPr>
          <a:xfrm>
            <a:off x="12273763" y="2231136"/>
            <a:ext cx="3158566" cy="420624"/>
          </a:xfrm>
          <a:prstGeom prst="rect">
            <a:avLst/>
          </a:prstGeom>
          <a:noFill/>
          <a:ln/>
        </p:spPr>
        <p:txBody>
          <a:bodyPr wrap="square" lIns="0" tIns="0" rIns="0" bIns="0" rtlCol="0" anchor="ctr"/>
          <a:lstStyle/>
          <a:p>
            <a:pPr marL="0" indent="0">
              <a:buNone/>
            </a:pPr>
            <a:r>
              <a:rPr lang="en-US" sz="1400" b="1">
                <a:solidFill>
                  <a:srgbClr val="0B2E2C"/>
                </a:solidFill>
                <a:latin typeface="Arial" pitchFamily="34" charset="0"/>
                <a:ea typeface="Arial" pitchFamily="34" charset="-122"/>
                <a:cs typeface="Arial" pitchFamily="34" charset="-120"/>
              </a:rPr>
              <a:t>Monto comparable y gestionado</a:t>
            </a:r>
            <a:endParaRPr lang="en-US" sz="1400"/>
          </a:p>
        </p:txBody>
      </p:sp>
      <p:sp>
        <p:nvSpPr>
          <p:cNvPr id="63" name="Text 60"/>
          <p:cNvSpPr txBox="1"/>
          <p:nvPr/>
        </p:nvSpPr>
        <p:spPr>
          <a:xfrm>
            <a:off x="12273763" y="2743200"/>
            <a:ext cx="3158566" cy="1417320"/>
          </a:xfrm>
          <a:prstGeom prst="rect">
            <a:avLst/>
          </a:prstGeom>
          <a:noFill/>
          <a:ln/>
        </p:spPr>
        <p:txBody>
          <a:bodyPr wrap="square" lIns="0" tIns="0" rIns="0" bIns="0" rtlCol="0" anchor="t"/>
          <a:lstStyle/>
          <a:p>
            <a:pPr marL="0" indent="0">
              <a:lnSpc>
                <a:spcPct val="135000"/>
              </a:lnSpc>
              <a:buNone/>
            </a:pPr>
            <a:r>
              <a:rPr lang="en-US" sz="1100">
                <a:solidFill>
                  <a:srgbClr val="0B2E2C"/>
                </a:solidFill>
                <a:latin typeface="Arial" pitchFamily="34" charset="0"/>
                <a:ea typeface="Arial" pitchFamily="34" charset="-122"/>
                <a:cs typeface="Arial" pitchFamily="34" charset="-120"/>
              </a:rPr>
              <a:t>Se retira la competencia de monto comparable que IBK no gestionó activamente.</a:t>
            </a:r>
            <a:endParaRPr lang="en-US" sz="1100"/>
          </a:p>
        </p:txBody>
      </p:sp>
      <p:sp>
        <p:nvSpPr>
          <p:cNvPr id="64" name="Text 61"/>
          <p:cNvSpPr txBox="1"/>
          <p:nvPr/>
        </p:nvSpPr>
        <p:spPr>
          <a:xfrm>
            <a:off x="12273763" y="4416552"/>
            <a:ext cx="3158566" cy="219456"/>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Competencia que sigue contando en el share</a:t>
            </a:r>
            <a:endParaRPr lang="en-US" sz="850"/>
          </a:p>
        </p:txBody>
      </p:sp>
      <p:sp>
        <p:nvSpPr>
          <p:cNvPr id="65" name="Shape 62"/>
          <p:cNvSpPr/>
          <p:nvPr/>
        </p:nvSpPr>
        <p:spPr>
          <a:xfrm>
            <a:off x="12273763"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6" name="Text 63"/>
          <p:cNvSpPr txBox="1"/>
          <p:nvPr/>
        </p:nvSpPr>
        <p:spPr>
          <a:xfrm>
            <a:off x="12182323"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Interna</a:t>
            </a:r>
            <a:endParaRPr lang="en-US" sz="750"/>
          </a:p>
        </p:txBody>
      </p:sp>
      <p:sp>
        <p:nvSpPr>
          <p:cNvPr id="67" name="Shape 64"/>
          <p:cNvSpPr/>
          <p:nvPr/>
        </p:nvSpPr>
        <p:spPr>
          <a:xfrm>
            <a:off x="13086264"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68" name="Text 65"/>
          <p:cNvSpPr txBox="1"/>
          <p:nvPr/>
        </p:nvSpPr>
        <p:spPr>
          <a:xfrm>
            <a:off x="12994824"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comp.</a:t>
            </a:r>
            <a:endParaRPr lang="en-US" sz="750"/>
          </a:p>
        </p:txBody>
      </p:sp>
      <p:sp>
        <p:nvSpPr>
          <p:cNvPr id="69" name="Shape 66"/>
          <p:cNvSpPr/>
          <p:nvPr/>
        </p:nvSpPr>
        <p:spPr>
          <a:xfrm>
            <a:off x="13898766" y="4690872"/>
            <a:ext cx="721062" cy="347472"/>
          </a:xfrm>
          <a:prstGeom prst="rect">
            <a:avLst/>
          </a:prstGeom>
          <a:solidFill>
            <a:srgbClr val="FFFFFF"/>
          </a:solidFill>
          <a:ln w="12700">
            <a:solidFill>
              <a:srgbClr val="D5DFDE"/>
            </a:solidFill>
            <a:prstDash val="dash"/>
          </a:ln>
        </p:spPr>
        <p:txBody>
          <a:bodyPr/>
          <a:lstStyle/>
          <a:p>
            <a:endParaRPr lang="es-PE"/>
          </a:p>
        </p:txBody>
      </p:sp>
      <p:sp>
        <p:nvSpPr>
          <p:cNvPr id="70" name="Text 67"/>
          <p:cNvSpPr txBox="1"/>
          <p:nvPr/>
        </p:nvSpPr>
        <p:spPr>
          <a:xfrm>
            <a:off x="13807326" y="5056632"/>
            <a:ext cx="903942" cy="182880"/>
          </a:xfrm>
          <a:prstGeom prst="rect">
            <a:avLst/>
          </a:prstGeom>
          <a:noFill/>
          <a:ln/>
        </p:spPr>
        <p:txBody>
          <a:bodyPr wrap="square" lIns="0" tIns="0" rIns="0" bIns="0" rtlCol="0" anchor="ctr"/>
          <a:lstStyle/>
          <a:p>
            <a:pPr marL="0" indent="0" algn="ctr">
              <a:buNone/>
            </a:pPr>
            <a:r>
              <a:rPr lang="en-US" sz="750">
                <a:solidFill>
                  <a:srgbClr val="6E7E7D"/>
                </a:solidFill>
                <a:latin typeface="Arial" pitchFamily="34" charset="0"/>
                <a:ea typeface="Arial" pitchFamily="34" charset="-122"/>
                <a:cs typeface="Arial" pitchFamily="34" charset="-120"/>
              </a:rPr>
              <a:t>No gest.</a:t>
            </a:r>
            <a:endParaRPr lang="en-US" sz="750"/>
          </a:p>
        </p:txBody>
      </p:sp>
      <p:sp>
        <p:nvSpPr>
          <p:cNvPr id="71" name="Shape 68"/>
          <p:cNvSpPr/>
          <p:nvPr/>
        </p:nvSpPr>
        <p:spPr>
          <a:xfrm>
            <a:off x="14711267" y="4690872"/>
            <a:ext cx="721062" cy="347472"/>
          </a:xfrm>
          <a:prstGeom prst="rect">
            <a:avLst/>
          </a:prstGeom>
          <a:solidFill>
            <a:srgbClr val="0C514E"/>
          </a:solidFill>
          <a:ln/>
        </p:spPr>
        <p:txBody>
          <a:bodyPr/>
          <a:lstStyle/>
          <a:p>
            <a:endParaRPr lang="es-PE"/>
          </a:p>
        </p:txBody>
      </p:sp>
      <p:sp>
        <p:nvSpPr>
          <p:cNvPr id="72" name="Text 69"/>
          <p:cNvSpPr txBox="1"/>
          <p:nvPr/>
        </p:nvSpPr>
        <p:spPr>
          <a:xfrm>
            <a:off x="14619827" y="5056632"/>
            <a:ext cx="903942" cy="182880"/>
          </a:xfrm>
          <a:prstGeom prst="rect">
            <a:avLst/>
          </a:prstGeom>
          <a:noFill/>
          <a:ln/>
        </p:spPr>
        <p:txBody>
          <a:bodyPr wrap="square" lIns="0" tIns="0" rIns="0" bIns="0" rtlCol="0" anchor="ctr"/>
          <a:lstStyle/>
          <a:p>
            <a:pPr marL="0" indent="0" algn="ctr">
              <a:buNone/>
            </a:pPr>
            <a:r>
              <a:rPr lang="en-US" sz="750">
                <a:solidFill>
                  <a:srgbClr val="0B2E2C"/>
                </a:solidFill>
                <a:latin typeface="Arial" pitchFamily="34" charset="0"/>
                <a:ea typeface="Arial" pitchFamily="34" charset="-122"/>
                <a:cs typeface="Arial" pitchFamily="34" charset="-120"/>
              </a:rPr>
              <a:t>Comparable</a:t>
            </a:r>
            <a:endParaRPr lang="en-US" sz="750"/>
          </a:p>
        </p:txBody>
      </p:sp>
      <p:sp>
        <p:nvSpPr>
          <p:cNvPr id="73" name="Shape 70"/>
          <p:cNvSpPr/>
          <p:nvPr/>
        </p:nvSpPr>
        <p:spPr>
          <a:xfrm>
            <a:off x="12273763" y="5632704"/>
            <a:ext cx="3158566" cy="0"/>
          </a:xfrm>
          <a:prstGeom prst="line">
            <a:avLst/>
          </a:prstGeom>
          <a:noFill/>
          <a:ln w="9525">
            <a:solidFill>
              <a:srgbClr val="D5DFDE"/>
            </a:solidFill>
            <a:prstDash val="solid"/>
          </a:ln>
        </p:spPr>
        <p:txBody>
          <a:bodyPr/>
          <a:lstStyle/>
          <a:p>
            <a:endParaRPr lang="es-PE"/>
          </a:p>
        </p:txBody>
      </p:sp>
      <p:sp>
        <p:nvSpPr>
          <p:cNvPr id="74" name="Text 71"/>
          <p:cNvSpPr txBox="1"/>
          <p:nvPr/>
        </p:nvSpPr>
        <p:spPr>
          <a:xfrm>
            <a:off x="12273763" y="5742432"/>
            <a:ext cx="3158566" cy="201168"/>
          </a:xfrm>
          <a:prstGeom prst="rect">
            <a:avLst/>
          </a:prstGeom>
          <a:noFill/>
          <a:ln/>
        </p:spPr>
        <p:txBody>
          <a:bodyPr wrap="square" lIns="0" tIns="0" rIns="0" bIns="0" rtlCol="0" anchor="ctr"/>
          <a:lstStyle/>
          <a:p>
            <a:pPr marL="0" indent="0">
              <a:buNone/>
            </a:pPr>
            <a:r>
              <a:rPr lang="en-US" sz="850" b="1">
                <a:solidFill>
                  <a:srgbClr val="6E7E7D"/>
                </a:solidFill>
                <a:latin typeface="Arial" pitchFamily="34" charset="0"/>
                <a:ea typeface="Arial" pitchFamily="34" charset="-122"/>
                <a:cs typeface="Arial" pitchFamily="34" charset="-120"/>
              </a:rPr>
              <a:t>SE RETIRA</a:t>
            </a:r>
            <a:endParaRPr lang="en-US" sz="850"/>
          </a:p>
        </p:txBody>
      </p:sp>
      <p:sp>
        <p:nvSpPr>
          <p:cNvPr id="75" name="Text 72"/>
          <p:cNvSpPr txBox="1"/>
          <p:nvPr/>
        </p:nvSpPr>
        <p:spPr>
          <a:xfrm>
            <a:off x="12273763" y="5961888"/>
            <a:ext cx="3158566" cy="347472"/>
          </a:xfrm>
          <a:prstGeom prst="rect">
            <a:avLst/>
          </a:prstGeom>
          <a:noFill/>
          <a:ln/>
        </p:spPr>
        <p:txBody>
          <a:bodyPr wrap="square" lIns="0" tIns="0" rIns="0" bIns="0" rtlCol="0" anchor="ctr"/>
          <a:lstStyle/>
          <a:p>
            <a:pPr marL="0" indent="0">
              <a:buNone/>
            </a:pPr>
            <a:r>
              <a:rPr lang="en-US" sz="1500" b="1">
                <a:solidFill>
                  <a:srgbClr val="C04B4B"/>
                </a:solidFill>
                <a:latin typeface="Arial" pitchFamily="34" charset="0"/>
                <a:ea typeface="Arial" pitchFamily="34" charset="-122"/>
                <a:cs typeface="Arial" pitchFamily="34" charset="-120"/>
              </a:rPr>
              <a:t>No gestionado</a:t>
            </a:r>
            <a:endParaRPr lang="en-US" sz="1500"/>
          </a:p>
        </p:txBody>
      </p:sp>
      <p:sp>
        <p:nvSpPr>
          <p:cNvPr id="76" name="Shape 73"/>
          <p:cNvSpPr/>
          <p:nvPr/>
        </p:nvSpPr>
        <p:spPr>
          <a:xfrm>
            <a:off x="658368" y="6739128"/>
            <a:ext cx="14938553" cy="777240"/>
          </a:xfrm>
          <a:prstGeom prst="rect">
            <a:avLst/>
          </a:prstGeom>
          <a:solidFill>
            <a:srgbClr val="F6FBFA"/>
          </a:solidFill>
          <a:ln w="9525">
            <a:solidFill>
              <a:srgbClr val="D5DFDE"/>
            </a:solidFill>
            <a:prstDash val="solid"/>
          </a:ln>
        </p:spPr>
        <p:txBody>
          <a:bodyPr/>
          <a:lstStyle/>
          <a:p>
            <a:endParaRPr lang="es-PE"/>
          </a:p>
        </p:txBody>
      </p:sp>
      <p:sp>
        <p:nvSpPr>
          <p:cNvPr id="77" name="Text 74"/>
          <p:cNvSpPr txBox="1"/>
          <p:nvPr/>
        </p:nvSpPr>
        <p:spPr>
          <a:xfrm>
            <a:off x="914400" y="6830568"/>
            <a:ext cx="14538960" cy="594360"/>
          </a:xfrm>
          <a:prstGeom prst="rect">
            <a:avLst/>
          </a:prstGeom>
          <a:noFill/>
          <a:ln/>
        </p:spPr>
        <p:txBody>
          <a:bodyPr wrap="square" lIns="0" tIns="0" rIns="0" bIns="0" rtlCol="0" anchor="t"/>
          <a:lstStyle/>
          <a:p>
            <a:pPr marL="0" indent="0">
              <a:lnSpc>
                <a:spcPct val="115000"/>
              </a:lnSpc>
              <a:buNone/>
            </a:pPr>
            <a:r>
              <a:rPr lang="en-US" sz="1100" b="1">
                <a:solidFill>
                  <a:srgbClr val="13807B"/>
                </a:solidFill>
                <a:latin typeface="Arial" pitchFamily="34" charset="0"/>
                <a:ea typeface="Arial" pitchFamily="34" charset="-122"/>
                <a:cs typeface="Arial" pitchFamily="34" charset="-120"/>
              </a:rPr>
              <a:t>En la práctica  </a:t>
            </a:r>
            <a:r>
              <a:rPr lang="en-US" sz="1100">
                <a:solidFill>
                  <a:srgbClr val="0B2E2C"/>
                </a:solidFill>
                <a:latin typeface="Arial" pitchFamily="34" charset="0"/>
                <a:ea typeface="Arial" pitchFamily="34" charset="-122"/>
                <a:cs typeface="Arial" pitchFamily="34" charset="-120"/>
              </a:rPr>
              <a:t>V1 siempre es el número más chico y V4 el más grande, porque cada capa compara contra un grupo más parecido al cliente. La distancia entre dos capas seguidas indica cuánto pesa lo que esa capa retiró: si V4 es mucho más alto que V3, gran parte de lo que en V1 parecía "competencia perdida" en realidad eran oportunidades que IBK no gestionó, no clientes que se fueron con otro banco.</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UNIDADES (N)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los 6 clusters con deuda, el filtro que más resta es "monto no comparable", no la falta de gestión</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885</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67195"/>
            <a:ext cx="589416" cy="1074937"/>
          </a:xfrm>
          <a:prstGeom prst="rect">
            <a:avLst/>
          </a:prstGeom>
          <a:solidFill>
            <a:srgbClr val="5AA6A3"/>
          </a:solidFill>
          <a:ln/>
        </p:spPr>
        <p:txBody>
          <a:bodyPr/>
          <a:lstStyle/>
          <a:p>
            <a:endParaRPr lang="es-PE"/>
          </a:p>
        </p:txBody>
      </p:sp>
      <p:sp>
        <p:nvSpPr>
          <p:cNvPr id="13" name="Text 10"/>
          <p:cNvSpPr txBox="1"/>
          <p:nvPr/>
        </p:nvSpPr>
        <p:spPr>
          <a:xfrm>
            <a:off x="2007970" y="2066027"/>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725</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885469"/>
            <a:ext cx="589416" cy="456663"/>
          </a:xfrm>
          <a:prstGeom prst="rect">
            <a:avLst/>
          </a:prstGeom>
          <a:solidFill>
            <a:srgbClr val="0B2E2C"/>
          </a:solidFill>
          <a:ln/>
        </p:spPr>
        <p:txBody>
          <a:bodyPr/>
          <a:lstStyle/>
          <a:p>
            <a:endParaRPr lang="es-PE"/>
          </a:p>
        </p:txBody>
      </p:sp>
      <p:sp>
        <p:nvSpPr>
          <p:cNvPr id="16" name="Text 13"/>
          <p:cNvSpPr txBox="1"/>
          <p:nvPr/>
        </p:nvSpPr>
        <p:spPr>
          <a:xfrm>
            <a:off x="3964832" y="268430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308</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67195"/>
            <a:ext cx="400803" cy="547106"/>
          </a:xfrm>
          <a:prstGeom prst="rect">
            <a:avLst/>
          </a:prstGeom>
          <a:solidFill>
            <a:srgbClr val="C0392B"/>
          </a:solidFill>
          <a:ln/>
        </p:spPr>
        <p:txBody>
          <a:bodyPr/>
          <a:lstStyle/>
          <a:p>
            <a:endParaRPr lang="es-PE"/>
          </a:p>
        </p:txBody>
      </p:sp>
      <p:sp>
        <p:nvSpPr>
          <p:cNvPr id="19" name="Text 16"/>
          <p:cNvSpPr txBox="1"/>
          <p:nvPr/>
        </p:nvSpPr>
        <p:spPr>
          <a:xfrm>
            <a:off x="2767712" y="2467596"/>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369</a:t>
            </a:r>
            <a:endParaRPr lang="en-US" sz="650"/>
          </a:p>
        </p:txBody>
      </p:sp>
      <p:sp>
        <p:nvSpPr>
          <p:cNvPr id="20" name="Text 17"/>
          <p:cNvSpPr txBox="1"/>
          <p:nvPr/>
        </p:nvSpPr>
        <p:spPr>
          <a:xfrm>
            <a:off x="2676272" y="195629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814301"/>
            <a:ext cx="400803" cy="71168"/>
          </a:xfrm>
          <a:prstGeom prst="rect">
            <a:avLst/>
          </a:prstGeom>
          <a:solidFill>
            <a:srgbClr val="C0392B"/>
          </a:solidFill>
          <a:ln/>
        </p:spPr>
        <p:txBody>
          <a:bodyPr/>
          <a:lstStyle/>
          <a:p>
            <a:endParaRPr lang="es-PE"/>
          </a:p>
        </p:txBody>
      </p:sp>
      <p:sp>
        <p:nvSpPr>
          <p:cNvPr id="22" name="Text 19"/>
          <p:cNvSpPr txBox="1"/>
          <p:nvPr/>
        </p:nvSpPr>
        <p:spPr>
          <a:xfrm>
            <a:off x="3986531" y="277673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48</a:t>
            </a:r>
            <a:endParaRPr lang="en-US" sz="650"/>
          </a:p>
        </p:txBody>
      </p:sp>
      <p:sp>
        <p:nvSpPr>
          <p:cNvPr id="23" name="Text 20"/>
          <p:cNvSpPr txBox="1"/>
          <p:nvPr/>
        </p:nvSpPr>
        <p:spPr>
          <a:xfrm>
            <a:off x="3265688" y="250340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67195"/>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814301"/>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885469"/>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1,134</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147993"/>
            <a:ext cx="589416" cy="1194139"/>
          </a:xfrm>
          <a:prstGeom prst="rect">
            <a:avLst/>
          </a:prstGeom>
          <a:solidFill>
            <a:srgbClr val="5AA6A3"/>
          </a:solidFill>
          <a:ln/>
        </p:spPr>
        <p:txBody>
          <a:bodyPr/>
          <a:lstStyle/>
          <a:p>
            <a:endParaRPr lang="es-PE"/>
          </a:p>
        </p:txBody>
      </p:sp>
      <p:sp>
        <p:nvSpPr>
          <p:cNvPr id="35" name="Text 32"/>
          <p:cNvSpPr txBox="1"/>
          <p:nvPr/>
        </p:nvSpPr>
        <p:spPr>
          <a:xfrm>
            <a:off x="7060640" y="194682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1,032</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985742"/>
            <a:ext cx="589416" cy="356390"/>
          </a:xfrm>
          <a:prstGeom prst="rect">
            <a:avLst/>
          </a:prstGeom>
          <a:solidFill>
            <a:srgbClr val="0B2E2C"/>
          </a:solidFill>
          <a:ln/>
        </p:spPr>
        <p:txBody>
          <a:bodyPr/>
          <a:lstStyle/>
          <a:p>
            <a:endParaRPr lang="es-PE"/>
          </a:p>
        </p:txBody>
      </p:sp>
      <p:sp>
        <p:nvSpPr>
          <p:cNvPr id="38" name="Text 35"/>
          <p:cNvSpPr txBox="1"/>
          <p:nvPr/>
        </p:nvSpPr>
        <p:spPr>
          <a:xfrm>
            <a:off x="9017502" y="278457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308</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147993"/>
            <a:ext cx="400803" cy="783364"/>
          </a:xfrm>
          <a:prstGeom prst="rect">
            <a:avLst/>
          </a:prstGeom>
          <a:solidFill>
            <a:srgbClr val="C0392B"/>
          </a:solidFill>
          <a:ln/>
        </p:spPr>
        <p:txBody>
          <a:bodyPr/>
          <a:lstStyle/>
          <a:p>
            <a:endParaRPr lang="es-PE"/>
          </a:p>
        </p:txBody>
      </p:sp>
      <p:sp>
        <p:nvSpPr>
          <p:cNvPr id="41" name="Text 38"/>
          <p:cNvSpPr txBox="1"/>
          <p:nvPr/>
        </p:nvSpPr>
        <p:spPr>
          <a:xfrm>
            <a:off x="7820381" y="246652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677</a:t>
            </a:r>
            <a:endParaRPr lang="en-US" sz="650"/>
          </a:p>
        </p:txBody>
      </p:sp>
      <p:sp>
        <p:nvSpPr>
          <p:cNvPr id="42" name="Text 39"/>
          <p:cNvSpPr txBox="1"/>
          <p:nvPr/>
        </p:nvSpPr>
        <p:spPr>
          <a:xfrm>
            <a:off x="7728941" y="183709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931358"/>
            <a:ext cx="400803" cy="54384"/>
          </a:xfrm>
          <a:prstGeom prst="rect">
            <a:avLst/>
          </a:prstGeom>
          <a:solidFill>
            <a:srgbClr val="C0392B"/>
          </a:solidFill>
          <a:ln/>
        </p:spPr>
        <p:txBody>
          <a:bodyPr/>
          <a:lstStyle/>
          <a:p>
            <a:endParaRPr lang="es-PE"/>
          </a:p>
        </p:txBody>
      </p:sp>
      <p:sp>
        <p:nvSpPr>
          <p:cNvPr id="44" name="Text 41"/>
          <p:cNvSpPr txBox="1"/>
          <p:nvPr/>
        </p:nvSpPr>
        <p:spPr>
          <a:xfrm>
            <a:off x="9039201" y="288539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47</a:t>
            </a:r>
            <a:endParaRPr lang="en-US" sz="650"/>
          </a:p>
        </p:txBody>
      </p:sp>
      <p:sp>
        <p:nvSpPr>
          <p:cNvPr id="45" name="Text 42"/>
          <p:cNvSpPr txBox="1"/>
          <p:nvPr/>
        </p:nvSpPr>
        <p:spPr>
          <a:xfrm>
            <a:off x="8318358" y="262046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147993"/>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931358"/>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985742"/>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977</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152186"/>
            <a:ext cx="589416" cy="1189946"/>
          </a:xfrm>
          <a:prstGeom prst="rect">
            <a:avLst/>
          </a:prstGeom>
          <a:solidFill>
            <a:srgbClr val="5AA6A3"/>
          </a:solidFill>
          <a:ln/>
        </p:spPr>
        <p:txBody>
          <a:bodyPr/>
          <a:lstStyle/>
          <a:p>
            <a:endParaRPr lang="es-PE"/>
          </a:p>
        </p:txBody>
      </p:sp>
      <p:sp>
        <p:nvSpPr>
          <p:cNvPr id="57" name="Text 54"/>
          <p:cNvSpPr txBox="1"/>
          <p:nvPr/>
        </p:nvSpPr>
        <p:spPr>
          <a:xfrm>
            <a:off x="12113310" y="1951018"/>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886</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830428"/>
            <a:ext cx="589416" cy="511704"/>
          </a:xfrm>
          <a:prstGeom prst="rect">
            <a:avLst/>
          </a:prstGeom>
          <a:solidFill>
            <a:srgbClr val="0B2E2C"/>
          </a:solidFill>
          <a:ln/>
        </p:spPr>
        <p:txBody>
          <a:bodyPr/>
          <a:lstStyle/>
          <a:p>
            <a:endParaRPr lang="es-PE"/>
          </a:p>
        </p:txBody>
      </p:sp>
      <p:sp>
        <p:nvSpPr>
          <p:cNvPr id="60" name="Text 57"/>
          <p:cNvSpPr txBox="1"/>
          <p:nvPr/>
        </p:nvSpPr>
        <p:spPr>
          <a:xfrm>
            <a:off x="14070172" y="262926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381</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152186"/>
            <a:ext cx="400803" cy="603031"/>
          </a:xfrm>
          <a:prstGeom prst="rect">
            <a:avLst/>
          </a:prstGeom>
          <a:solidFill>
            <a:srgbClr val="C0392B"/>
          </a:solidFill>
          <a:ln/>
        </p:spPr>
        <p:txBody>
          <a:bodyPr/>
          <a:lstStyle/>
          <a:p>
            <a:endParaRPr lang="es-PE"/>
          </a:p>
        </p:txBody>
      </p:sp>
      <p:sp>
        <p:nvSpPr>
          <p:cNvPr id="63" name="Text 60"/>
          <p:cNvSpPr txBox="1"/>
          <p:nvPr/>
        </p:nvSpPr>
        <p:spPr>
          <a:xfrm>
            <a:off x="12873051" y="2380550"/>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449</a:t>
            </a:r>
            <a:endParaRPr lang="en-US" sz="650"/>
          </a:p>
        </p:txBody>
      </p:sp>
      <p:sp>
        <p:nvSpPr>
          <p:cNvPr id="64" name="Text 61"/>
          <p:cNvSpPr txBox="1"/>
          <p:nvPr/>
        </p:nvSpPr>
        <p:spPr>
          <a:xfrm>
            <a:off x="12781611" y="184129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755217"/>
            <a:ext cx="400803" cy="75211"/>
          </a:xfrm>
          <a:prstGeom prst="rect">
            <a:avLst/>
          </a:prstGeom>
          <a:solidFill>
            <a:srgbClr val="C0392B"/>
          </a:solidFill>
          <a:ln/>
        </p:spPr>
        <p:txBody>
          <a:bodyPr/>
          <a:lstStyle/>
          <a:p>
            <a:endParaRPr lang="es-PE"/>
          </a:p>
        </p:txBody>
      </p:sp>
      <p:sp>
        <p:nvSpPr>
          <p:cNvPr id="66" name="Text 63"/>
          <p:cNvSpPr txBox="1"/>
          <p:nvPr/>
        </p:nvSpPr>
        <p:spPr>
          <a:xfrm>
            <a:off x="14091870" y="2719671"/>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56</a:t>
            </a:r>
            <a:endParaRPr lang="en-US" sz="650"/>
          </a:p>
        </p:txBody>
      </p:sp>
      <p:sp>
        <p:nvSpPr>
          <p:cNvPr id="67" name="Text 64"/>
          <p:cNvSpPr txBox="1"/>
          <p:nvPr/>
        </p:nvSpPr>
        <p:spPr>
          <a:xfrm>
            <a:off x="13371027" y="244432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152186"/>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755217"/>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830428"/>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1,507</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70007"/>
            <a:ext cx="589416" cy="1108417"/>
          </a:xfrm>
          <a:prstGeom prst="rect">
            <a:avLst/>
          </a:prstGeom>
          <a:solidFill>
            <a:srgbClr val="5AA6A3"/>
          </a:solidFill>
          <a:ln/>
        </p:spPr>
        <p:txBody>
          <a:bodyPr/>
          <a:lstStyle/>
          <a:p>
            <a:endParaRPr lang="es-PE"/>
          </a:p>
        </p:txBody>
      </p:sp>
      <p:sp>
        <p:nvSpPr>
          <p:cNvPr id="79" name="Text 76"/>
          <p:cNvSpPr txBox="1"/>
          <p:nvPr/>
        </p:nvSpPr>
        <p:spPr>
          <a:xfrm>
            <a:off x="2007970" y="436883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1,273</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430271"/>
            <a:ext cx="589416" cy="248153"/>
          </a:xfrm>
          <a:prstGeom prst="rect">
            <a:avLst/>
          </a:prstGeom>
          <a:solidFill>
            <a:srgbClr val="0B2E2C"/>
          </a:solidFill>
          <a:ln/>
        </p:spPr>
        <p:txBody>
          <a:bodyPr/>
          <a:lstStyle/>
          <a:p>
            <a:endParaRPr lang="es-PE"/>
          </a:p>
        </p:txBody>
      </p:sp>
      <p:sp>
        <p:nvSpPr>
          <p:cNvPr id="82" name="Text 79"/>
          <p:cNvSpPr txBox="1"/>
          <p:nvPr/>
        </p:nvSpPr>
        <p:spPr>
          <a:xfrm>
            <a:off x="3964832" y="522910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285</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70007"/>
            <a:ext cx="400803" cy="781900"/>
          </a:xfrm>
          <a:prstGeom prst="rect">
            <a:avLst/>
          </a:prstGeom>
          <a:solidFill>
            <a:srgbClr val="C0392B"/>
          </a:solidFill>
          <a:ln/>
        </p:spPr>
        <p:txBody>
          <a:bodyPr/>
          <a:lstStyle/>
          <a:p>
            <a:endParaRPr lang="es-PE"/>
          </a:p>
        </p:txBody>
      </p:sp>
      <p:sp>
        <p:nvSpPr>
          <p:cNvPr id="85" name="Text 82"/>
          <p:cNvSpPr txBox="1"/>
          <p:nvPr/>
        </p:nvSpPr>
        <p:spPr>
          <a:xfrm>
            <a:off x="2767712" y="488780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898</a:t>
            </a:r>
            <a:endParaRPr lang="en-US" sz="650"/>
          </a:p>
        </p:txBody>
      </p:sp>
      <p:sp>
        <p:nvSpPr>
          <p:cNvPr id="86" name="Text 83"/>
          <p:cNvSpPr txBox="1"/>
          <p:nvPr/>
        </p:nvSpPr>
        <p:spPr>
          <a:xfrm>
            <a:off x="2676272" y="42591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5351907"/>
            <a:ext cx="400803" cy="78364"/>
          </a:xfrm>
          <a:prstGeom prst="rect">
            <a:avLst/>
          </a:prstGeom>
          <a:solidFill>
            <a:srgbClr val="C0392B"/>
          </a:solidFill>
          <a:ln/>
        </p:spPr>
        <p:txBody>
          <a:bodyPr/>
          <a:lstStyle/>
          <a:p>
            <a:endParaRPr lang="es-PE"/>
          </a:p>
        </p:txBody>
      </p:sp>
      <p:sp>
        <p:nvSpPr>
          <p:cNvPr id="88" name="Text 85"/>
          <p:cNvSpPr txBox="1"/>
          <p:nvPr/>
        </p:nvSpPr>
        <p:spPr>
          <a:xfrm>
            <a:off x="3986531" y="5317937"/>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90</a:t>
            </a:r>
            <a:endParaRPr lang="en-US" sz="650"/>
          </a:p>
        </p:txBody>
      </p:sp>
      <p:sp>
        <p:nvSpPr>
          <p:cNvPr id="89" name="Text 86"/>
          <p:cNvSpPr txBox="1"/>
          <p:nvPr/>
        </p:nvSpPr>
        <p:spPr>
          <a:xfrm>
            <a:off x="3265688" y="504101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70007"/>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5351907"/>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430271"/>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1,046</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61599"/>
            <a:ext cx="589416" cy="1216825"/>
          </a:xfrm>
          <a:prstGeom prst="rect">
            <a:avLst/>
          </a:prstGeom>
          <a:solidFill>
            <a:srgbClr val="5AA6A3"/>
          </a:solidFill>
          <a:ln/>
        </p:spPr>
        <p:txBody>
          <a:bodyPr/>
          <a:lstStyle/>
          <a:p>
            <a:endParaRPr lang="es-PE"/>
          </a:p>
        </p:txBody>
      </p:sp>
      <p:sp>
        <p:nvSpPr>
          <p:cNvPr id="101" name="Text 98"/>
          <p:cNvSpPr txBox="1"/>
          <p:nvPr/>
        </p:nvSpPr>
        <p:spPr>
          <a:xfrm>
            <a:off x="7060640" y="426043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970</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298323"/>
            <a:ext cx="589416" cy="380101"/>
          </a:xfrm>
          <a:prstGeom prst="rect">
            <a:avLst/>
          </a:prstGeom>
          <a:solidFill>
            <a:srgbClr val="0B2E2C"/>
          </a:solidFill>
          <a:ln/>
        </p:spPr>
        <p:txBody>
          <a:bodyPr/>
          <a:lstStyle/>
          <a:p>
            <a:endParaRPr lang="es-PE"/>
          </a:p>
        </p:txBody>
      </p:sp>
      <p:sp>
        <p:nvSpPr>
          <p:cNvPr id="104" name="Text 101"/>
          <p:cNvSpPr txBox="1"/>
          <p:nvPr/>
        </p:nvSpPr>
        <p:spPr>
          <a:xfrm>
            <a:off x="9017502" y="509715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303</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61599"/>
            <a:ext cx="400803" cy="725077"/>
          </a:xfrm>
          <a:prstGeom prst="rect">
            <a:avLst/>
          </a:prstGeom>
          <a:solidFill>
            <a:srgbClr val="C0392B"/>
          </a:solidFill>
          <a:ln/>
        </p:spPr>
        <p:txBody>
          <a:bodyPr/>
          <a:lstStyle/>
          <a:p>
            <a:endParaRPr lang="es-PE"/>
          </a:p>
        </p:txBody>
      </p:sp>
      <p:sp>
        <p:nvSpPr>
          <p:cNvPr id="107" name="Text 104"/>
          <p:cNvSpPr txBox="1"/>
          <p:nvPr/>
        </p:nvSpPr>
        <p:spPr>
          <a:xfrm>
            <a:off x="7820381" y="475098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578</a:t>
            </a:r>
            <a:endParaRPr lang="en-US" sz="650"/>
          </a:p>
        </p:txBody>
      </p:sp>
      <p:sp>
        <p:nvSpPr>
          <p:cNvPr id="108" name="Text 105"/>
          <p:cNvSpPr txBox="1"/>
          <p:nvPr/>
        </p:nvSpPr>
        <p:spPr>
          <a:xfrm>
            <a:off x="7728941" y="415070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5186676"/>
            <a:ext cx="400803" cy="111647"/>
          </a:xfrm>
          <a:prstGeom prst="rect">
            <a:avLst/>
          </a:prstGeom>
          <a:solidFill>
            <a:srgbClr val="C0392B"/>
          </a:solidFill>
          <a:ln/>
        </p:spPr>
        <p:txBody>
          <a:bodyPr/>
          <a:lstStyle/>
          <a:p>
            <a:endParaRPr lang="es-PE"/>
          </a:p>
        </p:txBody>
      </p:sp>
      <p:sp>
        <p:nvSpPr>
          <p:cNvPr id="110" name="Text 107"/>
          <p:cNvSpPr txBox="1"/>
          <p:nvPr/>
        </p:nvSpPr>
        <p:spPr>
          <a:xfrm>
            <a:off x="9039201" y="516934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89</a:t>
            </a:r>
            <a:endParaRPr lang="en-US" sz="650"/>
          </a:p>
        </p:txBody>
      </p:sp>
      <p:sp>
        <p:nvSpPr>
          <p:cNvPr id="111" name="Text 108"/>
          <p:cNvSpPr txBox="1"/>
          <p:nvPr/>
        </p:nvSpPr>
        <p:spPr>
          <a:xfrm>
            <a:off x="8318358" y="4875780"/>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61599"/>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5186676"/>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298323"/>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685</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580804"/>
            <a:ext cx="589416" cy="1097620"/>
          </a:xfrm>
          <a:prstGeom prst="rect">
            <a:avLst/>
          </a:prstGeom>
          <a:solidFill>
            <a:srgbClr val="5AA6A3"/>
          </a:solidFill>
          <a:ln/>
        </p:spPr>
        <p:txBody>
          <a:bodyPr/>
          <a:lstStyle/>
          <a:p>
            <a:endParaRPr lang="es-PE"/>
          </a:p>
        </p:txBody>
      </p:sp>
      <p:sp>
        <p:nvSpPr>
          <p:cNvPr id="123" name="Text 120"/>
          <p:cNvSpPr txBox="1"/>
          <p:nvPr/>
        </p:nvSpPr>
        <p:spPr>
          <a:xfrm>
            <a:off x="12113310" y="437963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573</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5218688"/>
            <a:ext cx="589416" cy="459736"/>
          </a:xfrm>
          <a:prstGeom prst="rect">
            <a:avLst/>
          </a:prstGeom>
          <a:solidFill>
            <a:srgbClr val="0B2E2C"/>
          </a:solidFill>
          <a:ln/>
        </p:spPr>
        <p:txBody>
          <a:bodyPr/>
          <a:lstStyle/>
          <a:p>
            <a:endParaRPr lang="es-PE"/>
          </a:p>
        </p:txBody>
      </p:sp>
      <p:sp>
        <p:nvSpPr>
          <p:cNvPr id="126" name="Text 123"/>
          <p:cNvSpPr txBox="1"/>
          <p:nvPr/>
        </p:nvSpPr>
        <p:spPr>
          <a:xfrm>
            <a:off x="14070172" y="501752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240</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580804"/>
            <a:ext cx="400803" cy="501879"/>
          </a:xfrm>
          <a:prstGeom prst="rect">
            <a:avLst/>
          </a:prstGeom>
          <a:solidFill>
            <a:srgbClr val="C0392B"/>
          </a:solidFill>
          <a:ln/>
        </p:spPr>
        <p:txBody>
          <a:bodyPr/>
          <a:lstStyle/>
          <a:p>
            <a:endParaRPr lang="es-PE"/>
          </a:p>
        </p:txBody>
      </p:sp>
      <p:sp>
        <p:nvSpPr>
          <p:cNvPr id="129" name="Text 126"/>
          <p:cNvSpPr txBox="1"/>
          <p:nvPr/>
        </p:nvSpPr>
        <p:spPr>
          <a:xfrm>
            <a:off x="12873051" y="4758591"/>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262</a:t>
            </a:r>
            <a:endParaRPr lang="en-US" sz="650"/>
          </a:p>
        </p:txBody>
      </p:sp>
      <p:sp>
        <p:nvSpPr>
          <p:cNvPr id="130" name="Text 127"/>
          <p:cNvSpPr txBox="1"/>
          <p:nvPr/>
        </p:nvSpPr>
        <p:spPr>
          <a:xfrm>
            <a:off x="12781611" y="426990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5082682"/>
            <a:ext cx="400803" cy="136005"/>
          </a:xfrm>
          <a:prstGeom prst="rect">
            <a:avLst/>
          </a:prstGeom>
          <a:solidFill>
            <a:srgbClr val="C0392B"/>
          </a:solidFill>
          <a:ln/>
        </p:spPr>
        <p:txBody>
          <a:bodyPr/>
          <a:lstStyle/>
          <a:p>
            <a:endParaRPr lang="es-PE"/>
          </a:p>
        </p:txBody>
      </p:sp>
      <p:sp>
        <p:nvSpPr>
          <p:cNvPr id="132" name="Text 129"/>
          <p:cNvSpPr txBox="1"/>
          <p:nvPr/>
        </p:nvSpPr>
        <p:spPr>
          <a:xfrm>
            <a:off x="14091870" y="5077533"/>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71</a:t>
            </a:r>
            <a:endParaRPr lang="en-US" sz="650"/>
          </a:p>
        </p:txBody>
      </p:sp>
      <p:sp>
        <p:nvSpPr>
          <p:cNvPr id="133" name="Text 130"/>
          <p:cNvSpPr txBox="1"/>
          <p:nvPr/>
        </p:nvSpPr>
        <p:spPr>
          <a:xfrm>
            <a:off x="13371027" y="47717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580804"/>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5082682"/>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5218688"/>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ampliamente a "no gestionado" en los 6: Maduro Multibanco (898 vs. 90), Gran Cuenta por Conquistar (578 vs. 89), Socio en Crecimiento (677 vs. 47), Cuenta Estratégica (449 vs. 56), Cliente Ancla (369 vs. 48) y Cliente por Reactivar (262 vs. 71) — en todos, el desajuste de ticket pesa mucho más que la falta de seguimiento comercial.</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Maduro Multibanco combina el universo inicial más grande (1,507) con el mayor volumen de "monto no comparable" (898) — ahí el share bajo no es un problema de gestión: la mayoría de la competencia observada simplemente maneja montos muy distintos al del cliente.</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es chico y parejo en los 6 (47-90) — con este corte de datos, casi no queda oportunidad de gestión comercial sin trabajar en ningún cluster con deuda; la conversación pasa a por qué el ticket no calza con el de la competencia.</a:t>
            </a:r>
            <a:endParaRPr lang="en-US" sz="1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CON DEUDA · MONTO (S/ MM)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monto se repite el mismo patrón: el desajuste de ticket domina en los 6 clusters con deuda</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Ancla</a:t>
            </a:r>
            <a:endParaRPr lang="en-US" sz="1000"/>
          </a:p>
        </p:txBody>
      </p:sp>
      <p:sp>
        <p:nvSpPr>
          <p:cNvPr id="8" name="Shape 5"/>
          <p:cNvSpPr/>
          <p:nvPr/>
        </p:nvSpPr>
        <p:spPr>
          <a:xfrm>
            <a:off x="65836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1312164"/>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157.8</a:t>
            </a:r>
            <a:endParaRPr lang="en-US" sz="800"/>
          </a:p>
        </p:txBody>
      </p:sp>
      <p:sp>
        <p:nvSpPr>
          <p:cNvPr id="11" name="Text 8"/>
          <p:cNvSpPr txBox="1"/>
          <p:nvPr/>
        </p:nvSpPr>
        <p:spPr>
          <a:xfrm>
            <a:off x="1138501"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287744"/>
            <a:ext cx="589416" cy="1054388"/>
          </a:xfrm>
          <a:prstGeom prst="rect">
            <a:avLst/>
          </a:prstGeom>
          <a:solidFill>
            <a:srgbClr val="5AA6A3"/>
          </a:solidFill>
          <a:ln/>
        </p:spPr>
        <p:txBody>
          <a:bodyPr/>
          <a:lstStyle/>
          <a:p>
            <a:endParaRPr lang="es-PE"/>
          </a:p>
        </p:txBody>
      </p:sp>
      <p:sp>
        <p:nvSpPr>
          <p:cNvPr id="13" name="Text 10"/>
          <p:cNvSpPr txBox="1"/>
          <p:nvPr/>
        </p:nvSpPr>
        <p:spPr>
          <a:xfrm>
            <a:off x="2007970" y="208657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126.8</a:t>
            </a:r>
            <a:endParaRPr lang="en-US" sz="800"/>
          </a:p>
        </p:txBody>
      </p:sp>
      <p:sp>
        <p:nvSpPr>
          <p:cNvPr id="14" name="Text 11"/>
          <p:cNvSpPr txBox="1"/>
          <p:nvPr/>
        </p:nvSpPr>
        <p:spPr>
          <a:xfrm>
            <a:off x="191653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879798"/>
            <a:ext cx="589416" cy="462334"/>
          </a:xfrm>
          <a:prstGeom prst="rect">
            <a:avLst/>
          </a:prstGeom>
          <a:solidFill>
            <a:srgbClr val="0B2E2C"/>
          </a:solidFill>
          <a:ln/>
        </p:spPr>
        <p:txBody>
          <a:bodyPr/>
          <a:lstStyle/>
          <a:p>
            <a:endParaRPr lang="es-PE"/>
          </a:p>
        </p:txBody>
      </p:sp>
      <p:sp>
        <p:nvSpPr>
          <p:cNvPr id="16" name="Text 13"/>
          <p:cNvSpPr txBox="1"/>
          <p:nvPr/>
        </p:nvSpPr>
        <p:spPr>
          <a:xfrm>
            <a:off x="3964832" y="267863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55.6</a:t>
            </a:r>
            <a:endParaRPr lang="en-US" sz="800"/>
          </a:p>
        </p:txBody>
      </p:sp>
      <p:sp>
        <p:nvSpPr>
          <p:cNvPr id="17" name="Text 14"/>
          <p:cNvSpPr txBox="1"/>
          <p:nvPr/>
        </p:nvSpPr>
        <p:spPr>
          <a:xfrm>
            <a:off x="387339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287744"/>
            <a:ext cx="400803" cy="493932"/>
          </a:xfrm>
          <a:prstGeom prst="rect">
            <a:avLst/>
          </a:prstGeom>
          <a:solidFill>
            <a:srgbClr val="C0392B"/>
          </a:solidFill>
          <a:ln/>
        </p:spPr>
        <p:txBody>
          <a:bodyPr/>
          <a:lstStyle/>
          <a:p>
            <a:endParaRPr lang="es-PE"/>
          </a:p>
        </p:txBody>
      </p:sp>
      <p:sp>
        <p:nvSpPr>
          <p:cNvPr id="19" name="Text 16"/>
          <p:cNvSpPr txBox="1"/>
          <p:nvPr/>
        </p:nvSpPr>
        <p:spPr>
          <a:xfrm>
            <a:off x="2767712" y="246155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59.4</a:t>
            </a:r>
            <a:endParaRPr lang="en-US" sz="650"/>
          </a:p>
        </p:txBody>
      </p:sp>
      <p:sp>
        <p:nvSpPr>
          <p:cNvPr id="20" name="Text 17"/>
          <p:cNvSpPr txBox="1"/>
          <p:nvPr/>
        </p:nvSpPr>
        <p:spPr>
          <a:xfrm>
            <a:off x="2676272" y="197684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781677"/>
            <a:ext cx="400803" cy="98121"/>
          </a:xfrm>
          <a:prstGeom prst="rect">
            <a:avLst/>
          </a:prstGeom>
          <a:solidFill>
            <a:srgbClr val="C0392B"/>
          </a:solidFill>
          <a:ln/>
        </p:spPr>
        <p:txBody>
          <a:bodyPr/>
          <a:lstStyle/>
          <a:p>
            <a:endParaRPr lang="es-PE"/>
          </a:p>
        </p:txBody>
      </p:sp>
      <p:sp>
        <p:nvSpPr>
          <p:cNvPr id="22" name="Text 19"/>
          <p:cNvSpPr txBox="1"/>
          <p:nvPr/>
        </p:nvSpPr>
        <p:spPr>
          <a:xfrm>
            <a:off x="3986531" y="2757585"/>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11.8</a:t>
            </a:r>
            <a:endParaRPr lang="en-US" sz="650"/>
          </a:p>
        </p:txBody>
      </p:sp>
      <p:sp>
        <p:nvSpPr>
          <p:cNvPr id="23" name="Text 20"/>
          <p:cNvSpPr txBox="1"/>
          <p:nvPr/>
        </p:nvSpPr>
        <p:spPr>
          <a:xfrm>
            <a:off x="3265688" y="247078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287744"/>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781677"/>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879798"/>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3342132"/>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Socio en Crecimiento</a:t>
            </a:r>
            <a:endParaRPr lang="en-US" sz="1000"/>
          </a:p>
        </p:txBody>
      </p:sp>
      <p:sp>
        <p:nvSpPr>
          <p:cNvPr id="30" name="Shape 27"/>
          <p:cNvSpPr/>
          <p:nvPr/>
        </p:nvSpPr>
        <p:spPr>
          <a:xfrm>
            <a:off x="5711038"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1312164"/>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153.2</a:t>
            </a:r>
            <a:endParaRPr lang="en-US" sz="800"/>
          </a:p>
        </p:txBody>
      </p:sp>
      <p:sp>
        <p:nvSpPr>
          <p:cNvPr id="33" name="Text 30"/>
          <p:cNvSpPr txBox="1"/>
          <p:nvPr/>
        </p:nvSpPr>
        <p:spPr>
          <a:xfrm>
            <a:off x="61911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102771"/>
            <a:ext cx="589416" cy="1239361"/>
          </a:xfrm>
          <a:prstGeom prst="rect">
            <a:avLst/>
          </a:prstGeom>
          <a:solidFill>
            <a:srgbClr val="5AA6A3"/>
          </a:solidFill>
          <a:ln/>
        </p:spPr>
        <p:txBody>
          <a:bodyPr/>
          <a:lstStyle/>
          <a:p>
            <a:endParaRPr lang="es-PE"/>
          </a:p>
        </p:txBody>
      </p:sp>
      <p:sp>
        <p:nvSpPr>
          <p:cNvPr id="35" name="Text 32"/>
          <p:cNvSpPr txBox="1"/>
          <p:nvPr/>
        </p:nvSpPr>
        <p:spPr>
          <a:xfrm>
            <a:off x="7060640" y="190160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144.7</a:t>
            </a:r>
            <a:endParaRPr lang="en-US" sz="800"/>
          </a:p>
        </p:txBody>
      </p:sp>
      <p:sp>
        <p:nvSpPr>
          <p:cNvPr id="36" name="Text 33"/>
          <p:cNvSpPr txBox="1"/>
          <p:nvPr/>
        </p:nvSpPr>
        <p:spPr>
          <a:xfrm>
            <a:off x="696920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984970"/>
            <a:ext cx="589416" cy="357162"/>
          </a:xfrm>
          <a:prstGeom prst="rect">
            <a:avLst/>
          </a:prstGeom>
          <a:solidFill>
            <a:srgbClr val="0B2E2C"/>
          </a:solidFill>
          <a:ln/>
        </p:spPr>
        <p:txBody>
          <a:bodyPr/>
          <a:lstStyle/>
          <a:p>
            <a:endParaRPr lang="es-PE"/>
          </a:p>
        </p:txBody>
      </p:sp>
      <p:sp>
        <p:nvSpPr>
          <p:cNvPr id="38" name="Text 35"/>
          <p:cNvSpPr txBox="1"/>
          <p:nvPr/>
        </p:nvSpPr>
        <p:spPr>
          <a:xfrm>
            <a:off x="9017502" y="278380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41.7</a:t>
            </a:r>
            <a:endParaRPr lang="en-US" sz="800"/>
          </a:p>
        </p:txBody>
      </p:sp>
      <p:sp>
        <p:nvSpPr>
          <p:cNvPr id="39" name="Text 36"/>
          <p:cNvSpPr txBox="1"/>
          <p:nvPr/>
        </p:nvSpPr>
        <p:spPr>
          <a:xfrm>
            <a:off x="892606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102771"/>
            <a:ext cx="400803" cy="781988"/>
          </a:xfrm>
          <a:prstGeom prst="rect">
            <a:avLst/>
          </a:prstGeom>
          <a:solidFill>
            <a:srgbClr val="C0392B"/>
          </a:solidFill>
          <a:ln/>
        </p:spPr>
        <p:txBody>
          <a:bodyPr/>
          <a:lstStyle/>
          <a:p>
            <a:endParaRPr lang="es-PE"/>
          </a:p>
        </p:txBody>
      </p:sp>
      <p:sp>
        <p:nvSpPr>
          <p:cNvPr id="41" name="Text 38"/>
          <p:cNvSpPr txBox="1"/>
          <p:nvPr/>
        </p:nvSpPr>
        <p:spPr>
          <a:xfrm>
            <a:off x="7820381" y="242061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91.3</a:t>
            </a:r>
            <a:endParaRPr lang="en-US" sz="650"/>
          </a:p>
        </p:txBody>
      </p:sp>
      <p:sp>
        <p:nvSpPr>
          <p:cNvPr id="42" name="Text 39"/>
          <p:cNvSpPr txBox="1"/>
          <p:nvPr/>
        </p:nvSpPr>
        <p:spPr>
          <a:xfrm>
            <a:off x="7728941" y="179187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884759"/>
            <a:ext cx="400803" cy="100211"/>
          </a:xfrm>
          <a:prstGeom prst="rect">
            <a:avLst/>
          </a:prstGeom>
          <a:solidFill>
            <a:srgbClr val="C0392B"/>
          </a:solidFill>
          <a:ln/>
        </p:spPr>
        <p:txBody>
          <a:bodyPr/>
          <a:lstStyle/>
          <a:p>
            <a:endParaRPr lang="es-PE"/>
          </a:p>
        </p:txBody>
      </p:sp>
      <p:sp>
        <p:nvSpPr>
          <p:cNvPr id="44" name="Text 41"/>
          <p:cNvSpPr txBox="1"/>
          <p:nvPr/>
        </p:nvSpPr>
        <p:spPr>
          <a:xfrm>
            <a:off x="9039201" y="286171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11.7</a:t>
            </a:r>
            <a:endParaRPr lang="en-US" sz="650"/>
          </a:p>
        </p:txBody>
      </p:sp>
      <p:sp>
        <p:nvSpPr>
          <p:cNvPr id="45" name="Text 42"/>
          <p:cNvSpPr txBox="1"/>
          <p:nvPr/>
        </p:nvSpPr>
        <p:spPr>
          <a:xfrm>
            <a:off x="8318358" y="257386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102771"/>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884759"/>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984970"/>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3342132"/>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Cuenta Estratégica</a:t>
            </a:r>
            <a:endParaRPr lang="en-US" sz="1000"/>
          </a:p>
        </p:txBody>
      </p:sp>
      <p:sp>
        <p:nvSpPr>
          <p:cNvPr id="52" name="Shape 49"/>
          <p:cNvSpPr/>
          <p:nvPr/>
        </p:nvSpPr>
        <p:spPr>
          <a:xfrm>
            <a:off x="10763707" y="1773936"/>
            <a:ext cx="4833214" cy="1879092"/>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1312164"/>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251.6</a:t>
            </a:r>
            <a:endParaRPr lang="en-US" sz="800"/>
          </a:p>
        </p:txBody>
      </p:sp>
      <p:sp>
        <p:nvSpPr>
          <p:cNvPr id="55" name="Text 52"/>
          <p:cNvSpPr txBox="1"/>
          <p:nvPr/>
        </p:nvSpPr>
        <p:spPr>
          <a:xfrm>
            <a:off x="1124384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205201"/>
            <a:ext cx="589416" cy="1136931"/>
          </a:xfrm>
          <a:prstGeom prst="rect">
            <a:avLst/>
          </a:prstGeom>
          <a:solidFill>
            <a:srgbClr val="5AA6A3"/>
          </a:solidFill>
          <a:ln/>
        </p:spPr>
        <p:txBody>
          <a:bodyPr/>
          <a:lstStyle/>
          <a:p>
            <a:endParaRPr lang="es-PE"/>
          </a:p>
        </p:txBody>
      </p:sp>
      <p:sp>
        <p:nvSpPr>
          <p:cNvPr id="57" name="Text 54"/>
          <p:cNvSpPr txBox="1"/>
          <p:nvPr/>
        </p:nvSpPr>
        <p:spPr>
          <a:xfrm>
            <a:off x="12113310" y="200403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218.0</a:t>
            </a:r>
            <a:endParaRPr lang="en-US" sz="800"/>
          </a:p>
        </p:txBody>
      </p:sp>
      <p:sp>
        <p:nvSpPr>
          <p:cNvPr id="58" name="Text 55"/>
          <p:cNvSpPr txBox="1"/>
          <p:nvPr/>
        </p:nvSpPr>
        <p:spPr>
          <a:xfrm>
            <a:off x="12021870"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860240"/>
            <a:ext cx="589416" cy="481892"/>
          </a:xfrm>
          <a:prstGeom prst="rect">
            <a:avLst/>
          </a:prstGeom>
          <a:solidFill>
            <a:srgbClr val="0B2E2C"/>
          </a:solidFill>
          <a:ln/>
        </p:spPr>
        <p:txBody>
          <a:bodyPr/>
          <a:lstStyle/>
          <a:p>
            <a:endParaRPr lang="es-PE"/>
          </a:p>
        </p:txBody>
      </p:sp>
      <p:sp>
        <p:nvSpPr>
          <p:cNvPr id="60" name="Text 57"/>
          <p:cNvSpPr txBox="1"/>
          <p:nvPr/>
        </p:nvSpPr>
        <p:spPr>
          <a:xfrm>
            <a:off x="14070172" y="265907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92.4</a:t>
            </a:r>
            <a:endParaRPr lang="en-US" sz="800"/>
          </a:p>
        </p:txBody>
      </p:sp>
      <p:sp>
        <p:nvSpPr>
          <p:cNvPr id="61" name="Text 58"/>
          <p:cNvSpPr txBox="1"/>
          <p:nvPr/>
        </p:nvSpPr>
        <p:spPr>
          <a:xfrm>
            <a:off x="13978732" y="3378708"/>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205201"/>
            <a:ext cx="400803" cy="575767"/>
          </a:xfrm>
          <a:prstGeom prst="rect">
            <a:avLst/>
          </a:prstGeom>
          <a:solidFill>
            <a:srgbClr val="C0392B"/>
          </a:solidFill>
          <a:ln/>
        </p:spPr>
        <p:txBody>
          <a:bodyPr/>
          <a:lstStyle/>
          <a:p>
            <a:endParaRPr lang="es-PE"/>
          </a:p>
        </p:txBody>
      </p:sp>
      <p:sp>
        <p:nvSpPr>
          <p:cNvPr id="63" name="Text 60"/>
          <p:cNvSpPr txBox="1"/>
          <p:nvPr/>
        </p:nvSpPr>
        <p:spPr>
          <a:xfrm>
            <a:off x="12873051" y="2419933"/>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110.4</a:t>
            </a:r>
            <a:endParaRPr lang="en-US" sz="650"/>
          </a:p>
        </p:txBody>
      </p:sp>
      <p:sp>
        <p:nvSpPr>
          <p:cNvPr id="64" name="Text 61"/>
          <p:cNvSpPr txBox="1"/>
          <p:nvPr/>
        </p:nvSpPr>
        <p:spPr>
          <a:xfrm>
            <a:off x="12781611" y="189430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780968"/>
            <a:ext cx="400803" cy="79272"/>
          </a:xfrm>
          <a:prstGeom prst="rect">
            <a:avLst/>
          </a:prstGeom>
          <a:solidFill>
            <a:srgbClr val="C0392B"/>
          </a:solidFill>
          <a:ln/>
        </p:spPr>
        <p:txBody>
          <a:bodyPr/>
          <a:lstStyle/>
          <a:p>
            <a:endParaRPr lang="es-PE"/>
          </a:p>
        </p:txBody>
      </p:sp>
      <p:sp>
        <p:nvSpPr>
          <p:cNvPr id="66" name="Text 63"/>
          <p:cNvSpPr txBox="1"/>
          <p:nvPr/>
        </p:nvSpPr>
        <p:spPr>
          <a:xfrm>
            <a:off x="14091870" y="274745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15.2</a:t>
            </a:r>
            <a:endParaRPr lang="en-US" sz="650"/>
          </a:p>
        </p:txBody>
      </p:sp>
      <p:sp>
        <p:nvSpPr>
          <p:cNvPr id="67" name="Text 64"/>
          <p:cNvSpPr txBox="1"/>
          <p:nvPr/>
        </p:nvSpPr>
        <p:spPr>
          <a:xfrm>
            <a:off x="13371027" y="247007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205201"/>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780968"/>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860240"/>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3342132"/>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3817620"/>
            <a:ext cx="4833214" cy="292608"/>
          </a:xfrm>
          <a:prstGeom prst="rect">
            <a:avLst/>
          </a:prstGeom>
          <a:solidFill>
            <a:srgbClr val="13807B"/>
          </a:solidFill>
          <a:ln/>
        </p:spPr>
        <p:txBody>
          <a:bodyPr/>
          <a:lstStyle/>
          <a:p>
            <a:endParaRPr lang="es-PE"/>
          </a:p>
        </p:txBody>
      </p:sp>
      <p:sp>
        <p:nvSpPr>
          <p:cNvPr id="73" name="Text 70"/>
          <p:cNvSpPr txBox="1"/>
          <p:nvPr/>
        </p:nvSpPr>
        <p:spPr>
          <a:xfrm>
            <a:off x="74980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Maduro Multibanco</a:t>
            </a:r>
            <a:endParaRPr lang="en-US" sz="1000"/>
          </a:p>
        </p:txBody>
      </p:sp>
      <p:sp>
        <p:nvSpPr>
          <p:cNvPr id="74" name="Shape 71"/>
          <p:cNvSpPr/>
          <p:nvPr/>
        </p:nvSpPr>
        <p:spPr>
          <a:xfrm>
            <a:off x="65836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75" name="Shape 72"/>
          <p:cNvSpPr/>
          <p:nvPr/>
        </p:nvSpPr>
        <p:spPr>
          <a:xfrm>
            <a:off x="1412821" y="4366260"/>
            <a:ext cx="589416" cy="1312164"/>
          </a:xfrm>
          <a:prstGeom prst="rect">
            <a:avLst/>
          </a:prstGeom>
          <a:solidFill>
            <a:srgbClr val="13807B"/>
          </a:solidFill>
          <a:ln/>
        </p:spPr>
        <p:txBody>
          <a:bodyPr/>
          <a:lstStyle/>
          <a:p>
            <a:endParaRPr lang="es-PE"/>
          </a:p>
        </p:txBody>
      </p:sp>
      <p:sp>
        <p:nvSpPr>
          <p:cNvPr id="76" name="Text 73"/>
          <p:cNvSpPr txBox="1"/>
          <p:nvPr/>
        </p:nvSpPr>
        <p:spPr>
          <a:xfrm>
            <a:off x="1229941"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247.6</a:t>
            </a:r>
            <a:endParaRPr lang="en-US" sz="800"/>
          </a:p>
        </p:txBody>
      </p:sp>
      <p:sp>
        <p:nvSpPr>
          <p:cNvPr id="77" name="Text 74"/>
          <p:cNvSpPr txBox="1"/>
          <p:nvPr/>
        </p:nvSpPr>
        <p:spPr>
          <a:xfrm>
            <a:off x="1138501"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78" name="Shape 75"/>
          <p:cNvSpPr/>
          <p:nvPr/>
        </p:nvSpPr>
        <p:spPr>
          <a:xfrm>
            <a:off x="2190850" y="4563933"/>
            <a:ext cx="589416" cy="1114491"/>
          </a:xfrm>
          <a:prstGeom prst="rect">
            <a:avLst/>
          </a:prstGeom>
          <a:solidFill>
            <a:srgbClr val="5AA6A3"/>
          </a:solidFill>
          <a:ln/>
        </p:spPr>
        <p:txBody>
          <a:bodyPr/>
          <a:lstStyle/>
          <a:p>
            <a:endParaRPr lang="es-PE"/>
          </a:p>
        </p:txBody>
      </p:sp>
      <p:sp>
        <p:nvSpPr>
          <p:cNvPr id="79" name="Text 76"/>
          <p:cNvSpPr txBox="1"/>
          <p:nvPr/>
        </p:nvSpPr>
        <p:spPr>
          <a:xfrm>
            <a:off x="2007970" y="436276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210.3</a:t>
            </a:r>
            <a:endParaRPr lang="en-US" sz="800"/>
          </a:p>
        </p:txBody>
      </p:sp>
      <p:sp>
        <p:nvSpPr>
          <p:cNvPr id="80" name="Text 77"/>
          <p:cNvSpPr txBox="1"/>
          <p:nvPr/>
        </p:nvSpPr>
        <p:spPr>
          <a:xfrm>
            <a:off x="191653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81" name="Shape 78"/>
          <p:cNvSpPr/>
          <p:nvPr/>
        </p:nvSpPr>
        <p:spPr>
          <a:xfrm>
            <a:off x="4147712" y="5392779"/>
            <a:ext cx="589416" cy="285645"/>
          </a:xfrm>
          <a:prstGeom prst="rect">
            <a:avLst/>
          </a:prstGeom>
          <a:solidFill>
            <a:srgbClr val="0B2E2C"/>
          </a:solidFill>
          <a:ln/>
        </p:spPr>
        <p:txBody>
          <a:bodyPr/>
          <a:lstStyle/>
          <a:p>
            <a:endParaRPr lang="es-PE"/>
          </a:p>
        </p:txBody>
      </p:sp>
      <p:sp>
        <p:nvSpPr>
          <p:cNvPr id="82" name="Text 79"/>
          <p:cNvSpPr txBox="1"/>
          <p:nvPr/>
        </p:nvSpPr>
        <p:spPr>
          <a:xfrm>
            <a:off x="3964832" y="519161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53.9</a:t>
            </a:r>
            <a:endParaRPr lang="en-US" sz="800"/>
          </a:p>
        </p:txBody>
      </p:sp>
      <p:sp>
        <p:nvSpPr>
          <p:cNvPr id="83" name="Text 80"/>
          <p:cNvSpPr txBox="1"/>
          <p:nvPr/>
        </p:nvSpPr>
        <p:spPr>
          <a:xfrm>
            <a:off x="387339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84" name="Shape 81"/>
          <p:cNvSpPr/>
          <p:nvPr/>
        </p:nvSpPr>
        <p:spPr>
          <a:xfrm>
            <a:off x="2968880" y="4563933"/>
            <a:ext cx="400803" cy="712257"/>
          </a:xfrm>
          <a:prstGeom prst="rect">
            <a:avLst/>
          </a:prstGeom>
          <a:solidFill>
            <a:srgbClr val="C0392B"/>
          </a:solidFill>
          <a:ln/>
        </p:spPr>
        <p:txBody>
          <a:bodyPr/>
          <a:lstStyle/>
          <a:p>
            <a:endParaRPr lang="es-PE"/>
          </a:p>
        </p:txBody>
      </p:sp>
      <p:sp>
        <p:nvSpPr>
          <p:cNvPr id="85" name="Text 82"/>
          <p:cNvSpPr txBox="1"/>
          <p:nvPr/>
        </p:nvSpPr>
        <p:spPr>
          <a:xfrm>
            <a:off x="2767712" y="484690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134.4</a:t>
            </a:r>
            <a:endParaRPr lang="en-US" sz="650"/>
          </a:p>
        </p:txBody>
      </p:sp>
      <p:sp>
        <p:nvSpPr>
          <p:cNvPr id="86" name="Text 83"/>
          <p:cNvSpPr txBox="1"/>
          <p:nvPr/>
        </p:nvSpPr>
        <p:spPr>
          <a:xfrm>
            <a:off x="2676272" y="4253037"/>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87" name="Shape 84"/>
          <p:cNvSpPr/>
          <p:nvPr/>
        </p:nvSpPr>
        <p:spPr>
          <a:xfrm>
            <a:off x="3558296" y="5276190"/>
            <a:ext cx="400803" cy="116590"/>
          </a:xfrm>
          <a:prstGeom prst="rect">
            <a:avLst/>
          </a:prstGeom>
          <a:solidFill>
            <a:srgbClr val="C0392B"/>
          </a:solidFill>
          <a:ln/>
        </p:spPr>
        <p:txBody>
          <a:bodyPr/>
          <a:lstStyle/>
          <a:p>
            <a:endParaRPr lang="es-PE"/>
          </a:p>
        </p:txBody>
      </p:sp>
      <p:sp>
        <p:nvSpPr>
          <p:cNvPr id="88" name="Text 85"/>
          <p:cNvSpPr txBox="1"/>
          <p:nvPr/>
        </p:nvSpPr>
        <p:spPr>
          <a:xfrm>
            <a:off x="3986531" y="526133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22.0</a:t>
            </a:r>
            <a:endParaRPr lang="en-US" sz="650"/>
          </a:p>
        </p:txBody>
      </p:sp>
      <p:sp>
        <p:nvSpPr>
          <p:cNvPr id="89" name="Text 86"/>
          <p:cNvSpPr txBox="1"/>
          <p:nvPr/>
        </p:nvSpPr>
        <p:spPr>
          <a:xfrm>
            <a:off x="3265688" y="4965294"/>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90" name="Shape 87"/>
          <p:cNvSpPr/>
          <p:nvPr/>
        </p:nvSpPr>
        <p:spPr>
          <a:xfrm>
            <a:off x="2780267" y="4563933"/>
            <a:ext cx="188613" cy="0"/>
          </a:xfrm>
          <a:prstGeom prst="line">
            <a:avLst/>
          </a:prstGeom>
          <a:noFill/>
          <a:ln w="6350">
            <a:solidFill>
              <a:srgbClr val="6E7E7D"/>
            </a:solidFill>
            <a:prstDash val="sysDot"/>
          </a:ln>
        </p:spPr>
        <p:txBody>
          <a:bodyPr/>
          <a:lstStyle/>
          <a:p>
            <a:endParaRPr lang="es-PE"/>
          </a:p>
        </p:txBody>
      </p:sp>
      <p:sp>
        <p:nvSpPr>
          <p:cNvPr id="91" name="Shape 88"/>
          <p:cNvSpPr/>
          <p:nvPr/>
        </p:nvSpPr>
        <p:spPr>
          <a:xfrm>
            <a:off x="3369683" y="5276190"/>
            <a:ext cx="188613" cy="0"/>
          </a:xfrm>
          <a:prstGeom prst="line">
            <a:avLst/>
          </a:prstGeom>
          <a:noFill/>
          <a:ln w="6350">
            <a:solidFill>
              <a:srgbClr val="6E7E7D"/>
            </a:solidFill>
            <a:prstDash val="sysDot"/>
          </a:ln>
        </p:spPr>
        <p:txBody>
          <a:bodyPr/>
          <a:lstStyle/>
          <a:p>
            <a:endParaRPr lang="es-PE"/>
          </a:p>
        </p:txBody>
      </p:sp>
      <p:sp>
        <p:nvSpPr>
          <p:cNvPr id="92" name="Shape 89"/>
          <p:cNvSpPr/>
          <p:nvPr/>
        </p:nvSpPr>
        <p:spPr>
          <a:xfrm>
            <a:off x="3959099" y="5392779"/>
            <a:ext cx="188613" cy="0"/>
          </a:xfrm>
          <a:prstGeom prst="line">
            <a:avLst/>
          </a:prstGeom>
          <a:noFill/>
          <a:ln w="6350">
            <a:solidFill>
              <a:srgbClr val="6E7E7D"/>
            </a:solidFill>
            <a:prstDash val="sysDot"/>
          </a:ln>
        </p:spPr>
        <p:txBody>
          <a:bodyPr/>
          <a:lstStyle/>
          <a:p>
            <a:endParaRPr lang="es-PE"/>
          </a:p>
        </p:txBody>
      </p:sp>
      <p:sp>
        <p:nvSpPr>
          <p:cNvPr id="93" name="Shape 90"/>
          <p:cNvSpPr/>
          <p:nvPr/>
        </p:nvSpPr>
        <p:spPr>
          <a:xfrm>
            <a:off x="1357957" y="5678424"/>
            <a:ext cx="3434036" cy="0"/>
          </a:xfrm>
          <a:prstGeom prst="line">
            <a:avLst/>
          </a:prstGeom>
          <a:noFill/>
          <a:ln w="9525">
            <a:solidFill>
              <a:srgbClr val="0B2E2C"/>
            </a:solidFill>
            <a:prstDash val="solid"/>
          </a:ln>
        </p:spPr>
        <p:txBody>
          <a:bodyPr/>
          <a:lstStyle/>
          <a:p>
            <a:endParaRPr lang="es-PE"/>
          </a:p>
        </p:txBody>
      </p:sp>
      <p:sp>
        <p:nvSpPr>
          <p:cNvPr id="94" name="Shape 91"/>
          <p:cNvSpPr/>
          <p:nvPr/>
        </p:nvSpPr>
        <p:spPr>
          <a:xfrm>
            <a:off x="5711038" y="3817620"/>
            <a:ext cx="4833214" cy="292608"/>
          </a:xfrm>
          <a:prstGeom prst="rect">
            <a:avLst/>
          </a:prstGeom>
          <a:solidFill>
            <a:srgbClr val="13807B"/>
          </a:solidFill>
          <a:ln/>
        </p:spPr>
        <p:txBody>
          <a:bodyPr/>
          <a:lstStyle/>
          <a:p>
            <a:endParaRPr lang="es-PE"/>
          </a:p>
        </p:txBody>
      </p:sp>
      <p:sp>
        <p:nvSpPr>
          <p:cNvPr id="95" name="Text 92"/>
          <p:cNvSpPr txBox="1"/>
          <p:nvPr/>
        </p:nvSpPr>
        <p:spPr>
          <a:xfrm>
            <a:off x="5802478"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Gran Cuenta por Conquistar</a:t>
            </a:r>
            <a:endParaRPr lang="en-US" sz="1000"/>
          </a:p>
        </p:txBody>
      </p:sp>
      <p:sp>
        <p:nvSpPr>
          <p:cNvPr id="96" name="Shape 93"/>
          <p:cNvSpPr/>
          <p:nvPr/>
        </p:nvSpPr>
        <p:spPr>
          <a:xfrm>
            <a:off x="5711038"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97" name="Shape 94"/>
          <p:cNvSpPr/>
          <p:nvPr/>
        </p:nvSpPr>
        <p:spPr>
          <a:xfrm>
            <a:off x="6465490" y="4366260"/>
            <a:ext cx="589416" cy="1312164"/>
          </a:xfrm>
          <a:prstGeom prst="rect">
            <a:avLst/>
          </a:prstGeom>
          <a:solidFill>
            <a:srgbClr val="13807B"/>
          </a:solidFill>
          <a:ln/>
        </p:spPr>
        <p:txBody>
          <a:bodyPr/>
          <a:lstStyle/>
          <a:p>
            <a:endParaRPr lang="es-PE"/>
          </a:p>
        </p:txBody>
      </p:sp>
      <p:sp>
        <p:nvSpPr>
          <p:cNvPr id="98" name="Text 95"/>
          <p:cNvSpPr txBox="1"/>
          <p:nvPr/>
        </p:nvSpPr>
        <p:spPr>
          <a:xfrm>
            <a:off x="628261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275.2</a:t>
            </a:r>
            <a:endParaRPr lang="en-US" sz="800"/>
          </a:p>
        </p:txBody>
      </p:sp>
      <p:sp>
        <p:nvSpPr>
          <p:cNvPr id="99" name="Text 96"/>
          <p:cNvSpPr txBox="1"/>
          <p:nvPr/>
        </p:nvSpPr>
        <p:spPr>
          <a:xfrm>
            <a:off x="61911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00" name="Shape 97"/>
          <p:cNvSpPr/>
          <p:nvPr/>
        </p:nvSpPr>
        <p:spPr>
          <a:xfrm>
            <a:off x="7243520" y="4496427"/>
            <a:ext cx="589416" cy="1181997"/>
          </a:xfrm>
          <a:prstGeom prst="rect">
            <a:avLst/>
          </a:prstGeom>
          <a:solidFill>
            <a:srgbClr val="5AA6A3"/>
          </a:solidFill>
          <a:ln/>
        </p:spPr>
        <p:txBody>
          <a:bodyPr/>
          <a:lstStyle/>
          <a:p>
            <a:endParaRPr lang="es-PE"/>
          </a:p>
        </p:txBody>
      </p:sp>
      <p:sp>
        <p:nvSpPr>
          <p:cNvPr id="101" name="Text 98"/>
          <p:cNvSpPr txBox="1"/>
          <p:nvPr/>
        </p:nvSpPr>
        <p:spPr>
          <a:xfrm>
            <a:off x="7060640" y="4295259"/>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247.9</a:t>
            </a:r>
            <a:endParaRPr lang="en-US" sz="800"/>
          </a:p>
        </p:txBody>
      </p:sp>
      <p:sp>
        <p:nvSpPr>
          <p:cNvPr id="102" name="Text 99"/>
          <p:cNvSpPr txBox="1"/>
          <p:nvPr/>
        </p:nvSpPr>
        <p:spPr>
          <a:xfrm>
            <a:off x="696920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03" name="Shape 100"/>
          <p:cNvSpPr/>
          <p:nvPr/>
        </p:nvSpPr>
        <p:spPr>
          <a:xfrm>
            <a:off x="9200382" y="5307471"/>
            <a:ext cx="589416" cy="370953"/>
          </a:xfrm>
          <a:prstGeom prst="rect">
            <a:avLst/>
          </a:prstGeom>
          <a:solidFill>
            <a:srgbClr val="0B2E2C"/>
          </a:solidFill>
          <a:ln/>
        </p:spPr>
        <p:txBody>
          <a:bodyPr/>
          <a:lstStyle/>
          <a:p>
            <a:endParaRPr lang="es-PE"/>
          </a:p>
        </p:txBody>
      </p:sp>
      <p:sp>
        <p:nvSpPr>
          <p:cNvPr id="104" name="Text 101"/>
          <p:cNvSpPr txBox="1"/>
          <p:nvPr/>
        </p:nvSpPr>
        <p:spPr>
          <a:xfrm>
            <a:off x="9017502" y="510630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77.8</a:t>
            </a:r>
            <a:endParaRPr lang="en-US" sz="800"/>
          </a:p>
        </p:txBody>
      </p:sp>
      <p:sp>
        <p:nvSpPr>
          <p:cNvPr id="105" name="Text 102"/>
          <p:cNvSpPr txBox="1"/>
          <p:nvPr/>
        </p:nvSpPr>
        <p:spPr>
          <a:xfrm>
            <a:off x="892606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06" name="Shape 103"/>
          <p:cNvSpPr/>
          <p:nvPr/>
        </p:nvSpPr>
        <p:spPr>
          <a:xfrm>
            <a:off x="8021549" y="4496427"/>
            <a:ext cx="400803" cy="685644"/>
          </a:xfrm>
          <a:prstGeom prst="rect">
            <a:avLst/>
          </a:prstGeom>
          <a:solidFill>
            <a:srgbClr val="C0392B"/>
          </a:solidFill>
          <a:ln/>
        </p:spPr>
        <p:txBody>
          <a:bodyPr/>
          <a:lstStyle/>
          <a:p>
            <a:endParaRPr lang="es-PE"/>
          </a:p>
        </p:txBody>
      </p:sp>
      <p:sp>
        <p:nvSpPr>
          <p:cNvPr id="107" name="Text 104"/>
          <p:cNvSpPr txBox="1"/>
          <p:nvPr/>
        </p:nvSpPr>
        <p:spPr>
          <a:xfrm>
            <a:off x="7820381" y="4766097"/>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143.8</a:t>
            </a:r>
            <a:endParaRPr lang="en-US" sz="650"/>
          </a:p>
        </p:txBody>
      </p:sp>
      <p:sp>
        <p:nvSpPr>
          <p:cNvPr id="108" name="Text 105"/>
          <p:cNvSpPr txBox="1"/>
          <p:nvPr/>
        </p:nvSpPr>
        <p:spPr>
          <a:xfrm>
            <a:off x="7728941" y="418553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09" name="Shape 106"/>
          <p:cNvSpPr/>
          <p:nvPr/>
        </p:nvSpPr>
        <p:spPr>
          <a:xfrm>
            <a:off x="8610966" y="5182071"/>
            <a:ext cx="400803" cy="125399"/>
          </a:xfrm>
          <a:prstGeom prst="rect">
            <a:avLst/>
          </a:prstGeom>
          <a:solidFill>
            <a:srgbClr val="C0392B"/>
          </a:solidFill>
          <a:ln/>
        </p:spPr>
        <p:txBody>
          <a:bodyPr/>
          <a:lstStyle/>
          <a:p>
            <a:endParaRPr lang="es-PE"/>
          </a:p>
        </p:txBody>
      </p:sp>
      <p:sp>
        <p:nvSpPr>
          <p:cNvPr id="110" name="Text 107"/>
          <p:cNvSpPr txBox="1"/>
          <p:nvPr/>
        </p:nvSpPr>
        <p:spPr>
          <a:xfrm>
            <a:off x="9039201" y="517161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26.3</a:t>
            </a:r>
            <a:endParaRPr lang="en-US" sz="650"/>
          </a:p>
        </p:txBody>
      </p:sp>
      <p:sp>
        <p:nvSpPr>
          <p:cNvPr id="111" name="Text 108"/>
          <p:cNvSpPr txBox="1"/>
          <p:nvPr/>
        </p:nvSpPr>
        <p:spPr>
          <a:xfrm>
            <a:off x="8318358" y="487117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12" name="Shape 109"/>
          <p:cNvSpPr/>
          <p:nvPr/>
        </p:nvSpPr>
        <p:spPr>
          <a:xfrm>
            <a:off x="7832936" y="4496427"/>
            <a:ext cx="188613" cy="0"/>
          </a:xfrm>
          <a:prstGeom prst="line">
            <a:avLst/>
          </a:prstGeom>
          <a:noFill/>
          <a:ln w="6350">
            <a:solidFill>
              <a:srgbClr val="6E7E7D"/>
            </a:solidFill>
            <a:prstDash val="sysDot"/>
          </a:ln>
        </p:spPr>
        <p:txBody>
          <a:bodyPr/>
          <a:lstStyle/>
          <a:p>
            <a:endParaRPr lang="es-PE"/>
          </a:p>
        </p:txBody>
      </p:sp>
      <p:sp>
        <p:nvSpPr>
          <p:cNvPr id="113" name="Shape 110"/>
          <p:cNvSpPr/>
          <p:nvPr/>
        </p:nvSpPr>
        <p:spPr>
          <a:xfrm>
            <a:off x="8422353" y="5182071"/>
            <a:ext cx="188613" cy="0"/>
          </a:xfrm>
          <a:prstGeom prst="line">
            <a:avLst/>
          </a:prstGeom>
          <a:noFill/>
          <a:ln w="6350">
            <a:solidFill>
              <a:srgbClr val="6E7E7D"/>
            </a:solidFill>
            <a:prstDash val="sysDot"/>
          </a:ln>
        </p:spPr>
        <p:txBody>
          <a:bodyPr/>
          <a:lstStyle/>
          <a:p>
            <a:endParaRPr lang="es-PE"/>
          </a:p>
        </p:txBody>
      </p:sp>
      <p:sp>
        <p:nvSpPr>
          <p:cNvPr id="114" name="Shape 111"/>
          <p:cNvSpPr/>
          <p:nvPr/>
        </p:nvSpPr>
        <p:spPr>
          <a:xfrm>
            <a:off x="9011769" y="5307471"/>
            <a:ext cx="188613" cy="0"/>
          </a:xfrm>
          <a:prstGeom prst="line">
            <a:avLst/>
          </a:prstGeom>
          <a:noFill/>
          <a:ln w="6350">
            <a:solidFill>
              <a:srgbClr val="6E7E7D"/>
            </a:solidFill>
            <a:prstDash val="sysDot"/>
          </a:ln>
        </p:spPr>
        <p:txBody>
          <a:bodyPr/>
          <a:lstStyle/>
          <a:p>
            <a:endParaRPr lang="es-PE"/>
          </a:p>
        </p:txBody>
      </p:sp>
      <p:sp>
        <p:nvSpPr>
          <p:cNvPr id="115" name="Shape 112"/>
          <p:cNvSpPr/>
          <p:nvPr/>
        </p:nvSpPr>
        <p:spPr>
          <a:xfrm>
            <a:off x="6410626" y="5678424"/>
            <a:ext cx="3434036" cy="0"/>
          </a:xfrm>
          <a:prstGeom prst="line">
            <a:avLst/>
          </a:prstGeom>
          <a:noFill/>
          <a:ln w="9525">
            <a:solidFill>
              <a:srgbClr val="0B2E2C"/>
            </a:solidFill>
            <a:prstDash val="solid"/>
          </a:ln>
        </p:spPr>
        <p:txBody>
          <a:bodyPr/>
          <a:lstStyle/>
          <a:p>
            <a:endParaRPr lang="es-PE"/>
          </a:p>
        </p:txBody>
      </p:sp>
      <p:sp>
        <p:nvSpPr>
          <p:cNvPr id="116" name="Shape 113"/>
          <p:cNvSpPr/>
          <p:nvPr/>
        </p:nvSpPr>
        <p:spPr>
          <a:xfrm>
            <a:off x="10763707" y="3817620"/>
            <a:ext cx="4833214" cy="292608"/>
          </a:xfrm>
          <a:prstGeom prst="rect">
            <a:avLst/>
          </a:prstGeom>
          <a:solidFill>
            <a:srgbClr val="13807B"/>
          </a:solidFill>
          <a:ln/>
        </p:spPr>
        <p:txBody>
          <a:bodyPr/>
          <a:lstStyle/>
          <a:p>
            <a:endParaRPr lang="es-PE"/>
          </a:p>
        </p:txBody>
      </p:sp>
      <p:sp>
        <p:nvSpPr>
          <p:cNvPr id="117" name="Text 114"/>
          <p:cNvSpPr txBox="1"/>
          <p:nvPr/>
        </p:nvSpPr>
        <p:spPr>
          <a:xfrm>
            <a:off x="10855147" y="3817620"/>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Cliente por Reactivar</a:t>
            </a:r>
            <a:endParaRPr lang="en-US" sz="1000"/>
          </a:p>
        </p:txBody>
      </p:sp>
      <p:sp>
        <p:nvSpPr>
          <p:cNvPr id="118" name="Shape 115"/>
          <p:cNvSpPr/>
          <p:nvPr/>
        </p:nvSpPr>
        <p:spPr>
          <a:xfrm>
            <a:off x="10763707" y="4110228"/>
            <a:ext cx="4833214" cy="1879092"/>
          </a:xfrm>
          <a:prstGeom prst="rect">
            <a:avLst/>
          </a:prstGeom>
          <a:solidFill>
            <a:srgbClr val="FFFFFF"/>
          </a:solidFill>
          <a:ln w="9525">
            <a:solidFill>
              <a:srgbClr val="D5DFDE"/>
            </a:solidFill>
            <a:prstDash val="solid"/>
          </a:ln>
        </p:spPr>
        <p:txBody>
          <a:bodyPr/>
          <a:lstStyle/>
          <a:p>
            <a:endParaRPr lang="es-PE"/>
          </a:p>
        </p:txBody>
      </p:sp>
      <p:sp>
        <p:nvSpPr>
          <p:cNvPr id="119" name="Shape 116"/>
          <p:cNvSpPr/>
          <p:nvPr/>
        </p:nvSpPr>
        <p:spPr>
          <a:xfrm>
            <a:off x="11518160" y="4366260"/>
            <a:ext cx="589416" cy="1312164"/>
          </a:xfrm>
          <a:prstGeom prst="rect">
            <a:avLst/>
          </a:prstGeom>
          <a:solidFill>
            <a:srgbClr val="13807B"/>
          </a:solidFill>
          <a:ln/>
        </p:spPr>
        <p:txBody>
          <a:bodyPr/>
          <a:lstStyle/>
          <a:p>
            <a:endParaRPr lang="es-PE"/>
          </a:p>
        </p:txBody>
      </p:sp>
      <p:sp>
        <p:nvSpPr>
          <p:cNvPr id="120" name="Text 117"/>
          <p:cNvSpPr txBox="1"/>
          <p:nvPr/>
        </p:nvSpPr>
        <p:spPr>
          <a:xfrm>
            <a:off x="11335280" y="4165092"/>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89.5</a:t>
            </a:r>
            <a:endParaRPr lang="en-US" sz="800"/>
          </a:p>
        </p:txBody>
      </p:sp>
      <p:sp>
        <p:nvSpPr>
          <p:cNvPr id="121" name="Text 118"/>
          <p:cNvSpPr txBox="1"/>
          <p:nvPr/>
        </p:nvSpPr>
        <p:spPr>
          <a:xfrm>
            <a:off x="1124384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2" name="Shape 119"/>
          <p:cNvSpPr/>
          <p:nvPr/>
        </p:nvSpPr>
        <p:spPr>
          <a:xfrm>
            <a:off x="12296190" y="4537794"/>
            <a:ext cx="589416" cy="1140630"/>
          </a:xfrm>
          <a:prstGeom prst="rect">
            <a:avLst/>
          </a:prstGeom>
          <a:solidFill>
            <a:srgbClr val="5AA6A3"/>
          </a:solidFill>
          <a:ln/>
        </p:spPr>
        <p:txBody>
          <a:bodyPr/>
          <a:lstStyle/>
          <a:p>
            <a:endParaRPr lang="es-PE"/>
          </a:p>
        </p:txBody>
      </p:sp>
      <p:sp>
        <p:nvSpPr>
          <p:cNvPr id="123" name="Text 120"/>
          <p:cNvSpPr txBox="1"/>
          <p:nvPr/>
        </p:nvSpPr>
        <p:spPr>
          <a:xfrm>
            <a:off x="12113310" y="433662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77.8</a:t>
            </a:r>
            <a:endParaRPr lang="en-US" sz="800"/>
          </a:p>
        </p:txBody>
      </p:sp>
      <p:sp>
        <p:nvSpPr>
          <p:cNvPr id="124" name="Text 121"/>
          <p:cNvSpPr txBox="1"/>
          <p:nvPr/>
        </p:nvSpPr>
        <p:spPr>
          <a:xfrm>
            <a:off x="12021870"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25" name="Shape 122"/>
          <p:cNvSpPr/>
          <p:nvPr/>
        </p:nvSpPr>
        <p:spPr>
          <a:xfrm>
            <a:off x="14253052" y="5306033"/>
            <a:ext cx="589416" cy="372391"/>
          </a:xfrm>
          <a:prstGeom prst="rect">
            <a:avLst/>
          </a:prstGeom>
          <a:solidFill>
            <a:srgbClr val="0B2E2C"/>
          </a:solidFill>
          <a:ln/>
        </p:spPr>
        <p:txBody>
          <a:bodyPr/>
          <a:lstStyle/>
          <a:p>
            <a:endParaRPr lang="es-PE"/>
          </a:p>
        </p:txBody>
      </p:sp>
      <p:sp>
        <p:nvSpPr>
          <p:cNvPr id="126" name="Text 123"/>
          <p:cNvSpPr txBox="1"/>
          <p:nvPr/>
        </p:nvSpPr>
        <p:spPr>
          <a:xfrm>
            <a:off x="14070172" y="5104865"/>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25.4</a:t>
            </a:r>
            <a:endParaRPr lang="en-US" sz="800"/>
          </a:p>
        </p:txBody>
      </p:sp>
      <p:sp>
        <p:nvSpPr>
          <p:cNvPr id="127" name="Text 124"/>
          <p:cNvSpPr txBox="1"/>
          <p:nvPr/>
        </p:nvSpPr>
        <p:spPr>
          <a:xfrm>
            <a:off x="13978732" y="571500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28" name="Shape 125"/>
          <p:cNvSpPr/>
          <p:nvPr/>
        </p:nvSpPr>
        <p:spPr>
          <a:xfrm>
            <a:off x="13074219" y="4537794"/>
            <a:ext cx="400803" cy="646552"/>
          </a:xfrm>
          <a:prstGeom prst="rect">
            <a:avLst/>
          </a:prstGeom>
          <a:solidFill>
            <a:srgbClr val="C0392B"/>
          </a:solidFill>
          <a:ln/>
        </p:spPr>
        <p:txBody>
          <a:bodyPr/>
          <a:lstStyle/>
          <a:p>
            <a:endParaRPr lang="es-PE"/>
          </a:p>
        </p:txBody>
      </p:sp>
      <p:sp>
        <p:nvSpPr>
          <p:cNvPr id="129" name="Text 126"/>
          <p:cNvSpPr txBox="1"/>
          <p:nvPr/>
        </p:nvSpPr>
        <p:spPr>
          <a:xfrm>
            <a:off x="12873051" y="4787918"/>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44.1</a:t>
            </a:r>
            <a:endParaRPr lang="en-US" sz="650"/>
          </a:p>
        </p:txBody>
      </p:sp>
      <p:sp>
        <p:nvSpPr>
          <p:cNvPr id="130" name="Text 127"/>
          <p:cNvSpPr txBox="1"/>
          <p:nvPr/>
        </p:nvSpPr>
        <p:spPr>
          <a:xfrm>
            <a:off x="12781611" y="422689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131" name="Shape 128"/>
          <p:cNvSpPr/>
          <p:nvPr/>
        </p:nvSpPr>
        <p:spPr>
          <a:xfrm>
            <a:off x="13663635" y="5184347"/>
            <a:ext cx="400803" cy="121687"/>
          </a:xfrm>
          <a:prstGeom prst="rect">
            <a:avLst/>
          </a:prstGeom>
          <a:solidFill>
            <a:srgbClr val="C0392B"/>
          </a:solidFill>
          <a:ln/>
        </p:spPr>
        <p:txBody>
          <a:bodyPr/>
          <a:lstStyle/>
          <a:p>
            <a:endParaRPr lang="es-PE"/>
          </a:p>
        </p:txBody>
      </p:sp>
      <p:sp>
        <p:nvSpPr>
          <p:cNvPr id="132" name="Text 129"/>
          <p:cNvSpPr txBox="1"/>
          <p:nvPr/>
        </p:nvSpPr>
        <p:spPr>
          <a:xfrm>
            <a:off x="14091870" y="5172038"/>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8.3</a:t>
            </a:r>
            <a:endParaRPr lang="en-US" sz="650"/>
          </a:p>
        </p:txBody>
      </p:sp>
      <p:sp>
        <p:nvSpPr>
          <p:cNvPr id="133" name="Text 130"/>
          <p:cNvSpPr txBox="1"/>
          <p:nvPr/>
        </p:nvSpPr>
        <p:spPr>
          <a:xfrm>
            <a:off x="13371027" y="487345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134" name="Shape 131"/>
          <p:cNvSpPr/>
          <p:nvPr/>
        </p:nvSpPr>
        <p:spPr>
          <a:xfrm>
            <a:off x="12885606" y="4537794"/>
            <a:ext cx="188613" cy="0"/>
          </a:xfrm>
          <a:prstGeom prst="line">
            <a:avLst/>
          </a:prstGeom>
          <a:noFill/>
          <a:ln w="6350">
            <a:solidFill>
              <a:srgbClr val="6E7E7D"/>
            </a:solidFill>
            <a:prstDash val="sysDot"/>
          </a:ln>
        </p:spPr>
        <p:txBody>
          <a:bodyPr/>
          <a:lstStyle/>
          <a:p>
            <a:endParaRPr lang="es-PE"/>
          </a:p>
        </p:txBody>
      </p:sp>
      <p:sp>
        <p:nvSpPr>
          <p:cNvPr id="135" name="Shape 132"/>
          <p:cNvSpPr/>
          <p:nvPr/>
        </p:nvSpPr>
        <p:spPr>
          <a:xfrm>
            <a:off x="13475022" y="5184347"/>
            <a:ext cx="188613" cy="0"/>
          </a:xfrm>
          <a:prstGeom prst="line">
            <a:avLst/>
          </a:prstGeom>
          <a:noFill/>
          <a:ln w="6350">
            <a:solidFill>
              <a:srgbClr val="6E7E7D"/>
            </a:solidFill>
            <a:prstDash val="sysDot"/>
          </a:ln>
        </p:spPr>
        <p:txBody>
          <a:bodyPr/>
          <a:lstStyle/>
          <a:p>
            <a:endParaRPr lang="es-PE"/>
          </a:p>
        </p:txBody>
      </p:sp>
      <p:sp>
        <p:nvSpPr>
          <p:cNvPr id="136" name="Shape 133"/>
          <p:cNvSpPr/>
          <p:nvPr/>
        </p:nvSpPr>
        <p:spPr>
          <a:xfrm>
            <a:off x="14064438" y="5306033"/>
            <a:ext cx="188613" cy="0"/>
          </a:xfrm>
          <a:prstGeom prst="line">
            <a:avLst/>
          </a:prstGeom>
          <a:noFill/>
          <a:ln w="6350">
            <a:solidFill>
              <a:srgbClr val="6E7E7D"/>
            </a:solidFill>
            <a:prstDash val="sysDot"/>
          </a:ln>
        </p:spPr>
        <p:txBody>
          <a:bodyPr/>
          <a:lstStyle/>
          <a:p>
            <a:endParaRPr lang="es-PE"/>
          </a:p>
        </p:txBody>
      </p:sp>
      <p:sp>
        <p:nvSpPr>
          <p:cNvPr id="137" name="Shape 134"/>
          <p:cNvSpPr/>
          <p:nvPr/>
        </p:nvSpPr>
        <p:spPr>
          <a:xfrm>
            <a:off x="11463296" y="5678424"/>
            <a:ext cx="3434036" cy="0"/>
          </a:xfrm>
          <a:prstGeom prst="line">
            <a:avLst/>
          </a:prstGeom>
          <a:noFill/>
          <a:ln w="9525">
            <a:solidFill>
              <a:srgbClr val="0B2E2C"/>
            </a:solidFill>
            <a:prstDash val="solid"/>
          </a:ln>
        </p:spPr>
        <p:txBody>
          <a:bodyPr/>
          <a:lstStyle/>
          <a:p>
            <a:endParaRPr lang="es-PE"/>
          </a:p>
        </p:txBody>
      </p:sp>
      <p:sp>
        <p:nvSpPr>
          <p:cNvPr id="138" name="Shape 135"/>
          <p:cNvSpPr/>
          <p:nvPr/>
        </p:nvSpPr>
        <p:spPr>
          <a:xfrm>
            <a:off x="658368" y="6172200"/>
            <a:ext cx="14938553" cy="1655064"/>
          </a:xfrm>
          <a:prstGeom prst="rect">
            <a:avLst/>
          </a:prstGeom>
          <a:solidFill>
            <a:srgbClr val="F6FBFA"/>
          </a:solidFill>
          <a:ln w="9525">
            <a:solidFill>
              <a:srgbClr val="D5DFDE"/>
            </a:solidFill>
            <a:prstDash val="solid"/>
          </a:ln>
        </p:spPr>
        <p:txBody>
          <a:bodyPr/>
          <a:lstStyle/>
          <a:p>
            <a:endParaRPr lang="es-PE"/>
          </a:p>
        </p:txBody>
      </p:sp>
      <p:sp>
        <p:nvSpPr>
          <p:cNvPr id="139" name="Text 136"/>
          <p:cNvSpPr txBox="1"/>
          <p:nvPr/>
        </p:nvSpPr>
        <p:spPr>
          <a:xfrm>
            <a:off x="914400" y="630021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140" name="Text 137"/>
          <p:cNvSpPr txBox="1"/>
          <p:nvPr/>
        </p:nvSpPr>
        <p:spPr>
          <a:xfrm>
            <a:off x="914400" y="653796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domina en los 6 en monto, igual que en unidades: Gran Cuenta por Conquistar (S/143.8 vs. 26.3 MM), Maduro Multibanco (S/134.4 vs. 22.0 MM), Cuenta Estratégica (S/110.4 vs. 15.2 MM), Socio en Crecimiento (S/91.3 vs. 11.7 MM), Cliente Ancla (S/59.4 vs. 11.8 MM) y Cliente por Reactivar (S/44.1 vs. 8.3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Gran Cuenta por Conquistar pasa a ser el caso más marcado en monto (S/143.8 MM en "monto no comparable", el mayor de los 6) — sus tickets observados frente a la competencia son los más dispares de la cartera con deuda.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se mantiene chico en los 6 (S/8.3-26.3 MM) — la lectura de monto confirma la de unidades: el techo del share con deuda es el desajuste de ticket, no la falta de seguimiento comercial.</a:t>
            </a:r>
            <a:endParaRPr lang="en-US" sz="1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UNIDADES (N)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los 3 clusters sin deuda pasa lo mismo: domina por mucho el desajuste de monto</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199</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134458"/>
            <a:ext cx="589416" cy="3361086"/>
          </a:xfrm>
          <a:prstGeom prst="rect">
            <a:avLst/>
          </a:prstGeom>
          <a:solidFill>
            <a:srgbClr val="5AA6A3"/>
          </a:solidFill>
          <a:ln/>
        </p:spPr>
        <p:txBody>
          <a:bodyPr/>
          <a:lstStyle/>
          <a:p>
            <a:endParaRPr lang="es-PE"/>
          </a:p>
        </p:txBody>
      </p:sp>
      <p:sp>
        <p:nvSpPr>
          <p:cNvPr id="13" name="Text 10"/>
          <p:cNvSpPr txBox="1"/>
          <p:nvPr/>
        </p:nvSpPr>
        <p:spPr>
          <a:xfrm>
            <a:off x="2007970" y="193329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193</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430512"/>
            <a:ext cx="589416" cy="3065032"/>
          </a:xfrm>
          <a:prstGeom prst="rect">
            <a:avLst/>
          </a:prstGeom>
          <a:solidFill>
            <a:srgbClr val="0B2E2C"/>
          </a:solidFill>
          <a:ln/>
        </p:spPr>
        <p:txBody>
          <a:bodyPr/>
          <a:lstStyle/>
          <a:p>
            <a:endParaRPr lang="es-PE"/>
          </a:p>
        </p:txBody>
      </p:sp>
      <p:sp>
        <p:nvSpPr>
          <p:cNvPr id="16" name="Text 13"/>
          <p:cNvSpPr txBox="1"/>
          <p:nvPr/>
        </p:nvSpPr>
        <p:spPr>
          <a:xfrm>
            <a:off x="3964832" y="222934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176</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134458"/>
            <a:ext cx="400803" cy="278639"/>
          </a:xfrm>
          <a:prstGeom prst="rect">
            <a:avLst/>
          </a:prstGeom>
          <a:solidFill>
            <a:srgbClr val="C0392B"/>
          </a:solidFill>
          <a:ln/>
        </p:spPr>
        <p:txBody>
          <a:bodyPr/>
          <a:lstStyle/>
          <a:p>
            <a:endParaRPr lang="es-PE"/>
          </a:p>
        </p:txBody>
      </p:sp>
      <p:sp>
        <p:nvSpPr>
          <p:cNvPr id="19" name="Text 16"/>
          <p:cNvSpPr txBox="1"/>
          <p:nvPr/>
        </p:nvSpPr>
        <p:spPr>
          <a:xfrm>
            <a:off x="2767712" y="220062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16</a:t>
            </a:r>
            <a:endParaRPr lang="en-US" sz="650"/>
          </a:p>
        </p:txBody>
      </p:sp>
      <p:sp>
        <p:nvSpPr>
          <p:cNvPr id="20" name="Text 17"/>
          <p:cNvSpPr txBox="1"/>
          <p:nvPr/>
        </p:nvSpPr>
        <p:spPr>
          <a:xfrm>
            <a:off x="2676272" y="1823562"/>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413097"/>
            <a:ext cx="400803" cy="18288"/>
          </a:xfrm>
          <a:prstGeom prst="rect">
            <a:avLst/>
          </a:prstGeom>
          <a:solidFill>
            <a:srgbClr val="C0392B"/>
          </a:solidFill>
          <a:ln/>
        </p:spPr>
        <p:txBody>
          <a:bodyPr/>
          <a:lstStyle/>
          <a:p>
            <a:endParaRPr lang="es-PE"/>
          </a:p>
        </p:txBody>
      </p:sp>
      <p:sp>
        <p:nvSpPr>
          <p:cNvPr id="22" name="Text 19"/>
          <p:cNvSpPr txBox="1"/>
          <p:nvPr/>
        </p:nvSpPr>
        <p:spPr>
          <a:xfrm>
            <a:off x="3986531" y="234908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a:t>
            </a:r>
            <a:endParaRPr lang="en-US" sz="650"/>
          </a:p>
        </p:txBody>
      </p:sp>
      <p:sp>
        <p:nvSpPr>
          <p:cNvPr id="23" name="Text 20"/>
          <p:cNvSpPr txBox="1"/>
          <p:nvPr/>
        </p:nvSpPr>
        <p:spPr>
          <a:xfrm>
            <a:off x="3265688" y="210220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134458"/>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413097"/>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430512"/>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165</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113982"/>
            <a:ext cx="589416" cy="3381562"/>
          </a:xfrm>
          <a:prstGeom prst="rect">
            <a:avLst/>
          </a:prstGeom>
          <a:solidFill>
            <a:srgbClr val="5AA6A3"/>
          </a:solidFill>
          <a:ln/>
        </p:spPr>
        <p:txBody>
          <a:bodyPr/>
          <a:lstStyle/>
          <a:p>
            <a:endParaRPr lang="es-PE"/>
          </a:p>
        </p:txBody>
      </p:sp>
      <p:sp>
        <p:nvSpPr>
          <p:cNvPr id="35" name="Text 32"/>
          <p:cNvSpPr txBox="1"/>
          <p:nvPr/>
        </p:nvSpPr>
        <p:spPr>
          <a:xfrm>
            <a:off x="7060640" y="1912814"/>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161</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2786094"/>
            <a:ext cx="589416" cy="2709450"/>
          </a:xfrm>
          <a:prstGeom prst="rect">
            <a:avLst/>
          </a:prstGeom>
          <a:solidFill>
            <a:srgbClr val="0B2E2C"/>
          </a:solidFill>
          <a:ln/>
        </p:spPr>
        <p:txBody>
          <a:bodyPr/>
          <a:lstStyle/>
          <a:p>
            <a:endParaRPr lang="es-PE"/>
          </a:p>
        </p:txBody>
      </p:sp>
      <p:sp>
        <p:nvSpPr>
          <p:cNvPr id="38" name="Text 35"/>
          <p:cNvSpPr txBox="1"/>
          <p:nvPr/>
        </p:nvSpPr>
        <p:spPr>
          <a:xfrm>
            <a:off x="9017502" y="258492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129</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113982"/>
            <a:ext cx="400803" cy="651108"/>
          </a:xfrm>
          <a:prstGeom prst="rect">
            <a:avLst/>
          </a:prstGeom>
          <a:solidFill>
            <a:srgbClr val="C0392B"/>
          </a:solidFill>
          <a:ln/>
        </p:spPr>
        <p:txBody>
          <a:bodyPr/>
          <a:lstStyle/>
          <a:p>
            <a:endParaRPr lang="es-PE"/>
          </a:p>
        </p:txBody>
      </p:sp>
      <p:sp>
        <p:nvSpPr>
          <p:cNvPr id="41" name="Text 38"/>
          <p:cNvSpPr txBox="1"/>
          <p:nvPr/>
        </p:nvSpPr>
        <p:spPr>
          <a:xfrm>
            <a:off x="7820381" y="2366384"/>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31</a:t>
            </a:r>
            <a:endParaRPr lang="en-US" sz="650"/>
          </a:p>
        </p:txBody>
      </p:sp>
      <p:sp>
        <p:nvSpPr>
          <p:cNvPr id="42" name="Text 39"/>
          <p:cNvSpPr txBox="1"/>
          <p:nvPr/>
        </p:nvSpPr>
        <p:spPr>
          <a:xfrm>
            <a:off x="7728941" y="1803086"/>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2765090"/>
            <a:ext cx="400803" cy="21003"/>
          </a:xfrm>
          <a:prstGeom prst="rect">
            <a:avLst/>
          </a:prstGeom>
          <a:solidFill>
            <a:srgbClr val="C0392B"/>
          </a:solidFill>
          <a:ln/>
        </p:spPr>
        <p:txBody>
          <a:bodyPr/>
          <a:lstStyle/>
          <a:p>
            <a:endParaRPr lang="es-PE"/>
          </a:p>
        </p:txBody>
      </p:sp>
      <p:sp>
        <p:nvSpPr>
          <p:cNvPr id="44" name="Text 41"/>
          <p:cNvSpPr txBox="1"/>
          <p:nvPr/>
        </p:nvSpPr>
        <p:spPr>
          <a:xfrm>
            <a:off x="9039201" y="2702440"/>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1</a:t>
            </a:r>
            <a:endParaRPr lang="en-US" sz="650"/>
          </a:p>
        </p:txBody>
      </p:sp>
      <p:sp>
        <p:nvSpPr>
          <p:cNvPr id="45" name="Text 42"/>
          <p:cNvSpPr txBox="1"/>
          <p:nvPr/>
        </p:nvSpPr>
        <p:spPr>
          <a:xfrm>
            <a:off x="8318358" y="2454194"/>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113982"/>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2765090"/>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2786094"/>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295</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76959"/>
            <a:ext cx="589416" cy="3418585"/>
          </a:xfrm>
          <a:prstGeom prst="rect">
            <a:avLst/>
          </a:prstGeom>
          <a:solidFill>
            <a:srgbClr val="5AA6A3"/>
          </a:solidFill>
          <a:ln/>
        </p:spPr>
        <p:txBody>
          <a:bodyPr/>
          <a:lstStyle/>
          <a:p>
            <a:endParaRPr lang="es-PE"/>
          </a:p>
        </p:txBody>
      </p:sp>
      <p:sp>
        <p:nvSpPr>
          <p:cNvPr id="57" name="Text 54"/>
          <p:cNvSpPr txBox="1"/>
          <p:nvPr/>
        </p:nvSpPr>
        <p:spPr>
          <a:xfrm>
            <a:off x="12113310" y="1875791"/>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291</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2734831"/>
            <a:ext cx="589416" cy="2760713"/>
          </a:xfrm>
          <a:prstGeom prst="rect">
            <a:avLst/>
          </a:prstGeom>
          <a:solidFill>
            <a:srgbClr val="0B2E2C"/>
          </a:solidFill>
          <a:ln/>
        </p:spPr>
        <p:txBody>
          <a:bodyPr/>
          <a:lstStyle/>
          <a:p>
            <a:endParaRPr lang="es-PE"/>
          </a:p>
        </p:txBody>
      </p:sp>
      <p:sp>
        <p:nvSpPr>
          <p:cNvPr id="60" name="Text 57"/>
          <p:cNvSpPr txBox="1"/>
          <p:nvPr/>
        </p:nvSpPr>
        <p:spPr>
          <a:xfrm>
            <a:off x="14070172" y="253366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235</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76959"/>
            <a:ext cx="400803" cy="634377"/>
          </a:xfrm>
          <a:prstGeom prst="rect">
            <a:avLst/>
          </a:prstGeom>
          <a:solidFill>
            <a:srgbClr val="C0392B"/>
          </a:solidFill>
          <a:ln/>
        </p:spPr>
        <p:txBody>
          <a:bodyPr/>
          <a:lstStyle/>
          <a:p>
            <a:endParaRPr lang="es-PE"/>
          </a:p>
        </p:txBody>
      </p:sp>
      <p:sp>
        <p:nvSpPr>
          <p:cNvPr id="63" name="Text 60"/>
          <p:cNvSpPr txBox="1"/>
          <p:nvPr/>
        </p:nvSpPr>
        <p:spPr>
          <a:xfrm>
            <a:off x="12873051" y="2320995"/>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54</a:t>
            </a:r>
            <a:endParaRPr lang="en-US" sz="650"/>
          </a:p>
        </p:txBody>
      </p:sp>
      <p:sp>
        <p:nvSpPr>
          <p:cNvPr id="64" name="Text 61"/>
          <p:cNvSpPr txBox="1"/>
          <p:nvPr/>
        </p:nvSpPr>
        <p:spPr>
          <a:xfrm>
            <a:off x="12781611" y="1766063"/>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2711335"/>
            <a:ext cx="400803" cy="23495"/>
          </a:xfrm>
          <a:prstGeom prst="rect">
            <a:avLst/>
          </a:prstGeom>
          <a:solidFill>
            <a:srgbClr val="C0392B"/>
          </a:solidFill>
          <a:ln/>
        </p:spPr>
        <p:txBody>
          <a:bodyPr/>
          <a:lstStyle/>
          <a:p>
            <a:endParaRPr lang="es-PE"/>
          </a:p>
        </p:txBody>
      </p:sp>
      <p:sp>
        <p:nvSpPr>
          <p:cNvPr id="66" name="Text 63"/>
          <p:cNvSpPr txBox="1"/>
          <p:nvPr/>
        </p:nvSpPr>
        <p:spPr>
          <a:xfrm>
            <a:off x="14091870" y="2649931"/>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2</a:t>
            </a:r>
            <a:endParaRPr lang="en-US" sz="650"/>
          </a:p>
        </p:txBody>
      </p:sp>
      <p:sp>
        <p:nvSpPr>
          <p:cNvPr id="67" name="Text 64"/>
          <p:cNvSpPr txBox="1"/>
          <p:nvPr/>
        </p:nvSpPr>
        <p:spPr>
          <a:xfrm>
            <a:off x="13371027" y="2400439"/>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76959"/>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2711335"/>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2734831"/>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con una brecha todavía mayor que en con deuda: Próximo Recurrente (54 vs. 2), Nuevo en Expansión (31 vs. 1) y Emprendedor Izipay (16 vs. 1).</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En términos relativos, el filtro de monto retira entre el 8% y el 18% del universo inicial — menos en volumen absoluto que en cualquier cluster con deuda, pero igual de dominante como categoría frente a "no gestionado".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"No gestionado" prácticamente no existe en estos 3 clusters (1-2 casos) — confirma que aquí no hay margen de gestión comercial por ganar, ni en unidades ni en monto.</a:t>
            </a:r>
            <a:endParaRPr lang="en-US" sz="1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329184"/>
            <a:ext cx="13990320" cy="201168"/>
          </a:xfrm>
          <a:prstGeom prst="rect">
            <a:avLst/>
          </a:prstGeom>
          <a:noFill/>
          <a:ln/>
        </p:spPr>
        <p:txBody>
          <a:bodyPr wrap="square" lIns="0" tIns="0" rIns="0" bIns="0" rtlCol="0" anchor="ctr"/>
          <a:lstStyle/>
          <a:p>
            <a:pPr marL="0" indent="0">
              <a:buNone/>
            </a:pPr>
            <a:r>
              <a:rPr lang="en-US" sz="950" b="1">
                <a:solidFill>
                  <a:srgbClr val="13807B"/>
                </a:solidFill>
                <a:latin typeface="Arial" pitchFamily="34" charset="0"/>
                <a:ea typeface="Arial" pitchFamily="34" charset="-122"/>
                <a:cs typeface="Arial" pitchFamily="34" charset="-120"/>
              </a:rPr>
              <a:t>SEGMENTACIÓN ESTRATÉGICA · DESEMBOLSOS EN RCC CON LEAD CT · SIN DEUDA · MONTO (S/ MM) · 2026 (ENERO-JUNIO, Q1+Q2)</a:t>
            </a:r>
            <a:endParaRPr lang="en-US" sz="950"/>
          </a:p>
        </p:txBody>
      </p:sp>
      <p:sp>
        <p:nvSpPr>
          <p:cNvPr id="3" name="Text 1"/>
          <p:cNvSpPr txBox="1"/>
          <p:nvPr/>
        </p:nvSpPr>
        <p:spPr>
          <a:xfrm>
            <a:off x="658368" y="548640"/>
            <a:ext cx="13990320" cy="566928"/>
          </a:xfrm>
          <a:prstGeom prst="rect">
            <a:avLst/>
          </a:prstGeom>
          <a:noFill/>
          <a:ln/>
        </p:spPr>
        <p:txBody>
          <a:bodyPr wrap="square" lIns="0" tIns="0" rIns="0" bIns="0" rtlCol="0" anchor="ctr"/>
          <a:lstStyle/>
          <a:p>
            <a:pPr marL="0" indent="0">
              <a:lnSpc>
                <a:spcPct val="98000"/>
              </a:lnSpc>
              <a:buNone/>
            </a:pPr>
            <a:r>
              <a:rPr lang="en-US" sz="1700" b="1">
                <a:solidFill>
                  <a:srgbClr val="0B2E2C"/>
                </a:solidFill>
                <a:latin typeface="Arial" pitchFamily="34" charset="0"/>
                <a:ea typeface="Arial" pitchFamily="34" charset="-122"/>
                <a:cs typeface="Arial" pitchFamily="34" charset="-120"/>
              </a:rPr>
              <a:t>En sin deuda, el desajuste de monto también domina en valor — Próximo Recurrente es el caso más marcado</a:t>
            </a:r>
            <a:endParaRPr lang="en-US" sz="1700"/>
          </a:p>
        </p:txBody>
      </p:sp>
      <p:pic>
        <p:nvPicPr>
          <p:cNvPr id="4" name="Image 0" descr="/home/claude/logo_dark.png"/>
          <p:cNvPicPr>
            <a:picLocks noChangeAspect="1"/>
          </p:cNvPicPr>
          <p:nvPr/>
        </p:nvPicPr>
        <p:blipFill>
          <a:blip r:embed="rId3"/>
          <a:stretch>
            <a:fillRect/>
          </a:stretch>
        </p:blipFill>
        <p:spPr>
          <a:xfrm>
            <a:off x="14773046" y="274320"/>
            <a:ext cx="822960" cy="390266"/>
          </a:xfrm>
          <a:prstGeom prst="rect">
            <a:avLst/>
          </a:prstGeom>
        </p:spPr>
      </p:pic>
      <p:sp>
        <p:nvSpPr>
          <p:cNvPr id="5" name="Shape 2"/>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6" name="Shape 3"/>
          <p:cNvSpPr/>
          <p:nvPr/>
        </p:nvSpPr>
        <p:spPr>
          <a:xfrm>
            <a:off x="658368" y="1481328"/>
            <a:ext cx="4833214" cy="292608"/>
          </a:xfrm>
          <a:prstGeom prst="rect">
            <a:avLst/>
          </a:prstGeom>
          <a:solidFill>
            <a:srgbClr val="13807B"/>
          </a:solidFill>
          <a:ln/>
        </p:spPr>
        <p:txBody>
          <a:bodyPr/>
          <a:lstStyle/>
          <a:p>
            <a:endParaRPr lang="es-PE"/>
          </a:p>
        </p:txBody>
      </p:sp>
      <p:sp>
        <p:nvSpPr>
          <p:cNvPr id="7" name="Text 4"/>
          <p:cNvSpPr txBox="1"/>
          <p:nvPr/>
        </p:nvSpPr>
        <p:spPr>
          <a:xfrm>
            <a:off x="74980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Emprendedor Izipay</a:t>
            </a:r>
            <a:endParaRPr lang="en-US" sz="1000"/>
          </a:p>
        </p:txBody>
      </p:sp>
      <p:sp>
        <p:nvSpPr>
          <p:cNvPr id="8" name="Shape 5"/>
          <p:cNvSpPr/>
          <p:nvPr/>
        </p:nvSpPr>
        <p:spPr>
          <a:xfrm>
            <a:off x="65836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9" name="Shape 6"/>
          <p:cNvSpPr/>
          <p:nvPr/>
        </p:nvSpPr>
        <p:spPr>
          <a:xfrm>
            <a:off x="1412821" y="2029968"/>
            <a:ext cx="589416" cy="3465576"/>
          </a:xfrm>
          <a:prstGeom prst="rect">
            <a:avLst/>
          </a:prstGeom>
          <a:solidFill>
            <a:srgbClr val="13807B"/>
          </a:solidFill>
          <a:ln/>
        </p:spPr>
        <p:txBody>
          <a:bodyPr/>
          <a:lstStyle/>
          <a:p>
            <a:endParaRPr lang="es-PE"/>
          </a:p>
        </p:txBody>
      </p:sp>
      <p:sp>
        <p:nvSpPr>
          <p:cNvPr id="10" name="Text 7"/>
          <p:cNvSpPr txBox="1"/>
          <p:nvPr/>
        </p:nvSpPr>
        <p:spPr>
          <a:xfrm>
            <a:off x="1229941"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14.0</a:t>
            </a:r>
            <a:endParaRPr lang="en-US" sz="800"/>
          </a:p>
        </p:txBody>
      </p:sp>
      <p:sp>
        <p:nvSpPr>
          <p:cNvPr id="11" name="Text 8"/>
          <p:cNvSpPr txBox="1"/>
          <p:nvPr/>
        </p:nvSpPr>
        <p:spPr>
          <a:xfrm>
            <a:off x="1138501"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12" name="Shape 9"/>
          <p:cNvSpPr/>
          <p:nvPr/>
        </p:nvSpPr>
        <p:spPr>
          <a:xfrm>
            <a:off x="2190850" y="2351771"/>
            <a:ext cx="589416" cy="3143773"/>
          </a:xfrm>
          <a:prstGeom prst="rect">
            <a:avLst/>
          </a:prstGeom>
          <a:solidFill>
            <a:srgbClr val="5AA6A3"/>
          </a:solidFill>
          <a:ln/>
        </p:spPr>
        <p:txBody>
          <a:bodyPr/>
          <a:lstStyle/>
          <a:p>
            <a:endParaRPr lang="es-PE"/>
          </a:p>
        </p:txBody>
      </p:sp>
      <p:sp>
        <p:nvSpPr>
          <p:cNvPr id="13" name="Text 10"/>
          <p:cNvSpPr txBox="1"/>
          <p:nvPr/>
        </p:nvSpPr>
        <p:spPr>
          <a:xfrm>
            <a:off x="2007970" y="2150603"/>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12.7</a:t>
            </a:r>
            <a:endParaRPr lang="en-US" sz="800"/>
          </a:p>
        </p:txBody>
      </p:sp>
      <p:sp>
        <p:nvSpPr>
          <p:cNvPr id="14" name="Text 11"/>
          <p:cNvSpPr txBox="1"/>
          <p:nvPr/>
        </p:nvSpPr>
        <p:spPr>
          <a:xfrm>
            <a:off x="191653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15" name="Shape 12"/>
          <p:cNvSpPr/>
          <p:nvPr/>
        </p:nvSpPr>
        <p:spPr>
          <a:xfrm>
            <a:off x="4147712" y="2995378"/>
            <a:ext cx="589416" cy="2500166"/>
          </a:xfrm>
          <a:prstGeom prst="rect">
            <a:avLst/>
          </a:prstGeom>
          <a:solidFill>
            <a:srgbClr val="0B2E2C"/>
          </a:solidFill>
          <a:ln/>
        </p:spPr>
        <p:txBody>
          <a:bodyPr/>
          <a:lstStyle/>
          <a:p>
            <a:endParaRPr lang="es-PE"/>
          </a:p>
        </p:txBody>
      </p:sp>
      <p:sp>
        <p:nvSpPr>
          <p:cNvPr id="16" name="Text 13"/>
          <p:cNvSpPr txBox="1"/>
          <p:nvPr/>
        </p:nvSpPr>
        <p:spPr>
          <a:xfrm>
            <a:off x="3964832" y="279421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10.1</a:t>
            </a:r>
            <a:endParaRPr lang="en-US" sz="800"/>
          </a:p>
        </p:txBody>
      </p:sp>
      <p:sp>
        <p:nvSpPr>
          <p:cNvPr id="17" name="Text 14"/>
          <p:cNvSpPr txBox="1"/>
          <p:nvPr/>
        </p:nvSpPr>
        <p:spPr>
          <a:xfrm>
            <a:off x="387339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18" name="Shape 15"/>
          <p:cNvSpPr/>
          <p:nvPr/>
        </p:nvSpPr>
        <p:spPr>
          <a:xfrm>
            <a:off x="2968880" y="2351771"/>
            <a:ext cx="400803" cy="594099"/>
          </a:xfrm>
          <a:prstGeom prst="rect">
            <a:avLst/>
          </a:prstGeom>
          <a:solidFill>
            <a:srgbClr val="C0392B"/>
          </a:solidFill>
          <a:ln/>
        </p:spPr>
        <p:txBody>
          <a:bodyPr/>
          <a:lstStyle/>
          <a:p>
            <a:endParaRPr lang="es-PE"/>
          </a:p>
        </p:txBody>
      </p:sp>
      <p:sp>
        <p:nvSpPr>
          <p:cNvPr id="19" name="Text 16"/>
          <p:cNvSpPr txBox="1"/>
          <p:nvPr/>
        </p:nvSpPr>
        <p:spPr>
          <a:xfrm>
            <a:off x="2767712" y="257566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2.4</a:t>
            </a:r>
            <a:endParaRPr lang="en-US" sz="650"/>
          </a:p>
        </p:txBody>
      </p:sp>
      <p:sp>
        <p:nvSpPr>
          <p:cNvPr id="20" name="Text 17"/>
          <p:cNvSpPr txBox="1"/>
          <p:nvPr/>
        </p:nvSpPr>
        <p:spPr>
          <a:xfrm>
            <a:off x="2676272" y="2040875"/>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21" name="Shape 18"/>
          <p:cNvSpPr/>
          <p:nvPr/>
        </p:nvSpPr>
        <p:spPr>
          <a:xfrm>
            <a:off x="3558296" y="2945870"/>
            <a:ext cx="400803" cy="49508"/>
          </a:xfrm>
          <a:prstGeom prst="rect">
            <a:avLst/>
          </a:prstGeom>
          <a:solidFill>
            <a:srgbClr val="C0392B"/>
          </a:solidFill>
          <a:ln/>
        </p:spPr>
        <p:txBody>
          <a:bodyPr/>
          <a:lstStyle/>
          <a:p>
            <a:endParaRPr lang="es-PE"/>
          </a:p>
        </p:txBody>
      </p:sp>
      <p:sp>
        <p:nvSpPr>
          <p:cNvPr id="22" name="Text 19"/>
          <p:cNvSpPr txBox="1"/>
          <p:nvPr/>
        </p:nvSpPr>
        <p:spPr>
          <a:xfrm>
            <a:off x="3986531" y="2897472"/>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0.2</a:t>
            </a:r>
            <a:endParaRPr lang="en-US" sz="650"/>
          </a:p>
        </p:txBody>
      </p:sp>
      <p:sp>
        <p:nvSpPr>
          <p:cNvPr id="23" name="Text 20"/>
          <p:cNvSpPr txBox="1"/>
          <p:nvPr/>
        </p:nvSpPr>
        <p:spPr>
          <a:xfrm>
            <a:off x="3265688" y="2634974"/>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24" name="Shape 21"/>
          <p:cNvSpPr/>
          <p:nvPr/>
        </p:nvSpPr>
        <p:spPr>
          <a:xfrm>
            <a:off x="2780267" y="2351771"/>
            <a:ext cx="188613" cy="0"/>
          </a:xfrm>
          <a:prstGeom prst="line">
            <a:avLst/>
          </a:prstGeom>
          <a:noFill/>
          <a:ln w="6350">
            <a:solidFill>
              <a:srgbClr val="6E7E7D"/>
            </a:solidFill>
            <a:prstDash val="sysDot"/>
          </a:ln>
        </p:spPr>
        <p:txBody>
          <a:bodyPr/>
          <a:lstStyle/>
          <a:p>
            <a:endParaRPr lang="es-PE"/>
          </a:p>
        </p:txBody>
      </p:sp>
      <p:sp>
        <p:nvSpPr>
          <p:cNvPr id="25" name="Shape 22"/>
          <p:cNvSpPr/>
          <p:nvPr/>
        </p:nvSpPr>
        <p:spPr>
          <a:xfrm>
            <a:off x="3369683" y="2945870"/>
            <a:ext cx="188613" cy="0"/>
          </a:xfrm>
          <a:prstGeom prst="line">
            <a:avLst/>
          </a:prstGeom>
          <a:noFill/>
          <a:ln w="6350">
            <a:solidFill>
              <a:srgbClr val="6E7E7D"/>
            </a:solidFill>
            <a:prstDash val="sysDot"/>
          </a:ln>
        </p:spPr>
        <p:txBody>
          <a:bodyPr/>
          <a:lstStyle/>
          <a:p>
            <a:endParaRPr lang="es-PE"/>
          </a:p>
        </p:txBody>
      </p:sp>
      <p:sp>
        <p:nvSpPr>
          <p:cNvPr id="26" name="Shape 23"/>
          <p:cNvSpPr/>
          <p:nvPr/>
        </p:nvSpPr>
        <p:spPr>
          <a:xfrm>
            <a:off x="3959099" y="2995378"/>
            <a:ext cx="188613" cy="0"/>
          </a:xfrm>
          <a:prstGeom prst="line">
            <a:avLst/>
          </a:prstGeom>
          <a:noFill/>
          <a:ln w="6350">
            <a:solidFill>
              <a:srgbClr val="6E7E7D"/>
            </a:solidFill>
            <a:prstDash val="sysDot"/>
          </a:ln>
        </p:spPr>
        <p:txBody>
          <a:bodyPr/>
          <a:lstStyle/>
          <a:p>
            <a:endParaRPr lang="es-PE"/>
          </a:p>
        </p:txBody>
      </p:sp>
      <p:sp>
        <p:nvSpPr>
          <p:cNvPr id="27" name="Shape 24"/>
          <p:cNvSpPr/>
          <p:nvPr/>
        </p:nvSpPr>
        <p:spPr>
          <a:xfrm>
            <a:off x="1357957" y="5495544"/>
            <a:ext cx="3434036" cy="0"/>
          </a:xfrm>
          <a:prstGeom prst="line">
            <a:avLst/>
          </a:prstGeom>
          <a:noFill/>
          <a:ln w="9525">
            <a:solidFill>
              <a:srgbClr val="0B2E2C"/>
            </a:solidFill>
            <a:prstDash val="solid"/>
          </a:ln>
        </p:spPr>
        <p:txBody>
          <a:bodyPr/>
          <a:lstStyle/>
          <a:p>
            <a:endParaRPr lang="es-PE"/>
          </a:p>
        </p:txBody>
      </p:sp>
      <p:sp>
        <p:nvSpPr>
          <p:cNvPr id="28" name="Shape 25"/>
          <p:cNvSpPr/>
          <p:nvPr/>
        </p:nvSpPr>
        <p:spPr>
          <a:xfrm>
            <a:off x="5711038" y="1481328"/>
            <a:ext cx="4833214" cy="292608"/>
          </a:xfrm>
          <a:prstGeom prst="rect">
            <a:avLst/>
          </a:prstGeom>
          <a:solidFill>
            <a:srgbClr val="13807B"/>
          </a:solidFill>
          <a:ln/>
        </p:spPr>
        <p:txBody>
          <a:bodyPr/>
          <a:lstStyle/>
          <a:p>
            <a:endParaRPr lang="es-PE"/>
          </a:p>
        </p:txBody>
      </p:sp>
      <p:sp>
        <p:nvSpPr>
          <p:cNvPr id="29" name="Text 26"/>
          <p:cNvSpPr txBox="1"/>
          <p:nvPr/>
        </p:nvSpPr>
        <p:spPr>
          <a:xfrm>
            <a:off x="5802478"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Nuevo en Expansión</a:t>
            </a:r>
            <a:endParaRPr lang="en-US" sz="1000"/>
          </a:p>
        </p:txBody>
      </p:sp>
      <p:sp>
        <p:nvSpPr>
          <p:cNvPr id="30" name="Shape 27"/>
          <p:cNvSpPr/>
          <p:nvPr/>
        </p:nvSpPr>
        <p:spPr>
          <a:xfrm>
            <a:off x="5711038"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31" name="Shape 28"/>
          <p:cNvSpPr/>
          <p:nvPr/>
        </p:nvSpPr>
        <p:spPr>
          <a:xfrm>
            <a:off x="6465490" y="2029968"/>
            <a:ext cx="589416" cy="3465576"/>
          </a:xfrm>
          <a:prstGeom prst="rect">
            <a:avLst/>
          </a:prstGeom>
          <a:solidFill>
            <a:srgbClr val="13807B"/>
          </a:solidFill>
          <a:ln/>
        </p:spPr>
        <p:txBody>
          <a:bodyPr/>
          <a:lstStyle/>
          <a:p>
            <a:endParaRPr lang="es-PE"/>
          </a:p>
        </p:txBody>
      </p:sp>
      <p:sp>
        <p:nvSpPr>
          <p:cNvPr id="32" name="Text 29"/>
          <p:cNvSpPr txBox="1"/>
          <p:nvPr/>
        </p:nvSpPr>
        <p:spPr>
          <a:xfrm>
            <a:off x="628261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18.6</a:t>
            </a:r>
            <a:endParaRPr lang="en-US" sz="800"/>
          </a:p>
        </p:txBody>
      </p:sp>
      <p:sp>
        <p:nvSpPr>
          <p:cNvPr id="33" name="Text 30"/>
          <p:cNvSpPr txBox="1"/>
          <p:nvPr/>
        </p:nvSpPr>
        <p:spPr>
          <a:xfrm>
            <a:off x="61911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34" name="Shape 31"/>
          <p:cNvSpPr/>
          <p:nvPr/>
        </p:nvSpPr>
        <p:spPr>
          <a:xfrm>
            <a:off x="7243520" y="2085864"/>
            <a:ext cx="589416" cy="3409680"/>
          </a:xfrm>
          <a:prstGeom prst="rect">
            <a:avLst/>
          </a:prstGeom>
          <a:solidFill>
            <a:srgbClr val="5AA6A3"/>
          </a:solidFill>
          <a:ln/>
        </p:spPr>
        <p:txBody>
          <a:bodyPr/>
          <a:lstStyle/>
          <a:p>
            <a:endParaRPr lang="es-PE"/>
          </a:p>
        </p:txBody>
      </p:sp>
      <p:sp>
        <p:nvSpPr>
          <p:cNvPr id="35" name="Text 32"/>
          <p:cNvSpPr txBox="1"/>
          <p:nvPr/>
        </p:nvSpPr>
        <p:spPr>
          <a:xfrm>
            <a:off x="7060640" y="188469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18.3</a:t>
            </a:r>
            <a:endParaRPr lang="en-US" sz="800"/>
          </a:p>
        </p:txBody>
      </p:sp>
      <p:sp>
        <p:nvSpPr>
          <p:cNvPr id="36" name="Text 33"/>
          <p:cNvSpPr txBox="1"/>
          <p:nvPr/>
        </p:nvSpPr>
        <p:spPr>
          <a:xfrm>
            <a:off x="696920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37" name="Shape 34"/>
          <p:cNvSpPr/>
          <p:nvPr/>
        </p:nvSpPr>
        <p:spPr>
          <a:xfrm>
            <a:off x="9200382" y="3166528"/>
            <a:ext cx="589416" cy="2329016"/>
          </a:xfrm>
          <a:prstGeom prst="rect">
            <a:avLst/>
          </a:prstGeom>
          <a:solidFill>
            <a:srgbClr val="0B2E2C"/>
          </a:solidFill>
          <a:ln/>
        </p:spPr>
        <p:txBody>
          <a:bodyPr/>
          <a:lstStyle/>
          <a:p>
            <a:endParaRPr lang="es-PE"/>
          </a:p>
        </p:txBody>
      </p:sp>
      <p:sp>
        <p:nvSpPr>
          <p:cNvPr id="38" name="Text 35"/>
          <p:cNvSpPr txBox="1"/>
          <p:nvPr/>
        </p:nvSpPr>
        <p:spPr>
          <a:xfrm>
            <a:off x="9017502" y="296536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12.5</a:t>
            </a:r>
            <a:endParaRPr lang="en-US" sz="800"/>
          </a:p>
        </p:txBody>
      </p:sp>
      <p:sp>
        <p:nvSpPr>
          <p:cNvPr id="39" name="Text 36"/>
          <p:cNvSpPr txBox="1"/>
          <p:nvPr/>
        </p:nvSpPr>
        <p:spPr>
          <a:xfrm>
            <a:off x="892606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40" name="Shape 37"/>
          <p:cNvSpPr/>
          <p:nvPr/>
        </p:nvSpPr>
        <p:spPr>
          <a:xfrm>
            <a:off x="8021549" y="2085864"/>
            <a:ext cx="400803" cy="1043399"/>
          </a:xfrm>
          <a:prstGeom prst="rect">
            <a:avLst/>
          </a:prstGeom>
          <a:solidFill>
            <a:srgbClr val="C0392B"/>
          </a:solidFill>
          <a:ln/>
        </p:spPr>
        <p:txBody>
          <a:bodyPr/>
          <a:lstStyle/>
          <a:p>
            <a:endParaRPr lang="es-PE"/>
          </a:p>
        </p:txBody>
      </p:sp>
      <p:sp>
        <p:nvSpPr>
          <p:cNvPr id="41" name="Text 38"/>
          <p:cNvSpPr txBox="1"/>
          <p:nvPr/>
        </p:nvSpPr>
        <p:spPr>
          <a:xfrm>
            <a:off x="7820381" y="2534412"/>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5.6</a:t>
            </a:r>
            <a:endParaRPr lang="en-US" sz="650"/>
          </a:p>
        </p:txBody>
      </p:sp>
      <p:sp>
        <p:nvSpPr>
          <p:cNvPr id="42" name="Text 39"/>
          <p:cNvSpPr txBox="1"/>
          <p:nvPr/>
        </p:nvSpPr>
        <p:spPr>
          <a:xfrm>
            <a:off x="7728941" y="177496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43" name="Shape 40"/>
          <p:cNvSpPr/>
          <p:nvPr/>
        </p:nvSpPr>
        <p:spPr>
          <a:xfrm>
            <a:off x="8610966" y="3129264"/>
            <a:ext cx="400803" cy="37264"/>
          </a:xfrm>
          <a:prstGeom prst="rect">
            <a:avLst/>
          </a:prstGeom>
          <a:solidFill>
            <a:srgbClr val="C0392B"/>
          </a:solidFill>
          <a:ln/>
        </p:spPr>
        <p:txBody>
          <a:bodyPr/>
          <a:lstStyle/>
          <a:p>
            <a:endParaRPr lang="es-PE"/>
          </a:p>
        </p:txBody>
      </p:sp>
      <p:sp>
        <p:nvSpPr>
          <p:cNvPr id="44" name="Text 41"/>
          <p:cNvSpPr txBox="1"/>
          <p:nvPr/>
        </p:nvSpPr>
        <p:spPr>
          <a:xfrm>
            <a:off x="9039201" y="3074744"/>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0.2</a:t>
            </a:r>
            <a:endParaRPr lang="en-US" sz="650"/>
          </a:p>
        </p:txBody>
      </p:sp>
      <p:sp>
        <p:nvSpPr>
          <p:cNvPr id="45" name="Text 42"/>
          <p:cNvSpPr txBox="1"/>
          <p:nvPr/>
        </p:nvSpPr>
        <p:spPr>
          <a:xfrm>
            <a:off x="8318358" y="281836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46" name="Shape 43"/>
          <p:cNvSpPr/>
          <p:nvPr/>
        </p:nvSpPr>
        <p:spPr>
          <a:xfrm>
            <a:off x="7832936" y="2085864"/>
            <a:ext cx="188613" cy="0"/>
          </a:xfrm>
          <a:prstGeom prst="line">
            <a:avLst/>
          </a:prstGeom>
          <a:noFill/>
          <a:ln w="6350">
            <a:solidFill>
              <a:srgbClr val="6E7E7D"/>
            </a:solidFill>
            <a:prstDash val="sysDot"/>
          </a:ln>
        </p:spPr>
        <p:txBody>
          <a:bodyPr/>
          <a:lstStyle/>
          <a:p>
            <a:endParaRPr lang="es-PE"/>
          </a:p>
        </p:txBody>
      </p:sp>
      <p:sp>
        <p:nvSpPr>
          <p:cNvPr id="47" name="Shape 44"/>
          <p:cNvSpPr/>
          <p:nvPr/>
        </p:nvSpPr>
        <p:spPr>
          <a:xfrm>
            <a:off x="8422353" y="3129264"/>
            <a:ext cx="188613" cy="0"/>
          </a:xfrm>
          <a:prstGeom prst="line">
            <a:avLst/>
          </a:prstGeom>
          <a:noFill/>
          <a:ln w="6350">
            <a:solidFill>
              <a:srgbClr val="6E7E7D"/>
            </a:solidFill>
            <a:prstDash val="sysDot"/>
          </a:ln>
        </p:spPr>
        <p:txBody>
          <a:bodyPr/>
          <a:lstStyle/>
          <a:p>
            <a:endParaRPr lang="es-PE"/>
          </a:p>
        </p:txBody>
      </p:sp>
      <p:sp>
        <p:nvSpPr>
          <p:cNvPr id="48" name="Shape 45"/>
          <p:cNvSpPr/>
          <p:nvPr/>
        </p:nvSpPr>
        <p:spPr>
          <a:xfrm>
            <a:off x="9011769" y="3166528"/>
            <a:ext cx="188613" cy="0"/>
          </a:xfrm>
          <a:prstGeom prst="line">
            <a:avLst/>
          </a:prstGeom>
          <a:noFill/>
          <a:ln w="6350">
            <a:solidFill>
              <a:srgbClr val="6E7E7D"/>
            </a:solidFill>
            <a:prstDash val="sysDot"/>
          </a:ln>
        </p:spPr>
        <p:txBody>
          <a:bodyPr/>
          <a:lstStyle/>
          <a:p>
            <a:endParaRPr lang="es-PE"/>
          </a:p>
        </p:txBody>
      </p:sp>
      <p:sp>
        <p:nvSpPr>
          <p:cNvPr id="49" name="Shape 46"/>
          <p:cNvSpPr/>
          <p:nvPr/>
        </p:nvSpPr>
        <p:spPr>
          <a:xfrm>
            <a:off x="6410626" y="5495544"/>
            <a:ext cx="3434036" cy="0"/>
          </a:xfrm>
          <a:prstGeom prst="line">
            <a:avLst/>
          </a:prstGeom>
          <a:noFill/>
          <a:ln w="9525">
            <a:solidFill>
              <a:srgbClr val="0B2E2C"/>
            </a:solidFill>
            <a:prstDash val="solid"/>
          </a:ln>
        </p:spPr>
        <p:txBody>
          <a:bodyPr/>
          <a:lstStyle/>
          <a:p>
            <a:endParaRPr lang="es-PE"/>
          </a:p>
        </p:txBody>
      </p:sp>
      <p:sp>
        <p:nvSpPr>
          <p:cNvPr id="50" name="Shape 47"/>
          <p:cNvSpPr/>
          <p:nvPr/>
        </p:nvSpPr>
        <p:spPr>
          <a:xfrm>
            <a:off x="10763707" y="1481328"/>
            <a:ext cx="4833214" cy="292608"/>
          </a:xfrm>
          <a:prstGeom prst="rect">
            <a:avLst/>
          </a:prstGeom>
          <a:solidFill>
            <a:srgbClr val="13807B"/>
          </a:solidFill>
          <a:ln/>
        </p:spPr>
        <p:txBody>
          <a:bodyPr/>
          <a:lstStyle/>
          <a:p>
            <a:endParaRPr lang="es-PE"/>
          </a:p>
        </p:txBody>
      </p:sp>
      <p:sp>
        <p:nvSpPr>
          <p:cNvPr id="51" name="Text 48"/>
          <p:cNvSpPr txBox="1"/>
          <p:nvPr/>
        </p:nvSpPr>
        <p:spPr>
          <a:xfrm>
            <a:off x="10855147" y="1481328"/>
            <a:ext cx="4650334" cy="292608"/>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Próximo Recurrente</a:t>
            </a:r>
            <a:endParaRPr lang="en-US" sz="1000"/>
          </a:p>
        </p:txBody>
      </p:sp>
      <p:sp>
        <p:nvSpPr>
          <p:cNvPr id="52" name="Shape 49"/>
          <p:cNvSpPr/>
          <p:nvPr/>
        </p:nvSpPr>
        <p:spPr>
          <a:xfrm>
            <a:off x="10763707" y="1773936"/>
            <a:ext cx="4833214" cy="4032504"/>
          </a:xfrm>
          <a:prstGeom prst="rect">
            <a:avLst/>
          </a:prstGeom>
          <a:solidFill>
            <a:srgbClr val="FFFFFF"/>
          </a:solidFill>
          <a:ln w="9525">
            <a:solidFill>
              <a:srgbClr val="D5DFDE"/>
            </a:solidFill>
            <a:prstDash val="solid"/>
          </a:ln>
        </p:spPr>
        <p:txBody>
          <a:bodyPr/>
          <a:lstStyle/>
          <a:p>
            <a:endParaRPr lang="es-PE"/>
          </a:p>
        </p:txBody>
      </p:sp>
      <p:sp>
        <p:nvSpPr>
          <p:cNvPr id="53" name="Shape 50"/>
          <p:cNvSpPr/>
          <p:nvPr/>
        </p:nvSpPr>
        <p:spPr>
          <a:xfrm>
            <a:off x="11518160" y="2029968"/>
            <a:ext cx="589416" cy="3465576"/>
          </a:xfrm>
          <a:prstGeom prst="rect">
            <a:avLst/>
          </a:prstGeom>
          <a:solidFill>
            <a:srgbClr val="13807B"/>
          </a:solidFill>
          <a:ln/>
        </p:spPr>
        <p:txBody>
          <a:bodyPr/>
          <a:lstStyle/>
          <a:p>
            <a:endParaRPr lang="es-PE"/>
          </a:p>
        </p:txBody>
      </p:sp>
      <p:sp>
        <p:nvSpPr>
          <p:cNvPr id="54" name="Text 51"/>
          <p:cNvSpPr txBox="1"/>
          <p:nvPr/>
        </p:nvSpPr>
        <p:spPr>
          <a:xfrm>
            <a:off x="11335280" y="1828800"/>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46.9</a:t>
            </a:r>
            <a:endParaRPr lang="en-US" sz="800"/>
          </a:p>
        </p:txBody>
      </p:sp>
      <p:sp>
        <p:nvSpPr>
          <p:cNvPr id="55" name="Text 52"/>
          <p:cNvSpPr txBox="1"/>
          <p:nvPr/>
        </p:nvSpPr>
        <p:spPr>
          <a:xfrm>
            <a:off x="1124384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con Lead CT</a:t>
            </a:r>
            <a:endParaRPr lang="en-US" sz="600"/>
          </a:p>
        </p:txBody>
      </p:sp>
      <p:sp>
        <p:nvSpPr>
          <p:cNvPr id="56" name="Shape 53"/>
          <p:cNvSpPr/>
          <p:nvPr/>
        </p:nvSpPr>
        <p:spPr>
          <a:xfrm>
            <a:off x="12296190" y="2066914"/>
            <a:ext cx="589416" cy="3428630"/>
          </a:xfrm>
          <a:prstGeom prst="rect">
            <a:avLst/>
          </a:prstGeom>
          <a:solidFill>
            <a:srgbClr val="5AA6A3"/>
          </a:solidFill>
          <a:ln/>
        </p:spPr>
        <p:txBody>
          <a:bodyPr/>
          <a:lstStyle/>
          <a:p>
            <a:endParaRPr lang="es-PE"/>
          </a:p>
        </p:txBody>
      </p:sp>
      <p:sp>
        <p:nvSpPr>
          <p:cNvPr id="57" name="Text 54"/>
          <p:cNvSpPr txBox="1"/>
          <p:nvPr/>
        </p:nvSpPr>
        <p:spPr>
          <a:xfrm>
            <a:off x="12113310" y="1865746"/>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46.4</a:t>
            </a:r>
            <a:endParaRPr lang="en-US" sz="800"/>
          </a:p>
        </p:txBody>
      </p:sp>
      <p:sp>
        <p:nvSpPr>
          <p:cNvPr id="58" name="Text 55"/>
          <p:cNvSpPr txBox="1"/>
          <p:nvPr/>
        </p:nvSpPr>
        <p:spPr>
          <a:xfrm>
            <a:off x="12021870"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 sin</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Competencia Interna</a:t>
            </a:r>
            <a:endParaRPr lang="en-US" sz="600"/>
          </a:p>
        </p:txBody>
      </p:sp>
      <p:sp>
        <p:nvSpPr>
          <p:cNvPr id="59" name="Shape 56"/>
          <p:cNvSpPr/>
          <p:nvPr/>
        </p:nvSpPr>
        <p:spPr>
          <a:xfrm>
            <a:off x="14253052" y="3722115"/>
            <a:ext cx="589416" cy="1773429"/>
          </a:xfrm>
          <a:prstGeom prst="rect">
            <a:avLst/>
          </a:prstGeom>
          <a:solidFill>
            <a:srgbClr val="0B2E2C"/>
          </a:solidFill>
          <a:ln/>
        </p:spPr>
        <p:txBody>
          <a:bodyPr/>
          <a:lstStyle/>
          <a:p>
            <a:endParaRPr lang="es-PE"/>
          </a:p>
        </p:txBody>
      </p:sp>
      <p:sp>
        <p:nvSpPr>
          <p:cNvPr id="60" name="Text 57"/>
          <p:cNvSpPr txBox="1"/>
          <p:nvPr/>
        </p:nvSpPr>
        <p:spPr>
          <a:xfrm>
            <a:off x="14070172" y="3520947"/>
            <a:ext cx="955176" cy="182880"/>
          </a:xfrm>
          <a:prstGeom prst="rect">
            <a:avLst/>
          </a:prstGeom>
          <a:noFill/>
          <a:ln/>
        </p:spPr>
        <p:txBody>
          <a:bodyPr wrap="square" lIns="0" tIns="0" rIns="0" bIns="0" rtlCol="0" anchor="ctr"/>
          <a:lstStyle/>
          <a:p>
            <a:pPr marL="0" indent="0" algn="ctr">
              <a:buNone/>
            </a:pPr>
            <a:r>
              <a:rPr lang="en-US" sz="800" b="1">
                <a:solidFill>
                  <a:srgbClr val="0B2E2C"/>
                </a:solidFill>
                <a:latin typeface="Arial" pitchFamily="34" charset="0"/>
                <a:ea typeface="Arial" pitchFamily="34" charset="-122"/>
                <a:cs typeface="Arial" pitchFamily="34" charset="-120"/>
              </a:rPr>
              <a:t>24.0</a:t>
            </a:r>
            <a:endParaRPr lang="en-US" sz="800"/>
          </a:p>
        </p:txBody>
      </p:sp>
      <p:sp>
        <p:nvSpPr>
          <p:cNvPr id="61" name="Text 58"/>
          <p:cNvSpPr txBox="1"/>
          <p:nvPr/>
        </p:nvSpPr>
        <p:spPr>
          <a:xfrm>
            <a:off x="13978732" y="5532120"/>
            <a:ext cx="1138056" cy="384048"/>
          </a:xfrm>
          <a:prstGeom prst="rect">
            <a:avLst/>
          </a:prstGeom>
          <a:noFill/>
          <a:ln/>
        </p:spPr>
        <p:txBody>
          <a:bodyPr wrap="square" lIns="0" tIns="0" rIns="0" bIns="0" rtlCol="0" anchor="ctr"/>
          <a:lstStyle/>
          <a:p>
            <a:pPr marL="0" indent="0" algn="ctr">
              <a:lnSpc>
                <a:spcPct val="92000"/>
              </a:lnSpc>
              <a:buNone/>
            </a:pPr>
            <a:r>
              <a:rPr lang="en-US" sz="600" b="1">
                <a:solidFill>
                  <a:srgbClr val="0B2E2C"/>
                </a:solidFill>
                <a:latin typeface="Arial" pitchFamily="34" charset="0"/>
                <a:ea typeface="Arial" pitchFamily="34" charset="-122"/>
                <a:cs typeface="Arial" pitchFamily="34" charset="-120"/>
              </a:rPr>
              <a:t>Desembolsos</a:t>
            </a:r>
            <a:endParaRPr lang="en-US" sz="600"/>
          </a:p>
          <a:p>
            <a:pPr marL="0" indent="0" algn="ctr">
              <a:lnSpc>
                <a:spcPct val="92000"/>
              </a:lnSpc>
              <a:buNone/>
            </a:pPr>
            <a:r>
              <a:rPr lang="en-US" sz="600" b="1">
                <a:solidFill>
                  <a:srgbClr val="0B2E2C"/>
                </a:solidFill>
                <a:latin typeface="Arial" pitchFamily="34" charset="0"/>
                <a:ea typeface="Arial" pitchFamily="34" charset="-122"/>
                <a:cs typeface="Arial" pitchFamily="34" charset="-120"/>
              </a:rPr>
              <a:t>Relevante</a:t>
            </a:r>
            <a:endParaRPr lang="en-US" sz="600"/>
          </a:p>
        </p:txBody>
      </p:sp>
      <p:sp>
        <p:nvSpPr>
          <p:cNvPr id="62" name="Shape 59"/>
          <p:cNvSpPr/>
          <p:nvPr/>
        </p:nvSpPr>
        <p:spPr>
          <a:xfrm>
            <a:off x="13074219" y="2066914"/>
            <a:ext cx="400803" cy="1633033"/>
          </a:xfrm>
          <a:prstGeom prst="rect">
            <a:avLst/>
          </a:prstGeom>
          <a:solidFill>
            <a:srgbClr val="C0392B"/>
          </a:solidFill>
          <a:ln/>
        </p:spPr>
        <p:txBody>
          <a:bodyPr/>
          <a:lstStyle/>
          <a:p>
            <a:endParaRPr lang="es-PE"/>
          </a:p>
        </p:txBody>
      </p:sp>
      <p:sp>
        <p:nvSpPr>
          <p:cNvPr id="63" name="Text 60"/>
          <p:cNvSpPr txBox="1"/>
          <p:nvPr/>
        </p:nvSpPr>
        <p:spPr>
          <a:xfrm>
            <a:off x="12873051" y="2810279"/>
            <a:ext cx="803139" cy="146304"/>
          </a:xfrm>
          <a:prstGeom prst="rect">
            <a:avLst/>
          </a:prstGeom>
          <a:noFill/>
          <a:ln/>
        </p:spPr>
        <p:txBody>
          <a:bodyPr wrap="square" lIns="0" tIns="0" rIns="0" bIns="0" rtlCol="0" anchor="ctr"/>
          <a:lstStyle/>
          <a:p>
            <a:pPr marL="0" indent="0" algn="ctr">
              <a:buNone/>
            </a:pPr>
            <a:r>
              <a:rPr lang="en-US" sz="650" b="1">
                <a:solidFill>
                  <a:srgbClr val="FFFFFF"/>
                </a:solidFill>
                <a:latin typeface="Arial" pitchFamily="34" charset="0"/>
                <a:ea typeface="Arial" pitchFamily="34" charset="-122"/>
                <a:cs typeface="Arial" pitchFamily="34" charset="-120"/>
              </a:rPr>
              <a:t>22.1</a:t>
            </a:r>
            <a:endParaRPr lang="en-US" sz="650"/>
          </a:p>
        </p:txBody>
      </p:sp>
      <p:sp>
        <p:nvSpPr>
          <p:cNvPr id="64" name="Text 61"/>
          <p:cNvSpPr txBox="1"/>
          <p:nvPr/>
        </p:nvSpPr>
        <p:spPr>
          <a:xfrm>
            <a:off x="12781611" y="1756018"/>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Monto 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Comparable</a:t>
            </a:r>
            <a:endParaRPr lang="en-US" sz="580"/>
          </a:p>
        </p:txBody>
      </p:sp>
      <p:sp>
        <p:nvSpPr>
          <p:cNvPr id="65" name="Shape 62"/>
          <p:cNvSpPr/>
          <p:nvPr/>
        </p:nvSpPr>
        <p:spPr>
          <a:xfrm>
            <a:off x="13663635" y="3699947"/>
            <a:ext cx="400803" cy="22168"/>
          </a:xfrm>
          <a:prstGeom prst="rect">
            <a:avLst/>
          </a:prstGeom>
          <a:solidFill>
            <a:srgbClr val="C0392B"/>
          </a:solidFill>
          <a:ln/>
        </p:spPr>
        <p:txBody>
          <a:bodyPr/>
          <a:lstStyle/>
          <a:p>
            <a:endParaRPr lang="es-PE"/>
          </a:p>
        </p:txBody>
      </p:sp>
      <p:sp>
        <p:nvSpPr>
          <p:cNvPr id="66" name="Text 63"/>
          <p:cNvSpPr txBox="1"/>
          <p:nvPr/>
        </p:nvSpPr>
        <p:spPr>
          <a:xfrm>
            <a:off x="14091870" y="3637879"/>
            <a:ext cx="457200" cy="146304"/>
          </a:xfrm>
          <a:prstGeom prst="rect">
            <a:avLst/>
          </a:prstGeom>
          <a:noFill/>
          <a:ln/>
        </p:spPr>
        <p:txBody>
          <a:bodyPr wrap="square" lIns="0" tIns="0" rIns="0" bIns="0" rtlCol="0" anchor="ctr"/>
          <a:lstStyle/>
          <a:p>
            <a:pPr marL="0" indent="0" algn="l">
              <a:buNone/>
            </a:pPr>
            <a:r>
              <a:rPr lang="en-US" sz="650" b="1">
                <a:solidFill>
                  <a:srgbClr val="0B2E2C"/>
                </a:solidFill>
                <a:latin typeface="Arial" pitchFamily="34" charset="0"/>
                <a:ea typeface="Arial" pitchFamily="34" charset="-122"/>
                <a:cs typeface="Arial" pitchFamily="34" charset="-120"/>
              </a:rPr>
              <a:t>0.3</a:t>
            </a:r>
            <a:endParaRPr lang="en-US" sz="650"/>
          </a:p>
        </p:txBody>
      </p:sp>
      <p:sp>
        <p:nvSpPr>
          <p:cNvPr id="67" name="Text 64"/>
          <p:cNvSpPr txBox="1"/>
          <p:nvPr/>
        </p:nvSpPr>
        <p:spPr>
          <a:xfrm>
            <a:off x="13371027" y="3389051"/>
            <a:ext cx="986019" cy="292608"/>
          </a:xfrm>
          <a:prstGeom prst="rect">
            <a:avLst/>
          </a:prstGeom>
          <a:noFill/>
          <a:ln/>
        </p:spPr>
        <p:txBody>
          <a:bodyPr wrap="square" lIns="0" tIns="0" rIns="0" bIns="0" rtlCol="0" anchor="ctr"/>
          <a:lstStyle/>
          <a:p>
            <a:pPr marL="0" indent="0" algn="ctr">
              <a:lnSpc>
                <a:spcPct val="90000"/>
              </a:lnSpc>
              <a:buNone/>
            </a:pPr>
            <a:r>
              <a:rPr lang="en-US" sz="580" i="1">
                <a:solidFill>
                  <a:srgbClr val="6E7E7D"/>
                </a:solidFill>
                <a:latin typeface="Arial" pitchFamily="34" charset="0"/>
                <a:ea typeface="Arial" pitchFamily="34" charset="-122"/>
                <a:cs typeface="Arial" pitchFamily="34" charset="-120"/>
              </a:rPr>
              <a:t>No</a:t>
            </a:r>
            <a:endParaRPr lang="en-US" sz="580"/>
          </a:p>
          <a:p>
            <a:pPr marL="0" indent="0" algn="ctr">
              <a:lnSpc>
                <a:spcPct val="90000"/>
              </a:lnSpc>
              <a:buNone/>
            </a:pPr>
            <a:r>
              <a:rPr lang="en-US" sz="580" i="1">
                <a:solidFill>
                  <a:srgbClr val="6E7E7D"/>
                </a:solidFill>
                <a:latin typeface="Arial" pitchFamily="34" charset="0"/>
                <a:ea typeface="Arial" pitchFamily="34" charset="-122"/>
                <a:cs typeface="Arial" pitchFamily="34" charset="-120"/>
              </a:rPr>
              <a:t>Gestionado</a:t>
            </a:r>
            <a:endParaRPr lang="en-US" sz="580"/>
          </a:p>
        </p:txBody>
      </p:sp>
      <p:sp>
        <p:nvSpPr>
          <p:cNvPr id="68" name="Shape 65"/>
          <p:cNvSpPr/>
          <p:nvPr/>
        </p:nvSpPr>
        <p:spPr>
          <a:xfrm>
            <a:off x="12885606" y="2066914"/>
            <a:ext cx="188613" cy="0"/>
          </a:xfrm>
          <a:prstGeom prst="line">
            <a:avLst/>
          </a:prstGeom>
          <a:noFill/>
          <a:ln w="6350">
            <a:solidFill>
              <a:srgbClr val="6E7E7D"/>
            </a:solidFill>
            <a:prstDash val="sysDot"/>
          </a:ln>
        </p:spPr>
        <p:txBody>
          <a:bodyPr/>
          <a:lstStyle/>
          <a:p>
            <a:endParaRPr lang="es-PE"/>
          </a:p>
        </p:txBody>
      </p:sp>
      <p:sp>
        <p:nvSpPr>
          <p:cNvPr id="69" name="Shape 66"/>
          <p:cNvSpPr/>
          <p:nvPr/>
        </p:nvSpPr>
        <p:spPr>
          <a:xfrm>
            <a:off x="13475022" y="3699947"/>
            <a:ext cx="188613" cy="0"/>
          </a:xfrm>
          <a:prstGeom prst="line">
            <a:avLst/>
          </a:prstGeom>
          <a:noFill/>
          <a:ln w="6350">
            <a:solidFill>
              <a:srgbClr val="6E7E7D"/>
            </a:solidFill>
            <a:prstDash val="sysDot"/>
          </a:ln>
        </p:spPr>
        <p:txBody>
          <a:bodyPr/>
          <a:lstStyle/>
          <a:p>
            <a:endParaRPr lang="es-PE"/>
          </a:p>
        </p:txBody>
      </p:sp>
      <p:sp>
        <p:nvSpPr>
          <p:cNvPr id="70" name="Shape 67"/>
          <p:cNvSpPr/>
          <p:nvPr/>
        </p:nvSpPr>
        <p:spPr>
          <a:xfrm>
            <a:off x="14064438" y="3722115"/>
            <a:ext cx="188613" cy="0"/>
          </a:xfrm>
          <a:prstGeom prst="line">
            <a:avLst/>
          </a:prstGeom>
          <a:noFill/>
          <a:ln w="6350">
            <a:solidFill>
              <a:srgbClr val="6E7E7D"/>
            </a:solidFill>
            <a:prstDash val="sysDot"/>
          </a:ln>
        </p:spPr>
        <p:txBody>
          <a:bodyPr/>
          <a:lstStyle/>
          <a:p>
            <a:endParaRPr lang="es-PE"/>
          </a:p>
        </p:txBody>
      </p:sp>
      <p:sp>
        <p:nvSpPr>
          <p:cNvPr id="71" name="Shape 68"/>
          <p:cNvSpPr/>
          <p:nvPr/>
        </p:nvSpPr>
        <p:spPr>
          <a:xfrm>
            <a:off x="11463296" y="5495544"/>
            <a:ext cx="3434036" cy="0"/>
          </a:xfrm>
          <a:prstGeom prst="line">
            <a:avLst/>
          </a:prstGeom>
          <a:noFill/>
          <a:ln w="9525">
            <a:solidFill>
              <a:srgbClr val="0B2E2C"/>
            </a:solidFill>
            <a:prstDash val="solid"/>
          </a:ln>
        </p:spPr>
        <p:txBody>
          <a:bodyPr/>
          <a:lstStyle/>
          <a:p>
            <a:endParaRPr lang="es-PE"/>
          </a:p>
        </p:txBody>
      </p:sp>
      <p:sp>
        <p:nvSpPr>
          <p:cNvPr id="72" name="Shape 69"/>
          <p:cNvSpPr/>
          <p:nvPr/>
        </p:nvSpPr>
        <p:spPr>
          <a:xfrm>
            <a:off x="658368" y="5989320"/>
            <a:ext cx="14938553" cy="1655064"/>
          </a:xfrm>
          <a:prstGeom prst="rect">
            <a:avLst/>
          </a:prstGeom>
          <a:solidFill>
            <a:srgbClr val="F6FBFA"/>
          </a:solidFill>
          <a:ln w="9525">
            <a:solidFill>
              <a:srgbClr val="D5DFDE"/>
            </a:solidFill>
            <a:prstDash val="solid"/>
          </a:ln>
        </p:spPr>
        <p:txBody>
          <a:bodyPr/>
          <a:lstStyle/>
          <a:p>
            <a:endParaRPr lang="es-PE"/>
          </a:p>
        </p:txBody>
      </p:sp>
      <p:sp>
        <p:nvSpPr>
          <p:cNvPr id="73" name="Text 70"/>
          <p:cNvSpPr txBox="1"/>
          <p:nvPr/>
        </p:nvSpPr>
        <p:spPr>
          <a:xfrm>
            <a:off x="914400" y="6117336"/>
            <a:ext cx="36576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INSIGHTS</a:t>
            </a:r>
            <a:endParaRPr lang="en-US" sz="900"/>
          </a:p>
        </p:txBody>
      </p:sp>
      <p:sp>
        <p:nvSpPr>
          <p:cNvPr id="74" name="Text 71"/>
          <p:cNvSpPr txBox="1"/>
          <p:nvPr/>
        </p:nvSpPr>
        <p:spPr>
          <a:xfrm>
            <a:off x="914400" y="6355080"/>
            <a:ext cx="14264640" cy="117957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"Monto no comparable" supera a "no gestionado" en los 3, y por mucho: Próximo Recurrente (S/22.1 vs. 0.3 MM), Nuevo en Expansión (S/5.6 vs. 0.2 MM) y Emprendedor Izipay (S/2.4 vs. 0.2 MM).</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Próximo Recurrente concentra, otra vez, el mayor desajuste de monto de los 3 (S/22.1 MM) — sus tickets observados frente a la competencia son los más heterogéneos del grupo sin deuda.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En ningún cluster sin deuda "no gestionado" supera S/0.3 MM — no hay oportunidad de gestión comercial por ganar; toda la conversación en sin deuda pasa por el desajuste de monto.</a:t>
            </a:r>
            <a:endParaRPr lang="en-US" sz="1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MARCO METODOLÓGICO</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Cuatro capas para medir el share de forma justa: cada capa retira competencia que IBK no podía ganar</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645920"/>
            <a:ext cx="3442107" cy="341376"/>
          </a:xfrm>
          <a:prstGeom prst="rect">
            <a:avLst/>
          </a:prstGeom>
          <a:solidFill>
            <a:srgbClr val="445A6E"/>
          </a:solidFill>
          <a:ln w="12700">
            <a:solidFill>
              <a:srgbClr val="445A6E"/>
            </a:solidFill>
            <a:prstDash val="solid"/>
          </a:ln>
        </p:spPr>
        <p:txBody>
          <a:bodyPr/>
          <a:lstStyle/>
          <a:p>
            <a:endParaRPr lang="es-PE" sz="2400"/>
          </a:p>
        </p:txBody>
      </p:sp>
      <p:sp>
        <p:nvSpPr>
          <p:cNvPr id="7" name="Text 4"/>
          <p:cNvSpPr txBox="1"/>
          <p:nvPr/>
        </p:nvSpPr>
        <p:spPr>
          <a:xfrm>
            <a:off x="804672"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1 · V1</a:t>
            </a:r>
            <a:endParaRPr lang="en-US" sz="1400"/>
          </a:p>
        </p:txBody>
      </p:sp>
      <p:sp>
        <p:nvSpPr>
          <p:cNvPr id="8" name="Text 5"/>
          <p:cNvSpPr txBox="1"/>
          <p:nvPr/>
        </p:nvSpPr>
        <p:spPr>
          <a:xfrm>
            <a:off x="853440"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Universo total</a:t>
            </a:r>
            <a:endParaRPr lang="en-US" sz="1667"/>
          </a:p>
        </p:txBody>
      </p:sp>
      <p:sp>
        <p:nvSpPr>
          <p:cNvPr id="11" name="Text 8"/>
          <p:cNvSpPr txBox="1"/>
          <p:nvPr/>
        </p:nvSpPr>
        <p:spPr>
          <a:xfrm>
            <a:off x="853440"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Todos los desembolsos del cliente: competencia interna (otro producto de CT) y externa (otros bancos).</a:t>
            </a:r>
            <a:endParaRPr lang="en-US" sz="1267"/>
          </a:p>
        </p:txBody>
      </p:sp>
      <p:sp>
        <p:nvSpPr>
          <p:cNvPr id="12" name="Text 9"/>
          <p:cNvSpPr txBox="1"/>
          <p:nvPr/>
        </p:nvSpPr>
        <p:spPr>
          <a:xfrm>
            <a:off x="853440"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13" name="Shape 10"/>
          <p:cNvSpPr/>
          <p:nvPr/>
        </p:nvSpPr>
        <p:spPr>
          <a:xfrm>
            <a:off x="853441"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14" name="Text 11"/>
          <p:cNvSpPr txBox="1"/>
          <p:nvPr/>
        </p:nvSpPr>
        <p:spPr>
          <a:xfrm>
            <a:off x="792481"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Interna</a:t>
            </a:r>
            <a:endParaRPr lang="en-US" sz="867"/>
          </a:p>
        </p:txBody>
      </p:sp>
      <p:sp>
        <p:nvSpPr>
          <p:cNvPr id="15" name="Shape 12"/>
          <p:cNvSpPr/>
          <p:nvPr/>
        </p:nvSpPr>
        <p:spPr>
          <a:xfrm>
            <a:off x="1625575"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16" name="Text 13"/>
          <p:cNvSpPr txBox="1"/>
          <p:nvPr/>
        </p:nvSpPr>
        <p:spPr>
          <a:xfrm>
            <a:off x="156461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comp.</a:t>
            </a:r>
            <a:endParaRPr lang="en-US" sz="867"/>
          </a:p>
        </p:txBody>
      </p:sp>
      <p:sp>
        <p:nvSpPr>
          <p:cNvPr id="17" name="Shape 14"/>
          <p:cNvSpPr/>
          <p:nvPr/>
        </p:nvSpPr>
        <p:spPr>
          <a:xfrm>
            <a:off x="2397710"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18" name="Text 15"/>
          <p:cNvSpPr txBox="1"/>
          <p:nvPr/>
        </p:nvSpPr>
        <p:spPr>
          <a:xfrm>
            <a:off x="2336750"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gest.</a:t>
            </a:r>
            <a:endParaRPr lang="en-US" sz="867"/>
          </a:p>
        </p:txBody>
      </p:sp>
      <p:sp>
        <p:nvSpPr>
          <p:cNvPr id="19" name="Shape 16"/>
          <p:cNvSpPr/>
          <p:nvPr/>
        </p:nvSpPr>
        <p:spPr>
          <a:xfrm>
            <a:off x="316984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20" name="Text 17"/>
          <p:cNvSpPr txBox="1"/>
          <p:nvPr/>
        </p:nvSpPr>
        <p:spPr>
          <a:xfrm>
            <a:off x="310888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21" name="Shape 18"/>
          <p:cNvSpPr/>
          <p:nvPr/>
        </p:nvSpPr>
        <p:spPr>
          <a:xfrm>
            <a:off x="853440" y="4937760"/>
            <a:ext cx="3051963" cy="0"/>
          </a:xfrm>
          <a:prstGeom prst="line">
            <a:avLst/>
          </a:prstGeom>
          <a:noFill/>
          <a:ln w="9525">
            <a:solidFill>
              <a:srgbClr val="D5DFDE"/>
            </a:solidFill>
            <a:prstDash val="solid"/>
          </a:ln>
        </p:spPr>
        <p:txBody>
          <a:bodyPr/>
          <a:lstStyle/>
          <a:p>
            <a:endParaRPr lang="es-PE" sz="2400"/>
          </a:p>
        </p:txBody>
      </p:sp>
      <p:sp>
        <p:nvSpPr>
          <p:cNvPr id="22" name="Text 19"/>
          <p:cNvSpPr txBox="1"/>
          <p:nvPr/>
        </p:nvSpPr>
        <p:spPr>
          <a:xfrm>
            <a:off x="853440"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PUNTO DE PARTIDA</a:t>
            </a:r>
            <a:endParaRPr lang="en-US" sz="933"/>
          </a:p>
        </p:txBody>
      </p:sp>
      <p:sp>
        <p:nvSpPr>
          <p:cNvPr id="23" name="Text 20"/>
          <p:cNvSpPr txBox="1"/>
          <p:nvPr/>
        </p:nvSpPr>
        <p:spPr>
          <a:xfrm>
            <a:off x="853440" y="5230368"/>
            <a:ext cx="3051963" cy="341376"/>
          </a:xfrm>
          <a:prstGeom prst="rect">
            <a:avLst/>
          </a:prstGeom>
          <a:noFill/>
          <a:ln/>
        </p:spPr>
        <p:txBody>
          <a:bodyPr wrap="square" lIns="0" tIns="0" rIns="0" bIns="0" rtlCol="0" anchor="ctr"/>
          <a:lstStyle/>
          <a:p>
            <a:r>
              <a:rPr lang="en-US" sz="1533" b="1">
                <a:solidFill>
                  <a:srgbClr val="13807B"/>
                </a:solidFill>
                <a:latin typeface="Calibri" pitchFamily="34" charset="0"/>
                <a:ea typeface="Calibri" pitchFamily="34" charset="-122"/>
                <a:cs typeface="Calibri" pitchFamily="34" charset="-120"/>
              </a:rPr>
              <a:t>Todo el universo relevante</a:t>
            </a:r>
            <a:endParaRPr lang="en-US" sz="1533"/>
          </a:p>
        </p:txBody>
      </p:sp>
      <p:sp>
        <p:nvSpPr>
          <p:cNvPr id="24" name="Shape 21"/>
          <p:cNvSpPr/>
          <p:nvPr/>
        </p:nvSpPr>
        <p:spPr>
          <a:xfrm>
            <a:off x="4198011" y="3511296"/>
            <a:ext cx="195072" cy="316992"/>
          </a:xfrm>
          <a:prstGeom prst="chevron">
            <a:avLst/>
          </a:prstGeom>
          <a:solidFill>
            <a:srgbClr val="D5DFDE"/>
          </a:solidFill>
          <a:ln w="12700">
            <a:solidFill>
              <a:srgbClr val="D5DFDE"/>
            </a:solidFill>
            <a:prstDash val="solid"/>
          </a:ln>
        </p:spPr>
        <p:txBody>
          <a:bodyPr/>
          <a:lstStyle/>
          <a:p>
            <a:endParaRPr lang="es-PE" sz="2400"/>
          </a:p>
        </p:txBody>
      </p:sp>
      <p:sp>
        <p:nvSpPr>
          <p:cNvPr id="25" name="Shape 22"/>
          <p:cNvSpPr/>
          <p:nvPr/>
        </p:nvSpPr>
        <p:spPr>
          <a:xfrm>
            <a:off x="4490619"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26" name="Shape 23"/>
          <p:cNvSpPr/>
          <p:nvPr/>
        </p:nvSpPr>
        <p:spPr>
          <a:xfrm>
            <a:off x="4490619" y="1645920"/>
            <a:ext cx="3442107" cy="341376"/>
          </a:xfrm>
          <a:prstGeom prst="rect">
            <a:avLst/>
          </a:prstGeom>
          <a:solidFill>
            <a:srgbClr val="2F9E98"/>
          </a:solidFill>
          <a:ln w="12700">
            <a:solidFill>
              <a:srgbClr val="2F9E98"/>
            </a:solidFill>
            <a:prstDash val="solid"/>
          </a:ln>
        </p:spPr>
        <p:txBody>
          <a:bodyPr/>
          <a:lstStyle/>
          <a:p>
            <a:endParaRPr lang="es-PE" sz="2400"/>
          </a:p>
        </p:txBody>
      </p:sp>
      <p:sp>
        <p:nvSpPr>
          <p:cNvPr id="27" name="Text 24"/>
          <p:cNvSpPr txBox="1"/>
          <p:nvPr/>
        </p:nvSpPr>
        <p:spPr>
          <a:xfrm>
            <a:off x="4636923"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2 · V2</a:t>
            </a:r>
            <a:endParaRPr lang="en-US" sz="1400"/>
          </a:p>
        </p:txBody>
      </p:sp>
      <p:sp>
        <p:nvSpPr>
          <p:cNvPr id="28" name="Text 25"/>
          <p:cNvSpPr txBox="1"/>
          <p:nvPr/>
        </p:nvSpPr>
        <p:spPr>
          <a:xfrm>
            <a:off x="4685691"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Sin competencia interna</a:t>
            </a:r>
            <a:endParaRPr lang="en-US" sz="1667"/>
          </a:p>
        </p:txBody>
      </p:sp>
      <p:sp>
        <p:nvSpPr>
          <p:cNvPr id="31" name="Text 28"/>
          <p:cNvSpPr txBox="1"/>
          <p:nvPr/>
        </p:nvSpPr>
        <p:spPr>
          <a:xfrm>
            <a:off x="4685691"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Se retira la competencia interna: si el cliente desembolsó con otro producto de CT, ya no cuenta como "perdido".</a:t>
            </a:r>
            <a:endParaRPr lang="en-US" sz="1267"/>
          </a:p>
        </p:txBody>
      </p:sp>
      <p:sp>
        <p:nvSpPr>
          <p:cNvPr id="32" name="Text 29"/>
          <p:cNvSpPr txBox="1"/>
          <p:nvPr/>
        </p:nvSpPr>
        <p:spPr>
          <a:xfrm>
            <a:off x="4685691"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33" name="Shape 30"/>
          <p:cNvSpPr/>
          <p:nvPr/>
        </p:nvSpPr>
        <p:spPr>
          <a:xfrm>
            <a:off x="4685691"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34" name="Text 31"/>
          <p:cNvSpPr txBox="1"/>
          <p:nvPr/>
        </p:nvSpPr>
        <p:spPr>
          <a:xfrm>
            <a:off x="4624731"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Interna</a:t>
            </a:r>
            <a:endParaRPr lang="en-US" sz="867"/>
          </a:p>
        </p:txBody>
      </p:sp>
      <p:sp>
        <p:nvSpPr>
          <p:cNvPr id="35" name="Shape 32"/>
          <p:cNvSpPr/>
          <p:nvPr/>
        </p:nvSpPr>
        <p:spPr>
          <a:xfrm>
            <a:off x="5457826"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36" name="Text 33"/>
          <p:cNvSpPr txBox="1"/>
          <p:nvPr/>
        </p:nvSpPr>
        <p:spPr>
          <a:xfrm>
            <a:off x="5396866"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comp.</a:t>
            </a:r>
            <a:endParaRPr lang="en-US" sz="867"/>
          </a:p>
        </p:txBody>
      </p:sp>
      <p:sp>
        <p:nvSpPr>
          <p:cNvPr id="37" name="Shape 34"/>
          <p:cNvSpPr/>
          <p:nvPr/>
        </p:nvSpPr>
        <p:spPr>
          <a:xfrm>
            <a:off x="6229961"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38" name="Text 35"/>
          <p:cNvSpPr txBox="1"/>
          <p:nvPr/>
        </p:nvSpPr>
        <p:spPr>
          <a:xfrm>
            <a:off x="6169001"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gest.</a:t>
            </a:r>
            <a:endParaRPr lang="en-US" sz="867"/>
          </a:p>
        </p:txBody>
      </p:sp>
      <p:sp>
        <p:nvSpPr>
          <p:cNvPr id="39" name="Shape 36"/>
          <p:cNvSpPr/>
          <p:nvPr/>
        </p:nvSpPr>
        <p:spPr>
          <a:xfrm>
            <a:off x="700209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40" name="Text 37"/>
          <p:cNvSpPr txBox="1"/>
          <p:nvPr/>
        </p:nvSpPr>
        <p:spPr>
          <a:xfrm>
            <a:off x="694113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41" name="Shape 38"/>
          <p:cNvSpPr/>
          <p:nvPr/>
        </p:nvSpPr>
        <p:spPr>
          <a:xfrm>
            <a:off x="4685691" y="4937760"/>
            <a:ext cx="3051963" cy="0"/>
          </a:xfrm>
          <a:prstGeom prst="line">
            <a:avLst/>
          </a:prstGeom>
          <a:noFill/>
          <a:ln w="9525">
            <a:solidFill>
              <a:srgbClr val="D5DFDE"/>
            </a:solidFill>
            <a:prstDash val="solid"/>
          </a:ln>
        </p:spPr>
        <p:txBody>
          <a:bodyPr/>
          <a:lstStyle/>
          <a:p>
            <a:endParaRPr lang="es-PE" sz="2400"/>
          </a:p>
        </p:txBody>
      </p:sp>
      <p:sp>
        <p:nvSpPr>
          <p:cNvPr id="42" name="Text 39"/>
          <p:cNvSpPr txBox="1"/>
          <p:nvPr/>
        </p:nvSpPr>
        <p:spPr>
          <a:xfrm>
            <a:off x="4685691"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SE RETIRA</a:t>
            </a:r>
            <a:endParaRPr lang="en-US" sz="933"/>
          </a:p>
        </p:txBody>
      </p:sp>
      <p:sp>
        <p:nvSpPr>
          <p:cNvPr id="43" name="Text 40"/>
          <p:cNvSpPr txBox="1"/>
          <p:nvPr/>
        </p:nvSpPr>
        <p:spPr>
          <a:xfrm>
            <a:off x="4685691" y="5230368"/>
            <a:ext cx="3051963" cy="341376"/>
          </a:xfrm>
          <a:prstGeom prst="rect">
            <a:avLst/>
          </a:prstGeom>
          <a:noFill/>
          <a:ln/>
        </p:spPr>
        <p:txBody>
          <a:bodyPr wrap="square" lIns="0" tIns="0" rIns="0" bIns="0" rtlCol="0" anchor="ctr"/>
          <a:lstStyle/>
          <a:p>
            <a:r>
              <a:rPr lang="en-US" sz="1533" b="1">
                <a:solidFill>
                  <a:srgbClr val="C04B4B"/>
                </a:solidFill>
                <a:latin typeface="Calibri" pitchFamily="34" charset="0"/>
                <a:ea typeface="Calibri" pitchFamily="34" charset="-122"/>
                <a:cs typeface="Calibri" pitchFamily="34" charset="-120"/>
              </a:rPr>
              <a:t>Competencia interna</a:t>
            </a:r>
            <a:endParaRPr lang="en-US" sz="1533"/>
          </a:p>
        </p:txBody>
      </p:sp>
      <p:sp>
        <p:nvSpPr>
          <p:cNvPr id="44" name="Shape 41"/>
          <p:cNvSpPr/>
          <p:nvPr/>
        </p:nvSpPr>
        <p:spPr>
          <a:xfrm>
            <a:off x="8030261" y="3511296"/>
            <a:ext cx="195072" cy="316992"/>
          </a:xfrm>
          <a:prstGeom prst="chevron">
            <a:avLst/>
          </a:prstGeom>
          <a:solidFill>
            <a:srgbClr val="D5DFDE"/>
          </a:solidFill>
          <a:ln w="12700">
            <a:solidFill>
              <a:srgbClr val="D5DFDE"/>
            </a:solidFill>
            <a:prstDash val="solid"/>
          </a:ln>
        </p:spPr>
        <p:txBody>
          <a:bodyPr/>
          <a:lstStyle/>
          <a:p>
            <a:endParaRPr lang="es-PE" sz="2400"/>
          </a:p>
        </p:txBody>
      </p:sp>
      <p:sp>
        <p:nvSpPr>
          <p:cNvPr id="45" name="Shape 42"/>
          <p:cNvSpPr/>
          <p:nvPr/>
        </p:nvSpPr>
        <p:spPr>
          <a:xfrm>
            <a:off x="8322869"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46" name="Shape 43"/>
          <p:cNvSpPr/>
          <p:nvPr/>
        </p:nvSpPr>
        <p:spPr>
          <a:xfrm>
            <a:off x="8322869" y="1645920"/>
            <a:ext cx="3442107" cy="341376"/>
          </a:xfrm>
          <a:prstGeom prst="rect">
            <a:avLst/>
          </a:prstGeom>
          <a:solidFill>
            <a:srgbClr val="13807B"/>
          </a:solidFill>
          <a:ln w="12700">
            <a:solidFill>
              <a:srgbClr val="13807B"/>
            </a:solidFill>
            <a:prstDash val="solid"/>
          </a:ln>
        </p:spPr>
        <p:txBody>
          <a:bodyPr/>
          <a:lstStyle/>
          <a:p>
            <a:endParaRPr lang="es-PE" sz="2400"/>
          </a:p>
        </p:txBody>
      </p:sp>
      <p:sp>
        <p:nvSpPr>
          <p:cNvPr id="47" name="Text 44"/>
          <p:cNvSpPr txBox="1"/>
          <p:nvPr/>
        </p:nvSpPr>
        <p:spPr>
          <a:xfrm>
            <a:off x="8469173"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3 · V3</a:t>
            </a:r>
            <a:endParaRPr lang="en-US" sz="1400"/>
          </a:p>
        </p:txBody>
      </p:sp>
      <p:sp>
        <p:nvSpPr>
          <p:cNvPr id="48" name="Text 45"/>
          <p:cNvSpPr txBox="1"/>
          <p:nvPr/>
        </p:nvSpPr>
        <p:spPr>
          <a:xfrm>
            <a:off x="8517941"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Monto comparable</a:t>
            </a:r>
            <a:endParaRPr lang="en-US" sz="1667"/>
          </a:p>
        </p:txBody>
      </p:sp>
      <p:sp>
        <p:nvSpPr>
          <p:cNvPr id="51" name="Text 48"/>
          <p:cNvSpPr txBox="1"/>
          <p:nvPr/>
        </p:nvSpPr>
        <p:spPr>
          <a:xfrm>
            <a:off x="8517941"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Se retira la competencia con un monto muy distinto al que maneja el </a:t>
            </a:r>
            <a:r>
              <a:rPr lang="en-US" sz="1267" err="1">
                <a:solidFill>
                  <a:srgbClr val="3E5553"/>
                </a:solidFill>
                <a:latin typeface="Calibri" pitchFamily="34" charset="0"/>
                <a:ea typeface="Calibri" pitchFamily="34" charset="-122"/>
                <a:cs typeface="Calibri" pitchFamily="34" charset="-120"/>
              </a:rPr>
              <a:t>cliente</a:t>
            </a:r>
            <a:r>
              <a:rPr lang="en-US" sz="1267">
                <a:solidFill>
                  <a:srgbClr val="3E5553"/>
                </a:solidFill>
                <a:latin typeface="Calibri" pitchFamily="34" charset="0"/>
                <a:ea typeface="Calibri" pitchFamily="34" charset="-122"/>
                <a:cs typeface="Calibri" pitchFamily="34" charset="-120"/>
              </a:rPr>
              <a:t> (mayor al 120% del </a:t>
            </a:r>
            <a:r>
              <a:rPr lang="en-US" sz="1267" err="1">
                <a:solidFill>
                  <a:srgbClr val="3E5553"/>
                </a:solidFill>
                <a:latin typeface="Calibri" pitchFamily="34" charset="0"/>
                <a:ea typeface="Calibri" pitchFamily="34" charset="-122"/>
                <a:cs typeface="Calibri" pitchFamily="34" charset="-120"/>
              </a:rPr>
              <a:t>monto</a:t>
            </a:r>
            <a:r>
              <a:rPr lang="en-US" sz="1267">
                <a:solidFill>
                  <a:srgbClr val="3E5553"/>
                </a:solidFill>
                <a:latin typeface="Calibri" pitchFamily="34" charset="0"/>
                <a:ea typeface="Calibri" pitchFamily="34" charset="-122"/>
                <a:cs typeface="Calibri" pitchFamily="34" charset="-120"/>
              </a:rPr>
              <a:t> </a:t>
            </a:r>
            <a:r>
              <a:rPr lang="en-US" sz="1267" err="1">
                <a:solidFill>
                  <a:srgbClr val="3E5553"/>
                </a:solidFill>
                <a:latin typeface="Calibri" pitchFamily="34" charset="0"/>
                <a:ea typeface="Calibri" pitchFamily="34" charset="-122"/>
                <a:cs typeface="Calibri" pitchFamily="34" charset="-120"/>
              </a:rPr>
              <a:t>ofertado</a:t>
            </a:r>
            <a:r>
              <a:rPr lang="en-US" sz="1267">
                <a:solidFill>
                  <a:srgbClr val="3E5553"/>
                </a:solidFill>
                <a:latin typeface="Calibri" pitchFamily="34" charset="0"/>
                <a:ea typeface="Calibri" pitchFamily="34" charset="-122"/>
                <a:cs typeface="Calibri" pitchFamily="34" charset="-120"/>
              </a:rPr>
              <a:t>).</a:t>
            </a:r>
            <a:endParaRPr lang="en-US" sz="1267"/>
          </a:p>
        </p:txBody>
      </p:sp>
      <p:sp>
        <p:nvSpPr>
          <p:cNvPr id="52" name="Text 49"/>
          <p:cNvSpPr txBox="1"/>
          <p:nvPr/>
        </p:nvSpPr>
        <p:spPr>
          <a:xfrm>
            <a:off x="8517941"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53" name="Shape 50"/>
          <p:cNvSpPr/>
          <p:nvPr/>
        </p:nvSpPr>
        <p:spPr>
          <a:xfrm>
            <a:off x="8517942"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54" name="Text 51"/>
          <p:cNvSpPr txBox="1"/>
          <p:nvPr/>
        </p:nvSpPr>
        <p:spPr>
          <a:xfrm>
            <a:off x="8456982"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Interna</a:t>
            </a:r>
            <a:endParaRPr lang="en-US" sz="867"/>
          </a:p>
        </p:txBody>
      </p:sp>
      <p:sp>
        <p:nvSpPr>
          <p:cNvPr id="55" name="Shape 52"/>
          <p:cNvSpPr/>
          <p:nvPr/>
        </p:nvSpPr>
        <p:spPr>
          <a:xfrm>
            <a:off x="9290077"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56" name="Text 53"/>
          <p:cNvSpPr txBox="1"/>
          <p:nvPr/>
        </p:nvSpPr>
        <p:spPr>
          <a:xfrm>
            <a:off x="9229117"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No comp.</a:t>
            </a:r>
            <a:endParaRPr lang="en-US" sz="867"/>
          </a:p>
        </p:txBody>
      </p:sp>
      <p:sp>
        <p:nvSpPr>
          <p:cNvPr id="57" name="Shape 54"/>
          <p:cNvSpPr/>
          <p:nvPr/>
        </p:nvSpPr>
        <p:spPr>
          <a:xfrm>
            <a:off x="10062210"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58" name="Text 55"/>
          <p:cNvSpPr txBox="1"/>
          <p:nvPr/>
        </p:nvSpPr>
        <p:spPr>
          <a:xfrm>
            <a:off x="10001250"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gest.</a:t>
            </a:r>
            <a:endParaRPr lang="en-US" sz="867"/>
          </a:p>
        </p:txBody>
      </p:sp>
      <p:sp>
        <p:nvSpPr>
          <p:cNvPr id="59" name="Shape 56"/>
          <p:cNvSpPr/>
          <p:nvPr/>
        </p:nvSpPr>
        <p:spPr>
          <a:xfrm>
            <a:off x="1083434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60" name="Text 57"/>
          <p:cNvSpPr txBox="1"/>
          <p:nvPr/>
        </p:nvSpPr>
        <p:spPr>
          <a:xfrm>
            <a:off x="1077338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61" name="Shape 58"/>
          <p:cNvSpPr/>
          <p:nvPr/>
        </p:nvSpPr>
        <p:spPr>
          <a:xfrm>
            <a:off x="8517941" y="4937760"/>
            <a:ext cx="3051963" cy="0"/>
          </a:xfrm>
          <a:prstGeom prst="line">
            <a:avLst/>
          </a:prstGeom>
          <a:noFill/>
          <a:ln w="9525">
            <a:solidFill>
              <a:srgbClr val="D5DFDE"/>
            </a:solidFill>
            <a:prstDash val="solid"/>
          </a:ln>
        </p:spPr>
        <p:txBody>
          <a:bodyPr/>
          <a:lstStyle/>
          <a:p>
            <a:endParaRPr lang="es-PE" sz="2400"/>
          </a:p>
        </p:txBody>
      </p:sp>
      <p:sp>
        <p:nvSpPr>
          <p:cNvPr id="62" name="Text 59"/>
          <p:cNvSpPr txBox="1"/>
          <p:nvPr/>
        </p:nvSpPr>
        <p:spPr>
          <a:xfrm>
            <a:off x="8517941"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SE RETIRA</a:t>
            </a:r>
            <a:endParaRPr lang="en-US" sz="933"/>
          </a:p>
        </p:txBody>
      </p:sp>
      <p:sp>
        <p:nvSpPr>
          <p:cNvPr id="63" name="Text 60"/>
          <p:cNvSpPr txBox="1"/>
          <p:nvPr/>
        </p:nvSpPr>
        <p:spPr>
          <a:xfrm>
            <a:off x="8517941" y="5230368"/>
            <a:ext cx="3051963" cy="341376"/>
          </a:xfrm>
          <a:prstGeom prst="rect">
            <a:avLst/>
          </a:prstGeom>
          <a:noFill/>
          <a:ln/>
        </p:spPr>
        <p:txBody>
          <a:bodyPr wrap="square" lIns="0" tIns="0" rIns="0" bIns="0" rtlCol="0" anchor="ctr"/>
          <a:lstStyle/>
          <a:p>
            <a:r>
              <a:rPr lang="en-US" sz="1533" b="1">
                <a:solidFill>
                  <a:srgbClr val="C04B4B"/>
                </a:solidFill>
                <a:latin typeface="Calibri" pitchFamily="34" charset="0"/>
                <a:ea typeface="Calibri" pitchFamily="34" charset="-122"/>
                <a:cs typeface="Calibri" pitchFamily="34" charset="-120"/>
              </a:rPr>
              <a:t>Monto no comparable</a:t>
            </a:r>
            <a:endParaRPr lang="en-US" sz="1533"/>
          </a:p>
        </p:txBody>
      </p:sp>
      <p:sp>
        <p:nvSpPr>
          <p:cNvPr id="64" name="Shape 61"/>
          <p:cNvSpPr/>
          <p:nvPr/>
        </p:nvSpPr>
        <p:spPr>
          <a:xfrm>
            <a:off x="11862511" y="3511296"/>
            <a:ext cx="195072" cy="316992"/>
          </a:xfrm>
          <a:prstGeom prst="chevron">
            <a:avLst/>
          </a:prstGeom>
          <a:solidFill>
            <a:srgbClr val="D5DFDE"/>
          </a:solidFill>
          <a:ln w="12700">
            <a:solidFill>
              <a:srgbClr val="D5DFDE"/>
            </a:solidFill>
            <a:prstDash val="solid"/>
          </a:ln>
        </p:spPr>
        <p:txBody>
          <a:bodyPr/>
          <a:lstStyle/>
          <a:p>
            <a:endParaRPr lang="es-PE" sz="2400"/>
          </a:p>
        </p:txBody>
      </p:sp>
      <p:sp>
        <p:nvSpPr>
          <p:cNvPr id="65" name="Shape 62"/>
          <p:cNvSpPr/>
          <p:nvPr/>
        </p:nvSpPr>
        <p:spPr>
          <a:xfrm>
            <a:off x="12155119"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66" name="Shape 63"/>
          <p:cNvSpPr/>
          <p:nvPr/>
        </p:nvSpPr>
        <p:spPr>
          <a:xfrm>
            <a:off x="12155119" y="1645920"/>
            <a:ext cx="3442107" cy="341376"/>
          </a:xfrm>
          <a:prstGeom prst="rect">
            <a:avLst/>
          </a:prstGeom>
          <a:solidFill>
            <a:srgbClr val="0C514E"/>
          </a:solidFill>
          <a:ln w="12700">
            <a:solidFill>
              <a:srgbClr val="0C514E"/>
            </a:solidFill>
            <a:prstDash val="solid"/>
          </a:ln>
        </p:spPr>
        <p:txBody>
          <a:bodyPr/>
          <a:lstStyle/>
          <a:p>
            <a:endParaRPr lang="es-PE" sz="2400"/>
          </a:p>
        </p:txBody>
      </p:sp>
      <p:sp>
        <p:nvSpPr>
          <p:cNvPr id="67" name="Text 64"/>
          <p:cNvSpPr txBox="1"/>
          <p:nvPr/>
        </p:nvSpPr>
        <p:spPr>
          <a:xfrm>
            <a:off x="12301423"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4 · V4</a:t>
            </a:r>
            <a:endParaRPr lang="en-US" sz="1400"/>
          </a:p>
        </p:txBody>
      </p:sp>
      <p:sp>
        <p:nvSpPr>
          <p:cNvPr id="68" name="Text 65"/>
          <p:cNvSpPr txBox="1"/>
          <p:nvPr/>
        </p:nvSpPr>
        <p:spPr>
          <a:xfrm>
            <a:off x="12350191"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Monto comparable y gestionado</a:t>
            </a:r>
            <a:endParaRPr lang="en-US" sz="1667"/>
          </a:p>
        </p:txBody>
      </p:sp>
      <p:sp>
        <p:nvSpPr>
          <p:cNvPr id="71" name="Text 68"/>
          <p:cNvSpPr txBox="1"/>
          <p:nvPr/>
        </p:nvSpPr>
        <p:spPr>
          <a:xfrm>
            <a:off x="12350191"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Se retira la competencia de monto comparable que IBK no gestionó activamente.</a:t>
            </a:r>
            <a:endParaRPr lang="en-US" sz="1267"/>
          </a:p>
        </p:txBody>
      </p:sp>
      <p:sp>
        <p:nvSpPr>
          <p:cNvPr id="72" name="Text 69"/>
          <p:cNvSpPr txBox="1"/>
          <p:nvPr/>
        </p:nvSpPr>
        <p:spPr>
          <a:xfrm>
            <a:off x="12350191"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73" name="Shape 70"/>
          <p:cNvSpPr/>
          <p:nvPr/>
        </p:nvSpPr>
        <p:spPr>
          <a:xfrm>
            <a:off x="12350191"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74" name="Text 71"/>
          <p:cNvSpPr txBox="1"/>
          <p:nvPr/>
        </p:nvSpPr>
        <p:spPr>
          <a:xfrm>
            <a:off x="12289231"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Interna</a:t>
            </a:r>
            <a:endParaRPr lang="en-US" sz="867"/>
          </a:p>
        </p:txBody>
      </p:sp>
      <p:sp>
        <p:nvSpPr>
          <p:cNvPr id="75" name="Shape 72"/>
          <p:cNvSpPr/>
          <p:nvPr/>
        </p:nvSpPr>
        <p:spPr>
          <a:xfrm>
            <a:off x="13122326"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76" name="Text 73"/>
          <p:cNvSpPr txBox="1"/>
          <p:nvPr/>
        </p:nvSpPr>
        <p:spPr>
          <a:xfrm>
            <a:off x="13061366"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No comp.</a:t>
            </a:r>
            <a:endParaRPr lang="en-US" sz="867"/>
          </a:p>
        </p:txBody>
      </p:sp>
      <p:sp>
        <p:nvSpPr>
          <p:cNvPr id="77" name="Shape 74"/>
          <p:cNvSpPr/>
          <p:nvPr/>
        </p:nvSpPr>
        <p:spPr>
          <a:xfrm>
            <a:off x="13894461"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78" name="Text 75"/>
          <p:cNvSpPr txBox="1"/>
          <p:nvPr/>
        </p:nvSpPr>
        <p:spPr>
          <a:xfrm>
            <a:off x="13833501"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No gest.</a:t>
            </a:r>
            <a:endParaRPr lang="en-US" sz="867"/>
          </a:p>
        </p:txBody>
      </p:sp>
      <p:sp>
        <p:nvSpPr>
          <p:cNvPr id="79" name="Shape 76"/>
          <p:cNvSpPr/>
          <p:nvPr/>
        </p:nvSpPr>
        <p:spPr>
          <a:xfrm>
            <a:off x="1466659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80" name="Text 77"/>
          <p:cNvSpPr txBox="1"/>
          <p:nvPr/>
        </p:nvSpPr>
        <p:spPr>
          <a:xfrm>
            <a:off x="1460563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81" name="Shape 78"/>
          <p:cNvSpPr/>
          <p:nvPr/>
        </p:nvSpPr>
        <p:spPr>
          <a:xfrm>
            <a:off x="12350191" y="4937760"/>
            <a:ext cx="3051963" cy="0"/>
          </a:xfrm>
          <a:prstGeom prst="line">
            <a:avLst/>
          </a:prstGeom>
          <a:noFill/>
          <a:ln w="9525">
            <a:solidFill>
              <a:srgbClr val="D5DFDE"/>
            </a:solidFill>
            <a:prstDash val="solid"/>
          </a:ln>
        </p:spPr>
        <p:txBody>
          <a:bodyPr/>
          <a:lstStyle/>
          <a:p>
            <a:endParaRPr lang="es-PE" sz="2400"/>
          </a:p>
        </p:txBody>
      </p:sp>
      <p:sp>
        <p:nvSpPr>
          <p:cNvPr id="82" name="Text 79"/>
          <p:cNvSpPr txBox="1"/>
          <p:nvPr/>
        </p:nvSpPr>
        <p:spPr>
          <a:xfrm>
            <a:off x="12350191"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SE RETIRA</a:t>
            </a:r>
            <a:endParaRPr lang="en-US" sz="933"/>
          </a:p>
        </p:txBody>
      </p:sp>
      <p:sp>
        <p:nvSpPr>
          <p:cNvPr id="83" name="Text 80"/>
          <p:cNvSpPr txBox="1"/>
          <p:nvPr/>
        </p:nvSpPr>
        <p:spPr>
          <a:xfrm>
            <a:off x="12350191" y="5230368"/>
            <a:ext cx="3051963" cy="341376"/>
          </a:xfrm>
          <a:prstGeom prst="rect">
            <a:avLst/>
          </a:prstGeom>
          <a:noFill/>
          <a:ln/>
        </p:spPr>
        <p:txBody>
          <a:bodyPr wrap="square" lIns="0" tIns="0" rIns="0" bIns="0" rtlCol="0" anchor="ctr"/>
          <a:lstStyle/>
          <a:p>
            <a:r>
              <a:rPr lang="en-US" sz="1533" b="1">
                <a:solidFill>
                  <a:srgbClr val="C04B4B"/>
                </a:solidFill>
                <a:latin typeface="Calibri" pitchFamily="34" charset="0"/>
                <a:ea typeface="Calibri" pitchFamily="34" charset="-122"/>
                <a:cs typeface="Calibri" pitchFamily="34" charset="-120"/>
              </a:rPr>
              <a:t>No gestionado</a:t>
            </a:r>
            <a:endParaRPr lang="en-US" sz="1533"/>
          </a:p>
        </p:txBody>
      </p:sp>
      <p:sp>
        <p:nvSpPr>
          <p:cNvPr id="84" name="Shape 81"/>
          <p:cNvSpPr/>
          <p:nvPr/>
        </p:nvSpPr>
        <p:spPr>
          <a:xfrm>
            <a:off x="658369" y="5988839"/>
            <a:ext cx="14938857" cy="1633728"/>
          </a:xfrm>
          <a:prstGeom prst="rect">
            <a:avLst/>
          </a:prstGeom>
          <a:solidFill>
            <a:srgbClr val="0C514E"/>
          </a:solidFill>
          <a:ln w="12700">
            <a:solidFill>
              <a:srgbClr val="0C514E"/>
            </a:solidFill>
            <a:prstDash val="solid"/>
          </a:ln>
        </p:spPr>
        <p:txBody>
          <a:bodyPr/>
          <a:lstStyle/>
          <a:p>
            <a:endParaRPr lang="es-PE" sz="2400"/>
          </a:p>
        </p:txBody>
      </p:sp>
      <p:sp>
        <p:nvSpPr>
          <p:cNvPr id="85" name="Text 82"/>
          <p:cNvSpPr txBox="1"/>
          <p:nvPr/>
        </p:nvSpPr>
        <p:spPr>
          <a:xfrm>
            <a:off x="963168" y="6159527"/>
            <a:ext cx="9753600" cy="268224"/>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CÓMO LEER LOS GRÁFICOS DE LAS SIGUIENTES LÁMINAS</a:t>
            </a:r>
            <a:endParaRPr lang="en-US" sz="1400"/>
          </a:p>
        </p:txBody>
      </p:sp>
      <p:sp>
        <p:nvSpPr>
          <p:cNvPr id="86" name="Shape 83"/>
          <p:cNvSpPr/>
          <p:nvPr/>
        </p:nvSpPr>
        <p:spPr>
          <a:xfrm>
            <a:off x="1250715" y="6964046"/>
            <a:ext cx="414528" cy="438912"/>
          </a:xfrm>
          <a:prstGeom prst="rect">
            <a:avLst/>
          </a:prstGeom>
          <a:solidFill>
            <a:srgbClr val="CFE6E4"/>
          </a:solidFill>
          <a:ln w="12700">
            <a:solidFill>
              <a:srgbClr val="CFE6E4"/>
            </a:solidFill>
            <a:prstDash val="solid"/>
          </a:ln>
        </p:spPr>
        <p:txBody>
          <a:bodyPr/>
          <a:lstStyle/>
          <a:p>
            <a:endParaRPr lang="es-PE" sz="2400"/>
          </a:p>
        </p:txBody>
      </p:sp>
      <p:sp>
        <p:nvSpPr>
          <p:cNvPr id="87" name="Shape 84"/>
          <p:cNvSpPr/>
          <p:nvPr/>
        </p:nvSpPr>
        <p:spPr>
          <a:xfrm>
            <a:off x="1250715" y="6842126"/>
            <a:ext cx="414528" cy="97536"/>
          </a:xfrm>
          <a:prstGeom prst="rect">
            <a:avLst/>
          </a:prstGeom>
          <a:solidFill>
            <a:srgbClr val="8FCBC6"/>
          </a:solidFill>
          <a:ln w="12700">
            <a:solidFill>
              <a:srgbClr val="8FCBC6"/>
            </a:solidFill>
            <a:prstDash val="solid"/>
          </a:ln>
        </p:spPr>
        <p:txBody>
          <a:bodyPr/>
          <a:lstStyle/>
          <a:p>
            <a:endParaRPr lang="es-PE" sz="2400"/>
          </a:p>
        </p:txBody>
      </p:sp>
      <p:sp>
        <p:nvSpPr>
          <p:cNvPr id="88" name="Shape 85"/>
          <p:cNvSpPr/>
          <p:nvPr/>
        </p:nvSpPr>
        <p:spPr>
          <a:xfrm>
            <a:off x="1250715" y="6756782"/>
            <a:ext cx="414528" cy="60960"/>
          </a:xfrm>
          <a:prstGeom prst="rect">
            <a:avLst/>
          </a:prstGeom>
          <a:solidFill>
            <a:srgbClr val="2F9E98"/>
          </a:solidFill>
          <a:ln w="12700">
            <a:solidFill>
              <a:srgbClr val="2F9E98"/>
            </a:solidFill>
            <a:prstDash val="solid"/>
          </a:ln>
        </p:spPr>
        <p:txBody>
          <a:bodyPr/>
          <a:lstStyle/>
          <a:p>
            <a:endParaRPr lang="es-PE" sz="2400"/>
          </a:p>
        </p:txBody>
      </p:sp>
      <p:sp>
        <p:nvSpPr>
          <p:cNvPr id="89" name="Shape 86"/>
          <p:cNvSpPr/>
          <p:nvPr/>
        </p:nvSpPr>
        <p:spPr>
          <a:xfrm>
            <a:off x="1250715" y="6610478"/>
            <a:ext cx="414528" cy="121920"/>
          </a:xfrm>
          <a:prstGeom prst="rect">
            <a:avLst/>
          </a:prstGeom>
          <a:solidFill>
            <a:srgbClr val="0C514E"/>
          </a:solidFill>
          <a:ln w="12700">
            <a:solidFill>
              <a:srgbClr val="0C514E"/>
            </a:solidFill>
            <a:prstDash val="solid"/>
          </a:ln>
        </p:spPr>
        <p:txBody>
          <a:bodyPr/>
          <a:lstStyle/>
          <a:p>
            <a:endParaRPr lang="es-PE" sz="2400"/>
          </a:p>
        </p:txBody>
      </p:sp>
      <p:sp>
        <p:nvSpPr>
          <p:cNvPr id="90" name="Text 87"/>
          <p:cNvSpPr txBox="1"/>
          <p:nvPr/>
        </p:nvSpPr>
        <p:spPr>
          <a:xfrm>
            <a:off x="1128795" y="6366638"/>
            <a:ext cx="658368" cy="195072"/>
          </a:xfrm>
          <a:prstGeom prst="rect">
            <a:avLst/>
          </a:prstGeom>
          <a:noFill/>
          <a:ln/>
        </p:spPr>
        <p:txBody>
          <a:bodyPr wrap="square" lIns="0" tIns="0" rIns="0" bIns="0" rtlCol="0" anchor="ctr"/>
          <a:lstStyle/>
          <a:p>
            <a:pPr algn="ctr"/>
            <a:r>
              <a:rPr lang="en-US" sz="1067" b="1">
                <a:solidFill>
                  <a:srgbClr val="FFFFFF"/>
                </a:solidFill>
                <a:latin typeface="Calibri" pitchFamily="34" charset="0"/>
                <a:ea typeface="Calibri" pitchFamily="34" charset="-122"/>
                <a:cs typeface="Calibri" pitchFamily="34" charset="-120"/>
              </a:rPr>
              <a:t>79%</a:t>
            </a:r>
            <a:endParaRPr lang="en-US" sz="1067"/>
          </a:p>
        </p:txBody>
      </p:sp>
      <p:sp>
        <p:nvSpPr>
          <p:cNvPr id="91" name="Shape 88"/>
          <p:cNvSpPr/>
          <p:nvPr/>
        </p:nvSpPr>
        <p:spPr>
          <a:xfrm>
            <a:off x="1860315" y="6817742"/>
            <a:ext cx="609600" cy="146304"/>
          </a:xfrm>
          <a:prstGeom prst="line">
            <a:avLst/>
          </a:prstGeom>
          <a:noFill/>
          <a:ln w="19050">
            <a:solidFill>
              <a:srgbClr val="FFFFFF"/>
            </a:solidFill>
            <a:prstDash val="solid"/>
          </a:ln>
        </p:spPr>
        <p:txBody>
          <a:bodyPr/>
          <a:lstStyle/>
          <a:p>
            <a:endParaRPr lang="es-PE" sz="2400"/>
          </a:p>
        </p:txBody>
      </p:sp>
      <p:sp>
        <p:nvSpPr>
          <p:cNvPr id="92" name="Shape 89"/>
          <p:cNvSpPr/>
          <p:nvPr/>
        </p:nvSpPr>
        <p:spPr>
          <a:xfrm>
            <a:off x="1860315" y="7085966"/>
            <a:ext cx="609600" cy="97536"/>
          </a:xfrm>
          <a:prstGeom prst="line">
            <a:avLst/>
          </a:prstGeom>
          <a:noFill/>
          <a:ln w="19050">
            <a:solidFill>
              <a:srgbClr val="C87A0B"/>
            </a:solidFill>
            <a:prstDash val="dash"/>
          </a:ln>
        </p:spPr>
        <p:txBody>
          <a:bodyPr/>
          <a:lstStyle/>
          <a:p>
            <a:endParaRPr lang="es-PE" sz="2400"/>
          </a:p>
        </p:txBody>
      </p:sp>
      <p:sp>
        <p:nvSpPr>
          <p:cNvPr id="93" name="Text 90"/>
          <p:cNvSpPr txBox="1"/>
          <p:nvPr/>
        </p:nvSpPr>
        <p:spPr>
          <a:xfrm>
            <a:off x="2731008" y="6549671"/>
            <a:ext cx="4044899" cy="243840"/>
          </a:xfrm>
          <a:prstGeom prst="rect">
            <a:avLst/>
          </a:prstGeom>
          <a:noFill/>
          <a:ln/>
        </p:spPr>
        <p:txBody>
          <a:bodyPr wrap="square" lIns="0" tIns="0" rIns="0" bIns="0" rtlCol="0" anchor="ctr"/>
          <a:lstStyle/>
          <a:p>
            <a:r>
              <a:rPr lang="en-US" sz="1333" b="1">
                <a:solidFill>
                  <a:srgbClr val="8FCBC6"/>
                </a:solidFill>
                <a:latin typeface="Calibri" pitchFamily="34" charset="0"/>
                <a:ea typeface="Calibri" pitchFamily="34" charset="-122"/>
                <a:cs typeface="Calibri" pitchFamily="34" charset="-120"/>
              </a:rPr>
              <a:t>Barras apiladas</a:t>
            </a:r>
            <a:endParaRPr lang="en-US" sz="1333"/>
          </a:p>
        </p:txBody>
      </p:sp>
      <p:sp>
        <p:nvSpPr>
          <p:cNvPr id="94" name="Text 91"/>
          <p:cNvSpPr txBox="1"/>
          <p:nvPr/>
        </p:nvSpPr>
        <p:spPr>
          <a:xfrm>
            <a:off x="2731008" y="6817895"/>
            <a:ext cx="4044899" cy="633984"/>
          </a:xfrm>
          <a:prstGeom prst="rect">
            <a:avLst/>
          </a:prstGeom>
          <a:noFill/>
          <a:ln/>
        </p:spPr>
        <p:txBody>
          <a:bodyPr wrap="square" lIns="0" tIns="0" rIns="0" bIns="0" rtlCol="0" anchor="t"/>
          <a:lstStyle/>
          <a:p>
            <a:r>
              <a:rPr lang="en-US" sz="1200">
                <a:solidFill>
                  <a:srgbClr val="FFFFFF"/>
                </a:solidFill>
                <a:latin typeface="Calibri" pitchFamily="34" charset="0"/>
                <a:ea typeface="Calibri" pitchFamily="34" charset="-122"/>
                <a:cs typeface="Calibri" pitchFamily="34" charset="-120"/>
              </a:rPr>
              <a:t>Cada tramo es el share que agrega una capa: base V1 + lo que suma retirar competencia interna, monto no comparable y no gestionado.</a:t>
            </a:r>
            <a:endParaRPr lang="en-US" sz="1200"/>
          </a:p>
        </p:txBody>
      </p:sp>
      <p:sp>
        <p:nvSpPr>
          <p:cNvPr id="95" name="Text 92"/>
          <p:cNvSpPr txBox="1"/>
          <p:nvPr/>
        </p:nvSpPr>
        <p:spPr>
          <a:xfrm>
            <a:off x="7141667" y="6549671"/>
            <a:ext cx="4044899" cy="243840"/>
          </a:xfrm>
          <a:prstGeom prst="rect">
            <a:avLst/>
          </a:prstGeom>
          <a:noFill/>
          <a:ln/>
        </p:spPr>
        <p:txBody>
          <a:bodyPr wrap="square" lIns="0" tIns="0" rIns="0" bIns="0" rtlCol="0" anchor="ctr"/>
          <a:lstStyle/>
          <a:p>
            <a:r>
              <a:rPr lang="en-US" sz="1333" b="1">
                <a:solidFill>
                  <a:srgbClr val="8FCBC6"/>
                </a:solidFill>
                <a:latin typeface="Calibri" pitchFamily="34" charset="0"/>
                <a:ea typeface="Calibri" pitchFamily="34" charset="-122"/>
                <a:cs typeface="Calibri" pitchFamily="34" charset="-120"/>
              </a:rPr>
              <a:t>Número sobre la barra</a:t>
            </a:r>
            <a:endParaRPr lang="en-US" sz="1333"/>
          </a:p>
        </p:txBody>
      </p:sp>
      <p:sp>
        <p:nvSpPr>
          <p:cNvPr id="96" name="Text 93"/>
          <p:cNvSpPr txBox="1"/>
          <p:nvPr/>
        </p:nvSpPr>
        <p:spPr>
          <a:xfrm>
            <a:off x="7141667" y="6817895"/>
            <a:ext cx="4044899" cy="633984"/>
          </a:xfrm>
          <a:prstGeom prst="rect">
            <a:avLst/>
          </a:prstGeom>
          <a:noFill/>
          <a:ln/>
        </p:spPr>
        <p:txBody>
          <a:bodyPr wrap="square" lIns="0" tIns="0" rIns="0" bIns="0" rtlCol="0" anchor="t"/>
          <a:lstStyle/>
          <a:p>
            <a:r>
              <a:rPr lang="en-US" sz="1200">
                <a:solidFill>
                  <a:srgbClr val="FFFFFF"/>
                </a:solidFill>
                <a:latin typeface="Calibri" pitchFamily="34" charset="0"/>
                <a:ea typeface="Calibri" pitchFamily="34" charset="-122"/>
                <a:cs typeface="Calibri" pitchFamily="34" charset="-120"/>
              </a:rPr>
              <a:t>Share acumulado hasta V4: la métrica justa que se compara entre trimestres (2025Q2 → 2026Q2).</a:t>
            </a:r>
            <a:endParaRPr lang="en-US" sz="1200"/>
          </a:p>
        </p:txBody>
      </p:sp>
      <p:sp>
        <p:nvSpPr>
          <p:cNvPr id="97" name="Text 94"/>
          <p:cNvSpPr txBox="1"/>
          <p:nvPr/>
        </p:nvSpPr>
        <p:spPr>
          <a:xfrm>
            <a:off x="11552327" y="6549671"/>
            <a:ext cx="4044899" cy="243840"/>
          </a:xfrm>
          <a:prstGeom prst="rect">
            <a:avLst/>
          </a:prstGeom>
          <a:noFill/>
          <a:ln/>
        </p:spPr>
        <p:txBody>
          <a:bodyPr wrap="square" lIns="0" tIns="0" rIns="0" bIns="0" rtlCol="0" anchor="ctr"/>
          <a:lstStyle/>
          <a:p>
            <a:r>
              <a:rPr lang="en-US" sz="1333" b="1">
                <a:solidFill>
                  <a:srgbClr val="8FCBC6"/>
                </a:solidFill>
                <a:latin typeface="Calibri" pitchFamily="34" charset="0"/>
                <a:ea typeface="Calibri" pitchFamily="34" charset="-122"/>
                <a:cs typeface="Calibri" pitchFamily="34" charset="-120"/>
              </a:rPr>
              <a:t>Líneas (franja superior)</a:t>
            </a:r>
            <a:endParaRPr lang="en-US" sz="1333"/>
          </a:p>
        </p:txBody>
      </p:sp>
      <p:sp>
        <p:nvSpPr>
          <p:cNvPr id="98" name="Text 95"/>
          <p:cNvSpPr txBox="1"/>
          <p:nvPr/>
        </p:nvSpPr>
        <p:spPr>
          <a:xfrm>
            <a:off x="11552327" y="6817895"/>
            <a:ext cx="4044899" cy="633984"/>
          </a:xfrm>
          <a:prstGeom prst="rect">
            <a:avLst/>
          </a:prstGeom>
          <a:noFill/>
          <a:ln/>
        </p:spPr>
        <p:txBody>
          <a:bodyPr wrap="square" lIns="0" tIns="0" rIns="0" bIns="0" rtlCol="0" anchor="t"/>
          <a:lstStyle/>
          <a:p>
            <a:r>
              <a:rPr lang="en-US" sz="1200">
                <a:solidFill>
                  <a:srgbClr val="FFFFFF"/>
                </a:solidFill>
                <a:latin typeface="Calibri" pitchFamily="34" charset="0"/>
                <a:ea typeface="Calibri" pitchFamily="34" charset="-122"/>
                <a:cs typeface="Calibri" pitchFamily="34" charset="-120"/>
              </a:rPr>
              <a:t>TEA ofertada (oscura) vs. TEA desembolsada (naranja punteada). La distancia entre ambas es la brecha TEA, resumida en cada tarjeta.</a:t>
            </a:r>
            <a:endParaRPr lang="en-US" sz="1200"/>
          </a:p>
        </p:txBody>
      </p:sp>
      <p:sp>
        <p:nvSpPr>
          <p:cNvPr id="99" name="Shape 96"/>
          <p:cNvSpPr/>
          <p:nvPr/>
        </p:nvSpPr>
        <p:spPr>
          <a:xfrm>
            <a:off x="658369" y="7915175"/>
            <a:ext cx="14938857" cy="670560"/>
          </a:xfrm>
          <a:prstGeom prst="rect">
            <a:avLst/>
          </a:prstGeom>
          <a:solidFill>
            <a:srgbClr val="ECF6F5"/>
          </a:solidFill>
          <a:ln w="12700">
            <a:solidFill>
              <a:srgbClr val="ECF6F5"/>
            </a:solidFill>
            <a:prstDash val="solid"/>
          </a:ln>
        </p:spPr>
        <p:txBody>
          <a:bodyPr/>
          <a:lstStyle/>
          <a:p>
            <a:endParaRPr lang="es-PE" sz="2400"/>
          </a:p>
        </p:txBody>
      </p:sp>
      <p:sp>
        <p:nvSpPr>
          <p:cNvPr id="100" name="Shape 97"/>
          <p:cNvSpPr/>
          <p:nvPr/>
        </p:nvSpPr>
        <p:spPr>
          <a:xfrm>
            <a:off x="658368" y="7915175"/>
            <a:ext cx="73152" cy="670560"/>
          </a:xfrm>
          <a:prstGeom prst="rect">
            <a:avLst/>
          </a:prstGeom>
          <a:solidFill>
            <a:srgbClr val="13807B"/>
          </a:solidFill>
          <a:ln w="12700">
            <a:solidFill>
              <a:srgbClr val="13807B"/>
            </a:solidFill>
            <a:prstDash val="solid"/>
          </a:ln>
        </p:spPr>
        <p:txBody>
          <a:bodyPr/>
          <a:lstStyle/>
          <a:p>
            <a:endParaRPr lang="es-PE" sz="2400"/>
          </a:p>
        </p:txBody>
      </p:sp>
      <p:sp>
        <p:nvSpPr>
          <p:cNvPr id="101" name="Text 98"/>
          <p:cNvSpPr txBox="1"/>
          <p:nvPr/>
        </p:nvSpPr>
        <p:spPr>
          <a:xfrm>
            <a:off x="926593" y="7915175"/>
            <a:ext cx="14451177" cy="670560"/>
          </a:xfrm>
          <a:prstGeom prst="rect">
            <a:avLst/>
          </a:prstGeom>
          <a:noFill/>
          <a:ln/>
        </p:spPr>
        <p:txBody>
          <a:bodyPr wrap="square" lIns="0" tIns="0" rIns="0" bIns="0" rtlCol="0" anchor="ctr"/>
          <a:lstStyle/>
          <a:p>
            <a:r>
              <a:rPr lang="en-US" sz="1467" b="1">
                <a:solidFill>
                  <a:srgbClr val="0C514E"/>
                </a:solidFill>
                <a:latin typeface="Calibri" pitchFamily="34" charset="0"/>
                <a:ea typeface="Calibri" pitchFamily="34" charset="-122"/>
                <a:cs typeface="Calibri" pitchFamily="34" charset="-120"/>
              </a:rPr>
              <a:t>Mientras más capas se retiran, el share mide solo lo que IBK realmente podía ganar — y por eso V4 es la referencia para leer la sensibilidad al precio.</a:t>
            </a:r>
            <a:endParaRPr lang="en-US" sz="1467"/>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CON DEUDA · UNIDADES (N)</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Los 6 clusters con deuda caen sin excepción, con la TEA estable — hay espacio para testear una baja selectiva</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Ancla</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−26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2,4 pp</a:t>
            </a:r>
            <a:endParaRPr lang="en-US" sz="1000"/>
          </a:p>
        </p:txBody>
      </p:sp>
      <p:sp>
        <p:nvSpPr>
          <p:cNvPr id="12" name="Text 9"/>
          <p:cNvSpPr txBox="1"/>
          <p:nvPr/>
        </p:nvSpPr>
        <p:spPr>
          <a:xfrm>
            <a:off x="719328"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6944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7315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2718816"/>
          <a:ext cx="4183075" cy="1414272"/>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Socio en Crecimiento</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−28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24" name="Text 19"/>
          <p:cNvSpPr txBox="1"/>
          <p:nvPr/>
        </p:nvSpPr>
        <p:spPr>
          <a:xfrm>
            <a:off x="57802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6944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7315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2718816"/>
          <a:ext cx="4183075" cy="1414272"/>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Cuenta Estratégica</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−28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2,8 pp</a:t>
            </a:r>
            <a:endParaRPr lang="en-US" sz="1000"/>
          </a:p>
        </p:txBody>
      </p:sp>
      <p:sp>
        <p:nvSpPr>
          <p:cNvPr id="36" name="Text 29"/>
          <p:cNvSpPr txBox="1"/>
          <p:nvPr/>
        </p:nvSpPr>
        <p:spPr>
          <a:xfrm>
            <a:off x="108411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6944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7315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2718816"/>
          <a:ext cx="4183075" cy="1414272"/>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42" name="Shape 33"/>
          <p:cNvSpPr/>
          <p:nvPr/>
        </p:nvSpPr>
        <p:spPr>
          <a:xfrm>
            <a:off x="658368"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43" name="Text 34"/>
          <p:cNvSpPr txBox="1"/>
          <p:nvPr/>
        </p:nvSpPr>
        <p:spPr>
          <a:xfrm>
            <a:off x="804672"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Maduro Multibanco</a:t>
            </a:r>
            <a:endParaRPr lang="en-US" sz="1400"/>
          </a:p>
        </p:txBody>
      </p:sp>
      <p:sp>
        <p:nvSpPr>
          <p:cNvPr id="44" name="Shape 35"/>
          <p:cNvSpPr/>
          <p:nvPr/>
        </p:nvSpPr>
        <p:spPr>
          <a:xfrm>
            <a:off x="43781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45" name="Text 36"/>
          <p:cNvSpPr txBox="1"/>
          <p:nvPr/>
        </p:nvSpPr>
        <p:spPr>
          <a:xfrm>
            <a:off x="43781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−28 pp</a:t>
            </a:r>
            <a:endParaRPr lang="en-US" sz="1000"/>
          </a:p>
        </p:txBody>
      </p:sp>
      <p:sp>
        <p:nvSpPr>
          <p:cNvPr id="46" name="Shape 37"/>
          <p:cNvSpPr/>
          <p:nvPr/>
        </p:nvSpPr>
        <p:spPr>
          <a:xfrm>
            <a:off x="31589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47" name="Text 38"/>
          <p:cNvSpPr txBox="1"/>
          <p:nvPr/>
        </p:nvSpPr>
        <p:spPr>
          <a:xfrm>
            <a:off x="31589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3,0 pp</a:t>
            </a:r>
            <a:endParaRPr lang="en-US" sz="1000"/>
          </a:p>
        </p:txBody>
      </p:sp>
      <p:sp>
        <p:nvSpPr>
          <p:cNvPr id="48" name="Text 39"/>
          <p:cNvSpPr txBox="1"/>
          <p:nvPr/>
        </p:nvSpPr>
        <p:spPr>
          <a:xfrm>
            <a:off x="719328"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49" name="Text 40"/>
          <p:cNvSpPr txBox="1"/>
          <p:nvPr/>
        </p:nvSpPr>
        <p:spPr>
          <a:xfrm>
            <a:off x="719328"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50" name="Shape 41"/>
          <p:cNvSpPr/>
          <p:nvPr/>
        </p:nvSpPr>
        <p:spPr>
          <a:xfrm>
            <a:off x="1231392" y="5571744"/>
            <a:ext cx="4122115" cy="0"/>
          </a:xfrm>
          <a:prstGeom prst="line">
            <a:avLst/>
          </a:prstGeom>
          <a:noFill/>
          <a:ln w="6350">
            <a:solidFill>
              <a:srgbClr val="D5DFDE"/>
            </a:solidFill>
            <a:prstDash val="dash"/>
          </a:ln>
        </p:spPr>
        <p:txBody>
          <a:bodyPr/>
          <a:lstStyle/>
          <a:p>
            <a:endParaRPr lang="es-PE" sz="2400"/>
          </a:p>
        </p:txBody>
      </p:sp>
      <p:graphicFrame>
        <p:nvGraphicFramePr>
          <p:cNvPr id="51" name="Chart 6"/>
          <p:cNvGraphicFramePr/>
          <p:nvPr/>
        </p:nvGraphicFramePr>
        <p:xfrm>
          <a:off x="1231392" y="4815840"/>
          <a:ext cx="4183075" cy="73152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2" name="Chart 7"/>
          <p:cNvGraphicFramePr/>
          <p:nvPr/>
        </p:nvGraphicFramePr>
        <p:xfrm>
          <a:off x="1231392" y="5596128"/>
          <a:ext cx="4183075" cy="1414272"/>
        </p:xfrm>
        <a:graphic>
          <a:graphicData uri="http://schemas.openxmlformats.org/drawingml/2006/chart">
            <c:chart xmlns:c="http://schemas.openxmlformats.org/drawingml/2006/chart" xmlns:r="http://schemas.openxmlformats.org/officeDocument/2006/relationships" r:id="rId11"/>
          </a:graphicData>
        </a:graphic>
      </p:graphicFrame>
      <p:sp>
        <p:nvSpPr>
          <p:cNvPr id="53" name="Shape 42"/>
          <p:cNvSpPr/>
          <p:nvPr/>
        </p:nvSpPr>
        <p:spPr>
          <a:xfrm>
            <a:off x="57192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54" name="Shape 43"/>
          <p:cNvSpPr/>
          <p:nvPr/>
        </p:nvSpPr>
        <p:spPr>
          <a:xfrm>
            <a:off x="57192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55" name="Text 44"/>
          <p:cNvSpPr txBox="1"/>
          <p:nvPr/>
        </p:nvSpPr>
        <p:spPr>
          <a:xfrm>
            <a:off x="58655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Gran Cuenta por Conquistar</a:t>
            </a:r>
            <a:endParaRPr lang="en-US" sz="1400"/>
          </a:p>
        </p:txBody>
      </p:sp>
      <p:sp>
        <p:nvSpPr>
          <p:cNvPr id="56" name="Shape 45"/>
          <p:cNvSpPr/>
          <p:nvPr/>
        </p:nvSpPr>
        <p:spPr>
          <a:xfrm>
            <a:off x="94390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57" name="Text 46"/>
          <p:cNvSpPr txBox="1"/>
          <p:nvPr/>
        </p:nvSpPr>
        <p:spPr>
          <a:xfrm>
            <a:off x="94390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−25 pp</a:t>
            </a:r>
            <a:endParaRPr lang="en-US" sz="1000"/>
          </a:p>
        </p:txBody>
      </p:sp>
      <p:sp>
        <p:nvSpPr>
          <p:cNvPr id="58" name="Shape 47"/>
          <p:cNvSpPr/>
          <p:nvPr/>
        </p:nvSpPr>
        <p:spPr>
          <a:xfrm>
            <a:off x="82198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59" name="Text 48"/>
          <p:cNvSpPr txBox="1"/>
          <p:nvPr/>
        </p:nvSpPr>
        <p:spPr>
          <a:xfrm>
            <a:off x="82198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3,3 pp</a:t>
            </a:r>
            <a:endParaRPr lang="en-US" sz="1000"/>
          </a:p>
        </p:txBody>
      </p:sp>
      <p:sp>
        <p:nvSpPr>
          <p:cNvPr id="60" name="Text 49"/>
          <p:cNvSpPr txBox="1"/>
          <p:nvPr/>
        </p:nvSpPr>
        <p:spPr>
          <a:xfrm>
            <a:off x="57802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61" name="Text 50"/>
          <p:cNvSpPr txBox="1"/>
          <p:nvPr/>
        </p:nvSpPr>
        <p:spPr>
          <a:xfrm>
            <a:off x="57802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62" name="Shape 51"/>
          <p:cNvSpPr/>
          <p:nvPr/>
        </p:nvSpPr>
        <p:spPr>
          <a:xfrm>
            <a:off x="6292291" y="5571744"/>
            <a:ext cx="4122115" cy="0"/>
          </a:xfrm>
          <a:prstGeom prst="line">
            <a:avLst/>
          </a:prstGeom>
          <a:noFill/>
          <a:ln w="6350">
            <a:solidFill>
              <a:srgbClr val="D5DFDE"/>
            </a:solidFill>
            <a:prstDash val="dash"/>
          </a:ln>
        </p:spPr>
        <p:txBody>
          <a:bodyPr/>
          <a:lstStyle/>
          <a:p>
            <a:endParaRPr lang="es-PE" sz="2400"/>
          </a:p>
        </p:txBody>
      </p:sp>
      <p:graphicFrame>
        <p:nvGraphicFramePr>
          <p:cNvPr id="63" name="Chart 8"/>
          <p:cNvGraphicFramePr/>
          <p:nvPr/>
        </p:nvGraphicFramePr>
        <p:xfrm>
          <a:off x="6292291" y="4815840"/>
          <a:ext cx="4183075" cy="73152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4" name="Chart 9"/>
          <p:cNvGraphicFramePr/>
          <p:nvPr/>
        </p:nvGraphicFramePr>
        <p:xfrm>
          <a:off x="6292291" y="5596128"/>
          <a:ext cx="4183075" cy="1414272"/>
        </p:xfrm>
        <a:graphic>
          <a:graphicData uri="http://schemas.openxmlformats.org/drawingml/2006/chart">
            <c:chart xmlns:c="http://schemas.openxmlformats.org/drawingml/2006/chart" xmlns:r="http://schemas.openxmlformats.org/officeDocument/2006/relationships" r:id="rId13"/>
          </a:graphicData>
        </a:graphic>
      </p:graphicFrame>
      <p:sp>
        <p:nvSpPr>
          <p:cNvPr id="65" name="Shape 52"/>
          <p:cNvSpPr/>
          <p:nvPr/>
        </p:nvSpPr>
        <p:spPr>
          <a:xfrm>
            <a:off x="107801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6" name="Shape 53"/>
          <p:cNvSpPr/>
          <p:nvPr/>
        </p:nvSpPr>
        <p:spPr>
          <a:xfrm>
            <a:off x="107801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67" name="Text 54"/>
          <p:cNvSpPr txBox="1"/>
          <p:nvPr/>
        </p:nvSpPr>
        <p:spPr>
          <a:xfrm>
            <a:off x="109264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por Reactivar</a:t>
            </a:r>
            <a:endParaRPr lang="en-US" sz="1400"/>
          </a:p>
        </p:txBody>
      </p:sp>
      <p:sp>
        <p:nvSpPr>
          <p:cNvPr id="68" name="Shape 55"/>
          <p:cNvSpPr/>
          <p:nvPr/>
        </p:nvSpPr>
        <p:spPr>
          <a:xfrm>
            <a:off x="14499945"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69" name="Text 56"/>
          <p:cNvSpPr txBox="1"/>
          <p:nvPr/>
        </p:nvSpPr>
        <p:spPr>
          <a:xfrm>
            <a:off x="14499945"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−18 pp</a:t>
            </a:r>
            <a:endParaRPr lang="en-US" sz="1000"/>
          </a:p>
        </p:txBody>
      </p:sp>
      <p:sp>
        <p:nvSpPr>
          <p:cNvPr id="70" name="Shape 57"/>
          <p:cNvSpPr/>
          <p:nvPr/>
        </p:nvSpPr>
        <p:spPr>
          <a:xfrm>
            <a:off x="13280745"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71" name="Text 58"/>
          <p:cNvSpPr txBox="1"/>
          <p:nvPr/>
        </p:nvSpPr>
        <p:spPr>
          <a:xfrm>
            <a:off x="13280745"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3,8 pp</a:t>
            </a:r>
            <a:endParaRPr lang="en-US" sz="1000"/>
          </a:p>
        </p:txBody>
      </p:sp>
      <p:sp>
        <p:nvSpPr>
          <p:cNvPr id="72" name="Text 59"/>
          <p:cNvSpPr txBox="1"/>
          <p:nvPr/>
        </p:nvSpPr>
        <p:spPr>
          <a:xfrm>
            <a:off x="108411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73" name="Text 60"/>
          <p:cNvSpPr txBox="1"/>
          <p:nvPr/>
        </p:nvSpPr>
        <p:spPr>
          <a:xfrm>
            <a:off x="108411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74" name="Shape 61"/>
          <p:cNvSpPr/>
          <p:nvPr/>
        </p:nvSpPr>
        <p:spPr>
          <a:xfrm>
            <a:off x="11353191" y="5571744"/>
            <a:ext cx="4122115" cy="0"/>
          </a:xfrm>
          <a:prstGeom prst="line">
            <a:avLst/>
          </a:prstGeom>
          <a:noFill/>
          <a:ln w="6350">
            <a:solidFill>
              <a:srgbClr val="D5DFDE"/>
            </a:solidFill>
            <a:prstDash val="dash"/>
          </a:ln>
        </p:spPr>
        <p:txBody>
          <a:bodyPr/>
          <a:lstStyle/>
          <a:p>
            <a:endParaRPr lang="es-PE" sz="2400"/>
          </a:p>
        </p:txBody>
      </p:sp>
      <p:graphicFrame>
        <p:nvGraphicFramePr>
          <p:cNvPr id="75" name="Chart 10"/>
          <p:cNvGraphicFramePr/>
          <p:nvPr/>
        </p:nvGraphicFramePr>
        <p:xfrm>
          <a:off x="11353191" y="4815840"/>
          <a:ext cx="4183075" cy="73152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76" name="Chart 11"/>
          <p:cNvGraphicFramePr/>
          <p:nvPr/>
        </p:nvGraphicFramePr>
        <p:xfrm>
          <a:off x="11353191" y="5596128"/>
          <a:ext cx="4183075" cy="1414272"/>
        </p:xfrm>
        <a:graphic>
          <a:graphicData uri="http://schemas.openxmlformats.org/drawingml/2006/chart">
            <c:chart xmlns:c="http://schemas.openxmlformats.org/drawingml/2006/chart" xmlns:r="http://schemas.openxmlformats.org/officeDocument/2006/relationships" r:id="rId15"/>
          </a:graphicData>
        </a:graphic>
      </p:graphicFrame>
      <p:sp>
        <p:nvSpPr>
          <p:cNvPr id="77" name="Shape 62"/>
          <p:cNvSpPr/>
          <p:nvPr/>
        </p:nvSpPr>
        <p:spPr>
          <a:xfrm>
            <a:off x="658368" y="7211568"/>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78" name="Text 63"/>
          <p:cNvSpPr txBox="1"/>
          <p:nvPr/>
        </p:nvSpPr>
        <p:spPr>
          <a:xfrm>
            <a:off x="987552" y="7156704"/>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79" name="Shape 64"/>
          <p:cNvSpPr/>
          <p:nvPr/>
        </p:nvSpPr>
        <p:spPr>
          <a:xfrm>
            <a:off x="2791968" y="7211568"/>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80" name="Text 65"/>
          <p:cNvSpPr txBox="1"/>
          <p:nvPr/>
        </p:nvSpPr>
        <p:spPr>
          <a:xfrm>
            <a:off x="3121152" y="7156704"/>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81" name="Shape 66"/>
          <p:cNvSpPr/>
          <p:nvPr/>
        </p:nvSpPr>
        <p:spPr>
          <a:xfrm>
            <a:off x="5474208" y="7211568"/>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82" name="Text 67"/>
          <p:cNvSpPr txBox="1"/>
          <p:nvPr/>
        </p:nvSpPr>
        <p:spPr>
          <a:xfrm>
            <a:off x="5803392" y="7156704"/>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83" name="Shape 68"/>
          <p:cNvSpPr/>
          <p:nvPr/>
        </p:nvSpPr>
        <p:spPr>
          <a:xfrm>
            <a:off x="7729728" y="7211568"/>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84" name="Text 69"/>
          <p:cNvSpPr txBox="1"/>
          <p:nvPr/>
        </p:nvSpPr>
        <p:spPr>
          <a:xfrm>
            <a:off x="8058912" y="7156704"/>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85" name="Shape 70"/>
          <p:cNvSpPr/>
          <p:nvPr/>
        </p:nvSpPr>
        <p:spPr>
          <a:xfrm>
            <a:off x="9619488" y="7278624"/>
            <a:ext cx="268224" cy="0"/>
          </a:xfrm>
          <a:prstGeom prst="line">
            <a:avLst/>
          </a:prstGeom>
          <a:noFill/>
          <a:ln w="19050">
            <a:solidFill>
              <a:srgbClr val="0B2E2C"/>
            </a:solidFill>
            <a:prstDash val="solid"/>
          </a:ln>
        </p:spPr>
        <p:txBody>
          <a:bodyPr/>
          <a:lstStyle/>
          <a:p>
            <a:endParaRPr lang="es-PE" sz="2400"/>
          </a:p>
        </p:txBody>
      </p:sp>
      <p:sp>
        <p:nvSpPr>
          <p:cNvPr id="86" name="Shape 71"/>
          <p:cNvSpPr/>
          <p:nvPr/>
        </p:nvSpPr>
        <p:spPr>
          <a:xfrm>
            <a:off x="9710928" y="7235952"/>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87" name="Text 72"/>
          <p:cNvSpPr txBox="1"/>
          <p:nvPr/>
        </p:nvSpPr>
        <p:spPr>
          <a:xfrm>
            <a:off x="9948672" y="7156704"/>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88" name="Shape 73"/>
          <p:cNvSpPr/>
          <p:nvPr/>
        </p:nvSpPr>
        <p:spPr>
          <a:xfrm>
            <a:off x="11021568" y="7278624"/>
            <a:ext cx="268224" cy="0"/>
          </a:xfrm>
          <a:prstGeom prst="line">
            <a:avLst/>
          </a:prstGeom>
          <a:noFill/>
          <a:ln w="19050">
            <a:solidFill>
              <a:srgbClr val="C87A0B"/>
            </a:solidFill>
            <a:prstDash val="dash"/>
          </a:ln>
        </p:spPr>
        <p:txBody>
          <a:bodyPr/>
          <a:lstStyle/>
          <a:p>
            <a:endParaRPr lang="es-PE" sz="2400"/>
          </a:p>
        </p:txBody>
      </p:sp>
      <p:sp>
        <p:nvSpPr>
          <p:cNvPr id="89" name="Shape 74"/>
          <p:cNvSpPr/>
          <p:nvPr/>
        </p:nvSpPr>
        <p:spPr>
          <a:xfrm>
            <a:off x="11113008" y="7235952"/>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90" name="Text 75"/>
          <p:cNvSpPr txBox="1"/>
          <p:nvPr/>
        </p:nvSpPr>
        <p:spPr>
          <a:xfrm>
            <a:off x="11350752" y="7156704"/>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91" name="Text 76"/>
          <p:cNvSpPr txBox="1"/>
          <p:nvPr/>
        </p:nvSpPr>
        <p:spPr>
          <a:xfrm>
            <a:off x="12789409" y="7156704"/>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92" name="Shape 77"/>
          <p:cNvSpPr/>
          <p:nvPr/>
        </p:nvSpPr>
        <p:spPr>
          <a:xfrm>
            <a:off x="658369" y="7522463"/>
            <a:ext cx="14938857" cy="1457907"/>
          </a:xfrm>
          <a:prstGeom prst="rect">
            <a:avLst/>
          </a:prstGeom>
          <a:solidFill>
            <a:srgbClr val="ECF6F5"/>
          </a:solidFill>
          <a:ln w="12700">
            <a:solidFill>
              <a:srgbClr val="ECF6F5"/>
            </a:solidFill>
            <a:prstDash val="solid"/>
          </a:ln>
        </p:spPr>
        <p:txBody>
          <a:bodyPr/>
          <a:lstStyle/>
          <a:p>
            <a:endParaRPr lang="es-PE" sz="2400"/>
          </a:p>
        </p:txBody>
      </p:sp>
      <p:sp>
        <p:nvSpPr>
          <p:cNvPr id="93" name="Shape 78"/>
          <p:cNvSpPr/>
          <p:nvPr/>
        </p:nvSpPr>
        <p:spPr>
          <a:xfrm>
            <a:off x="658368" y="7522464"/>
            <a:ext cx="60960" cy="1377696"/>
          </a:xfrm>
          <a:prstGeom prst="rect">
            <a:avLst/>
          </a:prstGeom>
          <a:solidFill>
            <a:srgbClr val="13807B"/>
          </a:solidFill>
          <a:ln w="12700">
            <a:solidFill>
              <a:srgbClr val="13807B"/>
            </a:solidFill>
            <a:prstDash val="solid"/>
          </a:ln>
        </p:spPr>
        <p:txBody>
          <a:bodyPr/>
          <a:lstStyle/>
          <a:p>
            <a:endParaRPr lang="es-PE" sz="2400"/>
          </a:p>
        </p:txBody>
      </p:sp>
      <p:sp>
        <p:nvSpPr>
          <p:cNvPr id="94" name="Text 79"/>
          <p:cNvSpPr txBox="1"/>
          <p:nvPr/>
        </p:nvSpPr>
        <p:spPr>
          <a:xfrm>
            <a:off x="926592" y="7644384"/>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95" name="Text 80"/>
          <p:cNvSpPr txBox="1"/>
          <p:nvPr/>
        </p:nvSpPr>
        <p:spPr>
          <a:xfrm>
            <a:off x="926592" y="7912608"/>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96" name="Text 81"/>
          <p:cNvSpPr txBox="1"/>
          <p:nvPr/>
        </p:nvSpPr>
        <p:spPr>
          <a:xfrm>
            <a:off x="926592"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6 clusters caen entre 2025Q2 y 2026Q2 (-18pp a -28pp) con la brecha TEA estable (~2.4-3.8pp): el precio actual no explica la caída, pero tampoco la ha frenado.</a:t>
            </a:r>
            <a:endParaRPr lang="en-US" sz="1267"/>
          </a:p>
        </p:txBody>
      </p:sp>
      <p:sp>
        <p:nvSpPr>
          <p:cNvPr id="97" name="Text 82"/>
          <p:cNvSpPr txBox="1"/>
          <p:nvPr/>
        </p:nvSpPr>
        <p:spPr>
          <a:xfrm>
            <a:off x="5837123" y="7912608"/>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98" name="Text 83"/>
          <p:cNvSpPr txBox="1"/>
          <p:nvPr/>
        </p:nvSpPr>
        <p:spPr>
          <a:xfrm>
            <a:off x="5837123"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Socio en Crecimiento, Cuenta Estratégica y Maduro Multibanco son los de mayor caída (-28pp) — ahí conviene testear una baja selectiva de TEA ofertada (piloto acotado, no across-the-board) para ver si recupera share antes de escalarlo a los otros 3.</a:t>
            </a:r>
            <a:endParaRPr lang="en-US" sz="1267"/>
          </a:p>
        </p:txBody>
      </p:sp>
      <p:sp>
        <p:nvSpPr>
          <p:cNvPr id="99" name="Text 84"/>
          <p:cNvSpPr txBox="1"/>
          <p:nvPr/>
        </p:nvSpPr>
        <p:spPr>
          <a:xfrm>
            <a:off x="10747655" y="7912608"/>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100" name="Text 85"/>
          <p:cNvSpPr txBox="1"/>
          <p:nvPr/>
        </p:nvSpPr>
        <p:spPr>
          <a:xfrm>
            <a:off x="10747655"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Cliente por Reactivar resiste mejor (-18pp) con la TEA ofertada más alta del grupo (22.8%-23.0% vs. ~20-21% en el resto) — no bajar tasa ahí todavía: el cliente parece menos sensible al precio que el resto.</a:t>
            </a:r>
            <a:endParaRPr lang="en-US" sz="1267"/>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CON DEUDA · MONTO (S/)</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En monto la caída con deuda es más fuerte que en unidades — el espacio para bajar tasa debe priorizarse en los tickets grandes</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Ancla</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−29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2,4 pp</a:t>
            </a:r>
            <a:endParaRPr lang="en-US" sz="1000"/>
          </a:p>
        </p:txBody>
      </p:sp>
      <p:sp>
        <p:nvSpPr>
          <p:cNvPr id="12" name="Text 9"/>
          <p:cNvSpPr txBox="1"/>
          <p:nvPr/>
        </p:nvSpPr>
        <p:spPr>
          <a:xfrm>
            <a:off x="719328"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6944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7315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2718816"/>
          <a:ext cx="4183075" cy="1414272"/>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Socio en Crecimiento</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−31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24" name="Text 19"/>
          <p:cNvSpPr txBox="1"/>
          <p:nvPr/>
        </p:nvSpPr>
        <p:spPr>
          <a:xfrm>
            <a:off x="57802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6944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7315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2718816"/>
          <a:ext cx="4183075" cy="1414272"/>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Cuenta Estratégica</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−29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2,8 pp</a:t>
            </a:r>
            <a:endParaRPr lang="en-US" sz="1000"/>
          </a:p>
        </p:txBody>
      </p:sp>
      <p:sp>
        <p:nvSpPr>
          <p:cNvPr id="36" name="Text 29"/>
          <p:cNvSpPr txBox="1"/>
          <p:nvPr/>
        </p:nvSpPr>
        <p:spPr>
          <a:xfrm>
            <a:off x="108411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6944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7315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2718816"/>
          <a:ext cx="4183075" cy="1414272"/>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42" name="Shape 33"/>
          <p:cNvSpPr/>
          <p:nvPr/>
        </p:nvSpPr>
        <p:spPr>
          <a:xfrm>
            <a:off x="658368"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43" name="Text 34"/>
          <p:cNvSpPr txBox="1"/>
          <p:nvPr/>
        </p:nvSpPr>
        <p:spPr>
          <a:xfrm>
            <a:off x="804672"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Maduro Multibanco</a:t>
            </a:r>
            <a:endParaRPr lang="en-US" sz="1400"/>
          </a:p>
        </p:txBody>
      </p:sp>
      <p:sp>
        <p:nvSpPr>
          <p:cNvPr id="44" name="Shape 35"/>
          <p:cNvSpPr/>
          <p:nvPr/>
        </p:nvSpPr>
        <p:spPr>
          <a:xfrm>
            <a:off x="43781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45" name="Text 36"/>
          <p:cNvSpPr txBox="1"/>
          <p:nvPr/>
        </p:nvSpPr>
        <p:spPr>
          <a:xfrm>
            <a:off x="43781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−30 pp</a:t>
            </a:r>
            <a:endParaRPr lang="en-US" sz="1000"/>
          </a:p>
        </p:txBody>
      </p:sp>
      <p:sp>
        <p:nvSpPr>
          <p:cNvPr id="46" name="Shape 37"/>
          <p:cNvSpPr/>
          <p:nvPr/>
        </p:nvSpPr>
        <p:spPr>
          <a:xfrm>
            <a:off x="31589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47" name="Text 38"/>
          <p:cNvSpPr txBox="1"/>
          <p:nvPr/>
        </p:nvSpPr>
        <p:spPr>
          <a:xfrm>
            <a:off x="31589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3,0 pp</a:t>
            </a:r>
            <a:endParaRPr lang="en-US" sz="1000"/>
          </a:p>
        </p:txBody>
      </p:sp>
      <p:sp>
        <p:nvSpPr>
          <p:cNvPr id="48" name="Text 39"/>
          <p:cNvSpPr txBox="1"/>
          <p:nvPr/>
        </p:nvSpPr>
        <p:spPr>
          <a:xfrm>
            <a:off x="719328"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49" name="Text 40"/>
          <p:cNvSpPr txBox="1"/>
          <p:nvPr/>
        </p:nvSpPr>
        <p:spPr>
          <a:xfrm>
            <a:off x="719328"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50" name="Shape 41"/>
          <p:cNvSpPr/>
          <p:nvPr/>
        </p:nvSpPr>
        <p:spPr>
          <a:xfrm>
            <a:off x="1231392" y="5571744"/>
            <a:ext cx="4122115" cy="0"/>
          </a:xfrm>
          <a:prstGeom prst="line">
            <a:avLst/>
          </a:prstGeom>
          <a:noFill/>
          <a:ln w="6350">
            <a:solidFill>
              <a:srgbClr val="D5DFDE"/>
            </a:solidFill>
            <a:prstDash val="dash"/>
          </a:ln>
        </p:spPr>
        <p:txBody>
          <a:bodyPr/>
          <a:lstStyle/>
          <a:p>
            <a:endParaRPr lang="es-PE" sz="2400"/>
          </a:p>
        </p:txBody>
      </p:sp>
      <p:graphicFrame>
        <p:nvGraphicFramePr>
          <p:cNvPr id="51" name="Chart 6"/>
          <p:cNvGraphicFramePr/>
          <p:nvPr/>
        </p:nvGraphicFramePr>
        <p:xfrm>
          <a:off x="1231392" y="4815840"/>
          <a:ext cx="4183075" cy="73152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2" name="Chart 7"/>
          <p:cNvGraphicFramePr/>
          <p:nvPr/>
        </p:nvGraphicFramePr>
        <p:xfrm>
          <a:off x="1231392" y="5596128"/>
          <a:ext cx="4183075" cy="1414272"/>
        </p:xfrm>
        <a:graphic>
          <a:graphicData uri="http://schemas.openxmlformats.org/drawingml/2006/chart">
            <c:chart xmlns:c="http://schemas.openxmlformats.org/drawingml/2006/chart" xmlns:r="http://schemas.openxmlformats.org/officeDocument/2006/relationships" r:id="rId11"/>
          </a:graphicData>
        </a:graphic>
      </p:graphicFrame>
      <p:sp>
        <p:nvSpPr>
          <p:cNvPr id="53" name="Shape 42"/>
          <p:cNvSpPr/>
          <p:nvPr/>
        </p:nvSpPr>
        <p:spPr>
          <a:xfrm>
            <a:off x="57192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54" name="Shape 43"/>
          <p:cNvSpPr/>
          <p:nvPr/>
        </p:nvSpPr>
        <p:spPr>
          <a:xfrm>
            <a:off x="57192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55" name="Text 44"/>
          <p:cNvSpPr txBox="1"/>
          <p:nvPr/>
        </p:nvSpPr>
        <p:spPr>
          <a:xfrm>
            <a:off x="58655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Gran Cuenta por Conquistar</a:t>
            </a:r>
            <a:endParaRPr lang="en-US" sz="1400"/>
          </a:p>
        </p:txBody>
      </p:sp>
      <p:sp>
        <p:nvSpPr>
          <p:cNvPr id="56" name="Shape 45"/>
          <p:cNvSpPr/>
          <p:nvPr/>
        </p:nvSpPr>
        <p:spPr>
          <a:xfrm>
            <a:off x="94390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57" name="Text 46"/>
          <p:cNvSpPr txBox="1"/>
          <p:nvPr/>
        </p:nvSpPr>
        <p:spPr>
          <a:xfrm>
            <a:off x="94390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−26 pp</a:t>
            </a:r>
            <a:endParaRPr lang="en-US" sz="1000"/>
          </a:p>
        </p:txBody>
      </p:sp>
      <p:sp>
        <p:nvSpPr>
          <p:cNvPr id="58" name="Shape 47"/>
          <p:cNvSpPr/>
          <p:nvPr/>
        </p:nvSpPr>
        <p:spPr>
          <a:xfrm>
            <a:off x="82198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59" name="Text 48"/>
          <p:cNvSpPr txBox="1"/>
          <p:nvPr/>
        </p:nvSpPr>
        <p:spPr>
          <a:xfrm>
            <a:off x="82198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3,3 pp</a:t>
            </a:r>
            <a:endParaRPr lang="en-US" sz="1000"/>
          </a:p>
        </p:txBody>
      </p:sp>
      <p:sp>
        <p:nvSpPr>
          <p:cNvPr id="60" name="Text 49"/>
          <p:cNvSpPr txBox="1"/>
          <p:nvPr/>
        </p:nvSpPr>
        <p:spPr>
          <a:xfrm>
            <a:off x="57802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61" name="Text 50"/>
          <p:cNvSpPr txBox="1"/>
          <p:nvPr/>
        </p:nvSpPr>
        <p:spPr>
          <a:xfrm>
            <a:off x="57802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62" name="Shape 51"/>
          <p:cNvSpPr/>
          <p:nvPr/>
        </p:nvSpPr>
        <p:spPr>
          <a:xfrm>
            <a:off x="6292291" y="5571744"/>
            <a:ext cx="4122115" cy="0"/>
          </a:xfrm>
          <a:prstGeom prst="line">
            <a:avLst/>
          </a:prstGeom>
          <a:noFill/>
          <a:ln w="6350">
            <a:solidFill>
              <a:srgbClr val="D5DFDE"/>
            </a:solidFill>
            <a:prstDash val="dash"/>
          </a:ln>
        </p:spPr>
        <p:txBody>
          <a:bodyPr/>
          <a:lstStyle/>
          <a:p>
            <a:endParaRPr lang="es-PE" sz="2400"/>
          </a:p>
        </p:txBody>
      </p:sp>
      <p:graphicFrame>
        <p:nvGraphicFramePr>
          <p:cNvPr id="63" name="Chart 8"/>
          <p:cNvGraphicFramePr/>
          <p:nvPr/>
        </p:nvGraphicFramePr>
        <p:xfrm>
          <a:off x="6292291" y="4815840"/>
          <a:ext cx="4183075" cy="73152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4" name="Chart 9"/>
          <p:cNvGraphicFramePr/>
          <p:nvPr/>
        </p:nvGraphicFramePr>
        <p:xfrm>
          <a:off x="6292291" y="5596128"/>
          <a:ext cx="4183075" cy="1414272"/>
        </p:xfrm>
        <a:graphic>
          <a:graphicData uri="http://schemas.openxmlformats.org/drawingml/2006/chart">
            <c:chart xmlns:c="http://schemas.openxmlformats.org/drawingml/2006/chart" xmlns:r="http://schemas.openxmlformats.org/officeDocument/2006/relationships" r:id="rId13"/>
          </a:graphicData>
        </a:graphic>
      </p:graphicFrame>
      <p:sp>
        <p:nvSpPr>
          <p:cNvPr id="65" name="Shape 52"/>
          <p:cNvSpPr/>
          <p:nvPr/>
        </p:nvSpPr>
        <p:spPr>
          <a:xfrm>
            <a:off x="107801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6" name="Shape 53"/>
          <p:cNvSpPr/>
          <p:nvPr/>
        </p:nvSpPr>
        <p:spPr>
          <a:xfrm>
            <a:off x="107801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67" name="Text 54"/>
          <p:cNvSpPr txBox="1"/>
          <p:nvPr/>
        </p:nvSpPr>
        <p:spPr>
          <a:xfrm>
            <a:off x="109264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por Reactivar</a:t>
            </a:r>
            <a:endParaRPr lang="en-US" sz="1400"/>
          </a:p>
        </p:txBody>
      </p:sp>
      <p:sp>
        <p:nvSpPr>
          <p:cNvPr id="68" name="Shape 55"/>
          <p:cNvSpPr/>
          <p:nvPr/>
        </p:nvSpPr>
        <p:spPr>
          <a:xfrm>
            <a:off x="14499945"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69" name="Text 56"/>
          <p:cNvSpPr txBox="1"/>
          <p:nvPr/>
        </p:nvSpPr>
        <p:spPr>
          <a:xfrm>
            <a:off x="14499945"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−16 pp</a:t>
            </a:r>
            <a:endParaRPr lang="en-US" sz="1000"/>
          </a:p>
        </p:txBody>
      </p:sp>
      <p:sp>
        <p:nvSpPr>
          <p:cNvPr id="70" name="Shape 57"/>
          <p:cNvSpPr/>
          <p:nvPr/>
        </p:nvSpPr>
        <p:spPr>
          <a:xfrm>
            <a:off x="13280745"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71" name="Text 58"/>
          <p:cNvSpPr txBox="1"/>
          <p:nvPr/>
        </p:nvSpPr>
        <p:spPr>
          <a:xfrm>
            <a:off x="13280745"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3,8 pp</a:t>
            </a:r>
            <a:endParaRPr lang="en-US" sz="1000"/>
          </a:p>
        </p:txBody>
      </p:sp>
      <p:sp>
        <p:nvSpPr>
          <p:cNvPr id="72" name="Text 59"/>
          <p:cNvSpPr txBox="1"/>
          <p:nvPr/>
        </p:nvSpPr>
        <p:spPr>
          <a:xfrm>
            <a:off x="108411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73" name="Text 60"/>
          <p:cNvSpPr txBox="1"/>
          <p:nvPr/>
        </p:nvSpPr>
        <p:spPr>
          <a:xfrm>
            <a:off x="108411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74" name="Shape 61"/>
          <p:cNvSpPr/>
          <p:nvPr/>
        </p:nvSpPr>
        <p:spPr>
          <a:xfrm>
            <a:off x="11353191" y="5571744"/>
            <a:ext cx="4122115" cy="0"/>
          </a:xfrm>
          <a:prstGeom prst="line">
            <a:avLst/>
          </a:prstGeom>
          <a:noFill/>
          <a:ln w="6350">
            <a:solidFill>
              <a:srgbClr val="D5DFDE"/>
            </a:solidFill>
            <a:prstDash val="dash"/>
          </a:ln>
        </p:spPr>
        <p:txBody>
          <a:bodyPr/>
          <a:lstStyle/>
          <a:p>
            <a:endParaRPr lang="es-PE" sz="2400"/>
          </a:p>
        </p:txBody>
      </p:sp>
      <p:graphicFrame>
        <p:nvGraphicFramePr>
          <p:cNvPr id="75" name="Chart 10"/>
          <p:cNvGraphicFramePr/>
          <p:nvPr/>
        </p:nvGraphicFramePr>
        <p:xfrm>
          <a:off x="11353191" y="4815840"/>
          <a:ext cx="4183075" cy="73152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76" name="Chart 11"/>
          <p:cNvGraphicFramePr/>
          <p:nvPr/>
        </p:nvGraphicFramePr>
        <p:xfrm>
          <a:off x="11353191" y="5596128"/>
          <a:ext cx="4183075" cy="1414272"/>
        </p:xfrm>
        <a:graphic>
          <a:graphicData uri="http://schemas.openxmlformats.org/drawingml/2006/chart">
            <c:chart xmlns:c="http://schemas.openxmlformats.org/drawingml/2006/chart" xmlns:r="http://schemas.openxmlformats.org/officeDocument/2006/relationships" r:id="rId15"/>
          </a:graphicData>
        </a:graphic>
      </p:graphicFrame>
      <p:sp>
        <p:nvSpPr>
          <p:cNvPr id="77" name="Shape 62"/>
          <p:cNvSpPr/>
          <p:nvPr/>
        </p:nvSpPr>
        <p:spPr>
          <a:xfrm>
            <a:off x="658368" y="7211568"/>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78" name="Text 63"/>
          <p:cNvSpPr txBox="1"/>
          <p:nvPr/>
        </p:nvSpPr>
        <p:spPr>
          <a:xfrm>
            <a:off x="987552" y="7156704"/>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79" name="Shape 64"/>
          <p:cNvSpPr/>
          <p:nvPr/>
        </p:nvSpPr>
        <p:spPr>
          <a:xfrm>
            <a:off x="2791968" y="7211568"/>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80" name="Text 65"/>
          <p:cNvSpPr txBox="1"/>
          <p:nvPr/>
        </p:nvSpPr>
        <p:spPr>
          <a:xfrm>
            <a:off x="3121152" y="7156704"/>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81" name="Shape 66"/>
          <p:cNvSpPr/>
          <p:nvPr/>
        </p:nvSpPr>
        <p:spPr>
          <a:xfrm>
            <a:off x="5474208" y="7211568"/>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82" name="Text 67"/>
          <p:cNvSpPr txBox="1"/>
          <p:nvPr/>
        </p:nvSpPr>
        <p:spPr>
          <a:xfrm>
            <a:off x="5803392" y="7156704"/>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83" name="Shape 68"/>
          <p:cNvSpPr/>
          <p:nvPr/>
        </p:nvSpPr>
        <p:spPr>
          <a:xfrm>
            <a:off x="7729728" y="7211568"/>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84" name="Text 69"/>
          <p:cNvSpPr txBox="1"/>
          <p:nvPr/>
        </p:nvSpPr>
        <p:spPr>
          <a:xfrm>
            <a:off x="8058912" y="7156704"/>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85" name="Shape 70"/>
          <p:cNvSpPr/>
          <p:nvPr/>
        </p:nvSpPr>
        <p:spPr>
          <a:xfrm>
            <a:off x="9619488" y="7278624"/>
            <a:ext cx="268224" cy="0"/>
          </a:xfrm>
          <a:prstGeom prst="line">
            <a:avLst/>
          </a:prstGeom>
          <a:noFill/>
          <a:ln w="19050">
            <a:solidFill>
              <a:srgbClr val="0B2E2C"/>
            </a:solidFill>
            <a:prstDash val="solid"/>
          </a:ln>
        </p:spPr>
        <p:txBody>
          <a:bodyPr/>
          <a:lstStyle/>
          <a:p>
            <a:endParaRPr lang="es-PE" sz="2400"/>
          </a:p>
        </p:txBody>
      </p:sp>
      <p:sp>
        <p:nvSpPr>
          <p:cNvPr id="86" name="Shape 71"/>
          <p:cNvSpPr/>
          <p:nvPr/>
        </p:nvSpPr>
        <p:spPr>
          <a:xfrm>
            <a:off x="9710928" y="7235952"/>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87" name="Text 72"/>
          <p:cNvSpPr txBox="1"/>
          <p:nvPr/>
        </p:nvSpPr>
        <p:spPr>
          <a:xfrm>
            <a:off x="9948672" y="7156704"/>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88" name="Shape 73"/>
          <p:cNvSpPr/>
          <p:nvPr/>
        </p:nvSpPr>
        <p:spPr>
          <a:xfrm>
            <a:off x="11021568" y="7278624"/>
            <a:ext cx="268224" cy="0"/>
          </a:xfrm>
          <a:prstGeom prst="line">
            <a:avLst/>
          </a:prstGeom>
          <a:noFill/>
          <a:ln w="19050">
            <a:solidFill>
              <a:srgbClr val="C87A0B"/>
            </a:solidFill>
            <a:prstDash val="dash"/>
          </a:ln>
        </p:spPr>
        <p:txBody>
          <a:bodyPr/>
          <a:lstStyle/>
          <a:p>
            <a:endParaRPr lang="es-PE" sz="2400"/>
          </a:p>
        </p:txBody>
      </p:sp>
      <p:sp>
        <p:nvSpPr>
          <p:cNvPr id="89" name="Shape 74"/>
          <p:cNvSpPr/>
          <p:nvPr/>
        </p:nvSpPr>
        <p:spPr>
          <a:xfrm>
            <a:off x="11113008" y="7235952"/>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90" name="Text 75"/>
          <p:cNvSpPr txBox="1"/>
          <p:nvPr/>
        </p:nvSpPr>
        <p:spPr>
          <a:xfrm>
            <a:off x="11350752" y="7156704"/>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91" name="Text 76"/>
          <p:cNvSpPr txBox="1"/>
          <p:nvPr/>
        </p:nvSpPr>
        <p:spPr>
          <a:xfrm>
            <a:off x="12789409" y="7156704"/>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92" name="Shape 77"/>
          <p:cNvSpPr/>
          <p:nvPr/>
        </p:nvSpPr>
        <p:spPr>
          <a:xfrm>
            <a:off x="658369" y="7522464"/>
            <a:ext cx="14938857" cy="1255776"/>
          </a:xfrm>
          <a:prstGeom prst="rect">
            <a:avLst/>
          </a:prstGeom>
          <a:solidFill>
            <a:srgbClr val="ECF6F5"/>
          </a:solidFill>
          <a:ln w="12700">
            <a:solidFill>
              <a:srgbClr val="ECF6F5"/>
            </a:solidFill>
            <a:prstDash val="solid"/>
          </a:ln>
        </p:spPr>
        <p:txBody>
          <a:bodyPr/>
          <a:lstStyle/>
          <a:p>
            <a:endParaRPr lang="es-PE" sz="2400"/>
          </a:p>
        </p:txBody>
      </p:sp>
      <p:sp>
        <p:nvSpPr>
          <p:cNvPr id="93" name="Shape 78"/>
          <p:cNvSpPr/>
          <p:nvPr/>
        </p:nvSpPr>
        <p:spPr>
          <a:xfrm>
            <a:off x="658368" y="7522464"/>
            <a:ext cx="73152" cy="1255776"/>
          </a:xfrm>
          <a:prstGeom prst="rect">
            <a:avLst/>
          </a:prstGeom>
          <a:solidFill>
            <a:srgbClr val="13807B"/>
          </a:solidFill>
          <a:ln w="12700">
            <a:solidFill>
              <a:srgbClr val="13807B"/>
            </a:solidFill>
            <a:prstDash val="solid"/>
          </a:ln>
        </p:spPr>
        <p:txBody>
          <a:bodyPr/>
          <a:lstStyle/>
          <a:p>
            <a:endParaRPr lang="es-PE" sz="2400"/>
          </a:p>
        </p:txBody>
      </p:sp>
      <p:sp>
        <p:nvSpPr>
          <p:cNvPr id="94" name="Text 79"/>
          <p:cNvSpPr txBox="1"/>
          <p:nvPr/>
        </p:nvSpPr>
        <p:spPr>
          <a:xfrm>
            <a:off x="926592" y="7644384"/>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95" name="Text 80"/>
          <p:cNvSpPr txBox="1"/>
          <p:nvPr/>
        </p:nvSpPr>
        <p:spPr>
          <a:xfrm>
            <a:off x="926592" y="7912608"/>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96" name="Text 81"/>
          <p:cNvSpPr txBox="1"/>
          <p:nvPr/>
        </p:nvSpPr>
        <p:spPr>
          <a:xfrm>
            <a:off x="926592"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6 clusters caen entre 2025Q2 y 2026Q2 (-16pp a -31pp) con la brecha TEA estable: el precio actual no explica la caída en monto, igual que en unidades.</a:t>
            </a:r>
            <a:endParaRPr lang="en-US" sz="1267"/>
          </a:p>
        </p:txBody>
      </p:sp>
      <p:sp>
        <p:nvSpPr>
          <p:cNvPr id="97" name="Text 82"/>
          <p:cNvSpPr txBox="1"/>
          <p:nvPr/>
        </p:nvSpPr>
        <p:spPr>
          <a:xfrm>
            <a:off x="5837123" y="7912608"/>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98" name="Text 83"/>
          <p:cNvSpPr txBox="1"/>
          <p:nvPr/>
        </p:nvSpPr>
        <p:spPr>
          <a:xfrm>
            <a:off x="5837123"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La caída en monto es igual o mayor que en unidades en 5 de los 6 clusters — si la baja de tasa se prueba, debe evaluarse primero en el segmento de ticket grande de Socio en Crecimiento y Maduro Multibanco, que son los que más valor absoluto de share pierden.</a:t>
            </a:r>
            <a:endParaRPr lang="en-US" sz="1267"/>
          </a:p>
        </p:txBody>
      </p:sp>
      <p:sp>
        <p:nvSpPr>
          <p:cNvPr id="99" name="Text 84"/>
          <p:cNvSpPr txBox="1"/>
          <p:nvPr/>
        </p:nvSpPr>
        <p:spPr>
          <a:xfrm>
            <a:off x="10747655" y="7912608"/>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100" name="Text 85"/>
          <p:cNvSpPr txBox="1"/>
          <p:nvPr/>
        </p:nvSpPr>
        <p:spPr>
          <a:xfrm>
            <a:off x="10747655"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Cliente por Reactivar vuelve a resistir mejor (-16pp) con la TEA más alta del grupo — no es candidato a baja de tasa por ahora.</a:t>
            </a:r>
            <a:endParaRPr lang="en-US" sz="1267"/>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SIN DEUDA · UNIDADES (N)</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Los 3 clusters sin deuda sostienen su share con la TEA más alta de toda la cartera — hay espacio para subir tasa</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Emprendedor Izipay</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6E7E7D"/>
                </a:solidFill>
                <a:latin typeface="Calibri" pitchFamily="34" charset="0"/>
                <a:ea typeface="Calibri" pitchFamily="34" charset="-122"/>
                <a:cs typeface="Calibri" pitchFamily="34" charset="-120"/>
              </a:rPr>
              <a:t>share  0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12" name="Text 9"/>
          <p:cNvSpPr txBox="1"/>
          <p:nvPr/>
        </p:nvSpPr>
        <p:spPr>
          <a:xfrm>
            <a:off x="719328"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9992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1036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3023616"/>
          <a:ext cx="4183075" cy="3511296"/>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Nuevo en Expansión</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−4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3,4 pp</a:t>
            </a:r>
            <a:endParaRPr lang="en-US" sz="1000"/>
          </a:p>
        </p:txBody>
      </p:sp>
      <p:sp>
        <p:nvSpPr>
          <p:cNvPr id="24" name="Text 19"/>
          <p:cNvSpPr txBox="1"/>
          <p:nvPr/>
        </p:nvSpPr>
        <p:spPr>
          <a:xfrm>
            <a:off x="57802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9992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10363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3023616"/>
          <a:ext cx="4183075" cy="3511296"/>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Próximo Recurrente</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13807B"/>
                </a:solidFill>
                <a:latin typeface="Calibri" pitchFamily="34" charset="0"/>
                <a:ea typeface="Calibri" pitchFamily="34" charset="-122"/>
                <a:cs typeface="Calibri" pitchFamily="34" charset="-120"/>
              </a:rPr>
              <a:t>share +3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4,6 pp</a:t>
            </a:r>
            <a:endParaRPr lang="en-US" sz="1000"/>
          </a:p>
        </p:txBody>
      </p:sp>
      <p:sp>
        <p:nvSpPr>
          <p:cNvPr id="36" name="Text 29"/>
          <p:cNvSpPr txBox="1"/>
          <p:nvPr/>
        </p:nvSpPr>
        <p:spPr>
          <a:xfrm>
            <a:off x="108411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9992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10363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3023616"/>
          <a:ext cx="4183075" cy="3511296"/>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6736080"/>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42" name="Text 33"/>
          <p:cNvSpPr txBox="1"/>
          <p:nvPr/>
        </p:nvSpPr>
        <p:spPr>
          <a:xfrm>
            <a:off x="987552" y="6681216"/>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43" name="Shape 34"/>
          <p:cNvSpPr/>
          <p:nvPr/>
        </p:nvSpPr>
        <p:spPr>
          <a:xfrm>
            <a:off x="2791968" y="6736080"/>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44" name="Text 35"/>
          <p:cNvSpPr txBox="1"/>
          <p:nvPr/>
        </p:nvSpPr>
        <p:spPr>
          <a:xfrm>
            <a:off x="3121152" y="6681216"/>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45" name="Shape 36"/>
          <p:cNvSpPr/>
          <p:nvPr/>
        </p:nvSpPr>
        <p:spPr>
          <a:xfrm>
            <a:off x="5474208" y="6736080"/>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46" name="Text 37"/>
          <p:cNvSpPr txBox="1"/>
          <p:nvPr/>
        </p:nvSpPr>
        <p:spPr>
          <a:xfrm>
            <a:off x="5803392" y="6681216"/>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47" name="Shape 38"/>
          <p:cNvSpPr/>
          <p:nvPr/>
        </p:nvSpPr>
        <p:spPr>
          <a:xfrm>
            <a:off x="7729728" y="6736080"/>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48" name="Text 39"/>
          <p:cNvSpPr txBox="1"/>
          <p:nvPr/>
        </p:nvSpPr>
        <p:spPr>
          <a:xfrm>
            <a:off x="8058912" y="6681216"/>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49" name="Shape 40"/>
          <p:cNvSpPr/>
          <p:nvPr/>
        </p:nvSpPr>
        <p:spPr>
          <a:xfrm>
            <a:off x="9619488" y="6803136"/>
            <a:ext cx="268224" cy="0"/>
          </a:xfrm>
          <a:prstGeom prst="line">
            <a:avLst/>
          </a:prstGeom>
          <a:noFill/>
          <a:ln w="19050">
            <a:solidFill>
              <a:srgbClr val="0B2E2C"/>
            </a:solidFill>
            <a:prstDash val="solid"/>
          </a:ln>
        </p:spPr>
        <p:txBody>
          <a:bodyPr/>
          <a:lstStyle/>
          <a:p>
            <a:endParaRPr lang="es-PE" sz="2400"/>
          </a:p>
        </p:txBody>
      </p:sp>
      <p:sp>
        <p:nvSpPr>
          <p:cNvPr id="50" name="Shape 41"/>
          <p:cNvSpPr/>
          <p:nvPr/>
        </p:nvSpPr>
        <p:spPr>
          <a:xfrm>
            <a:off x="9710928" y="6760464"/>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51" name="Text 42"/>
          <p:cNvSpPr txBox="1"/>
          <p:nvPr/>
        </p:nvSpPr>
        <p:spPr>
          <a:xfrm>
            <a:off x="9948672" y="6681216"/>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52" name="Shape 43"/>
          <p:cNvSpPr/>
          <p:nvPr/>
        </p:nvSpPr>
        <p:spPr>
          <a:xfrm>
            <a:off x="11021568" y="6803136"/>
            <a:ext cx="268224" cy="0"/>
          </a:xfrm>
          <a:prstGeom prst="line">
            <a:avLst/>
          </a:prstGeom>
          <a:noFill/>
          <a:ln w="19050">
            <a:solidFill>
              <a:srgbClr val="C87A0B"/>
            </a:solidFill>
            <a:prstDash val="dash"/>
          </a:ln>
        </p:spPr>
        <p:txBody>
          <a:bodyPr/>
          <a:lstStyle/>
          <a:p>
            <a:endParaRPr lang="es-PE" sz="2400"/>
          </a:p>
        </p:txBody>
      </p:sp>
      <p:sp>
        <p:nvSpPr>
          <p:cNvPr id="53" name="Shape 44"/>
          <p:cNvSpPr/>
          <p:nvPr/>
        </p:nvSpPr>
        <p:spPr>
          <a:xfrm>
            <a:off x="11113008" y="6760464"/>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54" name="Text 45"/>
          <p:cNvSpPr txBox="1"/>
          <p:nvPr/>
        </p:nvSpPr>
        <p:spPr>
          <a:xfrm>
            <a:off x="11350752" y="6681216"/>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55" name="Text 46"/>
          <p:cNvSpPr txBox="1"/>
          <p:nvPr/>
        </p:nvSpPr>
        <p:spPr>
          <a:xfrm>
            <a:off x="12789409" y="6681216"/>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56" name="Shape 47"/>
          <p:cNvSpPr/>
          <p:nvPr/>
        </p:nvSpPr>
        <p:spPr>
          <a:xfrm>
            <a:off x="658369" y="7046976"/>
            <a:ext cx="14938857" cy="1731264"/>
          </a:xfrm>
          <a:prstGeom prst="rect">
            <a:avLst/>
          </a:prstGeom>
          <a:solidFill>
            <a:srgbClr val="ECF6F5"/>
          </a:solidFill>
          <a:ln w="12700">
            <a:solidFill>
              <a:srgbClr val="ECF6F5"/>
            </a:solidFill>
            <a:prstDash val="solid"/>
          </a:ln>
        </p:spPr>
        <p:txBody>
          <a:bodyPr/>
          <a:lstStyle/>
          <a:p>
            <a:endParaRPr lang="es-PE" sz="2400"/>
          </a:p>
        </p:txBody>
      </p:sp>
      <p:sp>
        <p:nvSpPr>
          <p:cNvPr id="57" name="Shape 48"/>
          <p:cNvSpPr/>
          <p:nvPr/>
        </p:nvSpPr>
        <p:spPr>
          <a:xfrm>
            <a:off x="658368" y="7046976"/>
            <a:ext cx="73152" cy="1731264"/>
          </a:xfrm>
          <a:prstGeom prst="rect">
            <a:avLst/>
          </a:prstGeom>
          <a:solidFill>
            <a:srgbClr val="13807B"/>
          </a:solidFill>
          <a:ln w="12700">
            <a:solidFill>
              <a:srgbClr val="13807B"/>
            </a:solidFill>
            <a:prstDash val="solid"/>
          </a:ln>
        </p:spPr>
        <p:txBody>
          <a:bodyPr/>
          <a:lstStyle/>
          <a:p>
            <a:endParaRPr lang="es-PE" sz="2400"/>
          </a:p>
        </p:txBody>
      </p:sp>
      <p:sp>
        <p:nvSpPr>
          <p:cNvPr id="58" name="Text 49"/>
          <p:cNvSpPr txBox="1"/>
          <p:nvPr/>
        </p:nvSpPr>
        <p:spPr>
          <a:xfrm>
            <a:off x="926592" y="7168896"/>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59" name="Text 50"/>
          <p:cNvSpPr txBox="1"/>
          <p:nvPr/>
        </p:nvSpPr>
        <p:spPr>
          <a:xfrm>
            <a:off x="926592" y="7437120"/>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60" name="Text 51"/>
          <p:cNvSpPr txBox="1"/>
          <p:nvPr/>
        </p:nvSpPr>
        <p:spPr>
          <a:xfrm>
            <a:off x="926592"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3 clusters mantienen share alto (66%-95%) con la TEA ofertada más alta de toda la cartera (22.6%-26.9% vs. ~20-23% en con deuda) — sin competencia visible, el cliente no está comparando precio.</a:t>
            </a:r>
            <a:endParaRPr lang="en-US" sz="1267"/>
          </a:p>
        </p:txBody>
      </p:sp>
      <p:sp>
        <p:nvSpPr>
          <p:cNvPr id="61" name="Text 52"/>
          <p:cNvSpPr txBox="1"/>
          <p:nvPr/>
        </p:nvSpPr>
        <p:spPr>
          <a:xfrm>
            <a:off x="5837123" y="7437120"/>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62" name="Text 53"/>
          <p:cNvSpPr txBox="1"/>
          <p:nvPr/>
        </p:nvSpPr>
        <p:spPr>
          <a:xfrm>
            <a:off x="5837123"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Emprendedor Izipay y Próximo Recurrente son los candidatos más claros para testear un alza selectiva de tasa: son los más estables y ya sostienen el share con la TEA más alta sin señales de fuga.</a:t>
            </a:r>
            <a:endParaRPr lang="en-US" sz="1267"/>
          </a:p>
        </p:txBody>
      </p:sp>
      <p:sp>
        <p:nvSpPr>
          <p:cNvPr id="63" name="Text 54"/>
          <p:cNvSpPr txBox="1"/>
          <p:nvPr/>
        </p:nvSpPr>
        <p:spPr>
          <a:xfrm>
            <a:off x="10747655" y="7437120"/>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64" name="Text 55"/>
          <p:cNvSpPr txBox="1"/>
          <p:nvPr/>
        </p:nvSpPr>
        <p:spPr>
          <a:xfrm>
            <a:off x="10747655"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Nuevo en Expansión es el más volátil (-22pp en un solo trimestre) — antes de subir tasa ahí, entender esa caída puntual; podría ser menos cautivo de lo que parece en el agregado.</a:t>
            </a:r>
            <a:endParaRPr lang="en-US" sz="1267"/>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SIN DEUDA · MONTO (S/)</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En monto, Próximo Recurrente crece con la TEA más alta de la cartera — el caso más claro para testear un alza de tasa</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Emprendedor Izipay</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6E7E7D"/>
                </a:solidFill>
                <a:latin typeface="Calibri" pitchFamily="34" charset="0"/>
                <a:ea typeface="Calibri" pitchFamily="34" charset="-122"/>
                <a:cs typeface="Calibri" pitchFamily="34" charset="-120"/>
              </a:rPr>
              <a:t>share +1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12" name="Text 9"/>
          <p:cNvSpPr txBox="1"/>
          <p:nvPr/>
        </p:nvSpPr>
        <p:spPr>
          <a:xfrm>
            <a:off x="719328"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9992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1036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3023616"/>
          <a:ext cx="4183075" cy="3511296"/>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Nuevo en Expansión</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6E7E7D"/>
                </a:solidFill>
                <a:latin typeface="Calibri" pitchFamily="34" charset="0"/>
                <a:ea typeface="Calibri" pitchFamily="34" charset="-122"/>
                <a:cs typeface="Calibri" pitchFamily="34" charset="-120"/>
              </a:rPr>
              <a:t>share +1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3,4 pp</a:t>
            </a:r>
            <a:endParaRPr lang="en-US" sz="1000"/>
          </a:p>
        </p:txBody>
      </p:sp>
      <p:sp>
        <p:nvSpPr>
          <p:cNvPr id="24" name="Text 19"/>
          <p:cNvSpPr txBox="1"/>
          <p:nvPr/>
        </p:nvSpPr>
        <p:spPr>
          <a:xfrm>
            <a:off x="57802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9992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10363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3023616"/>
          <a:ext cx="4183075" cy="3511296"/>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Próximo Recurrente</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13807B"/>
                </a:solidFill>
                <a:latin typeface="Calibri" pitchFamily="34" charset="0"/>
                <a:ea typeface="Calibri" pitchFamily="34" charset="-122"/>
                <a:cs typeface="Calibri" pitchFamily="34" charset="-120"/>
              </a:rPr>
              <a:t>share +11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4,6 pp</a:t>
            </a:r>
            <a:endParaRPr lang="en-US" sz="1000"/>
          </a:p>
        </p:txBody>
      </p:sp>
      <p:sp>
        <p:nvSpPr>
          <p:cNvPr id="36" name="Text 29"/>
          <p:cNvSpPr txBox="1"/>
          <p:nvPr/>
        </p:nvSpPr>
        <p:spPr>
          <a:xfrm>
            <a:off x="108411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9992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10363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3023616"/>
          <a:ext cx="4183075" cy="3511296"/>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6736080"/>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42" name="Text 33"/>
          <p:cNvSpPr txBox="1"/>
          <p:nvPr/>
        </p:nvSpPr>
        <p:spPr>
          <a:xfrm>
            <a:off x="987552" y="6681216"/>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43" name="Shape 34"/>
          <p:cNvSpPr/>
          <p:nvPr/>
        </p:nvSpPr>
        <p:spPr>
          <a:xfrm>
            <a:off x="2791968" y="6736080"/>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44" name="Text 35"/>
          <p:cNvSpPr txBox="1"/>
          <p:nvPr/>
        </p:nvSpPr>
        <p:spPr>
          <a:xfrm>
            <a:off x="3121152" y="6681216"/>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45" name="Shape 36"/>
          <p:cNvSpPr/>
          <p:nvPr/>
        </p:nvSpPr>
        <p:spPr>
          <a:xfrm>
            <a:off x="5474208" y="6736080"/>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46" name="Text 37"/>
          <p:cNvSpPr txBox="1"/>
          <p:nvPr/>
        </p:nvSpPr>
        <p:spPr>
          <a:xfrm>
            <a:off x="5803392" y="6681216"/>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47" name="Shape 38"/>
          <p:cNvSpPr/>
          <p:nvPr/>
        </p:nvSpPr>
        <p:spPr>
          <a:xfrm>
            <a:off x="7729728" y="6736080"/>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48" name="Text 39"/>
          <p:cNvSpPr txBox="1"/>
          <p:nvPr/>
        </p:nvSpPr>
        <p:spPr>
          <a:xfrm>
            <a:off x="8058912" y="6681216"/>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49" name="Shape 40"/>
          <p:cNvSpPr/>
          <p:nvPr/>
        </p:nvSpPr>
        <p:spPr>
          <a:xfrm>
            <a:off x="9619488" y="6803136"/>
            <a:ext cx="268224" cy="0"/>
          </a:xfrm>
          <a:prstGeom prst="line">
            <a:avLst/>
          </a:prstGeom>
          <a:noFill/>
          <a:ln w="19050">
            <a:solidFill>
              <a:srgbClr val="0B2E2C"/>
            </a:solidFill>
            <a:prstDash val="solid"/>
          </a:ln>
        </p:spPr>
        <p:txBody>
          <a:bodyPr/>
          <a:lstStyle/>
          <a:p>
            <a:endParaRPr lang="es-PE" sz="2400"/>
          </a:p>
        </p:txBody>
      </p:sp>
      <p:sp>
        <p:nvSpPr>
          <p:cNvPr id="50" name="Shape 41"/>
          <p:cNvSpPr/>
          <p:nvPr/>
        </p:nvSpPr>
        <p:spPr>
          <a:xfrm>
            <a:off x="9710928" y="6760464"/>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51" name="Text 42"/>
          <p:cNvSpPr txBox="1"/>
          <p:nvPr/>
        </p:nvSpPr>
        <p:spPr>
          <a:xfrm>
            <a:off x="9948672" y="6681216"/>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52" name="Shape 43"/>
          <p:cNvSpPr/>
          <p:nvPr/>
        </p:nvSpPr>
        <p:spPr>
          <a:xfrm>
            <a:off x="11021568" y="6803136"/>
            <a:ext cx="268224" cy="0"/>
          </a:xfrm>
          <a:prstGeom prst="line">
            <a:avLst/>
          </a:prstGeom>
          <a:noFill/>
          <a:ln w="19050">
            <a:solidFill>
              <a:srgbClr val="C87A0B"/>
            </a:solidFill>
            <a:prstDash val="dash"/>
          </a:ln>
        </p:spPr>
        <p:txBody>
          <a:bodyPr/>
          <a:lstStyle/>
          <a:p>
            <a:endParaRPr lang="es-PE" sz="2400"/>
          </a:p>
        </p:txBody>
      </p:sp>
      <p:sp>
        <p:nvSpPr>
          <p:cNvPr id="53" name="Shape 44"/>
          <p:cNvSpPr/>
          <p:nvPr/>
        </p:nvSpPr>
        <p:spPr>
          <a:xfrm>
            <a:off x="11113008" y="6760464"/>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54" name="Text 45"/>
          <p:cNvSpPr txBox="1"/>
          <p:nvPr/>
        </p:nvSpPr>
        <p:spPr>
          <a:xfrm>
            <a:off x="11350752" y="6681216"/>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55" name="Text 46"/>
          <p:cNvSpPr txBox="1"/>
          <p:nvPr/>
        </p:nvSpPr>
        <p:spPr>
          <a:xfrm>
            <a:off x="12789409" y="6681216"/>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56" name="Shape 47"/>
          <p:cNvSpPr/>
          <p:nvPr/>
        </p:nvSpPr>
        <p:spPr>
          <a:xfrm>
            <a:off x="658369" y="7046976"/>
            <a:ext cx="14938857" cy="1731264"/>
          </a:xfrm>
          <a:prstGeom prst="rect">
            <a:avLst/>
          </a:prstGeom>
          <a:solidFill>
            <a:srgbClr val="ECF6F5"/>
          </a:solidFill>
          <a:ln w="12700">
            <a:solidFill>
              <a:srgbClr val="ECF6F5"/>
            </a:solidFill>
            <a:prstDash val="solid"/>
          </a:ln>
        </p:spPr>
        <p:txBody>
          <a:bodyPr/>
          <a:lstStyle/>
          <a:p>
            <a:endParaRPr lang="es-PE" sz="2400"/>
          </a:p>
        </p:txBody>
      </p:sp>
      <p:sp>
        <p:nvSpPr>
          <p:cNvPr id="57" name="Shape 48"/>
          <p:cNvSpPr/>
          <p:nvPr/>
        </p:nvSpPr>
        <p:spPr>
          <a:xfrm>
            <a:off x="658368" y="7046976"/>
            <a:ext cx="73152" cy="1731264"/>
          </a:xfrm>
          <a:prstGeom prst="rect">
            <a:avLst/>
          </a:prstGeom>
          <a:solidFill>
            <a:srgbClr val="13807B"/>
          </a:solidFill>
          <a:ln w="12700">
            <a:solidFill>
              <a:srgbClr val="13807B"/>
            </a:solidFill>
            <a:prstDash val="solid"/>
          </a:ln>
        </p:spPr>
        <p:txBody>
          <a:bodyPr/>
          <a:lstStyle/>
          <a:p>
            <a:endParaRPr lang="es-PE" sz="2400"/>
          </a:p>
        </p:txBody>
      </p:sp>
      <p:sp>
        <p:nvSpPr>
          <p:cNvPr id="58" name="Text 49"/>
          <p:cNvSpPr txBox="1"/>
          <p:nvPr/>
        </p:nvSpPr>
        <p:spPr>
          <a:xfrm>
            <a:off x="926592" y="7168896"/>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59" name="Text 50"/>
          <p:cNvSpPr txBox="1"/>
          <p:nvPr/>
        </p:nvSpPr>
        <p:spPr>
          <a:xfrm>
            <a:off x="926592" y="7437120"/>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60" name="Text 51"/>
          <p:cNvSpPr txBox="1"/>
          <p:nvPr/>
        </p:nvSpPr>
        <p:spPr>
          <a:xfrm>
            <a:off x="926592"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3 clusters cierran iguales o por encima de donde empezaron (Próximo Recurrente +11pp) con la TEA ofertada más alta de toda la cartera — el margen ya es alto y el share no muestra señales de fuga.</a:t>
            </a:r>
            <a:endParaRPr lang="en-US" sz="1267"/>
          </a:p>
        </p:txBody>
      </p:sp>
      <p:sp>
        <p:nvSpPr>
          <p:cNvPr id="61" name="Text 52"/>
          <p:cNvSpPr txBox="1"/>
          <p:nvPr/>
        </p:nvSpPr>
        <p:spPr>
          <a:xfrm>
            <a:off x="5837123" y="7437120"/>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62" name="Text 53"/>
          <p:cNvSpPr txBox="1"/>
          <p:nvPr/>
        </p:nvSpPr>
        <p:spPr>
          <a:xfrm>
            <a:off x="5837123"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Próximo Recurrente es el caso más claro para un piloto de alza de tasa: crece en share y monto a la vez, con la TEA más alta del grupo — sugiere que todavía hay margen sin tocar el volumen.</a:t>
            </a:r>
            <a:endParaRPr lang="en-US" sz="1267"/>
          </a:p>
        </p:txBody>
      </p:sp>
      <p:sp>
        <p:nvSpPr>
          <p:cNvPr id="63" name="Text 54"/>
          <p:cNvSpPr txBox="1"/>
          <p:nvPr/>
        </p:nvSpPr>
        <p:spPr>
          <a:xfrm>
            <a:off x="10747655" y="7437120"/>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64" name="Text 55"/>
          <p:cNvSpPr txBox="1"/>
          <p:nvPr/>
        </p:nvSpPr>
        <p:spPr>
          <a:xfrm>
            <a:off x="10747655"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tres muestran una caída fuerte a mitad de periodo (2025Q4) seguida de recuperación — antes de subir tasa, confirmar que esa caída no se repite en el próximo Q4, para no mover precio justo antes de un bache estacional.</a:t>
            </a:r>
            <a:endParaRPr lang="en-US" sz="1267"/>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MARCO METODOLÓGICO</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Cuatro </a:t>
            </a:r>
            <a:r>
              <a:rPr lang="en-US" sz="2267" b="1" err="1">
                <a:solidFill>
                  <a:srgbClr val="13807B"/>
                </a:solidFill>
                <a:latin typeface="Poppins" pitchFamily="34" charset="0"/>
                <a:ea typeface="Poppins" pitchFamily="34" charset="-122"/>
                <a:cs typeface="Poppins" pitchFamily="34" charset="-120"/>
              </a:rPr>
              <a:t>etapas</a:t>
            </a:r>
            <a:r>
              <a:rPr lang="en-US" sz="2267" b="1">
                <a:solidFill>
                  <a:srgbClr val="13807B"/>
                </a:solidFill>
                <a:latin typeface="Poppins" pitchFamily="34" charset="0"/>
                <a:ea typeface="Poppins" pitchFamily="34" charset="-122"/>
                <a:cs typeface="Poppins" pitchFamily="34" charset="-120"/>
              </a:rPr>
              <a:t> para </a:t>
            </a:r>
            <a:r>
              <a:rPr lang="en-US" sz="2267" b="1" err="1">
                <a:solidFill>
                  <a:srgbClr val="13807B"/>
                </a:solidFill>
                <a:latin typeface="Poppins" pitchFamily="34" charset="0"/>
                <a:ea typeface="Poppins" pitchFamily="34" charset="-122"/>
                <a:cs typeface="Poppins" pitchFamily="34" charset="-120"/>
              </a:rPr>
              <a:t>medir</a:t>
            </a:r>
            <a:r>
              <a:rPr lang="en-US" sz="2267" b="1">
                <a:solidFill>
                  <a:srgbClr val="13807B"/>
                </a:solidFill>
                <a:latin typeface="Poppins" pitchFamily="34" charset="0"/>
                <a:ea typeface="Poppins" pitchFamily="34" charset="-122"/>
                <a:cs typeface="Poppins" pitchFamily="34" charset="-120"/>
              </a:rPr>
              <a:t> el share de </a:t>
            </a:r>
            <a:r>
              <a:rPr lang="en-US" sz="2267" b="1" err="1">
                <a:solidFill>
                  <a:srgbClr val="13807B"/>
                </a:solidFill>
                <a:latin typeface="Poppins" pitchFamily="34" charset="0"/>
                <a:ea typeface="Poppins" pitchFamily="34" charset="-122"/>
                <a:cs typeface="Poppins" pitchFamily="34" charset="-120"/>
              </a:rPr>
              <a:t>oferta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relevante</a:t>
            </a:r>
            <a:r>
              <a:rPr lang="en-US" sz="2267" b="1">
                <a:solidFill>
                  <a:srgbClr val="13807B"/>
                </a:solidFill>
                <a:latin typeface="Poppins" pitchFamily="34" charset="0"/>
                <a:ea typeface="Poppins" pitchFamily="34" charset="-122"/>
                <a:cs typeface="Poppins" pitchFamily="34" charset="-120"/>
              </a:rPr>
              <a:t> de forma </a:t>
            </a:r>
            <a:r>
              <a:rPr lang="en-US" sz="2267" b="1" err="1">
                <a:solidFill>
                  <a:srgbClr val="13807B"/>
                </a:solidFill>
                <a:latin typeface="Poppins" pitchFamily="34" charset="0"/>
                <a:ea typeface="Poppins" pitchFamily="34" charset="-122"/>
                <a:cs typeface="Poppins" pitchFamily="34" charset="-120"/>
              </a:rPr>
              <a:t>justa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cada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capa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retira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competencia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que</a:t>
            </a:r>
            <a:r>
              <a:rPr lang="en-US" sz="2267" b="1">
                <a:solidFill>
                  <a:srgbClr val="13807B"/>
                </a:solidFill>
                <a:latin typeface="Poppins" pitchFamily="34" charset="0"/>
                <a:ea typeface="Poppins" pitchFamily="34" charset="-122"/>
                <a:cs typeface="Poppins" pitchFamily="34" charset="-120"/>
              </a:rPr>
              <a:t> IBK no </a:t>
            </a:r>
            <a:r>
              <a:rPr lang="en-US" sz="2267" b="1" err="1">
                <a:solidFill>
                  <a:srgbClr val="13807B"/>
                </a:solidFill>
                <a:latin typeface="Poppins" pitchFamily="34" charset="0"/>
                <a:ea typeface="Poppins" pitchFamily="34" charset="-122"/>
                <a:cs typeface="Poppins" pitchFamily="34" charset="-120"/>
              </a:rPr>
              <a:t>podía</a:t>
            </a:r>
            <a:r>
              <a:rPr lang="en-US" sz="2267" b="1">
                <a:solidFill>
                  <a:srgbClr val="13807B"/>
                </a:solidFill>
                <a:latin typeface="Poppins" pitchFamily="34" charset="0"/>
                <a:ea typeface="Poppins" pitchFamily="34" charset="-122"/>
                <a:cs typeface="Poppins" pitchFamily="34" charset="-120"/>
              </a:rPr>
              <a:t> </a:t>
            </a:r>
            <a:r>
              <a:rPr lang="en-US" sz="2267" b="1" err="1">
                <a:solidFill>
                  <a:srgbClr val="13807B"/>
                </a:solidFill>
                <a:latin typeface="Poppins" pitchFamily="34" charset="0"/>
                <a:ea typeface="Poppins" pitchFamily="34" charset="-122"/>
                <a:cs typeface="Poppins" pitchFamily="34" charset="-120"/>
              </a:rPr>
              <a:t>ganar</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645920"/>
            <a:ext cx="3442107" cy="341376"/>
          </a:xfrm>
          <a:prstGeom prst="rect">
            <a:avLst/>
          </a:prstGeom>
          <a:solidFill>
            <a:srgbClr val="445A6E"/>
          </a:solidFill>
          <a:ln w="12700">
            <a:solidFill>
              <a:srgbClr val="445A6E"/>
            </a:solidFill>
            <a:prstDash val="solid"/>
          </a:ln>
        </p:spPr>
        <p:txBody>
          <a:bodyPr/>
          <a:lstStyle/>
          <a:p>
            <a:endParaRPr lang="es-PE" sz="2400"/>
          </a:p>
        </p:txBody>
      </p:sp>
      <p:sp>
        <p:nvSpPr>
          <p:cNvPr id="7" name="Text 4"/>
          <p:cNvSpPr txBox="1"/>
          <p:nvPr/>
        </p:nvSpPr>
        <p:spPr>
          <a:xfrm>
            <a:off x="804672"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1 · V1</a:t>
            </a:r>
            <a:endParaRPr lang="en-US" sz="1400"/>
          </a:p>
        </p:txBody>
      </p:sp>
      <p:sp>
        <p:nvSpPr>
          <p:cNvPr id="8" name="Text 5"/>
          <p:cNvSpPr txBox="1"/>
          <p:nvPr/>
        </p:nvSpPr>
        <p:spPr>
          <a:xfrm>
            <a:off x="853440"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Universo total</a:t>
            </a:r>
            <a:endParaRPr lang="en-US" sz="1667"/>
          </a:p>
        </p:txBody>
      </p:sp>
      <p:sp>
        <p:nvSpPr>
          <p:cNvPr id="9" name="Shape 6"/>
          <p:cNvSpPr/>
          <p:nvPr/>
        </p:nvSpPr>
        <p:spPr>
          <a:xfrm>
            <a:off x="853440" y="2572512"/>
            <a:ext cx="3051963" cy="609600"/>
          </a:xfrm>
          <a:prstGeom prst="rect">
            <a:avLst/>
          </a:prstGeom>
          <a:solidFill>
            <a:srgbClr val="ECF6F5"/>
          </a:solidFill>
          <a:ln w="12700">
            <a:solidFill>
              <a:srgbClr val="ECF6F5"/>
            </a:solidFill>
            <a:prstDash val="solid"/>
          </a:ln>
        </p:spPr>
        <p:txBody>
          <a:bodyPr/>
          <a:lstStyle/>
          <a:p>
            <a:endParaRPr lang="es-PE" sz="2400"/>
          </a:p>
        </p:txBody>
      </p:sp>
      <p:sp>
        <p:nvSpPr>
          <p:cNvPr id="10" name="Text 7"/>
          <p:cNvSpPr txBox="1"/>
          <p:nvPr/>
        </p:nvSpPr>
        <p:spPr>
          <a:xfrm>
            <a:off x="975360" y="2572512"/>
            <a:ext cx="2808123" cy="609600"/>
          </a:xfrm>
          <a:prstGeom prst="rect">
            <a:avLst/>
          </a:prstGeom>
          <a:noFill/>
          <a:ln/>
        </p:spPr>
        <p:txBody>
          <a:bodyPr wrap="square" lIns="0" tIns="0" rIns="0" bIns="0" rtlCol="0" anchor="ctr"/>
          <a:lstStyle/>
          <a:p>
            <a:r>
              <a:rPr lang="en-US" sz="1267" b="1">
                <a:solidFill>
                  <a:srgbClr val="0C514E"/>
                </a:solidFill>
                <a:latin typeface="Calibri" pitchFamily="34" charset="0"/>
                <a:ea typeface="Calibri" pitchFamily="34" charset="-122"/>
                <a:cs typeface="Calibri" pitchFamily="34" charset="-120"/>
              </a:rPr>
              <a:t>CT vs. todos los desembolsos</a:t>
            </a:r>
            <a:endParaRPr lang="en-US" sz="1267"/>
          </a:p>
        </p:txBody>
      </p:sp>
      <p:sp>
        <p:nvSpPr>
          <p:cNvPr id="11" name="Text 8"/>
          <p:cNvSpPr txBox="1"/>
          <p:nvPr/>
        </p:nvSpPr>
        <p:spPr>
          <a:xfrm>
            <a:off x="853440"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Todos los desembolsos del cliente: competencia interna (otro producto de CT) y externa (otros bancos).</a:t>
            </a:r>
            <a:endParaRPr lang="en-US" sz="1267"/>
          </a:p>
        </p:txBody>
      </p:sp>
      <p:sp>
        <p:nvSpPr>
          <p:cNvPr id="12" name="Text 9"/>
          <p:cNvSpPr txBox="1"/>
          <p:nvPr/>
        </p:nvSpPr>
        <p:spPr>
          <a:xfrm>
            <a:off x="853440"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13" name="Shape 10"/>
          <p:cNvSpPr/>
          <p:nvPr/>
        </p:nvSpPr>
        <p:spPr>
          <a:xfrm>
            <a:off x="853441"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14" name="Text 11"/>
          <p:cNvSpPr txBox="1"/>
          <p:nvPr/>
        </p:nvSpPr>
        <p:spPr>
          <a:xfrm>
            <a:off x="792481"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Interna</a:t>
            </a:r>
            <a:endParaRPr lang="en-US" sz="867"/>
          </a:p>
        </p:txBody>
      </p:sp>
      <p:sp>
        <p:nvSpPr>
          <p:cNvPr id="15" name="Shape 12"/>
          <p:cNvSpPr/>
          <p:nvPr/>
        </p:nvSpPr>
        <p:spPr>
          <a:xfrm>
            <a:off x="1625575"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16" name="Text 13"/>
          <p:cNvSpPr txBox="1"/>
          <p:nvPr/>
        </p:nvSpPr>
        <p:spPr>
          <a:xfrm>
            <a:off x="156461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comp.</a:t>
            </a:r>
            <a:endParaRPr lang="en-US" sz="867"/>
          </a:p>
        </p:txBody>
      </p:sp>
      <p:sp>
        <p:nvSpPr>
          <p:cNvPr id="17" name="Shape 14"/>
          <p:cNvSpPr/>
          <p:nvPr/>
        </p:nvSpPr>
        <p:spPr>
          <a:xfrm>
            <a:off x="2397710"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18" name="Text 15"/>
          <p:cNvSpPr txBox="1"/>
          <p:nvPr/>
        </p:nvSpPr>
        <p:spPr>
          <a:xfrm>
            <a:off x="2336750"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gest.</a:t>
            </a:r>
            <a:endParaRPr lang="en-US" sz="867"/>
          </a:p>
        </p:txBody>
      </p:sp>
      <p:sp>
        <p:nvSpPr>
          <p:cNvPr id="19" name="Shape 16"/>
          <p:cNvSpPr/>
          <p:nvPr/>
        </p:nvSpPr>
        <p:spPr>
          <a:xfrm>
            <a:off x="316984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20" name="Text 17"/>
          <p:cNvSpPr txBox="1"/>
          <p:nvPr/>
        </p:nvSpPr>
        <p:spPr>
          <a:xfrm>
            <a:off x="310888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21" name="Shape 18"/>
          <p:cNvSpPr/>
          <p:nvPr/>
        </p:nvSpPr>
        <p:spPr>
          <a:xfrm>
            <a:off x="853440" y="4937760"/>
            <a:ext cx="3051963" cy="0"/>
          </a:xfrm>
          <a:prstGeom prst="line">
            <a:avLst/>
          </a:prstGeom>
          <a:noFill/>
          <a:ln w="9525">
            <a:solidFill>
              <a:srgbClr val="D5DFDE"/>
            </a:solidFill>
            <a:prstDash val="solid"/>
          </a:ln>
        </p:spPr>
        <p:txBody>
          <a:bodyPr/>
          <a:lstStyle/>
          <a:p>
            <a:endParaRPr lang="es-PE" sz="2400"/>
          </a:p>
        </p:txBody>
      </p:sp>
      <p:sp>
        <p:nvSpPr>
          <p:cNvPr id="22" name="Text 19"/>
          <p:cNvSpPr txBox="1"/>
          <p:nvPr/>
        </p:nvSpPr>
        <p:spPr>
          <a:xfrm>
            <a:off x="853440"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PUNTO DE PARTIDA</a:t>
            </a:r>
            <a:endParaRPr lang="en-US" sz="933"/>
          </a:p>
        </p:txBody>
      </p:sp>
      <p:sp>
        <p:nvSpPr>
          <p:cNvPr id="23" name="Text 20"/>
          <p:cNvSpPr txBox="1"/>
          <p:nvPr/>
        </p:nvSpPr>
        <p:spPr>
          <a:xfrm>
            <a:off x="853440" y="5230368"/>
            <a:ext cx="3051963" cy="341376"/>
          </a:xfrm>
          <a:prstGeom prst="rect">
            <a:avLst/>
          </a:prstGeom>
          <a:noFill/>
          <a:ln/>
        </p:spPr>
        <p:txBody>
          <a:bodyPr wrap="square" lIns="0" tIns="0" rIns="0" bIns="0" rtlCol="0" anchor="ctr"/>
          <a:lstStyle/>
          <a:p>
            <a:r>
              <a:rPr lang="en-US" sz="1533" b="1">
                <a:solidFill>
                  <a:srgbClr val="13807B"/>
                </a:solidFill>
                <a:latin typeface="Calibri" pitchFamily="34" charset="0"/>
                <a:ea typeface="Calibri" pitchFamily="34" charset="-122"/>
                <a:cs typeface="Calibri" pitchFamily="34" charset="-120"/>
              </a:rPr>
              <a:t>Todo el universo relevante</a:t>
            </a:r>
            <a:endParaRPr lang="en-US" sz="1533"/>
          </a:p>
        </p:txBody>
      </p:sp>
      <p:sp>
        <p:nvSpPr>
          <p:cNvPr id="24" name="Shape 21"/>
          <p:cNvSpPr/>
          <p:nvPr/>
        </p:nvSpPr>
        <p:spPr>
          <a:xfrm>
            <a:off x="4198011" y="3511296"/>
            <a:ext cx="195072" cy="316992"/>
          </a:xfrm>
          <a:prstGeom prst="chevron">
            <a:avLst/>
          </a:prstGeom>
          <a:solidFill>
            <a:srgbClr val="D5DFDE"/>
          </a:solidFill>
          <a:ln w="12700">
            <a:solidFill>
              <a:srgbClr val="D5DFDE"/>
            </a:solidFill>
            <a:prstDash val="solid"/>
          </a:ln>
        </p:spPr>
        <p:txBody>
          <a:bodyPr/>
          <a:lstStyle/>
          <a:p>
            <a:endParaRPr lang="es-PE" sz="2400"/>
          </a:p>
        </p:txBody>
      </p:sp>
      <p:sp>
        <p:nvSpPr>
          <p:cNvPr id="25" name="Shape 22"/>
          <p:cNvSpPr/>
          <p:nvPr/>
        </p:nvSpPr>
        <p:spPr>
          <a:xfrm>
            <a:off x="4490619"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26" name="Shape 23"/>
          <p:cNvSpPr/>
          <p:nvPr/>
        </p:nvSpPr>
        <p:spPr>
          <a:xfrm>
            <a:off x="4490619" y="1645920"/>
            <a:ext cx="3442107" cy="341376"/>
          </a:xfrm>
          <a:prstGeom prst="rect">
            <a:avLst/>
          </a:prstGeom>
          <a:solidFill>
            <a:srgbClr val="2F9E98"/>
          </a:solidFill>
          <a:ln w="12700">
            <a:solidFill>
              <a:srgbClr val="2F9E98"/>
            </a:solidFill>
            <a:prstDash val="solid"/>
          </a:ln>
        </p:spPr>
        <p:txBody>
          <a:bodyPr/>
          <a:lstStyle/>
          <a:p>
            <a:endParaRPr lang="es-PE" sz="2400"/>
          </a:p>
        </p:txBody>
      </p:sp>
      <p:sp>
        <p:nvSpPr>
          <p:cNvPr id="27" name="Text 24"/>
          <p:cNvSpPr txBox="1"/>
          <p:nvPr/>
        </p:nvSpPr>
        <p:spPr>
          <a:xfrm>
            <a:off x="4636923"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2 · V2</a:t>
            </a:r>
            <a:endParaRPr lang="en-US" sz="1400"/>
          </a:p>
        </p:txBody>
      </p:sp>
      <p:sp>
        <p:nvSpPr>
          <p:cNvPr id="28" name="Text 25"/>
          <p:cNvSpPr txBox="1"/>
          <p:nvPr/>
        </p:nvSpPr>
        <p:spPr>
          <a:xfrm>
            <a:off x="4685691"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Sin competencia interna</a:t>
            </a:r>
            <a:endParaRPr lang="en-US" sz="1667"/>
          </a:p>
        </p:txBody>
      </p:sp>
      <p:sp>
        <p:nvSpPr>
          <p:cNvPr id="29" name="Shape 26"/>
          <p:cNvSpPr/>
          <p:nvPr/>
        </p:nvSpPr>
        <p:spPr>
          <a:xfrm>
            <a:off x="4685691" y="2572512"/>
            <a:ext cx="3051963" cy="609600"/>
          </a:xfrm>
          <a:prstGeom prst="rect">
            <a:avLst/>
          </a:prstGeom>
          <a:solidFill>
            <a:srgbClr val="ECF6F5"/>
          </a:solidFill>
          <a:ln w="12700">
            <a:solidFill>
              <a:srgbClr val="ECF6F5"/>
            </a:solidFill>
            <a:prstDash val="solid"/>
          </a:ln>
        </p:spPr>
        <p:txBody>
          <a:bodyPr/>
          <a:lstStyle/>
          <a:p>
            <a:endParaRPr lang="es-PE" sz="2400"/>
          </a:p>
        </p:txBody>
      </p:sp>
      <p:sp>
        <p:nvSpPr>
          <p:cNvPr id="30" name="Text 27"/>
          <p:cNvSpPr txBox="1"/>
          <p:nvPr/>
        </p:nvSpPr>
        <p:spPr>
          <a:xfrm>
            <a:off x="4807611" y="2572512"/>
            <a:ext cx="2808123" cy="609600"/>
          </a:xfrm>
          <a:prstGeom prst="rect">
            <a:avLst/>
          </a:prstGeom>
          <a:noFill/>
          <a:ln/>
        </p:spPr>
        <p:txBody>
          <a:bodyPr wrap="square" lIns="0" tIns="0" rIns="0" bIns="0" rtlCol="0" anchor="ctr"/>
          <a:lstStyle/>
          <a:p>
            <a:r>
              <a:rPr lang="en-US" sz="1267" b="1">
                <a:solidFill>
                  <a:srgbClr val="0C514E"/>
                </a:solidFill>
                <a:latin typeface="Calibri" pitchFamily="34" charset="0"/>
                <a:ea typeface="Calibri" pitchFamily="34" charset="-122"/>
                <a:cs typeface="Calibri" pitchFamily="34" charset="-120"/>
              </a:rPr>
              <a:t>CT vs. competencia externa</a:t>
            </a:r>
            <a:endParaRPr lang="en-US" sz="1267"/>
          </a:p>
        </p:txBody>
      </p:sp>
      <p:sp>
        <p:nvSpPr>
          <p:cNvPr id="31" name="Text 28"/>
          <p:cNvSpPr txBox="1"/>
          <p:nvPr/>
        </p:nvSpPr>
        <p:spPr>
          <a:xfrm>
            <a:off x="4685691"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Se retira la competencia interna: si el cliente desembolsó con otro producto de CT, ya no cuenta como "perdido".</a:t>
            </a:r>
            <a:endParaRPr lang="en-US" sz="1267"/>
          </a:p>
        </p:txBody>
      </p:sp>
      <p:sp>
        <p:nvSpPr>
          <p:cNvPr id="32" name="Text 29"/>
          <p:cNvSpPr txBox="1"/>
          <p:nvPr/>
        </p:nvSpPr>
        <p:spPr>
          <a:xfrm>
            <a:off x="4685691"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33" name="Shape 30"/>
          <p:cNvSpPr/>
          <p:nvPr/>
        </p:nvSpPr>
        <p:spPr>
          <a:xfrm>
            <a:off x="4685691"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34" name="Text 31"/>
          <p:cNvSpPr txBox="1"/>
          <p:nvPr/>
        </p:nvSpPr>
        <p:spPr>
          <a:xfrm>
            <a:off x="4624731"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Interna</a:t>
            </a:r>
            <a:endParaRPr lang="en-US" sz="867"/>
          </a:p>
        </p:txBody>
      </p:sp>
      <p:sp>
        <p:nvSpPr>
          <p:cNvPr id="35" name="Shape 32"/>
          <p:cNvSpPr/>
          <p:nvPr/>
        </p:nvSpPr>
        <p:spPr>
          <a:xfrm>
            <a:off x="5457826"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36" name="Text 33"/>
          <p:cNvSpPr txBox="1"/>
          <p:nvPr/>
        </p:nvSpPr>
        <p:spPr>
          <a:xfrm>
            <a:off x="5396866"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comp.</a:t>
            </a:r>
            <a:endParaRPr lang="en-US" sz="867"/>
          </a:p>
        </p:txBody>
      </p:sp>
      <p:sp>
        <p:nvSpPr>
          <p:cNvPr id="37" name="Shape 34"/>
          <p:cNvSpPr/>
          <p:nvPr/>
        </p:nvSpPr>
        <p:spPr>
          <a:xfrm>
            <a:off x="6229961"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38" name="Text 35"/>
          <p:cNvSpPr txBox="1"/>
          <p:nvPr/>
        </p:nvSpPr>
        <p:spPr>
          <a:xfrm>
            <a:off x="6169001"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gest.</a:t>
            </a:r>
            <a:endParaRPr lang="en-US" sz="867"/>
          </a:p>
        </p:txBody>
      </p:sp>
      <p:sp>
        <p:nvSpPr>
          <p:cNvPr id="39" name="Shape 36"/>
          <p:cNvSpPr/>
          <p:nvPr/>
        </p:nvSpPr>
        <p:spPr>
          <a:xfrm>
            <a:off x="700209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40" name="Text 37"/>
          <p:cNvSpPr txBox="1"/>
          <p:nvPr/>
        </p:nvSpPr>
        <p:spPr>
          <a:xfrm>
            <a:off x="694113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41" name="Shape 38"/>
          <p:cNvSpPr/>
          <p:nvPr/>
        </p:nvSpPr>
        <p:spPr>
          <a:xfrm>
            <a:off x="4685691" y="4937760"/>
            <a:ext cx="3051963" cy="0"/>
          </a:xfrm>
          <a:prstGeom prst="line">
            <a:avLst/>
          </a:prstGeom>
          <a:noFill/>
          <a:ln w="9525">
            <a:solidFill>
              <a:srgbClr val="D5DFDE"/>
            </a:solidFill>
            <a:prstDash val="solid"/>
          </a:ln>
        </p:spPr>
        <p:txBody>
          <a:bodyPr/>
          <a:lstStyle/>
          <a:p>
            <a:endParaRPr lang="es-PE" sz="2400"/>
          </a:p>
        </p:txBody>
      </p:sp>
      <p:sp>
        <p:nvSpPr>
          <p:cNvPr id="42" name="Text 39"/>
          <p:cNvSpPr txBox="1"/>
          <p:nvPr/>
        </p:nvSpPr>
        <p:spPr>
          <a:xfrm>
            <a:off x="4685691"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SE RETIRA</a:t>
            </a:r>
            <a:endParaRPr lang="en-US" sz="933"/>
          </a:p>
        </p:txBody>
      </p:sp>
      <p:sp>
        <p:nvSpPr>
          <p:cNvPr id="43" name="Text 40"/>
          <p:cNvSpPr txBox="1"/>
          <p:nvPr/>
        </p:nvSpPr>
        <p:spPr>
          <a:xfrm>
            <a:off x="4685691" y="5230368"/>
            <a:ext cx="3051963" cy="341376"/>
          </a:xfrm>
          <a:prstGeom prst="rect">
            <a:avLst/>
          </a:prstGeom>
          <a:noFill/>
          <a:ln/>
        </p:spPr>
        <p:txBody>
          <a:bodyPr wrap="square" lIns="0" tIns="0" rIns="0" bIns="0" rtlCol="0" anchor="ctr"/>
          <a:lstStyle/>
          <a:p>
            <a:r>
              <a:rPr lang="en-US" sz="1533" b="1">
                <a:solidFill>
                  <a:srgbClr val="C04B4B"/>
                </a:solidFill>
                <a:latin typeface="Calibri" pitchFamily="34" charset="0"/>
                <a:ea typeface="Calibri" pitchFamily="34" charset="-122"/>
                <a:cs typeface="Calibri" pitchFamily="34" charset="-120"/>
              </a:rPr>
              <a:t>Competencia interna</a:t>
            </a:r>
            <a:endParaRPr lang="en-US" sz="1533"/>
          </a:p>
        </p:txBody>
      </p:sp>
      <p:sp>
        <p:nvSpPr>
          <p:cNvPr id="44" name="Shape 41"/>
          <p:cNvSpPr/>
          <p:nvPr/>
        </p:nvSpPr>
        <p:spPr>
          <a:xfrm>
            <a:off x="8030261" y="3511296"/>
            <a:ext cx="195072" cy="316992"/>
          </a:xfrm>
          <a:prstGeom prst="chevron">
            <a:avLst/>
          </a:prstGeom>
          <a:solidFill>
            <a:srgbClr val="D5DFDE"/>
          </a:solidFill>
          <a:ln w="12700">
            <a:solidFill>
              <a:srgbClr val="D5DFDE"/>
            </a:solidFill>
            <a:prstDash val="solid"/>
          </a:ln>
        </p:spPr>
        <p:txBody>
          <a:bodyPr/>
          <a:lstStyle/>
          <a:p>
            <a:endParaRPr lang="es-PE" sz="2400"/>
          </a:p>
        </p:txBody>
      </p:sp>
      <p:sp>
        <p:nvSpPr>
          <p:cNvPr id="45" name="Shape 42"/>
          <p:cNvSpPr/>
          <p:nvPr/>
        </p:nvSpPr>
        <p:spPr>
          <a:xfrm>
            <a:off x="8322869"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46" name="Shape 43"/>
          <p:cNvSpPr/>
          <p:nvPr/>
        </p:nvSpPr>
        <p:spPr>
          <a:xfrm>
            <a:off x="8322869" y="1645920"/>
            <a:ext cx="3442107" cy="341376"/>
          </a:xfrm>
          <a:prstGeom prst="rect">
            <a:avLst/>
          </a:prstGeom>
          <a:solidFill>
            <a:srgbClr val="13807B"/>
          </a:solidFill>
          <a:ln w="12700">
            <a:solidFill>
              <a:srgbClr val="13807B"/>
            </a:solidFill>
            <a:prstDash val="solid"/>
          </a:ln>
        </p:spPr>
        <p:txBody>
          <a:bodyPr/>
          <a:lstStyle/>
          <a:p>
            <a:endParaRPr lang="es-PE" sz="2400"/>
          </a:p>
        </p:txBody>
      </p:sp>
      <p:sp>
        <p:nvSpPr>
          <p:cNvPr id="47" name="Text 44"/>
          <p:cNvSpPr txBox="1"/>
          <p:nvPr/>
        </p:nvSpPr>
        <p:spPr>
          <a:xfrm>
            <a:off x="8469173"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3 · V3</a:t>
            </a:r>
            <a:endParaRPr lang="en-US" sz="1400"/>
          </a:p>
        </p:txBody>
      </p:sp>
      <p:sp>
        <p:nvSpPr>
          <p:cNvPr id="48" name="Text 45"/>
          <p:cNvSpPr txBox="1"/>
          <p:nvPr/>
        </p:nvSpPr>
        <p:spPr>
          <a:xfrm>
            <a:off x="8517941"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Monto comparable</a:t>
            </a:r>
            <a:endParaRPr lang="en-US" sz="1667"/>
          </a:p>
        </p:txBody>
      </p:sp>
      <p:sp>
        <p:nvSpPr>
          <p:cNvPr id="49" name="Shape 46"/>
          <p:cNvSpPr/>
          <p:nvPr/>
        </p:nvSpPr>
        <p:spPr>
          <a:xfrm>
            <a:off x="8517941" y="2572512"/>
            <a:ext cx="3051963" cy="609600"/>
          </a:xfrm>
          <a:prstGeom prst="rect">
            <a:avLst/>
          </a:prstGeom>
          <a:solidFill>
            <a:srgbClr val="ECF6F5"/>
          </a:solidFill>
          <a:ln w="12700">
            <a:solidFill>
              <a:srgbClr val="ECF6F5"/>
            </a:solidFill>
            <a:prstDash val="solid"/>
          </a:ln>
        </p:spPr>
        <p:txBody>
          <a:bodyPr/>
          <a:lstStyle/>
          <a:p>
            <a:endParaRPr lang="es-PE" sz="2400"/>
          </a:p>
        </p:txBody>
      </p:sp>
      <p:sp>
        <p:nvSpPr>
          <p:cNvPr id="50" name="Text 47"/>
          <p:cNvSpPr txBox="1"/>
          <p:nvPr/>
        </p:nvSpPr>
        <p:spPr>
          <a:xfrm>
            <a:off x="8639861" y="2572512"/>
            <a:ext cx="2808123" cy="609600"/>
          </a:xfrm>
          <a:prstGeom prst="rect">
            <a:avLst/>
          </a:prstGeom>
          <a:noFill/>
          <a:ln/>
        </p:spPr>
        <p:txBody>
          <a:bodyPr wrap="square" lIns="0" tIns="0" rIns="0" bIns="0" rtlCol="0" anchor="ctr"/>
          <a:lstStyle/>
          <a:p>
            <a:r>
              <a:rPr lang="en-US" sz="1267" b="1">
                <a:solidFill>
                  <a:srgbClr val="0C514E"/>
                </a:solidFill>
                <a:latin typeface="Calibri" pitchFamily="34" charset="0"/>
                <a:ea typeface="Calibri" pitchFamily="34" charset="-122"/>
                <a:cs typeface="Calibri" pitchFamily="34" charset="-120"/>
              </a:rPr>
              <a:t>CT vs. competencia de monto parecido</a:t>
            </a:r>
            <a:endParaRPr lang="en-US" sz="1267"/>
          </a:p>
        </p:txBody>
      </p:sp>
      <p:sp>
        <p:nvSpPr>
          <p:cNvPr id="51" name="Text 48"/>
          <p:cNvSpPr txBox="1"/>
          <p:nvPr/>
        </p:nvSpPr>
        <p:spPr>
          <a:xfrm>
            <a:off x="8517941"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Se retira la competencia con un monto muy distinto al que maneja el cliente (menor al 70% y mayor al 120% del monto ofertado).</a:t>
            </a:r>
            <a:endParaRPr lang="en-US" sz="1267"/>
          </a:p>
        </p:txBody>
      </p:sp>
      <p:sp>
        <p:nvSpPr>
          <p:cNvPr id="52" name="Text 49"/>
          <p:cNvSpPr txBox="1"/>
          <p:nvPr/>
        </p:nvSpPr>
        <p:spPr>
          <a:xfrm>
            <a:off x="8517941"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53" name="Shape 50"/>
          <p:cNvSpPr/>
          <p:nvPr/>
        </p:nvSpPr>
        <p:spPr>
          <a:xfrm>
            <a:off x="8517942"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54" name="Text 51"/>
          <p:cNvSpPr txBox="1"/>
          <p:nvPr/>
        </p:nvSpPr>
        <p:spPr>
          <a:xfrm>
            <a:off x="8456982"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Interna</a:t>
            </a:r>
            <a:endParaRPr lang="en-US" sz="867"/>
          </a:p>
        </p:txBody>
      </p:sp>
      <p:sp>
        <p:nvSpPr>
          <p:cNvPr id="55" name="Shape 52"/>
          <p:cNvSpPr/>
          <p:nvPr/>
        </p:nvSpPr>
        <p:spPr>
          <a:xfrm>
            <a:off x="9290077"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56" name="Text 53"/>
          <p:cNvSpPr txBox="1"/>
          <p:nvPr/>
        </p:nvSpPr>
        <p:spPr>
          <a:xfrm>
            <a:off x="9229117"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No comp.</a:t>
            </a:r>
            <a:endParaRPr lang="en-US" sz="867"/>
          </a:p>
        </p:txBody>
      </p:sp>
      <p:sp>
        <p:nvSpPr>
          <p:cNvPr id="57" name="Shape 54"/>
          <p:cNvSpPr/>
          <p:nvPr/>
        </p:nvSpPr>
        <p:spPr>
          <a:xfrm>
            <a:off x="10062210" y="4425696"/>
            <a:ext cx="735559" cy="195072"/>
          </a:xfrm>
          <a:prstGeom prst="rect">
            <a:avLst/>
          </a:prstGeom>
          <a:solidFill>
            <a:srgbClr val="8FCBC6"/>
          </a:solidFill>
          <a:ln w="9525">
            <a:solidFill>
              <a:srgbClr val="8FCBC6"/>
            </a:solidFill>
            <a:prstDash val="solid"/>
          </a:ln>
        </p:spPr>
        <p:txBody>
          <a:bodyPr/>
          <a:lstStyle/>
          <a:p>
            <a:endParaRPr lang="es-PE" sz="2400"/>
          </a:p>
        </p:txBody>
      </p:sp>
      <p:sp>
        <p:nvSpPr>
          <p:cNvPr id="58" name="Text 55"/>
          <p:cNvSpPr txBox="1"/>
          <p:nvPr/>
        </p:nvSpPr>
        <p:spPr>
          <a:xfrm>
            <a:off x="10001250"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No gest.</a:t>
            </a:r>
            <a:endParaRPr lang="en-US" sz="867"/>
          </a:p>
        </p:txBody>
      </p:sp>
      <p:sp>
        <p:nvSpPr>
          <p:cNvPr id="59" name="Shape 56"/>
          <p:cNvSpPr/>
          <p:nvPr/>
        </p:nvSpPr>
        <p:spPr>
          <a:xfrm>
            <a:off x="1083434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60" name="Text 57"/>
          <p:cNvSpPr txBox="1"/>
          <p:nvPr/>
        </p:nvSpPr>
        <p:spPr>
          <a:xfrm>
            <a:off x="1077338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61" name="Shape 58"/>
          <p:cNvSpPr/>
          <p:nvPr/>
        </p:nvSpPr>
        <p:spPr>
          <a:xfrm>
            <a:off x="8517941" y="4937760"/>
            <a:ext cx="3051963" cy="0"/>
          </a:xfrm>
          <a:prstGeom prst="line">
            <a:avLst/>
          </a:prstGeom>
          <a:noFill/>
          <a:ln w="9525">
            <a:solidFill>
              <a:srgbClr val="D5DFDE"/>
            </a:solidFill>
            <a:prstDash val="solid"/>
          </a:ln>
        </p:spPr>
        <p:txBody>
          <a:bodyPr/>
          <a:lstStyle/>
          <a:p>
            <a:endParaRPr lang="es-PE" sz="2400"/>
          </a:p>
        </p:txBody>
      </p:sp>
      <p:sp>
        <p:nvSpPr>
          <p:cNvPr id="62" name="Text 59"/>
          <p:cNvSpPr txBox="1"/>
          <p:nvPr/>
        </p:nvSpPr>
        <p:spPr>
          <a:xfrm>
            <a:off x="8517941"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SE RETIRA</a:t>
            </a:r>
            <a:endParaRPr lang="en-US" sz="933"/>
          </a:p>
        </p:txBody>
      </p:sp>
      <p:sp>
        <p:nvSpPr>
          <p:cNvPr id="63" name="Text 60"/>
          <p:cNvSpPr txBox="1"/>
          <p:nvPr/>
        </p:nvSpPr>
        <p:spPr>
          <a:xfrm>
            <a:off x="8517941" y="5230368"/>
            <a:ext cx="3051963" cy="341376"/>
          </a:xfrm>
          <a:prstGeom prst="rect">
            <a:avLst/>
          </a:prstGeom>
          <a:noFill/>
          <a:ln/>
        </p:spPr>
        <p:txBody>
          <a:bodyPr wrap="square" lIns="0" tIns="0" rIns="0" bIns="0" rtlCol="0" anchor="ctr"/>
          <a:lstStyle/>
          <a:p>
            <a:r>
              <a:rPr lang="en-US" sz="1533" b="1">
                <a:solidFill>
                  <a:srgbClr val="C04B4B"/>
                </a:solidFill>
                <a:latin typeface="Calibri" pitchFamily="34" charset="0"/>
                <a:ea typeface="Calibri" pitchFamily="34" charset="-122"/>
                <a:cs typeface="Calibri" pitchFamily="34" charset="-120"/>
              </a:rPr>
              <a:t>Monto no comparable</a:t>
            </a:r>
            <a:endParaRPr lang="en-US" sz="1533"/>
          </a:p>
        </p:txBody>
      </p:sp>
      <p:sp>
        <p:nvSpPr>
          <p:cNvPr id="64" name="Shape 61"/>
          <p:cNvSpPr/>
          <p:nvPr/>
        </p:nvSpPr>
        <p:spPr>
          <a:xfrm>
            <a:off x="11862511" y="3511296"/>
            <a:ext cx="195072" cy="316992"/>
          </a:xfrm>
          <a:prstGeom prst="chevron">
            <a:avLst/>
          </a:prstGeom>
          <a:solidFill>
            <a:srgbClr val="D5DFDE"/>
          </a:solidFill>
          <a:ln w="12700">
            <a:solidFill>
              <a:srgbClr val="D5DFDE"/>
            </a:solidFill>
            <a:prstDash val="solid"/>
          </a:ln>
        </p:spPr>
        <p:txBody>
          <a:bodyPr/>
          <a:lstStyle/>
          <a:p>
            <a:endParaRPr lang="es-PE" sz="2400"/>
          </a:p>
        </p:txBody>
      </p:sp>
      <p:sp>
        <p:nvSpPr>
          <p:cNvPr id="65" name="Shape 62"/>
          <p:cNvSpPr/>
          <p:nvPr/>
        </p:nvSpPr>
        <p:spPr>
          <a:xfrm>
            <a:off x="12155119" y="1645920"/>
            <a:ext cx="3442107" cy="4047744"/>
          </a:xfrm>
          <a:prstGeom prst="rect">
            <a:avLst/>
          </a:prstGeom>
          <a:solidFill>
            <a:srgbClr val="FFFFFF"/>
          </a:solidFill>
          <a:ln w="9525">
            <a:solidFill>
              <a:srgbClr val="D5DFDE"/>
            </a:solidFill>
            <a:prstDash val="solid"/>
          </a:ln>
        </p:spPr>
        <p:txBody>
          <a:bodyPr/>
          <a:lstStyle/>
          <a:p>
            <a:endParaRPr lang="es-PE" sz="2400"/>
          </a:p>
        </p:txBody>
      </p:sp>
      <p:sp>
        <p:nvSpPr>
          <p:cNvPr id="66" name="Shape 63"/>
          <p:cNvSpPr/>
          <p:nvPr/>
        </p:nvSpPr>
        <p:spPr>
          <a:xfrm>
            <a:off x="12155119" y="1645920"/>
            <a:ext cx="3442107" cy="341376"/>
          </a:xfrm>
          <a:prstGeom prst="rect">
            <a:avLst/>
          </a:prstGeom>
          <a:solidFill>
            <a:srgbClr val="0C514E"/>
          </a:solidFill>
          <a:ln w="12700">
            <a:solidFill>
              <a:srgbClr val="0C514E"/>
            </a:solidFill>
            <a:prstDash val="solid"/>
          </a:ln>
        </p:spPr>
        <p:txBody>
          <a:bodyPr/>
          <a:lstStyle/>
          <a:p>
            <a:endParaRPr lang="es-PE" sz="2400"/>
          </a:p>
        </p:txBody>
      </p:sp>
      <p:sp>
        <p:nvSpPr>
          <p:cNvPr id="67" name="Text 64"/>
          <p:cNvSpPr txBox="1"/>
          <p:nvPr/>
        </p:nvSpPr>
        <p:spPr>
          <a:xfrm>
            <a:off x="12301423" y="1645920"/>
            <a:ext cx="3149499"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CAPA 4 · V4</a:t>
            </a:r>
            <a:endParaRPr lang="en-US" sz="1400"/>
          </a:p>
        </p:txBody>
      </p:sp>
      <p:sp>
        <p:nvSpPr>
          <p:cNvPr id="68" name="Text 65"/>
          <p:cNvSpPr txBox="1"/>
          <p:nvPr/>
        </p:nvSpPr>
        <p:spPr>
          <a:xfrm>
            <a:off x="12350191" y="2157984"/>
            <a:ext cx="3051963" cy="316992"/>
          </a:xfrm>
          <a:prstGeom prst="rect">
            <a:avLst/>
          </a:prstGeom>
          <a:noFill/>
          <a:ln/>
        </p:spPr>
        <p:txBody>
          <a:bodyPr wrap="square" lIns="0" tIns="0" rIns="0" bIns="0" rtlCol="0" anchor="ctr"/>
          <a:lstStyle/>
          <a:p>
            <a:r>
              <a:rPr lang="en-US" sz="1667" b="1">
                <a:solidFill>
                  <a:srgbClr val="0B2E2C"/>
                </a:solidFill>
                <a:latin typeface="Calibri" pitchFamily="34" charset="0"/>
                <a:ea typeface="Calibri" pitchFamily="34" charset="-122"/>
                <a:cs typeface="Calibri" pitchFamily="34" charset="-120"/>
              </a:rPr>
              <a:t>Monto comparable y gestionado</a:t>
            </a:r>
            <a:endParaRPr lang="en-US" sz="1667"/>
          </a:p>
        </p:txBody>
      </p:sp>
      <p:sp>
        <p:nvSpPr>
          <p:cNvPr id="69" name="Shape 66"/>
          <p:cNvSpPr/>
          <p:nvPr/>
        </p:nvSpPr>
        <p:spPr>
          <a:xfrm>
            <a:off x="12350191" y="2572512"/>
            <a:ext cx="3051963" cy="609600"/>
          </a:xfrm>
          <a:prstGeom prst="rect">
            <a:avLst/>
          </a:prstGeom>
          <a:solidFill>
            <a:srgbClr val="ECF6F5"/>
          </a:solidFill>
          <a:ln w="12700">
            <a:solidFill>
              <a:srgbClr val="ECF6F5"/>
            </a:solidFill>
            <a:prstDash val="solid"/>
          </a:ln>
        </p:spPr>
        <p:txBody>
          <a:bodyPr/>
          <a:lstStyle/>
          <a:p>
            <a:endParaRPr lang="es-PE" sz="2400"/>
          </a:p>
        </p:txBody>
      </p:sp>
      <p:sp>
        <p:nvSpPr>
          <p:cNvPr id="70" name="Text 67"/>
          <p:cNvSpPr txBox="1"/>
          <p:nvPr/>
        </p:nvSpPr>
        <p:spPr>
          <a:xfrm>
            <a:off x="12472111" y="2572512"/>
            <a:ext cx="2808123" cy="609600"/>
          </a:xfrm>
          <a:prstGeom prst="rect">
            <a:avLst/>
          </a:prstGeom>
          <a:noFill/>
          <a:ln/>
        </p:spPr>
        <p:txBody>
          <a:bodyPr wrap="square" lIns="0" tIns="0" rIns="0" bIns="0" rtlCol="0" anchor="ctr"/>
          <a:lstStyle/>
          <a:p>
            <a:r>
              <a:rPr lang="en-US" sz="1267" b="1">
                <a:solidFill>
                  <a:srgbClr val="0C514E"/>
                </a:solidFill>
                <a:latin typeface="Calibri" pitchFamily="34" charset="0"/>
                <a:ea typeface="Calibri" pitchFamily="34" charset="-122"/>
                <a:cs typeface="Calibri" pitchFamily="34" charset="-120"/>
              </a:rPr>
              <a:t>CT vs. competencia de monto parecido y gestionado</a:t>
            </a:r>
            <a:endParaRPr lang="en-US" sz="1267"/>
          </a:p>
        </p:txBody>
      </p:sp>
      <p:sp>
        <p:nvSpPr>
          <p:cNvPr id="71" name="Text 68"/>
          <p:cNvSpPr txBox="1"/>
          <p:nvPr/>
        </p:nvSpPr>
        <p:spPr>
          <a:xfrm>
            <a:off x="12350191" y="3328416"/>
            <a:ext cx="3051963" cy="11582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Se retira la competencia de monto comparable que IBK no gestionó activamente.</a:t>
            </a:r>
            <a:endParaRPr lang="en-US" sz="1267"/>
          </a:p>
        </p:txBody>
      </p:sp>
      <p:sp>
        <p:nvSpPr>
          <p:cNvPr id="72" name="Text 69"/>
          <p:cNvSpPr txBox="1"/>
          <p:nvPr/>
        </p:nvSpPr>
        <p:spPr>
          <a:xfrm>
            <a:off x="12350191" y="4181856"/>
            <a:ext cx="3051963" cy="195072"/>
          </a:xfrm>
          <a:prstGeom prst="rect">
            <a:avLst/>
          </a:prstGeom>
          <a:noFill/>
          <a:ln/>
        </p:spPr>
        <p:txBody>
          <a:bodyPr wrap="square" lIns="0" tIns="0" rIns="0" bIns="0" rtlCol="0" anchor="ctr"/>
          <a:lstStyle/>
          <a:p>
            <a:r>
              <a:rPr lang="en-US" sz="933" b="1">
                <a:solidFill>
                  <a:srgbClr val="6E7E7D"/>
                </a:solidFill>
                <a:latin typeface="Calibri" pitchFamily="34" charset="0"/>
                <a:ea typeface="Calibri" pitchFamily="34" charset="-122"/>
                <a:cs typeface="Calibri" pitchFamily="34" charset="-120"/>
              </a:rPr>
              <a:t>Competencia que sigue contando en el share</a:t>
            </a:r>
            <a:endParaRPr lang="en-US" sz="933"/>
          </a:p>
        </p:txBody>
      </p:sp>
      <p:sp>
        <p:nvSpPr>
          <p:cNvPr id="73" name="Shape 70"/>
          <p:cNvSpPr/>
          <p:nvPr/>
        </p:nvSpPr>
        <p:spPr>
          <a:xfrm>
            <a:off x="12350191"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74" name="Text 71"/>
          <p:cNvSpPr txBox="1"/>
          <p:nvPr/>
        </p:nvSpPr>
        <p:spPr>
          <a:xfrm>
            <a:off x="12289231"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Interna</a:t>
            </a:r>
            <a:endParaRPr lang="en-US" sz="867"/>
          </a:p>
        </p:txBody>
      </p:sp>
      <p:sp>
        <p:nvSpPr>
          <p:cNvPr id="75" name="Shape 72"/>
          <p:cNvSpPr/>
          <p:nvPr/>
        </p:nvSpPr>
        <p:spPr>
          <a:xfrm>
            <a:off x="13122326"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76" name="Text 73"/>
          <p:cNvSpPr txBox="1"/>
          <p:nvPr/>
        </p:nvSpPr>
        <p:spPr>
          <a:xfrm>
            <a:off x="13061366"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No comp.</a:t>
            </a:r>
            <a:endParaRPr lang="en-US" sz="867"/>
          </a:p>
        </p:txBody>
      </p:sp>
      <p:sp>
        <p:nvSpPr>
          <p:cNvPr id="77" name="Shape 74"/>
          <p:cNvSpPr/>
          <p:nvPr/>
        </p:nvSpPr>
        <p:spPr>
          <a:xfrm>
            <a:off x="13894461" y="4425696"/>
            <a:ext cx="735559" cy="195072"/>
          </a:xfrm>
          <a:prstGeom prst="rect">
            <a:avLst/>
          </a:prstGeom>
          <a:solidFill>
            <a:srgbClr val="FFFFFF"/>
          </a:solidFill>
          <a:ln w="9525">
            <a:solidFill>
              <a:srgbClr val="D5DFDE"/>
            </a:solidFill>
            <a:prstDash val="dash"/>
          </a:ln>
        </p:spPr>
        <p:txBody>
          <a:bodyPr/>
          <a:lstStyle/>
          <a:p>
            <a:endParaRPr lang="es-PE" sz="2400"/>
          </a:p>
        </p:txBody>
      </p:sp>
      <p:sp>
        <p:nvSpPr>
          <p:cNvPr id="78" name="Text 75"/>
          <p:cNvSpPr txBox="1"/>
          <p:nvPr/>
        </p:nvSpPr>
        <p:spPr>
          <a:xfrm>
            <a:off x="13833501" y="4645152"/>
            <a:ext cx="857479" cy="170688"/>
          </a:xfrm>
          <a:prstGeom prst="rect">
            <a:avLst/>
          </a:prstGeom>
          <a:noFill/>
          <a:ln/>
        </p:spPr>
        <p:txBody>
          <a:bodyPr wrap="square" lIns="0" tIns="0" rIns="0" bIns="0" rtlCol="0" anchor="ctr"/>
          <a:lstStyle/>
          <a:p>
            <a:pPr algn="ctr"/>
            <a:r>
              <a:rPr lang="en-US" sz="867">
                <a:solidFill>
                  <a:srgbClr val="B5C2C0"/>
                </a:solidFill>
                <a:latin typeface="Calibri" pitchFamily="34" charset="0"/>
                <a:ea typeface="Calibri" pitchFamily="34" charset="-122"/>
                <a:cs typeface="Calibri" pitchFamily="34" charset="-120"/>
              </a:rPr>
              <a:t>No gest.</a:t>
            </a:r>
            <a:endParaRPr lang="en-US" sz="867"/>
          </a:p>
        </p:txBody>
      </p:sp>
      <p:sp>
        <p:nvSpPr>
          <p:cNvPr id="79" name="Shape 76"/>
          <p:cNvSpPr/>
          <p:nvPr/>
        </p:nvSpPr>
        <p:spPr>
          <a:xfrm>
            <a:off x="14666595" y="4425696"/>
            <a:ext cx="735559" cy="195072"/>
          </a:xfrm>
          <a:prstGeom prst="rect">
            <a:avLst/>
          </a:prstGeom>
          <a:solidFill>
            <a:srgbClr val="0C514E"/>
          </a:solidFill>
          <a:ln w="9525">
            <a:solidFill>
              <a:srgbClr val="0C514E"/>
            </a:solidFill>
            <a:prstDash val="solid"/>
          </a:ln>
        </p:spPr>
        <p:txBody>
          <a:bodyPr/>
          <a:lstStyle/>
          <a:p>
            <a:endParaRPr lang="es-PE" sz="2400"/>
          </a:p>
        </p:txBody>
      </p:sp>
      <p:sp>
        <p:nvSpPr>
          <p:cNvPr id="80" name="Text 77"/>
          <p:cNvSpPr txBox="1"/>
          <p:nvPr/>
        </p:nvSpPr>
        <p:spPr>
          <a:xfrm>
            <a:off x="14605635" y="4645152"/>
            <a:ext cx="857479" cy="170688"/>
          </a:xfrm>
          <a:prstGeom prst="rect">
            <a:avLst/>
          </a:prstGeom>
          <a:noFill/>
          <a:ln/>
        </p:spPr>
        <p:txBody>
          <a:bodyPr wrap="square" lIns="0" tIns="0" rIns="0" bIns="0" rtlCol="0" anchor="ctr"/>
          <a:lstStyle/>
          <a:p>
            <a:pPr algn="ctr"/>
            <a:r>
              <a:rPr lang="en-US" sz="867">
                <a:solidFill>
                  <a:srgbClr val="6E7E7D"/>
                </a:solidFill>
                <a:latin typeface="Calibri" pitchFamily="34" charset="0"/>
                <a:ea typeface="Calibri" pitchFamily="34" charset="-122"/>
                <a:cs typeface="Calibri" pitchFamily="34" charset="-120"/>
              </a:rPr>
              <a:t>Comparable</a:t>
            </a:r>
            <a:endParaRPr lang="en-US" sz="867"/>
          </a:p>
        </p:txBody>
      </p:sp>
      <p:sp>
        <p:nvSpPr>
          <p:cNvPr id="81" name="Shape 78"/>
          <p:cNvSpPr/>
          <p:nvPr/>
        </p:nvSpPr>
        <p:spPr>
          <a:xfrm>
            <a:off x="12350191" y="4937760"/>
            <a:ext cx="3051963" cy="0"/>
          </a:xfrm>
          <a:prstGeom prst="line">
            <a:avLst/>
          </a:prstGeom>
          <a:noFill/>
          <a:ln w="9525">
            <a:solidFill>
              <a:srgbClr val="D5DFDE"/>
            </a:solidFill>
            <a:prstDash val="solid"/>
          </a:ln>
        </p:spPr>
        <p:txBody>
          <a:bodyPr/>
          <a:lstStyle/>
          <a:p>
            <a:endParaRPr lang="es-PE" sz="2400"/>
          </a:p>
        </p:txBody>
      </p:sp>
      <p:sp>
        <p:nvSpPr>
          <p:cNvPr id="82" name="Text 79"/>
          <p:cNvSpPr txBox="1"/>
          <p:nvPr/>
        </p:nvSpPr>
        <p:spPr>
          <a:xfrm>
            <a:off x="12350191" y="5023104"/>
            <a:ext cx="3051963" cy="195072"/>
          </a:xfrm>
          <a:prstGeom prst="rect">
            <a:avLst/>
          </a:prstGeom>
          <a:noFill/>
          <a:ln/>
        </p:spPr>
        <p:txBody>
          <a:bodyPr wrap="square" lIns="0" tIns="0" rIns="0" bIns="0" rtlCol="0" anchor="ctr"/>
          <a:lstStyle/>
          <a:p>
            <a:r>
              <a:rPr lang="en-US" sz="933" b="1" kern="0" spc="133">
                <a:solidFill>
                  <a:srgbClr val="6E7E7D"/>
                </a:solidFill>
                <a:latin typeface="Calibri" pitchFamily="34" charset="0"/>
                <a:ea typeface="Calibri" pitchFamily="34" charset="-122"/>
                <a:cs typeface="Calibri" pitchFamily="34" charset="-120"/>
              </a:rPr>
              <a:t>SE RETIRA</a:t>
            </a:r>
            <a:endParaRPr lang="en-US" sz="933"/>
          </a:p>
        </p:txBody>
      </p:sp>
      <p:sp>
        <p:nvSpPr>
          <p:cNvPr id="83" name="Text 80"/>
          <p:cNvSpPr txBox="1"/>
          <p:nvPr/>
        </p:nvSpPr>
        <p:spPr>
          <a:xfrm>
            <a:off x="12350191" y="5230368"/>
            <a:ext cx="3051963" cy="341376"/>
          </a:xfrm>
          <a:prstGeom prst="rect">
            <a:avLst/>
          </a:prstGeom>
          <a:noFill/>
          <a:ln/>
        </p:spPr>
        <p:txBody>
          <a:bodyPr wrap="square" lIns="0" tIns="0" rIns="0" bIns="0" rtlCol="0" anchor="ctr"/>
          <a:lstStyle/>
          <a:p>
            <a:r>
              <a:rPr lang="en-US" sz="1533" b="1">
                <a:solidFill>
                  <a:srgbClr val="C04B4B"/>
                </a:solidFill>
                <a:latin typeface="Calibri" pitchFamily="34" charset="0"/>
                <a:ea typeface="Calibri" pitchFamily="34" charset="-122"/>
                <a:cs typeface="Calibri" pitchFamily="34" charset="-120"/>
              </a:rPr>
              <a:t>No gestionado</a:t>
            </a:r>
            <a:endParaRPr lang="en-US" sz="1533"/>
          </a:p>
        </p:txBody>
      </p:sp>
      <p:sp>
        <p:nvSpPr>
          <p:cNvPr id="84" name="Shape 81"/>
          <p:cNvSpPr/>
          <p:nvPr/>
        </p:nvSpPr>
        <p:spPr>
          <a:xfrm>
            <a:off x="658369" y="5998464"/>
            <a:ext cx="14938857" cy="1633728"/>
          </a:xfrm>
          <a:prstGeom prst="rect">
            <a:avLst/>
          </a:prstGeom>
          <a:solidFill>
            <a:srgbClr val="0C514E"/>
          </a:solidFill>
          <a:ln w="12700">
            <a:solidFill>
              <a:srgbClr val="0C514E"/>
            </a:solidFill>
            <a:prstDash val="solid"/>
          </a:ln>
        </p:spPr>
        <p:txBody>
          <a:bodyPr/>
          <a:lstStyle/>
          <a:p>
            <a:endParaRPr lang="es-PE" sz="2400"/>
          </a:p>
        </p:txBody>
      </p:sp>
      <p:sp>
        <p:nvSpPr>
          <p:cNvPr id="85" name="Text 82"/>
          <p:cNvSpPr txBox="1"/>
          <p:nvPr/>
        </p:nvSpPr>
        <p:spPr>
          <a:xfrm>
            <a:off x="963168" y="6169152"/>
            <a:ext cx="9753600" cy="268224"/>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CÓMO LEER LOS GRÁFICOS DE LAS SIGUIENTES LÁMINAS</a:t>
            </a:r>
            <a:endParaRPr lang="en-US" sz="1400"/>
          </a:p>
        </p:txBody>
      </p:sp>
      <p:sp>
        <p:nvSpPr>
          <p:cNvPr id="86" name="Shape 83"/>
          <p:cNvSpPr/>
          <p:nvPr/>
        </p:nvSpPr>
        <p:spPr>
          <a:xfrm>
            <a:off x="1346564" y="7031180"/>
            <a:ext cx="414528" cy="438912"/>
          </a:xfrm>
          <a:prstGeom prst="rect">
            <a:avLst/>
          </a:prstGeom>
          <a:solidFill>
            <a:srgbClr val="CFE6E4"/>
          </a:solidFill>
          <a:ln w="12700">
            <a:solidFill>
              <a:srgbClr val="CFE6E4"/>
            </a:solidFill>
            <a:prstDash val="solid"/>
          </a:ln>
        </p:spPr>
        <p:txBody>
          <a:bodyPr/>
          <a:lstStyle/>
          <a:p>
            <a:endParaRPr lang="es-PE" sz="2400"/>
          </a:p>
        </p:txBody>
      </p:sp>
      <p:sp>
        <p:nvSpPr>
          <p:cNvPr id="87" name="Shape 84"/>
          <p:cNvSpPr/>
          <p:nvPr/>
        </p:nvSpPr>
        <p:spPr>
          <a:xfrm>
            <a:off x="1346564" y="6909260"/>
            <a:ext cx="414528" cy="97536"/>
          </a:xfrm>
          <a:prstGeom prst="rect">
            <a:avLst/>
          </a:prstGeom>
          <a:solidFill>
            <a:srgbClr val="8FCBC6"/>
          </a:solidFill>
          <a:ln w="12700">
            <a:solidFill>
              <a:srgbClr val="8FCBC6"/>
            </a:solidFill>
            <a:prstDash val="solid"/>
          </a:ln>
        </p:spPr>
        <p:txBody>
          <a:bodyPr/>
          <a:lstStyle/>
          <a:p>
            <a:endParaRPr lang="es-PE" sz="2400"/>
          </a:p>
        </p:txBody>
      </p:sp>
      <p:sp>
        <p:nvSpPr>
          <p:cNvPr id="88" name="Shape 85"/>
          <p:cNvSpPr/>
          <p:nvPr/>
        </p:nvSpPr>
        <p:spPr>
          <a:xfrm>
            <a:off x="1346564" y="6823916"/>
            <a:ext cx="414528" cy="60960"/>
          </a:xfrm>
          <a:prstGeom prst="rect">
            <a:avLst/>
          </a:prstGeom>
          <a:solidFill>
            <a:srgbClr val="2F9E98"/>
          </a:solidFill>
          <a:ln w="12700">
            <a:solidFill>
              <a:srgbClr val="2F9E98"/>
            </a:solidFill>
            <a:prstDash val="solid"/>
          </a:ln>
        </p:spPr>
        <p:txBody>
          <a:bodyPr/>
          <a:lstStyle/>
          <a:p>
            <a:endParaRPr lang="es-PE" sz="2400"/>
          </a:p>
        </p:txBody>
      </p:sp>
      <p:sp>
        <p:nvSpPr>
          <p:cNvPr id="89" name="Shape 86"/>
          <p:cNvSpPr/>
          <p:nvPr/>
        </p:nvSpPr>
        <p:spPr>
          <a:xfrm>
            <a:off x="1346564" y="6677612"/>
            <a:ext cx="414528" cy="121920"/>
          </a:xfrm>
          <a:prstGeom prst="rect">
            <a:avLst/>
          </a:prstGeom>
          <a:solidFill>
            <a:srgbClr val="0C514E"/>
          </a:solidFill>
          <a:ln w="12700">
            <a:solidFill>
              <a:srgbClr val="0C514E"/>
            </a:solidFill>
            <a:prstDash val="solid"/>
          </a:ln>
        </p:spPr>
        <p:txBody>
          <a:bodyPr/>
          <a:lstStyle/>
          <a:p>
            <a:endParaRPr lang="es-PE" sz="2400"/>
          </a:p>
        </p:txBody>
      </p:sp>
      <p:sp>
        <p:nvSpPr>
          <p:cNvPr id="90" name="Text 87"/>
          <p:cNvSpPr txBox="1"/>
          <p:nvPr/>
        </p:nvSpPr>
        <p:spPr>
          <a:xfrm>
            <a:off x="1224644" y="6433772"/>
            <a:ext cx="658368" cy="195072"/>
          </a:xfrm>
          <a:prstGeom prst="rect">
            <a:avLst/>
          </a:prstGeom>
          <a:noFill/>
          <a:ln/>
        </p:spPr>
        <p:txBody>
          <a:bodyPr wrap="square" lIns="0" tIns="0" rIns="0" bIns="0" rtlCol="0" anchor="ctr"/>
          <a:lstStyle/>
          <a:p>
            <a:pPr algn="ctr"/>
            <a:r>
              <a:rPr lang="en-US" sz="1067" b="1">
                <a:solidFill>
                  <a:srgbClr val="FFFFFF"/>
                </a:solidFill>
                <a:latin typeface="Calibri" pitchFamily="34" charset="0"/>
                <a:ea typeface="Calibri" pitchFamily="34" charset="-122"/>
                <a:cs typeface="Calibri" pitchFamily="34" charset="-120"/>
              </a:rPr>
              <a:t>79%</a:t>
            </a:r>
            <a:endParaRPr lang="en-US" sz="1067"/>
          </a:p>
        </p:txBody>
      </p:sp>
      <p:sp>
        <p:nvSpPr>
          <p:cNvPr id="91" name="Shape 88"/>
          <p:cNvSpPr/>
          <p:nvPr/>
        </p:nvSpPr>
        <p:spPr>
          <a:xfrm>
            <a:off x="1956164" y="6884876"/>
            <a:ext cx="609600" cy="146304"/>
          </a:xfrm>
          <a:prstGeom prst="line">
            <a:avLst/>
          </a:prstGeom>
          <a:noFill/>
          <a:ln w="19050">
            <a:solidFill>
              <a:srgbClr val="FFFFFF"/>
            </a:solidFill>
            <a:prstDash val="solid"/>
          </a:ln>
        </p:spPr>
        <p:txBody>
          <a:bodyPr/>
          <a:lstStyle/>
          <a:p>
            <a:endParaRPr lang="es-PE" sz="2400"/>
          </a:p>
        </p:txBody>
      </p:sp>
      <p:sp>
        <p:nvSpPr>
          <p:cNvPr id="92" name="Shape 89"/>
          <p:cNvSpPr/>
          <p:nvPr/>
        </p:nvSpPr>
        <p:spPr>
          <a:xfrm>
            <a:off x="1956164" y="7153100"/>
            <a:ext cx="609600" cy="97536"/>
          </a:xfrm>
          <a:prstGeom prst="line">
            <a:avLst/>
          </a:prstGeom>
          <a:noFill/>
          <a:ln w="19050">
            <a:solidFill>
              <a:srgbClr val="C87A0B"/>
            </a:solidFill>
            <a:prstDash val="dash"/>
          </a:ln>
        </p:spPr>
        <p:txBody>
          <a:bodyPr/>
          <a:lstStyle/>
          <a:p>
            <a:endParaRPr lang="es-PE" sz="2400"/>
          </a:p>
        </p:txBody>
      </p:sp>
      <p:sp>
        <p:nvSpPr>
          <p:cNvPr id="93" name="Text 90"/>
          <p:cNvSpPr txBox="1"/>
          <p:nvPr/>
        </p:nvSpPr>
        <p:spPr>
          <a:xfrm>
            <a:off x="2731008" y="6559296"/>
            <a:ext cx="4044899" cy="243840"/>
          </a:xfrm>
          <a:prstGeom prst="rect">
            <a:avLst/>
          </a:prstGeom>
          <a:noFill/>
          <a:ln/>
        </p:spPr>
        <p:txBody>
          <a:bodyPr wrap="square" lIns="0" tIns="0" rIns="0" bIns="0" rtlCol="0" anchor="ctr"/>
          <a:lstStyle/>
          <a:p>
            <a:r>
              <a:rPr lang="en-US" sz="1333" b="1">
                <a:solidFill>
                  <a:srgbClr val="8FCBC6"/>
                </a:solidFill>
                <a:latin typeface="Calibri" pitchFamily="34" charset="0"/>
                <a:ea typeface="Calibri" pitchFamily="34" charset="-122"/>
                <a:cs typeface="Calibri" pitchFamily="34" charset="-120"/>
              </a:rPr>
              <a:t>Barras apiladas</a:t>
            </a:r>
            <a:endParaRPr lang="en-US" sz="1333"/>
          </a:p>
        </p:txBody>
      </p:sp>
      <p:sp>
        <p:nvSpPr>
          <p:cNvPr id="94" name="Text 91"/>
          <p:cNvSpPr txBox="1"/>
          <p:nvPr/>
        </p:nvSpPr>
        <p:spPr>
          <a:xfrm>
            <a:off x="2731008" y="6827520"/>
            <a:ext cx="4044899" cy="633984"/>
          </a:xfrm>
          <a:prstGeom prst="rect">
            <a:avLst/>
          </a:prstGeom>
          <a:noFill/>
          <a:ln/>
        </p:spPr>
        <p:txBody>
          <a:bodyPr wrap="square" lIns="0" tIns="0" rIns="0" bIns="0" rtlCol="0" anchor="t"/>
          <a:lstStyle/>
          <a:p>
            <a:r>
              <a:rPr lang="en-US" sz="1200">
                <a:solidFill>
                  <a:srgbClr val="FFFFFF"/>
                </a:solidFill>
                <a:latin typeface="Calibri" pitchFamily="34" charset="0"/>
                <a:ea typeface="Calibri" pitchFamily="34" charset="-122"/>
                <a:cs typeface="Calibri" pitchFamily="34" charset="-120"/>
              </a:rPr>
              <a:t>Cada tramo es el share que agrega una capa: base V1 + lo que suma retirar competencia interna, monto no comparable y no gestionado.</a:t>
            </a:r>
            <a:endParaRPr lang="en-US" sz="1200"/>
          </a:p>
        </p:txBody>
      </p:sp>
      <p:sp>
        <p:nvSpPr>
          <p:cNvPr id="95" name="Text 92"/>
          <p:cNvSpPr txBox="1"/>
          <p:nvPr/>
        </p:nvSpPr>
        <p:spPr>
          <a:xfrm>
            <a:off x="7141667" y="6559296"/>
            <a:ext cx="4044899" cy="243840"/>
          </a:xfrm>
          <a:prstGeom prst="rect">
            <a:avLst/>
          </a:prstGeom>
          <a:noFill/>
          <a:ln/>
        </p:spPr>
        <p:txBody>
          <a:bodyPr wrap="square" lIns="0" tIns="0" rIns="0" bIns="0" rtlCol="0" anchor="ctr"/>
          <a:lstStyle/>
          <a:p>
            <a:r>
              <a:rPr lang="en-US" sz="1333" b="1">
                <a:solidFill>
                  <a:srgbClr val="8FCBC6"/>
                </a:solidFill>
                <a:latin typeface="Calibri" pitchFamily="34" charset="0"/>
                <a:ea typeface="Calibri" pitchFamily="34" charset="-122"/>
                <a:cs typeface="Calibri" pitchFamily="34" charset="-120"/>
              </a:rPr>
              <a:t>Número sobre la barra</a:t>
            </a:r>
            <a:endParaRPr lang="en-US" sz="1333"/>
          </a:p>
        </p:txBody>
      </p:sp>
      <p:sp>
        <p:nvSpPr>
          <p:cNvPr id="96" name="Text 93"/>
          <p:cNvSpPr txBox="1"/>
          <p:nvPr/>
        </p:nvSpPr>
        <p:spPr>
          <a:xfrm>
            <a:off x="7141667" y="6827520"/>
            <a:ext cx="4044899" cy="633984"/>
          </a:xfrm>
          <a:prstGeom prst="rect">
            <a:avLst/>
          </a:prstGeom>
          <a:noFill/>
          <a:ln/>
        </p:spPr>
        <p:txBody>
          <a:bodyPr wrap="square" lIns="0" tIns="0" rIns="0" bIns="0" rtlCol="0" anchor="t"/>
          <a:lstStyle/>
          <a:p>
            <a:r>
              <a:rPr lang="en-US" sz="1200">
                <a:solidFill>
                  <a:srgbClr val="FFFFFF"/>
                </a:solidFill>
                <a:latin typeface="Calibri" pitchFamily="34" charset="0"/>
                <a:ea typeface="Calibri" pitchFamily="34" charset="-122"/>
                <a:cs typeface="Calibri" pitchFamily="34" charset="-120"/>
              </a:rPr>
              <a:t>Share acumulado hasta V4: la métrica justa que se compara entre trimestres (2025Q2 → 2026Q2).</a:t>
            </a:r>
            <a:endParaRPr lang="en-US" sz="1200"/>
          </a:p>
        </p:txBody>
      </p:sp>
      <p:sp>
        <p:nvSpPr>
          <p:cNvPr id="97" name="Text 94"/>
          <p:cNvSpPr txBox="1"/>
          <p:nvPr/>
        </p:nvSpPr>
        <p:spPr>
          <a:xfrm>
            <a:off x="11552327" y="6559296"/>
            <a:ext cx="4044899" cy="243840"/>
          </a:xfrm>
          <a:prstGeom prst="rect">
            <a:avLst/>
          </a:prstGeom>
          <a:noFill/>
          <a:ln/>
        </p:spPr>
        <p:txBody>
          <a:bodyPr wrap="square" lIns="0" tIns="0" rIns="0" bIns="0" rtlCol="0" anchor="ctr"/>
          <a:lstStyle/>
          <a:p>
            <a:r>
              <a:rPr lang="en-US" sz="1333" b="1">
                <a:solidFill>
                  <a:srgbClr val="8FCBC6"/>
                </a:solidFill>
                <a:latin typeface="Calibri" pitchFamily="34" charset="0"/>
                <a:ea typeface="Calibri" pitchFamily="34" charset="-122"/>
                <a:cs typeface="Calibri" pitchFamily="34" charset="-120"/>
              </a:rPr>
              <a:t>Líneas (franja superior)</a:t>
            </a:r>
            <a:endParaRPr lang="en-US" sz="1333"/>
          </a:p>
        </p:txBody>
      </p:sp>
      <p:sp>
        <p:nvSpPr>
          <p:cNvPr id="98" name="Text 95"/>
          <p:cNvSpPr txBox="1"/>
          <p:nvPr/>
        </p:nvSpPr>
        <p:spPr>
          <a:xfrm>
            <a:off x="11552327" y="6827520"/>
            <a:ext cx="4044899" cy="633984"/>
          </a:xfrm>
          <a:prstGeom prst="rect">
            <a:avLst/>
          </a:prstGeom>
          <a:noFill/>
          <a:ln/>
        </p:spPr>
        <p:txBody>
          <a:bodyPr wrap="square" lIns="0" tIns="0" rIns="0" bIns="0" rtlCol="0" anchor="t"/>
          <a:lstStyle/>
          <a:p>
            <a:r>
              <a:rPr lang="en-US" sz="1200">
                <a:solidFill>
                  <a:srgbClr val="FFFFFF"/>
                </a:solidFill>
                <a:latin typeface="Calibri" pitchFamily="34" charset="0"/>
                <a:ea typeface="Calibri" pitchFamily="34" charset="-122"/>
                <a:cs typeface="Calibri" pitchFamily="34" charset="-120"/>
              </a:rPr>
              <a:t>TEA ofertada (oscura) vs. TEA desembolsada (naranja punteada). La distancia entre ambas es la brecha TEA, resumida en cada tarjeta.</a:t>
            </a:r>
            <a:endParaRPr lang="en-US" sz="1200"/>
          </a:p>
        </p:txBody>
      </p:sp>
      <p:sp>
        <p:nvSpPr>
          <p:cNvPr id="99" name="Shape 96"/>
          <p:cNvSpPr/>
          <p:nvPr/>
        </p:nvSpPr>
        <p:spPr>
          <a:xfrm>
            <a:off x="658369" y="7924800"/>
            <a:ext cx="14938857" cy="670560"/>
          </a:xfrm>
          <a:prstGeom prst="rect">
            <a:avLst/>
          </a:prstGeom>
          <a:solidFill>
            <a:srgbClr val="ECF6F5"/>
          </a:solidFill>
          <a:ln w="12700">
            <a:solidFill>
              <a:srgbClr val="ECF6F5"/>
            </a:solidFill>
            <a:prstDash val="solid"/>
          </a:ln>
        </p:spPr>
        <p:txBody>
          <a:bodyPr/>
          <a:lstStyle/>
          <a:p>
            <a:endParaRPr lang="es-PE" sz="2400"/>
          </a:p>
        </p:txBody>
      </p:sp>
      <p:sp>
        <p:nvSpPr>
          <p:cNvPr id="100" name="Shape 97"/>
          <p:cNvSpPr/>
          <p:nvPr/>
        </p:nvSpPr>
        <p:spPr>
          <a:xfrm>
            <a:off x="658368" y="7924800"/>
            <a:ext cx="73152" cy="670560"/>
          </a:xfrm>
          <a:prstGeom prst="rect">
            <a:avLst/>
          </a:prstGeom>
          <a:solidFill>
            <a:srgbClr val="13807B"/>
          </a:solidFill>
          <a:ln w="12700">
            <a:solidFill>
              <a:srgbClr val="13807B"/>
            </a:solidFill>
            <a:prstDash val="solid"/>
          </a:ln>
        </p:spPr>
        <p:txBody>
          <a:bodyPr/>
          <a:lstStyle/>
          <a:p>
            <a:endParaRPr lang="es-PE" sz="2400"/>
          </a:p>
        </p:txBody>
      </p:sp>
      <p:sp>
        <p:nvSpPr>
          <p:cNvPr id="101" name="Text 98"/>
          <p:cNvSpPr txBox="1"/>
          <p:nvPr/>
        </p:nvSpPr>
        <p:spPr>
          <a:xfrm>
            <a:off x="926593" y="7924800"/>
            <a:ext cx="14451177" cy="670560"/>
          </a:xfrm>
          <a:prstGeom prst="rect">
            <a:avLst/>
          </a:prstGeom>
          <a:noFill/>
          <a:ln/>
        </p:spPr>
        <p:txBody>
          <a:bodyPr wrap="square" lIns="0" tIns="0" rIns="0" bIns="0" rtlCol="0" anchor="ctr"/>
          <a:lstStyle/>
          <a:p>
            <a:r>
              <a:rPr lang="en-US" sz="1467" b="1">
                <a:solidFill>
                  <a:srgbClr val="0C514E"/>
                </a:solidFill>
                <a:latin typeface="Calibri" pitchFamily="34" charset="0"/>
                <a:ea typeface="Calibri" pitchFamily="34" charset="-122"/>
                <a:cs typeface="Calibri" pitchFamily="34" charset="-120"/>
              </a:rPr>
              <a:t>Mientras más capas se retiran, el share mide solo lo que IBK realmente podía ganar — y por eso V4 es la referencia para leer la sensibilidad al precio.</a:t>
            </a:r>
            <a:endParaRPr lang="en-US" sz="1467"/>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183AEE-2158-E6FB-3D33-883B3C4282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9A4763-9007-24B6-DA04-2769B38BC3A1}"/>
              </a:ext>
            </a:extLst>
          </p:cNvPr>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MONTO (S/)</a:t>
            </a:r>
            <a:endParaRPr lang="en-US" sz="1200"/>
          </a:p>
        </p:txBody>
      </p:sp>
      <p:sp>
        <p:nvSpPr>
          <p:cNvPr id="3" name="Text 1">
            <a:extLst>
              <a:ext uri="{FF2B5EF4-FFF2-40B4-BE49-F238E27FC236}">
                <a16:creationId xmlns:a16="http://schemas.microsoft.com/office/drawing/2014/main" id="{A2750257-E64F-A0C5-0147-FB7CBD565AED}"/>
              </a:ext>
            </a:extLst>
          </p:cNvPr>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Panorama General</a:t>
            </a:r>
            <a:endParaRPr lang="en-US" sz="2267"/>
          </a:p>
        </p:txBody>
      </p:sp>
      <p:pic>
        <p:nvPicPr>
          <p:cNvPr id="4" name="Image 0" descr="logo_a.png">
            <a:extLst>
              <a:ext uri="{FF2B5EF4-FFF2-40B4-BE49-F238E27FC236}">
                <a16:creationId xmlns:a16="http://schemas.microsoft.com/office/drawing/2014/main" id="{9BE92ADB-20C2-6356-958C-CC88B5003639}"/>
              </a:ext>
            </a:extLst>
          </p:cNvPr>
          <p:cNvPicPr>
            <a:picLocks noChangeAspect="1"/>
          </p:cNvPicPr>
          <p:nvPr/>
        </p:nvPicPr>
        <p:blipFill>
          <a:blip r:embed="rId3"/>
          <a:stretch>
            <a:fillRect/>
          </a:stretch>
        </p:blipFill>
        <p:spPr>
          <a:xfrm>
            <a:off x="14378025" y="341376"/>
            <a:ext cx="1219200" cy="577901"/>
          </a:xfrm>
          <a:prstGeom prst="rect">
            <a:avLst/>
          </a:prstGeom>
        </p:spPr>
      </p:pic>
      <p:sp>
        <p:nvSpPr>
          <p:cNvPr id="5" name="Shape 2">
            <a:extLst>
              <a:ext uri="{FF2B5EF4-FFF2-40B4-BE49-F238E27FC236}">
                <a16:creationId xmlns:a16="http://schemas.microsoft.com/office/drawing/2014/main" id="{836ED0DA-102F-EB4E-FC79-FB322D1D669E}"/>
              </a:ext>
            </a:extLst>
          </p:cNvPr>
          <p:cNvSpPr/>
          <p:nvPr/>
        </p:nvSpPr>
        <p:spPr>
          <a:xfrm>
            <a:off x="658368" y="1524000"/>
            <a:ext cx="7638965" cy="5059680"/>
          </a:xfrm>
          <a:prstGeom prst="rect">
            <a:avLst/>
          </a:prstGeom>
          <a:solidFill>
            <a:srgbClr val="FFFFFF"/>
          </a:solidFill>
          <a:ln w="9525">
            <a:solidFill>
              <a:srgbClr val="D5DFDE"/>
            </a:solidFill>
            <a:prstDash val="solid"/>
          </a:ln>
        </p:spPr>
        <p:txBody>
          <a:bodyPr/>
          <a:lstStyle/>
          <a:p>
            <a:endParaRPr lang="es-PE" sz="2400"/>
          </a:p>
        </p:txBody>
      </p:sp>
      <p:grpSp>
        <p:nvGrpSpPr>
          <p:cNvPr id="68" name="Grupo 67">
            <a:extLst>
              <a:ext uri="{FF2B5EF4-FFF2-40B4-BE49-F238E27FC236}">
                <a16:creationId xmlns:a16="http://schemas.microsoft.com/office/drawing/2014/main" id="{876E6677-5FFE-94BF-D40E-B329F3221EFC}"/>
              </a:ext>
            </a:extLst>
          </p:cNvPr>
          <p:cNvGrpSpPr/>
          <p:nvPr/>
        </p:nvGrpSpPr>
        <p:grpSpPr>
          <a:xfrm>
            <a:off x="658368" y="1524000"/>
            <a:ext cx="7638965" cy="1236133"/>
            <a:chOff x="493776" y="1143000"/>
            <a:chExt cx="3612794" cy="1106424"/>
          </a:xfrm>
        </p:grpSpPr>
        <p:sp>
          <p:nvSpPr>
            <p:cNvPr id="6" name="Shape 3">
              <a:extLst>
                <a:ext uri="{FF2B5EF4-FFF2-40B4-BE49-F238E27FC236}">
                  <a16:creationId xmlns:a16="http://schemas.microsoft.com/office/drawing/2014/main" id="{D22F89D5-5C2D-5A18-0B42-5F1D646DFB27}"/>
                </a:ext>
              </a:extLst>
            </p:cNvPr>
            <p:cNvSpPr/>
            <p:nvPr/>
          </p:nvSpPr>
          <p:spPr>
            <a:xfrm>
              <a:off x="493776" y="1143000"/>
              <a:ext cx="3612794" cy="256032"/>
            </a:xfrm>
            <a:prstGeom prst="rect">
              <a:avLst/>
            </a:prstGeom>
            <a:solidFill>
              <a:srgbClr val="13807B"/>
            </a:solidFill>
            <a:ln w="12700">
              <a:solidFill>
                <a:srgbClr val="13807B"/>
              </a:solidFill>
              <a:prstDash val="solid"/>
            </a:ln>
          </p:spPr>
          <p:txBody>
            <a:bodyPr/>
            <a:lstStyle/>
            <a:p>
              <a:endParaRPr lang="es-PE" sz="2400"/>
            </a:p>
          </p:txBody>
        </p:sp>
        <p:sp>
          <p:nvSpPr>
            <p:cNvPr id="7" name="Text 4">
              <a:extLst>
                <a:ext uri="{FF2B5EF4-FFF2-40B4-BE49-F238E27FC236}">
                  <a16:creationId xmlns:a16="http://schemas.microsoft.com/office/drawing/2014/main" id="{2B010A8D-A3E1-BD2B-562A-AE3263D6A9B8}"/>
                </a:ext>
              </a:extLst>
            </p:cNvPr>
            <p:cNvSpPr txBox="1"/>
            <p:nvPr/>
          </p:nvSpPr>
          <p:spPr>
            <a:xfrm>
              <a:off x="603504" y="1143000"/>
              <a:ext cx="3393338" cy="256032"/>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Vista IBK</a:t>
              </a:r>
              <a:endParaRPr lang="en-US" sz="1400"/>
            </a:p>
          </p:txBody>
        </p:sp>
        <p:sp>
          <p:nvSpPr>
            <p:cNvPr id="14" name="Shape 11">
              <a:extLst>
                <a:ext uri="{FF2B5EF4-FFF2-40B4-BE49-F238E27FC236}">
                  <a16:creationId xmlns:a16="http://schemas.microsoft.com/office/drawing/2014/main" id="{7310567E-7D85-9A0E-4A26-A45C6440E013}"/>
                </a:ext>
              </a:extLst>
            </p:cNvPr>
            <p:cNvSpPr/>
            <p:nvPr/>
          </p:nvSpPr>
          <p:spPr>
            <a:xfrm>
              <a:off x="923544" y="2249424"/>
              <a:ext cx="3091586" cy="0"/>
            </a:xfrm>
            <a:prstGeom prst="line">
              <a:avLst/>
            </a:prstGeom>
            <a:noFill/>
            <a:ln w="6350">
              <a:solidFill>
                <a:srgbClr val="D5DFDE"/>
              </a:solidFill>
              <a:prstDash val="dash"/>
            </a:ln>
          </p:spPr>
          <p:txBody>
            <a:bodyPr/>
            <a:lstStyle/>
            <a:p>
              <a:endParaRPr lang="es-PE" sz="2400"/>
            </a:p>
          </p:txBody>
        </p:sp>
      </p:grpSp>
      <p:sp>
        <p:nvSpPr>
          <p:cNvPr id="20" name="Shape 15">
            <a:extLst>
              <a:ext uri="{FF2B5EF4-FFF2-40B4-BE49-F238E27FC236}">
                <a16:creationId xmlns:a16="http://schemas.microsoft.com/office/drawing/2014/main" id="{ACEAB4A7-5FF3-56A0-0ED0-F9A5585EFDBC}"/>
              </a:ext>
            </a:extLst>
          </p:cNvPr>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grpSp>
        <p:nvGrpSpPr>
          <p:cNvPr id="67" name="Grupo 66">
            <a:extLst>
              <a:ext uri="{FF2B5EF4-FFF2-40B4-BE49-F238E27FC236}">
                <a16:creationId xmlns:a16="http://schemas.microsoft.com/office/drawing/2014/main" id="{13238C93-B436-3EC3-4BB8-3B05239A0618}"/>
              </a:ext>
            </a:extLst>
          </p:cNvPr>
          <p:cNvGrpSpPr/>
          <p:nvPr/>
        </p:nvGrpSpPr>
        <p:grpSpPr>
          <a:xfrm>
            <a:off x="8955649" y="1524000"/>
            <a:ext cx="6641576" cy="5059680"/>
            <a:chOff x="8085125" y="1143000"/>
            <a:chExt cx="3612794" cy="3794760"/>
          </a:xfrm>
        </p:grpSpPr>
        <p:sp>
          <p:nvSpPr>
            <p:cNvPr id="29" name="Shape 22">
              <a:extLst>
                <a:ext uri="{FF2B5EF4-FFF2-40B4-BE49-F238E27FC236}">
                  <a16:creationId xmlns:a16="http://schemas.microsoft.com/office/drawing/2014/main" id="{CDFBB3DE-9882-EF0A-7C81-9E6ACBA573C8}"/>
                </a:ext>
              </a:extLst>
            </p:cNvPr>
            <p:cNvSpPr/>
            <p:nvPr/>
          </p:nvSpPr>
          <p:spPr>
            <a:xfrm>
              <a:off x="8085125" y="1143000"/>
              <a:ext cx="3612794" cy="3794760"/>
            </a:xfrm>
            <a:prstGeom prst="rect">
              <a:avLst/>
            </a:prstGeom>
            <a:solidFill>
              <a:srgbClr val="FFFFFF"/>
            </a:solidFill>
            <a:ln w="9525">
              <a:solidFill>
                <a:srgbClr val="D5DFDE"/>
              </a:solidFill>
              <a:prstDash val="solid"/>
            </a:ln>
          </p:spPr>
          <p:txBody>
            <a:bodyPr/>
            <a:lstStyle/>
            <a:p>
              <a:endParaRPr lang="es-PE" sz="2400"/>
            </a:p>
          </p:txBody>
        </p:sp>
        <p:grpSp>
          <p:nvGrpSpPr>
            <p:cNvPr id="66" name="Grupo 65">
              <a:extLst>
                <a:ext uri="{FF2B5EF4-FFF2-40B4-BE49-F238E27FC236}">
                  <a16:creationId xmlns:a16="http://schemas.microsoft.com/office/drawing/2014/main" id="{A74C2F0A-6F44-4CF9-B6FB-F1DB0B64396C}"/>
                </a:ext>
              </a:extLst>
            </p:cNvPr>
            <p:cNvGrpSpPr/>
            <p:nvPr/>
          </p:nvGrpSpPr>
          <p:grpSpPr>
            <a:xfrm>
              <a:off x="8085125" y="1143000"/>
              <a:ext cx="3612794" cy="3483864"/>
              <a:chOff x="8085125" y="1143000"/>
              <a:chExt cx="3612794" cy="3483864"/>
            </a:xfrm>
          </p:grpSpPr>
          <p:sp>
            <p:nvSpPr>
              <p:cNvPr id="30" name="Shape 23">
                <a:extLst>
                  <a:ext uri="{FF2B5EF4-FFF2-40B4-BE49-F238E27FC236}">
                    <a16:creationId xmlns:a16="http://schemas.microsoft.com/office/drawing/2014/main" id="{87808AD2-6DE4-0183-FA51-3C987DF83C54}"/>
                  </a:ext>
                </a:extLst>
              </p:cNvPr>
              <p:cNvSpPr/>
              <p:nvPr/>
            </p:nvSpPr>
            <p:spPr>
              <a:xfrm>
                <a:off x="8085125" y="1143000"/>
                <a:ext cx="3612794" cy="256032"/>
              </a:xfrm>
              <a:prstGeom prst="rect">
                <a:avLst/>
              </a:prstGeom>
              <a:solidFill>
                <a:srgbClr val="13807B"/>
              </a:solidFill>
              <a:ln w="12700">
                <a:solidFill>
                  <a:srgbClr val="13807B"/>
                </a:solidFill>
                <a:prstDash val="solid"/>
              </a:ln>
            </p:spPr>
            <p:txBody>
              <a:bodyPr/>
              <a:lstStyle/>
              <a:p>
                <a:endParaRPr lang="es-PE" sz="2400"/>
              </a:p>
            </p:txBody>
          </p:sp>
          <p:sp>
            <p:nvSpPr>
              <p:cNvPr id="31" name="Text 24">
                <a:extLst>
                  <a:ext uri="{FF2B5EF4-FFF2-40B4-BE49-F238E27FC236}">
                    <a16:creationId xmlns:a16="http://schemas.microsoft.com/office/drawing/2014/main" id="{98BB09AE-8B2B-DB54-13E3-82A801C05412}"/>
                  </a:ext>
                </a:extLst>
              </p:cNvPr>
              <p:cNvSpPr txBox="1"/>
              <p:nvPr/>
            </p:nvSpPr>
            <p:spPr>
              <a:xfrm>
                <a:off x="8194853" y="1143000"/>
                <a:ext cx="3393338" cy="256032"/>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Vista Share </a:t>
                </a:r>
                <a:r>
                  <a:rPr lang="en-US" sz="1400" b="1" err="1">
                    <a:solidFill>
                      <a:srgbClr val="FFFFFF"/>
                    </a:solidFill>
                    <a:latin typeface="Calibri" pitchFamily="34" charset="0"/>
                    <a:ea typeface="Calibri" pitchFamily="34" charset="-122"/>
                    <a:cs typeface="Calibri" pitchFamily="34" charset="-120"/>
                  </a:rPr>
                  <a:t>Relevante</a:t>
                </a:r>
                <a:endParaRPr lang="en-US" sz="1400"/>
              </a:p>
            </p:txBody>
          </p:sp>
          <p:sp>
            <p:nvSpPr>
              <p:cNvPr id="36" name="Text 29">
                <a:extLst>
                  <a:ext uri="{FF2B5EF4-FFF2-40B4-BE49-F238E27FC236}">
                    <a16:creationId xmlns:a16="http://schemas.microsoft.com/office/drawing/2014/main" id="{47262B24-9F22-6051-B795-2C14AF7C9D7C}"/>
                  </a:ext>
                </a:extLst>
              </p:cNvPr>
              <p:cNvSpPr txBox="1"/>
              <p:nvPr/>
            </p:nvSpPr>
            <p:spPr>
              <a:xfrm>
                <a:off x="8130845" y="1527048"/>
                <a:ext cx="347472" cy="63093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a:extLst>
                  <a:ext uri="{FF2B5EF4-FFF2-40B4-BE49-F238E27FC236}">
                    <a16:creationId xmlns:a16="http://schemas.microsoft.com/office/drawing/2014/main" id="{940C665B-3654-D1C0-52F9-DE9B7A83DE51}"/>
                  </a:ext>
                </a:extLst>
              </p:cNvPr>
              <p:cNvSpPr txBox="1"/>
              <p:nvPr/>
            </p:nvSpPr>
            <p:spPr>
              <a:xfrm>
                <a:off x="8130845" y="2359152"/>
                <a:ext cx="347472" cy="226771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a:extLst>
                  <a:ext uri="{FF2B5EF4-FFF2-40B4-BE49-F238E27FC236}">
                    <a16:creationId xmlns:a16="http://schemas.microsoft.com/office/drawing/2014/main" id="{7964B428-19B2-6506-6CF2-466E8A5EE50D}"/>
                  </a:ext>
                </a:extLst>
              </p:cNvPr>
              <p:cNvSpPr/>
              <p:nvPr/>
            </p:nvSpPr>
            <p:spPr>
              <a:xfrm>
                <a:off x="8514893" y="2249424"/>
                <a:ext cx="3091586" cy="0"/>
              </a:xfrm>
              <a:prstGeom prst="line">
                <a:avLst/>
              </a:prstGeom>
              <a:noFill/>
              <a:ln w="6350">
                <a:solidFill>
                  <a:srgbClr val="D5DFDE"/>
                </a:solidFill>
                <a:prstDash val="dash"/>
              </a:ln>
            </p:spPr>
            <p:txBody>
              <a:bodyPr/>
              <a:lstStyle/>
              <a:p>
                <a:endParaRPr lang="es-PE" sz="2400"/>
              </a:p>
            </p:txBody>
          </p:sp>
          <p:graphicFrame>
            <p:nvGraphicFramePr>
              <p:cNvPr id="39" name="Chart 4">
                <a:extLst>
                  <a:ext uri="{FF2B5EF4-FFF2-40B4-BE49-F238E27FC236}">
                    <a16:creationId xmlns:a16="http://schemas.microsoft.com/office/drawing/2014/main" id="{3969FCC0-F884-E65E-E52C-3D8287C07559}"/>
                  </a:ext>
                </a:extLst>
              </p:cNvPr>
              <p:cNvGraphicFramePr/>
              <p:nvPr/>
            </p:nvGraphicFramePr>
            <p:xfrm>
              <a:off x="8514893" y="1453896"/>
              <a:ext cx="3137306" cy="777240"/>
            </p:xfrm>
            <a:graphic>
              <a:graphicData uri="http://schemas.openxmlformats.org/drawingml/2006/chart">
                <c:chart xmlns:c="http://schemas.openxmlformats.org/drawingml/2006/chart" xmlns:r="http://schemas.openxmlformats.org/officeDocument/2006/relationships" r:id="rId4"/>
              </a:graphicData>
            </a:graphic>
          </p:graphicFrame>
        </p:grpSp>
      </p:grpSp>
      <p:graphicFrame>
        <p:nvGraphicFramePr>
          <p:cNvPr id="40" name="Chart 5">
            <a:extLst>
              <a:ext uri="{FF2B5EF4-FFF2-40B4-BE49-F238E27FC236}">
                <a16:creationId xmlns:a16="http://schemas.microsoft.com/office/drawing/2014/main" id="{5151A342-E896-BAFA-FFB2-C8A83DDEF3AD}"/>
              </a:ext>
            </a:extLst>
          </p:cNvPr>
          <p:cNvGraphicFramePr/>
          <p:nvPr/>
        </p:nvGraphicFramePr>
        <p:xfrm>
          <a:off x="9619489" y="3023616"/>
          <a:ext cx="5916777" cy="3511296"/>
        </p:xfrm>
        <a:graphic>
          <a:graphicData uri="http://schemas.openxmlformats.org/drawingml/2006/chart">
            <c:chart xmlns:c="http://schemas.openxmlformats.org/drawingml/2006/chart" xmlns:r="http://schemas.openxmlformats.org/officeDocument/2006/relationships" r:id="rId5"/>
          </a:graphicData>
        </a:graphic>
      </p:graphicFrame>
      <p:grpSp>
        <p:nvGrpSpPr>
          <p:cNvPr id="65" name="Grupo 64">
            <a:extLst>
              <a:ext uri="{FF2B5EF4-FFF2-40B4-BE49-F238E27FC236}">
                <a16:creationId xmlns:a16="http://schemas.microsoft.com/office/drawing/2014/main" id="{1CC8EA63-828C-1EAA-4713-DC888E762E33}"/>
              </a:ext>
            </a:extLst>
          </p:cNvPr>
          <p:cNvGrpSpPr/>
          <p:nvPr/>
        </p:nvGrpSpPr>
        <p:grpSpPr>
          <a:xfrm>
            <a:off x="8955649" y="6642947"/>
            <a:ext cx="6860084" cy="365760"/>
            <a:chOff x="493776" y="5010912"/>
            <a:chExt cx="11204143" cy="182880"/>
          </a:xfrm>
        </p:grpSpPr>
        <p:sp>
          <p:nvSpPr>
            <p:cNvPr id="41" name="Shape 32">
              <a:extLst>
                <a:ext uri="{FF2B5EF4-FFF2-40B4-BE49-F238E27FC236}">
                  <a16:creationId xmlns:a16="http://schemas.microsoft.com/office/drawing/2014/main" id="{26575965-4AB3-0063-0C5C-031BE673B8F5}"/>
                </a:ext>
              </a:extLst>
            </p:cNvPr>
            <p:cNvSpPr/>
            <p:nvPr/>
          </p:nvSpPr>
          <p:spPr>
            <a:xfrm>
              <a:off x="493776" y="5052060"/>
              <a:ext cx="146304" cy="100584"/>
            </a:xfrm>
            <a:prstGeom prst="rect">
              <a:avLst/>
            </a:prstGeom>
            <a:solidFill>
              <a:srgbClr val="CFE6E4"/>
            </a:solidFill>
            <a:ln w="12700">
              <a:solidFill>
                <a:srgbClr val="CFE6E4"/>
              </a:solidFill>
              <a:prstDash val="solid"/>
            </a:ln>
          </p:spPr>
          <p:txBody>
            <a:bodyPr/>
            <a:lstStyle/>
            <a:p>
              <a:endParaRPr lang="es-PE" sz="2400"/>
            </a:p>
          </p:txBody>
        </p:sp>
        <p:sp>
          <p:nvSpPr>
            <p:cNvPr id="42" name="Text 33">
              <a:extLst>
                <a:ext uri="{FF2B5EF4-FFF2-40B4-BE49-F238E27FC236}">
                  <a16:creationId xmlns:a16="http://schemas.microsoft.com/office/drawing/2014/main" id="{D0FB9BBC-1152-B5AE-9D71-AA7760ABF252}"/>
                </a:ext>
              </a:extLst>
            </p:cNvPr>
            <p:cNvSpPr txBox="1"/>
            <p:nvPr/>
          </p:nvSpPr>
          <p:spPr>
            <a:xfrm>
              <a:off x="740664" y="5010912"/>
              <a:ext cx="1325880" cy="18288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43" name="Shape 34">
              <a:extLst>
                <a:ext uri="{FF2B5EF4-FFF2-40B4-BE49-F238E27FC236}">
                  <a16:creationId xmlns:a16="http://schemas.microsoft.com/office/drawing/2014/main" id="{12F192C6-72DF-5A03-EAA8-0D481BF33A57}"/>
                </a:ext>
              </a:extLst>
            </p:cNvPr>
            <p:cNvSpPr/>
            <p:nvPr/>
          </p:nvSpPr>
          <p:spPr>
            <a:xfrm>
              <a:off x="2093976" y="5052060"/>
              <a:ext cx="146304" cy="100584"/>
            </a:xfrm>
            <a:prstGeom prst="rect">
              <a:avLst/>
            </a:prstGeom>
            <a:solidFill>
              <a:srgbClr val="8FCBC6"/>
            </a:solidFill>
            <a:ln w="12700">
              <a:solidFill>
                <a:srgbClr val="8FCBC6"/>
              </a:solidFill>
              <a:prstDash val="solid"/>
            </a:ln>
          </p:spPr>
          <p:txBody>
            <a:bodyPr/>
            <a:lstStyle/>
            <a:p>
              <a:endParaRPr lang="es-PE" sz="2400"/>
            </a:p>
          </p:txBody>
        </p:sp>
        <p:sp>
          <p:nvSpPr>
            <p:cNvPr id="44" name="Text 35">
              <a:extLst>
                <a:ext uri="{FF2B5EF4-FFF2-40B4-BE49-F238E27FC236}">
                  <a16:creationId xmlns:a16="http://schemas.microsoft.com/office/drawing/2014/main" id="{82A500C7-6A0F-491A-11B6-CC8EAAB70839}"/>
                </a:ext>
              </a:extLst>
            </p:cNvPr>
            <p:cNvSpPr txBox="1"/>
            <p:nvPr/>
          </p:nvSpPr>
          <p:spPr>
            <a:xfrm>
              <a:off x="2340864" y="5010912"/>
              <a:ext cx="1737360" cy="18288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45" name="Shape 36">
              <a:extLst>
                <a:ext uri="{FF2B5EF4-FFF2-40B4-BE49-F238E27FC236}">
                  <a16:creationId xmlns:a16="http://schemas.microsoft.com/office/drawing/2014/main" id="{18E33B0A-46A3-55E6-769E-E62E938AF59E}"/>
                </a:ext>
              </a:extLst>
            </p:cNvPr>
            <p:cNvSpPr/>
            <p:nvPr/>
          </p:nvSpPr>
          <p:spPr>
            <a:xfrm>
              <a:off x="4105656" y="5052060"/>
              <a:ext cx="146304" cy="100584"/>
            </a:xfrm>
            <a:prstGeom prst="rect">
              <a:avLst/>
            </a:prstGeom>
            <a:solidFill>
              <a:srgbClr val="2F9E98"/>
            </a:solidFill>
            <a:ln w="12700">
              <a:solidFill>
                <a:srgbClr val="2F9E98"/>
              </a:solidFill>
              <a:prstDash val="solid"/>
            </a:ln>
          </p:spPr>
          <p:txBody>
            <a:bodyPr/>
            <a:lstStyle/>
            <a:p>
              <a:endParaRPr lang="es-PE" sz="2400"/>
            </a:p>
          </p:txBody>
        </p:sp>
        <p:sp>
          <p:nvSpPr>
            <p:cNvPr id="46" name="Text 37">
              <a:extLst>
                <a:ext uri="{FF2B5EF4-FFF2-40B4-BE49-F238E27FC236}">
                  <a16:creationId xmlns:a16="http://schemas.microsoft.com/office/drawing/2014/main" id="{46EB7FAD-3CE1-7C3C-ADB5-E4A576C31037}"/>
                </a:ext>
              </a:extLst>
            </p:cNvPr>
            <p:cNvSpPr txBox="1"/>
            <p:nvPr/>
          </p:nvSpPr>
          <p:spPr>
            <a:xfrm>
              <a:off x="4352544" y="5010912"/>
              <a:ext cx="1417320" cy="18288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47" name="Shape 38">
              <a:extLst>
                <a:ext uri="{FF2B5EF4-FFF2-40B4-BE49-F238E27FC236}">
                  <a16:creationId xmlns:a16="http://schemas.microsoft.com/office/drawing/2014/main" id="{62BA21CA-B2AC-AF87-55CE-E004E4FDB6D5}"/>
                </a:ext>
              </a:extLst>
            </p:cNvPr>
            <p:cNvSpPr/>
            <p:nvPr/>
          </p:nvSpPr>
          <p:spPr>
            <a:xfrm>
              <a:off x="5797296" y="5052060"/>
              <a:ext cx="146304" cy="100584"/>
            </a:xfrm>
            <a:prstGeom prst="rect">
              <a:avLst/>
            </a:prstGeom>
            <a:solidFill>
              <a:srgbClr val="0C514E"/>
            </a:solidFill>
            <a:ln w="12700">
              <a:solidFill>
                <a:srgbClr val="0C514E"/>
              </a:solidFill>
              <a:prstDash val="solid"/>
            </a:ln>
          </p:spPr>
          <p:txBody>
            <a:bodyPr/>
            <a:lstStyle/>
            <a:p>
              <a:endParaRPr lang="es-PE" sz="2400"/>
            </a:p>
          </p:txBody>
        </p:sp>
        <p:sp>
          <p:nvSpPr>
            <p:cNvPr id="48" name="Text 39">
              <a:extLst>
                <a:ext uri="{FF2B5EF4-FFF2-40B4-BE49-F238E27FC236}">
                  <a16:creationId xmlns:a16="http://schemas.microsoft.com/office/drawing/2014/main" id="{02D452A1-DD5B-04CD-1156-3D7294E1D707}"/>
                </a:ext>
              </a:extLst>
            </p:cNvPr>
            <p:cNvSpPr txBox="1"/>
            <p:nvPr/>
          </p:nvSpPr>
          <p:spPr>
            <a:xfrm>
              <a:off x="6044184" y="5010912"/>
              <a:ext cx="1143000" cy="18288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49" name="Shape 40">
              <a:extLst>
                <a:ext uri="{FF2B5EF4-FFF2-40B4-BE49-F238E27FC236}">
                  <a16:creationId xmlns:a16="http://schemas.microsoft.com/office/drawing/2014/main" id="{05B2BD13-29A0-453C-7A4C-5800B4FBBF1E}"/>
                </a:ext>
              </a:extLst>
            </p:cNvPr>
            <p:cNvSpPr/>
            <p:nvPr/>
          </p:nvSpPr>
          <p:spPr>
            <a:xfrm>
              <a:off x="7214616" y="5102352"/>
              <a:ext cx="201168" cy="0"/>
            </a:xfrm>
            <a:prstGeom prst="line">
              <a:avLst/>
            </a:prstGeom>
            <a:noFill/>
            <a:ln w="19050">
              <a:solidFill>
                <a:srgbClr val="0B2E2C"/>
              </a:solidFill>
              <a:prstDash val="solid"/>
            </a:ln>
          </p:spPr>
          <p:txBody>
            <a:bodyPr/>
            <a:lstStyle/>
            <a:p>
              <a:endParaRPr lang="es-PE" sz="2400"/>
            </a:p>
          </p:txBody>
        </p:sp>
        <p:sp>
          <p:nvSpPr>
            <p:cNvPr id="50" name="Shape 41">
              <a:extLst>
                <a:ext uri="{FF2B5EF4-FFF2-40B4-BE49-F238E27FC236}">
                  <a16:creationId xmlns:a16="http://schemas.microsoft.com/office/drawing/2014/main" id="{71F99212-7C23-3135-E078-051E2A8FC936}"/>
                </a:ext>
              </a:extLst>
            </p:cNvPr>
            <p:cNvSpPr/>
            <p:nvPr/>
          </p:nvSpPr>
          <p:spPr>
            <a:xfrm>
              <a:off x="7283196" y="5070348"/>
              <a:ext cx="64008" cy="64008"/>
            </a:xfrm>
            <a:prstGeom prst="ellipse">
              <a:avLst/>
            </a:prstGeom>
            <a:solidFill>
              <a:srgbClr val="0B2E2C"/>
            </a:solidFill>
            <a:ln w="12700">
              <a:solidFill>
                <a:srgbClr val="0B2E2C"/>
              </a:solidFill>
              <a:prstDash val="solid"/>
            </a:ln>
          </p:spPr>
          <p:txBody>
            <a:bodyPr/>
            <a:lstStyle/>
            <a:p>
              <a:endParaRPr lang="es-PE" sz="2400"/>
            </a:p>
          </p:txBody>
        </p:sp>
        <p:sp>
          <p:nvSpPr>
            <p:cNvPr id="51" name="Text 42">
              <a:extLst>
                <a:ext uri="{FF2B5EF4-FFF2-40B4-BE49-F238E27FC236}">
                  <a16:creationId xmlns:a16="http://schemas.microsoft.com/office/drawing/2014/main" id="{66F230A7-FA4E-215A-DA7A-91DF55ABFDBD}"/>
                </a:ext>
              </a:extLst>
            </p:cNvPr>
            <p:cNvSpPr txBox="1"/>
            <p:nvPr/>
          </p:nvSpPr>
          <p:spPr>
            <a:xfrm>
              <a:off x="7461504" y="5010912"/>
              <a:ext cx="777240" cy="18288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52" name="Shape 43">
              <a:extLst>
                <a:ext uri="{FF2B5EF4-FFF2-40B4-BE49-F238E27FC236}">
                  <a16:creationId xmlns:a16="http://schemas.microsoft.com/office/drawing/2014/main" id="{63EBCBC7-06D7-2707-BAE9-ADCD25AABCAD}"/>
                </a:ext>
              </a:extLst>
            </p:cNvPr>
            <p:cNvSpPr/>
            <p:nvPr/>
          </p:nvSpPr>
          <p:spPr>
            <a:xfrm>
              <a:off x="8266176" y="5102352"/>
              <a:ext cx="201168" cy="0"/>
            </a:xfrm>
            <a:prstGeom prst="line">
              <a:avLst/>
            </a:prstGeom>
            <a:noFill/>
            <a:ln w="19050">
              <a:solidFill>
                <a:srgbClr val="C87A0B"/>
              </a:solidFill>
              <a:prstDash val="dash"/>
            </a:ln>
          </p:spPr>
          <p:txBody>
            <a:bodyPr/>
            <a:lstStyle/>
            <a:p>
              <a:endParaRPr lang="es-PE" sz="2400"/>
            </a:p>
          </p:txBody>
        </p:sp>
        <p:sp>
          <p:nvSpPr>
            <p:cNvPr id="53" name="Shape 44">
              <a:extLst>
                <a:ext uri="{FF2B5EF4-FFF2-40B4-BE49-F238E27FC236}">
                  <a16:creationId xmlns:a16="http://schemas.microsoft.com/office/drawing/2014/main" id="{2E349803-84FF-BBCD-70B6-B325D6AC145F}"/>
                </a:ext>
              </a:extLst>
            </p:cNvPr>
            <p:cNvSpPr/>
            <p:nvPr/>
          </p:nvSpPr>
          <p:spPr>
            <a:xfrm>
              <a:off x="8334756" y="5070348"/>
              <a:ext cx="64008" cy="64008"/>
            </a:xfrm>
            <a:prstGeom prst="ellipse">
              <a:avLst/>
            </a:prstGeom>
            <a:solidFill>
              <a:srgbClr val="C87A0B"/>
            </a:solidFill>
            <a:ln w="12700">
              <a:solidFill>
                <a:srgbClr val="C87A0B"/>
              </a:solidFill>
              <a:prstDash val="solid"/>
            </a:ln>
          </p:spPr>
          <p:txBody>
            <a:bodyPr/>
            <a:lstStyle/>
            <a:p>
              <a:endParaRPr lang="es-PE" sz="2400"/>
            </a:p>
          </p:txBody>
        </p:sp>
        <p:sp>
          <p:nvSpPr>
            <p:cNvPr id="54" name="Text 45">
              <a:extLst>
                <a:ext uri="{FF2B5EF4-FFF2-40B4-BE49-F238E27FC236}">
                  <a16:creationId xmlns:a16="http://schemas.microsoft.com/office/drawing/2014/main" id="{F7F91726-C836-605A-DAF4-2CE68DBF2E61}"/>
                </a:ext>
              </a:extLst>
            </p:cNvPr>
            <p:cNvSpPr txBox="1"/>
            <p:nvPr/>
          </p:nvSpPr>
          <p:spPr>
            <a:xfrm>
              <a:off x="8513064" y="5010912"/>
              <a:ext cx="960120" cy="18288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55" name="Text 46">
              <a:extLst>
                <a:ext uri="{FF2B5EF4-FFF2-40B4-BE49-F238E27FC236}">
                  <a16:creationId xmlns:a16="http://schemas.microsoft.com/office/drawing/2014/main" id="{0E893D2A-C731-EEDD-7075-63EA1D51E94F}"/>
                </a:ext>
              </a:extLst>
            </p:cNvPr>
            <p:cNvSpPr txBox="1"/>
            <p:nvPr/>
          </p:nvSpPr>
          <p:spPr>
            <a:xfrm>
              <a:off x="9592056" y="5010912"/>
              <a:ext cx="2105863" cy="18288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grpSp>
      <p:pic>
        <p:nvPicPr>
          <p:cNvPr id="69" name="Imagen 68">
            <a:extLst>
              <a:ext uri="{FF2B5EF4-FFF2-40B4-BE49-F238E27FC236}">
                <a16:creationId xmlns:a16="http://schemas.microsoft.com/office/drawing/2014/main" id="{5E5B71C6-2C64-F045-9672-C92EBFE61C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12" t="2013" r="1674" b="22818"/>
          <a:stretch>
            <a:fillRect/>
          </a:stretch>
        </p:blipFill>
        <p:spPr bwMode="auto">
          <a:xfrm>
            <a:off x="742823" y="2685448"/>
            <a:ext cx="7385177" cy="3849464"/>
          </a:xfrm>
          <a:prstGeom prst="rect">
            <a:avLst/>
          </a:prstGeom>
          <a:noFill/>
          <a:extLst>
            <a:ext uri="{909E8E84-426E-40DD-AFC4-6F175D3DCCD1}">
              <a14:hiddenFill xmlns:a14="http://schemas.microsoft.com/office/drawing/2010/main">
                <a:solidFill>
                  <a:srgbClr val="FFFFFF"/>
                </a:solidFill>
              </a14:hiddenFill>
            </a:ext>
          </a:extLst>
        </p:spPr>
      </p:pic>
      <p:pic>
        <p:nvPicPr>
          <p:cNvPr id="70" name="Imagen 69">
            <a:extLst>
              <a:ext uri="{FF2B5EF4-FFF2-40B4-BE49-F238E27FC236}">
                <a16:creationId xmlns:a16="http://schemas.microsoft.com/office/drawing/2014/main" id="{5E5B71C6-2C64-F045-9672-C92EBFE61C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2674" t="86348" r="7097" b="7604"/>
          <a:stretch>
            <a:fillRect/>
          </a:stretch>
        </p:blipFill>
        <p:spPr bwMode="auto">
          <a:xfrm>
            <a:off x="658369" y="6708881"/>
            <a:ext cx="7596787" cy="222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1391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CON DEUDA · UNIDADES (N)</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Los 6 clusters con deuda caen sin excepción, con la TEA estable — hay espacio para testear una baja selectiva</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Ancla</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−12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2,4 pp</a:t>
            </a:r>
            <a:endParaRPr lang="en-US" sz="1000"/>
          </a:p>
        </p:txBody>
      </p:sp>
      <p:sp>
        <p:nvSpPr>
          <p:cNvPr id="12" name="Text 9"/>
          <p:cNvSpPr txBox="1"/>
          <p:nvPr/>
        </p:nvSpPr>
        <p:spPr>
          <a:xfrm>
            <a:off x="719328"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6944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7315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2718816"/>
          <a:ext cx="4183075" cy="1414272"/>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Socio en Crecimiento</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−15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24" name="Text 19"/>
          <p:cNvSpPr txBox="1"/>
          <p:nvPr/>
        </p:nvSpPr>
        <p:spPr>
          <a:xfrm>
            <a:off x="57802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6944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7315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2718816"/>
          <a:ext cx="4183075" cy="1414272"/>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Cuenta Estratégica</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−15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2,8 pp</a:t>
            </a:r>
            <a:endParaRPr lang="en-US" sz="1000"/>
          </a:p>
        </p:txBody>
      </p:sp>
      <p:sp>
        <p:nvSpPr>
          <p:cNvPr id="36" name="Text 29"/>
          <p:cNvSpPr txBox="1"/>
          <p:nvPr/>
        </p:nvSpPr>
        <p:spPr>
          <a:xfrm>
            <a:off x="108411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6944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7315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2718816"/>
          <a:ext cx="4183075" cy="1414272"/>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42" name="Shape 33"/>
          <p:cNvSpPr/>
          <p:nvPr/>
        </p:nvSpPr>
        <p:spPr>
          <a:xfrm>
            <a:off x="658368"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43" name="Text 34"/>
          <p:cNvSpPr txBox="1"/>
          <p:nvPr/>
        </p:nvSpPr>
        <p:spPr>
          <a:xfrm>
            <a:off x="804672"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Maduro Multibanco</a:t>
            </a:r>
            <a:endParaRPr lang="en-US" sz="1400"/>
          </a:p>
        </p:txBody>
      </p:sp>
      <p:sp>
        <p:nvSpPr>
          <p:cNvPr id="44" name="Shape 35"/>
          <p:cNvSpPr/>
          <p:nvPr/>
        </p:nvSpPr>
        <p:spPr>
          <a:xfrm>
            <a:off x="43781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45" name="Text 36"/>
          <p:cNvSpPr txBox="1"/>
          <p:nvPr/>
        </p:nvSpPr>
        <p:spPr>
          <a:xfrm>
            <a:off x="43781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−20 pp</a:t>
            </a:r>
            <a:endParaRPr lang="en-US" sz="1000"/>
          </a:p>
        </p:txBody>
      </p:sp>
      <p:sp>
        <p:nvSpPr>
          <p:cNvPr id="46" name="Shape 37"/>
          <p:cNvSpPr/>
          <p:nvPr/>
        </p:nvSpPr>
        <p:spPr>
          <a:xfrm>
            <a:off x="31589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47" name="Text 38"/>
          <p:cNvSpPr txBox="1"/>
          <p:nvPr/>
        </p:nvSpPr>
        <p:spPr>
          <a:xfrm>
            <a:off x="31589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3,0 pp</a:t>
            </a:r>
            <a:endParaRPr lang="en-US" sz="1000"/>
          </a:p>
        </p:txBody>
      </p:sp>
      <p:sp>
        <p:nvSpPr>
          <p:cNvPr id="48" name="Text 39"/>
          <p:cNvSpPr txBox="1"/>
          <p:nvPr/>
        </p:nvSpPr>
        <p:spPr>
          <a:xfrm>
            <a:off x="719328"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49" name="Text 40"/>
          <p:cNvSpPr txBox="1"/>
          <p:nvPr/>
        </p:nvSpPr>
        <p:spPr>
          <a:xfrm>
            <a:off x="719328"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50" name="Shape 41"/>
          <p:cNvSpPr/>
          <p:nvPr/>
        </p:nvSpPr>
        <p:spPr>
          <a:xfrm>
            <a:off x="1231392" y="5571744"/>
            <a:ext cx="4122115" cy="0"/>
          </a:xfrm>
          <a:prstGeom prst="line">
            <a:avLst/>
          </a:prstGeom>
          <a:noFill/>
          <a:ln w="6350">
            <a:solidFill>
              <a:srgbClr val="D5DFDE"/>
            </a:solidFill>
            <a:prstDash val="dash"/>
          </a:ln>
        </p:spPr>
        <p:txBody>
          <a:bodyPr/>
          <a:lstStyle/>
          <a:p>
            <a:endParaRPr lang="es-PE" sz="2400"/>
          </a:p>
        </p:txBody>
      </p:sp>
      <p:graphicFrame>
        <p:nvGraphicFramePr>
          <p:cNvPr id="51" name="Chart 6"/>
          <p:cNvGraphicFramePr/>
          <p:nvPr/>
        </p:nvGraphicFramePr>
        <p:xfrm>
          <a:off x="1231392" y="4815840"/>
          <a:ext cx="4183075" cy="73152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2" name="Chart 7"/>
          <p:cNvGraphicFramePr/>
          <p:nvPr/>
        </p:nvGraphicFramePr>
        <p:xfrm>
          <a:off x="1231392" y="5596128"/>
          <a:ext cx="4183075" cy="1414272"/>
        </p:xfrm>
        <a:graphic>
          <a:graphicData uri="http://schemas.openxmlformats.org/drawingml/2006/chart">
            <c:chart xmlns:c="http://schemas.openxmlformats.org/drawingml/2006/chart" xmlns:r="http://schemas.openxmlformats.org/officeDocument/2006/relationships" r:id="rId11"/>
          </a:graphicData>
        </a:graphic>
      </p:graphicFrame>
      <p:sp>
        <p:nvSpPr>
          <p:cNvPr id="53" name="Shape 42"/>
          <p:cNvSpPr/>
          <p:nvPr/>
        </p:nvSpPr>
        <p:spPr>
          <a:xfrm>
            <a:off x="57192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54" name="Shape 43"/>
          <p:cNvSpPr/>
          <p:nvPr/>
        </p:nvSpPr>
        <p:spPr>
          <a:xfrm>
            <a:off x="57192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55" name="Text 44"/>
          <p:cNvSpPr txBox="1"/>
          <p:nvPr/>
        </p:nvSpPr>
        <p:spPr>
          <a:xfrm>
            <a:off x="58655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Gran Cuenta por Conquistar</a:t>
            </a:r>
            <a:endParaRPr lang="en-US" sz="1400"/>
          </a:p>
        </p:txBody>
      </p:sp>
      <p:sp>
        <p:nvSpPr>
          <p:cNvPr id="56" name="Shape 45"/>
          <p:cNvSpPr/>
          <p:nvPr/>
        </p:nvSpPr>
        <p:spPr>
          <a:xfrm>
            <a:off x="94390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57" name="Text 46"/>
          <p:cNvSpPr txBox="1"/>
          <p:nvPr/>
        </p:nvSpPr>
        <p:spPr>
          <a:xfrm>
            <a:off x="94390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−18 pp</a:t>
            </a:r>
            <a:endParaRPr lang="en-US" sz="1000"/>
          </a:p>
        </p:txBody>
      </p:sp>
      <p:sp>
        <p:nvSpPr>
          <p:cNvPr id="58" name="Shape 47"/>
          <p:cNvSpPr/>
          <p:nvPr/>
        </p:nvSpPr>
        <p:spPr>
          <a:xfrm>
            <a:off x="82198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59" name="Text 48"/>
          <p:cNvSpPr txBox="1"/>
          <p:nvPr/>
        </p:nvSpPr>
        <p:spPr>
          <a:xfrm>
            <a:off x="82198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3,3 pp</a:t>
            </a:r>
            <a:endParaRPr lang="en-US" sz="1000"/>
          </a:p>
        </p:txBody>
      </p:sp>
      <p:sp>
        <p:nvSpPr>
          <p:cNvPr id="60" name="Text 49"/>
          <p:cNvSpPr txBox="1"/>
          <p:nvPr/>
        </p:nvSpPr>
        <p:spPr>
          <a:xfrm>
            <a:off x="57802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61" name="Text 50"/>
          <p:cNvSpPr txBox="1"/>
          <p:nvPr/>
        </p:nvSpPr>
        <p:spPr>
          <a:xfrm>
            <a:off x="57802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62" name="Shape 51"/>
          <p:cNvSpPr/>
          <p:nvPr/>
        </p:nvSpPr>
        <p:spPr>
          <a:xfrm>
            <a:off x="6292291" y="5571744"/>
            <a:ext cx="4122115" cy="0"/>
          </a:xfrm>
          <a:prstGeom prst="line">
            <a:avLst/>
          </a:prstGeom>
          <a:noFill/>
          <a:ln w="6350">
            <a:solidFill>
              <a:srgbClr val="D5DFDE"/>
            </a:solidFill>
            <a:prstDash val="dash"/>
          </a:ln>
        </p:spPr>
        <p:txBody>
          <a:bodyPr/>
          <a:lstStyle/>
          <a:p>
            <a:endParaRPr lang="es-PE" sz="2400"/>
          </a:p>
        </p:txBody>
      </p:sp>
      <p:graphicFrame>
        <p:nvGraphicFramePr>
          <p:cNvPr id="63" name="Chart 8"/>
          <p:cNvGraphicFramePr/>
          <p:nvPr/>
        </p:nvGraphicFramePr>
        <p:xfrm>
          <a:off x="6292291" y="4815840"/>
          <a:ext cx="4183075" cy="73152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4" name="Chart 9"/>
          <p:cNvGraphicFramePr/>
          <p:nvPr/>
        </p:nvGraphicFramePr>
        <p:xfrm>
          <a:off x="6292291" y="5596128"/>
          <a:ext cx="4183075" cy="1414272"/>
        </p:xfrm>
        <a:graphic>
          <a:graphicData uri="http://schemas.openxmlformats.org/drawingml/2006/chart">
            <c:chart xmlns:c="http://schemas.openxmlformats.org/drawingml/2006/chart" xmlns:r="http://schemas.openxmlformats.org/officeDocument/2006/relationships" r:id="rId13"/>
          </a:graphicData>
        </a:graphic>
      </p:graphicFrame>
      <p:sp>
        <p:nvSpPr>
          <p:cNvPr id="65" name="Shape 52"/>
          <p:cNvSpPr/>
          <p:nvPr/>
        </p:nvSpPr>
        <p:spPr>
          <a:xfrm>
            <a:off x="107801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6" name="Shape 53"/>
          <p:cNvSpPr/>
          <p:nvPr/>
        </p:nvSpPr>
        <p:spPr>
          <a:xfrm>
            <a:off x="107801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67" name="Text 54"/>
          <p:cNvSpPr txBox="1"/>
          <p:nvPr/>
        </p:nvSpPr>
        <p:spPr>
          <a:xfrm>
            <a:off x="109264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por Reactivar</a:t>
            </a:r>
            <a:endParaRPr lang="en-US" sz="1400"/>
          </a:p>
        </p:txBody>
      </p:sp>
      <p:sp>
        <p:nvSpPr>
          <p:cNvPr id="68" name="Shape 55"/>
          <p:cNvSpPr/>
          <p:nvPr/>
        </p:nvSpPr>
        <p:spPr>
          <a:xfrm>
            <a:off x="14499945"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69" name="Text 56"/>
          <p:cNvSpPr txBox="1"/>
          <p:nvPr/>
        </p:nvSpPr>
        <p:spPr>
          <a:xfrm>
            <a:off x="14499945"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−9 pp</a:t>
            </a:r>
            <a:endParaRPr lang="en-US" sz="1000"/>
          </a:p>
        </p:txBody>
      </p:sp>
      <p:sp>
        <p:nvSpPr>
          <p:cNvPr id="70" name="Shape 57"/>
          <p:cNvSpPr/>
          <p:nvPr/>
        </p:nvSpPr>
        <p:spPr>
          <a:xfrm>
            <a:off x="13280745"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71" name="Text 58"/>
          <p:cNvSpPr txBox="1"/>
          <p:nvPr/>
        </p:nvSpPr>
        <p:spPr>
          <a:xfrm>
            <a:off x="13280745"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3,8 pp</a:t>
            </a:r>
            <a:endParaRPr lang="en-US" sz="1000"/>
          </a:p>
        </p:txBody>
      </p:sp>
      <p:sp>
        <p:nvSpPr>
          <p:cNvPr id="72" name="Text 59"/>
          <p:cNvSpPr txBox="1"/>
          <p:nvPr/>
        </p:nvSpPr>
        <p:spPr>
          <a:xfrm>
            <a:off x="108411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73" name="Text 60"/>
          <p:cNvSpPr txBox="1"/>
          <p:nvPr/>
        </p:nvSpPr>
        <p:spPr>
          <a:xfrm>
            <a:off x="108411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74" name="Shape 61"/>
          <p:cNvSpPr/>
          <p:nvPr/>
        </p:nvSpPr>
        <p:spPr>
          <a:xfrm>
            <a:off x="11353191" y="5571744"/>
            <a:ext cx="4122115" cy="0"/>
          </a:xfrm>
          <a:prstGeom prst="line">
            <a:avLst/>
          </a:prstGeom>
          <a:noFill/>
          <a:ln w="6350">
            <a:solidFill>
              <a:srgbClr val="D5DFDE"/>
            </a:solidFill>
            <a:prstDash val="dash"/>
          </a:ln>
        </p:spPr>
        <p:txBody>
          <a:bodyPr/>
          <a:lstStyle/>
          <a:p>
            <a:endParaRPr lang="es-PE" sz="2400"/>
          </a:p>
        </p:txBody>
      </p:sp>
      <p:graphicFrame>
        <p:nvGraphicFramePr>
          <p:cNvPr id="75" name="Chart 10"/>
          <p:cNvGraphicFramePr/>
          <p:nvPr/>
        </p:nvGraphicFramePr>
        <p:xfrm>
          <a:off x="11353191" y="4815840"/>
          <a:ext cx="4183075" cy="73152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76" name="Chart 11"/>
          <p:cNvGraphicFramePr/>
          <p:nvPr/>
        </p:nvGraphicFramePr>
        <p:xfrm>
          <a:off x="11353191" y="5596128"/>
          <a:ext cx="4183075" cy="1414272"/>
        </p:xfrm>
        <a:graphic>
          <a:graphicData uri="http://schemas.openxmlformats.org/drawingml/2006/chart">
            <c:chart xmlns:c="http://schemas.openxmlformats.org/drawingml/2006/chart" xmlns:r="http://schemas.openxmlformats.org/officeDocument/2006/relationships" r:id="rId15"/>
          </a:graphicData>
        </a:graphic>
      </p:graphicFrame>
      <p:sp>
        <p:nvSpPr>
          <p:cNvPr id="77" name="Shape 62"/>
          <p:cNvSpPr/>
          <p:nvPr/>
        </p:nvSpPr>
        <p:spPr>
          <a:xfrm>
            <a:off x="658368" y="7211568"/>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78" name="Text 63"/>
          <p:cNvSpPr txBox="1"/>
          <p:nvPr/>
        </p:nvSpPr>
        <p:spPr>
          <a:xfrm>
            <a:off x="987552" y="7156704"/>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79" name="Shape 64"/>
          <p:cNvSpPr/>
          <p:nvPr/>
        </p:nvSpPr>
        <p:spPr>
          <a:xfrm>
            <a:off x="2791968" y="7211568"/>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80" name="Text 65"/>
          <p:cNvSpPr txBox="1"/>
          <p:nvPr/>
        </p:nvSpPr>
        <p:spPr>
          <a:xfrm>
            <a:off x="3121152" y="7156704"/>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81" name="Shape 66"/>
          <p:cNvSpPr/>
          <p:nvPr/>
        </p:nvSpPr>
        <p:spPr>
          <a:xfrm>
            <a:off x="5474208" y="7211568"/>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82" name="Text 67"/>
          <p:cNvSpPr txBox="1"/>
          <p:nvPr/>
        </p:nvSpPr>
        <p:spPr>
          <a:xfrm>
            <a:off x="5803392" y="7156704"/>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83" name="Shape 68"/>
          <p:cNvSpPr/>
          <p:nvPr/>
        </p:nvSpPr>
        <p:spPr>
          <a:xfrm>
            <a:off x="7729728" y="7211568"/>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84" name="Text 69"/>
          <p:cNvSpPr txBox="1"/>
          <p:nvPr/>
        </p:nvSpPr>
        <p:spPr>
          <a:xfrm>
            <a:off x="8058912" y="7156704"/>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85" name="Shape 70"/>
          <p:cNvSpPr/>
          <p:nvPr/>
        </p:nvSpPr>
        <p:spPr>
          <a:xfrm>
            <a:off x="9619488" y="7278624"/>
            <a:ext cx="268224" cy="0"/>
          </a:xfrm>
          <a:prstGeom prst="line">
            <a:avLst/>
          </a:prstGeom>
          <a:noFill/>
          <a:ln w="19050">
            <a:solidFill>
              <a:srgbClr val="0B2E2C"/>
            </a:solidFill>
            <a:prstDash val="solid"/>
          </a:ln>
        </p:spPr>
        <p:txBody>
          <a:bodyPr/>
          <a:lstStyle/>
          <a:p>
            <a:endParaRPr lang="es-PE" sz="2400"/>
          </a:p>
        </p:txBody>
      </p:sp>
      <p:sp>
        <p:nvSpPr>
          <p:cNvPr id="86" name="Shape 71"/>
          <p:cNvSpPr/>
          <p:nvPr/>
        </p:nvSpPr>
        <p:spPr>
          <a:xfrm>
            <a:off x="9710928" y="7235952"/>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87" name="Text 72"/>
          <p:cNvSpPr txBox="1"/>
          <p:nvPr/>
        </p:nvSpPr>
        <p:spPr>
          <a:xfrm>
            <a:off x="9948672" y="7156704"/>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88" name="Shape 73"/>
          <p:cNvSpPr/>
          <p:nvPr/>
        </p:nvSpPr>
        <p:spPr>
          <a:xfrm>
            <a:off x="11021568" y="7278624"/>
            <a:ext cx="268224" cy="0"/>
          </a:xfrm>
          <a:prstGeom prst="line">
            <a:avLst/>
          </a:prstGeom>
          <a:noFill/>
          <a:ln w="19050">
            <a:solidFill>
              <a:srgbClr val="C87A0B"/>
            </a:solidFill>
            <a:prstDash val="dash"/>
          </a:ln>
        </p:spPr>
        <p:txBody>
          <a:bodyPr/>
          <a:lstStyle/>
          <a:p>
            <a:endParaRPr lang="es-PE" sz="2400"/>
          </a:p>
        </p:txBody>
      </p:sp>
      <p:sp>
        <p:nvSpPr>
          <p:cNvPr id="89" name="Shape 74"/>
          <p:cNvSpPr/>
          <p:nvPr/>
        </p:nvSpPr>
        <p:spPr>
          <a:xfrm>
            <a:off x="11113008" y="7235952"/>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90" name="Text 75"/>
          <p:cNvSpPr txBox="1"/>
          <p:nvPr/>
        </p:nvSpPr>
        <p:spPr>
          <a:xfrm>
            <a:off x="11350752" y="7156704"/>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91" name="Text 76"/>
          <p:cNvSpPr txBox="1"/>
          <p:nvPr/>
        </p:nvSpPr>
        <p:spPr>
          <a:xfrm>
            <a:off x="12789409" y="7156704"/>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92" name="Shape 77"/>
          <p:cNvSpPr/>
          <p:nvPr/>
        </p:nvSpPr>
        <p:spPr>
          <a:xfrm>
            <a:off x="658369" y="7522464"/>
            <a:ext cx="14938857" cy="1255776"/>
          </a:xfrm>
          <a:prstGeom prst="rect">
            <a:avLst/>
          </a:prstGeom>
          <a:solidFill>
            <a:srgbClr val="ECF6F5"/>
          </a:solidFill>
          <a:ln w="12700">
            <a:solidFill>
              <a:srgbClr val="ECF6F5"/>
            </a:solidFill>
            <a:prstDash val="solid"/>
          </a:ln>
        </p:spPr>
        <p:txBody>
          <a:bodyPr/>
          <a:lstStyle/>
          <a:p>
            <a:endParaRPr lang="es-PE" sz="2400"/>
          </a:p>
        </p:txBody>
      </p:sp>
      <p:sp>
        <p:nvSpPr>
          <p:cNvPr id="93" name="Shape 78"/>
          <p:cNvSpPr/>
          <p:nvPr/>
        </p:nvSpPr>
        <p:spPr>
          <a:xfrm>
            <a:off x="658368" y="7522464"/>
            <a:ext cx="73152" cy="1255776"/>
          </a:xfrm>
          <a:prstGeom prst="rect">
            <a:avLst/>
          </a:prstGeom>
          <a:solidFill>
            <a:srgbClr val="13807B"/>
          </a:solidFill>
          <a:ln w="12700">
            <a:solidFill>
              <a:srgbClr val="13807B"/>
            </a:solidFill>
            <a:prstDash val="solid"/>
          </a:ln>
        </p:spPr>
        <p:txBody>
          <a:bodyPr/>
          <a:lstStyle/>
          <a:p>
            <a:endParaRPr lang="es-PE" sz="2400"/>
          </a:p>
        </p:txBody>
      </p:sp>
      <p:sp>
        <p:nvSpPr>
          <p:cNvPr id="94" name="Text 79"/>
          <p:cNvSpPr txBox="1"/>
          <p:nvPr/>
        </p:nvSpPr>
        <p:spPr>
          <a:xfrm>
            <a:off x="926592" y="7644384"/>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95" name="Text 80"/>
          <p:cNvSpPr txBox="1"/>
          <p:nvPr/>
        </p:nvSpPr>
        <p:spPr>
          <a:xfrm>
            <a:off x="926592" y="7912608"/>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96" name="Text 81"/>
          <p:cNvSpPr txBox="1"/>
          <p:nvPr/>
        </p:nvSpPr>
        <p:spPr>
          <a:xfrm>
            <a:off x="926592"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6 clusters caen entre 2025Q2 y 2026Q2 (-16pp a -28pp) con la brecha TEA estable (~2.4-3.6pp): el precio actual no explica la caída, pero tampoco la ha frenado.</a:t>
            </a:r>
            <a:endParaRPr lang="en-US" sz="1267"/>
          </a:p>
        </p:txBody>
      </p:sp>
      <p:sp>
        <p:nvSpPr>
          <p:cNvPr id="97" name="Text 82"/>
          <p:cNvSpPr txBox="1"/>
          <p:nvPr/>
        </p:nvSpPr>
        <p:spPr>
          <a:xfrm>
            <a:off x="5837123" y="7912608"/>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98" name="Text 83"/>
          <p:cNvSpPr txBox="1"/>
          <p:nvPr/>
        </p:nvSpPr>
        <p:spPr>
          <a:xfrm>
            <a:off x="5837123"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Socio en Crecimiento, Cuenta Estratégica y Maduro Multibanco son los de mayor caída (-28pp) — ahí conviene testear una baja selectiva de TEA ofertada (piloto acotado, no across-the-board) para ver si recupera share antes de escalarlo a los otros 3.</a:t>
            </a:r>
            <a:endParaRPr lang="en-US" sz="1267"/>
          </a:p>
        </p:txBody>
      </p:sp>
      <p:sp>
        <p:nvSpPr>
          <p:cNvPr id="99" name="Text 84"/>
          <p:cNvSpPr txBox="1"/>
          <p:nvPr/>
        </p:nvSpPr>
        <p:spPr>
          <a:xfrm>
            <a:off x="10747655" y="7912608"/>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100" name="Text 85"/>
          <p:cNvSpPr txBox="1"/>
          <p:nvPr/>
        </p:nvSpPr>
        <p:spPr>
          <a:xfrm>
            <a:off x="10747655"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Cliente por Reactivar resiste mejor (-18pp) con la TEA ofertada más alta del grupo (22.8%-23.0% vs. ~20-21% en el resto) — no bajar tasa ahí todavía: el cliente parece menos sensible al precio que el resto.</a:t>
            </a:r>
            <a:endParaRPr lang="en-US" sz="1267"/>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CON DEUDA · MONTO (S/)</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En monto la caída con deuda es más fuerte que en unidades — el espacio para bajar tasa debe priorizarse en los tickets grandes</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Ancla</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−16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2,4 pp</a:t>
            </a:r>
            <a:endParaRPr lang="en-US" sz="1000"/>
          </a:p>
        </p:txBody>
      </p:sp>
      <p:sp>
        <p:nvSpPr>
          <p:cNvPr id="12" name="Text 9"/>
          <p:cNvSpPr txBox="1"/>
          <p:nvPr/>
        </p:nvSpPr>
        <p:spPr>
          <a:xfrm>
            <a:off x="719328"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6944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7315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2718816"/>
          <a:ext cx="4183075" cy="1414272"/>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Socio en Crecimiento</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−24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24" name="Text 19"/>
          <p:cNvSpPr txBox="1"/>
          <p:nvPr/>
        </p:nvSpPr>
        <p:spPr>
          <a:xfrm>
            <a:off x="57802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6944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7315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2718816"/>
          <a:ext cx="4183075" cy="1414272"/>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Cuenta Estratégica</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−16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2,8 pp</a:t>
            </a:r>
            <a:endParaRPr lang="en-US" sz="1000"/>
          </a:p>
        </p:txBody>
      </p:sp>
      <p:sp>
        <p:nvSpPr>
          <p:cNvPr id="36" name="Text 29"/>
          <p:cNvSpPr txBox="1"/>
          <p:nvPr/>
        </p:nvSpPr>
        <p:spPr>
          <a:xfrm>
            <a:off x="10841127" y="2036064"/>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2840736"/>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6944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7315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2718816"/>
          <a:ext cx="4183075" cy="1414272"/>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42" name="Shape 33"/>
          <p:cNvSpPr/>
          <p:nvPr/>
        </p:nvSpPr>
        <p:spPr>
          <a:xfrm>
            <a:off x="658368"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43" name="Text 34"/>
          <p:cNvSpPr txBox="1"/>
          <p:nvPr/>
        </p:nvSpPr>
        <p:spPr>
          <a:xfrm>
            <a:off x="804672"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Maduro Multibanco</a:t>
            </a:r>
            <a:endParaRPr lang="en-US" sz="1400"/>
          </a:p>
        </p:txBody>
      </p:sp>
      <p:sp>
        <p:nvSpPr>
          <p:cNvPr id="44" name="Shape 35"/>
          <p:cNvSpPr/>
          <p:nvPr/>
        </p:nvSpPr>
        <p:spPr>
          <a:xfrm>
            <a:off x="43781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45" name="Text 36"/>
          <p:cNvSpPr txBox="1"/>
          <p:nvPr/>
        </p:nvSpPr>
        <p:spPr>
          <a:xfrm>
            <a:off x="43781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−24 pp</a:t>
            </a:r>
            <a:endParaRPr lang="en-US" sz="1000"/>
          </a:p>
        </p:txBody>
      </p:sp>
      <p:sp>
        <p:nvSpPr>
          <p:cNvPr id="46" name="Shape 37"/>
          <p:cNvSpPr/>
          <p:nvPr/>
        </p:nvSpPr>
        <p:spPr>
          <a:xfrm>
            <a:off x="31589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47" name="Text 38"/>
          <p:cNvSpPr txBox="1"/>
          <p:nvPr/>
        </p:nvSpPr>
        <p:spPr>
          <a:xfrm>
            <a:off x="31589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3,0 pp</a:t>
            </a:r>
            <a:endParaRPr lang="en-US" sz="1000"/>
          </a:p>
        </p:txBody>
      </p:sp>
      <p:sp>
        <p:nvSpPr>
          <p:cNvPr id="48" name="Text 39"/>
          <p:cNvSpPr txBox="1"/>
          <p:nvPr/>
        </p:nvSpPr>
        <p:spPr>
          <a:xfrm>
            <a:off x="719328"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49" name="Text 40"/>
          <p:cNvSpPr txBox="1"/>
          <p:nvPr/>
        </p:nvSpPr>
        <p:spPr>
          <a:xfrm>
            <a:off x="719328"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50" name="Shape 41"/>
          <p:cNvSpPr/>
          <p:nvPr/>
        </p:nvSpPr>
        <p:spPr>
          <a:xfrm>
            <a:off x="1231392" y="5571744"/>
            <a:ext cx="4122115" cy="0"/>
          </a:xfrm>
          <a:prstGeom prst="line">
            <a:avLst/>
          </a:prstGeom>
          <a:noFill/>
          <a:ln w="6350">
            <a:solidFill>
              <a:srgbClr val="D5DFDE"/>
            </a:solidFill>
            <a:prstDash val="dash"/>
          </a:ln>
        </p:spPr>
        <p:txBody>
          <a:bodyPr/>
          <a:lstStyle/>
          <a:p>
            <a:endParaRPr lang="es-PE" sz="2400"/>
          </a:p>
        </p:txBody>
      </p:sp>
      <p:graphicFrame>
        <p:nvGraphicFramePr>
          <p:cNvPr id="51" name="Chart 6"/>
          <p:cNvGraphicFramePr/>
          <p:nvPr/>
        </p:nvGraphicFramePr>
        <p:xfrm>
          <a:off x="1231392" y="4815840"/>
          <a:ext cx="4183075" cy="73152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52" name="Chart 7"/>
          <p:cNvGraphicFramePr/>
          <p:nvPr/>
        </p:nvGraphicFramePr>
        <p:xfrm>
          <a:off x="1231392" y="5596128"/>
          <a:ext cx="4183075" cy="1414272"/>
        </p:xfrm>
        <a:graphic>
          <a:graphicData uri="http://schemas.openxmlformats.org/drawingml/2006/chart">
            <c:chart xmlns:c="http://schemas.openxmlformats.org/drawingml/2006/chart" xmlns:r="http://schemas.openxmlformats.org/officeDocument/2006/relationships" r:id="rId11"/>
          </a:graphicData>
        </a:graphic>
      </p:graphicFrame>
      <p:sp>
        <p:nvSpPr>
          <p:cNvPr id="53" name="Shape 42"/>
          <p:cNvSpPr/>
          <p:nvPr/>
        </p:nvSpPr>
        <p:spPr>
          <a:xfrm>
            <a:off x="57192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54" name="Shape 43"/>
          <p:cNvSpPr/>
          <p:nvPr/>
        </p:nvSpPr>
        <p:spPr>
          <a:xfrm>
            <a:off x="57192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55" name="Text 44"/>
          <p:cNvSpPr txBox="1"/>
          <p:nvPr/>
        </p:nvSpPr>
        <p:spPr>
          <a:xfrm>
            <a:off x="58655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Gran Cuenta por Conquistar</a:t>
            </a:r>
            <a:endParaRPr lang="en-US" sz="1400"/>
          </a:p>
        </p:txBody>
      </p:sp>
      <p:sp>
        <p:nvSpPr>
          <p:cNvPr id="56" name="Shape 45"/>
          <p:cNvSpPr/>
          <p:nvPr/>
        </p:nvSpPr>
        <p:spPr>
          <a:xfrm>
            <a:off x="9439047"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57" name="Text 46"/>
          <p:cNvSpPr txBox="1"/>
          <p:nvPr/>
        </p:nvSpPr>
        <p:spPr>
          <a:xfrm>
            <a:off x="9439047"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−23 pp</a:t>
            </a:r>
            <a:endParaRPr lang="en-US" sz="1000"/>
          </a:p>
        </p:txBody>
      </p:sp>
      <p:sp>
        <p:nvSpPr>
          <p:cNvPr id="58" name="Shape 47"/>
          <p:cNvSpPr/>
          <p:nvPr/>
        </p:nvSpPr>
        <p:spPr>
          <a:xfrm>
            <a:off x="8219847"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59" name="Text 48"/>
          <p:cNvSpPr txBox="1"/>
          <p:nvPr/>
        </p:nvSpPr>
        <p:spPr>
          <a:xfrm>
            <a:off x="8219847"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3,3 pp</a:t>
            </a:r>
            <a:endParaRPr lang="en-US" sz="1000"/>
          </a:p>
        </p:txBody>
      </p:sp>
      <p:sp>
        <p:nvSpPr>
          <p:cNvPr id="60" name="Text 49"/>
          <p:cNvSpPr txBox="1"/>
          <p:nvPr/>
        </p:nvSpPr>
        <p:spPr>
          <a:xfrm>
            <a:off x="57802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61" name="Text 50"/>
          <p:cNvSpPr txBox="1"/>
          <p:nvPr/>
        </p:nvSpPr>
        <p:spPr>
          <a:xfrm>
            <a:off x="57802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62" name="Shape 51"/>
          <p:cNvSpPr/>
          <p:nvPr/>
        </p:nvSpPr>
        <p:spPr>
          <a:xfrm>
            <a:off x="6292291" y="5571744"/>
            <a:ext cx="4122115" cy="0"/>
          </a:xfrm>
          <a:prstGeom prst="line">
            <a:avLst/>
          </a:prstGeom>
          <a:noFill/>
          <a:ln w="6350">
            <a:solidFill>
              <a:srgbClr val="D5DFDE"/>
            </a:solidFill>
            <a:prstDash val="dash"/>
          </a:ln>
        </p:spPr>
        <p:txBody>
          <a:bodyPr/>
          <a:lstStyle/>
          <a:p>
            <a:endParaRPr lang="es-PE" sz="2400"/>
          </a:p>
        </p:txBody>
      </p:sp>
      <p:graphicFrame>
        <p:nvGraphicFramePr>
          <p:cNvPr id="63" name="Chart 8"/>
          <p:cNvGraphicFramePr/>
          <p:nvPr/>
        </p:nvGraphicFramePr>
        <p:xfrm>
          <a:off x="6292291" y="4815840"/>
          <a:ext cx="4183075" cy="73152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64" name="Chart 9"/>
          <p:cNvGraphicFramePr/>
          <p:nvPr/>
        </p:nvGraphicFramePr>
        <p:xfrm>
          <a:off x="6292291" y="5596128"/>
          <a:ext cx="4183075" cy="1414272"/>
        </p:xfrm>
        <a:graphic>
          <a:graphicData uri="http://schemas.openxmlformats.org/drawingml/2006/chart">
            <c:chart xmlns:c="http://schemas.openxmlformats.org/drawingml/2006/chart" xmlns:r="http://schemas.openxmlformats.org/officeDocument/2006/relationships" r:id="rId13"/>
          </a:graphicData>
        </a:graphic>
      </p:graphicFrame>
      <p:sp>
        <p:nvSpPr>
          <p:cNvPr id="65" name="Shape 52"/>
          <p:cNvSpPr/>
          <p:nvPr/>
        </p:nvSpPr>
        <p:spPr>
          <a:xfrm>
            <a:off x="10780167" y="4401312"/>
            <a:ext cx="4817059" cy="2657856"/>
          </a:xfrm>
          <a:prstGeom prst="rect">
            <a:avLst/>
          </a:prstGeom>
          <a:solidFill>
            <a:srgbClr val="FFFFFF"/>
          </a:solidFill>
          <a:ln w="9525">
            <a:solidFill>
              <a:srgbClr val="D5DFDE"/>
            </a:solidFill>
            <a:prstDash val="solid"/>
          </a:ln>
        </p:spPr>
        <p:txBody>
          <a:bodyPr/>
          <a:lstStyle/>
          <a:p>
            <a:endParaRPr lang="es-PE" sz="2400"/>
          </a:p>
        </p:txBody>
      </p:sp>
      <p:sp>
        <p:nvSpPr>
          <p:cNvPr id="66" name="Shape 53"/>
          <p:cNvSpPr/>
          <p:nvPr/>
        </p:nvSpPr>
        <p:spPr>
          <a:xfrm>
            <a:off x="10780167" y="4401312"/>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67" name="Text 54"/>
          <p:cNvSpPr txBox="1"/>
          <p:nvPr/>
        </p:nvSpPr>
        <p:spPr>
          <a:xfrm>
            <a:off x="10926471" y="4401312"/>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Cliente por Reactivar</a:t>
            </a:r>
            <a:endParaRPr lang="en-US" sz="1400"/>
          </a:p>
        </p:txBody>
      </p:sp>
      <p:sp>
        <p:nvSpPr>
          <p:cNvPr id="68" name="Shape 55"/>
          <p:cNvSpPr/>
          <p:nvPr/>
        </p:nvSpPr>
        <p:spPr>
          <a:xfrm>
            <a:off x="14499945" y="4462272"/>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69" name="Text 56"/>
          <p:cNvSpPr txBox="1"/>
          <p:nvPr/>
        </p:nvSpPr>
        <p:spPr>
          <a:xfrm>
            <a:off x="14499945" y="4462272"/>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−9 pp</a:t>
            </a:r>
            <a:endParaRPr lang="en-US" sz="1000"/>
          </a:p>
        </p:txBody>
      </p:sp>
      <p:sp>
        <p:nvSpPr>
          <p:cNvPr id="70" name="Shape 57"/>
          <p:cNvSpPr/>
          <p:nvPr/>
        </p:nvSpPr>
        <p:spPr>
          <a:xfrm>
            <a:off x="13280745" y="4462272"/>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71" name="Text 58"/>
          <p:cNvSpPr txBox="1"/>
          <p:nvPr/>
        </p:nvSpPr>
        <p:spPr>
          <a:xfrm>
            <a:off x="13280745" y="4462272"/>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3,8 pp</a:t>
            </a:r>
            <a:endParaRPr lang="en-US" sz="1000"/>
          </a:p>
        </p:txBody>
      </p:sp>
      <p:sp>
        <p:nvSpPr>
          <p:cNvPr id="72" name="Text 59"/>
          <p:cNvSpPr txBox="1"/>
          <p:nvPr/>
        </p:nvSpPr>
        <p:spPr>
          <a:xfrm>
            <a:off x="10841127" y="4913376"/>
            <a:ext cx="463296" cy="5364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73" name="Text 60"/>
          <p:cNvSpPr txBox="1"/>
          <p:nvPr/>
        </p:nvSpPr>
        <p:spPr>
          <a:xfrm>
            <a:off x="10841127" y="5718048"/>
            <a:ext cx="463296" cy="926592"/>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74" name="Shape 61"/>
          <p:cNvSpPr/>
          <p:nvPr/>
        </p:nvSpPr>
        <p:spPr>
          <a:xfrm>
            <a:off x="11353191" y="5571744"/>
            <a:ext cx="4122115" cy="0"/>
          </a:xfrm>
          <a:prstGeom prst="line">
            <a:avLst/>
          </a:prstGeom>
          <a:noFill/>
          <a:ln w="6350">
            <a:solidFill>
              <a:srgbClr val="D5DFDE"/>
            </a:solidFill>
            <a:prstDash val="dash"/>
          </a:ln>
        </p:spPr>
        <p:txBody>
          <a:bodyPr/>
          <a:lstStyle/>
          <a:p>
            <a:endParaRPr lang="es-PE" sz="2400"/>
          </a:p>
        </p:txBody>
      </p:sp>
      <p:graphicFrame>
        <p:nvGraphicFramePr>
          <p:cNvPr id="75" name="Chart 10"/>
          <p:cNvGraphicFramePr/>
          <p:nvPr/>
        </p:nvGraphicFramePr>
        <p:xfrm>
          <a:off x="11353191" y="4815840"/>
          <a:ext cx="4183075" cy="73152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76" name="Chart 11"/>
          <p:cNvGraphicFramePr/>
          <p:nvPr/>
        </p:nvGraphicFramePr>
        <p:xfrm>
          <a:off x="11353191" y="5596128"/>
          <a:ext cx="4183075" cy="1414272"/>
        </p:xfrm>
        <a:graphic>
          <a:graphicData uri="http://schemas.openxmlformats.org/drawingml/2006/chart">
            <c:chart xmlns:c="http://schemas.openxmlformats.org/drawingml/2006/chart" xmlns:r="http://schemas.openxmlformats.org/officeDocument/2006/relationships" r:id="rId15"/>
          </a:graphicData>
        </a:graphic>
      </p:graphicFrame>
      <p:sp>
        <p:nvSpPr>
          <p:cNvPr id="77" name="Shape 62"/>
          <p:cNvSpPr/>
          <p:nvPr/>
        </p:nvSpPr>
        <p:spPr>
          <a:xfrm>
            <a:off x="658368" y="7211568"/>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78" name="Text 63"/>
          <p:cNvSpPr txBox="1"/>
          <p:nvPr/>
        </p:nvSpPr>
        <p:spPr>
          <a:xfrm>
            <a:off x="987552" y="7156704"/>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79" name="Shape 64"/>
          <p:cNvSpPr/>
          <p:nvPr/>
        </p:nvSpPr>
        <p:spPr>
          <a:xfrm>
            <a:off x="2791968" y="7211568"/>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80" name="Text 65"/>
          <p:cNvSpPr txBox="1"/>
          <p:nvPr/>
        </p:nvSpPr>
        <p:spPr>
          <a:xfrm>
            <a:off x="3121152" y="7156704"/>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81" name="Shape 66"/>
          <p:cNvSpPr/>
          <p:nvPr/>
        </p:nvSpPr>
        <p:spPr>
          <a:xfrm>
            <a:off x="5474208" y="7211568"/>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82" name="Text 67"/>
          <p:cNvSpPr txBox="1"/>
          <p:nvPr/>
        </p:nvSpPr>
        <p:spPr>
          <a:xfrm>
            <a:off x="5803392" y="7156704"/>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83" name="Shape 68"/>
          <p:cNvSpPr/>
          <p:nvPr/>
        </p:nvSpPr>
        <p:spPr>
          <a:xfrm>
            <a:off x="7729728" y="7211568"/>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84" name="Text 69"/>
          <p:cNvSpPr txBox="1"/>
          <p:nvPr/>
        </p:nvSpPr>
        <p:spPr>
          <a:xfrm>
            <a:off x="8058912" y="7156704"/>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85" name="Shape 70"/>
          <p:cNvSpPr/>
          <p:nvPr/>
        </p:nvSpPr>
        <p:spPr>
          <a:xfrm>
            <a:off x="9619488" y="7278624"/>
            <a:ext cx="268224" cy="0"/>
          </a:xfrm>
          <a:prstGeom prst="line">
            <a:avLst/>
          </a:prstGeom>
          <a:noFill/>
          <a:ln w="19050">
            <a:solidFill>
              <a:srgbClr val="0B2E2C"/>
            </a:solidFill>
            <a:prstDash val="solid"/>
          </a:ln>
        </p:spPr>
        <p:txBody>
          <a:bodyPr/>
          <a:lstStyle/>
          <a:p>
            <a:endParaRPr lang="es-PE" sz="2400"/>
          </a:p>
        </p:txBody>
      </p:sp>
      <p:sp>
        <p:nvSpPr>
          <p:cNvPr id="86" name="Shape 71"/>
          <p:cNvSpPr/>
          <p:nvPr/>
        </p:nvSpPr>
        <p:spPr>
          <a:xfrm>
            <a:off x="9710928" y="7235952"/>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87" name="Text 72"/>
          <p:cNvSpPr txBox="1"/>
          <p:nvPr/>
        </p:nvSpPr>
        <p:spPr>
          <a:xfrm>
            <a:off x="9948672" y="7156704"/>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88" name="Shape 73"/>
          <p:cNvSpPr/>
          <p:nvPr/>
        </p:nvSpPr>
        <p:spPr>
          <a:xfrm>
            <a:off x="11021568" y="7278624"/>
            <a:ext cx="268224" cy="0"/>
          </a:xfrm>
          <a:prstGeom prst="line">
            <a:avLst/>
          </a:prstGeom>
          <a:noFill/>
          <a:ln w="19050">
            <a:solidFill>
              <a:srgbClr val="C87A0B"/>
            </a:solidFill>
            <a:prstDash val="dash"/>
          </a:ln>
        </p:spPr>
        <p:txBody>
          <a:bodyPr/>
          <a:lstStyle/>
          <a:p>
            <a:endParaRPr lang="es-PE" sz="2400"/>
          </a:p>
        </p:txBody>
      </p:sp>
      <p:sp>
        <p:nvSpPr>
          <p:cNvPr id="89" name="Shape 74"/>
          <p:cNvSpPr/>
          <p:nvPr/>
        </p:nvSpPr>
        <p:spPr>
          <a:xfrm>
            <a:off x="11113008" y="7235952"/>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90" name="Text 75"/>
          <p:cNvSpPr txBox="1"/>
          <p:nvPr/>
        </p:nvSpPr>
        <p:spPr>
          <a:xfrm>
            <a:off x="11350752" y="7156704"/>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91" name="Text 76"/>
          <p:cNvSpPr txBox="1"/>
          <p:nvPr/>
        </p:nvSpPr>
        <p:spPr>
          <a:xfrm>
            <a:off x="12789409" y="7156704"/>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92" name="Shape 77"/>
          <p:cNvSpPr/>
          <p:nvPr/>
        </p:nvSpPr>
        <p:spPr>
          <a:xfrm>
            <a:off x="658369" y="7522464"/>
            <a:ext cx="14938857" cy="1255776"/>
          </a:xfrm>
          <a:prstGeom prst="rect">
            <a:avLst/>
          </a:prstGeom>
          <a:solidFill>
            <a:srgbClr val="ECF6F5"/>
          </a:solidFill>
          <a:ln w="12700">
            <a:solidFill>
              <a:srgbClr val="ECF6F5"/>
            </a:solidFill>
            <a:prstDash val="solid"/>
          </a:ln>
        </p:spPr>
        <p:txBody>
          <a:bodyPr/>
          <a:lstStyle/>
          <a:p>
            <a:endParaRPr lang="es-PE" sz="2400"/>
          </a:p>
        </p:txBody>
      </p:sp>
      <p:sp>
        <p:nvSpPr>
          <p:cNvPr id="93" name="Shape 78"/>
          <p:cNvSpPr/>
          <p:nvPr/>
        </p:nvSpPr>
        <p:spPr>
          <a:xfrm>
            <a:off x="658368" y="7522464"/>
            <a:ext cx="73152" cy="1255776"/>
          </a:xfrm>
          <a:prstGeom prst="rect">
            <a:avLst/>
          </a:prstGeom>
          <a:solidFill>
            <a:srgbClr val="13807B"/>
          </a:solidFill>
          <a:ln w="12700">
            <a:solidFill>
              <a:srgbClr val="13807B"/>
            </a:solidFill>
            <a:prstDash val="solid"/>
          </a:ln>
        </p:spPr>
        <p:txBody>
          <a:bodyPr/>
          <a:lstStyle/>
          <a:p>
            <a:endParaRPr lang="es-PE" sz="2400"/>
          </a:p>
        </p:txBody>
      </p:sp>
      <p:sp>
        <p:nvSpPr>
          <p:cNvPr id="94" name="Text 79"/>
          <p:cNvSpPr txBox="1"/>
          <p:nvPr/>
        </p:nvSpPr>
        <p:spPr>
          <a:xfrm>
            <a:off x="926592" y="7644384"/>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95" name="Text 80"/>
          <p:cNvSpPr txBox="1"/>
          <p:nvPr/>
        </p:nvSpPr>
        <p:spPr>
          <a:xfrm>
            <a:off x="926592" y="7912608"/>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96" name="Text 81"/>
          <p:cNvSpPr txBox="1"/>
          <p:nvPr/>
        </p:nvSpPr>
        <p:spPr>
          <a:xfrm>
            <a:off x="926592"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6 clusters caen entre 2025Q2 y 2026Q2 (-16pp a -31pp) con la brecha TEA estable: el precio actual no explica la caída en monto, igual que en unidades.</a:t>
            </a:r>
            <a:endParaRPr lang="en-US" sz="1267"/>
          </a:p>
        </p:txBody>
      </p:sp>
      <p:sp>
        <p:nvSpPr>
          <p:cNvPr id="97" name="Text 82"/>
          <p:cNvSpPr txBox="1"/>
          <p:nvPr/>
        </p:nvSpPr>
        <p:spPr>
          <a:xfrm>
            <a:off x="5837123" y="7912608"/>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98" name="Text 83"/>
          <p:cNvSpPr txBox="1"/>
          <p:nvPr/>
        </p:nvSpPr>
        <p:spPr>
          <a:xfrm>
            <a:off x="5837123"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La caída en monto es igual o mayor que en unidades en 5 de los 6 clusters — si la baja de tasa se prueba, debe evaluarse primero en el segmento de ticket grande de Socio en Crecimiento y Maduro Multibanco, que son los que más valor absoluto de share pierden.</a:t>
            </a:r>
            <a:endParaRPr lang="en-US" sz="1267"/>
          </a:p>
        </p:txBody>
      </p:sp>
      <p:sp>
        <p:nvSpPr>
          <p:cNvPr id="99" name="Text 84"/>
          <p:cNvSpPr txBox="1"/>
          <p:nvPr/>
        </p:nvSpPr>
        <p:spPr>
          <a:xfrm>
            <a:off x="10747655" y="7912608"/>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100" name="Text 85"/>
          <p:cNvSpPr txBox="1"/>
          <p:nvPr/>
        </p:nvSpPr>
        <p:spPr>
          <a:xfrm>
            <a:off x="10747655" y="8132064"/>
            <a:ext cx="4605731" cy="548640"/>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Cliente por Reactivar vuelve a resistir mejor (-16pp) con la TEA más alta del grupo — no es candidato a baja de tasa por ahora.</a:t>
            </a:r>
            <a:endParaRPr lang="en-US" sz="1267"/>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SIN DEUDA · UNIDADES (N)</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Los 3 clusters sin deuda sostienen su share con la TEA más alta de toda la cartera — hay espacio para subir tasa</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Emprendedor Izipay</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6E7E7D"/>
                </a:solidFill>
                <a:latin typeface="Calibri" pitchFamily="34" charset="0"/>
                <a:ea typeface="Calibri" pitchFamily="34" charset="-122"/>
                <a:cs typeface="Calibri" pitchFamily="34" charset="-120"/>
              </a:rPr>
              <a:t>share  0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12" name="Text 9"/>
          <p:cNvSpPr txBox="1"/>
          <p:nvPr/>
        </p:nvSpPr>
        <p:spPr>
          <a:xfrm>
            <a:off x="719328"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9992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1036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3023616"/>
          <a:ext cx="4183075" cy="3511296"/>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Nuevo en Expansión</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−6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3,4 pp</a:t>
            </a:r>
            <a:endParaRPr lang="en-US" sz="1000"/>
          </a:p>
        </p:txBody>
      </p:sp>
      <p:sp>
        <p:nvSpPr>
          <p:cNvPr id="24" name="Text 19"/>
          <p:cNvSpPr txBox="1"/>
          <p:nvPr/>
        </p:nvSpPr>
        <p:spPr>
          <a:xfrm>
            <a:off x="57802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9992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10363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3023616"/>
          <a:ext cx="4183075" cy="3511296"/>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Próximo Recurrente</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13807B"/>
                </a:solidFill>
                <a:latin typeface="Calibri" pitchFamily="34" charset="0"/>
                <a:ea typeface="Calibri" pitchFamily="34" charset="-122"/>
                <a:cs typeface="Calibri" pitchFamily="34" charset="-120"/>
              </a:rPr>
              <a:t>share +4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4,6 pp</a:t>
            </a:r>
            <a:endParaRPr lang="en-US" sz="1000"/>
          </a:p>
        </p:txBody>
      </p:sp>
      <p:sp>
        <p:nvSpPr>
          <p:cNvPr id="36" name="Text 29"/>
          <p:cNvSpPr txBox="1"/>
          <p:nvPr/>
        </p:nvSpPr>
        <p:spPr>
          <a:xfrm>
            <a:off x="108411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9992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10363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3023616"/>
          <a:ext cx="4183075" cy="3511296"/>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6736080"/>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42" name="Text 33"/>
          <p:cNvSpPr txBox="1"/>
          <p:nvPr/>
        </p:nvSpPr>
        <p:spPr>
          <a:xfrm>
            <a:off x="987552" y="6681216"/>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43" name="Shape 34"/>
          <p:cNvSpPr/>
          <p:nvPr/>
        </p:nvSpPr>
        <p:spPr>
          <a:xfrm>
            <a:off x="2791968" y="6736080"/>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44" name="Text 35"/>
          <p:cNvSpPr txBox="1"/>
          <p:nvPr/>
        </p:nvSpPr>
        <p:spPr>
          <a:xfrm>
            <a:off x="3121152" y="6681216"/>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45" name="Shape 36"/>
          <p:cNvSpPr/>
          <p:nvPr/>
        </p:nvSpPr>
        <p:spPr>
          <a:xfrm>
            <a:off x="5474208" y="6736080"/>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46" name="Text 37"/>
          <p:cNvSpPr txBox="1"/>
          <p:nvPr/>
        </p:nvSpPr>
        <p:spPr>
          <a:xfrm>
            <a:off x="5803392" y="6681216"/>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47" name="Shape 38"/>
          <p:cNvSpPr/>
          <p:nvPr/>
        </p:nvSpPr>
        <p:spPr>
          <a:xfrm>
            <a:off x="7729728" y="6736080"/>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48" name="Text 39"/>
          <p:cNvSpPr txBox="1"/>
          <p:nvPr/>
        </p:nvSpPr>
        <p:spPr>
          <a:xfrm>
            <a:off x="8058912" y="6681216"/>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49" name="Shape 40"/>
          <p:cNvSpPr/>
          <p:nvPr/>
        </p:nvSpPr>
        <p:spPr>
          <a:xfrm>
            <a:off x="9619488" y="6803136"/>
            <a:ext cx="268224" cy="0"/>
          </a:xfrm>
          <a:prstGeom prst="line">
            <a:avLst/>
          </a:prstGeom>
          <a:noFill/>
          <a:ln w="19050">
            <a:solidFill>
              <a:srgbClr val="0B2E2C"/>
            </a:solidFill>
            <a:prstDash val="solid"/>
          </a:ln>
        </p:spPr>
        <p:txBody>
          <a:bodyPr/>
          <a:lstStyle/>
          <a:p>
            <a:endParaRPr lang="es-PE" sz="2400"/>
          </a:p>
        </p:txBody>
      </p:sp>
      <p:sp>
        <p:nvSpPr>
          <p:cNvPr id="50" name="Shape 41"/>
          <p:cNvSpPr/>
          <p:nvPr/>
        </p:nvSpPr>
        <p:spPr>
          <a:xfrm>
            <a:off x="9710928" y="6760464"/>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51" name="Text 42"/>
          <p:cNvSpPr txBox="1"/>
          <p:nvPr/>
        </p:nvSpPr>
        <p:spPr>
          <a:xfrm>
            <a:off x="9948672" y="6681216"/>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52" name="Shape 43"/>
          <p:cNvSpPr/>
          <p:nvPr/>
        </p:nvSpPr>
        <p:spPr>
          <a:xfrm>
            <a:off x="11021568" y="6803136"/>
            <a:ext cx="268224" cy="0"/>
          </a:xfrm>
          <a:prstGeom prst="line">
            <a:avLst/>
          </a:prstGeom>
          <a:noFill/>
          <a:ln w="19050">
            <a:solidFill>
              <a:srgbClr val="C87A0B"/>
            </a:solidFill>
            <a:prstDash val="dash"/>
          </a:ln>
        </p:spPr>
        <p:txBody>
          <a:bodyPr/>
          <a:lstStyle/>
          <a:p>
            <a:endParaRPr lang="es-PE" sz="2400"/>
          </a:p>
        </p:txBody>
      </p:sp>
      <p:sp>
        <p:nvSpPr>
          <p:cNvPr id="53" name="Shape 44"/>
          <p:cNvSpPr/>
          <p:nvPr/>
        </p:nvSpPr>
        <p:spPr>
          <a:xfrm>
            <a:off x="11113008" y="6760464"/>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54" name="Text 45"/>
          <p:cNvSpPr txBox="1"/>
          <p:nvPr/>
        </p:nvSpPr>
        <p:spPr>
          <a:xfrm>
            <a:off x="11350752" y="6681216"/>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55" name="Text 46"/>
          <p:cNvSpPr txBox="1"/>
          <p:nvPr/>
        </p:nvSpPr>
        <p:spPr>
          <a:xfrm>
            <a:off x="12789409" y="6681216"/>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56" name="Shape 47"/>
          <p:cNvSpPr/>
          <p:nvPr/>
        </p:nvSpPr>
        <p:spPr>
          <a:xfrm>
            <a:off x="658369" y="7046976"/>
            <a:ext cx="14938857" cy="1731264"/>
          </a:xfrm>
          <a:prstGeom prst="rect">
            <a:avLst/>
          </a:prstGeom>
          <a:solidFill>
            <a:srgbClr val="ECF6F5"/>
          </a:solidFill>
          <a:ln w="12700">
            <a:solidFill>
              <a:srgbClr val="ECF6F5"/>
            </a:solidFill>
            <a:prstDash val="solid"/>
          </a:ln>
        </p:spPr>
        <p:txBody>
          <a:bodyPr/>
          <a:lstStyle/>
          <a:p>
            <a:endParaRPr lang="es-PE" sz="2400"/>
          </a:p>
        </p:txBody>
      </p:sp>
      <p:sp>
        <p:nvSpPr>
          <p:cNvPr id="57" name="Shape 48"/>
          <p:cNvSpPr/>
          <p:nvPr/>
        </p:nvSpPr>
        <p:spPr>
          <a:xfrm>
            <a:off x="658368" y="7046976"/>
            <a:ext cx="73152" cy="1731264"/>
          </a:xfrm>
          <a:prstGeom prst="rect">
            <a:avLst/>
          </a:prstGeom>
          <a:solidFill>
            <a:srgbClr val="13807B"/>
          </a:solidFill>
          <a:ln w="12700">
            <a:solidFill>
              <a:srgbClr val="13807B"/>
            </a:solidFill>
            <a:prstDash val="solid"/>
          </a:ln>
        </p:spPr>
        <p:txBody>
          <a:bodyPr/>
          <a:lstStyle/>
          <a:p>
            <a:endParaRPr lang="es-PE" sz="2400"/>
          </a:p>
        </p:txBody>
      </p:sp>
      <p:sp>
        <p:nvSpPr>
          <p:cNvPr id="58" name="Text 49"/>
          <p:cNvSpPr txBox="1"/>
          <p:nvPr/>
        </p:nvSpPr>
        <p:spPr>
          <a:xfrm>
            <a:off x="926592" y="7168896"/>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59" name="Text 50"/>
          <p:cNvSpPr txBox="1"/>
          <p:nvPr/>
        </p:nvSpPr>
        <p:spPr>
          <a:xfrm>
            <a:off x="926592" y="7437120"/>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60" name="Text 51"/>
          <p:cNvSpPr txBox="1"/>
          <p:nvPr/>
        </p:nvSpPr>
        <p:spPr>
          <a:xfrm>
            <a:off x="926592"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3 clusters mantienen share alto (66%-95%) con la TEA ofertada más alta de toda la cartera (22.6%-26.9% vs. ~20-23% en con deuda) — sin competencia visible, el cliente no está comparando precio.</a:t>
            </a:r>
            <a:endParaRPr lang="en-US" sz="1267"/>
          </a:p>
        </p:txBody>
      </p:sp>
      <p:sp>
        <p:nvSpPr>
          <p:cNvPr id="61" name="Text 52"/>
          <p:cNvSpPr txBox="1"/>
          <p:nvPr/>
        </p:nvSpPr>
        <p:spPr>
          <a:xfrm>
            <a:off x="5837123" y="7437120"/>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62" name="Text 53"/>
          <p:cNvSpPr txBox="1"/>
          <p:nvPr/>
        </p:nvSpPr>
        <p:spPr>
          <a:xfrm>
            <a:off x="5837123"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Emprendedor Izipay y Próximo Recurrente son los candidatos más claros para testear un alza selectiva de tasa: son los más estables y ya sostienen el share con la TEA más alta sin señales de fuga.</a:t>
            </a:r>
            <a:endParaRPr lang="en-US" sz="1267"/>
          </a:p>
        </p:txBody>
      </p:sp>
      <p:sp>
        <p:nvSpPr>
          <p:cNvPr id="63" name="Text 54"/>
          <p:cNvSpPr txBox="1"/>
          <p:nvPr/>
        </p:nvSpPr>
        <p:spPr>
          <a:xfrm>
            <a:off x="10747655" y="7437120"/>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64" name="Text 55"/>
          <p:cNvSpPr txBox="1"/>
          <p:nvPr/>
        </p:nvSpPr>
        <p:spPr>
          <a:xfrm>
            <a:off x="10747655"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Nuevo en Expansión es el más volátil (-22pp en un solo trimestre) — antes de subir tasa ahí, entender esa caída puntual; podría ser menos cautivo de lo que parece en el agregado.</a:t>
            </a:r>
            <a:endParaRPr lang="en-US" sz="1267"/>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243840"/>
            <a:ext cx="12923520" cy="268224"/>
          </a:xfrm>
          <a:prstGeom prst="rect">
            <a:avLst/>
          </a:prstGeom>
          <a:noFill/>
          <a:ln/>
        </p:spPr>
        <p:txBody>
          <a:bodyPr wrap="square" lIns="0" tIns="0" rIns="0" bIns="0" rtlCol="0" anchor="ctr"/>
          <a:lstStyle/>
          <a:p>
            <a:r>
              <a:rPr lang="en-US" sz="1200" b="1" kern="0" spc="133">
                <a:solidFill>
                  <a:srgbClr val="13807B"/>
                </a:solidFill>
                <a:latin typeface="Calibri" pitchFamily="34" charset="0"/>
                <a:ea typeface="Calibri" pitchFamily="34" charset="-122"/>
                <a:cs typeface="Calibri" pitchFamily="34" charset="-120"/>
              </a:rPr>
              <a:t>SEGMENTACIÓN ESTRATÉGICA · SHARE OF SALES · SIN DEUDA · MONTO (S/)</a:t>
            </a:r>
            <a:endParaRPr lang="en-US" sz="1200"/>
          </a:p>
        </p:txBody>
      </p:sp>
      <p:sp>
        <p:nvSpPr>
          <p:cNvPr id="3" name="Text 1"/>
          <p:cNvSpPr txBox="1"/>
          <p:nvPr/>
        </p:nvSpPr>
        <p:spPr>
          <a:xfrm>
            <a:off x="658368" y="512064"/>
            <a:ext cx="13289280" cy="950976"/>
          </a:xfrm>
          <a:prstGeom prst="rect">
            <a:avLst/>
          </a:prstGeom>
          <a:noFill/>
          <a:ln/>
        </p:spPr>
        <p:txBody>
          <a:bodyPr wrap="square" lIns="0" tIns="0" rIns="0" bIns="0" rtlCol="0" anchor="t"/>
          <a:lstStyle/>
          <a:p>
            <a:r>
              <a:rPr lang="en-US" sz="2267" b="1">
                <a:solidFill>
                  <a:srgbClr val="13807B"/>
                </a:solidFill>
                <a:latin typeface="Poppins" pitchFamily="34" charset="0"/>
                <a:ea typeface="Poppins" pitchFamily="34" charset="-122"/>
                <a:cs typeface="Poppins" pitchFamily="34" charset="-120"/>
              </a:rPr>
              <a:t>En monto, Próximo Recurrente crece con la TEA más alta de la cartera — el caso más claro para testear un alza de tasa</a:t>
            </a:r>
            <a:endParaRPr lang="en-US" sz="2267"/>
          </a:p>
        </p:txBody>
      </p:sp>
      <p:pic>
        <p:nvPicPr>
          <p:cNvPr id="4" name="Image 0" descr="logo_a.png"/>
          <p:cNvPicPr>
            <a:picLocks noChangeAspect="1"/>
          </p:cNvPicPr>
          <p:nvPr/>
        </p:nvPicPr>
        <p:blipFill>
          <a:blip r:embed="rId3"/>
          <a:stretch>
            <a:fillRect/>
          </a:stretch>
        </p:blipFill>
        <p:spPr>
          <a:xfrm>
            <a:off x="14378025" y="341376"/>
            <a:ext cx="1219200" cy="577901"/>
          </a:xfrm>
          <a:prstGeom prst="rect">
            <a:avLst/>
          </a:prstGeom>
        </p:spPr>
      </p:pic>
      <p:sp>
        <p:nvSpPr>
          <p:cNvPr id="5" name="Shape 2"/>
          <p:cNvSpPr/>
          <p:nvPr/>
        </p:nvSpPr>
        <p:spPr>
          <a:xfrm>
            <a:off x="658368"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6" name="Shape 3"/>
          <p:cNvSpPr/>
          <p:nvPr/>
        </p:nvSpPr>
        <p:spPr>
          <a:xfrm>
            <a:off x="658368"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7" name="Text 4"/>
          <p:cNvSpPr txBox="1"/>
          <p:nvPr/>
        </p:nvSpPr>
        <p:spPr>
          <a:xfrm>
            <a:off x="804672"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Emprendedor Izipay</a:t>
            </a:r>
            <a:endParaRPr lang="en-US" sz="1400"/>
          </a:p>
        </p:txBody>
      </p:sp>
      <p:sp>
        <p:nvSpPr>
          <p:cNvPr id="8" name="Shape 5"/>
          <p:cNvSpPr/>
          <p:nvPr/>
        </p:nvSpPr>
        <p:spPr>
          <a:xfrm>
            <a:off x="43781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9" name="Text 6"/>
          <p:cNvSpPr txBox="1"/>
          <p:nvPr/>
        </p:nvSpPr>
        <p:spPr>
          <a:xfrm>
            <a:off x="4378147" y="1584960"/>
            <a:ext cx="950976" cy="219456"/>
          </a:xfrm>
          <a:prstGeom prst="rect">
            <a:avLst/>
          </a:prstGeom>
          <a:noFill/>
          <a:ln/>
        </p:spPr>
        <p:txBody>
          <a:bodyPr wrap="square" lIns="0" tIns="0" rIns="0" bIns="0" rtlCol="0" anchor="ctr"/>
          <a:lstStyle/>
          <a:p>
            <a:pPr algn="ctr"/>
            <a:r>
              <a:rPr lang="en-US" sz="1000" b="1">
                <a:solidFill>
                  <a:srgbClr val="6E7E7D"/>
                </a:solidFill>
                <a:latin typeface="Calibri" pitchFamily="34" charset="0"/>
                <a:ea typeface="Calibri" pitchFamily="34" charset="-122"/>
                <a:cs typeface="Calibri" pitchFamily="34" charset="-120"/>
              </a:rPr>
              <a:t>share  0 pp</a:t>
            </a:r>
            <a:endParaRPr lang="en-US" sz="1000"/>
          </a:p>
        </p:txBody>
      </p:sp>
      <p:sp>
        <p:nvSpPr>
          <p:cNvPr id="10" name="Shape 7"/>
          <p:cNvSpPr/>
          <p:nvPr/>
        </p:nvSpPr>
        <p:spPr>
          <a:xfrm>
            <a:off x="31589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11" name="Text 8"/>
          <p:cNvSpPr txBox="1"/>
          <p:nvPr/>
        </p:nvSpPr>
        <p:spPr>
          <a:xfrm>
            <a:off x="31589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2,5 pp</a:t>
            </a:r>
            <a:endParaRPr lang="en-US" sz="1000"/>
          </a:p>
        </p:txBody>
      </p:sp>
      <p:sp>
        <p:nvSpPr>
          <p:cNvPr id="12" name="Text 9"/>
          <p:cNvSpPr txBox="1"/>
          <p:nvPr/>
        </p:nvSpPr>
        <p:spPr>
          <a:xfrm>
            <a:off x="719328"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13" name="Text 10"/>
          <p:cNvSpPr txBox="1"/>
          <p:nvPr/>
        </p:nvSpPr>
        <p:spPr>
          <a:xfrm>
            <a:off x="719328"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14" name="Shape 11"/>
          <p:cNvSpPr/>
          <p:nvPr/>
        </p:nvSpPr>
        <p:spPr>
          <a:xfrm>
            <a:off x="1231392" y="2999232"/>
            <a:ext cx="4122115" cy="0"/>
          </a:xfrm>
          <a:prstGeom prst="line">
            <a:avLst/>
          </a:prstGeom>
          <a:noFill/>
          <a:ln w="6350">
            <a:solidFill>
              <a:srgbClr val="D5DFDE"/>
            </a:solidFill>
            <a:prstDash val="dash"/>
          </a:ln>
        </p:spPr>
        <p:txBody>
          <a:bodyPr/>
          <a:lstStyle/>
          <a:p>
            <a:endParaRPr lang="es-PE" sz="2400"/>
          </a:p>
        </p:txBody>
      </p:sp>
      <p:graphicFrame>
        <p:nvGraphicFramePr>
          <p:cNvPr id="15" name="Chart 0"/>
          <p:cNvGraphicFramePr/>
          <p:nvPr/>
        </p:nvGraphicFramePr>
        <p:xfrm>
          <a:off x="1231392" y="1938528"/>
          <a:ext cx="4183075" cy="10363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
          <p:cNvGraphicFramePr/>
          <p:nvPr/>
        </p:nvGraphicFramePr>
        <p:xfrm>
          <a:off x="1231392" y="3023616"/>
          <a:ext cx="4183075" cy="3511296"/>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12"/>
          <p:cNvSpPr/>
          <p:nvPr/>
        </p:nvSpPr>
        <p:spPr>
          <a:xfrm>
            <a:off x="57192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18" name="Shape 13"/>
          <p:cNvSpPr/>
          <p:nvPr/>
        </p:nvSpPr>
        <p:spPr>
          <a:xfrm>
            <a:off x="57192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19" name="Text 14"/>
          <p:cNvSpPr txBox="1"/>
          <p:nvPr/>
        </p:nvSpPr>
        <p:spPr>
          <a:xfrm>
            <a:off x="58655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Nuevo en Expansión</a:t>
            </a:r>
            <a:endParaRPr lang="en-US" sz="1400"/>
          </a:p>
        </p:txBody>
      </p:sp>
      <p:sp>
        <p:nvSpPr>
          <p:cNvPr id="20" name="Shape 15"/>
          <p:cNvSpPr/>
          <p:nvPr/>
        </p:nvSpPr>
        <p:spPr>
          <a:xfrm>
            <a:off x="9439047"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21" name="Text 16"/>
          <p:cNvSpPr txBox="1"/>
          <p:nvPr/>
        </p:nvSpPr>
        <p:spPr>
          <a:xfrm>
            <a:off x="9439047" y="1584960"/>
            <a:ext cx="950976" cy="219456"/>
          </a:xfrm>
          <a:prstGeom prst="rect">
            <a:avLst/>
          </a:prstGeom>
          <a:noFill/>
          <a:ln/>
        </p:spPr>
        <p:txBody>
          <a:bodyPr wrap="square" lIns="0" tIns="0" rIns="0" bIns="0" rtlCol="0" anchor="ctr"/>
          <a:lstStyle/>
          <a:p>
            <a:pPr algn="ctr"/>
            <a:r>
              <a:rPr lang="en-US" sz="1000" b="1">
                <a:solidFill>
                  <a:srgbClr val="C04B4B"/>
                </a:solidFill>
                <a:latin typeface="Calibri" pitchFamily="34" charset="0"/>
                <a:ea typeface="Calibri" pitchFamily="34" charset="-122"/>
                <a:cs typeface="Calibri" pitchFamily="34" charset="-120"/>
              </a:rPr>
              <a:t>share −2 pp</a:t>
            </a:r>
            <a:endParaRPr lang="en-US" sz="1000"/>
          </a:p>
        </p:txBody>
      </p:sp>
      <p:sp>
        <p:nvSpPr>
          <p:cNvPr id="22" name="Shape 17"/>
          <p:cNvSpPr/>
          <p:nvPr/>
        </p:nvSpPr>
        <p:spPr>
          <a:xfrm>
            <a:off x="8219847"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23" name="Text 18"/>
          <p:cNvSpPr txBox="1"/>
          <p:nvPr/>
        </p:nvSpPr>
        <p:spPr>
          <a:xfrm>
            <a:off x="8219847"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3,4 pp</a:t>
            </a:r>
            <a:endParaRPr lang="en-US" sz="1000"/>
          </a:p>
        </p:txBody>
      </p:sp>
      <p:sp>
        <p:nvSpPr>
          <p:cNvPr id="24" name="Text 19"/>
          <p:cNvSpPr txBox="1"/>
          <p:nvPr/>
        </p:nvSpPr>
        <p:spPr>
          <a:xfrm>
            <a:off x="57802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25" name="Text 20"/>
          <p:cNvSpPr txBox="1"/>
          <p:nvPr/>
        </p:nvSpPr>
        <p:spPr>
          <a:xfrm>
            <a:off x="57802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26" name="Shape 21"/>
          <p:cNvSpPr/>
          <p:nvPr/>
        </p:nvSpPr>
        <p:spPr>
          <a:xfrm>
            <a:off x="6292291" y="2999232"/>
            <a:ext cx="4122115" cy="0"/>
          </a:xfrm>
          <a:prstGeom prst="line">
            <a:avLst/>
          </a:prstGeom>
          <a:noFill/>
          <a:ln w="6350">
            <a:solidFill>
              <a:srgbClr val="D5DFDE"/>
            </a:solidFill>
            <a:prstDash val="dash"/>
          </a:ln>
        </p:spPr>
        <p:txBody>
          <a:bodyPr/>
          <a:lstStyle/>
          <a:p>
            <a:endParaRPr lang="es-PE" sz="2400"/>
          </a:p>
        </p:txBody>
      </p:sp>
      <p:graphicFrame>
        <p:nvGraphicFramePr>
          <p:cNvPr id="27" name="Chart 2"/>
          <p:cNvGraphicFramePr/>
          <p:nvPr/>
        </p:nvGraphicFramePr>
        <p:xfrm>
          <a:off x="6292291" y="1938528"/>
          <a:ext cx="4183075" cy="103632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8" name="Chart 3"/>
          <p:cNvGraphicFramePr/>
          <p:nvPr/>
        </p:nvGraphicFramePr>
        <p:xfrm>
          <a:off x="6292291" y="3023616"/>
          <a:ext cx="4183075" cy="3511296"/>
        </p:xfrm>
        <a:graphic>
          <a:graphicData uri="http://schemas.openxmlformats.org/drawingml/2006/chart">
            <c:chart xmlns:c="http://schemas.openxmlformats.org/drawingml/2006/chart" xmlns:r="http://schemas.openxmlformats.org/officeDocument/2006/relationships" r:id="rId7"/>
          </a:graphicData>
        </a:graphic>
      </p:graphicFrame>
      <p:sp>
        <p:nvSpPr>
          <p:cNvPr id="29" name="Shape 22"/>
          <p:cNvSpPr/>
          <p:nvPr/>
        </p:nvSpPr>
        <p:spPr>
          <a:xfrm>
            <a:off x="10780167" y="1524000"/>
            <a:ext cx="4817059" cy="5059680"/>
          </a:xfrm>
          <a:prstGeom prst="rect">
            <a:avLst/>
          </a:prstGeom>
          <a:solidFill>
            <a:srgbClr val="FFFFFF"/>
          </a:solidFill>
          <a:ln w="9525">
            <a:solidFill>
              <a:srgbClr val="D5DFDE"/>
            </a:solidFill>
            <a:prstDash val="solid"/>
          </a:ln>
        </p:spPr>
        <p:txBody>
          <a:bodyPr/>
          <a:lstStyle/>
          <a:p>
            <a:endParaRPr lang="es-PE" sz="2400"/>
          </a:p>
        </p:txBody>
      </p:sp>
      <p:sp>
        <p:nvSpPr>
          <p:cNvPr id="30" name="Shape 23"/>
          <p:cNvSpPr/>
          <p:nvPr/>
        </p:nvSpPr>
        <p:spPr>
          <a:xfrm>
            <a:off x="10780167" y="1524000"/>
            <a:ext cx="4817059" cy="341376"/>
          </a:xfrm>
          <a:prstGeom prst="rect">
            <a:avLst/>
          </a:prstGeom>
          <a:solidFill>
            <a:srgbClr val="13807B"/>
          </a:solidFill>
          <a:ln w="12700">
            <a:solidFill>
              <a:srgbClr val="13807B"/>
            </a:solidFill>
            <a:prstDash val="solid"/>
          </a:ln>
        </p:spPr>
        <p:txBody>
          <a:bodyPr/>
          <a:lstStyle/>
          <a:p>
            <a:endParaRPr lang="es-PE" sz="2400"/>
          </a:p>
        </p:txBody>
      </p:sp>
      <p:sp>
        <p:nvSpPr>
          <p:cNvPr id="31" name="Text 24"/>
          <p:cNvSpPr txBox="1"/>
          <p:nvPr/>
        </p:nvSpPr>
        <p:spPr>
          <a:xfrm>
            <a:off x="10926471" y="1524000"/>
            <a:ext cx="4524451" cy="341376"/>
          </a:xfrm>
          <a:prstGeom prst="rect">
            <a:avLst/>
          </a:prstGeom>
          <a:noFill/>
          <a:ln/>
        </p:spPr>
        <p:txBody>
          <a:bodyPr wrap="square" lIns="0" tIns="0" rIns="0" bIns="0" rtlCol="0" anchor="ctr"/>
          <a:lstStyle/>
          <a:p>
            <a:r>
              <a:rPr lang="en-US" sz="1400" b="1">
                <a:solidFill>
                  <a:srgbClr val="FFFFFF"/>
                </a:solidFill>
                <a:latin typeface="Calibri" pitchFamily="34" charset="0"/>
                <a:ea typeface="Calibri" pitchFamily="34" charset="-122"/>
                <a:cs typeface="Calibri" pitchFamily="34" charset="-120"/>
              </a:rPr>
              <a:t>Próximo Recurrente</a:t>
            </a:r>
            <a:endParaRPr lang="en-US" sz="1400"/>
          </a:p>
        </p:txBody>
      </p:sp>
      <p:sp>
        <p:nvSpPr>
          <p:cNvPr id="32" name="Shape 25"/>
          <p:cNvSpPr/>
          <p:nvPr/>
        </p:nvSpPr>
        <p:spPr>
          <a:xfrm>
            <a:off x="14499945" y="1584960"/>
            <a:ext cx="950976" cy="219456"/>
          </a:xfrm>
          <a:prstGeom prst="roundRect">
            <a:avLst>
              <a:gd name="adj" fmla="val 50000"/>
            </a:avLst>
          </a:prstGeom>
          <a:solidFill>
            <a:srgbClr val="FFFFFF"/>
          </a:solidFill>
          <a:ln w="12700">
            <a:solidFill>
              <a:srgbClr val="FFFFFF"/>
            </a:solidFill>
            <a:prstDash val="solid"/>
          </a:ln>
        </p:spPr>
        <p:txBody>
          <a:bodyPr/>
          <a:lstStyle/>
          <a:p>
            <a:endParaRPr lang="es-PE" sz="2400"/>
          </a:p>
        </p:txBody>
      </p:sp>
      <p:sp>
        <p:nvSpPr>
          <p:cNvPr id="33" name="Text 26"/>
          <p:cNvSpPr txBox="1"/>
          <p:nvPr/>
        </p:nvSpPr>
        <p:spPr>
          <a:xfrm>
            <a:off x="14499945" y="1584960"/>
            <a:ext cx="950976" cy="219456"/>
          </a:xfrm>
          <a:prstGeom prst="rect">
            <a:avLst/>
          </a:prstGeom>
          <a:noFill/>
          <a:ln/>
        </p:spPr>
        <p:txBody>
          <a:bodyPr wrap="square" lIns="0" tIns="0" rIns="0" bIns="0" rtlCol="0" anchor="ctr"/>
          <a:lstStyle/>
          <a:p>
            <a:pPr algn="ctr"/>
            <a:r>
              <a:rPr lang="en-US" sz="1000" b="1">
                <a:solidFill>
                  <a:srgbClr val="13807B"/>
                </a:solidFill>
                <a:latin typeface="Calibri" pitchFamily="34" charset="0"/>
                <a:ea typeface="Calibri" pitchFamily="34" charset="-122"/>
                <a:cs typeface="Calibri" pitchFamily="34" charset="-120"/>
              </a:rPr>
              <a:t>share +6 pp</a:t>
            </a:r>
            <a:endParaRPr lang="en-US" sz="1000"/>
          </a:p>
        </p:txBody>
      </p:sp>
      <p:sp>
        <p:nvSpPr>
          <p:cNvPr id="34" name="Shape 27"/>
          <p:cNvSpPr/>
          <p:nvPr/>
        </p:nvSpPr>
        <p:spPr>
          <a:xfrm>
            <a:off x="13280745" y="1584960"/>
            <a:ext cx="1121664" cy="219456"/>
          </a:xfrm>
          <a:prstGeom prst="roundRect">
            <a:avLst>
              <a:gd name="adj" fmla="val 50000"/>
            </a:avLst>
          </a:prstGeom>
          <a:solidFill>
            <a:srgbClr val="0C514E"/>
          </a:solidFill>
          <a:ln w="12700">
            <a:solidFill>
              <a:srgbClr val="0C514E"/>
            </a:solidFill>
            <a:prstDash val="solid"/>
          </a:ln>
        </p:spPr>
        <p:txBody>
          <a:bodyPr/>
          <a:lstStyle/>
          <a:p>
            <a:endParaRPr lang="es-PE" sz="2400"/>
          </a:p>
        </p:txBody>
      </p:sp>
      <p:sp>
        <p:nvSpPr>
          <p:cNvPr id="35" name="Text 28"/>
          <p:cNvSpPr txBox="1"/>
          <p:nvPr/>
        </p:nvSpPr>
        <p:spPr>
          <a:xfrm>
            <a:off x="13280745" y="1584960"/>
            <a:ext cx="1121664" cy="219456"/>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brecha TEA 4,6 pp</a:t>
            </a:r>
            <a:endParaRPr lang="en-US" sz="1000"/>
          </a:p>
        </p:txBody>
      </p:sp>
      <p:sp>
        <p:nvSpPr>
          <p:cNvPr id="36" name="Text 29"/>
          <p:cNvSpPr txBox="1"/>
          <p:nvPr/>
        </p:nvSpPr>
        <p:spPr>
          <a:xfrm>
            <a:off x="10841127" y="2036064"/>
            <a:ext cx="463296" cy="841248"/>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TEA</a:t>
            </a:r>
            <a:endParaRPr lang="en-US" sz="933"/>
          </a:p>
          <a:p>
            <a:pPr algn="ctr"/>
            <a:r>
              <a:rPr lang="en-US" sz="933" b="1">
                <a:solidFill>
                  <a:srgbClr val="6E7E7D"/>
                </a:solidFill>
                <a:latin typeface="Calibri" pitchFamily="34" charset="0"/>
                <a:ea typeface="Calibri" pitchFamily="34" charset="-122"/>
                <a:cs typeface="Calibri" pitchFamily="34" charset="-120"/>
              </a:rPr>
              <a:t>%</a:t>
            </a:r>
            <a:endParaRPr lang="en-US" sz="933"/>
          </a:p>
        </p:txBody>
      </p:sp>
      <p:sp>
        <p:nvSpPr>
          <p:cNvPr id="37" name="Text 30"/>
          <p:cNvSpPr txBox="1"/>
          <p:nvPr/>
        </p:nvSpPr>
        <p:spPr>
          <a:xfrm>
            <a:off x="10841127" y="3145536"/>
            <a:ext cx="463296" cy="3023616"/>
          </a:xfrm>
          <a:prstGeom prst="rect">
            <a:avLst/>
          </a:prstGeom>
          <a:noFill/>
          <a:ln/>
        </p:spPr>
        <p:txBody>
          <a:bodyPr wrap="square" lIns="0" tIns="0" rIns="0" bIns="0" rtlCol="0" anchor="ctr"/>
          <a:lstStyle/>
          <a:p>
            <a:pPr algn="ctr"/>
            <a:r>
              <a:rPr lang="en-US" sz="933" b="1">
                <a:solidFill>
                  <a:srgbClr val="6E7E7D"/>
                </a:solidFill>
                <a:latin typeface="Calibri" pitchFamily="34" charset="0"/>
                <a:ea typeface="Calibri" pitchFamily="34" charset="-122"/>
                <a:cs typeface="Calibri" pitchFamily="34" charset="-120"/>
              </a:rPr>
              <a:t>SHARE</a:t>
            </a:r>
            <a:endParaRPr lang="en-US" sz="933"/>
          </a:p>
        </p:txBody>
      </p:sp>
      <p:sp>
        <p:nvSpPr>
          <p:cNvPr id="38" name="Shape 31"/>
          <p:cNvSpPr/>
          <p:nvPr/>
        </p:nvSpPr>
        <p:spPr>
          <a:xfrm>
            <a:off x="11353191" y="2999232"/>
            <a:ext cx="4122115" cy="0"/>
          </a:xfrm>
          <a:prstGeom prst="line">
            <a:avLst/>
          </a:prstGeom>
          <a:noFill/>
          <a:ln w="6350">
            <a:solidFill>
              <a:srgbClr val="D5DFDE"/>
            </a:solidFill>
            <a:prstDash val="dash"/>
          </a:ln>
        </p:spPr>
        <p:txBody>
          <a:bodyPr/>
          <a:lstStyle/>
          <a:p>
            <a:endParaRPr lang="es-PE" sz="2400"/>
          </a:p>
        </p:txBody>
      </p:sp>
      <p:graphicFrame>
        <p:nvGraphicFramePr>
          <p:cNvPr id="39" name="Chart 4"/>
          <p:cNvGraphicFramePr/>
          <p:nvPr/>
        </p:nvGraphicFramePr>
        <p:xfrm>
          <a:off x="11353191" y="1938528"/>
          <a:ext cx="4183075" cy="103632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0" name="Chart 5"/>
          <p:cNvGraphicFramePr/>
          <p:nvPr/>
        </p:nvGraphicFramePr>
        <p:xfrm>
          <a:off x="11353191" y="3023616"/>
          <a:ext cx="4183075" cy="3511296"/>
        </p:xfrm>
        <a:graphic>
          <a:graphicData uri="http://schemas.openxmlformats.org/drawingml/2006/chart">
            <c:chart xmlns:c="http://schemas.openxmlformats.org/drawingml/2006/chart" xmlns:r="http://schemas.openxmlformats.org/officeDocument/2006/relationships" r:id="rId9"/>
          </a:graphicData>
        </a:graphic>
      </p:graphicFrame>
      <p:sp>
        <p:nvSpPr>
          <p:cNvPr id="41" name="Shape 32"/>
          <p:cNvSpPr/>
          <p:nvPr/>
        </p:nvSpPr>
        <p:spPr>
          <a:xfrm>
            <a:off x="658368" y="6736080"/>
            <a:ext cx="195072" cy="134112"/>
          </a:xfrm>
          <a:prstGeom prst="rect">
            <a:avLst/>
          </a:prstGeom>
          <a:solidFill>
            <a:srgbClr val="CFE6E4"/>
          </a:solidFill>
          <a:ln w="12700">
            <a:solidFill>
              <a:srgbClr val="CFE6E4"/>
            </a:solidFill>
            <a:prstDash val="solid"/>
          </a:ln>
        </p:spPr>
        <p:txBody>
          <a:bodyPr/>
          <a:lstStyle/>
          <a:p>
            <a:endParaRPr lang="es-PE" sz="2400"/>
          </a:p>
        </p:txBody>
      </p:sp>
      <p:sp>
        <p:nvSpPr>
          <p:cNvPr id="42" name="Text 33"/>
          <p:cNvSpPr txBox="1"/>
          <p:nvPr/>
        </p:nvSpPr>
        <p:spPr>
          <a:xfrm>
            <a:off x="987552" y="6681216"/>
            <a:ext cx="176784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Share V1 · universo total</a:t>
            </a:r>
            <a:endParaRPr lang="en-US" sz="1067"/>
          </a:p>
        </p:txBody>
      </p:sp>
      <p:sp>
        <p:nvSpPr>
          <p:cNvPr id="43" name="Shape 34"/>
          <p:cNvSpPr/>
          <p:nvPr/>
        </p:nvSpPr>
        <p:spPr>
          <a:xfrm>
            <a:off x="2791968" y="6736080"/>
            <a:ext cx="195072" cy="134112"/>
          </a:xfrm>
          <a:prstGeom prst="rect">
            <a:avLst/>
          </a:prstGeom>
          <a:solidFill>
            <a:srgbClr val="8FCBC6"/>
          </a:solidFill>
          <a:ln w="12700">
            <a:solidFill>
              <a:srgbClr val="8FCBC6"/>
            </a:solidFill>
            <a:prstDash val="solid"/>
          </a:ln>
        </p:spPr>
        <p:txBody>
          <a:bodyPr/>
          <a:lstStyle/>
          <a:p>
            <a:endParaRPr lang="es-PE" sz="2400"/>
          </a:p>
        </p:txBody>
      </p:sp>
      <p:sp>
        <p:nvSpPr>
          <p:cNvPr id="44" name="Text 35"/>
          <p:cNvSpPr txBox="1"/>
          <p:nvPr/>
        </p:nvSpPr>
        <p:spPr>
          <a:xfrm>
            <a:off x="3121152" y="6681216"/>
            <a:ext cx="231648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2 · sin competencia interna</a:t>
            </a:r>
            <a:endParaRPr lang="en-US" sz="1067"/>
          </a:p>
        </p:txBody>
      </p:sp>
      <p:sp>
        <p:nvSpPr>
          <p:cNvPr id="45" name="Shape 36"/>
          <p:cNvSpPr/>
          <p:nvPr/>
        </p:nvSpPr>
        <p:spPr>
          <a:xfrm>
            <a:off x="5474208" y="6736080"/>
            <a:ext cx="195072" cy="134112"/>
          </a:xfrm>
          <a:prstGeom prst="rect">
            <a:avLst/>
          </a:prstGeom>
          <a:solidFill>
            <a:srgbClr val="2F9E98"/>
          </a:solidFill>
          <a:ln w="12700">
            <a:solidFill>
              <a:srgbClr val="2F9E98"/>
            </a:solidFill>
            <a:prstDash val="solid"/>
          </a:ln>
        </p:spPr>
        <p:txBody>
          <a:bodyPr/>
          <a:lstStyle/>
          <a:p>
            <a:endParaRPr lang="es-PE" sz="2400"/>
          </a:p>
        </p:txBody>
      </p:sp>
      <p:sp>
        <p:nvSpPr>
          <p:cNvPr id="46" name="Text 37"/>
          <p:cNvSpPr txBox="1"/>
          <p:nvPr/>
        </p:nvSpPr>
        <p:spPr>
          <a:xfrm>
            <a:off x="5803392" y="6681216"/>
            <a:ext cx="18897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3 · monto comparable</a:t>
            </a:r>
            <a:endParaRPr lang="en-US" sz="1067"/>
          </a:p>
        </p:txBody>
      </p:sp>
      <p:sp>
        <p:nvSpPr>
          <p:cNvPr id="47" name="Shape 38"/>
          <p:cNvSpPr/>
          <p:nvPr/>
        </p:nvSpPr>
        <p:spPr>
          <a:xfrm>
            <a:off x="7729728" y="6736080"/>
            <a:ext cx="195072" cy="134112"/>
          </a:xfrm>
          <a:prstGeom prst="rect">
            <a:avLst/>
          </a:prstGeom>
          <a:solidFill>
            <a:srgbClr val="0C514E"/>
          </a:solidFill>
          <a:ln w="12700">
            <a:solidFill>
              <a:srgbClr val="0C514E"/>
            </a:solidFill>
            <a:prstDash val="solid"/>
          </a:ln>
        </p:spPr>
        <p:txBody>
          <a:bodyPr/>
          <a:lstStyle/>
          <a:p>
            <a:endParaRPr lang="es-PE" sz="2400"/>
          </a:p>
        </p:txBody>
      </p:sp>
      <p:sp>
        <p:nvSpPr>
          <p:cNvPr id="48" name="Text 39"/>
          <p:cNvSpPr txBox="1"/>
          <p:nvPr/>
        </p:nvSpPr>
        <p:spPr>
          <a:xfrm>
            <a:off x="8058912" y="6681216"/>
            <a:ext cx="152400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 Capa 4 · gestionado</a:t>
            </a:r>
            <a:endParaRPr lang="en-US" sz="1067"/>
          </a:p>
        </p:txBody>
      </p:sp>
      <p:sp>
        <p:nvSpPr>
          <p:cNvPr id="49" name="Shape 40"/>
          <p:cNvSpPr/>
          <p:nvPr/>
        </p:nvSpPr>
        <p:spPr>
          <a:xfrm>
            <a:off x="9619488" y="6803136"/>
            <a:ext cx="268224" cy="0"/>
          </a:xfrm>
          <a:prstGeom prst="line">
            <a:avLst/>
          </a:prstGeom>
          <a:noFill/>
          <a:ln w="19050">
            <a:solidFill>
              <a:srgbClr val="0B2E2C"/>
            </a:solidFill>
            <a:prstDash val="solid"/>
          </a:ln>
        </p:spPr>
        <p:txBody>
          <a:bodyPr/>
          <a:lstStyle/>
          <a:p>
            <a:endParaRPr lang="es-PE" sz="2400"/>
          </a:p>
        </p:txBody>
      </p:sp>
      <p:sp>
        <p:nvSpPr>
          <p:cNvPr id="50" name="Shape 41"/>
          <p:cNvSpPr/>
          <p:nvPr/>
        </p:nvSpPr>
        <p:spPr>
          <a:xfrm>
            <a:off x="9710928" y="6760464"/>
            <a:ext cx="85344" cy="85344"/>
          </a:xfrm>
          <a:prstGeom prst="ellipse">
            <a:avLst/>
          </a:prstGeom>
          <a:solidFill>
            <a:srgbClr val="0B2E2C"/>
          </a:solidFill>
          <a:ln w="12700">
            <a:solidFill>
              <a:srgbClr val="0B2E2C"/>
            </a:solidFill>
            <a:prstDash val="solid"/>
          </a:ln>
        </p:spPr>
        <p:txBody>
          <a:bodyPr/>
          <a:lstStyle/>
          <a:p>
            <a:endParaRPr lang="es-PE" sz="2400"/>
          </a:p>
        </p:txBody>
      </p:sp>
      <p:sp>
        <p:nvSpPr>
          <p:cNvPr id="51" name="Text 42"/>
          <p:cNvSpPr txBox="1"/>
          <p:nvPr/>
        </p:nvSpPr>
        <p:spPr>
          <a:xfrm>
            <a:off x="9948672" y="6681216"/>
            <a:ext cx="103632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Ofertada</a:t>
            </a:r>
            <a:endParaRPr lang="en-US" sz="1067"/>
          </a:p>
        </p:txBody>
      </p:sp>
      <p:sp>
        <p:nvSpPr>
          <p:cNvPr id="52" name="Shape 43"/>
          <p:cNvSpPr/>
          <p:nvPr/>
        </p:nvSpPr>
        <p:spPr>
          <a:xfrm>
            <a:off x="11021568" y="6803136"/>
            <a:ext cx="268224" cy="0"/>
          </a:xfrm>
          <a:prstGeom prst="line">
            <a:avLst/>
          </a:prstGeom>
          <a:noFill/>
          <a:ln w="19050">
            <a:solidFill>
              <a:srgbClr val="C87A0B"/>
            </a:solidFill>
            <a:prstDash val="dash"/>
          </a:ln>
        </p:spPr>
        <p:txBody>
          <a:bodyPr/>
          <a:lstStyle/>
          <a:p>
            <a:endParaRPr lang="es-PE" sz="2400"/>
          </a:p>
        </p:txBody>
      </p:sp>
      <p:sp>
        <p:nvSpPr>
          <p:cNvPr id="53" name="Shape 44"/>
          <p:cNvSpPr/>
          <p:nvPr/>
        </p:nvSpPr>
        <p:spPr>
          <a:xfrm>
            <a:off x="11113008" y="6760464"/>
            <a:ext cx="85344" cy="85344"/>
          </a:xfrm>
          <a:prstGeom prst="ellipse">
            <a:avLst/>
          </a:prstGeom>
          <a:solidFill>
            <a:srgbClr val="C87A0B"/>
          </a:solidFill>
          <a:ln w="12700">
            <a:solidFill>
              <a:srgbClr val="C87A0B"/>
            </a:solidFill>
            <a:prstDash val="solid"/>
          </a:ln>
        </p:spPr>
        <p:txBody>
          <a:bodyPr/>
          <a:lstStyle/>
          <a:p>
            <a:endParaRPr lang="es-PE" sz="2400"/>
          </a:p>
        </p:txBody>
      </p:sp>
      <p:sp>
        <p:nvSpPr>
          <p:cNvPr id="54" name="Text 45"/>
          <p:cNvSpPr txBox="1"/>
          <p:nvPr/>
        </p:nvSpPr>
        <p:spPr>
          <a:xfrm>
            <a:off x="11350752" y="6681216"/>
            <a:ext cx="1280160" cy="243840"/>
          </a:xfrm>
          <a:prstGeom prst="rect">
            <a:avLst/>
          </a:prstGeom>
          <a:noFill/>
          <a:ln/>
        </p:spPr>
        <p:txBody>
          <a:bodyPr wrap="square" lIns="0" tIns="0" rIns="0" bIns="0" rtlCol="0" anchor="ctr"/>
          <a:lstStyle/>
          <a:p>
            <a:r>
              <a:rPr lang="en-US" sz="1067">
                <a:solidFill>
                  <a:srgbClr val="3E5553"/>
                </a:solidFill>
                <a:latin typeface="Calibri" pitchFamily="34" charset="0"/>
                <a:ea typeface="Calibri" pitchFamily="34" charset="-122"/>
                <a:cs typeface="Calibri" pitchFamily="34" charset="-120"/>
              </a:rPr>
              <a:t>TEA Desembolsada</a:t>
            </a:r>
            <a:endParaRPr lang="en-US" sz="1067"/>
          </a:p>
        </p:txBody>
      </p:sp>
      <p:sp>
        <p:nvSpPr>
          <p:cNvPr id="55" name="Text 46"/>
          <p:cNvSpPr txBox="1"/>
          <p:nvPr/>
        </p:nvSpPr>
        <p:spPr>
          <a:xfrm>
            <a:off x="12789409" y="6681216"/>
            <a:ext cx="2807817" cy="243840"/>
          </a:xfrm>
          <a:prstGeom prst="rect">
            <a:avLst/>
          </a:prstGeom>
          <a:noFill/>
          <a:ln/>
        </p:spPr>
        <p:txBody>
          <a:bodyPr wrap="square" lIns="0" tIns="0" rIns="0" bIns="0" rtlCol="0" anchor="ctr"/>
          <a:lstStyle/>
          <a:p>
            <a:pPr algn="r"/>
            <a:r>
              <a:rPr lang="en-US" sz="1000" i="1">
                <a:solidFill>
                  <a:srgbClr val="6E7E7D"/>
                </a:solidFill>
                <a:latin typeface="Calibri" pitchFamily="34" charset="0"/>
                <a:ea typeface="Calibri" pitchFamily="34" charset="-122"/>
                <a:cs typeface="Calibri" pitchFamily="34" charset="-120"/>
              </a:rPr>
              <a:t>Número sobre la barra = share acumulado (V4)</a:t>
            </a:r>
            <a:endParaRPr lang="en-US" sz="1000"/>
          </a:p>
        </p:txBody>
      </p:sp>
      <p:sp>
        <p:nvSpPr>
          <p:cNvPr id="56" name="Shape 47"/>
          <p:cNvSpPr/>
          <p:nvPr/>
        </p:nvSpPr>
        <p:spPr>
          <a:xfrm>
            <a:off x="658369" y="7046976"/>
            <a:ext cx="14938857" cy="1731264"/>
          </a:xfrm>
          <a:prstGeom prst="rect">
            <a:avLst/>
          </a:prstGeom>
          <a:solidFill>
            <a:srgbClr val="ECF6F5"/>
          </a:solidFill>
          <a:ln w="12700">
            <a:solidFill>
              <a:srgbClr val="ECF6F5"/>
            </a:solidFill>
            <a:prstDash val="solid"/>
          </a:ln>
        </p:spPr>
        <p:txBody>
          <a:bodyPr/>
          <a:lstStyle/>
          <a:p>
            <a:endParaRPr lang="es-PE" sz="2400"/>
          </a:p>
        </p:txBody>
      </p:sp>
      <p:sp>
        <p:nvSpPr>
          <p:cNvPr id="57" name="Shape 48"/>
          <p:cNvSpPr/>
          <p:nvPr/>
        </p:nvSpPr>
        <p:spPr>
          <a:xfrm>
            <a:off x="658368" y="7046976"/>
            <a:ext cx="73152" cy="1731264"/>
          </a:xfrm>
          <a:prstGeom prst="rect">
            <a:avLst/>
          </a:prstGeom>
          <a:solidFill>
            <a:srgbClr val="13807B"/>
          </a:solidFill>
          <a:ln w="12700">
            <a:solidFill>
              <a:srgbClr val="13807B"/>
            </a:solidFill>
            <a:prstDash val="solid"/>
          </a:ln>
        </p:spPr>
        <p:txBody>
          <a:bodyPr/>
          <a:lstStyle/>
          <a:p>
            <a:endParaRPr lang="es-PE" sz="2400"/>
          </a:p>
        </p:txBody>
      </p:sp>
      <p:sp>
        <p:nvSpPr>
          <p:cNvPr id="58" name="Text 49"/>
          <p:cNvSpPr txBox="1"/>
          <p:nvPr/>
        </p:nvSpPr>
        <p:spPr>
          <a:xfrm>
            <a:off x="926592" y="7168896"/>
            <a:ext cx="4876800" cy="219456"/>
          </a:xfrm>
          <a:prstGeom prst="rect">
            <a:avLst/>
          </a:prstGeom>
          <a:noFill/>
          <a:ln/>
        </p:spPr>
        <p:txBody>
          <a:bodyPr wrap="square" lIns="0" tIns="0" rIns="0" bIns="0" rtlCol="0" anchor="ctr"/>
          <a:lstStyle/>
          <a:p>
            <a:r>
              <a:rPr lang="en-US" sz="1067" b="1" kern="0" spc="133">
                <a:solidFill>
                  <a:srgbClr val="13807B"/>
                </a:solidFill>
                <a:latin typeface="Calibri" pitchFamily="34" charset="0"/>
                <a:ea typeface="Calibri" pitchFamily="34" charset="-122"/>
                <a:cs typeface="Calibri" pitchFamily="34" charset="-120"/>
              </a:rPr>
              <a:t>LECTURA Y PROPUESTA</a:t>
            </a:r>
            <a:endParaRPr lang="en-US" sz="1067"/>
          </a:p>
        </p:txBody>
      </p:sp>
      <p:sp>
        <p:nvSpPr>
          <p:cNvPr id="59" name="Text 50"/>
          <p:cNvSpPr txBox="1"/>
          <p:nvPr/>
        </p:nvSpPr>
        <p:spPr>
          <a:xfrm>
            <a:off x="926592" y="7437120"/>
            <a:ext cx="4605731" cy="207264"/>
          </a:xfrm>
          <a:prstGeom prst="rect">
            <a:avLst/>
          </a:prstGeom>
          <a:noFill/>
          <a:ln/>
        </p:spPr>
        <p:txBody>
          <a:bodyPr wrap="square" lIns="0" tIns="0" rIns="0" bIns="0" rtlCol="0" anchor="ctr"/>
          <a:lstStyle/>
          <a:p>
            <a:r>
              <a:rPr lang="en-US" sz="1067" b="1">
                <a:solidFill>
                  <a:srgbClr val="445A6E"/>
                </a:solidFill>
                <a:latin typeface="Calibri" pitchFamily="34" charset="0"/>
                <a:ea typeface="Calibri" pitchFamily="34" charset="-122"/>
                <a:cs typeface="Calibri" pitchFamily="34" charset="-120"/>
              </a:rPr>
              <a:t>1 · DIAGNÓSTICO</a:t>
            </a:r>
            <a:endParaRPr lang="en-US" sz="1067"/>
          </a:p>
        </p:txBody>
      </p:sp>
      <p:sp>
        <p:nvSpPr>
          <p:cNvPr id="60" name="Text 51"/>
          <p:cNvSpPr txBox="1"/>
          <p:nvPr/>
        </p:nvSpPr>
        <p:spPr>
          <a:xfrm>
            <a:off x="926592"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3 clusters cierran iguales o por encima de donde empezaron (Próximo Recurrente +11pp) con la TEA ofertada más alta de toda la cartera — el margen ya es alto y el share no muestra señales de fuga.</a:t>
            </a:r>
            <a:endParaRPr lang="en-US" sz="1267"/>
          </a:p>
        </p:txBody>
      </p:sp>
      <p:sp>
        <p:nvSpPr>
          <p:cNvPr id="61" name="Text 52"/>
          <p:cNvSpPr txBox="1"/>
          <p:nvPr/>
        </p:nvSpPr>
        <p:spPr>
          <a:xfrm>
            <a:off x="5837123" y="7437120"/>
            <a:ext cx="4605731" cy="207264"/>
          </a:xfrm>
          <a:prstGeom prst="rect">
            <a:avLst/>
          </a:prstGeom>
          <a:noFill/>
          <a:ln/>
        </p:spPr>
        <p:txBody>
          <a:bodyPr wrap="square" lIns="0" tIns="0" rIns="0" bIns="0" rtlCol="0" anchor="ctr"/>
          <a:lstStyle/>
          <a:p>
            <a:r>
              <a:rPr lang="en-US" sz="1067" b="1">
                <a:solidFill>
                  <a:srgbClr val="13807B"/>
                </a:solidFill>
                <a:latin typeface="Calibri" pitchFamily="34" charset="0"/>
                <a:ea typeface="Calibri" pitchFamily="34" charset="-122"/>
                <a:cs typeface="Calibri" pitchFamily="34" charset="-120"/>
              </a:rPr>
              <a:t>2 · PROPUESTA</a:t>
            </a:r>
            <a:endParaRPr lang="en-US" sz="1067"/>
          </a:p>
        </p:txBody>
      </p:sp>
      <p:sp>
        <p:nvSpPr>
          <p:cNvPr id="62" name="Text 53"/>
          <p:cNvSpPr txBox="1"/>
          <p:nvPr/>
        </p:nvSpPr>
        <p:spPr>
          <a:xfrm>
            <a:off x="5837123"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Próximo Recurrente es el caso más claro para un piloto de alza de tasa: crece en share y monto a la vez, con la TEA más alta del grupo — sugiere que todavía hay margen sin tocar el volumen.</a:t>
            </a:r>
            <a:endParaRPr lang="en-US" sz="1267"/>
          </a:p>
        </p:txBody>
      </p:sp>
      <p:sp>
        <p:nvSpPr>
          <p:cNvPr id="63" name="Text 54"/>
          <p:cNvSpPr txBox="1"/>
          <p:nvPr/>
        </p:nvSpPr>
        <p:spPr>
          <a:xfrm>
            <a:off x="10747655" y="7437120"/>
            <a:ext cx="4605731" cy="207264"/>
          </a:xfrm>
          <a:prstGeom prst="rect">
            <a:avLst/>
          </a:prstGeom>
          <a:noFill/>
          <a:ln/>
        </p:spPr>
        <p:txBody>
          <a:bodyPr wrap="square" lIns="0" tIns="0" rIns="0" bIns="0" rtlCol="0" anchor="ctr"/>
          <a:lstStyle/>
          <a:p>
            <a:r>
              <a:rPr lang="en-US" sz="1067" b="1">
                <a:solidFill>
                  <a:srgbClr val="C87A0B"/>
                </a:solidFill>
                <a:latin typeface="Calibri" pitchFamily="34" charset="0"/>
                <a:ea typeface="Calibri" pitchFamily="34" charset="-122"/>
                <a:cs typeface="Calibri" pitchFamily="34" charset="-120"/>
              </a:rPr>
              <a:t>3 · PRECAUCIÓN</a:t>
            </a:r>
            <a:endParaRPr lang="en-US" sz="1067"/>
          </a:p>
        </p:txBody>
      </p:sp>
      <p:sp>
        <p:nvSpPr>
          <p:cNvPr id="64" name="Text 55"/>
          <p:cNvSpPr txBox="1"/>
          <p:nvPr/>
        </p:nvSpPr>
        <p:spPr>
          <a:xfrm>
            <a:off x="10747655" y="7656576"/>
            <a:ext cx="4605731" cy="1024128"/>
          </a:xfrm>
          <a:prstGeom prst="rect">
            <a:avLst/>
          </a:prstGeom>
          <a:noFill/>
          <a:ln/>
        </p:spPr>
        <p:txBody>
          <a:bodyPr wrap="square" lIns="0" tIns="0" rIns="0" bIns="0" rtlCol="0" anchor="t"/>
          <a:lstStyle/>
          <a:p>
            <a:r>
              <a:rPr lang="en-US" sz="1267">
                <a:solidFill>
                  <a:srgbClr val="3E5553"/>
                </a:solidFill>
                <a:latin typeface="Calibri" pitchFamily="34" charset="0"/>
                <a:ea typeface="Calibri" pitchFamily="34" charset="-122"/>
                <a:cs typeface="Calibri" pitchFamily="34" charset="-120"/>
              </a:rPr>
              <a:t>Los tres muestran una caída fuerte a mitad de periodo (2025Q4) seguida de recuperación — antes de subir tasa, confirmar que esa caída no se repite en el próximo Q4, para no mover precio justo antes de un bache estacional.</a:t>
            </a:r>
            <a:endParaRPr lang="en-US" sz="1267"/>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512865-ADF9-0C6D-677F-88D222A009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E1A060-3BBB-0FB1-F868-076E440FC005}"/>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MARCO METODOLÓGICO</a:t>
            </a:r>
            <a:endParaRPr lang="en-US" sz="950"/>
          </a:p>
        </p:txBody>
      </p:sp>
      <p:sp>
        <p:nvSpPr>
          <p:cNvPr id="3" name="TextBox 2">
            <a:extLst>
              <a:ext uri="{FF2B5EF4-FFF2-40B4-BE49-F238E27FC236}">
                <a16:creationId xmlns:a16="http://schemas.microsoft.com/office/drawing/2014/main" id="{D345B323-CF67-CCCD-74E6-21F9904DE462}"/>
              </a:ext>
            </a:extLst>
          </p:cNvPr>
          <p:cNvSpPr txBox="1"/>
          <p:nvPr/>
        </p:nvSpPr>
        <p:spPr>
          <a:xfrm>
            <a:off x="658368" y="566928"/>
            <a:ext cx="13750564" cy="301621"/>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Cuatro </a:t>
            </a:r>
            <a:r>
              <a:rPr lang="en-US" sz="2000" b="1" err="1">
                <a:solidFill>
                  <a:srgbClr val="0B2E2C"/>
                </a:solidFill>
                <a:latin typeface="Arial" pitchFamily="34" charset="0"/>
                <a:ea typeface="Arial" pitchFamily="34" charset="-122"/>
                <a:cs typeface="Arial" pitchFamily="34" charset="-120"/>
              </a:rPr>
              <a:t>capas</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medir</a:t>
            </a:r>
            <a:r>
              <a:rPr lang="en-US" sz="2000" b="1">
                <a:solidFill>
                  <a:srgbClr val="0B2E2C"/>
                </a:solidFill>
                <a:latin typeface="Arial" pitchFamily="34" charset="0"/>
                <a:ea typeface="Arial" pitchFamily="34" charset="-122"/>
                <a:cs typeface="Arial" pitchFamily="34" charset="-120"/>
              </a:rPr>
              <a:t> el share de forma </a:t>
            </a:r>
            <a:r>
              <a:rPr lang="en-US" sz="2000" b="1" err="1">
                <a:solidFill>
                  <a:srgbClr val="0B2E2C"/>
                </a:solidFill>
                <a:latin typeface="Arial" pitchFamily="34" charset="0"/>
                <a:ea typeface="Arial" pitchFamily="34" charset="-122"/>
                <a:cs typeface="Arial" pitchFamily="34" charset="-120"/>
              </a:rPr>
              <a:t>justa</a:t>
            </a:r>
            <a:endParaRPr lang="en-US" sz="2000"/>
          </a:p>
        </p:txBody>
      </p:sp>
      <p:pic>
        <p:nvPicPr>
          <p:cNvPr id="5" name="Picture 4" descr="logo_dark.png">
            <a:extLst>
              <a:ext uri="{FF2B5EF4-FFF2-40B4-BE49-F238E27FC236}">
                <a16:creationId xmlns:a16="http://schemas.microsoft.com/office/drawing/2014/main" id="{7F972F6A-E7A9-A6A5-250C-DB4E0B587032}"/>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34A9AE94-DC61-EBC0-0404-1F42C43811F3}"/>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98B2F43D-FE4C-E9CE-1518-1B15E751B5E0}"/>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7" name="Shape 3">
            <a:extLst>
              <a:ext uri="{FF2B5EF4-FFF2-40B4-BE49-F238E27FC236}">
                <a16:creationId xmlns:a16="http://schemas.microsoft.com/office/drawing/2014/main" id="{E59D34BA-6D7C-755B-3086-4449E1C87CBD}"/>
              </a:ext>
            </a:extLst>
          </p:cNvPr>
          <p:cNvSpPr/>
          <p:nvPr/>
        </p:nvSpPr>
        <p:spPr>
          <a:xfrm>
            <a:off x="658368" y="2514600"/>
            <a:ext cx="3151708" cy="384048"/>
          </a:xfrm>
          <a:prstGeom prst="trapezoid">
            <a:avLst/>
          </a:prstGeom>
          <a:solidFill>
            <a:srgbClr val="D9EBEA"/>
          </a:solidFill>
          <a:ln/>
        </p:spPr>
        <p:txBody>
          <a:bodyPr/>
          <a:lstStyle/>
          <a:p>
            <a:endParaRPr lang="es-PE"/>
          </a:p>
        </p:txBody>
      </p:sp>
      <p:sp>
        <p:nvSpPr>
          <p:cNvPr id="11" name="Shape 4">
            <a:extLst>
              <a:ext uri="{FF2B5EF4-FFF2-40B4-BE49-F238E27FC236}">
                <a16:creationId xmlns:a16="http://schemas.microsoft.com/office/drawing/2014/main" id="{AAF829BB-A7FF-FCCD-3A1F-F46D32408B5B}"/>
              </a:ext>
            </a:extLst>
          </p:cNvPr>
          <p:cNvSpPr/>
          <p:nvPr/>
        </p:nvSpPr>
        <p:spPr>
          <a:xfrm>
            <a:off x="4587316" y="2514600"/>
            <a:ext cx="3151708" cy="384048"/>
          </a:xfrm>
          <a:prstGeom prst="trapezoid">
            <a:avLst/>
          </a:prstGeom>
          <a:solidFill>
            <a:srgbClr val="9CCAC8"/>
          </a:solidFill>
          <a:ln/>
        </p:spPr>
        <p:txBody>
          <a:bodyPr/>
          <a:lstStyle/>
          <a:p>
            <a:endParaRPr lang="es-PE"/>
          </a:p>
        </p:txBody>
      </p:sp>
      <p:sp>
        <p:nvSpPr>
          <p:cNvPr id="16" name="Shape 5">
            <a:extLst>
              <a:ext uri="{FF2B5EF4-FFF2-40B4-BE49-F238E27FC236}">
                <a16:creationId xmlns:a16="http://schemas.microsoft.com/office/drawing/2014/main" id="{7485E8FB-1480-6208-77D2-0F835E30745B}"/>
              </a:ext>
            </a:extLst>
          </p:cNvPr>
          <p:cNvSpPr/>
          <p:nvPr/>
        </p:nvSpPr>
        <p:spPr>
          <a:xfrm>
            <a:off x="8516264" y="2514600"/>
            <a:ext cx="3151708" cy="384048"/>
          </a:xfrm>
          <a:prstGeom prst="trapezoid">
            <a:avLst/>
          </a:prstGeom>
          <a:solidFill>
            <a:srgbClr val="5AA6A3"/>
          </a:solidFill>
          <a:ln/>
        </p:spPr>
        <p:txBody>
          <a:bodyPr/>
          <a:lstStyle/>
          <a:p>
            <a:endParaRPr lang="es-PE"/>
          </a:p>
        </p:txBody>
      </p:sp>
      <p:sp>
        <p:nvSpPr>
          <p:cNvPr id="19" name="Shape 6">
            <a:extLst>
              <a:ext uri="{FF2B5EF4-FFF2-40B4-BE49-F238E27FC236}">
                <a16:creationId xmlns:a16="http://schemas.microsoft.com/office/drawing/2014/main" id="{6D525EE6-968D-B7D0-408A-C016B932FC0D}"/>
              </a:ext>
            </a:extLst>
          </p:cNvPr>
          <p:cNvSpPr/>
          <p:nvPr/>
        </p:nvSpPr>
        <p:spPr>
          <a:xfrm>
            <a:off x="12445213" y="2514600"/>
            <a:ext cx="3151708" cy="384048"/>
          </a:xfrm>
          <a:prstGeom prst="trapezoid">
            <a:avLst/>
          </a:prstGeom>
          <a:solidFill>
            <a:srgbClr val="13807B"/>
          </a:solidFill>
          <a:ln/>
        </p:spPr>
        <p:txBody>
          <a:bodyPr/>
          <a:lstStyle/>
          <a:p>
            <a:endParaRPr lang="es-PE"/>
          </a:p>
        </p:txBody>
      </p:sp>
      <p:sp>
        <p:nvSpPr>
          <p:cNvPr id="22" name="Shape 7">
            <a:extLst>
              <a:ext uri="{FF2B5EF4-FFF2-40B4-BE49-F238E27FC236}">
                <a16:creationId xmlns:a16="http://schemas.microsoft.com/office/drawing/2014/main" id="{99C7B0DA-5D15-AA8E-83B4-104A7234F526}"/>
              </a:ext>
            </a:extLst>
          </p:cNvPr>
          <p:cNvSpPr/>
          <p:nvPr/>
        </p:nvSpPr>
        <p:spPr>
          <a:xfrm>
            <a:off x="658368"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25" name="Shape 8">
            <a:extLst>
              <a:ext uri="{FF2B5EF4-FFF2-40B4-BE49-F238E27FC236}">
                <a16:creationId xmlns:a16="http://schemas.microsoft.com/office/drawing/2014/main" id="{B05C4B35-EB68-01F3-E24F-B696A6AC8085}"/>
              </a:ext>
            </a:extLst>
          </p:cNvPr>
          <p:cNvSpPr/>
          <p:nvPr/>
        </p:nvSpPr>
        <p:spPr>
          <a:xfrm>
            <a:off x="658368" y="3026664"/>
            <a:ext cx="3151708" cy="502920"/>
          </a:xfrm>
          <a:prstGeom prst="rect">
            <a:avLst/>
          </a:prstGeom>
          <a:solidFill>
            <a:srgbClr val="D9EBEA"/>
          </a:solidFill>
          <a:ln/>
        </p:spPr>
        <p:txBody>
          <a:bodyPr/>
          <a:lstStyle/>
          <a:p>
            <a:endParaRPr lang="es-PE"/>
          </a:p>
        </p:txBody>
      </p:sp>
      <p:sp>
        <p:nvSpPr>
          <p:cNvPr id="28" name="Text 9">
            <a:extLst>
              <a:ext uri="{FF2B5EF4-FFF2-40B4-BE49-F238E27FC236}">
                <a16:creationId xmlns:a16="http://schemas.microsoft.com/office/drawing/2014/main" id="{78E55186-4B67-5A71-5158-EC15F2D9D008}"/>
              </a:ext>
            </a:extLst>
          </p:cNvPr>
          <p:cNvSpPr txBox="1"/>
          <p:nvPr/>
        </p:nvSpPr>
        <p:spPr>
          <a:xfrm>
            <a:off x="822960" y="3026664"/>
            <a:ext cx="2822524" cy="502920"/>
          </a:xfrm>
          <a:prstGeom prst="rect">
            <a:avLst/>
          </a:prstGeom>
          <a:noFill/>
          <a:ln/>
        </p:spPr>
        <p:txBody>
          <a:bodyPr wrap="square" lIns="0" tIns="0" rIns="0" bIns="0" rtlCol="0" anchor="ctr"/>
          <a:lstStyle/>
          <a:p>
            <a:pPr marL="0" indent="0">
              <a:buNone/>
            </a:pPr>
            <a:r>
              <a:rPr lang="en-US" sz="1000" b="1">
                <a:solidFill>
                  <a:srgbClr val="0B2E2C"/>
                </a:solidFill>
                <a:latin typeface="Arial" pitchFamily="34" charset="0"/>
                <a:ea typeface="Arial" pitchFamily="34" charset="-122"/>
                <a:cs typeface="Arial" pitchFamily="34" charset="-120"/>
              </a:rPr>
              <a:t>CAPA 1  ·  </a:t>
            </a:r>
            <a:r>
              <a:rPr lang="en-US" sz="1500" b="1">
                <a:solidFill>
                  <a:srgbClr val="0B2E2C"/>
                </a:solidFill>
                <a:latin typeface="Arial" pitchFamily="34" charset="0"/>
                <a:ea typeface="Arial" pitchFamily="34" charset="-122"/>
                <a:cs typeface="Arial" pitchFamily="34" charset="-120"/>
              </a:rPr>
              <a:t>V1</a:t>
            </a:r>
            <a:endParaRPr lang="en-US" sz="1000"/>
          </a:p>
        </p:txBody>
      </p:sp>
      <p:sp>
        <p:nvSpPr>
          <p:cNvPr id="30" name="Text 10">
            <a:extLst>
              <a:ext uri="{FF2B5EF4-FFF2-40B4-BE49-F238E27FC236}">
                <a16:creationId xmlns:a16="http://schemas.microsoft.com/office/drawing/2014/main" id="{1C9AFCE0-E59E-6FE5-125E-E42E3A1C81FB}"/>
              </a:ext>
            </a:extLst>
          </p:cNvPr>
          <p:cNvSpPr txBox="1"/>
          <p:nvPr/>
        </p:nvSpPr>
        <p:spPr>
          <a:xfrm>
            <a:off x="822960"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Universo total</a:t>
            </a:r>
            <a:endParaRPr lang="en-US" sz="1250"/>
          </a:p>
        </p:txBody>
      </p:sp>
      <p:sp>
        <p:nvSpPr>
          <p:cNvPr id="33" name="Shape 11">
            <a:extLst>
              <a:ext uri="{FF2B5EF4-FFF2-40B4-BE49-F238E27FC236}">
                <a16:creationId xmlns:a16="http://schemas.microsoft.com/office/drawing/2014/main" id="{B0B445AF-3261-9995-C9B3-7A3A63C65D9D}"/>
              </a:ext>
            </a:extLst>
          </p:cNvPr>
          <p:cNvSpPr/>
          <p:nvPr/>
        </p:nvSpPr>
        <p:spPr>
          <a:xfrm>
            <a:off x="822960"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36" name="Text 12">
            <a:extLst>
              <a:ext uri="{FF2B5EF4-FFF2-40B4-BE49-F238E27FC236}">
                <a16:creationId xmlns:a16="http://schemas.microsoft.com/office/drawing/2014/main" id="{964146D7-905C-A2E7-FCAD-9809DCDA0622}"/>
              </a:ext>
            </a:extLst>
          </p:cNvPr>
          <p:cNvSpPr txBox="1"/>
          <p:nvPr/>
        </p:nvSpPr>
        <p:spPr>
          <a:xfrm>
            <a:off x="932688"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todos los desembolsos</a:t>
            </a:r>
            <a:endParaRPr lang="en-US" sz="1000"/>
          </a:p>
        </p:txBody>
      </p:sp>
      <p:sp>
        <p:nvSpPr>
          <p:cNvPr id="39" name="Text 13">
            <a:extLst>
              <a:ext uri="{FF2B5EF4-FFF2-40B4-BE49-F238E27FC236}">
                <a16:creationId xmlns:a16="http://schemas.microsoft.com/office/drawing/2014/main" id="{6B83BA33-702F-7B3A-0BC7-A9437AFE6F8E}"/>
              </a:ext>
            </a:extLst>
          </p:cNvPr>
          <p:cNvSpPr txBox="1"/>
          <p:nvPr/>
        </p:nvSpPr>
        <p:spPr>
          <a:xfrm>
            <a:off x="822960"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Todos los desembolsos del cliente: competencia interna (otro producto de CT) y externa (otros bancos).</a:t>
            </a:r>
            <a:endParaRPr lang="en-US" sz="1100"/>
          </a:p>
        </p:txBody>
      </p:sp>
      <p:sp>
        <p:nvSpPr>
          <p:cNvPr id="42" name="Shape 14">
            <a:extLst>
              <a:ext uri="{FF2B5EF4-FFF2-40B4-BE49-F238E27FC236}">
                <a16:creationId xmlns:a16="http://schemas.microsoft.com/office/drawing/2014/main" id="{F24FC34E-B3A8-A586-E60C-F274F4044B0E}"/>
              </a:ext>
            </a:extLst>
          </p:cNvPr>
          <p:cNvSpPr/>
          <p:nvPr/>
        </p:nvSpPr>
        <p:spPr>
          <a:xfrm>
            <a:off x="822960" y="5916168"/>
            <a:ext cx="2822524" cy="0"/>
          </a:xfrm>
          <a:prstGeom prst="line">
            <a:avLst/>
          </a:prstGeom>
          <a:noFill/>
          <a:ln w="9525">
            <a:solidFill>
              <a:srgbClr val="D5DFDE"/>
            </a:solidFill>
            <a:prstDash val="solid"/>
          </a:ln>
        </p:spPr>
        <p:txBody>
          <a:bodyPr/>
          <a:lstStyle/>
          <a:p>
            <a:endParaRPr lang="es-PE"/>
          </a:p>
        </p:txBody>
      </p:sp>
      <p:sp>
        <p:nvSpPr>
          <p:cNvPr id="45" name="Text 15">
            <a:extLst>
              <a:ext uri="{FF2B5EF4-FFF2-40B4-BE49-F238E27FC236}">
                <a16:creationId xmlns:a16="http://schemas.microsoft.com/office/drawing/2014/main" id="{B135EA7F-7EF6-25B1-D945-7CDB4EE99CA2}"/>
              </a:ext>
            </a:extLst>
          </p:cNvPr>
          <p:cNvSpPr txBox="1"/>
          <p:nvPr/>
        </p:nvSpPr>
        <p:spPr>
          <a:xfrm>
            <a:off x="822960"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PUNTO DE PARTIDA
</a:t>
            </a:r>
            <a:endParaRPr lang="en-US" sz="850"/>
          </a:p>
          <a:p>
            <a:pPr marL="0" indent="0">
              <a:lnSpc>
                <a:spcPct val="115000"/>
              </a:lnSpc>
              <a:buNone/>
            </a:pPr>
            <a:r>
              <a:rPr lang="en-US" sz="1300" b="1">
                <a:solidFill>
                  <a:srgbClr val="13807B"/>
                </a:solidFill>
                <a:latin typeface="Arial" pitchFamily="34" charset="0"/>
                <a:ea typeface="Arial" pitchFamily="34" charset="-122"/>
                <a:cs typeface="Arial" pitchFamily="34" charset="-120"/>
              </a:rPr>
              <a:t>Todo el </a:t>
            </a:r>
            <a:r>
              <a:rPr lang="en-US" sz="1300" b="1" err="1">
                <a:solidFill>
                  <a:srgbClr val="13807B"/>
                </a:solidFill>
                <a:latin typeface="Arial" pitchFamily="34" charset="0"/>
                <a:ea typeface="Arial" pitchFamily="34" charset="-122"/>
                <a:cs typeface="Arial" pitchFamily="34" charset="-120"/>
              </a:rPr>
              <a:t>universo</a:t>
            </a:r>
            <a:r>
              <a:rPr lang="en-US" sz="1300" b="1">
                <a:solidFill>
                  <a:srgbClr val="13807B"/>
                </a:solidFill>
                <a:latin typeface="Arial" pitchFamily="34" charset="0"/>
                <a:ea typeface="Arial" pitchFamily="34" charset="-122"/>
                <a:cs typeface="Arial" pitchFamily="34" charset="-120"/>
              </a:rPr>
              <a:t> </a:t>
            </a:r>
            <a:r>
              <a:rPr lang="en-US" sz="1300" b="1" err="1">
                <a:solidFill>
                  <a:srgbClr val="13807B"/>
                </a:solidFill>
                <a:latin typeface="Arial" pitchFamily="34" charset="0"/>
                <a:ea typeface="Arial" pitchFamily="34" charset="-122"/>
                <a:cs typeface="Arial" pitchFamily="34" charset="-120"/>
              </a:rPr>
              <a:t>relevante</a:t>
            </a:r>
            <a:endParaRPr lang="en-US" sz="850"/>
          </a:p>
        </p:txBody>
      </p:sp>
      <p:sp>
        <p:nvSpPr>
          <p:cNvPr id="48" name="Shape 16">
            <a:extLst>
              <a:ext uri="{FF2B5EF4-FFF2-40B4-BE49-F238E27FC236}">
                <a16:creationId xmlns:a16="http://schemas.microsoft.com/office/drawing/2014/main" id="{503A4211-62A6-C5DC-E934-98B20A6A0C48}"/>
              </a:ext>
            </a:extLst>
          </p:cNvPr>
          <p:cNvSpPr/>
          <p:nvPr/>
        </p:nvSpPr>
        <p:spPr>
          <a:xfrm>
            <a:off x="3800932" y="4722876"/>
            <a:ext cx="457200" cy="402336"/>
          </a:xfrm>
          <a:prstGeom prst="chevron">
            <a:avLst/>
          </a:prstGeom>
          <a:solidFill>
            <a:srgbClr val="D5DFDE"/>
          </a:solidFill>
          <a:ln/>
        </p:spPr>
        <p:txBody>
          <a:bodyPr/>
          <a:lstStyle/>
          <a:p>
            <a:endParaRPr lang="es-PE"/>
          </a:p>
        </p:txBody>
      </p:sp>
      <p:sp>
        <p:nvSpPr>
          <p:cNvPr id="51" name="Shape 17">
            <a:extLst>
              <a:ext uri="{FF2B5EF4-FFF2-40B4-BE49-F238E27FC236}">
                <a16:creationId xmlns:a16="http://schemas.microsoft.com/office/drawing/2014/main" id="{D6DC2ABE-9060-72F4-31E0-A1FED28C24E1}"/>
              </a:ext>
            </a:extLst>
          </p:cNvPr>
          <p:cNvSpPr/>
          <p:nvPr/>
        </p:nvSpPr>
        <p:spPr>
          <a:xfrm>
            <a:off x="4587316"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54" name="Shape 18">
            <a:extLst>
              <a:ext uri="{FF2B5EF4-FFF2-40B4-BE49-F238E27FC236}">
                <a16:creationId xmlns:a16="http://schemas.microsoft.com/office/drawing/2014/main" id="{DBA5869E-9B6C-8CFD-56EE-953771D90B03}"/>
              </a:ext>
            </a:extLst>
          </p:cNvPr>
          <p:cNvSpPr/>
          <p:nvPr/>
        </p:nvSpPr>
        <p:spPr>
          <a:xfrm>
            <a:off x="4587316" y="3026664"/>
            <a:ext cx="3151708" cy="502920"/>
          </a:xfrm>
          <a:prstGeom prst="rect">
            <a:avLst/>
          </a:prstGeom>
          <a:solidFill>
            <a:srgbClr val="9CCAC8"/>
          </a:solidFill>
          <a:ln/>
        </p:spPr>
        <p:txBody>
          <a:bodyPr/>
          <a:lstStyle/>
          <a:p>
            <a:endParaRPr lang="es-PE"/>
          </a:p>
        </p:txBody>
      </p:sp>
      <p:sp>
        <p:nvSpPr>
          <p:cNvPr id="56" name="Text 19">
            <a:extLst>
              <a:ext uri="{FF2B5EF4-FFF2-40B4-BE49-F238E27FC236}">
                <a16:creationId xmlns:a16="http://schemas.microsoft.com/office/drawing/2014/main" id="{B1FF1B68-89D8-15D8-F831-AA5606923660}"/>
              </a:ext>
            </a:extLst>
          </p:cNvPr>
          <p:cNvSpPr txBox="1"/>
          <p:nvPr/>
        </p:nvSpPr>
        <p:spPr>
          <a:xfrm>
            <a:off x="4751908" y="3026664"/>
            <a:ext cx="2822524" cy="502920"/>
          </a:xfrm>
          <a:prstGeom prst="rect">
            <a:avLst/>
          </a:prstGeom>
          <a:noFill/>
          <a:ln/>
        </p:spPr>
        <p:txBody>
          <a:bodyPr wrap="square" lIns="0" tIns="0" rIns="0" bIns="0" rtlCol="0" anchor="ctr"/>
          <a:lstStyle/>
          <a:p>
            <a:pPr marL="0" indent="0">
              <a:buNone/>
            </a:pPr>
            <a:r>
              <a:rPr lang="en-US" sz="1000" b="1">
                <a:solidFill>
                  <a:srgbClr val="0B2E2C"/>
                </a:solidFill>
                <a:latin typeface="Arial" pitchFamily="34" charset="0"/>
                <a:ea typeface="Arial" pitchFamily="34" charset="-122"/>
                <a:cs typeface="Arial" pitchFamily="34" charset="-120"/>
              </a:rPr>
              <a:t>CAPA 2  ·  </a:t>
            </a:r>
            <a:r>
              <a:rPr lang="en-US" sz="1500" b="1">
                <a:solidFill>
                  <a:srgbClr val="0B2E2C"/>
                </a:solidFill>
                <a:latin typeface="Arial" pitchFamily="34" charset="0"/>
                <a:ea typeface="Arial" pitchFamily="34" charset="-122"/>
                <a:cs typeface="Arial" pitchFamily="34" charset="-120"/>
              </a:rPr>
              <a:t>V2</a:t>
            </a:r>
            <a:endParaRPr lang="en-US" sz="1000"/>
          </a:p>
        </p:txBody>
      </p:sp>
      <p:sp>
        <p:nvSpPr>
          <p:cNvPr id="59" name="Text 20">
            <a:extLst>
              <a:ext uri="{FF2B5EF4-FFF2-40B4-BE49-F238E27FC236}">
                <a16:creationId xmlns:a16="http://schemas.microsoft.com/office/drawing/2014/main" id="{77F7BDEB-E828-7C78-CEA3-B8E98F8299E4}"/>
              </a:ext>
            </a:extLst>
          </p:cNvPr>
          <p:cNvSpPr txBox="1"/>
          <p:nvPr/>
        </p:nvSpPr>
        <p:spPr>
          <a:xfrm>
            <a:off x="4751908"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Sin competencia interna</a:t>
            </a:r>
            <a:endParaRPr lang="en-US" sz="1250"/>
          </a:p>
        </p:txBody>
      </p:sp>
      <p:sp>
        <p:nvSpPr>
          <p:cNvPr id="62" name="Shape 21">
            <a:extLst>
              <a:ext uri="{FF2B5EF4-FFF2-40B4-BE49-F238E27FC236}">
                <a16:creationId xmlns:a16="http://schemas.microsoft.com/office/drawing/2014/main" id="{78D27009-3595-2986-D270-3468B1B1D876}"/>
              </a:ext>
            </a:extLst>
          </p:cNvPr>
          <p:cNvSpPr/>
          <p:nvPr/>
        </p:nvSpPr>
        <p:spPr>
          <a:xfrm>
            <a:off x="4751908"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64" name="Text 22">
            <a:extLst>
              <a:ext uri="{FF2B5EF4-FFF2-40B4-BE49-F238E27FC236}">
                <a16:creationId xmlns:a16="http://schemas.microsoft.com/office/drawing/2014/main" id="{510088A1-5BCA-1067-C713-950A04F12333}"/>
              </a:ext>
            </a:extLst>
          </p:cNvPr>
          <p:cNvSpPr txBox="1"/>
          <p:nvPr/>
        </p:nvSpPr>
        <p:spPr>
          <a:xfrm>
            <a:off x="4861636"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competencia externa</a:t>
            </a:r>
            <a:endParaRPr lang="en-US" sz="1000"/>
          </a:p>
        </p:txBody>
      </p:sp>
      <p:sp>
        <p:nvSpPr>
          <p:cNvPr id="67" name="Text 23">
            <a:extLst>
              <a:ext uri="{FF2B5EF4-FFF2-40B4-BE49-F238E27FC236}">
                <a16:creationId xmlns:a16="http://schemas.microsoft.com/office/drawing/2014/main" id="{28C54634-2EDA-44AF-7667-B47640ADC2D8}"/>
              </a:ext>
            </a:extLst>
          </p:cNvPr>
          <p:cNvSpPr txBox="1"/>
          <p:nvPr/>
        </p:nvSpPr>
        <p:spPr>
          <a:xfrm>
            <a:off x="4751908"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70" name="Shape 24">
            <a:extLst>
              <a:ext uri="{FF2B5EF4-FFF2-40B4-BE49-F238E27FC236}">
                <a16:creationId xmlns:a16="http://schemas.microsoft.com/office/drawing/2014/main" id="{8DBEE2B2-99CE-9A48-905A-B8B86A8B17EC}"/>
              </a:ext>
            </a:extLst>
          </p:cNvPr>
          <p:cNvSpPr/>
          <p:nvPr/>
        </p:nvSpPr>
        <p:spPr>
          <a:xfrm>
            <a:off x="4751908" y="5916168"/>
            <a:ext cx="2822524" cy="0"/>
          </a:xfrm>
          <a:prstGeom prst="line">
            <a:avLst/>
          </a:prstGeom>
          <a:noFill/>
          <a:ln w="9525">
            <a:solidFill>
              <a:srgbClr val="D5DFDE"/>
            </a:solidFill>
            <a:prstDash val="solid"/>
          </a:ln>
        </p:spPr>
        <p:txBody>
          <a:bodyPr/>
          <a:lstStyle/>
          <a:p>
            <a:endParaRPr lang="es-PE"/>
          </a:p>
        </p:txBody>
      </p:sp>
      <p:sp>
        <p:nvSpPr>
          <p:cNvPr id="72" name="Text 25">
            <a:extLst>
              <a:ext uri="{FF2B5EF4-FFF2-40B4-BE49-F238E27FC236}">
                <a16:creationId xmlns:a16="http://schemas.microsoft.com/office/drawing/2014/main" id="{0CF2E7DC-E287-3D78-9A13-73BDB43C0C12}"/>
              </a:ext>
            </a:extLst>
          </p:cNvPr>
          <p:cNvSpPr txBox="1"/>
          <p:nvPr/>
        </p:nvSpPr>
        <p:spPr>
          <a:xfrm>
            <a:off x="4751908"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SE RETIRA
</a:t>
            </a:r>
            <a:endParaRPr lang="en-US" sz="850"/>
          </a:p>
          <a:p>
            <a:pPr marL="0" indent="0">
              <a:lnSpc>
                <a:spcPct val="115000"/>
              </a:lnSpc>
              <a:buNone/>
            </a:pPr>
            <a:r>
              <a:rPr lang="en-US" sz="1300" b="1">
                <a:solidFill>
                  <a:srgbClr val="C0392B"/>
                </a:solidFill>
                <a:latin typeface="Arial" pitchFamily="34" charset="0"/>
                <a:ea typeface="Arial" pitchFamily="34" charset="-122"/>
                <a:cs typeface="Arial" pitchFamily="34" charset="-120"/>
              </a:rPr>
              <a:t>Competencia interna</a:t>
            </a:r>
            <a:endParaRPr lang="en-US" sz="850"/>
          </a:p>
        </p:txBody>
      </p:sp>
      <p:sp>
        <p:nvSpPr>
          <p:cNvPr id="75" name="Shape 26">
            <a:extLst>
              <a:ext uri="{FF2B5EF4-FFF2-40B4-BE49-F238E27FC236}">
                <a16:creationId xmlns:a16="http://schemas.microsoft.com/office/drawing/2014/main" id="{EB615AE9-A066-9799-017C-D3EED7974A71}"/>
              </a:ext>
            </a:extLst>
          </p:cNvPr>
          <p:cNvSpPr/>
          <p:nvPr/>
        </p:nvSpPr>
        <p:spPr>
          <a:xfrm>
            <a:off x="7729880" y="4722876"/>
            <a:ext cx="457200" cy="402336"/>
          </a:xfrm>
          <a:prstGeom prst="chevron">
            <a:avLst/>
          </a:prstGeom>
          <a:solidFill>
            <a:srgbClr val="D5DFDE"/>
          </a:solidFill>
          <a:ln/>
        </p:spPr>
        <p:txBody>
          <a:bodyPr/>
          <a:lstStyle/>
          <a:p>
            <a:endParaRPr lang="es-PE"/>
          </a:p>
        </p:txBody>
      </p:sp>
      <p:sp>
        <p:nvSpPr>
          <p:cNvPr id="78" name="Shape 27">
            <a:extLst>
              <a:ext uri="{FF2B5EF4-FFF2-40B4-BE49-F238E27FC236}">
                <a16:creationId xmlns:a16="http://schemas.microsoft.com/office/drawing/2014/main" id="{453D3DEC-8420-3FA6-60FD-21D49217AABF}"/>
              </a:ext>
            </a:extLst>
          </p:cNvPr>
          <p:cNvSpPr/>
          <p:nvPr/>
        </p:nvSpPr>
        <p:spPr>
          <a:xfrm>
            <a:off x="8516264"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80" name="Shape 28">
            <a:extLst>
              <a:ext uri="{FF2B5EF4-FFF2-40B4-BE49-F238E27FC236}">
                <a16:creationId xmlns:a16="http://schemas.microsoft.com/office/drawing/2014/main" id="{B3925CE0-2315-3B54-0A73-3AABA4A7DB5A}"/>
              </a:ext>
            </a:extLst>
          </p:cNvPr>
          <p:cNvSpPr/>
          <p:nvPr/>
        </p:nvSpPr>
        <p:spPr>
          <a:xfrm>
            <a:off x="8516264" y="3026664"/>
            <a:ext cx="3151708" cy="502920"/>
          </a:xfrm>
          <a:prstGeom prst="rect">
            <a:avLst/>
          </a:prstGeom>
          <a:solidFill>
            <a:srgbClr val="5AA6A3"/>
          </a:solidFill>
          <a:ln/>
        </p:spPr>
        <p:txBody>
          <a:bodyPr/>
          <a:lstStyle/>
          <a:p>
            <a:endParaRPr lang="es-PE"/>
          </a:p>
        </p:txBody>
      </p:sp>
      <p:sp>
        <p:nvSpPr>
          <p:cNvPr id="83" name="Text 29">
            <a:extLst>
              <a:ext uri="{FF2B5EF4-FFF2-40B4-BE49-F238E27FC236}">
                <a16:creationId xmlns:a16="http://schemas.microsoft.com/office/drawing/2014/main" id="{8D9A8B61-2466-0AE0-9303-96A741F95442}"/>
              </a:ext>
            </a:extLst>
          </p:cNvPr>
          <p:cNvSpPr txBox="1"/>
          <p:nvPr/>
        </p:nvSpPr>
        <p:spPr>
          <a:xfrm>
            <a:off x="8680856" y="3026664"/>
            <a:ext cx="2822524" cy="502920"/>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CAPA 3  ·  </a:t>
            </a:r>
            <a:r>
              <a:rPr lang="en-US" sz="1500" b="1">
                <a:solidFill>
                  <a:srgbClr val="FFFFFF"/>
                </a:solidFill>
                <a:latin typeface="Arial" pitchFamily="34" charset="0"/>
                <a:ea typeface="Arial" pitchFamily="34" charset="-122"/>
                <a:cs typeface="Arial" pitchFamily="34" charset="-120"/>
              </a:rPr>
              <a:t>V3</a:t>
            </a:r>
            <a:endParaRPr lang="en-US" sz="1000"/>
          </a:p>
        </p:txBody>
      </p:sp>
      <p:sp>
        <p:nvSpPr>
          <p:cNvPr id="86" name="Text 30">
            <a:extLst>
              <a:ext uri="{FF2B5EF4-FFF2-40B4-BE49-F238E27FC236}">
                <a16:creationId xmlns:a16="http://schemas.microsoft.com/office/drawing/2014/main" id="{62A6BF2F-4ADF-4B8C-E777-B2323F4381F2}"/>
              </a:ext>
            </a:extLst>
          </p:cNvPr>
          <p:cNvSpPr txBox="1"/>
          <p:nvPr/>
        </p:nvSpPr>
        <p:spPr>
          <a:xfrm>
            <a:off x="8680856"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Monto comparable</a:t>
            </a:r>
            <a:endParaRPr lang="en-US" sz="1250"/>
          </a:p>
        </p:txBody>
      </p:sp>
      <p:sp>
        <p:nvSpPr>
          <p:cNvPr id="88" name="Shape 31">
            <a:extLst>
              <a:ext uri="{FF2B5EF4-FFF2-40B4-BE49-F238E27FC236}">
                <a16:creationId xmlns:a16="http://schemas.microsoft.com/office/drawing/2014/main" id="{0E7CD526-091A-247B-53EC-403305CD6DCC}"/>
              </a:ext>
            </a:extLst>
          </p:cNvPr>
          <p:cNvSpPr/>
          <p:nvPr/>
        </p:nvSpPr>
        <p:spPr>
          <a:xfrm>
            <a:off x="8680856"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91" name="Text 32">
            <a:extLst>
              <a:ext uri="{FF2B5EF4-FFF2-40B4-BE49-F238E27FC236}">
                <a16:creationId xmlns:a16="http://schemas.microsoft.com/office/drawing/2014/main" id="{6B57D569-B82D-691B-4C61-A49E7ED1B39F}"/>
              </a:ext>
            </a:extLst>
          </p:cNvPr>
          <p:cNvSpPr txBox="1"/>
          <p:nvPr/>
        </p:nvSpPr>
        <p:spPr>
          <a:xfrm>
            <a:off x="8790584"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competencia de monto parecido</a:t>
            </a:r>
            <a:endParaRPr lang="en-US" sz="1000"/>
          </a:p>
        </p:txBody>
      </p:sp>
      <p:sp>
        <p:nvSpPr>
          <p:cNvPr id="94" name="Text 33">
            <a:extLst>
              <a:ext uri="{FF2B5EF4-FFF2-40B4-BE49-F238E27FC236}">
                <a16:creationId xmlns:a16="http://schemas.microsoft.com/office/drawing/2014/main" id="{A0ECA259-DBD4-42D5-E72D-DEDD2617F7AA}"/>
              </a:ext>
            </a:extLst>
          </p:cNvPr>
          <p:cNvSpPr txBox="1"/>
          <p:nvPr/>
        </p:nvSpPr>
        <p:spPr>
          <a:xfrm>
            <a:off x="8680856"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Se retira la competencia con un monto muy distinto al que maneja el </a:t>
            </a:r>
            <a:r>
              <a:rPr lang="en-US" sz="1100" err="1">
                <a:solidFill>
                  <a:srgbClr val="0B2E2C"/>
                </a:solidFill>
                <a:latin typeface="Arial" pitchFamily="34" charset="0"/>
                <a:ea typeface="Arial" pitchFamily="34" charset="-122"/>
                <a:cs typeface="Arial" pitchFamily="34" charset="-120"/>
              </a:rPr>
              <a:t>cliente</a:t>
            </a:r>
            <a:r>
              <a:rPr lang="en-US" sz="1100">
                <a:solidFill>
                  <a:srgbClr val="0B2E2C"/>
                </a:solidFill>
                <a:latin typeface="Arial" pitchFamily="34" charset="0"/>
                <a:ea typeface="Arial" pitchFamily="34" charset="-122"/>
                <a:cs typeface="Arial" pitchFamily="34" charset="-120"/>
              </a:rPr>
              <a:t> (mayor al 120% del </a:t>
            </a:r>
            <a:r>
              <a:rPr lang="en-US" sz="1100" err="1">
                <a:solidFill>
                  <a:srgbClr val="0B2E2C"/>
                </a:solidFill>
                <a:latin typeface="Arial" pitchFamily="34" charset="0"/>
                <a:ea typeface="Arial" pitchFamily="34" charset="-122"/>
                <a:cs typeface="Arial" pitchFamily="34" charset="-120"/>
              </a:rPr>
              <a:t>monto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ofertado</a:t>
            </a:r>
            <a:r>
              <a:rPr lang="en-US" sz="1100">
                <a:solidFill>
                  <a:srgbClr val="0B2E2C"/>
                </a:solidFill>
                <a:latin typeface="Arial" pitchFamily="34" charset="0"/>
                <a:ea typeface="Arial" pitchFamily="34" charset="-122"/>
                <a:cs typeface="Arial" pitchFamily="34" charset="-120"/>
              </a:rPr>
              <a:t>)</a:t>
            </a:r>
            <a:endParaRPr lang="en-US" sz="1100"/>
          </a:p>
        </p:txBody>
      </p:sp>
      <p:sp>
        <p:nvSpPr>
          <p:cNvPr id="96" name="Shape 34">
            <a:extLst>
              <a:ext uri="{FF2B5EF4-FFF2-40B4-BE49-F238E27FC236}">
                <a16:creationId xmlns:a16="http://schemas.microsoft.com/office/drawing/2014/main" id="{53A45AC2-F249-EF79-40DE-702052B18D54}"/>
              </a:ext>
            </a:extLst>
          </p:cNvPr>
          <p:cNvSpPr/>
          <p:nvPr/>
        </p:nvSpPr>
        <p:spPr>
          <a:xfrm>
            <a:off x="8680856" y="5916168"/>
            <a:ext cx="2822524" cy="0"/>
          </a:xfrm>
          <a:prstGeom prst="line">
            <a:avLst/>
          </a:prstGeom>
          <a:noFill/>
          <a:ln w="9525">
            <a:solidFill>
              <a:srgbClr val="D5DFDE"/>
            </a:solidFill>
            <a:prstDash val="solid"/>
          </a:ln>
        </p:spPr>
        <p:txBody>
          <a:bodyPr/>
          <a:lstStyle/>
          <a:p>
            <a:endParaRPr lang="es-PE"/>
          </a:p>
        </p:txBody>
      </p:sp>
      <p:sp>
        <p:nvSpPr>
          <p:cNvPr id="99" name="Text 35">
            <a:extLst>
              <a:ext uri="{FF2B5EF4-FFF2-40B4-BE49-F238E27FC236}">
                <a16:creationId xmlns:a16="http://schemas.microsoft.com/office/drawing/2014/main" id="{09E0B3A0-363F-CB18-E557-460A4F76918D}"/>
              </a:ext>
            </a:extLst>
          </p:cNvPr>
          <p:cNvSpPr txBox="1"/>
          <p:nvPr/>
        </p:nvSpPr>
        <p:spPr>
          <a:xfrm>
            <a:off x="8680856"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SE RETIRA
</a:t>
            </a:r>
            <a:endParaRPr lang="en-US" sz="850"/>
          </a:p>
          <a:p>
            <a:pPr marL="0" indent="0">
              <a:lnSpc>
                <a:spcPct val="115000"/>
              </a:lnSpc>
              <a:buNone/>
            </a:pPr>
            <a:r>
              <a:rPr lang="en-US" sz="1300" b="1">
                <a:solidFill>
                  <a:srgbClr val="C0392B"/>
                </a:solidFill>
                <a:latin typeface="Arial" pitchFamily="34" charset="0"/>
                <a:ea typeface="Arial" pitchFamily="34" charset="-122"/>
                <a:cs typeface="Arial" pitchFamily="34" charset="-120"/>
              </a:rPr>
              <a:t>Monto no comparable</a:t>
            </a:r>
            <a:endParaRPr lang="en-US" sz="850"/>
          </a:p>
        </p:txBody>
      </p:sp>
      <p:sp>
        <p:nvSpPr>
          <p:cNvPr id="102" name="Shape 36">
            <a:extLst>
              <a:ext uri="{FF2B5EF4-FFF2-40B4-BE49-F238E27FC236}">
                <a16:creationId xmlns:a16="http://schemas.microsoft.com/office/drawing/2014/main" id="{58FF535D-8202-53FC-4226-265D47B926D8}"/>
              </a:ext>
            </a:extLst>
          </p:cNvPr>
          <p:cNvSpPr/>
          <p:nvPr/>
        </p:nvSpPr>
        <p:spPr>
          <a:xfrm>
            <a:off x="11658829" y="4722876"/>
            <a:ext cx="457200" cy="402336"/>
          </a:xfrm>
          <a:prstGeom prst="chevron">
            <a:avLst/>
          </a:prstGeom>
          <a:solidFill>
            <a:srgbClr val="D5DFDE"/>
          </a:solidFill>
          <a:ln/>
        </p:spPr>
        <p:txBody>
          <a:bodyPr/>
          <a:lstStyle/>
          <a:p>
            <a:endParaRPr lang="es-PE"/>
          </a:p>
        </p:txBody>
      </p:sp>
      <p:sp>
        <p:nvSpPr>
          <p:cNvPr id="104" name="Shape 37">
            <a:extLst>
              <a:ext uri="{FF2B5EF4-FFF2-40B4-BE49-F238E27FC236}">
                <a16:creationId xmlns:a16="http://schemas.microsoft.com/office/drawing/2014/main" id="{B46201CB-BF6C-8AAC-CA9F-854E75B22A7F}"/>
              </a:ext>
            </a:extLst>
          </p:cNvPr>
          <p:cNvSpPr/>
          <p:nvPr/>
        </p:nvSpPr>
        <p:spPr>
          <a:xfrm>
            <a:off x="12445213"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107" name="Shape 38">
            <a:extLst>
              <a:ext uri="{FF2B5EF4-FFF2-40B4-BE49-F238E27FC236}">
                <a16:creationId xmlns:a16="http://schemas.microsoft.com/office/drawing/2014/main" id="{C179D2FE-41E2-2C1B-52C0-5C4C3B1BCBA4}"/>
              </a:ext>
            </a:extLst>
          </p:cNvPr>
          <p:cNvSpPr/>
          <p:nvPr/>
        </p:nvSpPr>
        <p:spPr>
          <a:xfrm>
            <a:off x="12445213" y="3026664"/>
            <a:ext cx="3151708" cy="502920"/>
          </a:xfrm>
          <a:prstGeom prst="rect">
            <a:avLst/>
          </a:prstGeom>
          <a:solidFill>
            <a:srgbClr val="13807B"/>
          </a:solidFill>
          <a:ln/>
        </p:spPr>
        <p:txBody>
          <a:bodyPr/>
          <a:lstStyle/>
          <a:p>
            <a:endParaRPr lang="es-PE"/>
          </a:p>
        </p:txBody>
      </p:sp>
      <p:sp>
        <p:nvSpPr>
          <p:cNvPr id="110" name="Text 39">
            <a:extLst>
              <a:ext uri="{FF2B5EF4-FFF2-40B4-BE49-F238E27FC236}">
                <a16:creationId xmlns:a16="http://schemas.microsoft.com/office/drawing/2014/main" id="{3AD7FD32-1C9F-B9A2-A8BE-BA7994694507}"/>
              </a:ext>
            </a:extLst>
          </p:cNvPr>
          <p:cNvSpPr txBox="1"/>
          <p:nvPr/>
        </p:nvSpPr>
        <p:spPr>
          <a:xfrm>
            <a:off x="12609805" y="3026664"/>
            <a:ext cx="2822524" cy="502920"/>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CAPA 4  ·  </a:t>
            </a:r>
            <a:r>
              <a:rPr lang="en-US" sz="1500" b="1">
                <a:solidFill>
                  <a:srgbClr val="FFFFFF"/>
                </a:solidFill>
                <a:latin typeface="Arial" pitchFamily="34" charset="0"/>
                <a:ea typeface="Arial" pitchFamily="34" charset="-122"/>
                <a:cs typeface="Arial" pitchFamily="34" charset="-120"/>
              </a:rPr>
              <a:t>V4</a:t>
            </a:r>
            <a:endParaRPr lang="en-US" sz="1000"/>
          </a:p>
        </p:txBody>
      </p:sp>
      <p:sp>
        <p:nvSpPr>
          <p:cNvPr id="114" name="Text 40">
            <a:extLst>
              <a:ext uri="{FF2B5EF4-FFF2-40B4-BE49-F238E27FC236}">
                <a16:creationId xmlns:a16="http://schemas.microsoft.com/office/drawing/2014/main" id="{4776C3FD-44BF-24EE-FAAE-4D14713DA242}"/>
              </a:ext>
            </a:extLst>
          </p:cNvPr>
          <p:cNvSpPr txBox="1"/>
          <p:nvPr/>
        </p:nvSpPr>
        <p:spPr>
          <a:xfrm>
            <a:off x="12609805"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Monto comparable y gestionado</a:t>
            </a:r>
            <a:endParaRPr lang="en-US" sz="1250"/>
          </a:p>
        </p:txBody>
      </p:sp>
      <p:sp>
        <p:nvSpPr>
          <p:cNvPr id="118" name="Shape 41">
            <a:extLst>
              <a:ext uri="{FF2B5EF4-FFF2-40B4-BE49-F238E27FC236}">
                <a16:creationId xmlns:a16="http://schemas.microsoft.com/office/drawing/2014/main" id="{EE2241AF-9E64-2A76-0811-430C73A440EC}"/>
              </a:ext>
            </a:extLst>
          </p:cNvPr>
          <p:cNvSpPr/>
          <p:nvPr/>
        </p:nvSpPr>
        <p:spPr>
          <a:xfrm>
            <a:off x="12609805"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122" name="Text 42">
            <a:extLst>
              <a:ext uri="{FF2B5EF4-FFF2-40B4-BE49-F238E27FC236}">
                <a16:creationId xmlns:a16="http://schemas.microsoft.com/office/drawing/2014/main" id="{2CAF781C-CCC3-4C67-3EF4-79622918D96C}"/>
              </a:ext>
            </a:extLst>
          </p:cNvPr>
          <p:cNvSpPr txBox="1"/>
          <p:nvPr/>
        </p:nvSpPr>
        <p:spPr>
          <a:xfrm>
            <a:off x="12719533"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competencia de monto parecido y gestionado</a:t>
            </a:r>
            <a:endParaRPr lang="en-US" sz="1000"/>
          </a:p>
        </p:txBody>
      </p:sp>
      <p:sp>
        <p:nvSpPr>
          <p:cNvPr id="126" name="Text 43">
            <a:extLst>
              <a:ext uri="{FF2B5EF4-FFF2-40B4-BE49-F238E27FC236}">
                <a16:creationId xmlns:a16="http://schemas.microsoft.com/office/drawing/2014/main" id="{17D7A8DC-B914-E199-4E32-C3B1FA87CF34}"/>
              </a:ext>
            </a:extLst>
          </p:cNvPr>
          <p:cNvSpPr txBox="1"/>
          <p:nvPr/>
        </p:nvSpPr>
        <p:spPr>
          <a:xfrm>
            <a:off x="12609805"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Se </a:t>
            </a:r>
            <a:r>
              <a:rPr lang="en-US" sz="1100" err="1">
                <a:solidFill>
                  <a:srgbClr val="0B2E2C"/>
                </a:solidFill>
                <a:latin typeface="Arial" pitchFamily="34" charset="0"/>
                <a:ea typeface="Arial" pitchFamily="34" charset="-122"/>
                <a:cs typeface="Arial" pitchFamily="34" charset="-120"/>
              </a:rPr>
              <a:t>retira</a:t>
            </a:r>
            <a:r>
              <a:rPr lang="en-US" sz="1100">
                <a:solidFill>
                  <a:srgbClr val="0B2E2C"/>
                </a:solidFill>
                <a:latin typeface="Arial" pitchFamily="34" charset="0"/>
                <a:ea typeface="Arial" pitchFamily="34" charset="-122"/>
                <a:cs typeface="Arial" pitchFamily="34" charset="-120"/>
              </a:rPr>
              <a:t>  la competencia de monto comparable que IBK no </a:t>
            </a:r>
            <a:r>
              <a:rPr lang="en-US" sz="1100" err="1">
                <a:solidFill>
                  <a:srgbClr val="0B2E2C"/>
                </a:solidFill>
                <a:latin typeface="Arial" pitchFamily="34" charset="0"/>
                <a:ea typeface="Arial" pitchFamily="34" charset="-122"/>
                <a:cs typeface="Arial" pitchFamily="34" charset="-120"/>
              </a:rPr>
              <a:t>gestionó</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activamente</a:t>
            </a:r>
            <a:r>
              <a:rPr lang="en-US" sz="1100">
                <a:solidFill>
                  <a:srgbClr val="0B2E2C"/>
                </a:solidFill>
                <a:latin typeface="Arial" pitchFamily="34" charset="0"/>
                <a:ea typeface="Arial" pitchFamily="34" charset="-122"/>
                <a:cs typeface="Arial" pitchFamily="34" charset="-120"/>
              </a:rPr>
              <a:t>.</a:t>
            </a:r>
            <a:endParaRPr lang="en-US" sz="1100"/>
          </a:p>
        </p:txBody>
      </p:sp>
      <p:sp>
        <p:nvSpPr>
          <p:cNvPr id="129" name="Shape 44">
            <a:extLst>
              <a:ext uri="{FF2B5EF4-FFF2-40B4-BE49-F238E27FC236}">
                <a16:creationId xmlns:a16="http://schemas.microsoft.com/office/drawing/2014/main" id="{07437F14-8144-338D-FC05-7FBCBE40E506}"/>
              </a:ext>
            </a:extLst>
          </p:cNvPr>
          <p:cNvSpPr/>
          <p:nvPr/>
        </p:nvSpPr>
        <p:spPr>
          <a:xfrm>
            <a:off x="12609805" y="5916168"/>
            <a:ext cx="2822524" cy="0"/>
          </a:xfrm>
          <a:prstGeom prst="line">
            <a:avLst/>
          </a:prstGeom>
          <a:noFill/>
          <a:ln w="9525">
            <a:solidFill>
              <a:srgbClr val="D5DFDE"/>
            </a:solidFill>
            <a:prstDash val="solid"/>
          </a:ln>
        </p:spPr>
        <p:txBody>
          <a:bodyPr/>
          <a:lstStyle/>
          <a:p>
            <a:endParaRPr lang="es-PE"/>
          </a:p>
        </p:txBody>
      </p:sp>
      <p:sp>
        <p:nvSpPr>
          <p:cNvPr id="131" name="Text 45">
            <a:extLst>
              <a:ext uri="{FF2B5EF4-FFF2-40B4-BE49-F238E27FC236}">
                <a16:creationId xmlns:a16="http://schemas.microsoft.com/office/drawing/2014/main" id="{50CB65C7-DD54-D400-BA6D-6F85430B56A9}"/>
              </a:ext>
            </a:extLst>
          </p:cNvPr>
          <p:cNvSpPr txBox="1"/>
          <p:nvPr/>
        </p:nvSpPr>
        <p:spPr>
          <a:xfrm>
            <a:off x="12609805"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SE RETIRA
</a:t>
            </a:r>
            <a:endParaRPr lang="en-US" sz="850"/>
          </a:p>
          <a:p>
            <a:pPr marL="0" indent="0">
              <a:lnSpc>
                <a:spcPct val="115000"/>
              </a:lnSpc>
              <a:buNone/>
            </a:pPr>
            <a:r>
              <a:rPr lang="en-US" sz="1300" b="1">
                <a:solidFill>
                  <a:srgbClr val="C0392B"/>
                </a:solidFill>
                <a:latin typeface="Arial" pitchFamily="34" charset="0"/>
                <a:ea typeface="Arial" pitchFamily="34" charset="-122"/>
                <a:cs typeface="Arial" pitchFamily="34" charset="-120"/>
              </a:rPr>
              <a:t>No gestionado</a:t>
            </a:r>
            <a:endParaRPr lang="en-US" sz="850"/>
          </a:p>
        </p:txBody>
      </p:sp>
    </p:spTree>
    <p:extLst>
      <p:ext uri="{BB962C8B-B14F-4D97-AF65-F5344CB8AC3E}">
        <p14:creationId xmlns:p14="http://schemas.microsoft.com/office/powerpoint/2010/main" val="2573560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B120EF-3A31-E9CD-845B-2EFD3B1A82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74CD2AB-144C-5302-FE53-3C3B649A0D54}"/>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CON DEUDA · UNIDADES (N)</a:t>
            </a:r>
            <a:endParaRPr lang="en-US" sz="950"/>
          </a:p>
        </p:txBody>
      </p:sp>
      <p:sp>
        <p:nvSpPr>
          <p:cNvPr id="3" name="TextBox 2">
            <a:extLst>
              <a:ext uri="{FF2B5EF4-FFF2-40B4-BE49-F238E27FC236}">
                <a16:creationId xmlns:a16="http://schemas.microsoft.com/office/drawing/2014/main" id="{D74BDF3D-0589-5014-0713-5DEF6AD95B6C}"/>
              </a:ext>
            </a:extLst>
          </p:cNvPr>
          <p:cNvSpPr txBox="1"/>
          <p:nvPr/>
        </p:nvSpPr>
        <p:spPr>
          <a:xfrm>
            <a:off x="658368" y="566928"/>
            <a:ext cx="13750564" cy="301621"/>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Los 6 clusters con </a:t>
            </a:r>
            <a:r>
              <a:rPr lang="en-US" sz="2000" b="1" err="1">
                <a:solidFill>
                  <a:srgbClr val="0B2E2C"/>
                </a:solidFill>
                <a:latin typeface="Arial" pitchFamily="34" charset="0"/>
                <a:ea typeface="Arial" pitchFamily="34" charset="-122"/>
                <a:cs typeface="Arial" pitchFamily="34" charset="-120"/>
              </a:rPr>
              <a:t>deuda</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caen</a:t>
            </a:r>
            <a:r>
              <a:rPr lang="en-US" sz="2000" b="1">
                <a:solidFill>
                  <a:srgbClr val="0B2E2C"/>
                </a:solidFill>
                <a:latin typeface="Arial" pitchFamily="34" charset="0"/>
                <a:ea typeface="Arial" pitchFamily="34" charset="-122"/>
                <a:cs typeface="Arial" pitchFamily="34" charset="-120"/>
              </a:rPr>
              <a:t> sin </a:t>
            </a:r>
            <a:r>
              <a:rPr lang="en-US" sz="2000" b="1" err="1">
                <a:solidFill>
                  <a:srgbClr val="0B2E2C"/>
                </a:solidFill>
                <a:latin typeface="Arial" pitchFamily="34" charset="0"/>
                <a:ea typeface="Arial" pitchFamily="34" charset="-122"/>
                <a:cs typeface="Arial" pitchFamily="34" charset="-120"/>
              </a:rPr>
              <a:t>excepción</a:t>
            </a:r>
            <a:r>
              <a:rPr lang="en-US" sz="2000" b="1">
                <a:solidFill>
                  <a:srgbClr val="0B2E2C"/>
                </a:solidFill>
                <a:latin typeface="Arial" pitchFamily="34" charset="0"/>
                <a:ea typeface="Arial" pitchFamily="34" charset="-122"/>
                <a:cs typeface="Arial" pitchFamily="34" charset="-120"/>
              </a:rPr>
              <a:t>, con la TEA </a:t>
            </a:r>
            <a:r>
              <a:rPr lang="en-US" sz="2000" b="1" err="1">
                <a:solidFill>
                  <a:srgbClr val="0B2E2C"/>
                </a:solidFill>
                <a:latin typeface="Arial" pitchFamily="34" charset="0"/>
                <a:ea typeface="Arial" pitchFamily="34" charset="-122"/>
                <a:cs typeface="Arial" pitchFamily="34" charset="-120"/>
              </a:rPr>
              <a:t>estable</a:t>
            </a:r>
            <a:r>
              <a:rPr lang="en-US" sz="2000" b="1">
                <a:solidFill>
                  <a:srgbClr val="0B2E2C"/>
                </a:solidFill>
                <a:latin typeface="Arial" pitchFamily="34" charset="0"/>
                <a:ea typeface="Arial" pitchFamily="34" charset="-122"/>
                <a:cs typeface="Arial" pitchFamily="34" charset="-120"/>
              </a:rPr>
              <a:t> — hay </a:t>
            </a:r>
            <a:r>
              <a:rPr lang="en-US" sz="2000" b="1" err="1">
                <a:solidFill>
                  <a:srgbClr val="0B2E2C"/>
                </a:solidFill>
                <a:latin typeface="Arial" pitchFamily="34" charset="0"/>
                <a:ea typeface="Arial" pitchFamily="34" charset="-122"/>
                <a:cs typeface="Arial" pitchFamily="34" charset="-120"/>
              </a:rPr>
              <a:t>espacio</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testear</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una</a:t>
            </a:r>
            <a:r>
              <a:rPr lang="en-US" sz="2000" b="1">
                <a:solidFill>
                  <a:srgbClr val="0B2E2C"/>
                </a:solidFill>
                <a:latin typeface="Arial" pitchFamily="34" charset="0"/>
                <a:ea typeface="Arial" pitchFamily="34" charset="-122"/>
                <a:cs typeface="Arial" pitchFamily="34" charset="-120"/>
              </a:rPr>
              <a:t> baja </a:t>
            </a:r>
            <a:r>
              <a:rPr lang="en-US" sz="2000" b="1" err="1">
                <a:solidFill>
                  <a:srgbClr val="0B2E2C"/>
                </a:solidFill>
                <a:latin typeface="Arial" pitchFamily="34" charset="0"/>
                <a:ea typeface="Arial" pitchFamily="34" charset="-122"/>
                <a:cs typeface="Arial" pitchFamily="34" charset="-120"/>
              </a:rPr>
              <a:t>selectiva</a:t>
            </a:r>
            <a:endParaRPr lang="en-US" sz="2000"/>
          </a:p>
        </p:txBody>
      </p:sp>
      <p:pic>
        <p:nvPicPr>
          <p:cNvPr id="5" name="Picture 4" descr="logo_dark.png">
            <a:extLst>
              <a:ext uri="{FF2B5EF4-FFF2-40B4-BE49-F238E27FC236}">
                <a16:creationId xmlns:a16="http://schemas.microsoft.com/office/drawing/2014/main" id="{F3247B5E-F01A-E45D-C775-2B8081AA173C}"/>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0BADC957-15CD-11A6-CB6A-D0A22452AA4A}"/>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A51EE03B-3FF8-1EAE-F78E-FC458A994E6C}"/>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8" name="Shape 3">
            <a:extLst>
              <a:ext uri="{FF2B5EF4-FFF2-40B4-BE49-F238E27FC236}">
                <a16:creationId xmlns:a16="http://schemas.microsoft.com/office/drawing/2014/main" id="{CE91754D-29D8-5580-F1F4-8129EA2CFA23}"/>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0" name="Text 4">
            <a:extLst>
              <a:ext uri="{FF2B5EF4-FFF2-40B4-BE49-F238E27FC236}">
                <a16:creationId xmlns:a16="http://schemas.microsoft.com/office/drawing/2014/main" id="{B120B364-3B9B-D976-B325-F237D74FFE8E}"/>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Ancla</a:t>
            </a:r>
            <a:endParaRPr lang="en-US" sz="850"/>
          </a:p>
        </p:txBody>
      </p:sp>
      <p:sp>
        <p:nvSpPr>
          <p:cNvPr id="13" name="Shape 5">
            <a:extLst>
              <a:ext uri="{FF2B5EF4-FFF2-40B4-BE49-F238E27FC236}">
                <a16:creationId xmlns:a16="http://schemas.microsoft.com/office/drawing/2014/main" id="{F2D11051-611D-F2C3-DCA9-0E2AB9F0B3D0}"/>
              </a:ext>
            </a:extLst>
          </p:cNvPr>
          <p:cNvSpPr/>
          <p:nvPr/>
        </p:nvSpPr>
        <p:spPr>
          <a:xfrm>
            <a:off x="658368"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15" name="Chart 0">
            <a:extLst>
              <a:ext uri="{FF2B5EF4-FFF2-40B4-BE49-F238E27FC236}">
                <a16:creationId xmlns:a16="http://schemas.microsoft.com/office/drawing/2014/main" id="{6C64749F-3321-7926-9F8F-CB90A5A8BD22}"/>
              </a:ext>
            </a:extLst>
          </p:cNvPr>
          <p:cNvGraphicFramePr/>
          <p:nvPr/>
        </p:nvGraphicFramePr>
        <p:xfrm>
          <a:off x="713232" y="1755648"/>
          <a:ext cx="4760062" cy="1815084"/>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6">
            <a:extLst>
              <a:ext uri="{FF2B5EF4-FFF2-40B4-BE49-F238E27FC236}">
                <a16:creationId xmlns:a16="http://schemas.microsoft.com/office/drawing/2014/main" id="{603C2998-7C32-85D9-D8A8-C27469092A14}"/>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1" name="Text 7">
            <a:extLst>
              <a:ext uri="{FF2B5EF4-FFF2-40B4-BE49-F238E27FC236}">
                <a16:creationId xmlns:a16="http://schemas.microsoft.com/office/drawing/2014/main" id="{3CEAF0AF-15F0-24FF-42CB-6D55BB34B166}"/>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Socio en Crecimiento</a:t>
            </a:r>
            <a:endParaRPr lang="en-US" sz="850"/>
          </a:p>
        </p:txBody>
      </p:sp>
      <p:sp>
        <p:nvSpPr>
          <p:cNvPr id="24" name="Shape 8">
            <a:extLst>
              <a:ext uri="{FF2B5EF4-FFF2-40B4-BE49-F238E27FC236}">
                <a16:creationId xmlns:a16="http://schemas.microsoft.com/office/drawing/2014/main" id="{CA628CB7-CC2C-CB50-0CF8-20F4A9F3A345}"/>
              </a:ext>
            </a:extLst>
          </p:cNvPr>
          <p:cNvSpPr/>
          <p:nvPr/>
        </p:nvSpPr>
        <p:spPr>
          <a:xfrm>
            <a:off x="5692750"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27" name="Chart 1">
            <a:extLst>
              <a:ext uri="{FF2B5EF4-FFF2-40B4-BE49-F238E27FC236}">
                <a16:creationId xmlns:a16="http://schemas.microsoft.com/office/drawing/2014/main" id="{FAD54312-48D7-FCD9-8E54-A4B9F6D45393}"/>
              </a:ext>
            </a:extLst>
          </p:cNvPr>
          <p:cNvGraphicFramePr/>
          <p:nvPr/>
        </p:nvGraphicFramePr>
        <p:xfrm>
          <a:off x="5747614" y="1755648"/>
          <a:ext cx="4760062" cy="1815084"/>
        </p:xfrm>
        <a:graphic>
          <a:graphicData uri="http://schemas.openxmlformats.org/drawingml/2006/chart">
            <c:chart xmlns:c="http://schemas.openxmlformats.org/drawingml/2006/chart" xmlns:r="http://schemas.openxmlformats.org/officeDocument/2006/relationships" r:id="rId6"/>
          </a:graphicData>
        </a:graphic>
      </p:graphicFrame>
      <p:sp>
        <p:nvSpPr>
          <p:cNvPr id="31" name="Shape 9">
            <a:extLst>
              <a:ext uri="{FF2B5EF4-FFF2-40B4-BE49-F238E27FC236}">
                <a16:creationId xmlns:a16="http://schemas.microsoft.com/office/drawing/2014/main" id="{A0E5281E-22F8-2C15-8CAD-43EF31931F70}"/>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4" name="Text 10">
            <a:extLst>
              <a:ext uri="{FF2B5EF4-FFF2-40B4-BE49-F238E27FC236}">
                <a16:creationId xmlns:a16="http://schemas.microsoft.com/office/drawing/2014/main" id="{8FCFD3CE-2CC4-4A43-61B4-9054D3D0A2B4}"/>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Cuenta Estratégica</a:t>
            </a:r>
            <a:endParaRPr lang="en-US" sz="850"/>
          </a:p>
        </p:txBody>
      </p:sp>
      <p:sp>
        <p:nvSpPr>
          <p:cNvPr id="37" name="Shape 11">
            <a:extLst>
              <a:ext uri="{FF2B5EF4-FFF2-40B4-BE49-F238E27FC236}">
                <a16:creationId xmlns:a16="http://schemas.microsoft.com/office/drawing/2014/main" id="{2A179544-8D22-3F2B-ABF7-A18EF612530A}"/>
              </a:ext>
            </a:extLst>
          </p:cNvPr>
          <p:cNvSpPr/>
          <p:nvPr/>
        </p:nvSpPr>
        <p:spPr>
          <a:xfrm>
            <a:off x="10727131"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41" name="Chart 2">
            <a:extLst>
              <a:ext uri="{FF2B5EF4-FFF2-40B4-BE49-F238E27FC236}">
                <a16:creationId xmlns:a16="http://schemas.microsoft.com/office/drawing/2014/main" id="{D261D47F-E3C3-525D-3291-D293DEA34E1B}"/>
              </a:ext>
            </a:extLst>
          </p:cNvPr>
          <p:cNvGraphicFramePr/>
          <p:nvPr/>
        </p:nvGraphicFramePr>
        <p:xfrm>
          <a:off x="10781995" y="1755648"/>
          <a:ext cx="4760062" cy="1815084"/>
        </p:xfrm>
        <a:graphic>
          <a:graphicData uri="http://schemas.openxmlformats.org/drawingml/2006/chart">
            <c:chart xmlns:c="http://schemas.openxmlformats.org/drawingml/2006/chart" xmlns:r="http://schemas.openxmlformats.org/officeDocument/2006/relationships" r:id="rId7"/>
          </a:graphicData>
        </a:graphic>
      </p:graphicFrame>
      <p:sp>
        <p:nvSpPr>
          <p:cNvPr id="44" name="Shape 12">
            <a:extLst>
              <a:ext uri="{FF2B5EF4-FFF2-40B4-BE49-F238E27FC236}">
                <a16:creationId xmlns:a16="http://schemas.microsoft.com/office/drawing/2014/main" id="{F6037CBE-6793-C9F7-6DE1-F9FA16865C36}"/>
              </a:ext>
            </a:extLst>
          </p:cNvPr>
          <p:cNvSpPr/>
          <p:nvPr/>
        </p:nvSpPr>
        <p:spPr>
          <a:xfrm>
            <a:off x="658368" y="3790188"/>
            <a:ext cx="4869790" cy="237744"/>
          </a:xfrm>
          <a:prstGeom prst="rect">
            <a:avLst/>
          </a:prstGeom>
          <a:solidFill>
            <a:srgbClr val="13807B"/>
          </a:solidFill>
          <a:ln/>
        </p:spPr>
        <p:txBody>
          <a:bodyPr/>
          <a:lstStyle/>
          <a:p>
            <a:endParaRPr lang="es-PE"/>
          </a:p>
        </p:txBody>
      </p:sp>
      <p:sp>
        <p:nvSpPr>
          <p:cNvPr id="46" name="Text 13">
            <a:extLst>
              <a:ext uri="{FF2B5EF4-FFF2-40B4-BE49-F238E27FC236}">
                <a16:creationId xmlns:a16="http://schemas.microsoft.com/office/drawing/2014/main" id="{BE0D389E-8A5C-4967-4301-6C454ABAAC11}"/>
              </a:ext>
            </a:extLst>
          </p:cNvPr>
          <p:cNvSpPr txBox="1"/>
          <p:nvPr/>
        </p:nvSpPr>
        <p:spPr>
          <a:xfrm>
            <a:off x="658368"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Maduro Multibanco</a:t>
            </a:r>
            <a:endParaRPr lang="en-US" sz="850"/>
          </a:p>
        </p:txBody>
      </p:sp>
      <p:sp>
        <p:nvSpPr>
          <p:cNvPr id="50" name="Shape 14">
            <a:extLst>
              <a:ext uri="{FF2B5EF4-FFF2-40B4-BE49-F238E27FC236}">
                <a16:creationId xmlns:a16="http://schemas.microsoft.com/office/drawing/2014/main" id="{44903297-E3F3-1606-B117-627D2C431968}"/>
              </a:ext>
            </a:extLst>
          </p:cNvPr>
          <p:cNvSpPr/>
          <p:nvPr/>
        </p:nvSpPr>
        <p:spPr>
          <a:xfrm>
            <a:off x="658368"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53" name="Chart 3">
            <a:extLst>
              <a:ext uri="{FF2B5EF4-FFF2-40B4-BE49-F238E27FC236}">
                <a16:creationId xmlns:a16="http://schemas.microsoft.com/office/drawing/2014/main" id="{2602DE10-51F8-177D-AEEB-F918F79A5087}"/>
              </a:ext>
            </a:extLst>
          </p:cNvPr>
          <p:cNvGraphicFramePr/>
          <p:nvPr/>
        </p:nvGraphicFramePr>
        <p:xfrm>
          <a:off x="713232" y="4082796"/>
          <a:ext cx="4760062" cy="1815084"/>
        </p:xfrm>
        <a:graphic>
          <a:graphicData uri="http://schemas.openxmlformats.org/drawingml/2006/chart">
            <c:chart xmlns:c="http://schemas.openxmlformats.org/drawingml/2006/chart" xmlns:r="http://schemas.openxmlformats.org/officeDocument/2006/relationships" r:id="rId8"/>
          </a:graphicData>
        </a:graphic>
      </p:graphicFrame>
      <p:sp>
        <p:nvSpPr>
          <p:cNvPr id="57" name="Shape 15">
            <a:extLst>
              <a:ext uri="{FF2B5EF4-FFF2-40B4-BE49-F238E27FC236}">
                <a16:creationId xmlns:a16="http://schemas.microsoft.com/office/drawing/2014/main" id="{585344FF-86AC-7D16-9708-43A17FDDAEE4}"/>
              </a:ext>
            </a:extLst>
          </p:cNvPr>
          <p:cNvSpPr/>
          <p:nvPr/>
        </p:nvSpPr>
        <p:spPr>
          <a:xfrm>
            <a:off x="5692750" y="3790188"/>
            <a:ext cx="4869790" cy="237744"/>
          </a:xfrm>
          <a:prstGeom prst="rect">
            <a:avLst/>
          </a:prstGeom>
          <a:solidFill>
            <a:srgbClr val="13807B"/>
          </a:solidFill>
          <a:ln/>
        </p:spPr>
        <p:txBody>
          <a:bodyPr/>
          <a:lstStyle/>
          <a:p>
            <a:endParaRPr lang="es-PE"/>
          </a:p>
        </p:txBody>
      </p:sp>
      <p:sp>
        <p:nvSpPr>
          <p:cNvPr id="61" name="Text 16">
            <a:extLst>
              <a:ext uri="{FF2B5EF4-FFF2-40B4-BE49-F238E27FC236}">
                <a16:creationId xmlns:a16="http://schemas.microsoft.com/office/drawing/2014/main" id="{CB918B3B-6496-89A6-AD31-F870D2D4604F}"/>
              </a:ext>
            </a:extLst>
          </p:cNvPr>
          <p:cNvSpPr txBox="1"/>
          <p:nvPr/>
        </p:nvSpPr>
        <p:spPr>
          <a:xfrm>
            <a:off x="5692750"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Gran Cuenta por Conquistar</a:t>
            </a:r>
            <a:endParaRPr lang="en-US" sz="850"/>
          </a:p>
        </p:txBody>
      </p:sp>
      <p:sp>
        <p:nvSpPr>
          <p:cNvPr id="65" name="Shape 17">
            <a:extLst>
              <a:ext uri="{FF2B5EF4-FFF2-40B4-BE49-F238E27FC236}">
                <a16:creationId xmlns:a16="http://schemas.microsoft.com/office/drawing/2014/main" id="{4B2EA15D-FFCA-68DB-DCD5-CE020C4505AE}"/>
              </a:ext>
            </a:extLst>
          </p:cNvPr>
          <p:cNvSpPr/>
          <p:nvPr/>
        </p:nvSpPr>
        <p:spPr>
          <a:xfrm>
            <a:off x="5692750"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69" name="Chart 4">
            <a:extLst>
              <a:ext uri="{FF2B5EF4-FFF2-40B4-BE49-F238E27FC236}">
                <a16:creationId xmlns:a16="http://schemas.microsoft.com/office/drawing/2014/main" id="{26469EE5-A04F-83C7-F600-E2C4184CBFC1}"/>
              </a:ext>
            </a:extLst>
          </p:cNvPr>
          <p:cNvGraphicFramePr/>
          <p:nvPr/>
        </p:nvGraphicFramePr>
        <p:xfrm>
          <a:off x="5747614" y="4082796"/>
          <a:ext cx="4760062" cy="1815084"/>
        </p:xfrm>
        <a:graphic>
          <a:graphicData uri="http://schemas.openxmlformats.org/drawingml/2006/chart">
            <c:chart xmlns:c="http://schemas.openxmlformats.org/drawingml/2006/chart" xmlns:r="http://schemas.openxmlformats.org/officeDocument/2006/relationships" r:id="rId9"/>
          </a:graphicData>
        </a:graphic>
      </p:graphicFrame>
      <p:sp>
        <p:nvSpPr>
          <p:cNvPr id="73" name="Shape 18">
            <a:extLst>
              <a:ext uri="{FF2B5EF4-FFF2-40B4-BE49-F238E27FC236}">
                <a16:creationId xmlns:a16="http://schemas.microsoft.com/office/drawing/2014/main" id="{539A922D-7DB7-4C29-B41E-8717DABD1D1D}"/>
              </a:ext>
            </a:extLst>
          </p:cNvPr>
          <p:cNvSpPr/>
          <p:nvPr/>
        </p:nvSpPr>
        <p:spPr>
          <a:xfrm>
            <a:off x="10727131" y="3790188"/>
            <a:ext cx="4869790" cy="237744"/>
          </a:xfrm>
          <a:prstGeom prst="rect">
            <a:avLst/>
          </a:prstGeom>
          <a:solidFill>
            <a:srgbClr val="13807B"/>
          </a:solidFill>
          <a:ln/>
        </p:spPr>
        <p:txBody>
          <a:bodyPr/>
          <a:lstStyle/>
          <a:p>
            <a:endParaRPr lang="es-PE"/>
          </a:p>
        </p:txBody>
      </p:sp>
      <p:sp>
        <p:nvSpPr>
          <p:cNvPr id="77" name="Text 19">
            <a:extLst>
              <a:ext uri="{FF2B5EF4-FFF2-40B4-BE49-F238E27FC236}">
                <a16:creationId xmlns:a16="http://schemas.microsoft.com/office/drawing/2014/main" id="{6B6691AC-E264-496A-75D4-5BD79DC56718}"/>
              </a:ext>
            </a:extLst>
          </p:cNvPr>
          <p:cNvSpPr txBox="1"/>
          <p:nvPr/>
        </p:nvSpPr>
        <p:spPr>
          <a:xfrm>
            <a:off x="10727131"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por Reactivar</a:t>
            </a:r>
            <a:endParaRPr lang="en-US" sz="850"/>
          </a:p>
        </p:txBody>
      </p:sp>
      <p:sp>
        <p:nvSpPr>
          <p:cNvPr id="81" name="Shape 20">
            <a:extLst>
              <a:ext uri="{FF2B5EF4-FFF2-40B4-BE49-F238E27FC236}">
                <a16:creationId xmlns:a16="http://schemas.microsoft.com/office/drawing/2014/main" id="{055BA4C8-8FE1-83CF-E6EC-AC1BC2924E8C}"/>
              </a:ext>
            </a:extLst>
          </p:cNvPr>
          <p:cNvSpPr/>
          <p:nvPr/>
        </p:nvSpPr>
        <p:spPr>
          <a:xfrm>
            <a:off x="10727131"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85" name="Chart 5">
            <a:extLst>
              <a:ext uri="{FF2B5EF4-FFF2-40B4-BE49-F238E27FC236}">
                <a16:creationId xmlns:a16="http://schemas.microsoft.com/office/drawing/2014/main" id="{CA390800-B96F-CC71-930E-84B231C52DD6}"/>
              </a:ext>
            </a:extLst>
          </p:cNvPr>
          <p:cNvGraphicFramePr/>
          <p:nvPr/>
        </p:nvGraphicFramePr>
        <p:xfrm>
          <a:off x="10781995" y="4082796"/>
          <a:ext cx="4760062" cy="1815084"/>
        </p:xfrm>
        <a:graphic>
          <a:graphicData uri="http://schemas.openxmlformats.org/drawingml/2006/chart">
            <c:chart xmlns:c="http://schemas.openxmlformats.org/drawingml/2006/chart" xmlns:r="http://schemas.openxmlformats.org/officeDocument/2006/relationships" r:id="rId10"/>
          </a:graphicData>
        </a:graphic>
      </p:graphicFrame>
      <p:sp>
        <p:nvSpPr>
          <p:cNvPr id="89" name="Shape 21">
            <a:extLst>
              <a:ext uri="{FF2B5EF4-FFF2-40B4-BE49-F238E27FC236}">
                <a16:creationId xmlns:a16="http://schemas.microsoft.com/office/drawing/2014/main" id="{EFF9BE98-CB99-8675-FBEF-FF5D8929BDB1}"/>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93" name="Text 22">
            <a:extLst>
              <a:ext uri="{FF2B5EF4-FFF2-40B4-BE49-F238E27FC236}">
                <a16:creationId xmlns:a16="http://schemas.microsoft.com/office/drawing/2014/main" id="{0F87F9C4-9359-A1AB-0B7B-2B9F157B39E7}"/>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97" name="Shape 23">
            <a:extLst>
              <a:ext uri="{FF2B5EF4-FFF2-40B4-BE49-F238E27FC236}">
                <a16:creationId xmlns:a16="http://schemas.microsoft.com/office/drawing/2014/main" id="{14DE8723-BC1A-2C7F-0930-A1B4802E1737}"/>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101" name="Text 24">
            <a:extLst>
              <a:ext uri="{FF2B5EF4-FFF2-40B4-BE49-F238E27FC236}">
                <a16:creationId xmlns:a16="http://schemas.microsoft.com/office/drawing/2014/main" id="{C76C9F9C-16CC-3B8D-E60C-44105B94B3DA}"/>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105" name="Shape 25">
            <a:extLst>
              <a:ext uri="{FF2B5EF4-FFF2-40B4-BE49-F238E27FC236}">
                <a16:creationId xmlns:a16="http://schemas.microsoft.com/office/drawing/2014/main" id="{F8046574-EC71-9DEE-D3DB-D1FD9DF5F97C}"/>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109" name="Text 26">
            <a:extLst>
              <a:ext uri="{FF2B5EF4-FFF2-40B4-BE49-F238E27FC236}">
                <a16:creationId xmlns:a16="http://schemas.microsoft.com/office/drawing/2014/main" id="{929F3E3D-4406-91B0-4BE0-C3D9A531B2D9}"/>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111" name="Shape 27">
            <a:extLst>
              <a:ext uri="{FF2B5EF4-FFF2-40B4-BE49-F238E27FC236}">
                <a16:creationId xmlns:a16="http://schemas.microsoft.com/office/drawing/2014/main" id="{5B255BE0-53B1-1DB0-7EA6-9C0CF2B4A519}"/>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113" name="Text 28">
            <a:extLst>
              <a:ext uri="{FF2B5EF4-FFF2-40B4-BE49-F238E27FC236}">
                <a16:creationId xmlns:a16="http://schemas.microsoft.com/office/drawing/2014/main" id="{9D7E392D-1B78-1878-54E6-F1E8D7C4E977}"/>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115" name="Shape 29">
            <a:extLst>
              <a:ext uri="{FF2B5EF4-FFF2-40B4-BE49-F238E27FC236}">
                <a16:creationId xmlns:a16="http://schemas.microsoft.com/office/drawing/2014/main" id="{9C4E1CEC-322C-1ED7-2AB1-DD741FD7C962}"/>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117" name="Text 30">
            <a:extLst>
              <a:ext uri="{FF2B5EF4-FFF2-40B4-BE49-F238E27FC236}">
                <a16:creationId xmlns:a16="http://schemas.microsoft.com/office/drawing/2014/main" id="{5BE56080-F9BD-1F64-A668-C6045BD53B36}"/>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119" name="Shape 31">
            <a:extLst>
              <a:ext uri="{FF2B5EF4-FFF2-40B4-BE49-F238E27FC236}">
                <a16:creationId xmlns:a16="http://schemas.microsoft.com/office/drawing/2014/main" id="{2B483CCB-EEF4-CE0C-A5A7-1298BE2AE1AB}"/>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121" name="Text 32">
            <a:extLst>
              <a:ext uri="{FF2B5EF4-FFF2-40B4-BE49-F238E27FC236}">
                <a16:creationId xmlns:a16="http://schemas.microsoft.com/office/drawing/2014/main" id="{B60C068A-000B-BC24-F13C-59544D81C770}"/>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123" name="Shape 33">
            <a:extLst>
              <a:ext uri="{FF2B5EF4-FFF2-40B4-BE49-F238E27FC236}">
                <a16:creationId xmlns:a16="http://schemas.microsoft.com/office/drawing/2014/main" id="{6171A337-3004-CB59-6983-404398F8C293}"/>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125" name="Text 34">
            <a:extLst>
              <a:ext uri="{FF2B5EF4-FFF2-40B4-BE49-F238E27FC236}">
                <a16:creationId xmlns:a16="http://schemas.microsoft.com/office/drawing/2014/main" id="{E2937145-F327-A054-86C0-443EFB4C7B23}"/>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27" name="Text 35">
            <a:extLst>
              <a:ext uri="{FF2B5EF4-FFF2-40B4-BE49-F238E27FC236}">
                <a16:creationId xmlns:a16="http://schemas.microsoft.com/office/drawing/2014/main" id="{D99AA265-13F5-EBE6-F4B0-0FCE94234932}"/>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6 clusters caen entre 2025Q2 y 2026Q2 (-16pp a -28pp) con la brecha TEA estable (~2.4-3.6pp): el precio actual no explica la caída, pero tampoco la ha frenado.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Socio en Crecimiento, Cuenta Estratégica y Maduro Multibanco son los de mayor caída (-28pp) — ahí conviene testear una baja selectiva de TEA ofertada (piloto acotado, no across-the-board) para ver si recupera share antes de escalarlo a los otros 3.</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Cliente por Reactivar resiste mejor (-18pp) con la TEA ofertada más alta del grupo (22.8%-23.0% vs. ~20-21% en el resto) — no bajar tasa ahí todavía: el cliente parece menos sensible al precio que el resto.</a:t>
            </a:r>
            <a:endParaRPr lang="en-US" sz="1000"/>
          </a:p>
        </p:txBody>
      </p:sp>
    </p:spTree>
    <p:extLst>
      <p:ext uri="{BB962C8B-B14F-4D97-AF65-F5344CB8AC3E}">
        <p14:creationId xmlns:p14="http://schemas.microsoft.com/office/powerpoint/2010/main" val="28567454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617F99-B6D3-6E60-DC65-2E6AAC49AC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BA32DC-1C51-F714-93DB-F53693FFB371}"/>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CON DEUDA · MONTO (S/)</a:t>
            </a:r>
            <a:endParaRPr lang="en-US" sz="950"/>
          </a:p>
        </p:txBody>
      </p:sp>
      <p:sp>
        <p:nvSpPr>
          <p:cNvPr id="3" name="TextBox 2">
            <a:extLst>
              <a:ext uri="{FF2B5EF4-FFF2-40B4-BE49-F238E27FC236}">
                <a16:creationId xmlns:a16="http://schemas.microsoft.com/office/drawing/2014/main" id="{65AF860C-906F-CBEF-B50B-6918EE5648B9}"/>
              </a:ext>
            </a:extLst>
          </p:cNvPr>
          <p:cNvSpPr txBox="1"/>
          <p:nvPr/>
        </p:nvSpPr>
        <p:spPr>
          <a:xfrm>
            <a:off x="658368" y="566928"/>
            <a:ext cx="13750564" cy="603242"/>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En </a:t>
            </a:r>
            <a:r>
              <a:rPr lang="en-US" sz="2000" b="1" err="1">
                <a:solidFill>
                  <a:srgbClr val="0B2E2C"/>
                </a:solidFill>
                <a:latin typeface="Arial" pitchFamily="34" charset="0"/>
                <a:ea typeface="Arial" pitchFamily="34" charset="-122"/>
                <a:cs typeface="Arial" pitchFamily="34" charset="-120"/>
              </a:rPr>
              <a:t>monto</a:t>
            </a:r>
            <a:r>
              <a:rPr lang="en-US" sz="2000" b="1">
                <a:solidFill>
                  <a:srgbClr val="0B2E2C"/>
                </a:solidFill>
                <a:latin typeface="Arial" pitchFamily="34" charset="0"/>
                <a:ea typeface="Arial" pitchFamily="34" charset="-122"/>
                <a:cs typeface="Arial" pitchFamily="34" charset="-120"/>
              </a:rPr>
              <a:t> la </a:t>
            </a:r>
            <a:r>
              <a:rPr lang="en-US" sz="2000" b="1" err="1">
                <a:solidFill>
                  <a:srgbClr val="0B2E2C"/>
                </a:solidFill>
                <a:latin typeface="Arial" pitchFamily="34" charset="0"/>
                <a:ea typeface="Arial" pitchFamily="34" charset="-122"/>
                <a:cs typeface="Arial" pitchFamily="34" charset="-120"/>
              </a:rPr>
              <a:t>caída</a:t>
            </a:r>
            <a:r>
              <a:rPr lang="en-US" sz="2000" b="1">
                <a:solidFill>
                  <a:srgbClr val="0B2E2C"/>
                </a:solidFill>
                <a:latin typeface="Arial" pitchFamily="34" charset="0"/>
                <a:ea typeface="Arial" pitchFamily="34" charset="-122"/>
                <a:cs typeface="Arial" pitchFamily="34" charset="-120"/>
              </a:rPr>
              <a:t> con </a:t>
            </a:r>
            <a:r>
              <a:rPr lang="en-US" sz="2000" b="1" err="1">
                <a:solidFill>
                  <a:srgbClr val="0B2E2C"/>
                </a:solidFill>
                <a:latin typeface="Arial" pitchFamily="34" charset="0"/>
                <a:ea typeface="Arial" pitchFamily="34" charset="-122"/>
                <a:cs typeface="Arial" pitchFamily="34" charset="-120"/>
              </a:rPr>
              <a:t>deuda</a:t>
            </a:r>
            <a:r>
              <a:rPr lang="en-US" sz="2000" b="1">
                <a:solidFill>
                  <a:srgbClr val="0B2E2C"/>
                </a:solidFill>
                <a:latin typeface="Arial" pitchFamily="34" charset="0"/>
                <a:ea typeface="Arial" pitchFamily="34" charset="-122"/>
                <a:cs typeface="Arial" pitchFamily="34" charset="-120"/>
              </a:rPr>
              <a:t> es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fuerte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que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en</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unidades</a:t>
            </a:r>
            <a:r>
              <a:rPr lang="en-US" sz="2000" b="1">
                <a:solidFill>
                  <a:srgbClr val="0B2E2C"/>
                </a:solidFill>
                <a:latin typeface="Arial" pitchFamily="34" charset="0"/>
                <a:ea typeface="Arial" pitchFamily="34" charset="-122"/>
                <a:cs typeface="Arial" pitchFamily="34" charset="-120"/>
              </a:rPr>
              <a:t> — el </a:t>
            </a:r>
            <a:r>
              <a:rPr lang="en-US" sz="2000" b="1" err="1">
                <a:solidFill>
                  <a:srgbClr val="0B2E2C"/>
                </a:solidFill>
                <a:latin typeface="Arial" pitchFamily="34" charset="0"/>
                <a:ea typeface="Arial" pitchFamily="34" charset="-122"/>
                <a:cs typeface="Arial" pitchFamily="34" charset="-120"/>
              </a:rPr>
              <a:t>espacio</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bajar</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tasa</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debe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priorizarse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en</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los</a:t>
            </a:r>
            <a:r>
              <a:rPr lang="en-US" sz="2000" b="1">
                <a:solidFill>
                  <a:srgbClr val="0B2E2C"/>
                </a:solidFill>
                <a:latin typeface="Arial" pitchFamily="34" charset="0"/>
                <a:ea typeface="Arial" pitchFamily="34" charset="-122"/>
                <a:cs typeface="Arial" pitchFamily="34" charset="-120"/>
              </a:rPr>
              <a:t> tickets </a:t>
            </a:r>
            <a:r>
              <a:rPr lang="en-US" sz="2000" b="1" err="1">
                <a:solidFill>
                  <a:srgbClr val="0B2E2C"/>
                </a:solidFill>
                <a:latin typeface="Arial" pitchFamily="34" charset="0"/>
                <a:ea typeface="Arial" pitchFamily="34" charset="-122"/>
                <a:cs typeface="Arial" pitchFamily="34" charset="-120"/>
              </a:rPr>
              <a:t>grandes</a:t>
            </a:r>
            <a:endParaRPr lang="en-US" sz="2000"/>
          </a:p>
        </p:txBody>
      </p:sp>
      <p:pic>
        <p:nvPicPr>
          <p:cNvPr id="5" name="Picture 4" descr="logo_dark.png">
            <a:extLst>
              <a:ext uri="{FF2B5EF4-FFF2-40B4-BE49-F238E27FC236}">
                <a16:creationId xmlns:a16="http://schemas.microsoft.com/office/drawing/2014/main" id="{E01BAEC3-A106-63FE-27B1-96E4C88DB427}"/>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CE78F465-FF78-EBD6-E659-503734C2DFE0}"/>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41BB2A98-014F-8456-85D0-52C48BFCDD9C}"/>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7" name="Shape 3">
            <a:extLst>
              <a:ext uri="{FF2B5EF4-FFF2-40B4-BE49-F238E27FC236}">
                <a16:creationId xmlns:a16="http://schemas.microsoft.com/office/drawing/2014/main" id="{51A2248C-C1F1-1C3F-4A22-4C40E20CC1C3}"/>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1" name="Text 4">
            <a:extLst>
              <a:ext uri="{FF2B5EF4-FFF2-40B4-BE49-F238E27FC236}">
                <a16:creationId xmlns:a16="http://schemas.microsoft.com/office/drawing/2014/main" id="{99DFCD1D-F34E-FE07-BAE1-3B0042E6D0EE}"/>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Ancla</a:t>
            </a:r>
            <a:endParaRPr lang="en-US" sz="850"/>
          </a:p>
        </p:txBody>
      </p:sp>
      <p:sp>
        <p:nvSpPr>
          <p:cNvPr id="16" name="Shape 5">
            <a:extLst>
              <a:ext uri="{FF2B5EF4-FFF2-40B4-BE49-F238E27FC236}">
                <a16:creationId xmlns:a16="http://schemas.microsoft.com/office/drawing/2014/main" id="{7C292CCE-1690-607A-8117-B215C3FC4AE4}"/>
              </a:ext>
            </a:extLst>
          </p:cNvPr>
          <p:cNvSpPr/>
          <p:nvPr/>
        </p:nvSpPr>
        <p:spPr>
          <a:xfrm>
            <a:off x="658368"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19" name="Chart 0">
            <a:extLst>
              <a:ext uri="{FF2B5EF4-FFF2-40B4-BE49-F238E27FC236}">
                <a16:creationId xmlns:a16="http://schemas.microsoft.com/office/drawing/2014/main" id="{9241608F-D8FA-9931-E910-2DF4F0139B66}"/>
              </a:ext>
            </a:extLst>
          </p:cNvPr>
          <p:cNvGraphicFramePr/>
          <p:nvPr/>
        </p:nvGraphicFramePr>
        <p:xfrm>
          <a:off x="713232" y="1755648"/>
          <a:ext cx="4760062" cy="1815084"/>
        </p:xfrm>
        <a:graphic>
          <a:graphicData uri="http://schemas.openxmlformats.org/drawingml/2006/chart">
            <c:chart xmlns:c="http://schemas.openxmlformats.org/drawingml/2006/chart" xmlns:r="http://schemas.openxmlformats.org/officeDocument/2006/relationships" r:id="rId5"/>
          </a:graphicData>
        </a:graphic>
      </p:graphicFrame>
      <p:sp>
        <p:nvSpPr>
          <p:cNvPr id="22" name="Shape 6">
            <a:extLst>
              <a:ext uri="{FF2B5EF4-FFF2-40B4-BE49-F238E27FC236}">
                <a16:creationId xmlns:a16="http://schemas.microsoft.com/office/drawing/2014/main" id="{B4F4A06F-7494-EC29-0D1C-04C62CCD7A69}"/>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5" name="Text 7">
            <a:extLst>
              <a:ext uri="{FF2B5EF4-FFF2-40B4-BE49-F238E27FC236}">
                <a16:creationId xmlns:a16="http://schemas.microsoft.com/office/drawing/2014/main" id="{E9DE1D56-EF23-0DE4-14B8-0BAAA736DEC7}"/>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Socio en Crecimiento</a:t>
            </a:r>
            <a:endParaRPr lang="en-US" sz="850"/>
          </a:p>
        </p:txBody>
      </p:sp>
      <p:sp>
        <p:nvSpPr>
          <p:cNvPr id="28" name="Shape 8">
            <a:extLst>
              <a:ext uri="{FF2B5EF4-FFF2-40B4-BE49-F238E27FC236}">
                <a16:creationId xmlns:a16="http://schemas.microsoft.com/office/drawing/2014/main" id="{1F20092E-9FD6-90A3-D805-8366AD3414C9}"/>
              </a:ext>
            </a:extLst>
          </p:cNvPr>
          <p:cNvSpPr/>
          <p:nvPr/>
        </p:nvSpPr>
        <p:spPr>
          <a:xfrm>
            <a:off x="5692750"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30" name="Chart 1">
            <a:extLst>
              <a:ext uri="{FF2B5EF4-FFF2-40B4-BE49-F238E27FC236}">
                <a16:creationId xmlns:a16="http://schemas.microsoft.com/office/drawing/2014/main" id="{D97650EF-3E07-1C7C-04A0-454784D9ECF0}"/>
              </a:ext>
            </a:extLst>
          </p:cNvPr>
          <p:cNvGraphicFramePr/>
          <p:nvPr/>
        </p:nvGraphicFramePr>
        <p:xfrm>
          <a:off x="5747614" y="1755648"/>
          <a:ext cx="4760062" cy="1815084"/>
        </p:xfrm>
        <a:graphic>
          <a:graphicData uri="http://schemas.openxmlformats.org/drawingml/2006/chart">
            <c:chart xmlns:c="http://schemas.openxmlformats.org/drawingml/2006/chart" xmlns:r="http://schemas.openxmlformats.org/officeDocument/2006/relationships" r:id="rId6"/>
          </a:graphicData>
        </a:graphic>
      </p:graphicFrame>
      <p:sp>
        <p:nvSpPr>
          <p:cNvPr id="33" name="Shape 9">
            <a:extLst>
              <a:ext uri="{FF2B5EF4-FFF2-40B4-BE49-F238E27FC236}">
                <a16:creationId xmlns:a16="http://schemas.microsoft.com/office/drawing/2014/main" id="{94B49577-7728-B2D8-7D8A-FA7A0A47106D}"/>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6" name="Text 10">
            <a:extLst>
              <a:ext uri="{FF2B5EF4-FFF2-40B4-BE49-F238E27FC236}">
                <a16:creationId xmlns:a16="http://schemas.microsoft.com/office/drawing/2014/main" id="{13E24DDD-4C77-9CC9-88CE-71005065C218}"/>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Cuenta Estratégica</a:t>
            </a:r>
            <a:endParaRPr lang="en-US" sz="850"/>
          </a:p>
        </p:txBody>
      </p:sp>
      <p:sp>
        <p:nvSpPr>
          <p:cNvPr id="39" name="Shape 11">
            <a:extLst>
              <a:ext uri="{FF2B5EF4-FFF2-40B4-BE49-F238E27FC236}">
                <a16:creationId xmlns:a16="http://schemas.microsoft.com/office/drawing/2014/main" id="{9B9FDE30-C848-F455-2193-C986A9524602}"/>
              </a:ext>
            </a:extLst>
          </p:cNvPr>
          <p:cNvSpPr/>
          <p:nvPr/>
        </p:nvSpPr>
        <p:spPr>
          <a:xfrm>
            <a:off x="10727131"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42" name="Chart 2">
            <a:extLst>
              <a:ext uri="{FF2B5EF4-FFF2-40B4-BE49-F238E27FC236}">
                <a16:creationId xmlns:a16="http://schemas.microsoft.com/office/drawing/2014/main" id="{72B4FBE4-1608-A4B5-5493-3B8FB629A563}"/>
              </a:ext>
            </a:extLst>
          </p:cNvPr>
          <p:cNvGraphicFramePr/>
          <p:nvPr/>
        </p:nvGraphicFramePr>
        <p:xfrm>
          <a:off x="10781995" y="1755648"/>
          <a:ext cx="4760062" cy="1815084"/>
        </p:xfrm>
        <a:graphic>
          <a:graphicData uri="http://schemas.openxmlformats.org/drawingml/2006/chart">
            <c:chart xmlns:c="http://schemas.openxmlformats.org/drawingml/2006/chart" xmlns:r="http://schemas.openxmlformats.org/officeDocument/2006/relationships" r:id="rId7"/>
          </a:graphicData>
        </a:graphic>
      </p:graphicFrame>
      <p:sp>
        <p:nvSpPr>
          <p:cNvPr id="45" name="Shape 12">
            <a:extLst>
              <a:ext uri="{FF2B5EF4-FFF2-40B4-BE49-F238E27FC236}">
                <a16:creationId xmlns:a16="http://schemas.microsoft.com/office/drawing/2014/main" id="{7CEA24D7-1BFB-325C-0412-DA187B72D172}"/>
              </a:ext>
            </a:extLst>
          </p:cNvPr>
          <p:cNvSpPr/>
          <p:nvPr/>
        </p:nvSpPr>
        <p:spPr>
          <a:xfrm>
            <a:off x="658368" y="3790188"/>
            <a:ext cx="4869790" cy="237744"/>
          </a:xfrm>
          <a:prstGeom prst="rect">
            <a:avLst/>
          </a:prstGeom>
          <a:solidFill>
            <a:srgbClr val="13807B"/>
          </a:solidFill>
          <a:ln/>
        </p:spPr>
        <p:txBody>
          <a:bodyPr/>
          <a:lstStyle/>
          <a:p>
            <a:endParaRPr lang="es-PE"/>
          </a:p>
        </p:txBody>
      </p:sp>
      <p:sp>
        <p:nvSpPr>
          <p:cNvPr id="48" name="Text 13">
            <a:extLst>
              <a:ext uri="{FF2B5EF4-FFF2-40B4-BE49-F238E27FC236}">
                <a16:creationId xmlns:a16="http://schemas.microsoft.com/office/drawing/2014/main" id="{ECECD48E-746F-E7CB-3EAD-9EF2D0724A46}"/>
              </a:ext>
            </a:extLst>
          </p:cNvPr>
          <p:cNvSpPr txBox="1"/>
          <p:nvPr/>
        </p:nvSpPr>
        <p:spPr>
          <a:xfrm>
            <a:off x="658368"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Maduro Multibanco</a:t>
            </a:r>
            <a:endParaRPr lang="en-US" sz="850"/>
          </a:p>
        </p:txBody>
      </p:sp>
      <p:sp>
        <p:nvSpPr>
          <p:cNvPr id="51" name="Shape 14">
            <a:extLst>
              <a:ext uri="{FF2B5EF4-FFF2-40B4-BE49-F238E27FC236}">
                <a16:creationId xmlns:a16="http://schemas.microsoft.com/office/drawing/2014/main" id="{30EC12C9-6A67-2218-A6BC-43AE4731E2ED}"/>
              </a:ext>
            </a:extLst>
          </p:cNvPr>
          <p:cNvSpPr/>
          <p:nvPr/>
        </p:nvSpPr>
        <p:spPr>
          <a:xfrm>
            <a:off x="658368"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54" name="Chart 3">
            <a:extLst>
              <a:ext uri="{FF2B5EF4-FFF2-40B4-BE49-F238E27FC236}">
                <a16:creationId xmlns:a16="http://schemas.microsoft.com/office/drawing/2014/main" id="{7B538AB8-9AFF-5346-B2DF-7AE22C5575E5}"/>
              </a:ext>
            </a:extLst>
          </p:cNvPr>
          <p:cNvGraphicFramePr/>
          <p:nvPr/>
        </p:nvGraphicFramePr>
        <p:xfrm>
          <a:off x="713232" y="4082796"/>
          <a:ext cx="4760062" cy="1815084"/>
        </p:xfrm>
        <a:graphic>
          <a:graphicData uri="http://schemas.openxmlformats.org/drawingml/2006/chart">
            <c:chart xmlns:c="http://schemas.openxmlformats.org/drawingml/2006/chart" xmlns:r="http://schemas.openxmlformats.org/officeDocument/2006/relationships" r:id="rId8"/>
          </a:graphicData>
        </a:graphic>
      </p:graphicFrame>
      <p:sp>
        <p:nvSpPr>
          <p:cNvPr id="56" name="Shape 15">
            <a:extLst>
              <a:ext uri="{FF2B5EF4-FFF2-40B4-BE49-F238E27FC236}">
                <a16:creationId xmlns:a16="http://schemas.microsoft.com/office/drawing/2014/main" id="{83AD4921-B996-BD73-5540-7B6F451C8BB6}"/>
              </a:ext>
            </a:extLst>
          </p:cNvPr>
          <p:cNvSpPr/>
          <p:nvPr/>
        </p:nvSpPr>
        <p:spPr>
          <a:xfrm>
            <a:off x="5692750" y="3790188"/>
            <a:ext cx="4869790" cy="237744"/>
          </a:xfrm>
          <a:prstGeom prst="rect">
            <a:avLst/>
          </a:prstGeom>
          <a:solidFill>
            <a:srgbClr val="13807B"/>
          </a:solidFill>
          <a:ln/>
        </p:spPr>
        <p:txBody>
          <a:bodyPr/>
          <a:lstStyle/>
          <a:p>
            <a:endParaRPr lang="es-PE"/>
          </a:p>
        </p:txBody>
      </p:sp>
      <p:sp>
        <p:nvSpPr>
          <p:cNvPr id="59" name="Text 16">
            <a:extLst>
              <a:ext uri="{FF2B5EF4-FFF2-40B4-BE49-F238E27FC236}">
                <a16:creationId xmlns:a16="http://schemas.microsoft.com/office/drawing/2014/main" id="{22ED3D14-0C3B-2A29-9A6C-E9B8B194ED9B}"/>
              </a:ext>
            </a:extLst>
          </p:cNvPr>
          <p:cNvSpPr txBox="1"/>
          <p:nvPr/>
        </p:nvSpPr>
        <p:spPr>
          <a:xfrm>
            <a:off x="5692750"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Gran Cuenta por Conquistar</a:t>
            </a:r>
            <a:endParaRPr lang="en-US" sz="850"/>
          </a:p>
        </p:txBody>
      </p:sp>
      <p:sp>
        <p:nvSpPr>
          <p:cNvPr id="62" name="Shape 17">
            <a:extLst>
              <a:ext uri="{FF2B5EF4-FFF2-40B4-BE49-F238E27FC236}">
                <a16:creationId xmlns:a16="http://schemas.microsoft.com/office/drawing/2014/main" id="{015F69F4-05E5-2CF3-8668-5F43E711BCB3}"/>
              </a:ext>
            </a:extLst>
          </p:cNvPr>
          <p:cNvSpPr/>
          <p:nvPr/>
        </p:nvSpPr>
        <p:spPr>
          <a:xfrm>
            <a:off x="5692750"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64" name="Chart 4">
            <a:extLst>
              <a:ext uri="{FF2B5EF4-FFF2-40B4-BE49-F238E27FC236}">
                <a16:creationId xmlns:a16="http://schemas.microsoft.com/office/drawing/2014/main" id="{902AF377-AD47-A646-7865-52B4AA113399}"/>
              </a:ext>
            </a:extLst>
          </p:cNvPr>
          <p:cNvGraphicFramePr/>
          <p:nvPr/>
        </p:nvGraphicFramePr>
        <p:xfrm>
          <a:off x="5747614" y="4082796"/>
          <a:ext cx="4760062" cy="1815084"/>
        </p:xfrm>
        <a:graphic>
          <a:graphicData uri="http://schemas.openxmlformats.org/drawingml/2006/chart">
            <c:chart xmlns:c="http://schemas.openxmlformats.org/drawingml/2006/chart" xmlns:r="http://schemas.openxmlformats.org/officeDocument/2006/relationships" r:id="rId9"/>
          </a:graphicData>
        </a:graphic>
      </p:graphicFrame>
      <p:sp>
        <p:nvSpPr>
          <p:cNvPr id="67" name="Shape 18">
            <a:extLst>
              <a:ext uri="{FF2B5EF4-FFF2-40B4-BE49-F238E27FC236}">
                <a16:creationId xmlns:a16="http://schemas.microsoft.com/office/drawing/2014/main" id="{B42B57C0-A2F4-A805-4B76-12927A4E6D1F}"/>
              </a:ext>
            </a:extLst>
          </p:cNvPr>
          <p:cNvSpPr/>
          <p:nvPr/>
        </p:nvSpPr>
        <p:spPr>
          <a:xfrm>
            <a:off x="10727131" y="3790188"/>
            <a:ext cx="4869790" cy="237744"/>
          </a:xfrm>
          <a:prstGeom prst="rect">
            <a:avLst/>
          </a:prstGeom>
          <a:solidFill>
            <a:srgbClr val="13807B"/>
          </a:solidFill>
          <a:ln/>
        </p:spPr>
        <p:txBody>
          <a:bodyPr/>
          <a:lstStyle/>
          <a:p>
            <a:endParaRPr lang="es-PE"/>
          </a:p>
        </p:txBody>
      </p:sp>
      <p:sp>
        <p:nvSpPr>
          <p:cNvPr id="70" name="Text 19">
            <a:extLst>
              <a:ext uri="{FF2B5EF4-FFF2-40B4-BE49-F238E27FC236}">
                <a16:creationId xmlns:a16="http://schemas.microsoft.com/office/drawing/2014/main" id="{B443E4F2-B841-0417-30C8-BE7B8F41CA1E}"/>
              </a:ext>
            </a:extLst>
          </p:cNvPr>
          <p:cNvSpPr txBox="1"/>
          <p:nvPr/>
        </p:nvSpPr>
        <p:spPr>
          <a:xfrm>
            <a:off x="10727131"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por Reactivar</a:t>
            </a:r>
            <a:endParaRPr lang="en-US" sz="850"/>
          </a:p>
        </p:txBody>
      </p:sp>
      <p:sp>
        <p:nvSpPr>
          <p:cNvPr id="72" name="Shape 20">
            <a:extLst>
              <a:ext uri="{FF2B5EF4-FFF2-40B4-BE49-F238E27FC236}">
                <a16:creationId xmlns:a16="http://schemas.microsoft.com/office/drawing/2014/main" id="{6ED3B074-C0FD-DB70-069B-9F826334E0FF}"/>
              </a:ext>
            </a:extLst>
          </p:cNvPr>
          <p:cNvSpPr/>
          <p:nvPr/>
        </p:nvSpPr>
        <p:spPr>
          <a:xfrm>
            <a:off x="10727131"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75" name="Chart 5">
            <a:extLst>
              <a:ext uri="{FF2B5EF4-FFF2-40B4-BE49-F238E27FC236}">
                <a16:creationId xmlns:a16="http://schemas.microsoft.com/office/drawing/2014/main" id="{276FE503-244A-E16C-8BDA-7EDB0C2047FD}"/>
              </a:ext>
            </a:extLst>
          </p:cNvPr>
          <p:cNvGraphicFramePr/>
          <p:nvPr/>
        </p:nvGraphicFramePr>
        <p:xfrm>
          <a:off x="10781995" y="4082796"/>
          <a:ext cx="4760062" cy="1815084"/>
        </p:xfrm>
        <a:graphic>
          <a:graphicData uri="http://schemas.openxmlformats.org/drawingml/2006/chart">
            <c:chart xmlns:c="http://schemas.openxmlformats.org/drawingml/2006/chart" xmlns:r="http://schemas.openxmlformats.org/officeDocument/2006/relationships" r:id="rId10"/>
          </a:graphicData>
        </a:graphic>
      </p:graphicFrame>
      <p:sp>
        <p:nvSpPr>
          <p:cNvPr id="78" name="Shape 21">
            <a:extLst>
              <a:ext uri="{FF2B5EF4-FFF2-40B4-BE49-F238E27FC236}">
                <a16:creationId xmlns:a16="http://schemas.microsoft.com/office/drawing/2014/main" id="{9BA1A4CE-CE87-5832-8A05-6D20288EC918}"/>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80" name="Text 22">
            <a:extLst>
              <a:ext uri="{FF2B5EF4-FFF2-40B4-BE49-F238E27FC236}">
                <a16:creationId xmlns:a16="http://schemas.microsoft.com/office/drawing/2014/main" id="{CA8DDC30-400B-21B7-39A1-730E04109FC1}"/>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83" name="Shape 23">
            <a:extLst>
              <a:ext uri="{FF2B5EF4-FFF2-40B4-BE49-F238E27FC236}">
                <a16:creationId xmlns:a16="http://schemas.microsoft.com/office/drawing/2014/main" id="{DB857BCC-A179-395B-017A-6D4D2368B32C}"/>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86" name="Text 24">
            <a:extLst>
              <a:ext uri="{FF2B5EF4-FFF2-40B4-BE49-F238E27FC236}">
                <a16:creationId xmlns:a16="http://schemas.microsoft.com/office/drawing/2014/main" id="{A8A0BE4F-FB48-06AA-580D-96DA89B992EE}"/>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88" name="Shape 25">
            <a:extLst>
              <a:ext uri="{FF2B5EF4-FFF2-40B4-BE49-F238E27FC236}">
                <a16:creationId xmlns:a16="http://schemas.microsoft.com/office/drawing/2014/main" id="{8E9C4091-E8BD-E7C3-5B65-D422C98481A1}"/>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91" name="Text 26">
            <a:extLst>
              <a:ext uri="{FF2B5EF4-FFF2-40B4-BE49-F238E27FC236}">
                <a16:creationId xmlns:a16="http://schemas.microsoft.com/office/drawing/2014/main" id="{D35E2B18-4520-4ACF-DC12-B6B684065A58}"/>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94" name="Shape 27">
            <a:extLst>
              <a:ext uri="{FF2B5EF4-FFF2-40B4-BE49-F238E27FC236}">
                <a16:creationId xmlns:a16="http://schemas.microsoft.com/office/drawing/2014/main" id="{B99CDBB0-0A05-41C3-E5E0-336010537107}"/>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96" name="Text 28">
            <a:extLst>
              <a:ext uri="{FF2B5EF4-FFF2-40B4-BE49-F238E27FC236}">
                <a16:creationId xmlns:a16="http://schemas.microsoft.com/office/drawing/2014/main" id="{6D5D657D-FA83-05D2-40B2-8C2A64ECE842}"/>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99" name="Shape 29">
            <a:extLst>
              <a:ext uri="{FF2B5EF4-FFF2-40B4-BE49-F238E27FC236}">
                <a16:creationId xmlns:a16="http://schemas.microsoft.com/office/drawing/2014/main" id="{0F2A789A-6D6A-A135-31F9-49BDE45E9C46}"/>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102" name="Text 30">
            <a:extLst>
              <a:ext uri="{FF2B5EF4-FFF2-40B4-BE49-F238E27FC236}">
                <a16:creationId xmlns:a16="http://schemas.microsoft.com/office/drawing/2014/main" id="{B39D03F7-8550-3C57-6225-7F375530EBC3}"/>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104" name="Shape 31">
            <a:extLst>
              <a:ext uri="{FF2B5EF4-FFF2-40B4-BE49-F238E27FC236}">
                <a16:creationId xmlns:a16="http://schemas.microsoft.com/office/drawing/2014/main" id="{E85F37D2-34C0-072D-8AA0-4E893E11090F}"/>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107" name="Text 32">
            <a:extLst>
              <a:ext uri="{FF2B5EF4-FFF2-40B4-BE49-F238E27FC236}">
                <a16:creationId xmlns:a16="http://schemas.microsoft.com/office/drawing/2014/main" id="{2FF43E55-F69E-C0DC-E519-F3C14F38D374}"/>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110" name="Shape 33">
            <a:extLst>
              <a:ext uri="{FF2B5EF4-FFF2-40B4-BE49-F238E27FC236}">
                <a16:creationId xmlns:a16="http://schemas.microsoft.com/office/drawing/2014/main" id="{89720F52-6410-D8EB-B06F-5C964A207CFD}"/>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114" name="Text 34">
            <a:extLst>
              <a:ext uri="{FF2B5EF4-FFF2-40B4-BE49-F238E27FC236}">
                <a16:creationId xmlns:a16="http://schemas.microsoft.com/office/drawing/2014/main" id="{B86637B7-1BEB-DEC1-6B56-C41B4044826F}"/>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18" name="Text 35">
            <a:extLst>
              <a:ext uri="{FF2B5EF4-FFF2-40B4-BE49-F238E27FC236}">
                <a16:creationId xmlns:a16="http://schemas.microsoft.com/office/drawing/2014/main" id="{13CCC31B-959C-1074-E5B9-7428644C53BD}"/>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6 clusters caen entre 2025Q2 y 2026Q2 (-16pp a -31pp) con la brecha TEA estable: el precio actual no explica la caída en monto, igual que en unidades.</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La caída en monto es igual o mayor que en unidades en 5 de los 6 clusters — si la baja de tasa se prueba, debe evaluarse primero en el segmento de ticket grande de Socio en Crecimiento y Maduro Multibanco, que son los que más valor absoluto de share pierden.</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Cliente por Reactivar vuelve a resistir mejor (-16pp) con la TEA más alta del grupo — no es candidato a baja de tasa por </a:t>
            </a:r>
            <a:r>
              <a:rPr lang="en-US" sz="1000" err="1">
                <a:solidFill>
                  <a:srgbClr val="0B2E2C"/>
                </a:solidFill>
                <a:latin typeface="Arial" pitchFamily="34" charset="0"/>
                <a:ea typeface="Arial" pitchFamily="34" charset="-122"/>
                <a:cs typeface="Arial" pitchFamily="34" charset="-120"/>
              </a:rPr>
              <a:t>ahora</a:t>
            </a:r>
            <a:r>
              <a:rPr lang="en-US" sz="1000">
                <a:solidFill>
                  <a:srgbClr val="0B2E2C"/>
                </a:solidFill>
                <a:latin typeface="Arial" pitchFamily="34" charset="0"/>
                <a:ea typeface="Arial" pitchFamily="34" charset="-122"/>
                <a:cs typeface="Arial" pitchFamily="34" charset="-120"/>
              </a:rPr>
              <a:t>.</a:t>
            </a:r>
            <a:endParaRPr lang="en-US" sz="1000"/>
          </a:p>
        </p:txBody>
      </p:sp>
    </p:spTree>
    <p:extLst>
      <p:ext uri="{BB962C8B-B14F-4D97-AF65-F5344CB8AC3E}">
        <p14:creationId xmlns:p14="http://schemas.microsoft.com/office/powerpoint/2010/main" val="19588440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98FEDD-012F-6B1D-465B-21A33F6BD2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59B593-36E3-5CA8-233D-4A96DBB99021}"/>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SIN DEUDA · UNIDADES (N)</a:t>
            </a:r>
            <a:endParaRPr lang="en-US" sz="950"/>
          </a:p>
        </p:txBody>
      </p:sp>
      <p:sp>
        <p:nvSpPr>
          <p:cNvPr id="3" name="TextBox 2">
            <a:extLst>
              <a:ext uri="{FF2B5EF4-FFF2-40B4-BE49-F238E27FC236}">
                <a16:creationId xmlns:a16="http://schemas.microsoft.com/office/drawing/2014/main" id="{786F5DFA-F0DE-66BF-970D-19653F3FC118}"/>
              </a:ext>
            </a:extLst>
          </p:cNvPr>
          <p:cNvSpPr txBox="1"/>
          <p:nvPr/>
        </p:nvSpPr>
        <p:spPr>
          <a:xfrm>
            <a:off x="658368" y="566928"/>
            <a:ext cx="13750564" cy="301621"/>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Los 3 clusters sin </a:t>
            </a:r>
            <a:r>
              <a:rPr lang="en-US" sz="2000" b="1" err="1">
                <a:solidFill>
                  <a:srgbClr val="0B2E2C"/>
                </a:solidFill>
                <a:latin typeface="Arial" pitchFamily="34" charset="0"/>
                <a:ea typeface="Arial" pitchFamily="34" charset="-122"/>
                <a:cs typeface="Arial" pitchFamily="34" charset="-120"/>
              </a:rPr>
              <a:t>deuda</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sostienen</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su</a:t>
            </a:r>
            <a:r>
              <a:rPr lang="en-US" sz="2000" b="1">
                <a:solidFill>
                  <a:srgbClr val="0B2E2C"/>
                </a:solidFill>
                <a:latin typeface="Arial" pitchFamily="34" charset="0"/>
                <a:ea typeface="Arial" pitchFamily="34" charset="-122"/>
                <a:cs typeface="Arial" pitchFamily="34" charset="-120"/>
              </a:rPr>
              <a:t> share con la TEA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alta</a:t>
            </a:r>
            <a:r>
              <a:rPr lang="en-US" sz="2000" b="1">
                <a:solidFill>
                  <a:srgbClr val="0B2E2C"/>
                </a:solidFill>
                <a:latin typeface="Arial" pitchFamily="34" charset="0"/>
                <a:ea typeface="Arial" pitchFamily="34" charset="-122"/>
                <a:cs typeface="Arial" pitchFamily="34" charset="-120"/>
              </a:rPr>
              <a:t> de </a:t>
            </a:r>
            <a:r>
              <a:rPr lang="en-US" sz="2000" b="1" err="1">
                <a:solidFill>
                  <a:srgbClr val="0B2E2C"/>
                </a:solidFill>
                <a:latin typeface="Arial" pitchFamily="34" charset="0"/>
                <a:ea typeface="Arial" pitchFamily="34" charset="-122"/>
                <a:cs typeface="Arial" pitchFamily="34" charset="-120"/>
              </a:rPr>
              <a:t>toda</a:t>
            </a:r>
            <a:r>
              <a:rPr lang="en-US" sz="2000" b="1">
                <a:solidFill>
                  <a:srgbClr val="0B2E2C"/>
                </a:solidFill>
                <a:latin typeface="Arial" pitchFamily="34" charset="0"/>
                <a:ea typeface="Arial" pitchFamily="34" charset="-122"/>
                <a:cs typeface="Arial" pitchFamily="34" charset="-120"/>
              </a:rPr>
              <a:t> la </a:t>
            </a:r>
            <a:r>
              <a:rPr lang="en-US" sz="2000" b="1" err="1">
                <a:solidFill>
                  <a:srgbClr val="0B2E2C"/>
                </a:solidFill>
                <a:latin typeface="Arial" pitchFamily="34" charset="0"/>
                <a:ea typeface="Arial" pitchFamily="34" charset="-122"/>
                <a:cs typeface="Arial" pitchFamily="34" charset="-120"/>
              </a:rPr>
              <a:t>cartera</a:t>
            </a:r>
            <a:r>
              <a:rPr lang="en-US" sz="2000" b="1">
                <a:solidFill>
                  <a:srgbClr val="0B2E2C"/>
                </a:solidFill>
                <a:latin typeface="Arial" pitchFamily="34" charset="0"/>
                <a:ea typeface="Arial" pitchFamily="34" charset="-122"/>
                <a:cs typeface="Arial" pitchFamily="34" charset="-120"/>
              </a:rPr>
              <a:t> — hay </a:t>
            </a:r>
            <a:r>
              <a:rPr lang="en-US" sz="2000" b="1" err="1">
                <a:solidFill>
                  <a:srgbClr val="0B2E2C"/>
                </a:solidFill>
                <a:latin typeface="Arial" pitchFamily="34" charset="0"/>
                <a:ea typeface="Arial" pitchFamily="34" charset="-122"/>
                <a:cs typeface="Arial" pitchFamily="34" charset="-120"/>
              </a:rPr>
              <a:t>espacio</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subir</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tasa</a:t>
            </a:r>
            <a:endParaRPr lang="en-US" sz="2000"/>
          </a:p>
        </p:txBody>
      </p:sp>
      <p:pic>
        <p:nvPicPr>
          <p:cNvPr id="5" name="Picture 4" descr="logo_dark.png">
            <a:extLst>
              <a:ext uri="{FF2B5EF4-FFF2-40B4-BE49-F238E27FC236}">
                <a16:creationId xmlns:a16="http://schemas.microsoft.com/office/drawing/2014/main" id="{FBC87FB4-18F4-62A0-3667-15CBD548417F}"/>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582AABF6-4FD9-DE5B-E058-93FD35C8E2C3}"/>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731E1D6D-CB53-6F57-C087-72A09A26414E}"/>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7" name="Shape 3">
            <a:extLst>
              <a:ext uri="{FF2B5EF4-FFF2-40B4-BE49-F238E27FC236}">
                <a16:creationId xmlns:a16="http://schemas.microsoft.com/office/drawing/2014/main" id="{7427C308-90A8-C851-5C8D-4492B0B1CFD5}"/>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1" name="Text 4">
            <a:extLst>
              <a:ext uri="{FF2B5EF4-FFF2-40B4-BE49-F238E27FC236}">
                <a16:creationId xmlns:a16="http://schemas.microsoft.com/office/drawing/2014/main" id="{23813339-7193-E1FB-9089-36EEB7036E2D}"/>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Emprendedor Izipay</a:t>
            </a:r>
            <a:endParaRPr lang="en-US" sz="850"/>
          </a:p>
        </p:txBody>
      </p:sp>
      <p:sp>
        <p:nvSpPr>
          <p:cNvPr id="16" name="Shape 5">
            <a:extLst>
              <a:ext uri="{FF2B5EF4-FFF2-40B4-BE49-F238E27FC236}">
                <a16:creationId xmlns:a16="http://schemas.microsoft.com/office/drawing/2014/main" id="{898C4FEF-9505-D6D7-E90C-D60A544FDB66}"/>
              </a:ext>
            </a:extLst>
          </p:cNvPr>
          <p:cNvSpPr/>
          <p:nvPr/>
        </p:nvSpPr>
        <p:spPr>
          <a:xfrm>
            <a:off x="658368"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19" name="Chart 0">
            <a:extLst>
              <a:ext uri="{FF2B5EF4-FFF2-40B4-BE49-F238E27FC236}">
                <a16:creationId xmlns:a16="http://schemas.microsoft.com/office/drawing/2014/main" id="{6B98D767-1E92-586D-9AAB-4638330B7FF5}"/>
              </a:ext>
            </a:extLst>
          </p:cNvPr>
          <p:cNvGraphicFramePr/>
          <p:nvPr/>
        </p:nvGraphicFramePr>
        <p:xfrm>
          <a:off x="713232" y="1755648"/>
          <a:ext cx="4760062" cy="4142232"/>
        </p:xfrm>
        <a:graphic>
          <a:graphicData uri="http://schemas.openxmlformats.org/drawingml/2006/chart">
            <c:chart xmlns:c="http://schemas.openxmlformats.org/drawingml/2006/chart" xmlns:r="http://schemas.openxmlformats.org/officeDocument/2006/relationships" r:id="rId5"/>
          </a:graphicData>
        </a:graphic>
      </p:graphicFrame>
      <p:sp>
        <p:nvSpPr>
          <p:cNvPr id="22" name="Shape 6">
            <a:extLst>
              <a:ext uri="{FF2B5EF4-FFF2-40B4-BE49-F238E27FC236}">
                <a16:creationId xmlns:a16="http://schemas.microsoft.com/office/drawing/2014/main" id="{05782CB1-34C8-1651-2438-1788B80B94A0}"/>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5" name="Text 7">
            <a:extLst>
              <a:ext uri="{FF2B5EF4-FFF2-40B4-BE49-F238E27FC236}">
                <a16:creationId xmlns:a16="http://schemas.microsoft.com/office/drawing/2014/main" id="{5A035D15-0931-CF50-16F1-B9D62C437618}"/>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Nuevo en Expansión</a:t>
            </a:r>
            <a:endParaRPr lang="en-US" sz="850"/>
          </a:p>
        </p:txBody>
      </p:sp>
      <p:sp>
        <p:nvSpPr>
          <p:cNvPr id="28" name="Shape 8">
            <a:extLst>
              <a:ext uri="{FF2B5EF4-FFF2-40B4-BE49-F238E27FC236}">
                <a16:creationId xmlns:a16="http://schemas.microsoft.com/office/drawing/2014/main" id="{A0CB30E2-AAD4-0871-CB87-89465CA6AFC2}"/>
              </a:ext>
            </a:extLst>
          </p:cNvPr>
          <p:cNvSpPr/>
          <p:nvPr/>
        </p:nvSpPr>
        <p:spPr>
          <a:xfrm>
            <a:off x="5692750"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30" name="Chart 1">
            <a:extLst>
              <a:ext uri="{FF2B5EF4-FFF2-40B4-BE49-F238E27FC236}">
                <a16:creationId xmlns:a16="http://schemas.microsoft.com/office/drawing/2014/main" id="{FF100F34-38EF-A1F7-BB10-722563BCF050}"/>
              </a:ext>
            </a:extLst>
          </p:cNvPr>
          <p:cNvGraphicFramePr/>
          <p:nvPr/>
        </p:nvGraphicFramePr>
        <p:xfrm>
          <a:off x="5747614" y="1755648"/>
          <a:ext cx="4760062" cy="4142232"/>
        </p:xfrm>
        <a:graphic>
          <a:graphicData uri="http://schemas.openxmlformats.org/drawingml/2006/chart">
            <c:chart xmlns:c="http://schemas.openxmlformats.org/drawingml/2006/chart" xmlns:r="http://schemas.openxmlformats.org/officeDocument/2006/relationships" r:id="rId6"/>
          </a:graphicData>
        </a:graphic>
      </p:graphicFrame>
      <p:sp>
        <p:nvSpPr>
          <p:cNvPr id="33" name="Shape 9">
            <a:extLst>
              <a:ext uri="{FF2B5EF4-FFF2-40B4-BE49-F238E27FC236}">
                <a16:creationId xmlns:a16="http://schemas.microsoft.com/office/drawing/2014/main" id="{F30747E8-DB3F-6B4C-4D63-F9DE8827FC39}"/>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6" name="Text 10">
            <a:extLst>
              <a:ext uri="{FF2B5EF4-FFF2-40B4-BE49-F238E27FC236}">
                <a16:creationId xmlns:a16="http://schemas.microsoft.com/office/drawing/2014/main" id="{6FCD4CB4-715E-32ED-CBB8-E07EEBF5F992}"/>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Próximo Recurrente</a:t>
            </a:r>
            <a:endParaRPr lang="en-US" sz="850"/>
          </a:p>
        </p:txBody>
      </p:sp>
      <p:sp>
        <p:nvSpPr>
          <p:cNvPr id="39" name="Shape 11">
            <a:extLst>
              <a:ext uri="{FF2B5EF4-FFF2-40B4-BE49-F238E27FC236}">
                <a16:creationId xmlns:a16="http://schemas.microsoft.com/office/drawing/2014/main" id="{34F4B6E4-3B15-CE52-BA34-D0C8010315ED}"/>
              </a:ext>
            </a:extLst>
          </p:cNvPr>
          <p:cNvSpPr/>
          <p:nvPr/>
        </p:nvSpPr>
        <p:spPr>
          <a:xfrm>
            <a:off x="10727131"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42" name="Chart 2">
            <a:extLst>
              <a:ext uri="{FF2B5EF4-FFF2-40B4-BE49-F238E27FC236}">
                <a16:creationId xmlns:a16="http://schemas.microsoft.com/office/drawing/2014/main" id="{951AB560-C17A-D64B-8B6E-02E35BA5142B}"/>
              </a:ext>
            </a:extLst>
          </p:cNvPr>
          <p:cNvGraphicFramePr/>
          <p:nvPr/>
        </p:nvGraphicFramePr>
        <p:xfrm>
          <a:off x="10781995" y="1755648"/>
          <a:ext cx="4760062" cy="4142232"/>
        </p:xfrm>
        <a:graphic>
          <a:graphicData uri="http://schemas.openxmlformats.org/drawingml/2006/chart">
            <c:chart xmlns:c="http://schemas.openxmlformats.org/drawingml/2006/chart" xmlns:r="http://schemas.openxmlformats.org/officeDocument/2006/relationships" r:id="rId7"/>
          </a:graphicData>
        </a:graphic>
      </p:graphicFrame>
      <p:sp>
        <p:nvSpPr>
          <p:cNvPr id="45" name="Shape 12">
            <a:extLst>
              <a:ext uri="{FF2B5EF4-FFF2-40B4-BE49-F238E27FC236}">
                <a16:creationId xmlns:a16="http://schemas.microsoft.com/office/drawing/2014/main" id="{686FBE11-C65F-1C88-0479-67316F5F79A5}"/>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48" name="Text 13">
            <a:extLst>
              <a:ext uri="{FF2B5EF4-FFF2-40B4-BE49-F238E27FC236}">
                <a16:creationId xmlns:a16="http://schemas.microsoft.com/office/drawing/2014/main" id="{BB3818CE-4243-3F94-4A34-52EEEFA4DADC}"/>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51" name="Shape 14">
            <a:extLst>
              <a:ext uri="{FF2B5EF4-FFF2-40B4-BE49-F238E27FC236}">
                <a16:creationId xmlns:a16="http://schemas.microsoft.com/office/drawing/2014/main" id="{5357C452-2150-07BA-5608-DB72DB492428}"/>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54" name="Text 15">
            <a:extLst>
              <a:ext uri="{FF2B5EF4-FFF2-40B4-BE49-F238E27FC236}">
                <a16:creationId xmlns:a16="http://schemas.microsoft.com/office/drawing/2014/main" id="{C189F49E-7593-FD4E-7D06-F8697B391FA5}"/>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56" name="Shape 16">
            <a:extLst>
              <a:ext uri="{FF2B5EF4-FFF2-40B4-BE49-F238E27FC236}">
                <a16:creationId xmlns:a16="http://schemas.microsoft.com/office/drawing/2014/main" id="{DB1537CD-9B43-27E9-9477-C844E4C74972}"/>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59" name="Text 17">
            <a:extLst>
              <a:ext uri="{FF2B5EF4-FFF2-40B4-BE49-F238E27FC236}">
                <a16:creationId xmlns:a16="http://schemas.microsoft.com/office/drawing/2014/main" id="{B1319B9E-C492-B89F-992F-4CA3FAD392C8}"/>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62" name="Shape 18">
            <a:extLst>
              <a:ext uri="{FF2B5EF4-FFF2-40B4-BE49-F238E27FC236}">
                <a16:creationId xmlns:a16="http://schemas.microsoft.com/office/drawing/2014/main" id="{BCD576FF-A45C-5BA7-CFD9-C9A0D277B1A4}"/>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64" name="Text 19">
            <a:extLst>
              <a:ext uri="{FF2B5EF4-FFF2-40B4-BE49-F238E27FC236}">
                <a16:creationId xmlns:a16="http://schemas.microsoft.com/office/drawing/2014/main" id="{98197BE3-C362-367D-53A6-579478850A38}"/>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67" name="Shape 20">
            <a:extLst>
              <a:ext uri="{FF2B5EF4-FFF2-40B4-BE49-F238E27FC236}">
                <a16:creationId xmlns:a16="http://schemas.microsoft.com/office/drawing/2014/main" id="{987627E0-59B8-4A63-B8BC-0740C72BA576}"/>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70" name="Text 21">
            <a:extLst>
              <a:ext uri="{FF2B5EF4-FFF2-40B4-BE49-F238E27FC236}">
                <a16:creationId xmlns:a16="http://schemas.microsoft.com/office/drawing/2014/main" id="{5FAF56F8-9067-36C6-328E-1C177F974E3B}"/>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72" name="Shape 22">
            <a:extLst>
              <a:ext uri="{FF2B5EF4-FFF2-40B4-BE49-F238E27FC236}">
                <a16:creationId xmlns:a16="http://schemas.microsoft.com/office/drawing/2014/main" id="{83DB0055-1FB2-F5CD-2504-A618BBDD8278}"/>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75" name="Text 23">
            <a:extLst>
              <a:ext uri="{FF2B5EF4-FFF2-40B4-BE49-F238E27FC236}">
                <a16:creationId xmlns:a16="http://schemas.microsoft.com/office/drawing/2014/main" id="{5CB09E85-208F-2AF0-51E4-B37820A0024C}"/>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78" name="Shape 24">
            <a:extLst>
              <a:ext uri="{FF2B5EF4-FFF2-40B4-BE49-F238E27FC236}">
                <a16:creationId xmlns:a16="http://schemas.microsoft.com/office/drawing/2014/main" id="{2B243BB2-6198-4B69-4380-1E19115ADFB4}"/>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80" name="Text 25">
            <a:extLst>
              <a:ext uri="{FF2B5EF4-FFF2-40B4-BE49-F238E27FC236}">
                <a16:creationId xmlns:a16="http://schemas.microsoft.com/office/drawing/2014/main" id="{DFF0DD29-CB32-A818-1125-AD087EEF5A96}"/>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83" name="Text 26">
            <a:extLst>
              <a:ext uri="{FF2B5EF4-FFF2-40B4-BE49-F238E27FC236}">
                <a16:creationId xmlns:a16="http://schemas.microsoft.com/office/drawing/2014/main" id="{62E317C5-2498-344C-1755-4FD0E503C365}"/>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3 clusters mantienen share alto (66%-95%) con la TEA ofertada más alta de toda la cartera (22.6%-26.9% vs. ~20-23% en con deuda) — sin competencia visible, el cliente no está comparando precio.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Emprendedor Izipay y Próximo Recurrente son los candidatos más claros para testear un alza selectiva de tasa: son los más estables y ya sostienen el share con la TEA más alta sin señales de fuga.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Nuevo en Expansión es el más volátil (-22pp en un solo trimestre) — antes de subir tasa ahí, entender esa caída puntual; podría ser menos cautivo de lo que parece en el </a:t>
            </a:r>
            <a:r>
              <a:rPr lang="en-US" sz="1000" err="1">
                <a:solidFill>
                  <a:srgbClr val="0B2E2C"/>
                </a:solidFill>
                <a:latin typeface="Arial" pitchFamily="34" charset="0"/>
                <a:ea typeface="Arial" pitchFamily="34" charset="-122"/>
                <a:cs typeface="Arial" pitchFamily="34" charset="-120"/>
              </a:rPr>
              <a:t>agregado</a:t>
            </a:r>
            <a:r>
              <a:rPr lang="en-US" sz="1000">
                <a:solidFill>
                  <a:srgbClr val="0B2E2C"/>
                </a:solidFill>
                <a:latin typeface="Arial" pitchFamily="34" charset="0"/>
                <a:ea typeface="Arial" pitchFamily="34" charset="-122"/>
                <a:cs typeface="Arial" pitchFamily="34" charset="-120"/>
              </a:rPr>
              <a:t>.</a:t>
            </a:r>
            <a:endParaRPr lang="en-US" sz="1000"/>
          </a:p>
        </p:txBody>
      </p:sp>
    </p:spTree>
    <p:extLst>
      <p:ext uri="{BB962C8B-B14F-4D97-AF65-F5344CB8AC3E}">
        <p14:creationId xmlns:p14="http://schemas.microsoft.com/office/powerpoint/2010/main" val="6653272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B3A407-C26E-5F28-EAE0-209FCFDB3E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A77317-CD91-8E25-F01A-AC51282B7E16}"/>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SIN DEUDA · MONTO (S/)</a:t>
            </a:r>
            <a:endParaRPr lang="en-US" sz="950"/>
          </a:p>
        </p:txBody>
      </p:sp>
      <p:sp>
        <p:nvSpPr>
          <p:cNvPr id="3" name="TextBox 2">
            <a:extLst>
              <a:ext uri="{FF2B5EF4-FFF2-40B4-BE49-F238E27FC236}">
                <a16:creationId xmlns:a16="http://schemas.microsoft.com/office/drawing/2014/main" id="{D3B36A9A-B44F-C959-218C-6217403D23EE}"/>
              </a:ext>
            </a:extLst>
          </p:cNvPr>
          <p:cNvSpPr txBox="1"/>
          <p:nvPr/>
        </p:nvSpPr>
        <p:spPr>
          <a:xfrm>
            <a:off x="658368" y="566928"/>
            <a:ext cx="13750564" cy="603242"/>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En </a:t>
            </a:r>
            <a:r>
              <a:rPr lang="en-US" sz="2000" b="1" err="1">
                <a:solidFill>
                  <a:srgbClr val="0B2E2C"/>
                </a:solidFill>
                <a:latin typeface="Arial" pitchFamily="34" charset="0"/>
                <a:ea typeface="Arial" pitchFamily="34" charset="-122"/>
                <a:cs typeface="Arial" pitchFamily="34" charset="-120"/>
              </a:rPr>
              <a:t>monto</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Próximo</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Recurrente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crece</a:t>
            </a:r>
            <a:r>
              <a:rPr lang="en-US" sz="2000" b="1">
                <a:solidFill>
                  <a:srgbClr val="0B2E2C"/>
                </a:solidFill>
                <a:latin typeface="Arial" pitchFamily="34" charset="0"/>
                <a:ea typeface="Arial" pitchFamily="34" charset="-122"/>
                <a:cs typeface="Arial" pitchFamily="34" charset="-120"/>
              </a:rPr>
              <a:t> con la TEA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alta</a:t>
            </a:r>
            <a:r>
              <a:rPr lang="en-US" sz="2000" b="1">
                <a:solidFill>
                  <a:srgbClr val="0B2E2C"/>
                </a:solidFill>
                <a:latin typeface="Arial" pitchFamily="34" charset="0"/>
                <a:ea typeface="Arial" pitchFamily="34" charset="-122"/>
                <a:cs typeface="Arial" pitchFamily="34" charset="-120"/>
              </a:rPr>
              <a:t> de la </a:t>
            </a:r>
            <a:r>
              <a:rPr lang="en-US" sz="2000" b="1" err="1">
                <a:solidFill>
                  <a:srgbClr val="0B2E2C"/>
                </a:solidFill>
                <a:latin typeface="Arial" pitchFamily="34" charset="0"/>
                <a:ea typeface="Arial" pitchFamily="34" charset="-122"/>
                <a:cs typeface="Arial" pitchFamily="34" charset="-120"/>
              </a:rPr>
              <a:t>cartera</a:t>
            </a:r>
            <a:r>
              <a:rPr lang="en-US" sz="2000" b="1">
                <a:solidFill>
                  <a:srgbClr val="0B2E2C"/>
                </a:solidFill>
                <a:latin typeface="Arial" pitchFamily="34" charset="0"/>
                <a:ea typeface="Arial" pitchFamily="34" charset="-122"/>
                <a:cs typeface="Arial" pitchFamily="34" charset="-120"/>
              </a:rPr>
              <a:t> — el </a:t>
            </a:r>
            <a:r>
              <a:rPr lang="en-US" sz="2000" b="1" err="1">
                <a:solidFill>
                  <a:srgbClr val="0B2E2C"/>
                </a:solidFill>
                <a:latin typeface="Arial" pitchFamily="34" charset="0"/>
                <a:ea typeface="Arial" pitchFamily="34" charset="-122"/>
                <a:cs typeface="Arial" pitchFamily="34" charset="-120"/>
              </a:rPr>
              <a:t>caso</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claro para </a:t>
            </a:r>
            <a:r>
              <a:rPr lang="en-US" sz="2000" b="1" err="1">
                <a:solidFill>
                  <a:srgbClr val="0B2E2C"/>
                </a:solidFill>
                <a:latin typeface="Arial" pitchFamily="34" charset="0"/>
                <a:ea typeface="Arial" pitchFamily="34" charset="-122"/>
                <a:cs typeface="Arial" pitchFamily="34" charset="-120"/>
              </a:rPr>
              <a:t>testear</a:t>
            </a:r>
            <a:r>
              <a:rPr lang="en-US" sz="2000" b="1">
                <a:solidFill>
                  <a:srgbClr val="0B2E2C"/>
                </a:solidFill>
                <a:latin typeface="Arial" pitchFamily="34" charset="0"/>
                <a:ea typeface="Arial" pitchFamily="34" charset="-122"/>
                <a:cs typeface="Arial" pitchFamily="34" charset="-120"/>
              </a:rPr>
              <a:t> un </a:t>
            </a:r>
            <a:r>
              <a:rPr lang="en-US" sz="2000" b="1" err="1">
                <a:solidFill>
                  <a:srgbClr val="0B2E2C"/>
                </a:solidFill>
                <a:latin typeface="Arial" pitchFamily="34" charset="0"/>
                <a:ea typeface="Arial" pitchFamily="34" charset="-122"/>
                <a:cs typeface="Arial" pitchFamily="34" charset="-120"/>
              </a:rPr>
              <a:t>alza</a:t>
            </a:r>
            <a:r>
              <a:rPr lang="en-US" sz="2000" b="1">
                <a:solidFill>
                  <a:srgbClr val="0B2E2C"/>
                </a:solidFill>
                <a:latin typeface="Arial" pitchFamily="34" charset="0"/>
                <a:ea typeface="Arial" pitchFamily="34" charset="-122"/>
                <a:cs typeface="Arial" pitchFamily="34" charset="-120"/>
              </a:rPr>
              <a:t> de </a:t>
            </a:r>
            <a:r>
              <a:rPr lang="en-US" sz="2000" b="1" err="1">
                <a:solidFill>
                  <a:srgbClr val="0B2E2C"/>
                </a:solidFill>
                <a:latin typeface="Arial" pitchFamily="34" charset="0"/>
                <a:ea typeface="Arial" pitchFamily="34" charset="-122"/>
                <a:cs typeface="Arial" pitchFamily="34" charset="-120"/>
              </a:rPr>
              <a:t>tasa</a:t>
            </a:r>
            <a:endParaRPr lang="en-US" sz="2000"/>
          </a:p>
        </p:txBody>
      </p:sp>
      <p:pic>
        <p:nvPicPr>
          <p:cNvPr id="5" name="Picture 4" descr="logo_dark.png">
            <a:extLst>
              <a:ext uri="{FF2B5EF4-FFF2-40B4-BE49-F238E27FC236}">
                <a16:creationId xmlns:a16="http://schemas.microsoft.com/office/drawing/2014/main" id="{65337827-2AFA-9F04-AA1A-8F466D47E76F}"/>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D0DB3486-5FC5-27F1-CA9B-83C2782F48F7}"/>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05AC4209-ADE2-F895-626E-01C15DEB497F}"/>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8" name="Shape 3">
            <a:extLst>
              <a:ext uri="{FF2B5EF4-FFF2-40B4-BE49-F238E27FC236}">
                <a16:creationId xmlns:a16="http://schemas.microsoft.com/office/drawing/2014/main" id="{3A1E1784-DC07-017D-5480-C28A9E3FA71E}"/>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0" name="Text 4">
            <a:extLst>
              <a:ext uri="{FF2B5EF4-FFF2-40B4-BE49-F238E27FC236}">
                <a16:creationId xmlns:a16="http://schemas.microsoft.com/office/drawing/2014/main" id="{20578E66-7179-60A7-1FC0-CE60E9FB804F}"/>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Emprendedor Izipay</a:t>
            </a:r>
            <a:endParaRPr lang="en-US" sz="850"/>
          </a:p>
        </p:txBody>
      </p:sp>
      <p:sp>
        <p:nvSpPr>
          <p:cNvPr id="14" name="Shape 5">
            <a:extLst>
              <a:ext uri="{FF2B5EF4-FFF2-40B4-BE49-F238E27FC236}">
                <a16:creationId xmlns:a16="http://schemas.microsoft.com/office/drawing/2014/main" id="{E4EA3DF5-FEEF-EFD7-443F-2967A45A6BA6}"/>
              </a:ext>
            </a:extLst>
          </p:cNvPr>
          <p:cNvSpPr/>
          <p:nvPr/>
        </p:nvSpPr>
        <p:spPr>
          <a:xfrm>
            <a:off x="658368"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17" name="Chart 0">
            <a:extLst>
              <a:ext uri="{FF2B5EF4-FFF2-40B4-BE49-F238E27FC236}">
                <a16:creationId xmlns:a16="http://schemas.microsoft.com/office/drawing/2014/main" id="{801D4BE7-B872-13DD-F6CE-F1C3A07677D7}"/>
              </a:ext>
            </a:extLst>
          </p:cNvPr>
          <p:cNvGraphicFramePr/>
          <p:nvPr/>
        </p:nvGraphicFramePr>
        <p:xfrm>
          <a:off x="713232" y="1755648"/>
          <a:ext cx="4760062" cy="4142232"/>
        </p:xfrm>
        <a:graphic>
          <a:graphicData uri="http://schemas.openxmlformats.org/drawingml/2006/chart">
            <c:chart xmlns:c="http://schemas.openxmlformats.org/drawingml/2006/chart" xmlns:r="http://schemas.openxmlformats.org/officeDocument/2006/relationships" r:id="rId5"/>
          </a:graphicData>
        </a:graphic>
      </p:graphicFrame>
      <p:sp>
        <p:nvSpPr>
          <p:cNvPr id="20" name="Shape 6">
            <a:extLst>
              <a:ext uri="{FF2B5EF4-FFF2-40B4-BE49-F238E27FC236}">
                <a16:creationId xmlns:a16="http://schemas.microsoft.com/office/drawing/2014/main" id="{925F27DA-530C-A4C9-EDBD-AA6980A1D97C}"/>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3" name="Text 7">
            <a:extLst>
              <a:ext uri="{FF2B5EF4-FFF2-40B4-BE49-F238E27FC236}">
                <a16:creationId xmlns:a16="http://schemas.microsoft.com/office/drawing/2014/main" id="{6E5D2B61-EE11-F476-3E00-3EAF884149EC}"/>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Nuevo en Expansión</a:t>
            </a:r>
            <a:endParaRPr lang="en-US" sz="850"/>
          </a:p>
        </p:txBody>
      </p:sp>
      <p:sp>
        <p:nvSpPr>
          <p:cNvPr id="26" name="Shape 8">
            <a:extLst>
              <a:ext uri="{FF2B5EF4-FFF2-40B4-BE49-F238E27FC236}">
                <a16:creationId xmlns:a16="http://schemas.microsoft.com/office/drawing/2014/main" id="{70D85091-6D27-85F4-3CAC-F7E9BC8F82CE}"/>
              </a:ext>
            </a:extLst>
          </p:cNvPr>
          <p:cNvSpPr/>
          <p:nvPr/>
        </p:nvSpPr>
        <p:spPr>
          <a:xfrm>
            <a:off x="5692750"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29" name="Chart 1">
            <a:extLst>
              <a:ext uri="{FF2B5EF4-FFF2-40B4-BE49-F238E27FC236}">
                <a16:creationId xmlns:a16="http://schemas.microsoft.com/office/drawing/2014/main" id="{C1F79351-020A-E94F-6B90-C4854955DAD2}"/>
              </a:ext>
            </a:extLst>
          </p:cNvPr>
          <p:cNvGraphicFramePr/>
          <p:nvPr/>
        </p:nvGraphicFramePr>
        <p:xfrm>
          <a:off x="5747614" y="1755648"/>
          <a:ext cx="4760062" cy="4142232"/>
        </p:xfrm>
        <a:graphic>
          <a:graphicData uri="http://schemas.openxmlformats.org/drawingml/2006/chart">
            <c:chart xmlns:c="http://schemas.openxmlformats.org/drawingml/2006/chart" xmlns:r="http://schemas.openxmlformats.org/officeDocument/2006/relationships" r:id="rId6"/>
          </a:graphicData>
        </a:graphic>
      </p:graphicFrame>
      <p:sp>
        <p:nvSpPr>
          <p:cNvPr id="32" name="Shape 9">
            <a:extLst>
              <a:ext uri="{FF2B5EF4-FFF2-40B4-BE49-F238E27FC236}">
                <a16:creationId xmlns:a16="http://schemas.microsoft.com/office/drawing/2014/main" id="{10C31F7E-9968-28C5-A7E8-EB1AC90DF99F}"/>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5" name="Text 10">
            <a:extLst>
              <a:ext uri="{FF2B5EF4-FFF2-40B4-BE49-F238E27FC236}">
                <a16:creationId xmlns:a16="http://schemas.microsoft.com/office/drawing/2014/main" id="{6C623063-5165-6FD2-0724-81233E93313C}"/>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Próximo Recurrente</a:t>
            </a:r>
            <a:endParaRPr lang="en-US" sz="850"/>
          </a:p>
        </p:txBody>
      </p:sp>
      <p:sp>
        <p:nvSpPr>
          <p:cNvPr id="38" name="Shape 11">
            <a:extLst>
              <a:ext uri="{FF2B5EF4-FFF2-40B4-BE49-F238E27FC236}">
                <a16:creationId xmlns:a16="http://schemas.microsoft.com/office/drawing/2014/main" id="{A276F629-0893-FB04-824A-799ACAE70EDD}"/>
              </a:ext>
            </a:extLst>
          </p:cNvPr>
          <p:cNvSpPr/>
          <p:nvPr/>
        </p:nvSpPr>
        <p:spPr>
          <a:xfrm>
            <a:off x="10727131"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41" name="Chart 2">
            <a:extLst>
              <a:ext uri="{FF2B5EF4-FFF2-40B4-BE49-F238E27FC236}">
                <a16:creationId xmlns:a16="http://schemas.microsoft.com/office/drawing/2014/main" id="{8E380CCA-50FD-E388-C8AF-D267928924D1}"/>
              </a:ext>
            </a:extLst>
          </p:cNvPr>
          <p:cNvGraphicFramePr/>
          <p:nvPr/>
        </p:nvGraphicFramePr>
        <p:xfrm>
          <a:off x="10781995" y="1755648"/>
          <a:ext cx="4760062" cy="4142232"/>
        </p:xfrm>
        <a:graphic>
          <a:graphicData uri="http://schemas.openxmlformats.org/drawingml/2006/chart">
            <c:chart xmlns:c="http://schemas.openxmlformats.org/drawingml/2006/chart" xmlns:r="http://schemas.openxmlformats.org/officeDocument/2006/relationships" r:id="rId7"/>
          </a:graphicData>
        </a:graphic>
      </p:graphicFrame>
      <p:sp>
        <p:nvSpPr>
          <p:cNvPr id="44" name="Shape 12">
            <a:extLst>
              <a:ext uri="{FF2B5EF4-FFF2-40B4-BE49-F238E27FC236}">
                <a16:creationId xmlns:a16="http://schemas.microsoft.com/office/drawing/2014/main" id="{60C59B4D-3B8B-5CA5-3CF2-17E06B8BCAEC}"/>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47" name="Text 13">
            <a:extLst>
              <a:ext uri="{FF2B5EF4-FFF2-40B4-BE49-F238E27FC236}">
                <a16:creationId xmlns:a16="http://schemas.microsoft.com/office/drawing/2014/main" id="{D2CAD064-EAD3-8F13-57B7-48CB92E99F05}"/>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50" name="Shape 14">
            <a:extLst>
              <a:ext uri="{FF2B5EF4-FFF2-40B4-BE49-F238E27FC236}">
                <a16:creationId xmlns:a16="http://schemas.microsoft.com/office/drawing/2014/main" id="{47C0CCB6-DCAB-2736-887C-A7049BF083AF}"/>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53" name="Text 15">
            <a:extLst>
              <a:ext uri="{FF2B5EF4-FFF2-40B4-BE49-F238E27FC236}">
                <a16:creationId xmlns:a16="http://schemas.microsoft.com/office/drawing/2014/main" id="{B953609C-8AAA-0250-30E9-ACC24BA7FC14}"/>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57" name="Shape 16">
            <a:extLst>
              <a:ext uri="{FF2B5EF4-FFF2-40B4-BE49-F238E27FC236}">
                <a16:creationId xmlns:a16="http://schemas.microsoft.com/office/drawing/2014/main" id="{A6148B62-B331-4B61-BE2F-D7E921BCF3F3}"/>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60" name="Text 17">
            <a:extLst>
              <a:ext uri="{FF2B5EF4-FFF2-40B4-BE49-F238E27FC236}">
                <a16:creationId xmlns:a16="http://schemas.microsoft.com/office/drawing/2014/main" id="{D0733779-8E38-6EB8-5B33-FCF3E8D50FC2}"/>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63" name="Shape 18">
            <a:extLst>
              <a:ext uri="{FF2B5EF4-FFF2-40B4-BE49-F238E27FC236}">
                <a16:creationId xmlns:a16="http://schemas.microsoft.com/office/drawing/2014/main" id="{F689ED45-2DAC-2561-A3D7-693F526F5DFD}"/>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66" name="Text 19">
            <a:extLst>
              <a:ext uri="{FF2B5EF4-FFF2-40B4-BE49-F238E27FC236}">
                <a16:creationId xmlns:a16="http://schemas.microsoft.com/office/drawing/2014/main" id="{EBB91AD1-2310-7B22-120E-B82A46D3E4B8}"/>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69" name="Shape 20">
            <a:extLst>
              <a:ext uri="{FF2B5EF4-FFF2-40B4-BE49-F238E27FC236}">
                <a16:creationId xmlns:a16="http://schemas.microsoft.com/office/drawing/2014/main" id="{0317C6C1-49A8-DE75-DA43-F8FD6E0F8103}"/>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73" name="Text 21">
            <a:extLst>
              <a:ext uri="{FF2B5EF4-FFF2-40B4-BE49-F238E27FC236}">
                <a16:creationId xmlns:a16="http://schemas.microsoft.com/office/drawing/2014/main" id="{0524D82F-7A8A-7F56-9FE3-52D47BDDCA6B}"/>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76" name="Shape 22">
            <a:extLst>
              <a:ext uri="{FF2B5EF4-FFF2-40B4-BE49-F238E27FC236}">
                <a16:creationId xmlns:a16="http://schemas.microsoft.com/office/drawing/2014/main" id="{995AEBE6-A8EA-9AEE-6C78-D0B7E7227676}"/>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79" name="Text 23">
            <a:extLst>
              <a:ext uri="{FF2B5EF4-FFF2-40B4-BE49-F238E27FC236}">
                <a16:creationId xmlns:a16="http://schemas.microsoft.com/office/drawing/2014/main" id="{F80915C3-202F-0B0A-B5DF-6119385B6A9F}"/>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82" name="Shape 24">
            <a:extLst>
              <a:ext uri="{FF2B5EF4-FFF2-40B4-BE49-F238E27FC236}">
                <a16:creationId xmlns:a16="http://schemas.microsoft.com/office/drawing/2014/main" id="{1ED1ACFA-7BB6-3F56-BD11-F3FF62F8A66C}"/>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85" name="Text 25">
            <a:extLst>
              <a:ext uri="{FF2B5EF4-FFF2-40B4-BE49-F238E27FC236}">
                <a16:creationId xmlns:a16="http://schemas.microsoft.com/office/drawing/2014/main" id="{67B969D4-3E8D-DB68-E608-71B59435D120}"/>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87" name="Text 26">
            <a:extLst>
              <a:ext uri="{FF2B5EF4-FFF2-40B4-BE49-F238E27FC236}">
                <a16:creationId xmlns:a16="http://schemas.microsoft.com/office/drawing/2014/main" id="{FBF86034-3667-B82C-1677-3800046422B5}"/>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3 clusters cierran iguales o por encima de donde empezaron (Próximo Recurrente +11pp) con la TEA ofertada más alta de toda la cartera — el margen ya es alto y el share no muestra señales de fuga.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Próximo Recurrente es el caso más claro para un piloto de alza de tasa: crece en share y monto a la vez, con la TEA más alta del grupo — sugiere que todavía hay margen sin tocar el volumen.</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tres muestran una caída fuerte a mitad de periodo (2025Q4) seguida de recuperación — antes de subir tasa, confirmar que esa caída no se repite en el próximo Q4, para no mover precio justo antes de un bache </a:t>
            </a:r>
            <a:r>
              <a:rPr lang="en-US" sz="1000" err="1">
                <a:solidFill>
                  <a:srgbClr val="0B2E2C"/>
                </a:solidFill>
                <a:latin typeface="Arial" pitchFamily="34" charset="0"/>
                <a:ea typeface="Arial" pitchFamily="34" charset="-122"/>
                <a:cs typeface="Arial" pitchFamily="34" charset="-120"/>
              </a:rPr>
              <a:t>estacional</a:t>
            </a:r>
            <a:r>
              <a:rPr lang="en-US" sz="1000">
                <a:solidFill>
                  <a:srgbClr val="0B2E2C"/>
                </a:solidFill>
                <a:latin typeface="Arial" pitchFamily="34" charset="0"/>
                <a:ea typeface="Arial" pitchFamily="34" charset="-122"/>
                <a:cs typeface="Arial" pitchFamily="34" charset="-120"/>
              </a:rPr>
              <a:t>.</a:t>
            </a:r>
            <a:endParaRPr lang="en-US" sz="1000"/>
          </a:p>
        </p:txBody>
      </p:sp>
    </p:spTree>
    <p:extLst>
      <p:ext uri="{BB962C8B-B14F-4D97-AF65-F5344CB8AC3E}">
        <p14:creationId xmlns:p14="http://schemas.microsoft.com/office/powerpoint/2010/main" val="360928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506DB5-5BFD-8AE8-8379-8BBAEA43DC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C9AF2C-0A0B-C966-B773-84A072EE9086}"/>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MARCO METODOLÓGICO</a:t>
            </a:r>
            <a:endParaRPr lang="en-US" sz="950"/>
          </a:p>
        </p:txBody>
      </p:sp>
      <p:sp>
        <p:nvSpPr>
          <p:cNvPr id="3" name="TextBox 2">
            <a:extLst>
              <a:ext uri="{FF2B5EF4-FFF2-40B4-BE49-F238E27FC236}">
                <a16:creationId xmlns:a16="http://schemas.microsoft.com/office/drawing/2014/main" id="{488C1AA0-F412-E821-A718-F030C1B36F28}"/>
              </a:ext>
            </a:extLst>
          </p:cNvPr>
          <p:cNvSpPr txBox="1"/>
          <p:nvPr/>
        </p:nvSpPr>
        <p:spPr>
          <a:xfrm>
            <a:off x="658368" y="566928"/>
            <a:ext cx="13750564" cy="301621"/>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Cuatro </a:t>
            </a:r>
            <a:r>
              <a:rPr lang="en-US" sz="2000" b="1" err="1">
                <a:solidFill>
                  <a:srgbClr val="0B2E2C"/>
                </a:solidFill>
                <a:latin typeface="Arial" pitchFamily="34" charset="0"/>
                <a:ea typeface="Arial" pitchFamily="34" charset="-122"/>
                <a:cs typeface="Arial" pitchFamily="34" charset="-120"/>
              </a:rPr>
              <a:t>capas</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medir</a:t>
            </a:r>
            <a:r>
              <a:rPr lang="en-US" sz="2000" b="1">
                <a:solidFill>
                  <a:srgbClr val="0B2E2C"/>
                </a:solidFill>
                <a:latin typeface="Arial" pitchFamily="34" charset="0"/>
                <a:ea typeface="Arial" pitchFamily="34" charset="-122"/>
                <a:cs typeface="Arial" pitchFamily="34" charset="-120"/>
              </a:rPr>
              <a:t> el share de forma </a:t>
            </a:r>
            <a:r>
              <a:rPr lang="en-US" sz="2000" b="1" err="1">
                <a:solidFill>
                  <a:srgbClr val="0B2E2C"/>
                </a:solidFill>
                <a:latin typeface="Arial" pitchFamily="34" charset="0"/>
                <a:ea typeface="Arial" pitchFamily="34" charset="-122"/>
                <a:cs typeface="Arial" pitchFamily="34" charset="-120"/>
              </a:rPr>
              <a:t>justa</a:t>
            </a:r>
            <a:endParaRPr lang="en-US" sz="2000"/>
          </a:p>
        </p:txBody>
      </p:sp>
      <p:pic>
        <p:nvPicPr>
          <p:cNvPr id="5" name="Picture 4" descr="logo_dark.png">
            <a:extLst>
              <a:ext uri="{FF2B5EF4-FFF2-40B4-BE49-F238E27FC236}">
                <a16:creationId xmlns:a16="http://schemas.microsoft.com/office/drawing/2014/main" id="{90B26351-1683-8D8F-7EFE-71F654385DB2}"/>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EBB64320-E084-4B49-4FFB-05D057901A1D}"/>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21818A9C-8139-33E7-8B00-86E559D1C6ED}"/>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7" name="Shape 3">
            <a:extLst>
              <a:ext uri="{FF2B5EF4-FFF2-40B4-BE49-F238E27FC236}">
                <a16:creationId xmlns:a16="http://schemas.microsoft.com/office/drawing/2014/main" id="{BAAC8F86-3B7A-4DCF-D448-FAFA177E1B86}"/>
              </a:ext>
            </a:extLst>
          </p:cNvPr>
          <p:cNvSpPr/>
          <p:nvPr/>
        </p:nvSpPr>
        <p:spPr>
          <a:xfrm>
            <a:off x="658368" y="2514600"/>
            <a:ext cx="3151708" cy="384048"/>
          </a:xfrm>
          <a:prstGeom prst="trapezoid">
            <a:avLst/>
          </a:prstGeom>
          <a:solidFill>
            <a:srgbClr val="D9EBEA"/>
          </a:solidFill>
          <a:ln/>
        </p:spPr>
        <p:txBody>
          <a:bodyPr/>
          <a:lstStyle/>
          <a:p>
            <a:endParaRPr lang="es-PE"/>
          </a:p>
        </p:txBody>
      </p:sp>
      <p:sp>
        <p:nvSpPr>
          <p:cNvPr id="11" name="Shape 4">
            <a:extLst>
              <a:ext uri="{FF2B5EF4-FFF2-40B4-BE49-F238E27FC236}">
                <a16:creationId xmlns:a16="http://schemas.microsoft.com/office/drawing/2014/main" id="{7E400FC6-235D-AD2F-4C73-CE8FAE9EB2EB}"/>
              </a:ext>
            </a:extLst>
          </p:cNvPr>
          <p:cNvSpPr/>
          <p:nvPr/>
        </p:nvSpPr>
        <p:spPr>
          <a:xfrm>
            <a:off x="4587316" y="2514600"/>
            <a:ext cx="3151708" cy="384048"/>
          </a:xfrm>
          <a:prstGeom prst="trapezoid">
            <a:avLst/>
          </a:prstGeom>
          <a:solidFill>
            <a:srgbClr val="9CCAC8"/>
          </a:solidFill>
          <a:ln/>
        </p:spPr>
        <p:txBody>
          <a:bodyPr/>
          <a:lstStyle/>
          <a:p>
            <a:endParaRPr lang="es-PE"/>
          </a:p>
        </p:txBody>
      </p:sp>
      <p:sp>
        <p:nvSpPr>
          <p:cNvPr id="16" name="Shape 5">
            <a:extLst>
              <a:ext uri="{FF2B5EF4-FFF2-40B4-BE49-F238E27FC236}">
                <a16:creationId xmlns:a16="http://schemas.microsoft.com/office/drawing/2014/main" id="{C353E8CE-11A6-8C86-08FF-E4719641A00A}"/>
              </a:ext>
            </a:extLst>
          </p:cNvPr>
          <p:cNvSpPr/>
          <p:nvPr/>
        </p:nvSpPr>
        <p:spPr>
          <a:xfrm>
            <a:off x="8516264" y="2514600"/>
            <a:ext cx="3151708" cy="384048"/>
          </a:xfrm>
          <a:prstGeom prst="trapezoid">
            <a:avLst/>
          </a:prstGeom>
          <a:solidFill>
            <a:srgbClr val="5AA6A3"/>
          </a:solidFill>
          <a:ln/>
        </p:spPr>
        <p:txBody>
          <a:bodyPr/>
          <a:lstStyle/>
          <a:p>
            <a:endParaRPr lang="es-PE"/>
          </a:p>
        </p:txBody>
      </p:sp>
      <p:sp>
        <p:nvSpPr>
          <p:cNvPr id="19" name="Shape 6">
            <a:extLst>
              <a:ext uri="{FF2B5EF4-FFF2-40B4-BE49-F238E27FC236}">
                <a16:creationId xmlns:a16="http://schemas.microsoft.com/office/drawing/2014/main" id="{05D4CA1E-1535-60AB-3A8C-A2F75B6922A0}"/>
              </a:ext>
            </a:extLst>
          </p:cNvPr>
          <p:cNvSpPr/>
          <p:nvPr/>
        </p:nvSpPr>
        <p:spPr>
          <a:xfrm>
            <a:off x="12445213" y="2514600"/>
            <a:ext cx="3151708" cy="384048"/>
          </a:xfrm>
          <a:prstGeom prst="trapezoid">
            <a:avLst/>
          </a:prstGeom>
          <a:solidFill>
            <a:srgbClr val="13807B"/>
          </a:solidFill>
          <a:ln/>
        </p:spPr>
        <p:txBody>
          <a:bodyPr/>
          <a:lstStyle/>
          <a:p>
            <a:endParaRPr lang="es-PE"/>
          </a:p>
        </p:txBody>
      </p:sp>
      <p:sp>
        <p:nvSpPr>
          <p:cNvPr id="22" name="Shape 7">
            <a:extLst>
              <a:ext uri="{FF2B5EF4-FFF2-40B4-BE49-F238E27FC236}">
                <a16:creationId xmlns:a16="http://schemas.microsoft.com/office/drawing/2014/main" id="{DF5C8F55-F4F8-0574-1228-C4DBA19899AE}"/>
              </a:ext>
            </a:extLst>
          </p:cNvPr>
          <p:cNvSpPr/>
          <p:nvPr/>
        </p:nvSpPr>
        <p:spPr>
          <a:xfrm>
            <a:off x="658368"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25" name="Shape 8">
            <a:extLst>
              <a:ext uri="{FF2B5EF4-FFF2-40B4-BE49-F238E27FC236}">
                <a16:creationId xmlns:a16="http://schemas.microsoft.com/office/drawing/2014/main" id="{514D786A-B60A-CC98-65E2-C2E6FF1CED64}"/>
              </a:ext>
            </a:extLst>
          </p:cNvPr>
          <p:cNvSpPr/>
          <p:nvPr/>
        </p:nvSpPr>
        <p:spPr>
          <a:xfrm>
            <a:off x="658368" y="3026664"/>
            <a:ext cx="3151708" cy="502920"/>
          </a:xfrm>
          <a:prstGeom prst="rect">
            <a:avLst/>
          </a:prstGeom>
          <a:solidFill>
            <a:srgbClr val="D9EBEA"/>
          </a:solidFill>
          <a:ln/>
        </p:spPr>
        <p:txBody>
          <a:bodyPr/>
          <a:lstStyle/>
          <a:p>
            <a:endParaRPr lang="es-PE"/>
          </a:p>
        </p:txBody>
      </p:sp>
      <p:sp>
        <p:nvSpPr>
          <p:cNvPr id="28" name="Text 9">
            <a:extLst>
              <a:ext uri="{FF2B5EF4-FFF2-40B4-BE49-F238E27FC236}">
                <a16:creationId xmlns:a16="http://schemas.microsoft.com/office/drawing/2014/main" id="{95DA2AF6-586B-CAC7-8D44-7AB70D2A2FC1}"/>
              </a:ext>
            </a:extLst>
          </p:cNvPr>
          <p:cNvSpPr txBox="1"/>
          <p:nvPr/>
        </p:nvSpPr>
        <p:spPr>
          <a:xfrm>
            <a:off x="822960" y="3026664"/>
            <a:ext cx="2822524" cy="502920"/>
          </a:xfrm>
          <a:prstGeom prst="rect">
            <a:avLst/>
          </a:prstGeom>
          <a:noFill/>
          <a:ln/>
        </p:spPr>
        <p:txBody>
          <a:bodyPr wrap="square" lIns="0" tIns="0" rIns="0" bIns="0" rtlCol="0" anchor="ctr"/>
          <a:lstStyle/>
          <a:p>
            <a:pPr marL="0" indent="0">
              <a:buNone/>
            </a:pPr>
            <a:r>
              <a:rPr lang="en-US" sz="1000" b="1">
                <a:solidFill>
                  <a:srgbClr val="0B2E2C"/>
                </a:solidFill>
                <a:latin typeface="Arial" pitchFamily="34" charset="0"/>
                <a:ea typeface="Arial" pitchFamily="34" charset="-122"/>
                <a:cs typeface="Arial" pitchFamily="34" charset="-120"/>
              </a:rPr>
              <a:t>CAPA 1  ·  </a:t>
            </a:r>
            <a:r>
              <a:rPr lang="en-US" sz="1500" b="1">
                <a:solidFill>
                  <a:srgbClr val="0B2E2C"/>
                </a:solidFill>
                <a:latin typeface="Arial" pitchFamily="34" charset="0"/>
                <a:ea typeface="Arial" pitchFamily="34" charset="-122"/>
                <a:cs typeface="Arial" pitchFamily="34" charset="-120"/>
              </a:rPr>
              <a:t>V1</a:t>
            </a:r>
            <a:endParaRPr lang="en-US" sz="1000"/>
          </a:p>
        </p:txBody>
      </p:sp>
      <p:sp>
        <p:nvSpPr>
          <p:cNvPr id="30" name="Text 10">
            <a:extLst>
              <a:ext uri="{FF2B5EF4-FFF2-40B4-BE49-F238E27FC236}">
                <a16:creationId xmlns:a16="http://schemas.microsoft.com/office/drawing/2014/main" id="{042FE18E-BCA2-20C8-8D48-A08B05CAF852}"/>
              </a:ext>
            </a:extLst>
          </p:cNvPr>
          <p:cNvSpPr txBox="1"/>
          <p:nvPr/>
        </p:nvSpPr>
        <p:spPr>
          <a:xfrm>
            <a:off x="822960"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Universo total</a:t>
            </a:r>
            <a:endParaRPr lang="en-US" sz="1250"/>
          </a:p>
        </p:txBody>
      </p:sp>
      <p:sp>
        <p:nvSpPr>
          <p:cNvPr id="33" name="Shape 11">
            <a:extLst>
              <a:ext uri="{FF2B5EF4-FFF2-40B4-BE49-F238E27FC236}">
                <a16:creationId xmlns:a16="http://schemas.microsoft.com/office/drawing/2014/main" id="{72B9A70F-4C88-7542-BE72-6727F54E389D}"/>
              </a:ext>
            </a:extLst>
          </p:cNvPr>
          <p:cNvSpPr/>
          <p:nvPr/>
        </p:nvSpPr>
        <p:spPr>
          <a:xfrm>
            <a:off x="822960"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36" name="Text 12">
            <a:extLst>
              <a:ext uri="{FF2B5EF4-FFF2-40B4-BE49-F238E27FC236}">
                <a16:creationId xmlns:a16="http://schemas.microsoft.com/office/drawing/2014/main" id="{745A1905-8812-8080-545A-53726B8A1931}"/>
              </a:ext>
            </a:extLst>
          </p:cNvPr>
          <p:cNvSpPr txBox="1"/>
          <p:nvPr/>
        </p:nvSpPr>
        <p:spPr>
          <a:xfrm>
            <a:off x="932688"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todos los desembolsos</a:t>
            </a:r>
            <a:endParaRPr lang="en-US" sz="1000"/>
          </a:p>
        </p:txBody>
      </p:sp>
      <p:sp>
        <p:nvSpPr>
          <p:cNvPr id="39" name="Text 13">
            <a:extLst>
              <a:ext uri="{FF2B5EF4-FFF2-40B4-BE49-F238E27FC236}">
                <a16:creationId xmlns:a16="http://schemas.microsoft.com/office/drawing/2014/main" id="{5E2D1A1A-877C-0A37-8E34-F10099726D82}"/>
              </a:ext>
            </a:extLst>
          </p:cNvPr>
          <p:cNvSpPr txBox="1"/>
          <p:nvPr/>
        </p:nvSpPr>
        <p:spPr>
          <a:xfrm>
            <a:off x="822960"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Todos los desembolsos del cliente: competencia interna (otro producto de CT) y externa (otros bancos).</a:t>
            </a:r>
            <a:endParaRPr lang="en-US" sz="1100"/>
          </a:p>
        </p:txBody>
      </p:sp>
      <p:sp>
        <p:nvSpPr>
          <p:cNvPr id="42" name="Shape 14">
            <a:extLst>
              <a:ext uri="{FF2B5EF4-FFF2-40B4-BE49-F238E27FC236}">
                <a16:creationId xmlns:a16="http://schemas.microsoft.com/office/drawing/2014/main" id="{FAD3448D-3F37-62F1-D025-CD8429EE51C0}"/>
              </a:ext>
            </a:extLst>
          </p:cNvPr>
          <p:cNvSpPr/>
          <p:nvPr/>
        </p:nvSpPr>
        <p:spPr>
          <a:xfrm>
            <a:off x="822960" y="5916168"/>
            <a:ext cx="2822524" cy="0"/>
          </a:xfrm>
          <a:prstGeom prst="line">
            <a:avLst/>
          </a:prstGeom>
          <a:noFill/>
          <a:ln w="9525">
            <a:solidFill>
              <a:srgbClr val="D5DFDE"/>
            </a:solidFill>
            <a:prstDash val="solid"/>
          </a:ln>
        </p:spPr>
        <p:txBody>
          <a:bodyPr/>
          <a:lstStyle/>
          <a:p>
            <a:endParaRPr lang="es-PE"/>
          </a:p>
        </p:txBody>
      </p:sp>
      <p:sp>
        <p:nvSpPr>
          <p:cNvPr id="45" name="Text 15">
            <a:extLst>
              <a:ext uri="{FF2B5EF4-FFF2-40B4-BE49-F238E27FC236}">
                <a16:creationId xmlns:a16="http://schemas.microsoft.com/office/drawing/2014/main" id="{1560FED2-F0E5-AD95-0C93-94924E9C18F8}"/>
              </a:ext>
            </a:extLst>
          </p:cNvPr>
          <p:cNvSpPr txBox="1"/>
          <p:nvPr/>
        </p:nvSpPr>
        <p:spPr>
          <a:xfrm>
            <a:off x="822960"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PUNTO DE PARTIDA
</a:t>
            </a:r>
            <a:endParaRPr lang="en-US" sz="850"/>
          </a:p>
          <a:p>
            <a:pPr marL="0" indent="0">
              <a:lnSpc>
                <a:spcPct val="115000"/>
              </a:lnSpc>
              <a:buNone/>
            </a:pPr>
            <a:r>
              <a:rPr lang="en-US" sz="1300" b="1">
                <a:solidFill>
                  <a:srgbClr val="13807B"/>
                </a:solidFill>
                <a:latin typeface="Arial" pitchFamily="34" charset="0"/>
                <a:ea typeface="Arial" pitchFamily="34" charset="-122"/>
                <a:cs typeface="Arial" pitchFamily="34" charset="-120"/>
              </a:rPr>
              <a:t>Todo el </a:t>
            </a:r>
            <a:r>
              <a:rPr lang="en-US" sz="1300" b="1" err="1">
                <a:solidFill>
                  <a:srgbClr val="13807B"/>
                </a:solidFill>
                <a:latin typeface="Arial" pitchFamily="34" charset="0"/>
                <a:ea typeface="Arial" pitchFamily="34" charset="-122"/>
                <a:cs typeface="Arial" pitchFamily="34" charset="-120"/>
              </a:rPr>
              <a:t>universo</a:t>
            </a:r>
            <a:r>
              <a:rPr lang="en-US" sz="1300" b="1">
                <a:solidFill>
                  <a:srgbClr val="13807B"/>
                </a:solidFill>
                <a:latin typeface="Arial" pitchFamily="34" charset="0"/>
                <a:ea typeface="Arial" pitchFamily="34" charset="-122"/>
                <a:cs typeface="Arial" pitchFamily="34" charset="-120"/>
              </a:rPr>
              <a:t> </a:t>
            </a:r>
            <a:r>
              <a:rPr lang="en-US" sz="1300" b="1" err="1">
                <a:solidFill>
                  <a:srgbClr val="13807B"/>
                </a:solidFill>
                <a:latin typeface="Arial" pitchFamily="34" charset="0"/>
                <a:ea typeface="Arial" pitchFamily="34" charset="-122"/>
                <a:cs typeface="Arial" pitchFamily="34" charset="-120"/>
              </a:rPr>
              <a:t>relevante</a:t>
            </a:r>
            <a:endParaRPr lang="en-US" sz="850"/>
          </a:p>
        </p:txBody>
      </p:sp>
      <p:sp>
        <p:nvSpPr>
          <p:cNvPr id="48" name="Shape 16">
            <a:extLst>
              <a:ext uri="{FF2B5EF4-FFF2-40B4-BE49-F238E27FC236}">
                <a16:creationId xmlns:a16="http://schemas.microsoft.com/office/drawing/2014/main" id="{B6143378-ECF1-F922-F52E-E2AE35EDB6AD}"/>
              </a:ext>
            </a:extLst>
          </p:cNvPr>
          <p:cNvSpPr/>
          <p:nvPr/>
        </p:nvSpPr>
        <p:spPr>
          <a:xfrm>
            <a:off x="3800932" y="4722876"/>
            <a:ext cx="457200" cy="402336"/>
          </a:xfrm>
          <a:prstGeom prst="chevron">
            <a:avLst/>
          </a:prstGeom>
          <a:solidFill>
            <a:srgbClr val="D5DFDE"/>
          </a:solidFill>
          <a:ln/>
        </p:spPr>
        <p:txBody>
          <a:bodyPr/>
          <a:lstStyle/>
          <a:p>
            <a:endParaRPr lang="es-PE"/>
          </a:p>
        </p:txBody>
      </p:sp>
      <p:sp>
        <p:nvSpPr>
          <p:cNvPr id="51" name="Shape 17">
            <a:extLst>
              <a:ext uri="{FF2B5EF4-FFF2-40B4-BE49-F238E27FC236}">
                <a16:creationId xmlns:a16="http://schemas.microsoft.com/office/drawing/2014/main" id="{907AC145-CBD7-3011-83BD-395D4FE0A3FC}"/>
              </a:ext>
            </a:extLst>
          </p:cNvPr>
          <p:cNvSpPr/>
          <p:nvPr/>
        </p:nvSpPr>
        <p:spPr>
          <a:xfrm>
            <a:off x="4587316"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54" name="Shape 18">
            <a:extLst>
              <a:ext uri="{FF2B5EF4-FFF2-40B4-BE49-F238E27FC236}">
                <a16:creationId xmlns:a16="http://schemas.microsoft.com/office/drawing/2014/main" id="{B5F0F15C-CA5D-0DA2-7759-54DE172CF9D9}"/>
              </a:ext>
            </a:extLst>
          </p:cNvPr>
          <p:cNvSpPr/>
          <p:nvPr/>
        </p:nvSpPr>
        <p:spPr>
          <a:xfrm>
            <a:off x="4587316" y="3026664"/>
            <a:ext cx="3151708" cy="502920"/>
          </a:xfrm>
          <a:prstGeom prst="rect">
            <a:avLst/>
          </a:prstGeom>
          <a:solidFill>
            <a:srgbClr val="9CCAC8"/>
          </a:solidFill>
          <a:ln/>
        </p:spPr>
        <p:txBody>
          <a:bodyPr/>
          <a:lstStyle/>
          <a:p>
            <a:endParaRPr lang="es-PE"/>
          </a:p>
        </p:txBody>
      </p:sp>
      <p:sp>
        <p:nvSpPr>
          <p:cNvPr id="56" name="Text 19">
            <a:extLst>
              <a:ext uri="{FF2B5EF4-FFF2-40B4-BE49-F238E27FC236}">
                <a16:creationId xmlns:a16="http://schemas.microsoft.com/office/drawing/2014/main" id="{84949E96-FE47-E2A6-3867-CB188D6093A7}"/>
              </a:ext>
            </a:extLst>
          </p:cNvPr>
          <p:cNvSpPr txBox="1"/>
          <p:nvPr/>
        </p:nvSpPr>
        <p:spPr>
          <a:xfrm>
            <a:off x="4751908" y="3026664"/>
            <a:ext cx="2822524" cy="502920"/>
          </a:xfrm>
          <a:prstGeom prst="rect">
            <a:avLst/>
          </a:prstGeom>
          <a:noFill/>
          <a:ln/>
        </p:spPr>
        <p:txBody>
          <a:bodyPr wrap="square" lIns="0" tIns="0" rIns="0" bIns="0" rtlCol="0" anchor="ctr"/>
          <a:lstStyle/>
          <a:p>
            <a:pPr marL="0" indent="0">
              <a:buNone/>
            </a:pPr>
            <a:r>
              <a:rPr lang="en-US" sz="1000" b="1">
                <a:solidFill>
                  <a:srgbClr val="0B2E2C"/>
                </a:solidFill>
                <a:latin typeface="Arial" pitchFamily="34" charset="0"/>
                <a:ea typeface="Arial" pitchFamily="34" charset="-122"/>
                <a:cs typeface="Arial" pitchFamily="34" charset="-120"/>
              </a:rPr>
              <a:t>CAPA 2  ·  </a:t>
            </a:r>
            <a:r>
              <a:rPr lang="en-US" sz="1500" b="1">
                <a:solidFill>
                  <a:srgbClr val="0B2E2C"/>
                </a:solidFill>
                <a:latin typeface="Arial" pitchFamily="34" charset="0"/>
                <a:ea typeface="Arial" pitchFamily="34" charset="-122"/>
                <a:cs typeface="Arial" pitchFamily="34" charset="-120"/>
              </a:rPr>
              <a:t>V2</a:t>
            </a:r>
            <a:endParaRPr lang="en-US" sz="1000"/>
          </a:p>
        </p:txBody>
      </p:sp>
      <p:sp>
        <p:nvSpPr>
          <p:cNvPr id="59" name="Text 20">
            <a:extLst>
              <a:ext uri="{FF2B5EF4-FFF2-40B4-BE49-F238E27FC236}">
                <a16:creationId xmlns:a16="http://schemas.microsoft.com/office/drawing/2014/main" id="{45FAD613-B31E-4466-EF4E-681114097B62}"/>
              </a:ext>
            </a:extLst>
          </p:cNvPr>
          <p:cNvSpPr txBox="1"/>
          <p:nvPr/>
        </p:nvSpPr>
        <p:spPr>
          <a:xfrm>
            <a:off x="4751908"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Sin competencia interna</a:t>
            </a:r>
            <a:endParaRPr lang="en-US" sz="1250"/>
          </a:p>
        </p:txBody>
      </p:sp>
      <p:sp>
        <p:nvSpPr>
          <p:cNvPr id="62" name="Shape 21">
            <a:extLst>
              <a:ext uri="{FF2B5EF4-FFF2-40B4-BE49-F238E27FC236}">
                <a16:creationId xmlns:a16="http://schemas.microsoft.com/office/drawing/2014/main" id="{B167E855-275E-6122-AFA8-2A9D2A92519D}"/>
              </a:ext>
            </a:extLst>
          </p:cNvPr>
          <p:cNvSpPr/>
          <p:nvPr/>
        </p:nvSpPr>
        <p:spPr>
          <a:xfrm>
            <a:off x="4751908"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64" name="Text 22">
            <a:extLst>
              <a:ext uri="{FF2B5EF4-FFF2-40B4-BE49-F238E27FC236}">
                <a16:creationId xmlns:a16="http://schemas.microsoft.com/office/drawing/2014/main" id="{3B785883-4DA0-C631-471C-AC5E42C97DC0}"/>
              </a:ext>
            </a:extLst>
          </p:cNvPr>
          <p:cNvSpPr txBox="1"/>
          <p:nvPr/>
        </p:nvSpPr>
        <p:spPr>
          <a:xfrm>
            <a:off x="4861636"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competencia externa</a:t>
            </a:r>
            <a:endParaRPr lang="en-US" sz="1000"/>
          </a:p>
        </p:txBody>
      </p:sp>
      <p:sp>
        <p:nvSpPr>
          <p:cNvPr id="67" name="Text 23">
            <a:extLst>
              <a:ext uri="{FF2B5EF4-FFF2-40B4-BE49-F238E27FC236}">
                <a16:creationId xmlns:a16="http://schemas.microsoft.com/office/drawing/2014/main" id="{4F962FF4-69DA-A28E-A0EF-0B1DE71BDB93}"/>
              </a:ext>
            </a:extLst>
          </p:cNvPr>
          <p:cNvSpPr txBox="1"/>
          <p:nvPr/>
        </p:nvSpPr>
        <p:spPr>
          <a:xfrm>
            <a:off x="4751908"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Se retira la competencia interna: si el cliente desembolsó con otro producto de CT, ya no cuenta como "perdido".</a:t>
            </a:r>
            <a:endParaRPr lang="en-US" sz="1100"/>
          </a:p>
        </p:txBody>
      </p:sp>
      <p:sp>
        <p:nvSpPr>
          <p:cNvPr id="70" name="Shape 24">
            <a:extLst>
              <a:ext uri="{FF2B5EF4-FFF2-40B4-BE49-F238E27FC236}">
                <a16:creationId xmlns:a16="http://schemas.microsoft.com/office/drawing/2014/main" id="{CB676117-B343-A4BD-37A0-6F03AB91FDD3}"/>
              </a:ext>
            </a:extLst>
          </p:cNvPr>
          <p:cNvSpPr/>
          <p:nvPr/>
        </p:nvSpPr>
        <p:spPr>
          <a:xfrm>
            <a:off x="4751908" y="5916168"/>
            <a:ext cx="2822524" cy="0"/>
          </a:xfrm>
          <a:prstGeom prst="line">
            <a:avLst/>
          </a:prstGeom>
          <a:noFill/>
          <a:ln w="9525">
            <a:solidFill>
              <a:srgbClr val="D5DFDE"/>
            </a:solidFill>
            <a:prstDash val="solid"/>
          </a:ln>
        </p:spPr>
        <p:txBody>
          <a:bodyPr/>
          <a:lstStyle/>
          <a:p>
            <a:endParaRPr lang="es-PE"/>
          </a:p>
        </p:txBody>
      </p:sp>
      <p:sp>
        <p:nvSpPr>
          <p:cNvPr id="72" name="Text 25">
            <a:extLst>
              <a:ext uri="{FF2B5EF4-FFF2-40B4-BE49-F238E27FC236}">
                <a16:creationId xmlns:a16="http://schemas.microsoft.com/office/drawing/2014/main" id="{2CC81F36-1A33-B76C-3D74-614703791E44}"/>
              </a:ext>
            </a:extLst>
          </p:cNvPr>
          <p:cNvSpPr txBox="1"/>
          <p:nvPr/>
        </p:nvSpPr>
        <p:spPr>
          <a:xfrm>
            <a:off x="4751908"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SE RETIRA
</a:t>
            </a:r>
            <a:endParaRPr lang="en-US" sz="850"/>
          </a:p>
          <a:p>
            <a:pPr marL="0" indent="0">
              <a:lnSpc>
                <a:spcPct val="115000"/>
              </a:lnSpc>
              <a:buNone/>
            </a:pPr>
            <a:r>
              <a:rPr lang="en-US" sz="1300" b="1">
                <a:solidFill>
                  <a:srgbClr val="C0392B"/>
                </a:solidFill>
                <a:latin typeface="Arial" pitchFamily="34" charset="0"/>
                <a:ea typeface="Arial" pitchFamily="34" charset="-122"/>
                <a:cs typeface="Arial" pitchFamily="34" charset="-120"/>
              </a:rPr>
              <a:t>Competencia interna</a:t>
            </a:r>
            <a:endParaRPr lang="en-US" sz="850"/>
          </a:p>
        </p:txBody>
      </p:sp>
      <p:sp>
        <p:nvSpPr>
          <p:cNvPr id="75" name="Shape 26">
            <a:extLst>
              <a:ext uri="{FF2B5EF4-FFF2-40B4-BE49-F238E27FC236}">
                <a16:creationId xmlns:a16="http://schemas.microsoft.com/office/drawing/2014/main" id="{94700FD0-85FE-FBAA-4B52-9B9C7EDC8738}"/>
              </a:ext>
            </a:extLst>
          </p:cNvPr>
          <p:cNvSpPr/>
          <p:nvPr/>
        </p:nvSpPr>
        <p:spPr>
          <a:xfrm>
            <a:off x="7729880" y="4722876"/>
            <a:ext cx="457200" cy="402336"/>
          </a:xfrm>
          <a:prstGeom prst="chevron">
            <a:avLst/>
          </a:prstGeom>
          <a:solidFill>
            <a:srgbClr val="D5DFDE"/>
          </a:solidFill>
          <a:ln/>
        </p:spPr>
        <p:txBody>
          <a:bodyPr/>
          <a:lstStyle/>
          <a:p>
            <a:endParaRPr lang="es-PE"/>
          </a:p>
        </p:txBody>
      </p:sp>
      <p:sp>
        <p:nvSpPr>
          <p:cNvPr id="78" name="Shape 27">
            <a:extLst>
              <a:ext uri="{FF2B5EF4-FFF2-40B4-BE49-F238E27FC236}">
                <a16:creationId xmlns:a16="http://schemas.microsoft.com/office/drawing/2014/main" id="{22368E47-5441-836C-7759-8116EA9BECC5}"/>
              </a:ext>
            </a:extLst>
          </p:cNvPr>
          <p:cNvSpPr/>
          <p:nvPr/>
        </p:nvSpPr>
        <p:spPr>
          <a:xfrm>
            <a:off x="8516264"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80" name="Shape 28">
            <a:extLst>
              <a:ext uri="{FF2B5EF4-FFF2-40B4-BE49-F238E27FC236}">
                <a16:creationId xmlns:a16="http://schemas.microsoft.com/office/drawing/2014/main" id="{2682B630-7F7D-4F11-C17E-A45C377E121B}"/>
              </a:ext>
            </a:extLst>
          </p:cNvPr>
          <p:cNvSpPr/>
          <p:nvPr/>
        </p:nvSpPr>
        <p:spPr>
          <a:xfrm>
            <a:off x="8516264" y="3026664"/>
            <a:ext cx="3151708" cy="502920"/>
          </a:xfrm>
          <a:prstGeom prst="rect">
            <a:avLst/>
          </a:prstGeom>
          <a:solidFill>
            <a:srgbClr val="5AA6A3"/>
          </a:solidFill>
          <a:ln/>
        </p:spPr>
        <p:txBody>
          <a:bodyPr/>
          <a:lstStyle/>
          <a:p>
            <a:endParaRPr lang="es-PE"/>
          </a:p>
        </p:txBody>
      </p:sp>
      <p:sp>
        <p:nvSpPr>
          <p:cNvPr id="83" name="Text 29">
            <a:extLst>
              <a:ext uri="{FF2B5EF4-FFF2-40B4-BE49-F238E27FC236}">
                <a16:creationId xmlns:a16="http://schemas.microsoft.com/office/drawing/2014/main" id="{DF103B40-5420-51FE-9BC3-74B36F328952}"/>
              </a:ext>
            </a:extLst>
          </p:cNvPr>
          <p:cNvSpPr txBox="1"/>
          <p:nvPr/>
        </p:nvSpPr>
        <p:spPr>
          <a:xfrm>
            <a:off x="8680856" y="3026664"/>
            <a:ext cx="2822524" cy="502920"/>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CAPA 3  ·  </a:t>
            </a:r>
            <a:r>
              <a:rPr lang="en-US" sz="1500" b="1">
                <a:solidFill>
                  <a:srgbClr val="FFFFFF"/>
                </a:solidFill>
                <a:latin typeface="Arial" pitchFamily="34" charset="0"/>
                <a:ea typeface="Arial" pitchFamily="34" charset="-122"/>
                <a:cs typeface="Arial" pitchFamily="34" charset="-120"/>
              </a:rPr>
              <a:t>V3</a:t>
            </a:r>
            <a:endParaRPr lang="en-US" sz="1000"/>
          </a:p>
        </p:txBody>
      </p:sp>
      <p:sp>
        <p:nvSpPr>
          <p:cNvPr id="86" name="Text 30">
            <a:extLst>
              <a:ext uri="{FF2B5EF4-FFF2-40B4-BE49-F238E27FC236}">
                <a16:creationId xmlns:a16="http://schemas.microsoft.com/office/drawing/2014/main" id="{9D3D5AFC-DBDA-F97C-17C4-BD2247EDBC7E}"/>
              </a:ext>
            </a:extLst>
          </p:cNvPr>
          <p:cNvSpPr txBox="1"/>
          <p:nvPr/>
        </p:nvSpPr>
        <p:spPr>
          <a:xfrm>
            <a:off x="8680856"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Monto comparable</a:t>
            </a:r>
            <a:endParaRPr lang="en-US" sz="1250"/>
          </a:p>
        </p:txBody>
      </p:sp>
      <p:sp>
        <p:nvSpPr>
          <p:cNvPr id="88" name="Shape 31">
            <a:extLst>
              <a:ext uri="{FF2B5EF4-FFF2-40B4-BE49-F238E27FC236}">
                <a16:creationId xmlns:a16="http://schemas.microsoft.com/office/drawing/2014/main" id="{9B6D5135-C633-CC34-5792-13CA60DD62A2}"/>
              </a:ext>
            </a:extLst>
          </p:cNvPr>
          <p:cNvSpPr/>
          <p:nvPr/>
        </p:nvSpPr>
        <p:spPr>
          <a:xfrm>
            <a:off x="8680856"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91" name="Text 32">
            <a:extLst>
              <a:ext uri="{FF2B5EF4-FFF2-40B4-BE49-F238E27FC236}">
                <a16:creationId xmlns:a16="http://schemas.microsoft.com/office/drawing/2014/main" id="{7A8623B6-995E-0ECD-775B-2FDDB853DBEF}"/>
              </a:ext>
            </a:extLst>
          </p:cNvPr>
          <p:cNvSpPr txBox="1"/>
          <p:nvPr/>
        </p:nvSpPr>
        <p:spPr>
          <a:xfrm>
            <a:off x="8790584"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competencia de monto parecido</a:t>
            </a:r>
            <a:endParaRPr lang="en-US" sz="1000"/>
          </a:p>
        </p:txBody>
      </p:sp>
      <p:sp>
        <p:nvSpPr>
          <p:cNvPr id="94" name="Text 33">
            <a:extLst>
              <a:ext uri="{FF2B5EF4-FFF2-40B4-BE49-F238E27FC236}">
                <a16:creationId xmlns:a16="http://schemas.microsoft.com/office/drawing/2014/main" id="{47EFF02E-5288-1A7A-ADEE-5C7CA0B491DA}"/>
              </a:ext>
            </a:extLst>
          </p:cNvPr>
          <p:cNvSpPr txBox="1"/>
          <p:nvPr/>
        </p:nvSpPr>
        <p:spPr>
          <a:xfrm>
            <a:off x="8680856"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Se retira la competencia con un monto muy distinto al que maneja el </a:t>
            </a:r>
            <a:r>
              <a:rPr lang="en-US" sz="1100" err="1">
                <a:solidFill>
                  <a:srgbClr val="0B2E2C"/>
                </a:solidFill>
                <a:latin typeface="Arial" pitchFamily="34" charset="0"/>
                <a:ea typeface="Arial" pitchFamily="34" charset="-122"/>
                <a:cs typeface="Arial" pitchFamily="34" charset="-120"/>
              </a:rPr>
              <a:t>cliente</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menor</a:t>
            </a:r>
            <a:r>
              <a:rPr lang="en-US" sz="1100">
                <a:solidFill>
                  <a:srgbClr val="0B2E2C"/>
                </a:solidFill>
                <a:latin typeface="Arial" pitchFamily="34" charset="0"/>
                <a:ea typeface="Arial" pitchFamily="34" charset="-122"/>
                <a:cs typeface="Arial" pitchFamily="34" charset="-120"/>
              </a:rPr>
              <a:t> al 70% y mayor al 120% del </a:t>
            </a:r>
            <a:r>
              <a:rPr lang="en-US" sz="1100" err="1">
                <a:solidFill>
                  <a:srgbClr val="0B2E2C"/>
                </a:solidFill>
                <a:latin typeface="Arial" pitchFamily="34" charset="0"/>
                <a:ea typeface="Arial" pitchFamily="34" charset="-122"/>
                <a:cs typeface="Arial" pitchFamily="34" charset="-120"/>
              </a:rPr>
              <a:t>monto</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ofertado</a:t>
            </a:r>
            <a:r>
              <a:rPr lang="en-US" sz="1100">
                <a:solidFill>
                  <a:srgbClr val="0B2E2C"/>
                </a:solidFill>
                <a:latin typeface="Arial" pitchFamily="34" charset="0"/>
                <a:ea typeface="Arial" pitchFamily="34" charset="-122"/>
                <a:cs typeface="Arial" pitchFamily="34" charset="-120"/>
              </a:rPr>
              <a:t>)</a:t>
            </a:r>
            <a:endParaRPr lang="en-US" sz="1100"/>
          </a:p>
        </p:txBody>
      </p:sp>
      <p:sp>
        <p:nvSpPr>
          <p:cNvPr id="96" name="Shape 34">
            <a:extLst>
              <a:ext uri="{FF2B5EF4-FFF2-40B4-BE49-F238E27FC236}">
                <a16:creationId xmlns:a16="http://schemas.microsoft.com/office/drawing/2014/main" id="{F75482F9-FA07-C601-78B1-50F425EA78F7}"/>
              </a:ext>
            </a:extLst>
          </p:cNvPr>
          <p:cNvSpPr/>
          <p:nvPr/>
        </p:nvSpPr>
        <p:spPr>
          <a:xfrm>
            <a:off x="8680856" y="5916168"/>
            <a:ext cx="2822524" cy="0"/>
          </a:xfrm>
          <a:prstGeom prst="line">
            <a:avLst/>
          </a:prstGeom>
          <a:noFill/>
          <a:ln w="9525">
            <a:solidFill>
              <a:srgbClr val="D5DFDE"/>
            </a:solidFill>
            <a:prstDash val="solid"/>
          </a:ln>
        </p:spPr>
        <p:txBody>
          <a:bodyPr/>
          <a:lstStyle/>
          <a:p>
            <a:endParaRPr lang="es-PE"/>
          </a:p>
        </p:txBody>
      </p:sp>
      <p:sp>
        <p:nvSpPr>
          <p:cNvPr id="99" name="Text 35">
            <a:extLst>
              <a:ext uri="{FF2B5EF4-FFF2-40B4-BE49-F238E27FC236}">
                <a16:creationId xmlns:a16="http://schemas.microsoft.com/office/drawing/2014/main" id="{C5E153CA-2168-212F-6848-75FFE09968EC}"/>
              </a:ext>
            </a:extLst>
          </p:cNvPr>
          <p:cNvSpPr txBox="1"/>
          <p:nvPr/>
        </p:nvSpPr>
        <p:spPr>
          <a:xfrm>
            <a:off x="8680856"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SE RETIRA
</a:t>
            </a:r>
            <a:endParaRPr lang="en-US" sz="850"/>
          </a:p>
          <a:p>
            <a:pPr marL="0" indent="0">
              <a:lnSpc>
                <a:spcPct val="115000"/>
              </a:lnSpc>
              <a:buNone/>
            </a:pPr>
            <a:r>
              <a:rPr lang="en-US" sz="1300" b="1">
                <a:solidFill>
                  <a:srgbClr val="C0392B"/>
                </a:solidFill>
                <a:latin typeface="Arial" pitchFamily="34" charset="0"/>
                <a:ea typeface="Arial" pitchFamily="34" charset="-122"/>
                <a:cs typeface="Arial" pitchFamily="34" charset="-120"/>
              </a:rPr>
              <a:t>Monto no comparable</a:t>
            </a:r>
            <a:endParaRPr lang="en-US" sz="850"/>
          </a:p>
        </p:txBody>
      </p:sp>
      <p:sp>
        <p:nvSpPr>
          <p:cNvPr id="102" name="Shape 36">
            <a:extLst>
              <a:ext uri="{FF2B5EF4-FFF2-40B4-BE49-F238E27FC236}">
                <a16:creationId xmlns:a16="http://schemas.microsoft.com/office/drawing/2014/main" id="{2568F5C0-D0CA-5ABC-C64D-A84D955A07AE}"/>
              </a:ext>
            </a:extLst>
          </p:cNvPr>
          <p:cNvSpPr/>
          <p:nvPr/>
        </p:nvSpPr>
        <p:spPr>
          <a:xfrm>
            <a:off x="11658829" y="4722876"/>
            <a:ext cx="457200" cy="402336"/>
          </a:xfrm>
          <a:prstGeom prst="chevron">
            <a:avLst/>
          </a:prstGeom>
          <a:solidFill>
            <a:srgbClr val="D5DFDE"/>
          </a:solidFill>
          <a:ln/>
        </p:spPr>
        <p:txBody>
          <a:bodyPr/>
          <a:lstStyle/>
          <a:p>
            <a:endParaRPr lang="es-PE"/>
          </a:p>
        </p:txBody>
      </p:sp>
      <p:sp>
        <p:nvSpPr>
          <p:cNvPr id="104" name="Shape 37">
            <a:extLst>
              <a:ext uri="{FF2B5EF4-FFF2-40B4-BE49-F238E27FC236}">
                <a16:creationId xmlns:a16="http://schemas.microsoft.com/office/drawing/2014/main" id="{1C562E50-0273-0FBC-C565-9F84956B13C1}"/>
              </a:ext>
            </a:extLst>
          </p:cNvPr>
          <p:cNvSpPr/>
          <p:nvPr/>
        </p:nvSpPr>
        <p:spPr>
          <a:xfrm>
            <a:off x="12445213" y="3026664"/>
            <a:ext cx="3151708" cy="3794760"/>
          </a:xfrm>
          <a:prstGeom prst="rect">
            <a:avLst/>
          </a:prstGeom>
          <a:solidFill>
            <a:srgbClr val="FFFFFF"/>
          </a:solidFill>
          <a:ln w="9525">
            <a:solidFill>
              <a:srgbClr val="D5DFDE"/>
            </a:solidFill>
            <a:prstDash val="solid"/>
          </a:ln>
          <a:effectLst>
            <a:outerShdw blurRad="76200" dist="25400" dir="5400000" algn="bl" rotWithShape="0">
              <a:srgbClr val="9AA8A7">
                <a:alpha val="35000"/>
              </a:srgbClr>
            </a:outerShdw>
          </a:effectLst>
        </p:spPr>
        <p:txBody>
          <a:bodyPr/>
          <a:lstStyle/>
          <a:p>
            <a:endParaRPr lang="es-PE"/>
          </a:p>
        </p:txBody>
      </p:sp>
      <p:sp>
        <p:nvSpPr>
          <p:cNvPr id="107" name="Shape 38">
            <a:extLst>
              <a:ext uri="{FF2B5EF4-FFF2-40B4-BE49-F238E27FC236}">
                <a16:creationId xmlns:a16="http://schemas.microsoft.com/office/drawing/2014/main" id="{46B9598C-30EC-2EAF-F729-34972B89B3ED}"/>
              </a:ext>
            </a:extLst>
          </p:cNvPr>
          <p:cNvSpPr/>
          <p:nvPr/>
        </p:nvSpPr>
        <p:spPr>
          <a:xfrm>
            <a:off x="12445213" y="3026664"/>
            <a:ext cx="3151708" cy="502920"/>
          </a:xfrm>
          <a:prstGeom prst="rect">
            <a:avLst/>
          </a:prstGeom>
          <a:solidFill>
            <a:srgbClr val="13807B"/>
          </a:solidFill>
          <a:ln/>
        </p:spPr>
        <p:txBody>
          <a:bodyPr/>
          <a:lstStyle/>
          <a:p>
            <a:endParaRPr lang="es-PE"/>
          </a:p>
        </p:txBody>
      </p:sp>
      <p:sp>
        <p:nvSpPr>
          <p:cNvPr id="110" name="Text 39">
            <a:extLst>
              <a:ext uri="{FF2B5EF4-FFF2-40B4-BE49-F238E27FC236}">
                <a16:creationId xmlns:a16="http://schemas.microsoft.com/office/drawing/2014/main" id="{A930E5BA-004A-CFD6-7290-B6969B0550A5}"/>
              </a:ext>
            </a:extLst>
          </p:cNvPr>
          <p:cNvSpPr txBox="1"/>
          <p:nvPr/>
        </p:nvSpPr>
        <p:spPr>
          <a:xfrm>
            <a:off x="12609805" y="3026664"/>
            <a:ext cx="2822524" cy="502920"/>
          </a:xfrm>
          <a:prstGeom prst="rect">
            <a:avLst/>
          </a:prstGeom>
          <a:noFill/>
          <a:ln/>
        </p:spPr>
        <p:txBody>
          <a:bodyPr wrap="square" lIns="0" tIns="0" rIns="0" bIns="0" rtlCol="0" anchor="ctr"/>
          <a:lstStyle/>
          <a:p>
            <a:pPr marL="0" indent="0">
              <a:buNone/>
            </a:pPr>
            <a:r>
              <a:rPr lang="en-US" sz="1000" b="1">
                <a:solidFill>
                  <a:srgbClr val="FFFFFF"/>
                </a:solidFill>
                <a:latin typeface="Arial" pitchFamily="34" charset="0"/>
                <a:ea typeface="Arial" pitchFamily="34" charset="-122"/>
                <a:cs typeface="Arial" pitchFamily="34" charset="-120"/>
              </a:rPr>
              <a:t>CAPA 4  ·  </a:t>
            </a:r>
            <a:r>
              <a:rPr lang="en-US" sz="1500" b="1">
                <a:solidFill>
                  <a:srgbClr val="FFFFFF"/>
                </a:solidFill>
                <a:latin typeface="Arial" pitchFamily="34" charset="0"/>
                <a:ea typeface="Arial" pitchFamily="34" charset="-122"/>
                <a:cs typeface="Arial" pitchFamily="34" charset="-120"/>
              </a:rPr>
              <a:t>V4</a:t>
            </a:r>
            <a:endParaRPr lang="en-US" sz="1000"/>
          </a:p>
        </p:txBody>
      </p:sp>
      <p:sp>
        <p:nvSpPr>
          <p:cNvPr id="114" name="Text 40">
            <a:extLst>
              <a:ext uri="{FF2B5EF4-FFF2-40B4-BE49-F238E27FC236}">
                <a16:creationId xmlns:a16="http://schemas.microsoft.com/office/drawing/2014/main" id="{0FD99784-A0C8-C980-A1BB-FCC06B9D5B73}"/>
              </a:ext>
            </a:extLst>
          </p:cNvPr>
          <p:cNvSpPr txBox="1"/>
          <p:nvPr/>
        </p:nvSpPr>
        <p:spPr>
          <a:xfrm>
            <a:off x="12609805" y="3648456"/>
            <a:ext cx="2822524" cy="411480"/>
          </a:xfrm>
          <a:prstGeom prst="rect">
            <a:avLst/>
          </a:prstGeom>
          <a:noFill/>
          <a:ln/>
        </p:spPr>
        <p:txBody>
          <a:bodyPr wrap="square" lIns="0" tIns="0" rIns="0" bIns="0" rtlCol="0" anchor="ctr"/>
          <a:lstStyle/>
          <a:p>
            <a:pPr marL="0" indent="0">
              <a:lnSpc>
                <a:spcPct val="100000"/>
              </a:lnSpc>
              <a:buNone/>
            </a:pPr>
            <a:r>
              <a:rPr lang="en-US" sz="1250" b="1">
                <a:solidFill>
                  <a:srgbClr val="0B2E2C"/>
                </a:solidFill>
                <a:latin typeface="Arial" pitchFamily="34" charset="0"/>
                <a:ea typeface="Arial" pitchFamily="34" charset="-122"/>
                <a:cs typeface="Arial" pitchFamily="34" charset="-120"/>
              </a:rPr>
              <a:t>Monto comparable y gestionado</a:t>
            </a:r>
            <a:endParaRPr lang="en-US" sz="1250"/>
          </a:p>
        </p:txBody>
      </p:sp>
      <p:sp>
        <p:nvSpPr>
          <p:cNvPr id="118" name="Shape 41">
            <a:extLst>
              <a:ext uri="{FF2B5EF4-FFF2-40B4-BE49-F238E27FC236}">
                <a16:creationId xmlns:a16="http://schemas.microsoft.com/office/drawing/2014/main" id="{BA58D38B-72E3-A1A7-922C-9DF0D2C75EFE}"/>
              </a:ext>
            </a:extLst>
          </p:cNvPr>
          <p:cNvSpPr/>
          <p:nvPr/>
        </p:nvSpPr>
        <p:spPr>
          <a:xfrm>
            <a:off x="12609805" y="4087368"/>
            <a:ext cx="2822524" cy="548640"/>
          </a:xfrm>
          <a:prstGeom prst="rect">
            <a:avLst/>
          </a:prstGeom>
          <a:solidFill>
            <a:srgbClr val="F6FBFA"/>
          </a:solidFill>
          <a:ln w="6350">
            <a:solidFill>
              <a:srgbClr val="D5DFDE"/>
            </a:solidFill>
            <a:prstDash val="solid"/>
          </a:ln>
        </p:spPr>
        <p:txBody>
          <a:bodyPr/>
          <a:lstStyle/>
          <a:p>
            <a:endParaRPr lang="es-PE"/>
          </a:p>
        </p:txBody>
      </p:sp>
      <p:sp>
        <p:nvSpPr>
          <p:cNvPr id="122" name="Text 42">
            <a:extLst>
              <a:ext uri="{FF2B5EF4-FFF2-40B4-BE49-F238E27FC236}">
                <a16:creationId xmlns:a16="http://schemas.microsoft.com/office/drawing/2014/main" id="{07E0DE0F-835E-4181-62B2-17B0696AC948}"/>
              </a:ext>
            </a:extLst>
          </p:cNvPr>
          <p:cNvSpPr txBox="1"/>
          <p:nvPr/>
        </p:nvSpPr>
        <p:spPr>
          <a:xfrm>
            <a:off x="12719533" y="4087368"/>
            <a:ext cx="2603068" cy="548640"/>
          </a:xfrm>
          <a:prstGeom prst="rect">
            <a:avLst/>
          </a:prstGeom>
          <a:noFill/>
          <a:ln/>
        </p:spPr>
        <p:txBody>
          <a:bodyPr wrap="square" lIns="0" tIns="0" rIns="0" bIns="0" rtlCol="0" anchor="ctr"/>
          <a:lstStyle/>
          <a:p>
            <a:pPr marL="0" indent="0">
              <a:lnSpc>
                <a:spcPct val="100000"/>
              </a:lnSpc>
              <a:buNone/>
            </a:pPr>
            <a:r>
              <a:rPr lang="en-US" sz="1000" b="1" i="1">
                <a:solidFill>
                  <a:srgbClr val="13807B"/>
                </a:solidFill>
                <a:latin typeface="Arial" pitchFamily="34" charset="0"/>
                <a:ea typeface="Arial" pitchFamily="34" charset="-122"/>
                <a:cs typeface="Arial" pitchFamily="34" charset="-120"/>
              </a:rPr>
              <a:t>CT vs. competencia de monto parecido y gestionado</a:t>
            </a:r>
            <a:endParaRPr lang="en-US" sz="1000"/>
          </a:p>
        </p:txBody>
      </p:sp>
      <p:sp>
        <p:nvSpPr>
          <p:cNvPr id="126" name="Text 43">
            <a:extLst>
              <a:ext uri="{FF2B5EF4-FFF2-40B4-BE49-F238E27FC236}">
                <a16:creationId xmlns:a16="http://schemas.microsoft.com/office/drawing/2014/main" id="{09D9195F-9717-EC3E-EF63-9EB07D84EC4E}"/>
              </a:ext>
            </a:extLst>
          </p:cNvPr>
          <p:cNvSpPr txBox="1"/>
          <p:nvPr/>
        </p:nvSpPr>
        <p:spPr>
          <a:xfrm>
            <a:off x="12609805" y="4764024"/>
            <a:ext cx="2822524" cy="1188720"/>
          </a:xfrm>
          <a:prstGeom prst="rect">
            <a:avLst/>
          </a:prstGeom>
          <a:noFill/>
          <a:ln/>
        </p:spPr>
        <p:txBody>
          <a:bodyPr wrap="square" lIns="0" tIns="0" rIns="0" bIns="0" rtlCol="0" anchor="t"/>
          <a:lstStyle/>
          <a:p>
            <a:pPr marL="0" indent="0">
              <a:lnSpc>
                <a:spcPct val="125000"/>
              </a:lnSpc>
              <a:buNone/>
            </a:pPr>
            <a:r>
              <a:rPr lang="en-US" sz="1100">
                <a:solidFill>
                  <a:srgbClr val="0B2E2C"/>
                </a:solidFill>
                <a:latin typeface="Arial" pitchFamily="34" charset="0"/>
                <a:ea typeface="Arial" pitchFamily="34" charset="-122"/>
                <a:cs typeface="Arial" pitchFamily="34" charset="-120"/>
              </a:rPr>
              <a:t>Se </a:t>
            </a:r>
            <a:r>
              <a:rPr lang="en-US" sz="1100" err="1">
                <a:solidFill>
                  <a:srgbClr val="0B2E2C"/>
                </a:solidFill>
                <a:latin typeface="Arial" pitchFamily="34" charset="0"/>
                <a:ea typeface="Arial" pitchFamily="34" charset="-122"/>
                <a:cs typeface="Arial" pitchFamily="34" charset="-120"/>
              </a:rPr>
              <a:t>retira</a:t>
            </a:r>
            <a:r>
              <a:rPr lang="en-US" sz="1100">
                <a:solidFill>
                  <a:srgbClr val="0B2E2C"/>
                </a:solidFill>
                <a:latin typeface="Arial" pitchFamily="34" charset="0"/>
                <a:ea typeface="Arial" pitchFamily="34" charset="-122"/>
                <a:cs typeface="Arial" pitchFamily="34" charset="-120"/>
              </a:rPr>
              <a:t>  la competencia de monto comparable que IBK no </a:t>
            </a:r>
            <a:r>
              <a:rPr lang="en-US" sz="1100" err="1">
                <a:solidFill>
                  <a:srgbClr val="0B2E2C"/>
                </a:solidFill>
                <a:latin typeface="Arial" pitchFamily="34" charset="0"/>
                <a:ea typeface="Arial" pitchFamily="34" charset="-122"/>
                <a:cs typeface="Arial" pitchFamily="34" charset="-120"/>
              </a:rPr>
              <a:t>gestionó</a:t>
            </a:r>
            <a:r>
              <a:rPr lang="en-US" sz="1100">
                <a:solidFill>
                  <a:srgbClr val="0B2E2C"/>
                </a:solidFill>
                <a:latin typeface="Arial" pitchFamily="34" charset="0"/>
                <a:ea typeface="Arial" pitchFamily="34" charset="-122"/>
                <a:cs typeface="Arial" pitchFamily="34" charset="-120"/>
              </a:rPr>
              <a:t> </a:t>
            </a:r>
            <a:r>
              <a:rPr lang="en-US" sz="1100" err="1">
                <a:solidFill>
                  <a:srgbClr val="0B2E2C"/>
                </a:solidFill>
                <a:latin typeface="Arial" pitchFamily="34" charset="0"/>
                <a:ea typeface="Arial" pitchFamily="34" charset="-122"/>
                <a:cs typeface="Arial" pitchFamily="34" charset="-120"/>
              </a:rPr>
              <a:t>activamente</a:t>
            </a:r>
            <a:r>
              <a:rPr lang="en-US" sz="1100">
                <a:solidFill>
                  <a:srgbClr val="0B2E2C"/>
                </a:solidFill>
                <a:latin typeface="Arial" pitchFamily="34" charset="0"/>
                <a:ea typeface="Arial" pitchFamily="34" charset="-122"/>
                <a:cs typeface="Arial" pitchFamily="34" charset="-120"/>
              </a:rPr>
              <a:t>.</a:t>
            </a:r>
            <a:endParaRPr lang="en-US" sz="1100"/>
          </a:p>
        </p:txBody>
      </p:sp>
      <p:sp>
        <p:nvSpPr>
          <p:cNvPr id="129" name="Shape 44">
            <a:extLst>
              <a:ext uri="{FF2B5EF4-FFF2-40B4-BE49-F238E27FC236}">
                <a16:creationId xmlns:a16="http://schemas.microsoft.com/office/drawing/2014/main" id="{D32C19B1-695F-2A2F-6373-FD187E78CA12}"/>
              </a:ext>
            </a:extLst>
          </p:cNvPr>
          <p:cNvSpPr/>
          <p:nvPr/>
        </p:nvSpPr>
        <p:spPr>
          <a:xfrm>
            <a:off x="12609805" y="5916168"/>
            <a:ext cx="2822524" cy="0"/>
          </a:xfrm>
          <a:prstGeom prst="line">
            <a:avLst/>
          </a:prstGeom>
          <a:noFill/>
          <a:ln w="9525">
            <a:solidFill>
              <a:srgbClr val="D5DFDE"/>
            </a:solidFill>
            <a:prstDash val="solid"/>
          </a:ln>
        </p:spPr>
        <p:txBody>
          <a:bodyPr/>
          <a:lstStyle/>
          <a:p>
            <a:endParaRPr lang="es-PE"/>
          </a:p>
        </p:txBody>
      </p:sp>
      <p:sp>
        <p:nvSpPr>
          <p:cNvPr id="131" name="Text 45">
            <a:extLst>
              <a:ext uri="{FF2B5EF4-FFF2-40B4-BE49-F238E27FC236}">
                <a16:creationId xmlns:a16="http://schemas.microsoft.com/office/drawing/2014/main" id="{EB9D53A0-F5ED-44BD-2587-2CC2BC15AAD7}"/>
              </a:ext>
            </a:extLst>
          </p:cNvPr>
          <p:cNvSpPr txBox="1"/>
          <p:nvPr/>
        </p:nvSpPr>
        <p:spPr>
          <a:xfrm>
            <a:off x="12609805" y="6044184"/>
            <a:ext cx="2822524" cy="594360"/>
          </a:xfrm>
          <a:prstGeom prst="rect">
            <a:avLst/>
          </a:prstGeom>
          <a:noFill/>
          <a:ln/>
        </p:spPr>
        <p:txBody>
          <a:bodyPr wrap="square" lIns="0" tIns="0" rIns="0" bIns="0" rtlCol="0" anchor="t"/>
          <a:lstStyle/>
          <a:p>
            <a:pPr marL="0" indent="0">
              <a:lnSpc>
                <a:spcPct val="115000"/>
              </a:lnSpc>
              <a:buNone/>
            </a:pPr>
            <a:r>
              <a:rPr lang="en-US" sz="850" b="1">
                <a:solidFill>
                  <a:srgbClr val="6E7E7D"/>
                </a:solidFill>
                <a:latin typeface="Arial" pitchFamily="34" charset="0"/>
                <a:ea typeface="Arial" pitchFamily="34" charset="-122"/>
                <a:cs typeface="Arial" pitchFamily="34" charset="-120"/>
              </a:rPr>
              <a:t>SE RETIRA
</a:t>
            </a:r>
            <a:endParaRPr lang="en-US" sz="850"/>
          </a:p>
          <a:p>
            <a:pPr marL="0" indent="0">
              <a:lnSpc>
                <a:spcPct val="115000"/>
              </a:lnSpc>
              <a:buNone/>
            </a:pPr>
            <a:r>
              <a:rPr lang="en-US" sz="1300" b="1">
                <a:solidFill>
                  <a:srgbClr val="C0392B"/>
                </a:solidFill>
                <a:latin typeface="Arial" pitchFamily="34" charset="0"/>
                <a:ea typeface="Arial" pitchFamily="34" charset="-122"/>
                <a:cs typeface="Arial" pitchFamily="34" charset="-120"/>
              </a:rPr>
              <a:t>No gestionado</a:t>
            </a:r>
            <a:endParaRPr lang="en-US" sz="850"/>
          </a:p>
        </p:txBody>
      </p:sp>
    </p:spTree>
    <p:extLst>
      <p:ext uri="{BB962C8B-B14F-4D97-AF65-F5344CB8AC3E}">
        <p14:creationId xmlns:p14="http://schemas.microsoft.com/office/powerpoint/2010/main" val="6655307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7B697E-8C70-317D-5B63-43CCAA6A36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F0F5FF-B5BC-9652-BA9C-EEFA7E300A21}"/>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CON DEUDA · UNIDADES (N)</a:t>
            </a:r>
            <a:endParaRPr lang="en-US" sz="950"/>
          </a:p>
        </p:txBody>
      </p:sp>
      <p:sp>
        <p:nvSpPr>
          <p:cNvPr id="3" name="TextBox 2">
            <a:extLst>
              <a:ext uri="{FF2B5EF4-FFF2-40B4-BE49-F238E27FC236}">
                <a16:creationId xmlns:a16="http://schemas.microsoft.com/office/drawing/2014/main" id="{5BA5D6CE-ADF1-040B-C6E9-4D144CDABE45}"/>
              </a:ext>
            </a:extLst>
          </p:cNvPr>
          <p:cNvSpPr txBox="1"/>
          <p:nvPr/>
        </p:nvSpPr>
        <p:spPr>
          <a:xfrm>
            <a:off x="658368" y="566928"/>
            <a:ext cx="13750564" cy="301621"/>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Los 6 clusters con </a:t>
            </a:r>
            <a:r>
              <a:rPr lang="en-US" sz="2000" b="1" err="1">
                <a:solidFill>
                  <a:srgbClr val="0B2E2C"/>
                </a:solidFill>
                <a:latin typeface="Arial" pitchFamily="34" charset="0"/>
                <a:ea typeface="Arial" pitchFamily="34" charset="-122"/>
                <a:cs typeface="Arial" pitchFamily="34" charset="-120"/>
              </a:rPr>
              <a:t>deuda</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caen</a:t>
            </a:r>
            <a:r>
              <a:rPr lang="en-US" sz="2000" b="1">
                <a:solidFill>
                  <a:srgbClr val="0B2E2C"/>
                </a:solidFill>
                <a:latin typeface="Arial" pitchFamily="34" charset="0"/>
                <a:ea typeface="Arial" pitchFamily="34" charset="-122"/>
                <a:cs typeface="Arial" pitchFamily="34" charset="-120"/>
              </a:rPr>
              <a:t> sin </a:t>
            </a:r>
            <a:r>
              <a:rPr lang="en-US" sz="2000" b="1" err="1">
                <a:solidFill>
                  <a:srgbClr val="0B2E2C"/>
                </a:solidFill>
                <a:latin typeface="Arial" pitchFamily="34" charset="0"/>
                <a:ea typeface="Arial" pitchFamily="34" charset="-122"/>
                <a:cs typeface="Arial" pitchFamily="34" charset="-120"/>
              </a:rPr>
              <a:t>excepción</a:t>
            </a:r>
            <a:r>
              <a:rPr lang="en-US" sz="2000" b="1">
                <a:solidFill>
                  <a:srgbClr val="0B2E2C"/>
                </a:solidFill>
                <a:latin typeface="Arial" pitchFamily="34" charset="0"/>
                <a:ea typeface="Arial" pitchFamily="34" charset="-122"/>
                <a:cs typeface="Arial" pitchFamily="34" charset="-120"/>
              </a:rPr>
              <a:t>, con la TEA </a:t>
            </a:r>
            <a:r>
              <a:rPr lang="en-US" sz="2000" b="1" err="1">
                <a:solidFill>
                  <a:srgbClr val="0B2E2C"/>
                </a:solidFill>
                <a:latin typeface="Arial" pitchFamily="34" charset="0"/>
                <a:ea typeface="Arial" pitchFamily="34" charset="-122"/>
                <a:cs typeface="Arial" pitchFamily="34" charset="-120"/>
              </a:rPr>
              <a:t>estable</a:t>
            </a:r>
            <a:r>
              <a:rPr lang="en-US" sz="2000" b="1">
                <a:solidFill>
                  <a:srgbClr val="0B2E2C"/>
                </a:solidFill>
                <a:latin typeface="Arial" pitchFamily="34" charset="0"/>
                <a:ea typeface="Arial" pitchFamily="34" charset="-122"/>
                <a:cs typeface="Arial" pitchFamily="34" charset="-120"/>
              </a:rPr>
              <a:t> — hay </a:t>
            </a:r>
            <a:r>
              <a:rPr lang="en-US" sz="2000" b="1" err="1">
                <a:solidFill>
                  <a:srgbClr val="0B2E2C"/>
                </a:solidFill>
                <a:latin typeface="Arial" pitchFamily="34" charset="0"/>
                <a:ea typeface="Arial" pitchFamily="34" charset="-122"/>
                <a:cs typeface="Arial" pitchFamily="34" charset="-120"/>
              </a:rPr>
              <a:t>espacio</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testear</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una</a:t>
            </a:r>
            <a:r>
              <a:rPr lang="en-US" sz="2000" b="1">
                <a:solidFill>
                  <a:srgbClr val="0B2E2C"/>
                </a:solidFill>
                <a:latin typeface="Arial" pitchFamily="34" charset="0"/>
                <a:ea typeface="Arial" pitchFamily="34" charset="-122"/>
                <a:cs typeface="Arial" pitchFamily="34" charset="-120"/>
              </a:rPr>
              <a:t> baja </a:t>
            </a:r>
            <a:r>
              <a:rPr lang="en-US" sz="2000" b="1" err="1">
                <a:solidFill>
                  <a:srgbClr val="0B2E2C"/>
                </a:solidFill>
                <a:latin typeface="Arial" pitchFamily="34" charset="0"/>
                <a:ea typeface="Arial" pitchFamily="34" charset="-122"/>
                <a:cs typeface="Arial" pitchFamily="34" charset="-120"/>
              </a:rPr>
              <a:t>selectiva</a:t>
            </a:r>
            <a:endParaRPr lang="en-US" sz="2000"/>
          </a:p>
        </p:txBody>
      </p:sp>
      <p:pic>
        <p:nvPicPr>
          <p:cNvPr id="5" name="Picture 4" descr="logo_dark.png">
            <a:extLst>
              <a:ext uri="{FF2B5EF4-FFF2-40B4-BE49-F238E27FC236}">
                <a16:creationId xmlns:a16="http://schemas.microsoft.com/office/drawing/2014/main" id="{84B62775-9ABB-A8BA-C380-E0A8FDA60262}"/>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9CC1D273-60E0-332A-23C5-9F1E3A9D27E2}"/>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A9810FB8-70F8-4B8E-38A4-E1CCC02D7729}"/>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8" name="Shape 3">
            <a:extLst>
              <a:ext uri="{FF2B5EF4-FFF2-40B4-BE49-F238E27FC236}">
                <a16:creationId xmlns:a16="http://schemas.microsoft.com/office/drawing/2014/main" id="{06ECD4EB-B7E8-41B1-7F77-F85B22A5A9E9}"/>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0" name="Text 4">
            <a:extLst>
              <a:ext uri="{FF2B5EF4-FFF2-40B4-BE49-F238E27FC236}">
                <a16:creationId xmlns:a16="http://schemas.microsoft.com/office/drawing/2014/main" id="{11EB443D-6E62-BC98-D74C-123B2AD859A0}"/>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Ancla</a:t>
            </a:r>
            <a:endParaRPr lang="en-US" sz="850"/>
          </a:p>
        </p:txBody>
      </p:sp>
      <p:sp>
        <p:nvSpPr>
          <p:cNvPr id="13" name="Shape 5">
            <a:extLst>
              <a:ext uri="{FF2B5EF4-FFF2-40B4-BE49-F238E27FC236}">
                <a16:creationId xmlns:a16="http://schemas.microsoft.com/office/drawing/2014/main" id="{D8F7DC6C-3FC6-3CE0-2A05-1BB530EE56DA}"/>
              </a:ext>
            </a:extLst>
          </p:cNvPr>
          <p:cNvSpPr/>
          <p:nvPr/>
        </p:nvSpPr>
        <p:spPr>
          <a:xfrm>
            <a:off x="658368"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15" name="Chart 0">
            <a:extLst>
              <a:ext uri="{FF2B5EF4-FFF2-40B4-BE49-F238E27FC236}">
                <a16:creationId xmlns:a16="http://schemas.microsoft.com/office/drawing/2014/main" id="{48D156B6-22FD-8A72-02B8-9FE50D4BE1E2}"/>
              </a:ext>
            </a:extLst>
          </p:cNvPr>
          <p:cNvGraphicFramePr/>
          <p:nvPr>
            <p:extLst>
              <p:ext uri="{D42A27DB-BD31-4B8C-83A1-F6EECF244321}">
                <p14:modId xmlns:p14="http://schemas.microsoft.com/office/powerpoint/2010/main" val="3448785241"/>
              </p:ext>
            </p:extLst>
          </p:nvPr>
        </p:nvGraphicFramePr>
        <p:xfrm>
          <a:off x="713232" y="1755648"/>
          <a:ext cx="4760062" cy="1815084"/>
        </p:xfrm>
        <a:graphic>
          <a:graphicData uri="http://schemas.openxmlformats.org/drawingml/2006/chart">
            <c:chart xmlns:c="http://schemas.openxmlformats.org/drawingml/2006/chart" xmlns:r="http://schemas.openxmlformats.org/officeDocument/2006/relationships" r:id="rId5"/>
          </a:graphicData>
        </a:graphic>
      </p:graphicFrame>
      <p:sp>
        <p:nvSpPr>
          <p:cNvPr id="17" name="Shape 6">
            <a:extLst>
              <a:ext uri="{FF2B5EF4-FFF2-40B4-BE49-F238E27FC236}">
                <a16:creationId xmlns:a16="http://schemas.microsoft.com/office/drawing/2014/main" id="{882326F3-29E6-8019-9B98-75DF34CCD036}"/>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1" name="Text 7">
            <a:extLst>
              <a:ext uri="{FF2B5EF4-FFF2-40B4-BE49-F238E27FC236}">
                <a16:creationId xmlns:a16="http://schemas.microsoft.com/office/drawing/2014/main" id="{96015E62-AEEE-8AA1-945C-4ACC8DBB3749}"/>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Socio en Crecimiento</a:t>
            </a:r>
            <a:endParaRPr lang="en-US" sz="850"/>
          </a:p>
        </p:txBody>
      </p:sp>
      <p:sp>
        <p:nvSpPr>
          <p:cNvPr id="24" name="Shape 8">
            <a:extLst>
              <a:ext uri="{FF2B5EF4-FFF2-40B4-BE49-F238E27FC236}">
                <a16:creationId xmlns:a16="http://schemas.microsoft.com/office/drawing/2014/main" id="{53A0BEEB-276C-96A6-D57A-ADDE44CB0990}"/>
              </a:ext>
            </a:extLst>
          </p:cNvPr>
          <p:cNvSpPr/>
          <p:nvPr/>
        </p:nvSpPr>
        <p:spPr>
          <a:xfrm>
            <a:off x="5692750"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27" name="Chart 1">
            <a:extLst>
              <a:ext uri="{FF2B5EF4-FFF2-40B4-BE49-F238E27FC236}">
                <a16:creationId xmlns:a16="http://schemas.microsoft.com/office/drawing/2014/main" id="{CE672345-5BA6-F543-60C6-CBFA6EB8711B}"/>
              </a:ext>
            </a:extLst>
          </p:cNvPr>
          <p:cNvGraphicFramePr/>
          <p:nvPr>
            <p:extLst>
              <p:ext uri="{D42A27DB-BD31-4B8C-83A1-F6EECF244321}">
                <p14:modId xmlns:p14="http://schemas.microsoft.com/office/powerpoint/2010/main" val="2996932725"/>
              </p:ext>
            </p:extLst>
          </p:nvPr>
        </p:nvGraphicFramePr>
        <p:xfrm>
          <a:off x="5747614" y="1755648"/>
          <a:ext cx="4760062" cy="1815084"/>
        </p:xfrm>
        <a:graphic>
          <a:graphicData uri="http://schemas.openxmlformats.org/drawingml/2006/chart">
            <c:chart xmlns:c="http://schemas.openxmlformats.org/drawingml/2006/chart" xmlns:r="http://schemas.openxmlformats.org/officeDocument/2006/relationships" r:id="rId6"/>
          </a:graphicData>
        </a:graphic>
      </p:graphicFrame>
      <p:sp>
        <p:nvSpPr>
          <p:cNvPr id="31" name="Shape 9">
            <a:extLst>
              <a:ext uri="{FF2B5EF4-FFF2-40B4-BE49-F238E27FC236}">
                <a16:creationId xmlns:a16="http://schemas.microsoft.com/office/drawing/2014/main" id="{753A4CD6-BE9C-BF44-E6B9-6756DB6AF5BB}"/>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4" name="Text 10">
            <a:extLst>
              <a:ext uri="{FF2B5EF4-FFF2-40B4-BE49-F238E27FC236}">
                <a16:creationId xmlns:a16="http://schemas.microsoft.com/office/drawing/2014/main" id="{9B9BF126-BE7A-40F8-678E-9785A81020F3}"/>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Cuenta Estratégica</a:t>
            </a:r>
            <a:endParaRPr lang="en-US" sz="850"/>
          </a:p>
        </p:txBody>
      </p:sp>
      <p:sp>
        <p:nvSpPr>
          <p:cNvPr id="37" name="Shape 11">
            <a:extLst>
              <a:ext uri="{FF2B5EF4-FFF2-40B4-BE49-F238E27FC236}">
                <a16:creationId xmlns:a16="http://schemas.microsoft.com/office/drawing/2014/main" id="{22D1AD2B-3BC8-A5DD-E8DA-D9187150911E}"/>
              </a:ext>
            </a:extLst>
          </p:cNvPr>
          <p:cNvSpPr/>
          <p:nvPr/>
        </p:nvSpPr>
        <p:spPr>
          <a:xfrm>
            <a:off x="10727131"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41" name="Chart 2">
            <a:extLst>
              <a:ext uri="{FF2B5EF4-FFF2-40B4-BE49-F238E27FC236}">
                <a16:creationId xmlns:a16="http://schemas.microsoft.com/office/drawing/2014/main" id="{149A00D9-6673-D302-6259-5DD7922551F3}"/>
              </a:ext>
            </a:extLst>
          </p:cNvPr>
          <p:cNvGraphicFramePr/>
          <p:nvPr>
            <p:extLst>
              <p:ext uri="{D42A27DB-BD31-4B8C-83A1-F6EECF244321}">
                <p14:modId xmlns:p14="http://schemas.microsoft.com/office/powerpoint/2010/main" val="4067940194"/>
              </p:ext>
            </p:extLst>
          </p:nvPr>
        </p:nvGraphicFramePr>
        <p:xfrm>
          <a:off x="10781995" y="1755648"/>
          <a:ext cx="4760062" cy="1815084"/>
        </p:xfrm>
        <a:graphic>
          <a:graphicData uri="http://schemas.openxmlformats.org/drawingml/2006/chart">
            <c:chart xmlns:c="http://schemas.openxmlformats.org/drawingml/2006/chart" xmlns:r="http://schemas.openxmlformats.org/officeDocument/2006/relationships" r:id="rId7"/>
          </a:graphicData>
        </a:graphic>
      </p:graphicFrame>
      <p:sp>
        <p:nvSpPr>
          <p:cNvPr id="44" name="Shape 12">
            <a:extLst>
              <a:ext uri="{FF2B5EF4-FFF2-40B4-BE49-F238E27FC236}">
                <a16:creationId xmlns:a16="http://schemas.microsoft.com/office/drawing/2014/main" id="{0DEDB3AF-E209-4F9D-4298-7C9E0B785330}"/>
              </a:ext>
            </a:extLst>
          </p:cNvPr>
          <p:cNvSpPr/>
          <p:nvPr/>
        </p:nvSpPr>
        <p:spPr>
          <a:xfrm>
            <a:off x="658368" y="3790188"/>
            <a:ext cx="4869790" cy="237744"/>
          </a:xfrm>
          <a:prstGeom prst="rect">
            <a:avLst/>
          </a:prstGeom>
          <a:solidFill>
            <a:srgbClr val="13807B"/>
          </a:solidFill>
          <a:ln/>
        </p:spPr>
        <p:txBody>
          <a:bodyPr/>
          <a:lstStyle/>
          <a:p>
            <a:endParaRPr lang="es-PE"/>
          </a:p>
        </p:txBody>
      </p:sp>
      <p:sp>
        <p:nvSpPr>
          <p:cNvPr id="46" name="Text 13">
            <a:extLst>
              <a:ext uri="{FF2B5EF4-FFF2-40B4-BE49-F238E27FC236}">
                <a16:creationId xmlns:a16="http://schemas.microsoft.com/office/drawing/2014/main" id="{FB1F9713-F6D2-CDAE-2538-EBC274CC8FAC}"/>
              </a:ext>
            </a:extLst>
          </p:cNvPr>
          <p:cNvSpPr txBox="1"/>
          <p:nvPr/>
        </p:nvSpPr>
        <p:spPr>
          <a:xfrm>
            <a:off x="658368"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Maduro Multibanco</a:t>
            </a:r>
            <a:endParaRPr lang="en-US" sz="850"/>
          </a:p>
        </p:txBody>
      </p:sp>
      <p:sp>
        <p:nvSpPr>
          <p:cNvPr id="50" name="Shape 14">
            <a:extLst>
              <a:ext uri="{FF2B5EF4-FFF2-40B4-BE49-F238E27FC236}">
                <a16:creationId xmlns:a16="http://schemas.microsoft.com/office/drawing/2014/main" id="{51912FE1-CD99-0AB7-CA6D-D4520920BD58}"/>
              </a:ext>
            </a:extLst>
          </p:cNvPr>
          <p:cNvSpPr/>
          <p:nvPr/>
        </p:nvSpPr>
        <p:spPr>
          <a:xfrm>
            <a:off x="658368"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53" name="Chart 3">
            <a:extLst>
              <a:ext uri="{FF2B5EF4-FFF2-40B4-BE49-F238E27FC236}">
                <a16:creationId xmlns:a16="http://schemas.microsoft.com/office/drawing/2014/main" id="{B1B828AE-3C09-0DD9-2916-C3741CE18289}"/>
              </a:ext>
            </a:extLst>
          </p:cNvPr>
          <p:cNvGraphicFramePr/>
          <p:nvPr>
            <p:extLst>
              <p:ext uri="{D42A27DB-BD31-4B8C-83A1-F6EECF244321}">
                <p14:modId xmlns:p14="http://schemas.microsoft.com/office/powerpoint/2010/main" val="272400134"/>
              </p:ext>
            </p:extLst>
          </p:nvPr>
        </p:nvGraphicFramePr>
        <p:xfrm>
          <a:off x="713232" y="4082796"/>
          <a:ext cx="4760062" cy="1815084"/>
        </p:xfrm>
        <a:graphic>
          <a:graphicData uri="http://schemas.openxmlformats.org/drawingml/2006/chart">
            <c:chart xmlns:c="http://schemas.openxmlformats.org/drawingml/2006/chart" xmlns:r="http://schemas.openxmlformats.org/officeDocument/2006/relationships" r:id="rId8"/>
          </a:graphicData>
        </a:graphic>
      </p:graphicFrame>
      <p:sp>
        <p:nvSpPr>
          <p:cNvPr id="57" name="Shape 15">
            <a:extLst>
              <a:ext uri="{FF2B5EF4-FFF2-40B4-BE49-F238E27FC236}">
                <a16:creationId xmlns:a16="http://schemas.microsoft.com/office/drawing/2014/main" id="{C341DAE0-2218-9DE5-CE19-C3EE0104B372}"/>
              </a:ext>
            </a:extLst>
          </p:cNvPr>
          <p:cNvSpPr/>
          <p:nvPr/>
        </p:nvSpPr>
        <p:spPr>
          <a:xfrm>
            <a:off x="5692750" y="3790188"/>
            <a:ext cx="4869790" cy="237744"/>
          </a:xfrm>
          <a:prstGeom prst="rect">
            <a:avLst/>
          </a:prstGeom>
          <a:solidFill>
            <a:srgbClr val="13807B"/>
          </a:solidFill>
          <a:ln/>
        </p:spPr>
        <p:txBody>
          <a:bodyPr/>
          <a:lstStyle/>
          <a:p>
            <a:endParaRPr lang="es-PE"/>
          </a:p>
        </p:txBody>
      </p:sp>
      <p:sp>
        <p:nvSpPr>
          <p:cNvPr id="61" name="Text 16">
            <a:extLst>
              <a:ext uri="{FF2B5EF4-FFF2-40B4-BE49-F238E27FC236}">
                <a16:creationId xmlns:a16="http://schemas.microsoft.com/office/drawing/2014/main" id="{CEDA1112-E48B-1502-7FCF-B581E9F97F6F}"/>
              </a:ext>
            </a:extLst>
          </p:cNvPr>
          <p:cNvSpPr txBox="1"/>
          <p:nvPr/>
        </p:nvSpPr>
        <p:spPr>
          <a:xfrm>
            <a:off x="5692750"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Gran Cuenta por Conquistar</a:t>
            </a:r>
            <a:endParaRPr lang="en-US" sz="850"/>
          </a:p>
        </p:txBody>
      </p:sp>
      <p:sp>
        <p:nvSpPr>
          <p:cNvPr id="65" name="Shape 17">
            <a:extLst>
              <a:ext uri="{FF2B5EF4-FFF2-40B4-BE49-F238E27FC236}">
                <a16:creationId xmlns:a16="http://schemas.microsoft.com/office/drawing/2014/main" id="{B19DEED6-8A4C-74D7-5D1E-4805FA526D8E}"/>
              </a:ext>
            </a:extLst>
          </p:cNvPr>
          <p:cNvSpPr/>
          <p:nvPr/>
        </p:nvSpPr>
        <p:spPr>
          <a:xfrm>
            <a:off x="5692750"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69" name="Chart 4">
            <a:extLst>
              <a:ext uri="{FF2B5EF4-FFF2-40B4-BE49-F238E27FC236}">
                <a16:creationId xmlns:a16="http://schemas.microsoft.com/office/drawing/2014/main" id="{F2B68F55-AB1C-16CD-B117-7C0270784304}"/>
              </a:ext>
            </a:extLst>
          </p:cNvPr>
          <p:cNvGraphicFramePr/>
          <p:nvPr>
            <p:extLst>
              <p:ext uri="{D42A27DB-BD31-4B8C-83A1-F6EECF244321}">
                <p14:modId xmlns:p14="http://schemas.microsoft.com/office/powerpoint/2010/main" val="3966837503"/>
              </p:ext>
            </p:extLst>
          </p:nvPr>
        </p:nvGraphicFramePr>
        <p:xfrm>
          <a:off x="5747614" y="4082796"/>
          <a:ext cx="4760062" cy="1815084"/>
        </p:xfrm>
        <a:graphic>
          <a:graphicData uri="http://schemas.openxmlformats.org/drawingml/2006/chart">
            <c:chart xmlns:c="http://schemas.openxmlformats.org/drawingml/2006/chart" xmlns:r="http://schemas.openxmlformats.org/officeDocument/2006/relationships" r:id="rId9"/>
          </a:graphicData>
        </a:graphic>
      </p:graphicFrame>
      <p:sp>
        <p:nvSpPr>
          <p:cNvPr id="73" name="Shape 18">
            <a:extLst>
              <a:ext uri="{FF2B5EF4-FFF2-40B4-BE49-F238E27FC236}">
                <a16:creationId xmlns:a16="http://schemas.microsoft.com/office/drawing/2014/main" id="{C203F744-4D95-892C-A5A7-2D73264CD18B}"/>
              </a:ext>
            </a:extLst>
          </p:cNvPr>
          <p:cNvSpPr/>
          <p:nvPr/>
        </p:nvSpPr>
        <p:spPr>
          <a:xfrm>
            <a:off x="10727131" y="3790188"/>
            <a:ext cx="4869790" cy="237744"/>
          </a:xfrm>
          <a:prstGeom prst="rect">
            <a:avLst/>
          </a:prstGeom>
          <a:solidFill>
            <a:srgbClr val="13807B"/>
          </a:solidFill>
          <a:ln/>
        </p:spPr>
        <p:txBody>
          <a:bodyPr/>
          <a:lstStyle/>
          <a:p>
            <a:endParaRPr lang="es-PE"/>
          </a:p>
        </p:txBody>
      </p:sp>
      <p:sp>
        <p:nvSpPr>
          <p:cNvPr id="77" name="Text 19">
            <a:extLst>
              <a:ext uri="{FF2B5EF4-FFF2-40B4-BE49-F238E27FC236}">
                <a16:creationId xmlns:a16="http://schemas.microsoft.com/office/drawing/2014/main" id="{3670AAB4-0C1E-A732-FDEF-210DF6DAC7E1}"/>
              </a:ext>
            </a:extLst>
          </p:cNvPr>
          <p:cNvSpPr txBox="1"/>
          <p:nvPr/>
        </p:nvSpPr>
        <p:spPr>
          <a:xfrm>
            <a:off x="10727131"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por Reactivar</a:t>
            </a:r>
            <a:endParaRPr lang="en-US" sz="850"/>
          </a:p>
        </p:txBody>
      </p:sp>
      <p:sp>
        <p:nvSpPr>
          <p:cNvPr id="81" name="Shape 20">
            <a:extLst>
              <a:ext uri="{FF2B5EF4-FFF2-40B4-BE49-F238E27FC236}">
                <a16:creationId xmlns:a16="http://schemas.microsoft.com/office/drawing/2014/main" id="{952420BF-766F-6A65-3146-1F769018CB92}"/>
              </a:ext>
            </a:extLst>
          </p:cNvPr>
          <p:cNvSpPr/>
          <p:nvPr/>
        </p:nvSpPr>
        <p:spPr>
          <a:xfrm>
            <a:off x="10727131"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85" name="Chart 5">
            <a:extLst>
              <a:ext uri="{FF2B5EF4-FFF2-40B4-BE49-F238E27FC236}">
                <a16:creationId xmlns:a16="http://schemas.microsoft.com/office/drawing/2014/main" id="{79C9B1A6-61F3-9F13-0500-4E8B9F0D96C7}"/>
              </a:ext>
            </a:extLst>
          </p:cNvPr>
          <p:cNvGraphicFramePr/>
          <p:nvPr>
            <p:extLst>
              <p:ext uri="{D42A27DB-BD31-4B8C-83A1-F6EECF244321}">
                <p14:modId xmlns:p14="http://schemas.microsoft.com/office/powerpoint/2010/main" val="2225980529"/>
              </p:ext>
            </p:extLst>
          </p:nvPr>
        </p:nvGraphicFramePr>
        <p:xfrm>
          <a:off x="10781995" y="4082796"/>
          <a:ext cx="4760062" cy="1815084"/>
        </p:xfrm>
        <a:graphic>
          <a:graphicData uri="http://schemas.openxmlformats.org/drawingml/2006/chart">
            <c:chart xmlns:c="http://schemas.openxmlformats.org/drawingml/2006/chart" xmlns:r="http://schemas.openxmlformats.org/officeDocument/2006/relationships" r:id="rId10"/>
          </a:graphicData>
        </a:graphic>
      </p:graphicFrame>
      <p:sp>
        <p:nvSpPr>
          <p:cNvPr id="89" name="Shape 21">
            <a:extLst>
              <a:ext uri="{FF2B5EF4-FFF2-40B4-BE49-F238E27FC236}">
                <a16:creationId xmlns:a16="http://schemas.microsoft.com/office/drawing/2014/main" id="{5EFD284B-0B2C-9369-777C-DC2590EA777C}"/>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93" name="Text 22">
            <a:extLst>
              <a:ext uri="{FF2B5EF4-FFF2-40B4-BE49-F238E27FC236}">
                <a16:creationId xmlns:a16="http://schemas.microsoft.com/office/drawing/2014/main" id="{F672E87C-F323-3ACE-B4E9-090C00482996}"/>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97" name="Shape 23">
            <a:extLst>
              <a:ext uri="{FF2B5EF4-FFF2-40B4-BE49-F238E27FC236}">
                <a16:creationId xmlns:a16="http://schemas.microsoft.com/office/drawing/2014/main" id="{8C2FF7D6-813B-53B3-999D-9E1B8CB9B503}"/>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101" name="Text 24">
            <a:extLst>
              <a:ext uri="{FF2B5EF4-FFF2-40B4-BE49-F238E27FC236}">
                <a16:creationId xmlns:a16="http://schemas.microsoft.com/office/drawing/2014/main" id="{9E885BC6-E001-CE29-8D49-C5816EECE9BC}"/>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105" name="Shape 25">
            <a:extLst>
              <a:ext uri="{FF2B5EF4-FFF2-40B4-BE49-F238E27FC236}">
                <a16:creationId xmlns:a16="http://schemas.microsoft.com/office/drawing/2014/main" id="{96D698ED-5AE2-0DEB-53AE-970072C0E088}"/>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109" name="Text 26">
            <a:extLst>
              <a:ext uri="{FF2B5EF4-FFF2-40B4-BE49-F238E27FC236}">
                <a16:creationId xmlns:a16="http://schemas.microsoft.com/office/drawing/2014/main" id="{4196AC73-1B41-DF35-276C-A027ACAC34DF}"/>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111" name="Shape 27">
            <a:extLst>
              <a:ext uri="{FF2B5EF4-FFF2-40B4-BE49-F238E27FC236}">
                <a16:creationId xmlns:a16="http://schemas.microsoft.com/office/drawing/2014/main" id="{E7581643-3390-EC2C-BE34-391237DB9098}"/>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113" name="Text 28">
            <a:extLst>
              <a:ext uri="{FF2B5EF4-FFF2-40B4-BE49-F238E27FC236}">
                <a16:creationId xmlns:a16="http://schemas.microsoft.com/office/drawing/2014/main" id="{F837D2FA-6814-92F5-0DB9-852CE8D14DEB}"/>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115" name="Shape 29">
            <a:extLst>
              <a:ext uri="{FF2B5EF4-FFF2-40B4-BE49-F238E27FC236}">
                <a16:creationId xmlns:a16="http://schemas.microsoft.com/office/drawing/2014/main" id="{BA90BE0C-FFB4-744C-2283-C1FD3B3D298B}"/>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117" name="Text 30">
            <a:extLst>
              <a:ext uri="{FF2B5EF4-FFF2-40B4-BE49-F238E27FC236}">
                <a16:creationId xmlns:a16="http://schemas.microsoft.com/office/drawing/2014/main" id="{8E5E7891-E8DD-B66C-9B5D-3DBDFBB4354F}"/>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119" name="Shape 31">
            <a:extLst>
              <a:ext uri="{FF2B5EF4-FFF2-40B4-BE49-F238E27FC236}">
                <a16:creationId xmlns:a16="http://schemas.microsoft.com/office/drawing/2014/main" id="{1E9D95C9-B5AB-5059-0DF0-81425B4D289D}"/>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121" name="Text 32">
            <a:extLst>
              <a:ext uri="{FF2B5EF4-FFF2-40B4-BE49-F238E27FC236}">
                <a16:creationId xmlns:a16="http://schemas.microsoft.com/office/drawing/2014/main" id="{5EEACA13-17CA-DD04-6915-A93F2E71B2A7}"/>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123" name="Shape 33">
            <a:extLst>
              <a:ext uri="{FF2B5EF4-FFF2-40B4-BE49-F238E27FC236}">
                <a16:creationId xmlns:a16="http://schemas.microsoft.com/office/drawing/2014/main" id="{1DCC5CB9-5FCD-0A6D-1B13-BB19E75CD108}"/>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125" name="Text 34">
            <a:extLst>
              <a:ext uri="{FF2B5EF4-FFF2-40B4-BE49-F238E27FC236}">
                <a16:creationId xmlns:a16="http://schemas.microsoft.com/office/drawing/2014/main" id="{85865DDF-3424-A646-2403-BA6A4900DC8F}"/>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27" name="Text 35">
            <a:extLst>
              <a:ext uri="{FF2B5EF4-FFF2-40B4-BE49-F238E27FC236}">
                <a16:creationId xmlns:a16="http://schemas.microsoft.com/office/drawing/2014/main" id="{9A06A9E2-C584-F1DD-456F-ABF42AB73B13}"/>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6 clusters caen entre 2025Q2 y 2026Q2 (-16pp a -28pp) con la brecha TEA estable (~2.4-3.6pp): el precio actual no explica la caída, pero tampoco la ha frenado.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Socio en Crecimiento, Cuenta Estratégica y Maduro Multibanco son los de mayor caída (-28pp) — ahí conviene testear una baja selectiva de TEA ofertada (piloto acotado, no across-the-board) para ver si recupera share antes de escalarlo a los otros 3.</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Cliente por Reactivar resiste mejor (-18pp) con la TEA ofertada más alta del grupo (22.8%-23.0% vs. ~20-21% en el resto) — no bajar tasa ahí todavía: el cliente parece menos sensible al precio que el resto.</a:t>
            </a:r>
            <a:endParaRPr lang="en-US" sz="1000"/>
          </a:p>
        </p:txBody>
      </p:sp>
    </p:spTree>
    <p:extLst>
      <p:ext uri="{BB962C8B-B14F-4D97-AF65-F5344CB8AC3E}">
        <p14:creationId xmlns:p14="http://schemas.microsoft.com/office/powerpoint/2010/main" val="19180242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92A04B-6E3F-D15B-6777-2FFC877771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414708-DF26-6A50-F2E8-DBFF6E0138D1}"/>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CON DEUDA · MONTO (S/)</a:t>
            </a:r>
            <a:endParaRPr lang="en-US" sz="950"/>
          </a:p>
        </p:txBody>
      </p:sp>
      <p:sp>
        <p:nvSpPr>
          <p:cNvPr id="3" name="TextBox 2">
            <a:extLst>
              <a:ext uri="{FF2B5EF4-FFF2-40B4-BE49-F238E27FC236}">
                <a16:creationId xmlns:a16="http://schemas.microsoft.com/office/drawing/2014/main" id="{3ABFAEFC-D125-42F4-89CD-A63EA3CCD26D}"/>
              </a:ext>
            </a:extLst>
          </p:cNvPr>
          <p:cNvSpPr txBox="1"/>
          <p:nvPr/>
        </p:nvSpPr>
        <p:spPr>
          <a:xfrm>
            <a:off x="658368" y="566928"/>
            <a:ext cx="13750564" cy="603242"/>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En </a:t>
            </a:r>
            <a:r>
              <a:rPr lang="en-US" sz="2000" b="1" err="1">
                <a:solidFill>
                  <a:srgbClr val="0B2E2C"/>
                </a:solidFill>
                <a:latin typeface="Arial" pitchFamily="34" charset="0"/>
                <a:ea typeface="Arial" pitchFamily="34" charset="-122"/>
                <a:cs typeface="Arial" pitchFamily="34" charset="-120"/>
              </a:rPr>
              <a:t>monto</a:t>
            </a:r>
            <a:r>
              <a:rPr lang="en-US" sz="2000" b="1">
                <a:solidFill>
                  <a:srgbClr val="0B2E2C"/>
                </a:solidFill>
                <a:latin typeface="Arial" pitchFamily="34" charset="0"/>
                <a:ea typeface="Arial" pitchFamily="34" charset="-122"/>
                <a:cs typeface="Arial" pitchFamily="34" charset="-120"/>
              </a:rPr>
              <a:t> la </a:t>
            </a:r>
            <a:r>
              <a:rPr lang="en-US" sz="2000" b="1" err="1">
                <a:solidFill>
                  <a:srgbClr val="0B2E2C"/>
                </a:solidFill>
                <a:latin typeface="Arial" pitchFamily="34" charset="0"/>
                <a:ea typeface="Arial" pitchFamily="34" charset="-122"/>
                <a:cs typeface="Arial" pitchFamily="34" charset="-120"/>
              </a:rPr>
              <a:t>caída</a:t>
            </a:r>
            <a:r>
              <a:rPr lang="en-US" sz="2000" b="1">
                <a:solidFill>
                  <a:srgbClr val="0B2E2C"/>
                </a:solidFill>
                <a:latin typeface="Arial" pitchFamily="34" charset="0"/>
                <a:ea typeface="Arial" pitchFamily="34" charset="-122"/>
                <a:cs typeface="Arial" pitchFamily="34" charset="-120"/>
              </a:rPr>
              <a:t> con </a:t>
            </a:r>
            <a:r>
              <a:rPr lang="en-US" sz="2000" b="1" err="1">
                <a:solidFill>
                  <a:srgbClr val="0B2E2C"/>
                </a:solidFill>
                <a:latin typeface="Arial" pitchFamily="34" charset="0"/>
                <a:ea typeface="Arial" pitchFamily="34" charset="-122"/>
                <a:cs typeface="Arial" pitchFamily="34" charset="-120"/>
              </a:rPr>
              <a:t>deuda</a:t>
            </a:r>
            <a:r>
              <a:rPr lang="en-US" sz="2000" b="1">
                <a:solidFill>
                  <a:srgbClr val="0B2E2C"/>
                </a:solidFill>
                <a:latin typeface="Arial" pitchFamily="34" charset="0"/>
                <a:ea typeface="Arial" pitchFamily="34" charset="-122"/>
                <a:cs typeface="Arial" pitchFamily="34" charset="-120"/>
              </a:rPr>
              <a:t> es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fuerte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que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en</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unidades</a:t>
            </a:r>
            <a:r>
              <a:rPr lang="en-US" sz="2000" b="1">
                <a:solidFill>
                  <a:srgbClr val="0B2E2C"/>
                </a:solidFill>
                <a:latin typeface="Arial" pitchFamily="34" charset="0"/>
                <a:ea typeface="Arial" pitchFamily="34" charset="-122"/>
                <a:cs typeface="Arial" pitchFamily="34" charset="-120"/>
              </a:rPr>
              <a:t> — el </a:t>
            </a:r>
            <a:r>
              <a:rPr lang="en-US" sz="2000" b="1" err="1">
                <a:solidFill>
                  <a:srgbClr val="0B2E2C"/>
                </a:solidFill>
                <a:latin typeface="Arial" pitchFamily="34" charset="0"/>
                <a:ea typeface="Arial" pitchFamily="34" charset="-122"/>
                <a:cs typeface="Arial" pitchFamily="34" charset="-120"/>
              </a:rPr>
              <a:t>espacio</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bajar</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tasa</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debe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priorizarse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en</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los</a:t>
            </a:r>
            <a:r>
              <a:rPr lang="en-US" sz="2000" b="1">
                <a:solidFill>
                  <a:srgbClr val="0B2E2C"/>
                </a:solidFill>
                <a:latin typeface="Arial" pitchFamily="34" charset="0"/>
                <a:ea typeface="Arial" pitchFamily="34" charset="-122"/>
                <a:cs typeface="Arial" pitchFamily="34" charset="-120"/>
              </a:rPr>
              <a:t> tickets </a:t>
            </a:r>
            <a:r>
              <a:rPr lang="en-US" sz="2000" b="1" err="1">
                <a:solidFill>
                  <a:srgbClr val="0B2E2C"/>
                </a:solidFill>
                <a:latin typeface="Arial" pitchFamily="34" charset="0"/>
                <a:ea typeface="Arial" pitchFamily="34" charset="-122"/>
                <a:cs typeface="Arial" pitchFamily="34" charset="-120"/>
              </a:rPr>
              <a:t>grandes</a:t>
            </a:r>
            <a:endParaRPr lang="en-US" sz="2000"/>
          </a:p>
        </p:txBody>
      </p:sp>
      <p:pic>
        <p:nvPicPr>
          <p:cNvPr id="5" name="Picture 4" descr="logo_dark.png">
            <a:extLst>
              <a:ext uri="{FF2B5EF4-FFF2-40B4-BE49-F238E27FC236}">
                <a16:creationId xmlns:a16="http://schemas.microsoft.com/office/drawing/2014/main" id="{E7FE23D7-D7BD-731D-4B4A-BFF6A21A1CB7}"/>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ED5F9246-FCF3-19F1-0267-DA04FEE59EA6}"/>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0DDF6B91-51D7-62D8-11A7-0FA001097576}"/>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7" name="Shape 3">
            <a:extLst>
              <a:ext uri="{FF2B5EF4-FFF2-40B4-BE49-F238E27FC236}">
                <a16:creationId xmlns:a16="http://schemas.microsoft.com/office/drawing/2014/main" id="{F27179B9-8F37-81DB-48C2-838D8E5B1C6F}"/>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1" name="Text 4">
            <a:extLst>
              <a:ext uri="{FF2B5EF4-FFF2-40B4-BE49-F238E27FC236}">
                <a16:creationId xmlns:a16="http://schemas.microsoft.com/office/drawing/2014/main" id="{DFFB9ED1-4B0D-4324-87BE-9765F5364F07}"/>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Ancla</a:t>
            </a:r>
            <a:endParaRPr lang="en-US" sz="850"/>
          </a:p>
        </p:txBody>
      </p:sp>
      <p:sp>
        <p:nvSpPr>
          <p:cNvPr id="16" name="Shape 5">
            <a:extLst>
              <a:ext uri="{FF2B5EF4-FFF2-40B4-BE49-F238E27FC236}">
                <a16:creationId xmlns:a16="http://schemas.microsoft.com/office/drawing/2014/main" id="{F17BA6CC-96A9-CEBE-89BB-471FBFDE0C6C}"/>
              </a:ext>
            </a:extLst>
          </p:cNvPr>
          <p:cNvSpPr/>
          <p:nvPr/>
        </p:nvSpPr>
        <p:spPr>
          <a:xfrm>
            <a:off x="658368"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19" name="Chart 0">
            <a:extLst>
              <a:ext uri="{FF2B5EF4-FFF2-40B4-BE49-F238E27FC236}">
                <a16:creationId xmlns:a16="http://schemas.microsoft.com/office/drawing/2014/main" id="{950D8D61-4AF5-8EB5-78E2-DC1E14078148}"/>
              </a:ext>
            </a:extLst>
          </p:cNvPr>
          <p:cNvGraphicFramePr/>
          <p:nvPr>
            <p:extLst>
              <p:ext uri="{D42A27DB-BD31-4B8C-83A1-F6EECF244321}">
                <p14:modId xmlns:p14="http://schemas.microsoft.com/office/powerpoint/2010/main" val="3044948921"/>
              </p:ext>
            </p:extLst>
          </p:nvPr>
        </p:nvGraphicFramePr>
        <p:xfrm>
          <a:off x="713232" y="1755648"/>
          <a:ext cx="4760062" cy="1815084"/>
        </p:xfrm>
        <a:graphic>
          <a:graphicData uri="http://schemas.openxmlformats.org/drawingml/2006/chart">
            <c:chart xmlns:c="http://schemas.openxmlformats.org/drawingml/2006/chart" xmlns:r="http://schemas.openxmlformats.org/officeDocument/2006/relationships" r:id="rId5"/>
          </a:graphicData>
        </a:graphic>
      </p:graphicFrame>
      <p:sp>
        <p:nvSpPr>
          <p:cNvPr id="22" name="Shape 6">
            <a:extLst>
              <a:ext uri="{FF2B5EF4-FFF2-40B4-BE49-F238E27FC236}">
                <a16:creationId xmlns:a16="http://schemas.microsoft.com/office/drawing/2014/main" id="{4E39C858-8D48-D83D-1430-B5047A19F597}"/>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5" name="Text 7">
            <a:extLst>
              <a:ext uri="{FF2B5EF4-FFF2-40B4-BE49-F238E27FC236}">
                <a16:creationId xmlns:a16="http://schemas.microsoft.com/office/drawing/2014/main" id="{001D31FA-A293-4ADF-D2CC-218EEE58E819}"/>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Socio en Crecimiento</a:t>
            </a:r>
            <a:endParaRPr lang="en-US" sz="850"/>
          </a:p>
        </p:txBody>
      </p:sp>
      <p:sp>
        <p:nvSpPr>
          <p:cNvPr id="28" name="Shape 8">
            <a:extLst>
              <a:ext uri="{FF2B5EF4-FFF2-40B4-BE49-F238E27FC236}">
                <a16:creationId xmlns:a16="http://schemas.microsoft.com/office/drawing/2014/main" id="{F2242E4B-BB35-5F81-18C6-9A770FCCF433}"/>
              </a:ext>
            </a:extLst>
          </p:cNvPr>
          <p:cNvSpPr/>
          <p:nvPr/>
        </p:nvSpPr>
        <p:spPr>
          <a:xfrm>
            <a:off x="5692750"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30" name="Chart 1">
            <a:extLst>
              <a:ext uri="{FF2B5EF4-FFF2-40B4-BE49-F238E27FC236}">
                <a16:creationId xmlns:a16="http://schemas.microsoft.com/office/drawing/2014/main" id="{07D3515C-7277-4AEF-2B0F-7340C4BFDEFF}"/>
              </a:ext>
            </a:extLst>
          </p:cNvPr>
          <p:cNvGraphicFramePr/>
          <p:nvPr>
            <p:extLst>
              <p:ext uri="{D42A27DB-BD31-4B8C-83A1-F6EECF244321}">
                <p14:modId xmlns:p14="http://schemas.microsoft.com/office/powerpoint/2010/main" val="1356382892"/>
              </p:ext>
            </p:extLst>
          </p:nvPr>
        </p:nvGraphicFramePr>
        <p:xfrm>
          <a:off x="5747614" y="1755648"/>
          <a:ext cx="4760062" cy="1815084"/>
        </p:xfrm>
        <a:graphic>
          <a:graphicData uri="http://schemas.openxmlformats.org/drawingml/2006/chart">
            <c:chart xmlns:c="http://schemas.openxmlformats.org/drawingml/2006/chart" xmlns:r="http://schemas.openxmlformats.org/officeDocument/2006/relationships" r:id="rId6"/>
          </a:graphicData>
        </a:graphic>
      </p:graphicFrame>
      <p:sp>
        <p:nvSpPr>
          <p:cNvPr id="33" name="Shape 9">
            <a:extLst>
              <a:ext uri="{FF2B5EF4-FFF2-40B4-BE49-F238E27FC236}">
                <a16:creationId xmlns:a16="http://schemas.microsoft.com/office/drawing/2014/main" id="{6277E059-FA98-E5DF-49E3-4A6F9289347B}"/>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6" name="Text 10">
            <a:extLst>
              <a:ext uri="{FF2B5EF4-FFF2-40B4-BE49-F238E27FC236}">
                <a16:creationId xmlns:a16="http://schemas.microsoft.com/office/drawing/2014/main" id="{B7A8DEEA-CCC2-7195-186B-192F11CFB4A8}"/>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Cuenta Estratégica</a:t>
            </a:r>
            <a:endParaRPr lang="en-US" sz="850"/>
          </a:p>
        </p:txBody>
      </p:sp>
      <p:sp>
        <p:nvSpPr>
          <p:cNvPr id="39" name="Shape 11">
            <a:extLst>
              <a:ext uri="{FF2B5EF4-FFF2-40B4-BE49-F238E27FC236}">
                <a16:creationId xmlns:a16="http://schemas.microsoft.com/office/drawing/2014/main" id="{AD937488-6E88-D865-6D50-B05C1BBA596A}"/>
              </a:ext>
            </a:extLst>
          </p:cNvPr>
          <p:cNvSpPr/>
          <p:nvPr/>
        </p:nvSpPr>
        <p:spPr>
          <a:xfrm>
            <a:off x="10727131" y="1700784"/>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42" name="Chart 2">
            <a:extLst>
              <a:ext uri="{FF2B5EF4-FFF2-40B4-BE49-F238E27FC236}">
                <a16:creationId xmlns:a16="http://schemas.microsoft.com/office/drawing/2014/main" id="{7DD0F365-5930-028F-43CD-495A515207B3}"/>
              </a:ext>
            </a:extLst>
          </p:cNvPr>
          <p:cNvGraphicFramePr/>
          <p:nvPr>
            <p:extLst>
              <p:ext uri="{D42A27DB-BD31-4B8C-83A1-F6EECF244321}">
                <p14:modId xmlns:p14="http://schemas.microsoft.com/office/powerpoint/2010/main" val="3451045625"/>
              </p:ext>
            </p:extLst>
          </p:nvPr>
        </p:nvGraphicFramePr>
        <p:xfrm>
          <a:off x="10781995" y="1755648"/>
          <a:ext cx="4760062" cy="1815084"/>
        </p:xfrm>
        <a:graphic>
          <a:graphicData uri="http://schemas.openxmlformats.org/drawingml/2006/chart">
            <c:chart xmlns:c="http://schemas.openxmlformats.org/drawingml/2006/chart" xmlns:r="http://schemas.openxmlformats.org/officeDocument/2006/relationships" r:id="rId7"/>
          </a:graphicData>
        </a:graphic>
      </p:graphicFrame>
      <p:sp>
        <p:nvSpPr>
          <p:cNvPr id="45" name="Shape 12">
            <a:extLst>
              <a:ext uri="{FF2B5EF4-FFF2-40B4-BE49-F238E27FC236}">
                <a16:creationId xmlns:a16="http://schemas.microsoft.com/office/drawing/2014/main" id="{E8F47246-BFE9-1389-29E3-591681B90A9B}"/>
              </a:ext>
            </a:extLst>
          </p:cNvPr>
          <p:cNvSpPr/>
          <p:nvPr/>
        </p:nvSpPr>
        <p:spPr>
          <a:xfrm>
            <a:off x="658368" y="3790188"/>
            <a:ext cx="4869790" cy="237744"/>
          </a:xfrm>
          <a:prstGeom prst="rect">
            <a:avLst/>
          </a:prstGeom>
          <a:solidFill>
            <a:srgbClr val="13807B"/>
          </a:solidFill>
          <a:ln/>
        </p:spPr>
        <p:txBody>
          <a:bodyPr/>
          <a:lstStyle/>
          <a:p>
            <a:endParaRPr lang="es-PE"/>
          </a:p>
        </p:txBody>
      </p:sp>
      <p:sp>
        <p:nvSpPr>
          <p:cNvPr id="48" name="Text 13">
            <a:extLst>
              <a:ext uri="{FF2B5EF4-FFF2-40B4-BE49-F238E27FC236}">
                <a16:creationId xmlns:a16="http://schemas.microsoft.com/office/drawing/2014/main" id="{B4976461-C931-8D36-2C61-BDD633503167}"/>
              </a:ext>
            </a:extLst>
          </p:cNvPr>
          <p:cNvSpPr txBox="1"/>
          <p:nvPr/>
        </p:nvSpPr>
        <p:spPr>
          <a:xfrm>
            <a:off x="658368"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Maduro Multibanco</a:t>
            </a:r>
            <a:endParaRPr lang="en-US" sz="850"/>
          </a:p>
        </p:txBody>
      </p:sp>
      <p:sp>
        <p:nvSpPr>
          <p:cNvPr id="51" name="Shape 14">
            <a:extLst>
              <a:ext uri="{FF2B5EF4-FFF2-40B4-BE49-F238E27FC236}">
                <a16:creationId xmlns:a16="http://schemas.microsoft.com/office/drawing/2014/main" id="{09882A88-9FC4-87C9-61C6-3705FD7AD63C}"/>
              </a:ext>
            </a:extLst>
          </p:cNvPr>
          <p:cNvSpPr/>
          <p:nvPr/>
        </p:nvSpPr>
        <p:spPr>
          <a:xfrm>
            <a:off x="658368"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54" name="Chart 3">
            <a:extLst>
              <a:ext uri="{FF2B5EF4-FFF2-40B4-BE49-F238E27FC236}">
                <a16:creationId xmlns:a16="http://schemas.microsoft.com/office/drawing/2014/main" id="{A03FDCE0-F8D3-75A5-5A6C-AB0D92327FDD}"/>
              </a:ext>
            </a:extLst>
          </p:cNvPr>
          <p:cNvGraphicFramePr/>
          <p:nvPr>
            <p:extLst>
              <p:ext uri="{D42A27DB-BD31-4B8C-83A1-F6EECF244321}">
                <p14:modId xmlns:p14="http://schemas.microsoft.com/office/powerpoint/2010/main" val="610035635"/>
              </p:ext>
            </p:extLst>
          </p:nvPr>
        </p:nvGraphicFramePr>
        <p:xfrm>
          <a:off x="713232" y="4082796"/>
          <a:ext cx="4760062" cy="1815084"/>
        </p:xfrm>
        <a:graphic>
          <a:graphicData uri="http://schemas.openxmlformats.org/drawingml/2006/chart">
            <c:chart xmlns:c="http://schemas.openxmlformats.org/drawingml/2006/chart" xmlns:r="http://schemas.openxmlformats.org/officeDocument/2006/relationships" r:id="rId8"/>
          </a:graphicData>
        </a:graphic>
      </p:graphicFrame>
      <p:sp>
        <p:nvSpPr>
          <p:cNvPr id="56" name="Shape 15">
            <a:extLst>
              <a:ext uri="{FF2B5EF4-FFF2-40B4-BE49-F238E27FC236}">
                <a16:creationId xmlns:a16="http://schemas.microsoft.com/office/drawing/2014/main" id="{03E7F73C-D330-1C51-59B5-9FF3EE7BD717}"/>
              </a:ext>
            </a:extLst>
          </p:cNvPr>
          <p:cNvSpPr/>
          <p:nvPr/>
        </p:nvSpPr>
        <p:spPr>
          <a:xfrm>
            <a:off x="5692750" y="3790188"/>
            <a:ext cx="4869790" cy="237744"/>
          </a:xfrm>
          <a:prstGeom prst="rect">
            <a:avLst/>
          </a:prstGeom>
          <a:solidFill>
            <a:srgbClr val="13807B"/>
          </a:solidFill>
          <a:ln/>
        </p:spPr>
        <p:txBody>
          <a:bodyPr/>
          <a:lstStyle/>
          <a:p>
            <a:endParaRPr lang="es-PE"/>
          </a:p>
        </p:txBody>
      </p:sp>
      <p:sp>
        <p:nvSpPr>
          <p:cNvPr id="59" name="Text 16">
            <a:extLst>
              <a:ext uri="{FF2B5EF4-FFF2-40B4-BE49-F238E27FC236}">
                <a16:creationId xmlns:a16="http://schemas.microsoft.com/office/drawing/2014/main" id="{6B70AE3D-E37D-CF6F-C278-49C0118C15C2}"/>
              </a:ext>
            </a:extLst>
          </p:cNvPr>
          <p:cNvSpPr txBox="1"/>
          <p:nvPr/>
        </p:nvSpPr>
        <p:spPr>
          <a:xfrm>
            <a:off x="5692750"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Gran Cuenta por Conquistar</a:t>
            </a:r>
            <a:endParaRPr lang="en-US" sz="850"/>
          </a:p>
        </p:txBody>
      </p:sp>
      <p:sp>
        <p:nvSpPr>
          <p:cNvPr id="62" name="Shape 17">
            <a:extLst>
              <a:ext uri="{FF2B5EF4-FFF2-40B4-BE49-F238E27FC236}">
                <a16:creationId xmlns:a16="http://schemas.microsoft.com/office/drawing/2014/main" id="{A66AE4D0-788B-F540-830B-B7809F3E43C6}"/>
              </a:ext>
            </a:extLst>
          </p:cNvPr>
          <p:cNvSpPr/>
          <p:nvPr/>
        </p:nvSpPr>
        <p:spPr>
          <a:xfrm>
            <a:off x="5692750"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64" name="Chart 4">
            <a:extLst>
              <a:ext uri="{FF2B5EF4-FFF2-40B4-BE49-F238E27FC236}">
                <a16:creationId xmlns:a16="http://schemas.microsoft.com/office/drawing/2014/main" id="{55D37943-57B5-B435-6F7B-EF51ACABA01E}"/>
              </a:ext>
            </a:extLst>
          </p:cNvPr>
          <p:cNvGraphicFramePr/>
          <p:nvPr>
            <p:extLst>
              <p:ext uri="{D42A27DB-BD31-4B8C-83A1-F6EECF244321}">
                <p14:modId xmlns:p14="http://schemas.microsoft.com/office/powerpoint/2010/main" val="3328041340"/>
              </p:ext>
            </p:extLst>
          </p:nvPr>
        </p:nvGraphicFramePr>
        <p:xfrm>
          <a:off x="5747614" y="4082796"/>
          <a:ext cx="4760062" cy="1815084"/>
        </p:xfrm>
        <a:graphic>
          <a:graphicData uri="http://schemas.openxmlformats.org/drawingml/2006/chart">
            <c:chart xmlns:c="http://schemas.openxmlformats.org/drawingml/2006/chart" xmlns:r="http://schemas.openxmlformats.org/officeDocument/2006/relationships" r:id="rId9"/>
          </a:graphicData>
        </a:graphic>
      </p:graphicFrame>
      <p:sp>
        <p:nvSpPr>
          <p:cNvPr id="67" name="Shape 18">
            <a:extLst>
              <a:ext uri="{FF2B5EF4-FFF2-40B4-BE49-F238E27FC236}">
                <a16:creationId xmlns:a16="http://schemas.microsoft.com/office/drawing/2014/main" id="{43D35034-A0B0-586D-7FEF-7EE6B963851A}"/>
              </a:ext>
            </a:extLst>
          </p:cNvPr>
          <p:cNvSpPr/>
          <p:nvPr/>
        </p:nvSpPr>
        <p:spPr>
          <a:xfrm>
            <a:off x="10727131" y="3790188"/>
            <a:ext cx="4869790" cy="237744"/>
          </a:xfrm>
          <a:prstGeom prst="rect">
            <a:avLst/>
          </a:prstGeom>
          <a:solidFill>
            <a:srgbClr val="13807B"/>
          </a:solidFill>
          <a:ln/>
        </p:spPr>
        <p:txBody>
          <a:bodyPr/>
          <a:lstStyle/>
          <a:p>
            <a:endParaRPr lang="es-PE"/>
          </a:p>
        </p:txBody>
      </p:sp>
      <p:sp>
        <p:nvSpPr>
          <p:cNvPr id="70" name="Text 19">
            <a:extLst>
              <a:ext uri="{FF2B5EF4-FFF2-40B4-BE49-F238E27FC236}">
                <a16:creationId xmlns:a16="http://schemas.microsoft.com/office/drawing/2014/main" id="{9AEED042-C449-B82D-6D14-606BB093E072}"/>
              </a:ext>
            </a:extLst>
          </p:cNvPr>
          <p:cNvSpPr txBox="1"/>
          <p:nvPr/>
        </p:nvSpPr>
        <p:spPr>
          <a:xfrm>
            <a:off x="10727131" y="3790188"/>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Cliente por Reactivar</a:t>
            </a:r>
            <a:endParaRPr lang="en-US" sz="850"/>
          </a:p>
        </p:txBody>
      </p:sp>
      <p:sp>
        <p:nvSpPr>
          <p:cNvPr id="72" name="Shape 20">
            <a:extLst>
              <a:ext uri="{FF2B5EF4-FFF2-40B4-BE49-F238E27FC236}">
                <a16:creationId xmlns:a16="http://schemas.microsoft.com/office/drawing/2014/main" id="{E79E6CCA-284A-2A3D-0698-637BF6C0AB0A}"/>
              </a:ext>
            </a:extLst>
          </p:cNvPr>
          <p:cNvSpPr/>
          <p:nvPr/>
        </p:nvSpPr>
        <p:spPr>
          <a:xfrm>
            <a:off x="10727131" y="4027932"/>
            <a:ext cx="4869790" cy="1961388"/>
          </a:xfrm>
          <a:prstGeom prst="rect">
            <a:avLst/>
          </a:prstGeom>
          <a:solidFill>
            <a:srgbClr val="FFFFFF"/>
          </a:solidFill>
          <a:ln w="9525">
            <a:solidFill>
              <a:srgbClr val="D5DFDE"/>
            </a:solidFill>
            <a:prstDash val="solid"/>
          </a:ln>
        </p:spPr>
        <p:txBody>
          <a:bodyPr/>
          <a:lstStyle/>
          <a:p>
            <a:endParaRPr lang="es-PE"/>
          </a:p>
        </p:txBody>
      </p:sp>
      <p:graphicFrame>
        <p:nvGraphicFramePr>
          <p:cNvPr id="75" name="Chart 5">
            <a:extLst>
              <a:ext uri="{FF2B5EF4-FFF2-40B4-BE49-F238E27FC236}">
                <a16:creationId xmlns:a16="http://schemas.microsoft.com/office/drawing/2014/main" id="{E8FA541A-B7EB-F51A-FF8E-6F00F17296DB}"/>
              </a:ext>
            </a:extLst>
          </p:cNvPr>
          <p:cNvGraphicFramePr/>
          <p:nvPr>
            <p:extLst>
              <p:ext uri="{D42A27DB-BD31-4B8C-83A1-F6EECF244321}">
                <p14:modId xmlns:p14="http://schemas.microsoft.com/office/powerpoint/2010/main" val="4045544010"/>
              </p:ext>
            </p:extLst>
          </p:nvPr>
        </p:nvGraphicFramePr>
        <p:xfrm>
          <a:off x="10781995" y="4082796"/>
          <a:ext cx="4760062" cy="1815084"/>
        </p:xfrm>
        <a:graphic>
          <a:graphicData uri="http://schemas.openxmlformats.org/drawingml/2006/chart">
            <c:chart xmlns:c="http://schemas.openxmlformats.org/drawingml/2006/chart" xmlns:r="http://schemas.openxmlformats.org/officeDocument/2006/relationships" r:id="rId10"/>
          </a:graphicData>
        </a:graphic>
      </p:graphicFrame>
      <p:sp>
        <p:nvSpPr>
          <p:cNvPr id="78" name="Shape 21">
            <a:extLst>
              <a:ext uri="{FF2B5EF4-FFF2-40B4-BE49-F238E27FC236}">
                <a16:creationId xmlns:a16="http://schemas.microsoft.com/office/drawing/2014/main" id="{113F53AD-B8E7-4133-0E2C-6E659E02BF4F}"/>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80" name="Text 22">
            <a:extLst>
              <a:ext uri="{FF2B5EF4-FFF2-40B4-BE49-F238E27FC236}">
                <a16:creationId xmlns:a16="http://schemas.microsoft.com/office/drawing/2014/main" id="{41EF6DF8-2D60-B41A-FD6E-2A487654CFF7}"/>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83" name="Shape 23">
            <a:extLst>
              <a:ext uri="{FF2B5EF4-FFF2-40B4-BE49-F238E27FC236}">
                <a16:creationId xmlns:a16="http://schemas.microsoft.com/office/drawing/2014/main" id="{4B1FEFC2-ED77-D386-017D-355E6FB7C64E}"/>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86" name="Text 24">
            <a:extLst>
              <a:ext uri="{FF2B5EF4-FFF2-40B4-BE49-F238E27FC236}">
                <a16:creationId xmlns:a16="http://schemas.microsoft.com/office/drawing/2014/main" id="{12F265AD-AB51-995B-3E67-587B0AFE2E82}"/>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88" name="Shape 25">
            <a:extLst>
              <a:ext uri="{FF2B5EF4-FFF2-40B4-BE49-F238E27FC236}">
                <a16:creationId xmlns:a16="http://schemas.microsoft.com/office/drawing/2014/main" id="{AF0B768C-0B39-3089-7EF4-A178FF1E562C}"/>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91" name="Text 26">
            <a:extLst>
              <a:ext uri="{FF2B5EF4-FFF2-40B4-BE49-F238E27FC236}">
                <a16:creationId xmlns:a16="http://schemas.microsoft.com/office/drawing/2014/main" id="{2D626DD3-7FDA-DF27-52D0-A3E2B0BBCEDA}"/>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94" name="Shape 27">
            <a:extLst>
              <a:ext uri="{FF2B5EF4-FFF2-40B4-BE49-F238E27FC236}">
                <a16:creationId xmlns:a16="http://schemas.microsoft.com/office/drawing/2014/main" id="{6194EECC-028E-955D-817A-E6C690F00B99}"/>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96" name="Text 28">
            <a:extLst>
              <a:ext uri="{FF2B5EF4-FFF2-40B4-BE49-F238E27FC236}">
                <a16:creationId xmlns:a16="http://schemas.microsoft.com/office/drawing/2014/main" id="{2E3C8D87-0568-1652-6E1A-F5F6C1D06B84}"/>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99" name="Shape 29">
            <a:extLst>
              <a:ext uri="{FF2B5EF4-FFF2-40B4-BE49-F238E27FC236}">
                <a16:creationId xmlns:a16="http://schemas.microsoft.com/office/drawing/2014/main" id="{B91FBB07-49C1-5194-0DDB-43F0345C2D35}"/>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102" name="Text 30">
            <a:extLst>
              <a:ext uri="{FF2B5EF4-FFF2-40B4-BE49-F238E27FC236}">
                <a16:creationId xmlns:a16="http://schemas.microsoft.com/office/drawing/2014/main" id="{4CD54978-D106-2EBD-9955-0263BA42F520}"/>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104" name="Shape 31">
            <a:extLst>
              <a:ext uri="{FF2B5EF4-FFF2-40B4-BE49-F238E27FC236}">
                <a16:creationId xmlns:a16="http://schemas.microsoft.com/office/drawing/2014/main" id="{E32F2F7C-07AC-BBC9-70F6-76C3E8E8ED6B}"/>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107" name="Text 32">
            <a:extLst>
              <a:ext uri="{FF2B5EF4-FFF2-40B4-BE49-F238E27FC236}">
                <a16:creationId xmlns:a16="http://schemas.microsoft.com/office/drawing/2014/main" id="{60C9EAE3-9725-4D90-35C4-85F2EE6D14DC}"/>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110" name="Shape 33">
            <a:extLst>
              <a:ext uri="{FF2B5EF4-FFF2-40B4-BE49-F238E27FC236}">
                <a16:creationId xmlns:a16="http://schemas.microsoft.com/office/drawing/2014/main" id="{30F701C2-6D52-E1AB-3BE3-A5582D6BE43C}"/>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114" name="Text 34">
            <a:extLst>
              <a:ext uri="{FF2B5EF4-FFF2-40B4-BE49-F238E27FC236}">
                <a16:creationId xmlns:a16="http://schemas.microsoft.com/office/drawing/2014/main" id="{106F5DAC-4BCD-FB2F-8A51-D8C6FEACEC7A}"/>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118" name="Text 35">
            <a:extLst>
              <a:ext uri="{FF2B5EF4-FFF2-40B4-BE49-F238E27FC236}">
                <a16:creationId xmlns:a16="http://schemas.microsoft.com/office/drawing/2014/main" id="{2AC8B88E-1C30-C25B-4F20-DAFC9C708A58}"/>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6 clusters caen entre 2025Q2 y 2026Q2 (-16pp a -31pp) con la brecha TEA estable: el precio actual no explica la caída en monto, igual que en unidades.</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La caída en monto es igual o mayor que en unidades en 5 de los 6 clusters — si la baja de tasa se prueba, debe evaluarse primero en el segmento de ticket grande de Socio en Crecimiento y Maduro Multibanco, que son los que más valor absoluto de share pierden.</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Cliente por Reactivar vuelve a resistir mejor (-16pp) con la TEA más alta del grupo — no es candidato a baja de tasa por </a:t>
            </a:r>
            <a:r>
              <a:rPr lang="en-US" sz="1000" err="1">
                <a:solidFill>
                  <a:srgbClr val="0B2E2C"/>
                </a:solidFill>
                <a:latin typeface="Arial" pitchFamily="34" charset="0"/>
                <a:ea typeface="Arial" pitchFamily="34" charset="-122"/>
                <a:cs typeface="Arial" pitchFamily="34" charset="-120"/>
              </a:rPr>
              <a:t>ahora</a:t>
            </a:r>
            <a:r>
              <a:rPr lang="en-US" sz="1000">
                <a:solidFill>
                  <a:srgbClr val="0B2E2C"/>
                </a:solidFill>
                <a:latin typeface="Arial" pitchFamily="34" charset="0"/>
                <a:ea typeface="Arial" pitchFamily="34" charset="-122"/>
                <a:cs typeface="Arial" pitchFamily="34" charset="-120"/>
              </a:rPr>
              <a:t>.</a:t>
            </a:r>
            <a:endParaRPr lang="en-US" sz="1000"/>
          </a:p>
        </p:txBody>
      </p:sp>
    </p:spTree>
    <p:extLst>
      <p:ext uri="{BB962C8B-B14F-4D97-AF65-F5344CB8AC3E}">
        <p14:creationId xmlns:p14="http://schemas.microsoft.com/office/powerpoint/2010/main" val="31249875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1855E2-D8E8-294F-CE7E-7D569F11BB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3BA19C-A6F7-E515-533C-6E9FF1CED705}"/>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SIN DEUDA · UNIDADES (N)</a:t>
            </a:r>
            <a:endParaRPr lang="en-US" sz="950"/>
          </a:p>
        </p:txBody>
      </p:sp>
      <p:sp>
        <p:nvSpPr>
          <p:cNvPr id="3" name="TextBox 2">
            <a:extLst>
              <a:ext uri="{FF2B5EF4-FFF2-40B4-BE49-F238E27FC236}">
                <a16:creationId xmlns:a16="http://schemas.microsoft.com/office/drawing/2014/main" id="{93A2DD62-77E3-34C4-ABDE-EA62F96E1EFF}"/>
              </a:ext>
            </a:extLst>
          </p:cNvPr>
          <p:cNvSpPr txBox="1"/>
          <p:nvPr/>
        </p:nvSpPr>
        <p:spPr>
          <a:xfrm>
            <a:off x="658368" y="566928"/>
            <a:ext cx="13750564" cy="301621"/>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Los 3 clusters sin </a:t>
            </a:r>
            <a:r>
              <a:rPr lang="en-US" sz="2000" b="1" err="1">
                <a:solidFill>
                  <a:srgbClr val="0B2E2C"/>
                </a:solidFill>
                <a:latin typeface="Arial" pitchFamily="34" charset="0"/>
                <a:ea typeface="Arial" pitchFamily="34" charset="-122"/>
                <a:cs typeface="Arial" pitchFamily="34" charset="-120"/>
              </a:rPr>
              <a:t>deuda</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sostienen</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su</a:t>
            </a:r>
            <a:r>
              <a:rPr lang="en-US" sz="2000" b="1">
                <a:solidFill>
                  <a:srgbClr val="0B2E2C"/>
                </a:solidFill>
                <a:latin typeface="Arial" pitchFamily="34" charset="0"/>
                <a:ea typeface="Arial" pitchFamily="34" charset="-122"/>
                <a:cs typeface="Arial" pitchFamily="34" charset="-120"/>
              </a:rPr>
              <a:t> share con la TEA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alta</a:t>
            </a:r>
            <a:r>
              <a:rPr lang="en-US" sz="2000" b="1">
                <a:solidFill>
                  <a:srgbClr val="0B2E2C"/>
                </a:solidFill>
                <a:latin typeface="Arial" pitchFamily="34" charset="0"/>
                <a:ea typeface="Arial" pitchFamily="34" charset="-122"/>
                <a:cs typeface="Arial" pitchFamily="34" charset="-120"/>
              </a:rPr>
              <a:t> de </a:t>
            </a:r>
            <a:r>
              <a:rPr lang="en-US" sz="2000" b="1" err="1">
                <a:solidFill>
                  <a:srgbClr val="0B2E2C"/>
                </a:solidFill>
                <a:latin typeface="Arial" pitchFamily="34" charset="0"/>
                <a:ea typeface="Arial" pitchFamily="34" charset="-122"/>
                <a:cs typeface="Arial" pitchFamily="34" charset="-120"/>
              </a:rPr>
              <a:t>toda</a:t>
            </a:r>
            <a:r>
              <a:rPr lang="en-US" sz="2000" b="1">
                <a:solidFill>
                  <a:srgbClr val="0B2E2C"/>
                </a:solidFill>
                <a:latin typeface="Arial" pitchFamily="34" charset="0"/>
                <a:ea typeface="Arial" pitchFamily="34" charset="-122"/>
                <a:cs typeface="Arial" pitchFamily="34" charset="-120"/>
              </a:rPr>
              <a:t> la </a:t>
            </a:r>
            <a:r>
              <a:rPr lang="en-US" sz="2000" b="1" err="1">
                <a:solidFill>
                  <a:srgbClr val="0B2E2C"/>
                </a:solidFill>
                <a:latin typeface="Arial" pitchFamily="34" charset="0"/>
                <a:ea typeface="Arial" pitchFamily="34" charset="-122"/>
                <a:cs typeface="Arial" pitchFamily="34" charset="-120"/>
              </a:rPr>
              <a:t>cartera</a:t>
            </a:r>
            <a:r>
              <a:rPr lang="en-US" sz="2000" b="1">
                <a:solidFill>
                  <a:srgbClr val="0B2E2C"/>
                </a:solidFill>
                <a:latin typeface="Arial" pitchFamily="34" charset="0"/>
                <a:ea typeface="Arial" pitchFamily="34" charset="-122"/>
                <a:cs typeface="Arial" pitchFamily="34" charset="-120"/>
              </a:rPr>
              <a:t> — hay </a:t>
            </a:r>
            <a:r>
              <a:rPr lang="en-US" sz="2000" b="1" err="1">
                <a:solidFill>
                  <a:srgbClr val="0B2E2C"/>
                </a:solidFill>
                <a:latin typeface="Arial" pitchFamily="34" charset="0"/>
                <a:ea typeface="Arial" pitchFamily="34" charset="-122"/>
                <a:cs typeface="Arial" pitchFamily="34" charset="-120"/>
              </a:rPr>
              <a:t>espacio</a:t>
            </a:r>
            <a:r>
              <a:rPr lang="en-US" sz="2000" b="1">
                <a:solidFill>
                  <a:srgbClr val="0B2E2C"/>
                </a:solidFill>
                <a:latin typeface="Arial" pitchFamily="34" charset="0"/>
                <a:ea typeface="Arial" pitchFamily="34" charset="-122"/>
                <a:cs typeface="Arial" pitchFamily="34" charset="-120"/>
              </a:rPr>
              <a:t> para </a:t>
            </a:r>
            <a:r>
              <a:rPr lang="en-US" sz="2000" b="1" err="1">
                <a:solidFill>
                  <a:srgbClr val="0B2E2C"/>
                </a:solidFill>
                <a:latin typeface="Arial" pitchFamily="34" charset="0"/>
                <a:ea typeface="Arial" pitchFamily="34" charset="-122"/>
                <a:cs typeface="Arial" pitchFamily="34" charset="-120"/>
              </a:rPr>
              <a:t>subir</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tasa</a:t>
            </a:r>
            <a:endParaRPr lang="en-US" sz="2000"/>
          </a:p>
        </p:txBody>
      </p:sp>
      <p:pic>
        <p:nvPicPr>
          <p:cNvPr id="5" name="Picture 4" descr="logo_dark.png">
            <a:extLst>
              <a:ext uri="{FF2B5EF4-FFF2-40B4-BE49-F238E27FC236}">
                <a16:creationId xmlns:a16="http://schemas.microsoft.com/office/drawing/2014/main" id="{CDF44B6E-3C30-93EE-5C6B-55238E459C7D}"/>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D9792496-D9C1-9742-0720-3454869668F1}"/>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49FA9D76-00C8-CAB6-B82E-A3A118D821E7}"/>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7" name="Shape 3">
            <a:extLst>
              <a:ext uri="{FF2B5EF4-FFF2-40B4-BE49-F238E27FC236}">
                <a16:creationId xmlns:a16="http://schemas.microsoft.com/office/drawing/2014/main" id="{B66A9A35-4E47-1A54-E687-E479D2A1FBD1}"/>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1" name="Text 4">
            <a:extLst>
              <a:ext uri="{FF2B5EF4-FFF2-40B4-BE49-F238E27FC236}">
                <a16:creationId xmlns:a16="http://schemas.microsoft.com/office/drawing/2014/main" id="{978F7A24-1422-6131-5D90-BF2E8EF33B09}"/>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Emprendedor Izipay</a:t>
            </a:r>
            <a:endParaRPr lang="en-US" sz="850"/>
          </a:p>
        </p:txBody>
      </p:sp>
      <p:sp>
        <p:nvSpPr>
          <p:cNvPr id="16" name="Shape 5">
            <a:extLst>
              <a:ext uri="{FF2B5EF4-FFF2-40B4-BE49-F238E27FC236}">
                <a16:creationId xmlns:a16="http://schemas.microsoft.com/office/drawing/2014/main" id="{2292E9B6-5961-2293-926C-ED83A323BBC7}"/>
              </a:ext>
            </a:extLst>
          </p:cNvPr>
          <p:cNvSpPr/>
          <p:nvPr/>
        </p:nvSpPr>
        <p:spPr>
          <a:xfrm>
            <a:off x="658368"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19" name="Chart 0">
            <a:extLst>
              <a:ext uri="{FF2B5EF4-FFF2-40B4-BE49-F238E27FC236}">
                <a16:creationId xmlns:a16="http://schemas.microsoft.com/office/drawing/2014/main" id="{5753AEED-F8EF-6905-805F-18A8ED2BDF74}"/>
              </a:ext>
            </a:extLst>
          </p:cNvPr>
          <p:cNvGraphicFramePr/>
          <p:nvPr>
            <p:extLst>
              <p:ext uri="{D42A27DB-BD31-4B8C-83A1-F6EECF244321}">
                <p14:modId xmlns:p14="http://schemas.microsoft.com/office/powerpoint/2010/main" val="2768570006"/>
              </p:ext>
            </p:extLst>
          </p:nvPr>
        </p:nvGraphicFramePr>
        <p:xfrm>
          <a:off x="713232" y="1755648"/>
          <a:ext cx="4760062" cy="4142232"/>
        </p:xfrm>
        <a:graphic>
          <a:graphicData uri="http://schemas.openxmlformats.org/drawingml/2006/chart">
            <c:chart xmlns:c="http://schemas.openxmlformats.org/drawingml/2006/chart" xmlns:r="http://schemas.openxmlformats.org/officeDocument/2006/relationships" r:id="rId5"/>
          </a:graphicData>
        </a:graphic>
      </p:graphicFrame>
      <p:sp>
        <p:nvSpPr>
          <p:cNvPr id="22" name="Shape 6">
            <a:extLst>
              <a:ext uri="{FF2B5EF4-FFF2-40B4-BE49-F238E27FC236}">
                <a16:creationId xmlns:a16="http://schemas.microsoft.com/office/drawing/2014/main" id="{4618DF76-A97A-71F1-FAFF-AB58DC2D6051}"/>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5" name="Text 7">
            <a:extLst>
              <a:ext uri="{FF2B5EF4-FFF2-40B4-BE49-F238E27FC236}">
                <a16:creationId xmlns:a16="http://schemas.microsoft.com/office/drawing/2014/main" id="{FB5FF024-F852-0C49-43CA-AB3104ED29B4}"/>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Nuevo en Expansión</a:t>
            </a:r>
            <a:endParaRPr lang="en-US" sz="850"/>
          </a:p>
        </p:txBody>
      </p:sp>
      <p:sp>
        <p:nvSpPr>
          <p:cNvPr id="28" name="Shape 8">
            <a:extLst>
              <a:ext uri="{FF2B5EF4-FFF2-40B4-BE49-F238E27FC236}">
                <a16:creationId xmlns:a16="http://schemas.microsoft.com/office/drawing/2014/main" id="{8061A0AD-EC3F-E8FD-DE4D-C4177D8B2802}"/>
              </a:ext>
            </a:extLst>
          </p:cNvPr>
          <p:cNvSpPr/>
          <p:nvPr/>
        </p:nvSpPr>
        <p:spPr>
          <a:xfrm>
            <a:off x="5692750"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30" name="Chart 1">
            <a:extLst>
              <a:ext uri="{FF2B5EF4-FFF2-40B4-BE49-F238E27FC236}">
                <a16:creationId xmlns:a16="http://schemas.microsoft.com/office/drawing/2014/main" id="{DD3FBFA6-F68F-0F70-C3F3-DA0BE7181372}"/>
              </a:ext>
            </a:extLst>
          </p:cNvPr>
          <p:cNvGraphicFramePr/>
          <p:nvPr>
            <p:extLst>
              <p:ext uri="{D42A27DB-BD31-4B8C-83A1-F6EECF244321}">
                <p14:modId xmlns:p14="http://schemas.microsoft.com/office/powerpoint/2010/main" val="382259150"/>
              </p:ext>
            </p:extLst>
          </p:nvPr>
        </p:nvGraphicFramePr>
        <p:xfrm>
          <a:off x="5747614" y="1755648"/>
          <a:ext cx="4760062" cy="4142232"/>
        </p:xfrm>
        <a:graphic>
          <a:graphicData uri="http://schemas.openxmlformats.org/drawingml/2006/chart">
            <c:chart xmlns:c="http://schemas.openxmlformats.org/drawingml/2006/chart" xmlns:r="http://schemas.openxmlformats.org/officeDocument/2006/relationships" r:id="rId6"/>
          </a:graphicData>
        </a:graphic>
      </p:graphicFrame>
      <p:sp>
        <p:nvSpPr>
          <p:cNvPr id="33" name="Shape 9">
            <a:extLst>
              <a:ext uri="{FF2B5EF4-FFF2-40B4-BE49-F238E27FC236}">
                <a16:creationId xmlns:a16="http://schemas.microsoft.com/office/drawing/2014/main" id="{7691D139-9AED-DF8F-FD71-925615142AE4}"/>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6" name="Text 10">
            <a:extLst>
              <a:ext uri="{FF2B5EF4-FFF2-40B4-BE49-F238E27FC236}">
                <a16:creationId xmlns:a16="http://schemas.microsoft.com/office/drawing/2014/main" id="{6D22E36B-8E2D-CE1D-751D-A56B8776ACF6}"/>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Próximo Recurrente</a:t>
            </a:r>
            <a:endParaRPr lang="en-US" sz="850"/>
          </a:p>
        </p:txBody>
      </p:sp>
      <p:sp>
        <p:nvSpPr>
          <p:cNvPr id="39" name="Shape 11">
            <a:extLst>
              <a:ext uri="{FF2B5EF4-FFF2-40B4-BE49-F238E27FC236}">
                <a16:creationId xmlns:a16="http://schemas.microsoft.com/office/drawing/2014/main" id="{554E4BA4-10BD-9B92-8B65-86F38F6D14B4}"/>
              </a:ext>
            </a:extLst>
          </p:cNvPr>
          <p:cNvSpPr/>
          <p:nvPr/>
        </p:nvSpPr>
        <p:spPr>
          <a:xfrm>
            <a:off x="10727131"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42" name="Chart 2">
            <a:extLst>
              <a:ext uri="{FF2B5EF4-FFF2-40B4-BE49-F238E27FC236}">
                <a16:creationId xmlns:a16="http://schemas.microsoft.com/office/drawing/2014/main" id="{2BBC40AB-465D-A0A9-A068-14A9B4E2A73F}"/>
              </a:ext>
            </a:extLst>
          </p:cNvPr>
          <p:cNvGraphicFramePr/>
          <p:nvPr>
            <p:extLst>
              <p:ext uri="{D42A27DB-BD31-4B8C-83A1-F6EECF244321}">
                <p14:modId xmlns:p14="http://schemas.microsoft.com/office/powerpoint/2010/main" val="1827975785"/>
              </p:ext>
            </p:extLst>
          </p:nvPr>
        </p:nvGraphicFramePr>
        <p:xfrm>
          <a:off x="10781995" y="1755648"/>
          <a:ext cx="4760062" cy="4142232"/>
        </p:xfrm>
        <a:graphic>
          <a:graphicData uri="http://schemas.openxmlformats.org/drawingml/2006/chart">
            <c:chart xmlns:c="http://schemas.openxmlformats.org/drawingml/2006/chart" xmlns:r="http://schemas.openxmlformats.org/officeDocument/2006/relationships" r:id="rId7"/>
          </a:graphicData>
        </a:graphic>
      </p:graphicFrame>
      <p:sp>
        <p:nvSpPr>
          <p:cNvPr id="45" name="Shape 12">
            <a:extLst>
              <a:ext uri="{FF2B5EF4-FFF2-40B4-BE49-F238E27FC236}">
                <a16:creationId xmlns:a16="http://schemas.microsoft.com/office/drawing/2014/main" id="{E3337BFB-7C24-2FC0-EC31-0BCE064A3092}"/>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48" name="Text 13">
            <a:extLst>
              <a:ext uri="{FF2B5EF4-FFF2-40B4-BE49-F238E27FC236}">
                <a16:creationId xmlns:a16="http://schemas.microsoft.com/office/drawing/2014/main" id="{1BA6BDA5-6E03-EDE5-0C08-DA02081B8B01}"/>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51" name="Shape 14">
            <a:extLst>
              <a:ext uri="{FF2B5EF4-FFF2-40B4-BE49-F238E27FC236}">
                <a16:creationId xmlns:a16="http://schemas.microsoft.com/office/drawing/2014/main" id="{8BC1CE98-E144-2BF2-0E89-91B5D2B6C66E}"/>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54" name="Text 15">
            <a:extLst>
              <a:ext uri="{FF2B5EF4-FFF2-40B4-BE49-F238E27FC236}">
                <a16:creationId xmlns:a16="http://schemas.microsoft.com/office/drawing/2014/main" id="{263DCF29-0B19-BD5C-CE67-55D8F11B2192}"/>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56" name="Shape 16">
            <a:extLst>
              <a:ext uri="{FF2B5EF4-FFF2-40B4-BE49-F238E27FC236}">
                <a16:creationId xmlns:a16="http://schemas.microsoft.com/office/drawing/2014/main" id="{5C8AF4E6-6856-57B5-AD3D-258A292C23F0}"/>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59" name="Text 17">
            <a:extLst>
              <a:ext uri="{FF2B5EF4-FFF2-40B4-BE49-F238E27FC236}">
                <a16:creationId xmlns:a16="http://schemas.microsoft.com/office/drawing/2014/main" id="{213DF00A-86D6-44AD-66B2-D7AA1C4A91A9}"/>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62" name="Shape 18">
            <a:extLst>
              <a:ext uri="{FF2B5EF4-FFF2-40B4-BE49-F238E27FC236}">
                <a16:creationId xmlns:a16="http://schemas.microsoft.com/office/drawing/2014/main" id="{52642355-621E-0BC2-37A4-5C8A49B3B1F6}"/>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64" name="Text 19">
            <a:extLst>
              <a:ext uri="{FF2B5EF4-FFF2-40B4-BE49-F238E27FC236}">
                <a16:creationId xmlns:a16="http://schemas.microsoft.com/office/drawing/2014/main" id="{A36D08A3-9A82-3043-04C9-FF85EC55F0DC}"/>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67" name="Shape 20">
            <a:extLst>
              <a:ext uri="{FF2B5EF4-FFF2-40B4-BE49-F238E27FC236}">
                <a16:creationId xmlns:a16="http://schemas.microsoft.com/office/drawing/2014/main" id="{BFADC099-EFCF-3A6B-3A29-67E482AD1BF8}"/>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70" name="Text 21">
            <a:extLst>
              <a:ext uri="{FF2B5EF4-FFF2-40B4-BE49-F238E27FC236}">
                <a16:creationId xmlns:a16="http://schemas.microsoft.com/office/drawing/2014/main" id="{268C20E0-D357-F253-7840-AD1344DB1C5C}"/>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72" name="Shape 22">
            <a:extLst>
              <a:ext uri="{FF2B5EF4-FFF2-40B4-BE49-F238E27FC236}">
                <a16:creationId xmlns:a16="http://schemas.microsoft.com/office/drawing/2014/main" id="{17A8EAE1-8FA7-F239-A7EF-452BA1ED29E0}"/>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75" name="Text 23">
            <a:extLst>
              <a:ext uri="{FF2B5EF4-FFF2-40B4-BE49-F238E27FC236}">
                <a16:creationId xmlns:a16="http://schemas.microsoft.com/office/drawing/2014/main" id="{3F3F17D5-CD0B-3818-239B-3FC9D42832B9}"/>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78" name="Shape 24">
            <a:extLst>
              <a:ext uri="{FF2B5EF4-FFF2-40B4-BE49-F238E27FC236}">
                <a16:creationId xmlns:a16="http://schemas.microsoft.com/office/drawing/2014/main" id="{76588083-6003-6C57-4A3A-D2C804EBD509}"/>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80" name="Text 25">
            <a:extLst>
              <a:ext uri="{FF2B5EF4-FFF2-40B4-BE49-F238E27FC236}">
                <a16:creationId xmlns:a16="http://schemas.microsoft.com/office/drawing/2014/main" id="{F712E347-BCC2-3725-51D7-B6EBE3CCB190}"/>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83" name="Text 26">
            <a:extLst>
              <a:ext uri="{FF2B5EF4-FFF2-40B4-BE49-F238E27FC236}">
                <a16:creationId xmlns:a16="http://schemas.microsoft.com/office/drawing/2014/main" id="{3D828835-CD99-C58F-BCB5-0662368B0384}"/>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3 clusters mantienen share alto (66%-95%) con la TEA ofertada más alta de toda la cartera (22.6%-26.9% vs. ~20-23% en con deuda) — sin competencia visible, el cliente no está comparando precio.</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Emprendedor Izipay y Próximo Recurrente son los candidatos más claros para testear un alza selectiva de tasa: son los más estables y ya sostienen el share con la TEA más alta sin señales de fuga.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Nuevo en Expansión es el más volátil (-22pp en un solo trimestre) — antes de subir tasa ahí, entender esa caída puntual; podría ser menos cautivo de lo que parece en el </a:t>
            </a:r>
            <a:r>
              <a:rPr lang="en-US" sz="1000" err="1">
                <a:solidFill>
                  <a:srgbClr val="0B2E2C"/>
                </a:solidFill>
                <a:latin typeface="Arial" pitchFamily="34" charset="0"/>
                <a:ea typeface="Arial" pitchFamily="34" charset="-122"/>
                <a:cs typeface="Arial" pitchFamily="34" charset="-120"/>
              </a:rPr>
              <a:t>agregado</a:t>
            </a:r>
            <a:r>
              <a:rPr lang="en-US" sz="1000">
                <a:solidFill>
                  <a:srgbClr val="0B2E2C"/>
                </a:solidFill>
                <a:latin typeface="Arial" pitchFamily="34" charset="0"/>
                <a:ea typeface="Arial" pitchFamily="34" charset="-122"/>
                <a:cs typeface="Arial" pitchFamily="34" charset="-120"/>
              </a:rPr>
              <a:t>.</a:t>
            </a:r>
            <a:endParaRPr lang="en-US" sz="1000"/>
          </a:p>
        </p:txBody>
      </p:sp>
    </p:spTree>
    <p:extLst>
      <p:ext uri="{BB962C8B-B14F-4D97-AF65-F5344CB8AC3E}">
        <p14:creationId xmlns:p14="http://schemas.microsoft.com/office/powerpoint/2010/main" val="25102394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03AAF0-E27A-3D7A-4F54-1B6C341330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64AA9C-5444-5AFC-9E0C-B0FFAAB0D7C6}"/>
              </a:ext>
            </a:extLst>
          </p:cNvPr>
          <p:cNvSpPr txBox="1"/>
          <p:nvPr/>
        </p:nvSpPr>
        <p:spPr>
          <a:xfrm>
            <a:off x="658368" y="329184"/>
            <a:ext cx="11951427" cy="146194"/>
          </a:xfrm>
          <a:prstGeom prst="rect">
            <a:avLst/>
          </a:prstGeom>
          <a:noFill/>
        </p:spPr>
        <p:txBody>
          <a:bodyPr wrap="square" lIns="0" tIns="0" rIns="0" bIns="0" anchor="t">
            <a:spAutoFit/>
          </a:bodyPr>
          <a:lstStyle/>
          <a:p>
            <a:r>
              <a:rPr lang="en-US" sz="950" b="1">
                <a:solidFill>
                  <a:srgbClr val="13807B"/>
                </a:solidFill>
                <a:latin typeface="Arial" pitchFamily="34" charset="0"/>
                <a:ea typeface="Arial" pitchFamily="34" charset="-122"/>
                <a:cs typeface="Arial" pitchFamily="34" charset="-120"/>
              </a:rPr>
              <a:t>SEGMENTACIÓN ESTRATÉGICA · SHARE OF SALES · SIN DEUDA · MONTO (S/)</a:t>
            </a:r>
            <a:endParaRPr lang="en-US" sz="950"/>
          </a:p>
        </p:txBody>
      </p:sp>
      <p:sp>
        <p:nvSpPr>
          <p:cNvPr id="3" name="TextBox 2">
            <a:extLst>
              <a:ext uri="{FF2B5EF4-FFF2-40B4-BE49-F238E27FC236}">
                <a16:creationId xmlns:a16="http://schemas.microsoft.com/office/drawing/2014/main" id="{66BB06D3-AF84-380D-C64D-CB2725F9CCE9}"/>
              </a:ext>
            </a:extLst>
          </p:cNvPr>
          <p:cNvSpPr txBox="1"/>
          <p:nvPr/>
        </p:nvSpPr>
        <p:spPr>
          <a:xfrm>
            <a:off x="658368" y="566928"/>
            <a:ext cx="13750564" cy="603242"/>
          </a:xfrm>
          <a:prstGeom prst="rect">
            <a:avLst/>
          </a:prstGeom>
          <a:noFill/>
        </p:spPr>
        <p:txBody>
          <a:bodyPr wrap="square" lIns="0" tIns="0" rIns="0" bIns="0" anchor="t">
            <a:spAutoFit/>
          </a:bodyPr>
          <a:lstStyle/>
          <a:p>
            <a:pPr>
              <a:lnSpc>
                <a:spcPct val="98000"/>
              </a:lnSpc>
            </a:pPr>
            <a:r>
              <a:rPr lang="en-US" sz="2000" b="1">
                <a:solidFill>
                  <a:srgbClr val="0B2E2C"/>
                </a:solidFill>
                <a:latin typeface="Arial" pitchFamily="34" charset="0"/>
                <a:ea typeface="Arial" pitchFamily="34" charset="-122"/>
                <a:cs typeface="Arial" pitchFamily="34" charset="-120"/>
              </a:rPr>
              <a:t>En </a:t>
            </a:r>
            <a:r>
              <a:rPr lang="en-US" sz="2000" b="1" err="1">
                <a:solidFill>
                  <a:srgbClr val="0B2E2C"/>
                </a:solidFill>
                <a:latin typeface="Arial" pitchFamily="34" charset="0"/>
                <a:ea typeface="Arial" pitchFamily="34" charset="-122"/>
                <a:cs typeface="Arial" pitchFamily="34" charset="-120"/>
              </a:rPr>
              <a:t>monto</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Próximo</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Recurrente</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crece</a:t>
            </a:r>
            <a:r>
              <a:rPr lang="en-US" sz="2000" b="1">
                <a:solidFill>
                  <a:srgbClr val="0B2E2C"/>
                </a:solidFill>
                <a:latin typeface="Arial" pitchFamily="34" charset="0"/>
                <a:ea typeface="Arial" pitchFamily="34" charset="-122"/>
                <a:cs typeface="Arial" pitchFamily="34" charset="-120"/>
              </a:rPr>
              <a:t> con la TEA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alta</a:t>
            </a:r>
            <a:r>
              <a:rPr lang="en-US" sz="2000" b="1">
                <a:solidFill>
                  <a:srgbClr val="0B2E2C"/>
                </a:solidFill>
                <a:latin typeface="Arial" pitchFamily="34" charset="0"/>
                <a:ea typeface="Arial" pitchFamily="34" charset="-122"/>
                <a:cs typeface="Arial" pitchFamily="34" charset="-120"/>
              </a:rPr>
              <a:t> de la </a:t>
            </a:r>
            <a:r>
              <a:rPr lang="en-US" sz="2000" b="1" err="1">
                <a:solidFill>
                  <a:srgbClr val="0B2E2C"/>
                </a:solidFill>
                <a:latin typeface="Arial" pitchFamily="34" charset="0"/>
                <a:ea typeface="Arial" pitchFamily="34" charset="-122"/>
                <a:cs typeface="Arial" pitchFamily="34" charset="-120"/>
              </a:rPr>
              <a:t>cartera</a:t>
            </a:r>
            <a:r>
              <a:rPr lang="en-US" sz="2000" b="1">
                <a:solidFill>
                  <a:srgbClr val="0B2E2C"/>
                </a:solidFill>
                <a:latin typeface="Arial" pitchFamily="34" charset="0"/>
                <a:ea typeface="Arial" pitchFamily="34" charset="-122"/>
                <a:cs typeface="Arial" pitchFamily="34" charset="-120"/>
              </a:rPr>
              <a:t> — el </a:t>
            </a:r>
            <a:r>
              <a:rPr lang="en-US" sz="2000" b="1" err="1">
                <a:solidFill>
                  <a:srgbClr val="0B2E2C"/>
                </a:solidFill>
                <a:latin typeface="Arial" pitchFamily="34" charset="0"/>
                <a:ea typeface="Arial" pitchFamily="34" charset="-122"/>
                <a:cs typeface="Arial" pitchFamily="34" charset="-120"/>
              </a:rPr>
              <a:t>caso</a:t>
            </a:r>
            <a:r>
              <a:rPr lang="en-US" sz="2000" b="1">
                <a:solidFill>
                  <a:srgbClr val="0B2E2C"/>
                </a:solidFill>
                <a:latin typeface="Arial" pitchFamily="34" charset="0"/>
                <a:ea typeface="Arial" pitchFamily="34" charset="-122"/>
                <a:cs typeface="Arial" pitchFamily="34" charset="-120"/>
              </a:rPr>
              <a:t> </a:t>
            </a:r>
            <a:r>
              <a:rPr lang="en-US" sz="2000" b="1" err="1">
                <a:solidFill>
                  <a:srgbClr val="0B2E2C"/>
                </a:solidFill>
                <a:latin typeface="Arial" pitchFamily="34" charset="0"/>
                <a:ea typeface="Arial" pitchFamily="34" charset="-122"/>
                <a:cs typeface="Arial" pitchFamily="34" charset="-120"/>
              </a:rPr>
              <a:t>más</a:t>
            </a:r>
            <a:r>
              <a:rPr lang="en-US" sz="2000" b="1">
                <a:solidFill>
                  <a:srgbClr val="0B2E2C"/>
                </a:solidFill>
                <a:latin typeface="Arial" pitchFamily="34" charset="0"/>
                <a:ea typeface="Arial" pitchFamily="34" charset="-122"/>
                <a:cs typeface="Arial" pitchFamily="34" charset="-120"/>
              </a:rPr>
              <a:t> claro para </a:t>
            </a:r>
            <a:r>
              <a:rPr lang="en-US" sz="2000" b="1" err="1">
                <a:solidFill>
                  <a:srgbClr val="0B2E2C"/>
                </a:solidFill>
                <a:latin typeface="Arial" pitchFamily="34" charset="0"/>
                <a:ea typeface="Arial" pitchFamily="34" charset="-122"/>
                <a:cs typeface="Arial" pitchFamily="34" charset="-120"/>
              </a:rPr>
              <a:t>testear</a:t>
            </a:r>
            <a:r>
              <a:rPr lang="en-US" sz="2000" b="1">
                <a:solidFill>
                  <a:srgbClr val="0B2E2C"/>
                </a:solidFill>
                <a:latin typeface="Arial" pitchFamily="34" charset="0"/>
                <a:ea typeface="Arial" pitchFamily="34" charset="-122"/>
                <a:cs typeface="Arial" pitchFamily="34" charset="-120"/>
              </a:rPr>
              <a:t> un </a:t>
            </a:r>
            <a:r>
              <a:rPr lang="en-US" sz="2000" b="1" err="1">
                <a:solidFill>
                  <a:srgbClr val="0B2E2C"/>
                </a:solidFill>
                <a:latin typeface="Arial" pitchFamily="34" charset="0"/>
                <a:ea typeface="Arial" pitchFamily="34" charset="-122"/>
                <a:cs typeface="Arial" pitchFamily="34" charset="-120"/>
              </a:rPr>
              <a:t>alza</a:t>
            </a:r>
            <a:r>
              <a:rPr lang="en-US" sz="2000" b="1">
                <a:solidFill>
                  <a:srgbClr val="0B2E2C"/>
                </a:solidFill>
                <a:latin typeface="Arial" pitchFamily="34" charset="0"/>
                <a:ea typeface="Arial" pitchFamily="34" charset="-122"/>
                <a:cs typeface="Arial" pitchFamily="34" charset="-120"/>
              </a:rPr>
              <a:t> de </a:t>
            </a:r>
            <a:r>
              <a:rPr lang="en-US" sz="2000" b="1" err="1">
                <a:solidFill>
                  <a:srgbClr val="0B2E2C"/>
                </a:solidFill>
                <a:latin typeface="Arial" pitchFamily="34" charset="0"/>
                <a:ea typeface="Arial" pitchFamily="34" charset="-122"/>
                <a:cs typeface="Arial" pitchFamily="34" charset="-120"/>
              </a:rPr>
              <a:t>tasa</a:t>
            </a:r>
            <a:endParaRPr lang="en-US" sz="2000"/>
          </a:p>
        </p:txBody>
      </p:sp>
      <p:pic>
        <p:nvPicPr>
          <p:cNvPr id="5" name="Picture 4" descr="logo_dark.png">
            <a:extLst>
              <a:ext uri="{FF2B5EF4-FFF2-40B4-BE49-F238E27FC236}">
                <a16:creationId xmlns:a16="http://schemas.microsoft.com/office/drawing/2014/main" id="{CA974B4C-F110-959A-4ED3-C8D78407393D}"/>
              </a:ext>
            </a:extLst>
          </p:cNvPr>
          <p:cNvPicPr>
            <a:picLocks noChangeAspect="1"/>
          </p:cNvPicPr>
          <p:nvPr/>
        </p:nvPicPr>
        <p:blipFill>
          <a:blip r:embed="rId3"/>
          <a:stretch>
            <a:fillRect/>
          </a:stretch>
        </p:blipFill>
        <p:spPr>
          <a:xfrm>
            <a:off x="14774692" y="274320"/>
            <a:ext cx="822960" cy="390279"/>
          </a:xfrm>
          <a:prstGeom prst="rect">
            <a:avLst/>
          </a:prstGeom>
        </p:spPr>
      </p:pic>
      <p:pic>
        <p:nvPicPr>
          <p:cNvPr id="6" name="Picture 5">
            <a:extLst>
              <a:ext uri="{FF2B5EF4-FFF2-40B4-BE49-F238E27FC236}">
                <a16:creationId xmlns:a16="http://schemas.microsoft.com/office/drawing/2014/main" id="{06AEC892-7FB8-9A0B-1562-B3DAA1938A2D}"/>
              </a:ext>
            </a:extLst>
          </p:cNvPr>
          <p:cNvPicPr>
            <a:picLocks noChangeAspect="1"/>
          </p:cNvPicPr>
          <p:nvPr/>
        </p:nvPicPr>
        <p:blipFill>
          <a:blip r:embed="rId4"/>
          <a:stretch>
            <a:fillRect/>
          </a:stretch>
        </p:blipFill>
        <p:spPr>
          <a:xfrm>
            <a:off x="14725019" y="109555"/>
            <a:ext cx="1272511" cy="717296"/>
          </a:xfrm>
          <a:prstGeom prst="rect">
            <a:avLst/>
          </a:prstGeom>
        </p:spPr>
      </p:pic>
      <p:sp>
        <p:nvSpPr>
          <p:cNvPr id="12" name="Shape 2">
            <a:extLst>
              <a:ext uri="{FF2B5EF4-FFF2-40B4-BE49-F238E27FC236}">
                <a16:creationId xmlns:a16="http://schemas.microsoft.com/office/drawing/2014/main" id="{F4F810BE-73A5-0919-27E0-589A3E5279EF}"/>
              </a:ext>
            </a:extLst>
          </p:cNvPr>
          <p:cNvSpPr/>
          <p:nvPr/>
        </p:nvSpPr>
        <p:spPr>
          <a:xfrm>
            <a:off x="658368" y="1353312"/>
            <a:ext cx="14938553" cy="0"/>
          </a:xfrm>
          <a:prstGeom prst="line">
            <a:avLst/>
          </a:prstGeom>
          <a:noFill/>
          <a:ln w="12700">
            <a:solidFill>
              <a:srgbClr val="D5DFDE"/>
            </a:solidFill>
            <a:prstDash val="solid"/>
          </a:ln>
        </p:spPr>
        <p:txBody>
          <a:bodyPr/>
          <a:lstStyle/>
          <a:p>
            <a:endParaRPr lang="es-PE"/>
          </a:p>
        </p:txBody>
      </p:sp>
      <p:sp>
        <p:nvSpPr>
          <p:cNvPr id="8" name="Shape 3">
            <a:extLst>
              <a:ext uri="{FF2B5EF4-FFF2-40B4-BE49-F238E27FC236}">
                <a16:creationId xmlns:a16="http://schemas.microsoft.com/office/drawing/2014/main" id="{459BE030-CB6F-FD3A-7A4C-11450B7D0901}"/>
              </a:ext>
            </a:extLst>
          </p:cNvPr>
          <p:cNvSpPr/>
          <p:nvPr/>
        </p:nvSpPr>
        <p:spPr>
          <a:xfrm>
            <a:off x="658368" y="1463040"/>
            <a:ext cx="4869790" cy="237744"/>
          </a:xfrm>
          <a:prstGeom prst="rect">
            <a:avLst/>
          </a:prstGeom>
          <a:solidFill>
            <a:srgbClr val="13807B"/>
          </a:solidFill>
          <a:ln/>
        </p:spPr>
        <p:txBody>
          <a:bodyPr/>
          <a:lstStyle/>
          <a:p>
            <a:endParaRPr lang="es-PE"/>
          </a:p>
        </p:txBody>
      </p:sp>
      <p:sp>
        <p:nvSpPr>
          <p:cNvPr id="10" name="Text 4">
            <a:extLst>
              <a:ext uri="{FF2B5EF4-FFF2-40B4-BE49-F238E27FC236}">
                <a16:creationId xmlns:a16="http://schemas.microsoft.com/office/drawing/2014/main" id="{2BEED517-9D1D-2E69-367F-E56A11830744}"/>
              </a:ext>
            </a:extLst>
          </p:cNvPr>
          <p:cNvSpPr txBox="1"/>
          <p:nvPr/>
        </p:nvSpPr>
        <p:spPr>
          <a:xfrm>
            <a:off x="658368"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Emprendedor Izipay</a:t>
            </a:r>
            <a:endParaRPr lang="en-US" sz="850"/>
          </a:p>
        </p:txBody>
      </p:sp>
      <p:sp>
        <p:nvSpPr>
          <p:cNvPr id="14" name="Shape 5">
            <a:extLst>
              <a:ext uri="{FF2B5EF4-FFF2-40B4-BE49-F238E27FC236}">
                <a16:creationId xmlns:a16="http://schemas.microsoft.com/office/drawing/2014/main" id="{9F981D3F-2718-5476-16D1-9517FAC5D56F}"/>
              </a:ext>
            </a:extLst>
          </p:cNvPr>
          <p:cNvSpPr/>
          <p:nvPr/>
        </p:nvSpPr>
        <p:spPr>
          <a:xfrm>
            <a:off x="658368"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17" name="Chart 0">
            <a:extLst>
              <a:ext uri="{FF2B5EF4-FFF2-40B4-BE49-F238E27FC236}">
                <a16:creationId xmlns:a16="http://schemas.microsoft.com/office/drawing/2014/main" id="{042680C2-50A5-9CBC-1F02-B374E87BD9D2}"/>
              </a:ext>
            </a:extLst>
          </p:cNvPr>
          <p:cNvGraphicFramePr/>
          <p:nvPr>
            <p:extLst>
              <p:ext uri="{D42A27DB-BD31-4B8C-83A1-F6EECF244321}">
                <p14:modId xmlns:p14="http://schemas.microsoft.com/office/powerpoint/2010/main" val="2314956672"/>
              </p:ext>
            </p:extLst>
          </p:nvPr>
        </p:nvGraphicFramePr>
        <p:xfrm>
          <a:off x="713232" y="1755648"/>
          <a:ext cx="4760062" cy="4142232"/>
        </p:xfrm>
        <a:graphic>
          <a:graphicData uri="http://schemas.openxmlformats.org/drawingml/2006/chart">
            <c:chart xmlns:c="http://schemas.openxmlformats.org/drawingml/2006/chart" xmlns:r="http://schemas.openxmlformats.org/officeDocument/2006/relationships" r:id="rId5"/>
          </a:graphicData>
        </a:graphic>
      </p:graphicFrame>
      <p:sp>
        <p:nvSpPr>
          <p:cNvPr id="20" name="Shape 6">
            <a:extLst>
              <a:ext uri="{FF2B5EF4-FFF2-40B4-BE49-F238E27FC236}">
                <a16:creationId xmlns:a16="http://schemas.microsoft.com/office/drawing/2014/main" id="{6DD8C4AD-C101-A4D2-5089-D162FC5DF5B7}"/>
              </a:ext>
            </a:extLst>
          </p:cNvPr>
          <p:cNvSpPr/>
          <p:nvPr/>
        </p:nvSpPr>
        <p:spPr>
          <a:xfrm>
            <a:off x="5692750" y="1463040"/>
            <a:ext cx="4869790" cy="237744"/>
          </a:xfrm>
          <a:prstGeom prst="rect">
            <a:avLst/>
          </a:prstGeom>
          <a:solidFill>
            <a:srgbClr val="13807B"/>
          </a:solidFill>
          <a:ln/>
        </p:spPr>
        <p:txBody>
          <a:bodyPr/>
          <a:lstStyle/>
          <a:p>
            <a:endParaRPr lang="es-PE"/>
          </a:p>
        </p:txBody>
      </p:sp>
      <p:sp>
        <p:nvSpPr>
          <p:cNvPr id="23" name="Text 7">
            <a:extLst>
              <a:ext uri="{FF2B5EF4-FFF2-40B4-BE49-F238E27FC236}">
                <a16:creationId xmlns:a16="http://schemas.microsoft.com/office/drawing/2014/main" id="{CE70643E-71A3-6E3A-2A4F-C443906C8703}"/>
              </a:ext>
            </a:extLst>
          </p:cNvPr>
          <p:cNvSpPr txBox="1"/>
          <p:nvPr/>
        </p:nvSpPr>
        <p:spPr>
          <a:xfrm>
            <a:off x="5692750"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Nuevo en Expansión</a:t>
            </a:r>
            <a:endParaRPr lang="en-US" sz="850"/>
          </a:p>
        </p:txBody>
      </p:sp>
      <p:sp>
        <p:nvSpPr>
          <p:cNvPr id="26" name="Shape 8">
            <a:extLst>
              <a:ext uri="{FF2B5EF4-FFF2-40B4-BE49-F238E27FC236}">
                <a16:creationId xmlns:a16="http://schemas.microsoft.com/office/drawing/2014/main" id="{BE5A655E-FB7D-538A-5768-41E4C3F0EAFC}"/>
              </a:ext>
            </a:extLst>
          </p:cNvPr>
          <p:cNvSpPr/>
          <p:nvPr/>
        </p:nvSpPr>
        <p:spPr>
          <a:xfrm>
            <a:off x="5692750"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29" name="Chart 1">
            <a:extLst>
              <a:ext uri="{FF2B5EF4-FFF2-40B4-BE49-F238E27FC236}">
                <a16:creationId xmlns:a16="http://schemas.microsoft.com/office/drawing/2014/main" id="{88160041-C13D-5237-761E-54E837F0DB7F}"/>
              </a:ext>
            </a:extLst>
          </p:cNvPr>
          <p:cNvGraphicFramePr/>
          <p:nvPr>
            <p:extLst>
              <p:ext uri="{D42A27DB-BD31-4B8C-83A1-F6EECF244321}">
                <p14:modId xmlns:p14="http://schemas.microsoft.com/office/powerpoint/2010/main" val="3441916407"/>
              </p:ext>
            </p:extLst>
          </p:nvPr>
        </p:nvGraphicFramePr>
        <p:xfrm>
          <a:off x="5747614" y="1755648"/>
          <a:ext cx="4760062" cy="4142232"/>
        </p:xfrm>
        <a:graphic>
          <a:graphicData uri="http://schemas.openxmlformats.org/drawingml/2006/chart">
            <c:chart xmlns:c="http://schemas.openxmlformats.org/drawingml/2006/chart" xmlns:r="http://schemas.openxmlformats.org/officeDocument/2006/relationships" r:id="rId6"/>
          </a:graphicData>
        </a:graphic>
      </p:graphicFrame>
      <p:sp>
        <p:nvSpPr>
          <p:cNvPr id="32" name="Shape 9">
            <a:extLst>
              <a:ext uri="{FF2B5EF4-FFF2-40B4-BE49-F238E27FC236}">
                <a16:creationId xmlns:a16="http://schemas.microsoft.com/office/drawing/2014/main" id="{DF6A205E-A8FB-794E-D45E-37CF5C99E4FA}"/>
              </a:ext>
            </a:extLst>
          </p:cNvPr>
          <p:cNvSpPr/>
          <p:nvPr/>
        </p:nvSpPr>
        <p:spPr>
          <a:xfrm>
            <a:off x="10727131" y="1463040"/>
            <a:ext cx="4869790" cy="237744"/>
          </a:xfrm>
          <a:prstGeom prst="rect">
            <a:avLst/>
          </a:prstGeom>
          <a:solidFill>
            <a:srgbClr val="13807B"/>
          </a:solidFill>
          <a:ln/>
        </p:spPr>
        <p:txBody>
          <a:bodyPr/>
          <a:lstStyle/>
          <a:p>
            <a:endParaRPr lang="es-PE"/>
          </a:p>
        </p:txBody>
      </p:sp>
      <p:sp>
        <p:nvSpPr>
          <p:cNvPr id="35" name="Text 10">
            <a:extLst>
              <a:ext uri="{FF2B5EF4-FFF2-40B4-BE49-F238E27FC236}">
                <a16:creationId xmlns:a16="http://schemas.microsoft.com/office/drawing/2014/main" id="{81B3D6E7-92D8-7BC0-0682-8EEE8858F424}"/>
              </a:ext>
            </a:extLst>
          </p:cNvPr>
          <p:cNvSpPr txBox="1"/>
          <p:nvPr/>
        </p:nvSpPr>
        <p:spPr>
          <a:xfrm>
            <a:off x="10727131" y="1463040"/>
            <a:ext cx="4869790" cy="237744"/>
          </a:xfrm>
          <a:prstGeom prst="rect">
            <a:avLst/>
          </a:prstGeom>
          <a:noFill/>
          <a:ln/>
        </p:spPr>
        <p:txBody>
          <a:bodyPr wrap="square" lIns="0" tIns="0" rIns="0" bIns="0" rtlCol="0" anchor="ctr"/>
          <a:lstStyle/>
          <a:p>
            <a:pPr marL="0" indent="0" algn="ctr">
              <a:buNone/>
            </a:pPr>
            <a:r>
              <a:rPr lang="en-US" sz="850" b="1">
                <a:solidFill>
                  <a:srgbClr val="FFFFFF"/>
                </a:solidFill>
                <a:latin typeface="Arial" pitchFamily="34" charset="0"/>
                <a:ea typeface="Arial" pitchFamily="34" charset="-122"/>
                <a:cs typeface="Arial" pitchFamily="34" charset="-120"/>
              </a:rPr>
              <a:t>Próximo Recurrente</a:t>
            </a:r>
            <a:endParaRPr lang="en-US" sz="850"/>
          </a:p>
        </p:txBody>
      </p:sp>
      <p:sp>
        <p:nvSpPr>
          <p:cNvPr id="38" name="Shape 11">
            <a:extLst>
              <a:ext uri="{FF2B5EF4-FFF2-40B4-BE49-F238E27FC236}">
                <a16:creationId xmlns:a16="http://schemas.microsoft.com/office/drawing/2014/main" id="{CC089A31-1A41-7457-DCBE-172B2ED70719}"/>
              </a:ext>
            </a:extLst>
          </p:cNvPr>
          <p:cNvSpPr/>
          <p:nvPr/>
        </p:nvSpPr>
        <p:spPr>
          <a:xfrm>
            <a:off x="10727131" y="1700784"/>
            <a:ext cx="4869790" cy="4288536"/>
          </a:xfrm>
          <a:prstGeom prst="rect">
            <a:avLst/>
          </a:prstGeom>
          <a:solidFill>
            <a:srgbClr val="FFFFFF"/>
          </a:solidFill>
          <a:ln w="9525">
            <a:solidFill>
              <a:srgbClr val="D5DFDE"/>
            </a:solidFill>
            <a:prstDash val="solid"/>
          </a:ln>
        </p:spPr>
        <p:txBody>
          <a:bodyPr/>
          <a:lstStyle/>
          <a:p>
            <a:endParaRPr lang="es-PE"/>
          </a:p>
        </p:txBody>
      </p:sp>
      <p:graphicFrame>
        <p:nvGraphicFramePr>
          <p:cNvPr id="41" name="Chart 2">
            <a:extLst>
              <a:ext uri="{FF2B5EF4-FFF2-40B4-BE49-F238E27FC236}">
                <a16:creationId xmlns:a16="http://schemas.microsoft.com/office/drawing/2014/main" id="{E291AC06-8ECA-C007-E2D2-C431150AC2C9}"/>
              </a:ext>
            </a:extLst>
          </p:cNvPr>
          <p:cNvGraphicFramePr/>
          <p:nvPr>
            <p:extLst>
              <p:ext uri="{D42A27DB-BD31-4B8C-83A1-F6EECF244321}">
                <p14:modId xmlns:p14="http://schemas.microsoft.com/office/powerpoint/2010/main" val="129345625"/>
              </p:ext>
            </p:extLst>
          </p:nvPr>
        </p:nvGraphicFramePr>
        <p:xfrm>
          <a:off x="10781995" y="1755648"/>
          <a:ext cx="4760062" cy="4142232"/>
        </p:xfrm>
        <a:graphic>
          <a:graphicData uri="http://schemas.openxmlformats.org/drawingml/2006/chart">
            <c:chart xmlns:c="http://schemas.openxmlformats.org/drawingml/2006/chart" xmlns:r="http://schemas.openxmlformats.org/officeDocument/2006/relationships" r:id="rId7"/>
          </a:graphicData>
        </a:graphic>
      </p:graphicFrame>
      <p:sp>
        <p:nvSpPr>
          <p:cNvPr id="44" name="Shape 12">
            <a:extLst>
              <a:ext uri="{FF2B5EF4-FFF2-40B4-BE49-F238E27FC236}">
                <a16:creationId xmlns:a16="http://schemas.microsoft.com/office/drawing/2014/main" id="{8CA3509D-8143-C728-86D1-0B240731FFCF}"/>
              </a:ext>
            </a:extLst>
          </p:cNvPr>
          <p:cNvSpPr/>
          <p:nvPr/>
        </p:nvSpPr>
        <p:spPr>
          <a:xfrm>
            <a:off x="658368" y="6117336"/>
            <a:ext cx="164592" cy="109728"/>
          </a:xfrm>
          <a:prstGeom prst="rect">
            <a:avLst/>
          </a:prstGeom>
          <a:solidFill>
            <a:srgbClr val="E3F5DE"/>
          </a:solidFill>
          <a:ln/>
        </p:spPr>
        <p:txBody>
          <a:bodyPr/>
          <a:lstStyle/>
          <a:p>
            <a:endParaRPr lang="es-PE"/>
          </a:p>
        </p:txBody>
      </p:sp>
      <p:sp>
        <p:nvSpPr>
          <p:cNvPr id="47" name="Text 13">
            <a:extLst>
              <a:ext uri="{FF2B5EF4-FFF2-40B4-BE49-F238E27FC236}">
                <a16:creationId xmlns:a16="http://schemas.microsoft.com/office/drawing/2014/main" id="{89D99634-5487-7375-66F2-403DF52F8EC0}"/>
              </a:ext>
            </a:extLst>
          </p:cNvPr>
          <p:cNvSpPr txBox="1"/>
          <p:nvPr/>
        </p:nvSpPr>
        <p:spPr>
          <a:xfrm>
            <a:off x="8595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v1</a:t>
            </a:r>
            <a:endParaRPr lang="en-US" sz="800"/>
          </a:p>
        </p:txBody>
      </p:sp>
      <p:sp>
        <p:nvSpPr>
          <p:cNvPr id="50" name="Shape 14">
            <a:extLst>
              <a:ext uri="{FF2B5EF4-FFF2-40B4-BE49-F238E27FC236}">
                <a16:creationId xmlns:a16="http://schemas.microsoft.com/office/drawing/2014/main" id="{662A4D08-87E3-AABB-CF3B-D987C1A97E76}"/>
              </a:ext>
            </a:extLst>
          </p:cNvPr>
          <p:cNvSpPr/>
          <p:nvPr/>
        </p:nvSpPr>
        <p:spPr>
          <a:xfrm>
            <a:off x="2761488" y="6117336"/>
            <a:ext cx="164592" cy="109728"/>
          </a:xfrm>
          <a:prstGeom prst="rect">
            <a:avLst/>
          </a:prstGeom>
          <a:solidFill>
            <a:srgbClr val="B7E3A8"/>
          </a:solidFill>
          <a:ln/>
        </p:spPr>
        <p:txBody>
          <a:bodyPr/>
          <a:lstStyle/>
          <a:p>
            <a:endParaRPr lang="es-PE"/>
          </a:p>
        </p:txBody>
      </p:sp>
      <p:sp>
        <p:nvSpPr>
          <p:cNvPr id="53" name="Text 15">
            <a:extLst>
              <a:ext uri="{FF2B5EF4-FFF2-40B4-BE49-F238E27FC236}">
                <a16:creationId xmlns:a16="http://schemas.microsoft.com/office/drawing/2014/main" id="{93A5C5E2-ED08-30A9-A8BC-26721E4E9958}"/>
              </a:ext>
            </a:extLst>
          </p:cNvPr>
          <p:cNvSpPr txBox="1"/>
          <p:nvPr/>
        </p:nvSpPr>
        <p:spPr>
          <a:xfrm>
            <a:off x="296265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v2</a:t>
            </a:r>
            <a:endParaRPr lang="en-US" sz="800"/>
          </a:p>
        </p:txBody>
      </p:sp>
      <p:sp>
        <p:nvSpPr>
          <p:cNvPr id="57" name="Shape 16">
            <a:extLst>
              <a:ext uri="{FF2B5EF4-FFF2-40B4-BE49-F238E27FC236}">
                <a16:creationId xmlns:a16="http://schemas.microsoft.com/office/drawing/2014/main" id="{4324ACA2-B6DC-C5E2-96DB-BDB7F859A212}"/>
              </a:ext>
            </a:extLst>
          </p:cNvPr>
          <p:cNvSpPr/>
          <p:nvPr/>
        </p:nvSpPr>
        <p:spPr>
          <a:xfrm>
            <a:off x="4864608" y="6117336"/>
            <a:ext cx="164592" cy="109728"/>
          </a:xfrm>
          <a:prstGeom prst="rect">
            <a:avLst/>
          </a:prstGeom>
          <a:solidFill>
            <a:srgbClr val="7BC96F"/>
          </a:solidFill>
          <a:ln/>
        </p:spPr>
        <p:txBody>
          <a:bodyPr/>
          <a:lstStyle/>
          <a:p>
            <a:endParaRPr lang="es-PE"/>
          </a:p>
        </p:txBody>
      </p:sp>
      <p:sp>
        <p:nvSpPr>
          <p:cNvPr id="60" name="Text 17">
            <a:extLst>
              <a:ext uri="{FF2B5EF4-FFF2-40B4-BE49-F238E27FC236}">
                <a16:creationId xmlns:a16="http://schemas.microsoft.com/office/drawing/2014/main" id="{110DF064-622F-8BCD-47E5-E44E8EA254CD}"/>
              </a:ext>
            </a:extLst>
          </p:cNvPr>
          <p:cNvSpPr txBox="1"/>
          <p:nvPr/>
        </p:nvSpPr>
        <p:spPr>
          <a:xfrm>
            <a:off x="506577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v3</a:t>
            </a:r>
            <a:endParaRPr lang="en-US" sz="800"/>
          </a:p>
        </p:txBody>
      </p:sp>
      <p:sp>
        <p:nvSpPr>
          <p:cNvPr id="63" name="Shape 18">
            <a:extLst>
              <a:ext uri="{FF2B5EF4-FFF2-40B4-BE49-F238E27FC236}">
                <a16:creationId xmlns:a16="http://schemas.microsoft.com/office/drawing/2014/main" id="{1443776B-4022-E8F2-DAE3-93B0105CB34C}"/>
              </a:ext>
            </a:extLst>
          </p:cNvPr>
          <p:cNvSpPr/>
          <p:nvPr/>
        </p:nvSpPr>
        <p:spPr>
          <a:xfrm>
            <a:off x="6967728" y="6117336"/>
            <a:ext cx="164592" cy="109728"/>
          </a:xfrm>
          <a:prstGeom prst="rect">
            <a:avLst/>
          </a:prstGeom>
          <a:solidFill>
            <a:srgbClr val="2E8B3D"/>
          </a:solidFill>
          <a:ln/>
        </p:spPr>
        <p:txBody>
          <a:bodyPr/>
          <a:lstStyle/>
          <a:p>
            <a:endParaRPr lang="es-PE"/>
          </a:p>
        </p:txBody>
      </p:sp>
      <p:sp>
        <p:nvSpPr>
          <p:cNvPr id="66" name="Text 19">
            <a:extLst>
              <a:ext uri="{FF2B5EF4-FFF2-40B4-BE49-F238E27FC236}">
                <a16:creationId xmlns:a16="http://schemas.microsoft.com/office/drawing/2014/main" id="{32DB5B15-A861-E053-172E-4442179D7B1B}"/>
              </a:ext>
            </a:extLst>
          </p:cNvPr>
          <p:cNvSpPr txBox="1"/>
          <p:nvPr/>
        </p:nvSpPr>
        <p:spPr>
          <a:xfrm>
            <a:off x="716889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Share v4</a:t>
            </a:r>
            <a:endParaRPr lang="en-US" sz="800"/>
          </a:p>
        </p:txBody>
      </p:sp>
      <p:sp>
        <p:nvSpPr>
          <p:cNvPr id="69" name="Shape 20">
            <a:extLst>
              <a:ext uri="{FF2B5EF4-FFF2-40B4-BE49-F238E27FC236}">
                <a16:creationId xmlns:a16="http://schemas.microsoft.com/office/drawing/2014/main" id="{7A26EFC4-9422-2E4C-CF20-9707CCA1FD26}"/>
              </a:ext>
            </a:extLst>
          </p:cNvPr>
          <p:cNvSpPr/>
          <p:nvPr/>
        </p:nvSpPr>
        <p:spPr>
          <a:xfrm>
            <a:off x="9070848" y="6117336"/>
            <a:ext cx="164592" cy="109728"/>
          </a:xfrm>
          <a:prstGeom prst="rect">
            <a:avLst/>
          </a:prstGeom>
          <a:solidFill>
            <a:srgbClr val="1B4F72"/>
          </a:solidFill>
          <a:ln/>
        </p:spPr>
        <p:txBody>
          <a:bodyPr/>
          <a:lstStyle/>
          <a:p>
            <a:endParaRPr lang="es-PE"/>
          </a:p>
        </p:txBody>
      </p:sp>
      <p:sp>
        <p:nvSpPr>
          <p:cNvPr id="73" name="Text 21">
            <a:extLst>
              <a:ext uri="{FF2B5EF4-FFF2-40B4-BE49-F238E27FC236}">
                <a16:creationId xmlns:a16="http://schemas.microsoft.com/office/drawing/2014/main" id="{F912D1DB-8887-F694-C875-2C9978B1432B}"/>
              </a:ext>
            </a:extLst>
          </p:cNvPr>
          <p:cNvSpPr txBox="1"/>
          <p:nvPr/>
        </p:nvSpPr>
        <p:spPr>
          <a:xfrm>
            <a:off x="927201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Ofertada</a:t>
            </a:r>
            <a:endParaRPr lang="en-US" sz="800"/>
          </a:p>
        </p:txBody>
      </p:sp>
      <p:sp>
        <p:nvSpPr>
          <p:cNvPr id="76" name="Shape 22">
            <a:extLst>
              <a:ext uri="{FF2B5EF4-FFF2-40B4-BE49-F238E27FC236}">
                <a16:creationId xmlns:a16="http://schemas.microsoft.com/office/drawing/2014/main" id="{12D2B791-10BD-AE8B-A15C-130E28F0F65D}"/>
              </a:ext>
            </a:extLst>
          </p:cNvPr>
          <p:cNvSpPr/>
          <p:nvPr/>
        </p:nvSpPr>
        <p:spPr>
          <a:xfrm>
            <a:off x="11173968" y="6117336"/>
            <a:ext cx="164592" cy="109728"/>
          </a:xfrm>
          <a:prstGeom prst="rect">
            <a:avLst/>
          </a:prstGeom>
          <a:solidFill>
            <a:srgbClr val="E67E22"/>
          </a:solidFill>
          <a:ln/>
        </p:spPr>
        <p:txBody>
          <a:bodyPr/>
          <a:lstStyle/>
          <a:p>
            <a:endParaRPr lang="es-PE"/>
          </a:p>
        </p:txBody>
      </p:sp>
      <p:sp>
        <p:nvSpPr>
          <p:cNvPr id="79" name="Text 23">
            <a:extLst>
              <a:ext uri="{FF2B5EF4-FFF2-40B4-BE49-F238E27FC236}">
                <a16:creationId xmlns:a16="http://schemas.microsoft.com/office/drawing/2014/main" id="{54C6E21B-A73C-B01E-B155-089E1E490480}"/>
              </a:ext>
            </a:extLst>
          </p:cNvPr>
          <p:cNvSpPr txBox="1"/>
          <p:nvPr/>
        </p:nvSpPr>
        <p:spPr>
          <a:xfrm>
            <a:off x="11375136" y="6071616"/>
            <a:ext cx="1463040" cy="201168"/>
          </a:xfrm>
          <a:prstGeom prst="rect">
            <a:avLst/>
          </a:prstGeom>
          <a:noFill/>
          <a:ln/>
        </p:spPr>
        <p:txBody>
          <a:bodyPr wrap="square" lIns="0" tIns="0" rIns="0" bIns="0" rtlCol="0" anchor="ctr"/>
          <a:lstStyle/>
          <a:p>
            <a:pPr marL="0" indent="0">
              <a:buNone/>
            </a:pPr>
            <a:r>
              <a:rPr lang="en-US" sz="800">
                <a:solidFill>
                  <a:srgbClr val="6E7E7D"/>
                </a:solidFill>
                <a:latin typeface="Arial" pitchFamily="34" charset="0"/>
                <a:ea typeface="Arial" pitchFamily="34" charset="-122"/>
                <a:cs typeface="Arial" pitchFamily="34" charset="-120"/>
              </a:rPr>
              <a:t>TEA Desembolsada</a:t>
            </a:r>
            <a:endParaRPr lang="en-US" sz="800"/>
          </a:p>
        </p:txBody>
      </p:sp>
      <p:sp>
        <p:nvSpPr>
          <p:cNvPr id="82" name="Shape 24">
            <a:extLst>
              <a:ext uri="{FF2B5EF4-FFF2-40B4-BE49-F238E27FC236}">
                <a16:creationId xmlns:a16="http://schemas.microsoft.com/office/drawing/2014/main" id="{09B78456-EC5F-D060-8BE8-3B3BA89C8646}"/>
              </a:ext>
            </a:extLst>
          </p:cNvPr>
          <p:cNvSpPr/>
          <p:nvPr/>
        </p:nvSpPr>
        <p:spPr>
          <a:xfrm>
            <a:off x="658368" y="6409944"/>
            <a:ext cx="14938553" cy="2203704"/>
          </a:xfrm>
          <a:prstGeom prst="rect">
            <a:avLst/>
          </a:prstGeom>
          <a:solidFill>
            <a:srgbClr val="F6FBFA"/>
          </a:solidFill>
          <a:ln w="9525">
            <a:solidFill>
              <a:srgbClr val="D5DFDE"/>
            </a:solidFill>
            <a:prstDash val="solid"/>
          </a:ln>
        </p:spPr>
        <p:txBody>
          <a:bodyPr/>
          <a:lstStyle/>
          <a:p>
            <a:endParaRPr lang="es-PE"/>
          </a:p>
        </p:txBody>
      </p:sp>
      <p:sp>
        <p:nvSpPr>
          <p:cNvPr id="85" name="Text 25">
            <a:extLst>
              <a:ext uri="{FF2B5EF4-FFF2-40B4-BE49-F238E27FC236}">
                <a16:creationId xmlns:a16="http://schemas.microsoft.com/office/drawing/2014/main" id="{880F916F-6B58-9162-9149-D57C1A4E163D}"/>
              </a:ext>
            </a:extLst>
          </p:cNvPr>
          <p:cNvSpPr txBox="1"/>
          <p:nvPr/>
        </p:nvSpPr>
        <p:spPr>
          <a:xfrm>
            <a:off x="914400" y="6519672"/>
            <a:ext cx="5486400" cy="182880"/>
          </a:xfrm>
          <a:prstGeom prst="rect">
            <a:avLst/>
          </a:prstGeom>
          <a:noFill/>
          <a:ln/>
        </p:spPr>
        <p:txBody>
          <a:bodyPr wrap="square" lIns="0" tIns="0" rIns="0" bIns="0" rtlCol="0" anchor="ctr"/>
          <a:lstStyle/>
          <a:p>
            <a:pPr marL="0" indent="0">
              <a:buNone/>
            </a:pPr>
            <a:r>
              <a:rPr lang="en-US" sz="900" b="1">
                <a:solidFill>
                  <a:srgbClr val="13807B"/>
                </a:solidFill>
                <a:latin typeface="Arial" pitchFamily="34" charset="0"/>
                <a:ea typeface="Arial" pitchFamily="34" charset="-122"/>
                <a:cs typeface="Arial" pitchFamily="34" charset="-120"/>
              </a:rPr>
              <a:t>LECTURA Y PROPUESTA</a:t>
            </a:r>
            <a:endParaRPr lang="en-US" sz="900"/>
          </a:p>
        </p:txBody>
      </p:sp>
      <p:sp>
        <p:nvSpPr>
          <p:cNvPr id="87" name="Text 26">
            <a:extLst>
              <a:ext uri="{FF2B5EF4-FFF2-40B4-BE49-F238E27FC236}">
                <a16:creationId xmlns:a16="http://schemas.microsoft.com/office/drawing/2014/main" id="{034C0C45-FD3A-5119-EF40-BEDAC1BBFE6F}"/>
              </a:ext>
            </a:extLst>
          </p:cNvPr>
          <p:cNvSpPr txBox="1"/>
          <p:nvPr/>
        </p:nvSpPr>
        <p:spPr>
          <a:xfrm>
            <a:off x="914400" y="6757416"/>
            <a:ext cx="14264640" cy="1746504"/>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3 clusters cierran iguales o por encima de donde empezaron (Próximo Recurrente +11pp) con la TEA ofertada más alta de toda la cartera — el margen ya es alto y el share no muestra señales de fuga.</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Próximo Recurrente es el caso más claro para un piloto de alza de tasa: crece en share y monto a la vez, con la TEA más alta del grupo — sugiere que todavía hay margen sin tocar el volumen.</a:t>
            </a:r>
            <a:endParaRPr lang="en-US" sz="1000"/>
          </a:p>
          <a:p>
            <a:pPr marL="177800" indent="-177800">
              <a:lnSpc>
                <a:spcPct val="105000"/>
              </a:lnSpc>
              <a:spcAft>
                <a:spcPts val="600"/>
              </a:spcAft>
              <a:buSzPct val="100000"/>
              <a:buChar char="•"/>
            </a:pPr>
            <a:r>
              <a:rPr lang="en-US" sz="1000">
                <a:solidFill>
                  <a:srgbClr val="0B2E2C"/>
                </a:solidFill>
                <a:latin typeface="Arial" pitchFamily="34" charset="0"/>
                <a:ea typeface="Arial" pitchFamily="34" charset="-122"/>
                <a:cs typeface="Arial" pitchFamily="34" charset="-120"/>
              </a:rPr>
              <a:t>Los tres muestran una caída fuerte a mitad de periodo (2025Q4) seguida de recuperación — antes de subir tasa, confirmar que esa caída no se repite en el próximo Q4, para no mover precio justo antes de un bache </a:t>
            </a:r>
            <a:r>
              <a:rPr lang="en-US" sz="1000" err="1">
                <a:solidFill>
                  <a:srgbClr val="0B2E2C"/>
                </a:solidFill>
                <a:latin typeface="Arial" pitchFamily="34" charset="0"/>
                <a:ea typeface="Arial" pitchFamily="34" charset="-122"/>
                <a:cs typeface="Arial" pitchFamily="34" charset="-120"/>
              </a:rPr>
              <a:t>estacional</a:t>
            </a:r>
            <a:r>
              <a:rPr lang="en-US" sz="1000">
                <a:solidFill>
                  <a:srgbClr val="0B2E2C"/>
                </a:solidFill>
                <a:latin typeface="Arial" pitchFamily="34" charset="0"/>
                <a:ea typeface="Arial" pitchFamily="34" charset="-122"/>
                <a:cs typeface="Arial" pitchFamily="34" charset="-120"/>
              </a:rPr>
              <a:t>.</a:t>
            </a:r>
            <a:endParaRPr lang="en-US" sz="1000"/>
          </a:p>
        </p:txBody>
      </p:sp>
    </p:spTree>
    <p:extLst>
      <p:ext uri="{BB962C8B-B14F-4D97-AF65-F5344CB8AC3E}">
        <p14:creationId xmlns:p14="http://schemas.microsoft.com/office/powerpoint/2010/main" val="13389114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1729C0-C874-D4B5-852A-5B86DAD9EA97}"/>
              </a:ext>
            </a:extLst>
          </p:cNvPr>
          <p:cNvPicPr>
            <a:picLocks noChangeAspect="1"/>
          </p:cNvPicPr>
          <p:nvPr/>
        </p:nvPicPr>
        <p:blipFill>
          <a:blip r:embed="rId3"/>
          <a:srcRect l="75323" t="536" r="-976" b="74237"/>
          <a:stretch>
            <a:fillRect/>
          </a:stretch>
        </p:blipFill>
        <p:spPr>
          <a:xfrm>
            <a:off x="4899796" y="1129688"/>
            <a:ext cx="2579283" cy="2026580"/>
          </a:xfrm>
          <a:prstGeom prst="rect">
            <a:avLst/>
          </a:prstGeom>
        </p:spPr>
      </p:pic>
      <p:pic>
        <p:nvPicPr>
          <p:cNvPr id="3" name="Picture 2">
            <a:extLst>
              <a:ext uri="{FF2B5EF4-FFF2-40B4-BE49-F238E27FC236}">
                <a16:creationId xmlns:a16="http://schemas.microsoft.com/office/drawing/2014/main" id="{03FF90BF-90A8-92D4-D993-01EB868A8C67}"/>
              </a:ext>
            </a:extLst>
          </p:cNvPr>
          <p:cNvPicPr>
            <a:picLocks noChangeAspect="1"/>
          </p:cNvPicPr>
          <p:nvPr/>
        </p:nvPicPr>
        <p:blipFill>
          <a:blip r:embed="rId3"/>
          <a:srcRect l="25785" r="48562" b="74773"/>
          <a:stretch>
            <a:fillRect/>
          </a:stretch>
        </p:blipFill>
        <p:spPr>
          <a:xfrm>
            <a:off x="8750830" y="1078700"/>
            <a:ext cx="2579283" cy="2026580"/>
          </a:xfrm>
          <a:prstGeom prst="rect">
            <a:avLst/>
          </a:prstGeom>
        </p:spPr>
      </p:pic>
      <p:pic>
        <p:nvPicPr>
          <p:cNvPr id="2" name="Picture 1">
            <a:extLst>
              <a:ext uri="{FF2B5EF4-FFF2-40B4-BE49-F238E27FC236}">
                <a16:creationId xmlns:a16="http://schemas.microsoft.com/office/drawing/2014/main" id="{F52C915B-6AA4-FF0A-57A5-7E7C8B69765B}"/>
              </a:ext>
            </a:extLst>
          </p:cNvPr>
          <p:cNvPicPr>
            <a:picLocks noChangeAspect="1"/>
          </p:cNvPicPr>
          <p:nvPr/>
        </p:nvPicPr>
        <p:blipFill>
          <a:blip r:embed="rId3"/>
          <a:srcRect r="74347" b="74773"/>
          <a:stretch>
            <a:fillRect/>
          </a:stretch>
        </p:blipFill>
        <p:spPr>
          <a:xfrm>
            <a:off x="1048762" y="1087832"/>
            <a:ext cx="2579283" cy="2026580"/>
          </a:xfrm>
          <a:prstGeom prst="rect">
            <a:avLst/>
          </a:prstGeom>
        </p:spPr>
      </p:pic>
      <p:pic>
        <p:nvPicPr>
          <p:cNvPr id="4" name="Picture 3">
            <a:extLst>
              <a:ext uri="{FF2B5EF4-FFF2-40B4-BE49-F238E27FC236}">
                <a16:creationId xmlns:a16="http://schemas.microsoft.com/office/drawing/2014/main" id="{D90B81FA-67F7-1363-09C3-2F307B4A661D}"/>
              </a:ext>
            </a:extLst>
          </p:cNvPr>
          <p:cNvPicPr>
            <a:picLocks noChangeAspect="1"/>
          </p:cNvPicPr>
          <p:nvPr/>
        </p:nvPicPr>
        <p:blipFill>
          <a:blip r:embed="rId3"/>
          <a:srcRect l="50104" r="24243" b="74773"/>
          <a:stretch>
            <a:fillRect/>
          </a:stretch>
        </p:blipFill>
        <p:spPr>
          <a:xfrm>
            <a:off x="12601863" y="1087832"/>
            <a:ext cx="2579283" cy="2026580"/>
          </a:xfrm>
          <a:prstGeom prst="rect">
            <a:avLst/>
          </a:prstGeom>
        </p:spPr>
      </p:pic>
      <p:pic>
        <p:nvPicPr>
          <p:cNvPr id="6" name="Picture 5">
            <a:extLst>
              <a:ext uri="{FF2B5EF4-FFF2-40B4-BE49-F238E27FC236}">
                <a16:creationId xmlns:a16="http://schemas.microsoft.com/office/drawing/2014/main" id="{AE2383BC-7992-4E21-5772-0E24502A36D9}"/>
              </a:ext>
            </a:extLst>
          </p:cNvPr>
          <p:cNvPicPr>
            <a:picLocks noChangeAspect="1"/>
          </p:cNvPicPr>
          <p:nvPr/>
        </p:nvPicPr>
        <p:blipFill>
          <a:blip r:embed="rId3"/>
          <a:srcRect l="-428" t="25443" r="74775" b="49330"/>
          <a:stretch>
            <a:fillRect/>
          </a:stretch>
        </p:blipFill>
        <p:spPr>
          <a:xfrm>
            <a:off x="1022219" y="3912609"/>
            <a:ext cx="2579283" cy="2026580"/>
          </a:xfrm>
          <a:prstGeom prst="rect">
            <a:avLst/>
          </a:prstGeom>
        </p:spPr>
      </p:pic>
      <p:pic>
        <p:nvPicPr>
          <p:cNvPr id="7" name="Picture 6">
            <a:extLst>
              <a:ext uri="{FF2B5EF4-FFF2-40B4-BE49-F238E27FC236}">
                <a16:creationId xmlns:a16="http://schemas.microsoft.com/office/drawing/2014/main" id="{40C4BCC6-15B9-A0F7-99D0-E7B86C499A0E}"/>
              </a:ext>
            </a:extLst>
          </p:cNvPr>
          <p:cNvPicPr>
            <a:picLocks noChangeAspect="1"/>
          </p:cNvPicPr>
          <p:nvPr/>
        </p:nvPicPr>
        <p:blipFill>
          <a:blip r:embed="rId3"/>
          <a:srcRect l="24822" t="25379" r="49525" b="49394"/>
          <a:stretch>
            <a:fillRect/>
          </a:stretch>
        </p:blipFill>
        <p:spPr>
          <a:xfrm>
            <a:off x="4860451" y="3912609"/>
            <a:ext cx="2579283" cy="2026580"/>
          </a:xfrm>
          <a:prstGeom prst="rect">
            <a:avLst/>
          </a:prstGeom>
        </p:spPr>
      </p:pic>
      <p:pic>
        <p:nvPicPr>
          <p:cNvPr id="8" name="Picture 7">
            <a:extLst>
              <a:ext uri="{FF2B5EF4-FFF2-40B4-BE49-F238E27FC236}">
                <a16:creationId xmlns:a16="http://schemas.microsoft.com/office/drawing/2014/main" id="{64D5B8F3-7530-054D-6AE4-72D5E4FA5AEE}"/>
              </a:ext>
            </a:extLst>
          </p:cNvPr>
          <p:cNvPicPr>
            <a:picLocks noChangeAspect="1"/>
          </p:cNvPicPr>
          <p:nvPr/>
        </p:nvPicPr>
        <p:blipFill>
          <a:blip r:embed="rId3"/>
          <a:srcRect l="50941" t="24773" r="23406" b="50000"/>
          <a:stretch>
            <a:fillRect/>
          </a:stretch>
        </p:blipFill>
        <p:spPr>
          <a:xfrm>
            <a:off x="4898276" y="6651321"/>
            <a:ext cx="2579283" cy="2026580"/>
          </a:xfrm>
          <a:prstGeom prst="rect">
            <a:avLst/>
          </a:prstGeom>
        </p:spPr>
      </p:pic>
      <p:pic>
        <p:nvPicPr>
          <p:cNvPr id="9" name="Picture 8">
            <a:extLst>
              <a:ext uri="{FF2B5EF4-FFF2-40B4-BE49-F238E27FC236}">
                <a16:creationId xmlns:a16="http://schemas.microsoft.com/office/drawing/2014/main" id="{7716C366-B4DB-EF55-9B01-FDA41225C3E5}"/>
              </a:ext>
            </a:extLst>
          </p:cNvPr>
          <p:cNvPicPr>
            <a:picLocks noChangeAspect="1"/>
          </p:cNvPicPr>
          <p:nvPr/>
        </p:nvPicPr>
        <p:blipFill>
          <a:blip r:embed="rId3"/>
          <a:srcRect l="75751" t="24773" r="-1404" b="50000"/>
          <a:stretch>
            <a:fillRect/>
          </a:stretch>
        </p:blipFill>
        <p:spPr>
          <a:xfrm>
            <a:off x="1048761" y="6673708"/>
            <a:ext cx="2579283" cy="2026580"/>
          </a:xfrm>
          <a:prstGeom prst="rect">
            <a:avLst/>
          </a:prstGeom>
        </p:spPr>
      </p:pic>
      <p:pic>
        <p:nvPicPr>
          <p:cNvPr id="10" name="Picture 9">
            <a:extLst>
              <a:ext uri="{FF2B5EF4-FFF2-40B4-BE49-F238E27FC236}">
                <a16:creationId xmlns:a16="http://schemas.microsoft.com/office/drawing/2014/main" id="{592D8DAA-8A47-FE2C-0D95-6883287897D9}"/>
              </a:ext>
            </a:extLst>
          </p:cNvPr>
          <p:cNvPicPr>
            <a:picLocks noChangeAspect="1"/>
          </p:cNvPicPr>
          <p:nvPr/>
        </p:nvPicPr>
        <p:blipFill>
          <a:blip r:embed="rId3"/>
          <a:srcRect l="25724" t="50083" r="48623" b="24690"/>
          <a:stretch>
            <a:fillRect/>
          </a:stretch>
        </p:blipFill>
        <p:spPr>
          <a:xfrm>
            <a:off x="12597309" y="6673708"/>
            <a:ext cx="2579283" cy="2026580"/>
          </a:xfrm>
          <a:prstGeom prst="rect">
            <a:avLst/>
          </a:prstGeom>
        </p:spPr>
      </p:pic>
      <p:pic>
        <p:nvPicPr>
          <p:cNvPr id="11" name="Picture 10">
            <a:extLst>
              <a:ext uri="{FF2B5EF4-FFF2-40B4-BE49-F238E27FC236}">
                <a16:creationId xmlns:a16="http://schemas.microsoft.com/office/drawing/2014/main" id="{459FBF6C-B5DF-85D4-940D-37503216AF87}"/>
              </a:ext>
            </a:extLst>
          </p:cNvPr>
          <p:cNvPicPr>
            <a:picLocks noChangeAspect="1"/>
          </p:cNvPicPr>
          <p:nvPr/>
        </p:nvPicPr>
        <p:blipFill>
          <a:blip r:embed="rId3"/>
          <a:srcRect l="1176" t="74773" r="73171"/>
          <a:stretch>
            <a:fillRect/>
          </a:stretch>
        </p:blipFill>
        <p:spPr>
          <a:xfrm>
            <a:off x="8747793" y="3873490"/>
            <a:ext cx="2579283" cy="2026580"/>
          </a:xfrm>
          <a:prstGeom prst="rect">
            <a:avLst/>
          </a:prstGeom>
        </p:spPr>
      </p:pic>
      <p:pic>
        <p:nvPicPr>
          <p:cNvPr id="13" name="Picture 12">
            <a:extLst>
              <a:ext uri="{FF2B5EF4-FFF2-40B4-BE49-F238E27FC236}">
                <a16:creationId xmlns:a16="http://schemas.microsoft.com/office/drawing/2014/main" id="{AC0B7999-8486-DF4B-5272-ACBB609731DE}"/>
              </a:ext>
            </a:extLst>
          </p:cNvPr>
          <p:cNvPicPr>
            <a:picLocks noChangeAspect="1"/>
          </p:cNvPicPr>
          <p:nvPr/>
        </p:nvPicPr>
        <p:blipFill>
          <a:blip r:embed="rId3"/>
          <a:srcRect l="1391" t="50000" r="72956" b="24773"/>
          <a:stretch>
            <a:fillRect/>
          </a:stretch>
        </p:blipFill>
        <p:spPr>
          <a:xfrm>
            <a:off x="12597310" y="3881312"/>
            <a:ext cx="2579283" cy="2026580"/>
          </a:xfrm>
          <a:prstGeom prst="rect">
            <a:avLst/>
          </a:prstGeom>
        </p:spPr>
      </p:pic>
      <p:pic>
        <p:nvPicPr>
          <p:cNvPr id="14" name="Picture 13">
            <a:extLst>
              <a:ext uri="{FF2B5EF4-FFF2-40B4-BE49-F238E27FC236}">
                <a16:creationId xmlns:a16="http://schemas.microsoft.com/office/drawing/2014/main" id="{2F41C24E-9A30-C4C4-40CA-2C83D3B3EBCA}"/>
              </a:ext>
            </a:extLst>
          </p:cNvPr>
          <p:cNvPicPr>
            <a:picLocks noChangeAspect="1"/>
          </p:cNvPicPr>
          <p:nvPr/>
        </p:nvPicPr>
        <p:blipFill>
          <a:blip r:embed="rId3"/>
          <a:srcRect l="75653" t="50000" r="-1306" b="24773"/>
          <a:stretch>
            <a:fillRect/>
          </a:stretch>
        </p:blipFill>
        <p:spPr>
          <a:xfrm>
            <a:off x="8747792" y="6673708"/>
            <a:ext cx="2579283" cy="2026580"/>
          </a:xfrm>
          <a:prstGeom prst="rect">
            <a:avLst/>
          </a:prstGeom>
        </p:spPr>
      </p:pic>
      <p:sp>
        <p:nvSpPr>
          <p:cNvPr id="15" name="Shape 43">
            <a:extLst>
              <a:ext uri="{FF2B5EF4-FFF2-40B4-BE49-F238E27FC236}">
                <a16:creationId xmlns:a16="http://schemas.microsoft.com/office/drawing/2014/main" id="{8AEF2238-FB1C-2EE1-0001-AE6617F3CDFD}"/>
              </a:ext>
            </a:extLst>
          </p:cNvPr>
          <p:cNvSpPr/>
          <p:nvPr/>
        </p:nvSpPr>
        <p:spPr>
          <a:xfrm>
            <a:off x="570387"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 name="Shape 43">
            <a:extLst>
              <a:ext uri="{FF2B5EF4-FFF2-40B4-BE49-F238E27FC236}">
                <a16:creationId xmlns:a16="http://schemas.microsoft.com/office/drawing/2014/main" id="{984C7790-E647-5384-B7C6-F561EE4D192F}"/>
              </a:ext>
            </a:extLst>
          </p:cNvPr>
          <p:cNvSpPr/>
          <p:nvPr/>
        </p:nvSpPr>
        <p:spPr>
          <a:xfrm>
            <a:off x="4421421"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7" name="Shape 43">
            <a:extLst>
              <a:ext uri="{FF2B5EF4-FFF2-40B4-BE49-F238E27FC236}">
                <a16:creationId xmlns:a16="http://schemas.microsoft.com/office/drawing/2014/main" id="{FF3172C6-3E13-1662-A219-D651BFAE735A}"/>
              </a:ext>
            </a:extLst>
          </p:cNvPr>
          <p:cNvSpPr/>
          <p:nvPr/>
        </p:nvSpPr>
        <p:spPr>
          <a:xfrm>
            <a:off x="8272455"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8" name="Shape 43">
            <a:extLst>
              <a:ext uri="{FF2B5EF4-FFF2-40B4-BE49-F238E27FC236}">
                <a16:creationId xmlns:a16="http://schemas.microsoft.com/office/drawing/2014/main" id="{14C5D9E6-4864-E1EB-0515-2DA0B15A1E38}"/>
              </a:ext>
            </a:extLst>
          </p:cNvPr>
          <p:cNvSpPr/>
          <p:nvPr/>
        </p:nvSpPr>
        <p:spPr>
          <a:xfrm>
            <a:off x="12123488"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9" name="Shape 43">
            <a:extLst>
              <a:ext uri="{FF2B5EF4-FFF2-40B4-BE49-F238E27FC236}">
                <a16:creationId xmlns:a16="http://schemas.microsoft.com/office/drawing/2014/main" id="{8BDECCB7-39B8-4C9C-3AC7-DDD41D61A4E0}"/>
              </a:ext>
            </a:extLst>
          </p:cNvPr>
          <p:cNvSpPr/>
          <p:nvPr/>
        </p:nvSpPr>
        <p:spPr>
          <a:xfrm>
            <a:off x="570387"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0" name="Shape 43">
            <a:extLst>
              <a:ext uri="{FF2B5EF4-FFF2-40B4-BE49-F238E27FC236}">
                <a16:creationId xmlns:a16="http://schemas.microsoft.com/office/drawing/2014/main" id="{F3512B28-0B68-56DE-BA84-1C2F9893D65D}"/>
              </a:ext>
            </a:extLst>
          </p:cNvPr>
          <p:cNvSpPr/>
          <p:nvPr/>
        </p:nvSpPr>
        <p:spPr>
          <a:xfrm>
            <a:off x="596478" y="6475361"/>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1" name="Shape 43">
            <a:extLst>
              <a:ext uri="{FF2B5EF4-FFF2-40B4-BE49-F238E27FC236}">
                <a16:creationId xmlns:a16="http://schemas.microsoft.com/office/drawing/2014/main" id="{3F81BAB8-1748-C24B-E6FC-25EC64B59805}"/>
              </a:ext>
            </a:extLst>
          </p:cNvPr>
          <p:cNvSpPr/>
          <p:nvPr/>
        </p:nvSpPr>
        <p:spPr>
          <a:xfrm>
            <a:off x="8269562" y="6476514"/>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2" name="Shape 43">
            <a:extLst>
              <a:ext uri="{FF2B5EF4-FFF2-40B4-BE49-F238E27FC236}">
                <a16:creationId xmlns:a16="http://schemas.microsoft.com/office/drawing/2014/main" id="{95A78973-808C-A923-20EA-3EEFBA4E3269}"/>
              </a:ext>
            </a:extLst>
          </p:cNvPr>
          <p:cNvSpPr/>
          <p:nvPr/>
        </p:nvSpPr>
        <p:spPr>
          <a:xfrm>
            <a:off x="12118935" y="6475360"/>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3" name="Shape 43">
            <a:extLst>
              <a:ext uri="{FF2B5EF4-FFF2-40B4-BE49-F238E27FC236}">
                <a16:creationId xmlns:a16="http://schemas.microsoft.com/office/drawing/2014/main" id="{DBDB2ABA-17B7-D129-4F96-197D54978322}"/>
              </a:ext>
            </a:extLst>
          </p:cNvPr>
          <p:cNvSpPr/>
          <p:nvPr/>
        </p:nvSpPr>
        <p:spPr>
          <a:xfrm>
            <a:off x="4424312"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4" name="Shape 43">
            <a:extLst>
              <a:ext uri="{FF2B5EF4-FFF2-40B4-BE49-F238E27FC236}">
                <a16:creationId xmlns:a16="http://schemas.microsoft.com/office/drawing/2014/main" id="{15FD9A2E-AE99-3F47-96DB-F96485D0B0A3}"/>
              </a:ext>
            </a:extLst>
          </p:cNvPr>
          <p:cNvSpPr/>
          <p:nvPr/>
        </p:nvSpPr>
        <p:spPr>
          <a:xfrm>
            <a:off x="8269562"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5" name="Shape 43">
            <a:extLst>
              <a:ext uri="{FF2B5EF4-FFF2-40B4-BE49-F238E27FC236}">
                <a16:creationId xmlns:a16="http://schemas.microsoft.com/office/drawing/2014/main" id="{08DC02B3-86C6-7E53-9E8C-489080BAE53F}"/>
              </a:ext>
            </a:extLst>
          </p:cNvPr>
          <p:cNvSpPr/>
          <p:nvPr/>
        </p:nvSpPr>
        <p:spPr>
          <a:xfrm>
            <a:off x="12123487"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6" name="Shape 43">
            <a:extLst>
              <a:ext uri="{FF2B5EF4-FFF2-40B4-BE49-F238E27FC236}">
                <a16:creationId xmlns:a16="http://schemas.microsoft.com/office/drawing/2014/main" id="{81FEE99F-843D-933F-618E-2B0F54CB7A32}"/>
              </a:ext>
            </a:extLst>
          </p:cNvPr>
          <p:cNvSpPr/>
          <p:nvPr/>
        </p:nvSpPr>
        <p:spPr>
          <a:xfrm>
            <a:off x="4420189" y="6475360"/>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1" name="Group 30">
            <a:extLst>
              <a:ext uri="{FF2B5EF4-FFF2-40B4-BE49-F238E27FC236}">
                <a16:creationId xmlns:a16="http://schemas.microsoft.com/office/drawing/2014/main" id="{DDA6BD7C-48AC-09E1-BA10-37FB6DE292B6}"/>
              </a:ext>
            </a:extLst>
          </p:cNvPr>
          <p:cNvGrpSpPr/>
          <p:nvPr/>
        </p:nvGrpSpPr>
        <p:grpSpPr>
          <a:xfrm>
            <a:off x="570388" y="912714"/>
            <a:ext cx="3536034" cy="320553"/>
            <a:chOff x="570388" y="912714"/>
            <a:chExt cx="3536034" cy="320553"/>
          </a:xfrm>
        </p:grpSpPr>
        <p:sp>
          <p:nvSpPr>
            <p:cNvPr id="28" name="TextBox 27">
              <a:extLst>
                <a:ext uri="{FF2B5EF4-FFF2-40B4-BE49-F238E27FC236}">
                  <a16:creationId xmlns:a16="http://schemas.microsoft.com/office/drawing/2014/main" id="{60524E58-A435-6CE6-1303-D73FD3A11056}"/>
                </a:ext>
              </a:extLst>
            </p:cNvPr>
            <p:cNvSpPr txBox="1"/>
            <p:nvPr/>
          </p:nvSpPr>
          <p:spPr>
            <a:xfrm>
              <a:off x="1970049" y="956268"/>
              <a:ext cx="1040780" cy="276999"/>
            </a:xfrm>
            <a:prstGeom prst="rect">
              <a:avLst/>
            </a:prstGeom>
            <a:solidFill>
              <a:schemeClr val="bg1"/>
            </a:solidFill>
            <a:ln>
              <a:solidFill>
                <a:schemeClr val="bg1"/>
              </a:solid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27" name="Google Shape;408;g3a8a166b9a7_8_346">
              <a:extLst>
                <a:ext uri="{FF2B5EF4-FFF2-40B4-BE49-F238E27FC236}">
                  <a16:creationId xmlns:a16="http://schemas.microsoft.com/office/drawing/2014/main" id="{8300270C-02AA-31DD-15F2-D92B4B5ECA72}"/>
                </a:ext>
              </a:extLst>
            </p:cNvPr>
            <p:cNvSpPr/>
            <p:nvPr/>
          </p:nvSpPr>
          <p:spPr>
            <a:xfrm>
              <a:off x="570388" y="912714"/>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Pasivos Prom U12M</a:t>
              </a:r>
            </a:p>
          </p:txBody>
        </p:sp>
      </p:grpSp>
      <p:sp>
        <p:nvSpPr>
          <p:cNvPr id="29" name="TextBox 28">
            <a:extLst>
              <a:ext uri="{FF2B5EF4-FFF2-40B4-BE49-F238E27FC236}">
                <a16:creationId xmlns:a16="http://schemas.microsoft.com/office/drawing/2014/main" id="{EC53A5F8-6650-22B7-B647-E879D657FA70}"/>
              </a:ext>
            </a:extLst>
          </p:cNvPr>
          <p:cNvSpPr txBox="1"/>
          <p:nvPr/>
        </p:nvSpPr>
        <p:spPr>
          <a:xfrm>
            <a:off x="5780049" y="957143"/>
            <a:ext cx="1040780" cy="276999"/>
          </a:xfrm>
          <a:prstGeom prst="rect">
            <a:avLst/>
          </a:prstGeom>
          <a:solidFill>
            <a:schemeClr val="bg1"/>
          </a:solidFill>
          <a:ln>
            <a:solidFill>
              <a:schemeClr val="bg1"/>
            </a:solid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30" name="Google Shape;408;g3a8a166b9a7_8_346">
            <a:extLst>
              <a:ext uri="{FF2B5EF4-FFF2-40B4-BE49-F238E27FC236}">
                <a16:creationId xmlns:a16="http://schemas.microsoft.com/office/drawing/2014/main" id="{EC79E3B5-5B96-1193-E0D0-D9FCDCC114D1}"/>
              </a:ext>
            </a:extLst>
          </p:cNvPr>
          <p:cNvSpPr/>
          <p:nvPr/>
        </p:nvSpPr>
        <p:spPr>
          <a:xfrm>
            <a:off x="4420189" y="913036"/>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UAI Prom U12M</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nvGrpSpPr>
          <p:cNvPr id="39" name="Group 38">
            <a:extLst>
              <a:ext uri="{FF2B5EF4-FFF2-40B4-BE49-F238E27FC236}">
                <a16:creationId xmlns:a16="http://schemas.microsoft.com/office/drawing/2014/main" id="{7DDBC5F2-6771-88B4-8E26-A58CD9972448}"/>
              </a:ext>
            </a:extLst>
          </p:cNvPr>
          <p:cNvGrpSpPr/>
          <p:nvPr/>
        </p:nvGrpSpPr>
        <p:grpSpPr>
          <a:xfrm>
            <a:off x="8269562" y="913960"/>
            <a:ext cx="3536034" cy="316662"/>
            <a:chOff x="8269562" y="919502"/>
            <a:chExt cx="3536034" cy="316662"/>
          </a:xfrm>
        </p:grpSpPr>
        <p:sp>
          <p:nvSpPr>
            <p:cNvPr id="38" name="TextBox 37">
              <a:extLst>
                <a:ext uri="{FF2B5EF4-FFF2-40B4-BE49-F238E27FC236}">
                  <a16:creationId xmlns:a16="http://schemas.microsoft.com/office/drawing/2014/main" id="{6DA73933-1354-E766-C9AA-9A9BE15DA682}"/>
                </a:ext>
              </a:extLst>
            </p:cNvPr>
            <p:cNvSpPr txBox="1"/>
            <p:nvPr/>
          </p:nvSpPr>
          <p:spPr>
            <a:xfrm>
              <a:off x="9096395" y="919502"/>
              <a:ext cx="2088071"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34" name="Google Shape;408;g3a8a166b9a7_8_346">
              <a:extLst>
                <a:ext uri="{FF2B5EF4-FFF2-40B4-BE49-F238E27FC236}">
                  <a16:creationId xmlns:a16="http://schemas.microsoft.com/office/drawing/2014/main" id="{A7E0A9BF-852A-9DCA-AC11-90BB973304C6}"/>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Deuda IBK </a:t>
              </a: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U12M</a:t>
              </a:r>
            </a:p>
          </p:txBody>
        </p:sp>
      </p:grpSp>
      <p:grpSp>
        <p:nvGrpSpPr>
          <p:cNvPr id="40" name="Group 39">
            <a:extLst>
              <a:ext uri="{FF2B5EF4-FFF2-40B4-BE49-F238E27FC236}">
                <a16:creationId xmlns:a16="http://schemas.microsoft.com/office/drawing/2014/main" id="{40A2E893-8F2E-FB2D-56B5-6C097EF8C1C0}"/>
              </a:ext>
            </a:extLst>
          </p:cNvPr>
          <p:cNvGrpSpPr/>
          <p:nvPr/>
        </p:nvGrpSpPr>
        <p:grpSpPr>
          <a:xfrm>
            <a:off x="12131036" y="911373"/>
            <a:ext cx="3536034" cy="325177"/>
            <a:chOff x="8269562" y="919779"/>
            <a:chExt cx="3536034" cy="325177"/>
          </a:xfrm>
        </p:grpSpPr>
        <p:sp>
          <p:nvSpPr>
            <p:cNvPr id="41" name="TextBox 40">
              <a:extLst>
                <a:ext uri="{FF2B5EF4-FFF2-40B4-BE49-F238E27FC236}">
                  <a16:creationId xmlns:a16="http://schemas.microsoft.com/office/drawing/2014/main" id="{9C2463AE-64DF-7424-B7EB-992E248DC7D5}"/>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42" name="Google Shape;408;g3a8a166b9a7_8_346">
              <a:extLst>
                <a:ext uri="{FF2B5EF4-FFF2-40B4-BE49-F238E27FC236}">
                  <a16:creationId xmlns:a16="http://schemas.microsoft.com/office/drawing/2014/main" id="{952D31E6-EF6C-0036-601F-00EB328A264A}"/>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Deuda SF </a:t>
              </a: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U12M</a:t>
              </a:r>
            </a:p>
          </p:txBody>
        </p:sp>
      </p:grpSp>
      <p:grpSp>
        <p:nvGrpSpPr>
          <p:cNvPr id="43" name="Group 42">
            <a:extLst>
              <a:ext uri="{FF2B5EF4-FFF2-40B4-BE49-F238E27FC236}">
                <a16:creationId xmlns:a16="http://schemas.microsoft.com/office/drawing/2014/main" id="{FFA7CA58-F465-E714-8C7F-E14021D4C9E7}"/>
              </a:ext>
            </a:extLst>
          </p:cNvPr>
          <p:cNvGrpSpPr/>
          <p:nvPr/>
        </p:nvGrpSpPr>
        <p:grpSpPr>
          <a:xfrm>
            <a:off x="583032" y="3695060"/>
            <a:ext cx="3536034" cy="325177"/>
            <a:chOff x="8269562" y="919779"/>
            <a:chExt cx="3536034" cy="325177"/>
          </a:xfrm>
        </p:grpSpPr>
        <p:sp>
          <p:nvSpPr>
            <p:cNvPr id="44" name="TextBox 43">
              <a:extLst>
                <a:ext uri="{FF2B5EF4-FFF2-40B4-BE49-F238E27FC236}">
                  <a16:creationId xmlns:a16="http://schemas.microsoft.com/office/drawing/2014/main" id="{784B0B19-3535-4463-735D-F44DD4BB7D81}"/>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45" name="Google Shape;408;g3a8a166b9a7_8_346">
              <a:extLst>
                <a:ext uri="{FF2B5EF4-FFF2-40B4-BE49-F238E27FC236}">
                  <a16:creationId xmlns:a16="http://schemas.microsoft.com/office/drawing/2014/main" id="{7E959333-F5F8-8DC1-8EBD-371932A1BE8D}"/>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Monto </a:t>
              </a:r>
              <a:r>
                <a:rPr lang="es-ES_tradnl" sz="1100" b="1" kern="1200">
                  <a:solidFill>
                    <a:prstClr val="white"/>
                  </a:solidFill>
                  <a:latin typeface="Poppins" panose="00000500000000000000" pitchFamily="2" charset="0"/>
                  <a:ea typeface="Calibri"/>
                  <a:cs typeface="Poppins" panose="00000500000000000000" pitchFamily="2" charset="0"/>
                  <a:sym typeface="Calibri"/>
                </a:rPr>
                <a:t>Desembolsado</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47" name="Group 46">
            <a:extLst>
              <a:ext uri="{FF2B5EF4-FFF2-40B4-BE49-F238E27FC236}">
                <a16:creationId xmlns:a16="http://schemas.microsoft.com/office/drawing/2014/main" id="{1C49F890-F784-2682-7034-0905B431D16A}"/>
              </a:ext>
            </a:extLst>
          </p:cNvPr>
          <p:cNvGrpSpPr/>
          <p:nvPr/>
        </p:nvGrpSpPr>
        <p:grpSpPr>
          <a:xfrm>
            <a:off x="4431170" y="3698524"/>
            <a:ext cx="3536034" cy="325177"/>
            <a:chOff x="8269562" y="919779"/>
            <a:chExt cx="3536034" cy="325177"/>
          </a:xfrm>
        </p:grpSpPr>
        <p:sp>
          <p:nvSpPr>
            <p:cNvPr id="48" name="TextBox 47">
              <a:extLst>
                <a:ext uri="{FF2B5EF4-FFF2-40B4-BE49-F238E27FC236}">
                  <a16:creationId xmlns:a16="http://schemas.microsoft.com/office/drawing/2014/main" id="{D0602870-8643-BB91-D16A-92589E9CEF19}"/>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49" name="Google Shape;408;g3a8a166b9a7_8_346">
              <a:extLst>
                <a:ext uri="{FF2B5EF4-FFF2-40B4-BE49-F238E27FC236}">
                  <a16:creationId xmlns:a16="http://schemas.microsoft.com/office/drawing/2014/main" id="{5C00592C-6A17-094F-DE36-6DF3DDB6FBDB}"/>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Monto Ofertado (Min)</a:t>
              </a:r>
            </a:p>
          </p:txBody>
        </p:sp>
      </p:grpSp>
      <p:grpSp>
        <p:nvGrpSpPr>
          <p:cNvPr id="50" name="Group 49">
            <a:extLst>
              <a:ext uri="{FF2B5EF4-FFF2-40B4-BE49-F238E27FC236}">
                <a16:creationId xmlns:a16="http://schemas.microsoft.com/office/drawing/2014/main" id="{A23C55EB-22F5-B363-A090-A6B51C82C8A0}"/>
              </a:ext>
            </a:extLst>
          </p:cNvPr>
          <p:cNvGrpSpPr/>
          <p:nvPr/>
        </p:nvGrpSpPr>
        <p:grpSpPr>
          <a:xfrm>
            <a:off x="8278832" y="3697465"/>
            <a:ext cx="3536034" cy="325177"/>
            <a:chOff x="8269562" y="919779"/>
            <a:chExt cx="3536034" cy="325177"/>
          </a:xfrm>
        </p:grpSpPr>
        <p:sp>
          <p:nvSpPr>
            <p:cNvPr id="51" name="TextBox 50">
              <a:extLst>
                <a:ext uri="{FF2B5EF4-FFF2-40B4-BE49-F238E27FC236}">
                  <a16:creationId xmlns:a16="http://schemas.microsoft.com/office/drawing/2014/main" id="{7F8712C4-E333-F354-E562-E259926D8226}"/>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52" name="Google Shape;408;g3a8a166b9a7_8_346">
              <a:extLst>
                <a:ext uri="{FF2B5EF4-FFF2-40B4-BE49-F238E27FC236}">
                  <a16:creationId xmlns:a16="http://schemas.microsoft.com/office/drawing/2014/main" id="{BE6F676C-342A-0CD2-2963-0929AD481A13}"/>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SoW Deuda U12M</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53" name="Group 52">
            <a:extLst>
              <a:ext uri="{FF2B5EF4-FFF2-40B4-BE49-F238E27FC236}">
                <a16:creationId xmlns:a16="http://schemas.microsoft.com/office/drawing/2014/main" id="{0EC90780-5188-752C-AEFE-DA0B1E447908}"/>
              </a:ext>
            </a:extLst>
          </p:cNvPr>
          <p:cNvGrpSpPr/>
          <p:nvPr/>
        </p:nvGrpSpPr>
        <p:grpSpPr>
          <a:xfrm>
            <a:off x="12134168" y="3681419"/>
            <a:ext cx="3536034" cy="325177"/>
            <a:chOff x="8269562" y="919779"/>
            <a:chExt cx="3536034" cy="325177"/>
          </a:xfrm>
        </p:grpSpPr>
        <p:sp>
          <p:nvSpPr>
            <p:cNvPr id="54" name="TextBox 53">
              <a:extLst>
                <a:ext uri="{FF2B5EF4-FFF2-40B4-BE49-F238E27FC236}">
                  <a16:creationId xmlns:a16="http://schemas.microsoft.com/office/drawing/2014/main" id="{3448C8FD-D40D-9CF4-4C9D-132780E614FB}"/>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55" name="Google Shape;408;g3a8a166b9a7_8_346">
              <a:extLst>
                <a:ext uri="{FF2B5EF4-FFF2-40B4-BE49-F238E27FC236}">
                  <a16:creationId xmlns:a16="http://schemas.microsoft.com/office/drawing/2014/main" id="{63E5A71A-E019-F48E-E15E-134078FCE69E}"/>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Nivel Ventas</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56" name="Group 55">
            <a:extLst>
              <a:ext uri="{FF2B5EF4-FFF2-40B4-BE49-F238E27FC236}">
                <a16:creationId xmlns:a16="http://schemas.microsoft.com/office/drawing/2014/main" id="{1640481C-3B99-FE05-0F9B-BFFDE321064A}"/>
              </a:ext>
            </a:extLst>
          </p:cNvPr>
          <p:cNvGrpSpPr/>
          <p:nvPr/>
        </p:nvGrpSpPr>
        <p:grpSpPr>
          <a:xfrm>
            <a:off x="595388" y="6479776"/>
            <a:ext cx="3536034" cy="325177"/>
            <a:chOff x="8269562" y="919779"/>
            <a:chExt cx="3536034" cy="325177"/>
          </a:xfrm>
        </p:grpSpPr>
        <p:sp>
          <p:nvSpPr>
            <p:cNvPr id="57" name="TextBox 56">
              <a:extLst>
                <a:ext uri="{FF2B5EF4-FFF2-40B4-BE49-F238E27FC236}">
                  <a16:creationId xmlns:a16="http://schemas.microsoft.com/office/drawing/2014/main" id="{DEA101AD-AAAE-9F9B-A56C-1DD0D4AFE48B}"/>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58" name="Google Shape;408;g3a8a166b9a7_8_346">
              <a:extLst>
                <a:ext uri="{FF2B5EF4-FFF2-40B4-BE49-F238E27FC236}">
                  <a16:creationId xmlns:a16="http://schemas.microsoft.com/office/drawing/2014/main" id="{822CE153-74B9-183E-C464-408F9A4BF4E2}"/>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TEA </a:t>
              </a:r>
              <a:r>
                <a:rPr lang="es-ES_tradnl" sz="1100" b="1" kern="1200">
                  <a:solidFill>
                    <a:prstClr val="white"/>
                  </a:solidFill>
                  <a:latin typeface="Poppins" panose="00000500000000000000" pitchFamily="2" charset="0"/>
                  <a:ea typeface="Calibri"/>
                  <a:cs typeface="Poppins" panose="00000500000000000000" pitchFamily="2" charset="0"/>
                  <a:sym typeface="Calibri"/>
                </a:rPr>
                <a:t>Desembolsada</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59" name="Group 58">
            <a:extLst>
              <a:ext uri="{FF2B5EF4-FFF2-40B4-BE49-F238E27FC236}">
                <a16:creationId xmlns:a16="http://schemas.microsoft.com/office/drawing/2014/main" id="{C6AAB3B1-B945-642B-EF0F-66793C348974}"/>
              </a:ext>
            </a:extLst>
          </p:cNvPr>
          <p:cNvGrpSpPr/>
          <p:nvPr/>
        </p:nvGrpSpPr>
        <p:grpSpPr>
          <a:xfrm>
            <a:off x="4425677" y="6487611"/>
            <a:ext cx="3536034" cy="325177"/>
            <a:chOff x="8269562" y="919779"/>
            <a:chExt cx="3536034" cy="325177"/>
          </a:xfrm>
        </p:grpSpPr>
        <p:sp>
          <p:nvSpPr>
            <p:cNvPr id="60" name="TextBox 59">
              <a:extLst>
                <a:ext uri="{FF2B5EF4-FFF2-40B4-BE49-F238E27FC236}">
                  <a16:creationId xmlns:a16="http://schemas.microsoft.com/office/drawing/2014/main" id="{63839223-F734-970D-E75E-457989A4A66F}"/>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61" name="Google Shape;408;g3a8a166b9a7_8_346">
              <a:extLst>
                <a:ext uri="{FF2B5EF4-FFF2-40B4-BE49-F238E27FC236}">
                  <a16:creationId xmlns:a16="http://schemas.microsoft.com/office/drawing/2014/main" id="{5B3B9688-6743-9682-EE86-FD3F29D8C4AD}"/>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TEA </a:t>
              </a:r>
              <a:r>
                <a:rPr lang="es-ES_tradnl" sz="1100" b="1" kern="1200">
                  <a:solidFill>
                    <a:prstClr val="white"/>
                  </a:solidFill>
                  <a:latin typeface="Poppins" panose="00000500000000000000" pitchFamily="2" charset="0"/>
                  <a:ea typeface="Calibri"/>
                  <a:cs typeface="Poppins" panose="00000500000000000000" pitchFamily="2" charset="0"/>
                  <a:sym typeface="Calibri"/>
                </a:rPr>
                <a:t>Ofertada (Min)</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63" name="Group 62">
            <a:extLst>
              <a:ext uri="{FF2B5EF4-FFF2-40B4-BE49-F238E27FC236}">
                <a16:creationId xmlns:a16="http://schemas.microsoft.com/office/drawing/2014/main" id="{F4515B8A-90E9-A8A4-ACDE-FA405BE69C46}"/>
              </a:ext>
            </a:extLst>
          </p:cNvPr>
          <p:cNvGrpSpPr/>
          <p:nvPr/>
        </p:nvGrpSpPr>
        <p:grpSpPr>
          <a:xfrm>
            <a:off x="8269562" y="6488638"/>
            <a:ext cx="3536034" cy="325177"/>
            <a:chOff x="8269562" y="919779"/>
            <a:chExt cx="3536034" cy="325177"/>
          </a:xfrm>
        </p:grpSpPr>
        <p:sp>
          <p:nvSpPr>
            <p:cNvPr id="64" name="TextBox 63">
              <a:extLst>
                <a:ext uri="{FF2B5EF4-FFF2-40B4-BE49-F238E27FC236}">
                  <a16:creationId xmlns:a16="http://schemas.microsoft.com/office/drawing/2014/main" id="{3727D0EB-BDFB-6AAC-5AC7-3E9718C5C296}"/>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65" name="Google Shape;408;g3a8a166b9a7_8_346">
              <a:extLst>
                <a:ext uri="{FF2B5EF4-FFF2-40B4-BE49-F238E27FC236}">
                  <a16:creationId xmlns:a16="http://schemas.microsoft.com/office/drawing/2014/main" id="{9494C606-B15A-FFBA-1F0A-94870C36FCDD}"/>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DIFF </a:t>
              </a:r>
              <a:r>
                <a:rPr lang="es-ES_tradnl" sz="1100" b="1" kern="1200" err="1">
                  <a:solidFill>
                    <a:prstClr val="white"/>
                  </a:solidFill>
                  <a:latin typeface="Poppins" panose="00000500000000000000" pitchFamily="2" charset="0"/>
                  <a:ea typeface="Calibri"/>
                  <a:cs typeface="Poppins" panose="00000500000000000000" pitchFamily="2" charset="0"/>
                  <a:sym typeface="Calibri"/>
                </a:rPr>
                <a:t>TEAs</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66" name="Group 65">
            <a:extLst>
              <a:ext uri="{FF2B5EF4-FFF2-40B4-BE49-F238E27FC236}">
                <a16:creationId xmlns:a16="http://schemas.microsoft.com/office/drawing/2014/main" id="{8C292717-3CB6-E525-AB06-D11CD5246A26}"/>
              </a:ext>
            </a:extLst>
          </p:cNvPr>
          <p:cNvGrpSpPr/>
          <p:nvPr/>
        </p:nvGrpSpPr>
        <p:grpSpPr>
          <a:xfrm>
            <a:off x="12131036" y="6482543"/>
            <a:ext cx="3536034" cy="325177"/>
            <a:chOff x="8269562" y="919779"/>
            <a:chExt cx="3536034" cy="325177"/>
          </a:xfrm>
        </p:grpSpPr>
        <p:sp>
          <p:nvSpPr>
            <p:cNvPr id="67" name="TextBox 66">
              <a:extLst>
                <a:ext uri="{FF2B5EF4-FFF2-40B4-BE49-F238E27FC236}">
                  <a16:creationId xmlns:a16="http://schemas.microsoft.com/office/drawing/2014/main" id="{6531A06D-7E45-7AD8-4983-2D1D3BAC50CA}"/>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68" name="Google Shape;408;g3a8a166b9a7_8_346">
              <a:extLst>
                <a:ext uri="{FF2B5EF4-FFF2-40B4-BE49-F238E27FC236}">
                  <a16:creationId xmlns:a16="http://schemas.microsoft.com/office/drawing/2014/main" id="{31B3C691-F738-B659-F610-743257317EE2}"/>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err="1">
                  <a:solidFill>
                    <a:prstClr val="white"/>
                  </a:solidFill>
                  <a:latin typeface="Poppins" panose="00000500000000000000" pitchFamily="2" charset="0"/>
                  <a:ea typeface="Calibri"/>
                  <a:cs typeface="Poppins" panose="00000500000000000000" pitchFamily="2" charset="0"/>
                  <a:sym typeface="Calibri"/>
                </a:rPr>
                <a:t>Num</a:t>
              </a: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 Créditos U12M</a:t>
              </a:r>
            </a:p>
          </p:txBody>
        </p:sp>
      </p:grpSp>
      <p:sp>
        <p:nvSpPr>
          <p:cNvPr id="69" name="Text 0">
            <a:extLst>
              <a:ext uri="{FF2B5EF4-FFF2-40B4-BE49-F238E27FC236}">
                <a16:creationId xmlns:a16="http://schemas.microsoft.com/office/drawing/2014/main" id="{08C8A209-C3EA-5001-D772-423055F45501}"/>
              </a:ext>
            </a:extLst>
          </p:cNvPr>
          <p:cNvSpPr/>
          <p:nvPr/>
        </p:nvSpPr>
        <p:spPr>
          <a:xfrm>
            <a:off x="548640" y="243840"/>
            <a:ext cx="14704847" cy="804672"/>
          </a:xfrm>
          <a:prstGeom prst="rect">
            <a:avLst/>
          </a:prstGeom>
          <a:noFill/>
          <a:ln/>
        </p:spPr>
        <p:txBody>
          <a:bodyPr wrap="square" lIns="0" tIns="0" rIns="0" bIns="0" rtlCol="0" anchor="t"/>
          <a:lstStyle/>
          <a:p>
            <a:r>
              <a:rPr lang="en-US" sz="3200" b="1" kern="1200" err="1">
                <a:solidFill>
                  <a:srgbClr val="13807B"/>
                </a:solidFill>
                <a:latin typeface="Poppins"/>
                <a:cs typeface="Poppins"/>
              </a:rPr>
              <a:t>Distribución</a:t>
            </a:r>
            <a:r>
              <a:rPr lang="en-US" sz="3200" b="1" kern="1200">
                <a:solidFill>
                  <a:srgbClr val="13807B"/>
                </a:solidFill>
                <a:latin typeface="Poppins"/>
                <a:cs typeface="Poppins"/>
              </a:rPr>
              <a:t> Variables Abierto </a:t>
            </a:r>
            <a:r>
              <a:rPr lang="en-US" sz="3200" b="1" kern="1200" err="1">
                <a:solidFill>
                  <a:srgbClr val="13807B"/>
                </a:solidFill>
                <a:latin typeface="Poppins"/>
                <a:cs typeface="Poppins"/>
              </a:rPr>
              <a:t>por</a:t>
            </a:r>
            <a:r>
              <a:rPr lang="en-US" sz="3200" b="1" kern="1200">
                <a:solidFill>
                  <a:srgbClr val="13807B"/>
                </a:solidFill>
                <a:latin typeface="Poppins"/>
                <a:cs typeface="Poppins"/>
              </a:rPr>
              <a:t> Cluster – Con </a:t>
            </a:r>
            <a:r>
              <a:rPr lang="en-US" sz="3200" b="1" kern="1200" err="1">
                <a:solidFill>
                  <a:srgbClr val="13807B"/>
                </a:solidFill>
                <a:latin typeface="Poppins"/>
                <a:cs typeface="Poppins"/>
              </a:rPr>
              <a:t>Deuda</a:t>
            </a:r>
            <a:endParaRPr lang="en-US" sz="3200" b="1" kern="1200">
              <a:solidFill>
                <a:srgbClr val="13807B"/>
              </a:solidFill>
              <a:latin typeface="Poppins"/>
              <a:cs typeface="Poppins"/>
            </a:endParaRPr>
          </a:p>
        </p:txBody>
      </p:sp>
      <p:pic>
        <p:nvPicPr>
          <p:cNvPr id="12" name="Picture 11">
            <a:extLst>
              <a:ext uri="{FF2B5EF4-FFF2-40B4-BE49-F238E27FC236}">
                <a16:creationId xmlns:a16="http://schemas.microsoft.com/office/drawing/2014/main" id="{138CAF8E-1D42-CAF4-6C06-24238C65E671}"/>
              </a:ext>
            </a:extLst>
          </p:cNvPr>
          <p:cNvPicPr>
            <a:picLocks noChangeAspect="1"/>
          </p:cNvPicPr>
          <p:nvPr/>
        </p:nvPicPr>
        <p:blipFill>
          <a:blip r:embed="rId4"/>
          <a:stretch>
            <a:fillRect/>
          </a:stretch>
        </p:blipFill>
        <p:spPr>
          <a:xfrm>
            <a:off x="14725019" y="109555"/>
            <a:ext cx="1272511" cy="717296"/>
          </a:xfrm>
          <a:prstGeom prst="rect">
            <a:avLst/>
          </a:prstGeom>
        </p:spPr>
      </p:pic>
    </p:spTree>
    <p:extLst>
      <p:ext uri="{BB962C8B-B14F-4D97-AF65-F5344CB8AC3E}">
        <p14:creationId xmlns:p14="http://schemas.microsoft.com/office/powerpoint/2010/main" val="28617894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EB6336-4EEB-13FF-C51B-CB97E4E2F5FA}"/>
            </a:ext>
          </a:extLst>
        </p:cNvPr>
        <p:cNvGrpSpPr/>
        <p:nvPr/>
      </p:nvGrpSpPr>
      <p:grpSpPr>
        <a:xfrm>
          <a:off x="0" y="0"/>
          <a:ext cx="0" cy="0"/>
          <a:chOff x="0" y="0"/>
          <a:chExt cx="0" cy="0"/>
        </a:xfrm>
      </p:grpSpPr>
      <p:pic>
        <p:nvPicPr>
          <p:cNvPr id="74" name="Picture 73">
            <a:extLst>
              <a:ext uri="{FF2B5EF4-FFF2-40B4-BE49-F238E27FC236}">
                <a16:creationId xmlns:a16="http://schemas.microsoft.com/office/drawing/2014/main" id="{97905158-AB4C-04B2-F943-9BBAB2B42DA1}"/>
              </a:ext>
            </a:extLst>
          </p:cNvPr>
          <p:cNvPicPr>
            <a:picLocks noChangeAspect="1"/>
          </p:cNvPicPr>
          <p:nvPr/>
        </p:nvPicPr>
        <p:blipFill>
          <a:blip r:embed="rId3"/>
          <a:srcRect l="51702" t="33652" r="22881" b="33144"/>
          <a:stretch>
            <a:fillRect/>
          </a:stretch>
        </p:blipFill>
        <p:spPr>
          <a:xfrm>
            <a:off x="12562937" y="3894840"/>
            <a:ext cx="2577600" cy="2015611"/>
          </a:xfrm>
          <a:prstGeom prst="rect">
            <a:avLst/>
          </a:prstGeom>
        </p:spPr>
      </p:pic>
      <p:pic>
        <p:nvPicPr>
          <p:cNvPr id="71" name="Picture 70">
            <a:extLst>
              <a:ext uri="{FF2B5EF4-FFF2-40B4-BE49-F238E27FC236}">
                <a16:creationId xmlns:a16="http://schemas.microsoft.com/office/drawing/2014/main" id="{BD401A83-FDC1-061F-5884-7BA3AE8AAD49}"/>
              </a:ext>
            </a:extLst>
          </p:cNvPr>
          <p:cNvPicPr>
            <a:picLocks noChangeAspect="1"/>
          </p:cNvPicPr>
          <p:nvPr/>
        </p:nvPicPr>
        <p:blipFill>
          <a:blip r:embed="rId3"/>
          <a:srcRect l="75004" t="-930" r="-421" b="67726"/>
          <a:stretch>
            <a:fillRect/>
          </a:stretch>
        </p:blipFill>
        <p:spPr>
          <a:xfrm>
            <a:off x="4867065" y="3807912"/>
            <a:ext cx="2577600" cy="2015611"/>
          </a:xfrm>
          <a:prstGeom prst="rect">
            <a:avLst/>
          </a:prstGeom>
        </p:spPr>
      </p:pic>
      <p:pic>
        <p:nvPicPr>
          <p:cNvPr id="72" name="Picture 71">
            <a:extLst>
              <a:ext uri="{FF2B5EF4-FFF2-40B4-BE49-F238E27FC236}">
                <a16:creationId xmlns:a16="http://schemas.microsoft.com/office/drawing/2014/main" id="{0CAA1B7D-0FD0-5948-89AE-2F104E94741E}"/>
              </a:ext>
            </a:extLst>
          </p:cNvPr>
          <p:cNvPicPr>
            <a:picLocks noChangeAspect="1"/>
          </p:cNvPicPr>
          <p:nvPr/>
        </p:nvPicPr>
        <p:blipFill>
          <a:blip r:embed="rId3"/>
          <a:srcRect l="50603" t="178" r="23980" b="66618"/>
          <a:stretch>
            <a:fillRect/>
          </a:stretch>
        </p:blipFill>
        <p:spPr>
          <a:xfrm>
            <a:off x="1116828" y="3878276"/>
            <a:ext cx="2577600" cy="2015611"/>
          </a:xfrm>
          <a:prstGeom prst="rect">
            <a:avLst/>
          </a:prstGeom>
        </p:spPr>
      </p:pic>
      <p:pic>
        <p:nvPicPr>
          <p:cNvPr id="73" name="Picture 72">
            <a:extLst>
              <a:ext uri="{FF2B5EF4-FFF2-40B4-BE49-F238E27FC236}">
                <a16:creationId xmlns:a16="http://schemas.microsoft.com/office/drawing/2014/main" id="{A97408E0-CA91-820B-12EA-3DE9735E2666}"/>
              </a:ext>
            </a:extLst>
          </p:cNvPr>
          <p:cNvPicPr>
            <a:picLocks noChangeAspect="1"/>
          </p:cNvPicPr>
          <p:nvPr/>
        </p:nvPicPr>
        <p:blipFill>
          <a:blip r:embed="rId3"/>
          <a:srcRect l="24763" t="-482" r="49820" b="67278"/>
          <a:stretch>
            <a:fillRect/>
          </a:stretch>
        </p:blipFill>
        <p:spPr>
          <a:xfrm>
            <a:off x="4826338" y="1065214"/>
            <a:ext cx="2577600" cy="2015611"/>
          </a:xfrm>
          <a:prstGeom prst="rect">
            <a:avLst/>
          </a:prstGeom>
        </p:spPr>
      </p:pic>
      <p:pic>
        <p:nvPicPr>
          <p:cNvPr id="12" name="Picture 11">
            <a:extLst>
              <a:ext uri="{FF2B5EF4-FFF2-40B4-BE49-F238E27FC236}">
                <a16:creationId xmlns:a16="http://schemas.microsoft.com/office/drawing/2014/main" id="{5BE58DC8-A9F2-FFFB-601C-13E72CC2701D}"/>
              </a:ext>
            </a:extLst>
          </p:cNvPr>
          <p:cNvPicPr>
            <a:picLocks noChangeAspect="1"/>
          </p:cNvPicPr>
          <p:nvPr/>
        </p:nvPicPr>
        <p:blipFill>
          <a:blip r:embed="rId3"/>
          <a:srcRect r="74583" b="66796"/>
          <a:stretch>
            <a:fillRect/>
          </a:stretch>
        </p:blipFill>
        <p:spPr>
          <a:xfrm>
            <a:off x="1049604" y="1092066"/>
            <a:ext cx="2577600" cy="2015611"/>
          </a:xfrm>
          <a:prstGeom prst="rect">
            <a:avLst/>
          </a:prstGeom>
        </p:spPr>
      </p:pic>
      <p:sp>
        <p:nvSpPr>
          <p:cNvPr id="15" name="Shape 43">
            <a:extLst>
              <a:ext uri="{FF2B5EF4-FFF2-40B4-BE49-F238E27FC236}">
                <a16:creationId xmlns:a16="http://schemas.microsoft.com/office/drawing/2014/main" id="{0365AF6D-ECF6-5C7E-14C5-FE0872A5A91D}"/>
              </a:ext>
            </a:extLst>
          </p:cNvPr>
          <p:cNvSpPr/>
          <p:nvPr/>
        </p:nvSpPr>
        <p:spPr>
          <a:xfrm>
            <a:off x="570387"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6" name="Shape 43">
            <a:extLst>
              <a:ext uri="{FF2B5EF4-FFF2-40B4-BE49-F238E27FC236}">
                <a16:creationId xmlns:a16="http://schemas.microsoft.com/office/drawing/2014/main" id="{E057E9B2-6529-76DE-084B-FDE35785CDDF}"/>
              </a:ext>
            </a:extLst>
          </p:cNvPr>
          <p:cNvSpPr/>
          <p:nvPr/>
        </p:nvSpPr>
        <p:spPr>
          <a:xfrm>
            <a:off x="4421421"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7" name="Shape 43">
            <a:extLst>
              <a:ext uri="{FF2B5EF4-FFF2-40B4-BE49-F238E27FC236}">
                <a16:creationId xmlns:a16="http://schemas.microsoft.com/office/drawing/2014/main" id="{A86F5987-B644-A8E6-586A-B1A50161451F}"/>
              </a:ext>
            </a:extLst>
          </p:cNvPr>
          <p:cNvSpPr/>
          <p:nvPr/>
        </p:nvSpPr>
        <p:spPr>
          <a:xfrm>
            <a:off x="8272455"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8" name="Shape 43">
            <a:extLst>
              <a:ext uri="{FF2B5EF4-FFF2-40B4-BE49-F238E27FC236}">
                <a16:creationId xmlns:a16="http://schemas.microsoft.com/office/drawing/2014/main" id="{87102BAE-757F-33A2-3D59-FD550B138ECD}"/>
              </a:ext>
            </a:extLst>
          </p:cNvPr>
          <p:cNvSpPr/>
          <p:nvPr/>
        </p:nvSpPr>
        <p:spPr>
          <a:xfrm>
            <a:off x="12123488" y="908576"/>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9" name="Shape 43">
            <a:extLst>
              <a:ext uri="{FF2B5EF4-FFF2-40B4-BE49-F238E27FC236}">
                <a16:creationId xmlns:a16="http://schemas.microsoft.com/office/drawing/2014/main" id="{4C06FAB7-1EFE-A669-6AB5-3BF4EA8029E7}"/>
              </a:ext>
            </a:extLst>
          </p:cNvPr>
          <p:cNvSpPr/>
          <p:nvPr/>
        </p:nvSpPr>
        <p:spPr>
          <a:xfrm>
            <a:off x="570387"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0" name="Shape 43">
            <a:extLst>
              <a:ext uri="{FF2B5EF4-FFF2-40B4-BE49-F238E27FC236}">
                <a16:creationId xmlns:a16="http://schemas.microsoft.com/office/drawing/2014/main" id="{BE885199-AD8E-4CC3-5D74-ACD0D5435798}"/>
              </a:ext>
            </a:extLst>
          </p:cNvPr>
          <p:cNvSpPr/>
          <p:nvPr/>
        </p:nvSpPr>
        <p:spPr>
          <a:xfrm>
            <a:off x="596478" y="6475361"/>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1" name="Shape 43">
            <a:extLst>
              <a:ext uri="{FF2B5EF4-FFF2-40B4-BE49-F238E27FC236}">
                <a16:creationId xmlns:a16="http://schemas.microsoft.com/office/drawing/2014/main" id="{904ACB9E-375F-0FE8-4466-D87C6C4A2058}"/>
              </a:ext>
            </a:extLst>
          </p:cNvPr>
          <p:cNvSpPr/>
          <p:nvPr/>
        </p:nvSpPr>
        <p:spPr>
          <a:xfrm>
            <a:off x="8269562" y="6476514"/>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2" name="Shape 43">
            <a:extLst>
              <a:ext uri="{FF2B5EF4-FFF2-40B4-BE49-F238E27FC236}">
                <a16:creationId xmlns:a16="http://schemas.microsoft.com/office/drawing/2014/main" id="{660B8A84-F173-B4EE-C284-9917E4C87DDA}"/>
              </a:ext>
            </a:extLst>
          </p:cNvPr>
          <p:cNvSpPr/>
          <p:nvPr/>
        </p:nvSpPr>
        <p:spPr>
          <a:xfrm>
            <a:off x="12118935" y="6475360"/>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3" name="Shape 43">
            <a:extLst>
              <a:ext uri="{FF2B5EF4-FFF2-40B4-BE49-F238E27FC236}">
                <a16:creationId xmlns:a16="http://schemas.microsoft.com/office/drawing/2014/main" id="{09690767-2C56-CACE-0E82-68C0AC5C1989}"/>
              </a:ext>
            </a:extLst>
          </p:cNvPr>
          <p:cNvSpPr/>
          <p:nvPr/>
        </p:nvSpPr>
        <p:spPr>
          <a:xfrm>
            <a:off x="4424312"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4" name="Shape 43">
            <a:extLst>
              <a:ext uri="{FF2B5EF4-FFF2-40B4-BE49-F238E27FC236}">
                <a16:creationId xmlns:a16="http://schemas.microsoft.com/office/drawing/2014/main" id="{A3AA7F43-28C3-D18C-DED1-DC2DAA5E3056}"/>
              </a:ext>
            </a:extLst>
          </p:cNvPr>
          <p:cNvSpPr/>
          <p:nvPr/>
        </p:nvSpPr>
        <p:spPr>
          <a:xfrm>
            <a:off x="8269562"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5" name="Shape 43">
            <a:extLst>
              <a:ext uri="{FF2B5EF4-FFF2-40B4-BE49-F238E27FC236}">
                <a16:creationId xmlns:a16="http://schemas.microsoft.com/office/drawing/2014/main" id="{860687C4-B56B-A844-F21F-B6D86919CDE5}"/>
              </a:ext>
            </a:extLst>
          </p:cNvPr>
          <p:cNvSpPr/>
          <p:nvPr/>
        </p:nvSpPr>
        <p:spPr>
          <a:xfrm>
            <a:off x="12123487" y="3691968"/>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6" name="Shape 43">
            <a:extLst>
              <a:ext uri="{FF2B5EF4-FFF2-40B4-BE49-F238E27FC236}">
                <a16:creationId xmlns:a16="http://schemas.microsoft.com/office/drawing/2014/main" id="{EDCA9AFD-184A-3096-02EB-5630481E22C5}"/>
              </a:ext>
            </a:extLst>
          </p:cNvPr>
          <p:cNvSpPr/>
          <p:nvPr/>
        </p:nvSpPr>
        <p:spPr>
          <a:xfrm>
            <a:off x="4420189" y="6475360"/>
            <a:ext cx="3536034" cy="2285512"/>
          </a:xfrm>
          <a:prstGeom prst="roundRect">
            <a:avLst>
              <a:gd name="adj" fmla="val 2290"/>
            </a:avLst>
          </a:prstGeom>
          <a:noFill/>
          <a:ln w="3175">
            <a:solidFill>
              <a:srgbClr val="E7E6E6">
                <a:lumMod val="90000"/>
              </a:srgbClr>
            </a:solidFill>
            <a:prstDash val="solid"/>
          </a:ln>
          <a:effectLst>
            <a:outerShdw blurRad="76200" dist="25400" dir="5400000" algn="bl" rotWithShape="0">
              <a:srgbClr val="000000">
                <a:alpha val="15000"/>
              </a:srgbClr>
            </a:outerShdw>
          </a:effec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s-ES_tradnl" sz="2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1" name="Group 30">
            <a:extLst>
              <a:ext uri="{FF2B5EF4-FFF2-40B4-BE49-F238E27FC236}">
                <a16:creationId xmlns:a16="http://schemas.microsoft.com/office/drawing/2014/main" id="{44FD2E0E-81D9-234E-98AC-71F43FC1CF75}"/>
              </a:ext>
            </a:extLst>
          </p:cNvPr>
          <p:cNvGrpSpPr/>
          <p:nvPr/>
        </p:nvGrpSpPr>
        <p:grpSpPr>
          <a:xfrm>
            <a:off x="570388" y="912714"/>
            <a:ext cx="3536034" cy="320553"/>
            <a:chOff x="570388" y="912714"/>
            <a:chExt cx="3536034" cy="320553"/>
          </a:xfrm>
        </p:grpSpPr>
        <p:sp>
          <p:nvSpPr>
            <p:cNvPr id="28" name="TextBox 27">
              <a:extLst>
                <a:ext uri="{FF2B5EF4-FFF2-40B4-BE49-F238E27FC236}">
                  <a16:creationId xmlns:a16="http://schemas.microsoft.com/office/drawing/2014/main" id="{28B482B3-B3DB-5300-9D12-C895DF926665}"/>
                </a:ext>
              </a:extLst>
            </p:cNvPr>
            <p:cNvSpPr txBox="1"/>
            <p:nvPr/>
          </p:nvSpPr>
          <p:spPr>
            <a:xfrm>
              <a:off x="1970049" y="956268"/>
              <a:ext cx="1040780" cy="276999"/>
            </a:xfrm>
            <a:prstGeom prst="rect">
              <a:avLst/>
            </a:prstGeom>
            <a:solidFill>
              <a:schemeClr val="bg1"/>
            </a:solidFill>
            <a:ln>
              <a:solidFill>
                <a:schemeClr val="bg1"/>
              </a:solid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27" name="Google Shape;408;g3a8a166b9a7_8_346">
              <a:extLst>
                <a:ext uri="{FF2B5EF4-FFF2-40B4-BE49-F238E27FC236}">
                  <a16:creationId xmlns:a16="http://schemas.microsoft.com/office/drawing/2014/main" id="{1A3F67DD-407A-100A-D43C-842B83BE60F9}"/>
                </a:ext>
              </a:extLst>
            </p:cNvPr>
            <p:cNvSpPr/>
            <p:nvPr/>
          </p:nvSpPr>
          <p:spPr>
            <a:xfrm>
              <a:off x="570388" y="912714"/>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Pasivos Prom U12M</a:t>
              </a:r>
            </a:p>
          </p:txBody>
        </p:sp>
      </p:grpSp>
      <p:sp>
        <p:nvSpPr>
          <p:cNvPr id="29" name="TextBox 28">
            <a:extLst>
              <a:ext uri="{FF2B5EF4-FFF2-40B4-BE49-F238E27FC236}">
                <a16:creationId xmlns:a16="http://schemas.microsoft.com/office/drawing/2014/main" id="{E3B8EAB9-65F7-9AE8-2F50-4C9F6404E9AB}"/>
              </a:ext>
            </a:extLst>
          </p:cNvPr>
          <p:cNvSpPr txBox="1"/>
          <p:nvPr/>
        </p:nvSpPr>
        <p:spPr>
          <a:xfrm>
            <a:off x="5780049" y="957143"/>
            <a:ext cx="1040780" cy="276999"/>
          </a:xfrm>
          <a:prstGeom prst="rect">
            <a:avLst/>
          </a:prstGeom>
          <a:solidFill>
            <a:schemeClr val="bg1"/>
          </a:solidFill>
          <a:ln>
            <a:solidFill>
              <a:schemeClr val="bg1"/>
            </a:solid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30" name="Google Shape;408;g3a8a166b9a7_8_346">
            <a:extLst>
              <a:ext uri="{FF2B5EF4-FFF2-40B4-BE49-F238E27FC236}">
                <a16:creationId xmlns:a16="http://schemas.microsoft.com/office/drawing/2014/main" id="{ED278F44-D07A-0C45-4866-9ECD266F9DCC}"/>
              </a:ext>
            </a:extLst>
          </p:cNvPr>
          <p:cNvSpPr/>
          <p:nvPr/>
        </p:nvSpPr>
        <p:spPr>
          <a:xfrm>
            <a:off x="4420189" y="913036"/>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UAI Prom U12M</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nvGrpSpPr>
          <p:cNvPr id="39" name="Group 38">
            <a:extLst>
              <a:ext uri="{FF2B5EF4-FFF2-40B4-BE49-F238E27FC236}">
                <a16:creationId xmlns:a16="http://schemas.microsoft.com/office/drawing/2014/main" id="{BEB053B1-E95D-54E3-DC4F-95DE6239A26B}"/>
              </a:ext>
            </a:extLst>
          </p:cNvPr>
          <p:cNvGrpSpPr/>
          <p:nvPr/>
        </p:nvGrpSpPr>
        <p:grpSpPr>
          <a:xfrm>
            <a:off x="8269562" y="913960"/>
            <a:ext cx="3536034" cy="316662"/>
            <a:chOff x="8269562" y="919502"/>
            <a:chExt cx="3536034" cy="316662"/>
          </a:xfrm>
        </p:grpSpPr>
        <p:sp>
          <p:nvSpPr>
            <p:cNvPr id="38" name="TextBox 37">
              <a:extLst>
                <a:ext uri="{FF2B5EF4-FFF2-40B4-BE49-F238E27FC236}">
                  <a16:creationId xmlns:a16="http://schemas.microsoft.com/office/drawing/2014/main" id="{599EC949-8F74-6A2F-A8BB-92A500E940F5}"/>
                </a:ext>
              </a:extLst>
            </p:cNvPr>
            <p:cNvSpPr txBox="1"/>
            <p:nvPr/>
          </p:nvSpPr>
          <p:spPr>
            <a:xfrm>
              <a:off x="9096395" y="919502"/>
              <a:ext cx="2088071"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34" name="Google Shape;408;g3a8a166b9a7_8_346">
              <a:extLst>
                <a:ext uri="{FF2B5EF4-FFF2-40B4-BE49-F238E27FC236}">
                  <a16:creationId xmlns:a16="http://schemas.microsoft.com/office/drawing/2014/main" id="{EBB34C7A-4CB0-9319-D7A6-0105734EDEB9}"/>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Deuda IBK </a:t>
              </a: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U12M</a:t>
              </a:r>
            </a:p>
          </p:txBody>
        </p:sp>
      </p:grpSp>
      <p:grpSp>
        <p:nvGrpSpPr>
          <p:cNvPr id="40" name="Group 39">
            <a:extLst>
              <a:ext uri="{FF2B5EF4-FFF2-40B4-BE49-F238E27FC236}">
                <a16:creationId xmlns:a16="http://schemas.microsoft.com/office/drawing/2014/main" id="{B08E4CA2-4165-5B77-7EFA-F607C0C82477}"/>
              </a:ext>
            </a:extLst>
          </p:cNvPr>
          <p:cNvGrpSpPr/>
          <p:nvPr/>
        </p:nvGrpSpPr>
        <p:grpSpPr>
          <a:xfrm>
            <a:off x="12131036" y="911373"/>
            <a:ext cx="3536034" cy="325177"/>
            <a:chOff x="8269562" y="919779"/>
            <a:chExt cx="3536034" cy="325177"/>
          </a:xfrm>
        </p:grpSpPr>
        <p:sp>
          <p:nvSpPr>
            <p:cNvPr id="41" name="TextBox 40">
              <a:extLst>
                <a:ext uri="{FF2B5EF4-FFF2-40B4-BE49-F238E27FC236}">
                  <a16:creationId xmlns:a16="http://schemas.microsoft.com/office/drawing/2014/main" id="{356C1848-E892-9E56-4B69-276234891197}"/>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42" name="Google Shape;408;g3a8a166b9a7_8_346">
              <a:extLst>
                <a:ext uri="{FF2B5EF4-FFF2-40B4-BE49-F238E27FC236}">
                  <a16:creationId xmlns:a16="http://schemas.microsoft.com/office/drawing/2014/main" id="{74451633-A983-16B7-4767-C5FEC4355873}"/>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Deuda SF </a:t>
              </a: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U12M</a:t>
              </a:r>
            </a:p>
          </p:txBody>
        </p:sp>
      </p:grpSp>
      <p:grpSp>
        <p:nvGrpSpPr>
          <p:cNvPr id="43" name="Group 42">
            <a:extLst>
              <a:ext uri="{FF2B5EF4-FFF2-40B4-BE49-F238E27FC236}">
                <a16:creationId xmlns:a16="http://schemas.microsoft.com/office/drawing/2014/main" id="{4DC21159-35DC-B25E-7C46-E434197014CC}"/>
              </a:ext>
            </a:extLst>
          </p:cNvPr>
          <p:cNvGrpSpPr/>
          <p:nvPr/>
        </p:nvGrpSpPr>
        <p:grpSpPr>
          <a:xfrm>
            <a:off x="583032" y="3695060"/>
            <a:ext cx="3536034" cy="325177"/>
            <a:chOff x="8269562" y="919779"/>
            <a:chExt cx="3536034" cy="325177"/>
          </a:xfrm>
        </p:grpSpPr>
        <p:sp>
          <p:nvSpPr>
            <p:cNvPr id="44" name="TextBox 43">
              <a:extLst>
                <a:ext uri="{FF2B5EF4-FFF2-40B4-BE49-F238E27FC236}">
                  <a16:creationId xmlns:a16="http://schemas.microsoft.com/office/drawing/2014/main" id="{1904A4A4-3751-7A7E-18F6-DC8CB4F5F735}"/>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45" name="Google Shape;408;g3a8a166b9a7_8_346">
              <a:extLst>
                <a:ext uri="{FF2B5EF4-FFF2-40B4-BE49-F238E27FC236}">
                  <a16:creationId xmlns:a16="http://schemas.microsoft.com/office/drawing/2014/main" id="{F06180BD-2879-E67E-F8A1-A1ECE1F4E8C4}"/>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Monto </a:t>
              </a:r>
              <a:r>
                <a:rPr lang="es-ES_tradnl" sz="1100" b="1" kern="1200">
                  <a:solidFill>
                    <a:prstClr val="white"/>
                  </a:solidFill>
                  <a:latin typeface="Poppins" panose="00000500000000000000" pitchFamily="2" charset="0"/>
                  <a:ea typeface="Calibri"/>
                  <a:cs typeface="Poppins" panose="00000500000000000000" pitchFamily="2" charset="0"/>
                  <a:sym typeface="Calibri"/>
                </a:rPr>
                <a:t>Desembolsado</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47" name="Group 46">
            <a:extLst>
              <a:ext uri="{FF2B5EF4-FFF2-40B4-BE49-F238E27FC236}">
                <a16:creationId xmlns:a16="http://schemas.microsoft.com/office/drawing/2014/main" id="{90E95E86-BC55-DC1D-EC48-BF181C5E11F1}"/>
              </a:ext>
            </a:extLst>
          </p:cNvPr>
          <p:cNvGrpSpPr/>
          <p:nvPr/>
        </p:nvGrpSpPr>
        <p:grpSpPr>
          <a:xfrm>
            <a:off x="4431170" y="3698524"/>
            <a:ext cx="3536034" cy="325177"/>
            <a:chOff x="8269562" y="919779"/>
            <a:chExt cx="3536034" cy="325177"/>
          </a:xfrm>
        </p:grpSpPr>
        <p:sp>
          <p:nvSpPr>
            <p:cNvPr id="48" name="TextBox 47">
              <a:extLst>
                <a:ext uri="{FF2B5EF4-FFF2-40B4-BE49-F238E27FC236}">
                  <a16:creationId xmlns:a16="http://schemas.microsoft.com/office/drawing/2014/main" id="{7DF5C514-01CD-8BEF-F4D0-AE0D79F8505B}"/>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49" name="Google Shape;408;g3a8a166b9a7_8_346">
              <a:extLst>
                <a:ext uri="{FF2B5EF4-FFF2-40B4-BE49-F238E27FC236}">
                  <a16:creationId xmlns:a16="http://schemas.microsoft.com/office/drawing/2014/main" id="{7D2F6017-7358-B908-96DD-F97497B0843B}"/>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Monto Ofertado (Min)</a:t>
              </a:r>
            </a:p>
          </p:txBody>
        </p:sp>
      </p:grpSp>
      <p:grpSp>
        <p:nvGrpSpPr>
          <p:cNvPr id="50" name="Group 49">
            <a:extLst>
              <a:ext uri="{FF2B5EF4-FFF2-40B4-BE49-F238E27FC236}">
                <a16:creationId xmlns:a16="http://schemas.microsoft.com/office/drawing/2014/main" id="{5D8DA393-4CE3-BD96-1365-B44B26D7A2BA}"/>
              </a:ext>
            </a:extLst>
          </p:cNvPr>
          <p:cNvGrpSpPr/>
          <p:nvPr/>
        </p:nvGrpSpPr>
        <p:grpSpPr>
          <a:xfrm>
            <a:off x="8278832" y="3697465"/>
            <a:ext cx="3536034" cy="325177"/>
            <a:chOff x="8269562" y="919779"/>
            <a:chExt cx="3536034" cy="325177"/>
          </a:xfrm>
        </p:grpSpPr>
        <p:sp>
          <p:nvSpPr>
            <p:cNvPr id="51" name="TextBox 50">
              <a:extLst>
                <a:ext uri="{FF2B5EF4-FFF2-40B4-BE49-F238E27FC236}">
                  <a16:creationId xmlns:a16="http://schemas.microsoft.com/office/drawing/2014/main" id="{FC8E1E1F-12E5-E7FA-0C77-86019278A045}"/>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52" name="Google Shape;408;g3a8a166b9a7_8_346">
              <a:extLst>
                <a:ext uri="{FF2B5EF4-FFF2-40B4-BE49-F238E27FC236}">
                  <a16:creationId xmlns:a16="http://schemas.microsoft.com/office/drawing/2014/main" id="{0DE3A508-02DF-2318-0010-F7DA60948440}"/>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SoW Deuda U12M</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53" name="Group 52">
            <a:extLst>
              <a:ext uri="{FF2B5EF4-FFF2-40B4-BE49-F238E27FC236}">
                <a16:creationId xmlns:a16="http://schemas.microsoft.com/office/drawing/2014/main" id="{3BC4FC20-1307-C516-BA3D-0250573530D0}"/>
              </a:ext>
            </a:extLst>
          </p:cNvPr>
          <p:cNvGrpSpPr/>
          <p:nvPr/>
        </p:nvGrpSpPr>
        <p:grpSpPr>
          <a:xfrm>
            <a:off x="12134168" y="3681419"/>
            <a:ext cx="3536034" cy="325177"/>
            <a:chOff x="8269562" y="919779"/>
            <a:chExt cx="3536034" cy="325177"/>
          </a:xfrm>
        </p:grpSpPr>
        <p:sp>
          <p:nvSpPr>
            <p:cNvPr id="54" name="TextBox 53">
              <a:extLst>
                <a:ext uri="{FF2B5EF4-FFF2-40B4-BE49-F238E27FC236}">
                  <a16:creationId xmlns:a16="http://schemas.microsoft.com/office/drawing/2014/main" id="{94C3E011-752E-7FDA-1724-0516DA990736}"/>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55" name="Google Shape;408;g3a8a166b9a7_8_346">
              <a:extLst>
                <a:ext uri="{FF2B5EF4-FFF2-40B4-BE49-F238E27FC236}">
                  <a16:creationId xmlns:a16="http://schemas.microsoft.com/office/drawing/2014/main" id="{3E1BC0FC-31F4-AF12-014F-C61FB348D79F}"/>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Nivel Ventas</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56" name="Group 55">
            <a:extLst>
              <a:ext uri="{FF2B5EF4-FFF2-40B4-BE49-F238E27FC236}">
                <a16:creationId xmlns:a16="http://schemas.microsoft.com/office/drawing/2014/main" id="{F688FE67-9F3F-A9B5-20C0-150D91341EB9}"/>
              </a:ext>
            </a:extLst>
          </p:cNvPr>
          <p:cNvGrpSpPr/>
          <p:nvPr/>
        </p:nvGrpSpPr>
        <p:grpSpPr>
          <a:xfrm>
            <a:off x="595388" y="6479776"/>
            <a:ext cx="3536034" cy="325177"/>
            <a:chOff x="8269562" y="919779"/>
            <a:chExt cx="3536034" cy="325177"/>
          </a:xfrm>
        </p:grpSpPr>
        <p:sp>
          <p:nvSpPr>
            <p:cNvPr id="57" name="TextBox 56">
              <a:extLst>
                <a:ext uri="{FF2B5EF4-FFF2-40B4-BE49-F238E27FC236}">
                  <a16:creationId xmlns:a16="http://schemas.microsoft.com/office/drawing/2014/main" id="{255969E2-26C5-FC83-A42B-BF66DBE03BB9}"/>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58" name="Google Shape;408;g3a8a166b9a7_8_346">
              <a:extLst>
                <a:ext uri="{FF2B5EF4-FFF2-40B4-BE49-F238E27FC236}">
                  <a16:creationId xmlns:a16="http://schemas.microsoft.com/office/drawing/2014/main" id="{E6B5081D-62A5-B32D-143C-DFC680E7785E}"/>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TEA </a:t>
              </a:r>
              <a:r>
                <a:rPr lang="es-ES_tradnl" sz="1100" b="1" kern="1200">
                  <a:solidFill>
                    <a:prstClr val="white"/>
                  </a:solidFill>
                  <a:latin typeface="Poppins" panose="00000500000000000000" pitchFamily="2" charset="0"/>
                  <a:ea typeface="Calibri"/>
                  <a:cs typeface="Poppins" panose="00000500000000000000" pitchFamily="2" charset="0"/>
                  <a:sym typeface="Calibri"/>
                </a:rPr>
                <a:t>Desembolsada</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59" name="Group 58">
            <a:extLst>
              <a:ext uri="{FF2B5EF4-FFF2-40B4-BE49-F238E27FC236}">
                <a16:creationId xmlns:a16="http://schemas.microsoft.com/office/drawing/2014/main" id="{7F1D43C8-D670-2869-336A-1AE49F225EAE}"/>
              </a:ext>
            </a:extLst>
          </p:cNvPr>
          <p:cNvGrpSpPr/>
          <p:nvPr/>
        </p:nvGrpSpPr>
        <p:grpSpPr>
          <a:xfrm>
            <a:off x="4425677" y="6487611"/>
            <a:ext cx="3536034" cy="325177"/>
            <a:chOff x="8269562" y="919779"/>
            <a:chExt cx="3536034" cy="325177"/>
          </a:xfrm>
        </p:grpSpPr>
        <p:sp>
          <p:nvSpPr>
            <p:cNvPr id="60" name="TextBox 59">
              <a:extLst>
                <a:ext uri="{FF2B5EF4-FFF2-40B4-BE49-F238E27FC236}">
                  <a16:creationId xmlns:a16="http://schemas.microsoft.com/office/drawing/2014/main" id="{965FF779-9D56-108D-56E4-B3256919F428}"/>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61" name="Google Shape;408;g3a8a166b9a7_8_346">
              <a:extLst>
                <a:ext uri="{FF2B5EF4-FFF2-40B4-BE49-F238E27FC236}">
                  <a16:creationId xmlns:a16="http://schemas.microsoft.com/office/drawing/2014/main" id="{9E2347A2-1F51-445C-FE2B-A290FAD3CA52}"/>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TEA </a:t>
              </a:r>
              <a:r>
                <a:rPr lang="es-ES_tradnl" sz="1100" b="1" kern="1200">
                  <a:solidFill>
                    <a:prstClr val="white"/>
                  </a:solidFill>
                  <a:latin typeface="Poppins" panose="00000500000000000000" pitchFamily="2" charset="0"/>
                  <a:ea typeface="Calibri"/>
                  <a:cs typeface="Poppins" panose="00000500000000000000" pitchFamily="2" charset="0"/>
                  <a:sym typeface="Calibri"/>
                </a:rPr>
                <a:t>Ofertada (Min)</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63" name="Group 62">
            <a:extLst>
              <a:ext uri="{FF2B5EF4-FFF2-40B4-BE49-F238E27FC236}">
                <a16:creationId xmlns:a16="http://schemas.microsoft.com/office/drawing/2014/main" id="{5C70EDB9-FC6F-93C4-2795-FE41EDD24B4E}"/>
              </a:ext>
            </a:extLst>
          </p:cNvPr>
          <p:cNvGrpSpPr/>
          <p:nvPr/>
        </p:nvGrpSpPr>
        <p:grpSpPr>
          <a:xfrm>
            <a:off x="8269562" y="6488638"/>
            <a:ext cx="3536034" cy="325177"/>
            <a:chOff x="8269562" y="919779"/>
            <a:chExt cx="3536034" cy="325177"/>
          </a:xfrm>
        </p:grpSpPr>
        <p:sp>
          <p:nvSpPr>
            <p:cNvPr id="64" name="TextBox 63">
              <a:extLst>
                <a:ext uri="{FF2B5EF4-FFF2-40B4-BE49-F238E27FC236}">
                  <a16:creationId xmlns:a16="http://schemas.microsoft.com/office/drawing/2014/main" id="{1D19D2F3-91BB-0ADD-9721-089E9831A3E6}"/>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65" name="Google Shape;408;g3a8a166b9a7_8_346">
              <a:extLst>
                <a:ext uri="{FF2B5EF4-FFF2-40B4-BE49-F238E27FC236}">
                  <a16:creationId xmlns:a16="http://schemas.microsoft.com/office/drawing/2014/main" id="{A4A6F20E-FFDE-B6E2-18B6-7CBD5F250750}"/>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a:solidFill>
                    <a:prstClr val="white"/>
                  </a:solidFill>
                  <a:latin typeface="Poppins" panose="00000500000000000000" pitchFamily="2" charset="0"/>
                  <a:ea typeface="Calibri"/>
                  <a:cs typeface="Poppins" panose="00000500000000000000" pitchFamily="2" charset="0"/>
                  <a:sym typeface="Calibri"/>
                </a:rPr>
                <a:t>DIFF </a:t>
              </a:r>
              <a:r>
                <a:rPr lang="es-ES_tradnl" sz="1100" b="1" kern="1200" err="1">
                  <a:solidFill>
                    <a:prstClr val="white"/>
                  </a:solidFill>
                  <a:latin typeface="Poppins" panose="00000500000000000000" pitchFamily="2" charset="0"/>
                  <a:ea typeface="Calibri"/>
                  <a:cs typeface="Poppins" panose="00000500000000000000" pitchFamily="2" charset="0"/>
                  <a:sym typeface="Calibri"/>
                </a:rPr>
                <a:t>TEAs</a:t>
              </a:r>
              <a:endParaRPr lang="es-ES_tradnl" sz="1100" b="1" kern="1200" noProof="0">
                <a:solidFill>
                  <a:prstClr val="white"/>
                </a:solidFill>
                <a:latin typeface="Poppins" panose="00000500000000000000" pitchFamily="2" charset="0"/>
                <a:ea typeface="Calibri"/>
                <a:cs typeface="Poppins" panose="00000500000000000000" pitchFamily="2" charset="0"/>
                <a:sym typeface="Calibri"/>
              </a:endParaRPr>
            </a:p>
          </p:txBody>
        </p:sp>
      </p:grpSp>
      <p:grpSp>
        <p:nvGrpSpPr>
          <p:cNvPr id="66" name="Group 65">
            <a:extLst>
              <a:ext uri="{FF2B5EF4-FFF2-40B4-BE49-F238E27FC236}">
                <a16:creationId xmlns:a16="http://schemas.microsoft.com/office/drawing/2014/main" id="{B894DCE5-169B-0233-B581-1D4A3862BB0D}"/>
              </a:ext>
            </a:extLst>
          </p:cNvPr>
          <p:cNvGrpSpPr/>
          <p:nvPr/>
        </p:nvGrpSpPr>
        <p:grpSpPr>
          <a:xfrm>
            <a:off x="12131036" y="6482543"/>
            <a:ext cx="3536034" cy="325177"/>
            <a:chOff x="8269562" y="919779"/>
            <a:chExt cx="3536034" cy="325177"/>
          </a:xfrm>
        </p:grpSpPr>
        <p:sp>
          <p:nvSpPr>
            <p:cNvPr id="67" name="TextBox 66">
              <a:extLst>
                <a:ext uri="{FF2B5EF4-FFF2-40B4-BE49-F238E27FC236}">
                  <a16:creationId xmlns:a16="http://schemas.microsoft.com/office/drawing/2014/main" id="{6DC4EE66-06C6-0067-AC8B-C7E26E461E79}"/>
                </a:ext>
              </a:extLst>
            </p:cNvPr>
            <p:cNvSpPr txBox="1"/>
            <p:nvPr/>
          </p:nvSpPr>
          <p:spPr>
            <a:xfrm>
              <a:off x="9189508" y="928294"/>
              <a:ext cx="1994958" cy="316662"/>
            </a:xfrm>
            <a:prstGeom prst="rect">
              <a:avLst/>
            </a:prstGeom>
            <a:solidFill>
              <a:schemeClr val="bg1"/>
            </a:solidFill>
            <a:ln>
              <a:noFill/>
            </a:ln>
          </p:spPr>
          <p:txBody>
            <a:bodyPr wrap="square" rtlCol="0">
              <a:spAutoFit/>
            </a:bodyPr>
            <a:lstStyle/>
            <a:p>
              <a:pPr algn="l"/>
              <a:endParaRPr lang="en-PE" sz="1200">
                <a:latin typeface="Calibri" panose="020F0502020204030204" pitchFamily="34" charset="0"/>
                <a:cs typeface="Calibri" panose="020F0502020204030204" pitchFamily="34" charset="0"/>
              </a:endParaRPr>
            </a:p>
          </p:txBody>
        </p:sp>
        <p:sp>
          <p:nvSpPr>
            <p:cNvPr id="68" name="Google Shape;408;g3a8a166b9a7_8_346">
              <a:extLst>
                <a:ext uri="{FF2B5EF4-FFF2-40B4-BE49-F238E27FC236}">
                  <a16:creationId xmlns:a16="http://schemas.microsoft.com/office/drawing/2014/main" id="{D9CE9FAC-ED99-4953-AF95-DEAD1D1F448F}"/>
                </a:ext>
              </a:extLst>
            </p:cNvPr>
            <p:cNvSpPr/>
            <p:nvPr/>
          </p:nvSpPr>
          <p:spPr>
            <a:xfrm>
              <a:off x="8269562" y="919779"/>
              <a:ext cx="3536034"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defRPr/>
              </a:pPr>
              <a:r>
                <a:rPr lang="es-ES_tradnl" sz="1100" b="1" kern="1200" noProof="0" err="1">
                  <a:solidFill>
                    <a:prstClr val="white"/>
                  </a:solidFill>
                  <a:latin typeface="Poppins" panose="00000500000000000000" pitchFamily="2" charset="0"/>
                  <a:ea typeface="Calibri"/>
                  <a:cs typeface="Poppins" panose="00000500000000000000" pitchFamily="2" charset="0"/>
                  <a:sym typeface="Calibri"/>
                </a:rPr>
                <a:t>Num</a:t>
              </a: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 Créditos U12M</a:t>
              </a:r>
            </a:p>
          </p:txBody>
        </p:sp>
      </p:grpSp>
      <p:sp>
        <p:nvSpPr>
          <p:cNvPr id="69" name="Text 0">
            <a:extLst>
              <a:ext uri="{FF2B5EF4-FFF2-40B4-BE49-F238E27FC236}">
                <a16:creationId xmlns:a16="http://schemas.microsoft.com/office/drawing/2014/main" id="{F449C4B1-7735-2CBD-FB54-FE86FB153EDD}"/>
              </a:ext>
            </a:extLst>
          </p:cNvPr>
          <p:cNvSpPr/>
          <p:nvPr/>
        </p:nvSpPr>
        <p:spPr>
          <a:xfrm>
            <a:off x="548640" y="243840"/>
            <a:ext cx="14704847" cy="804672"/>
          </a:xfrm>
          <a:prstGeom prst="rect">
            <a:avLst/>
          </a:prstGeom>
          <a:noFill/>
          <a:ln/>
        </p:spPr>
        <p:txBody>
          <a:bodyPr wrap="square" lIns="0" tIns="0" rIns="0" bIns="0" rtlCol="0" anchor="t"/>
          <a:lstStyle/>
          <a:p>
            <a:r>
              <a:rPr lang="en-US" sz="3200" b="1" kern="1200" err="1">
                <a:solidFill>
                  <a:srgbClr val="13807B"/>
                </a:solidFill>
                <a:latin typeface="Poppins"/>
                <a:cs typeface="Poppins"/>
              </a:rPr>
              <a:t>Distribución</a:t>
            </a:r>
            <a:r>
              <a:rPr lang="en-US" sz="3200" b="1" kern="1200">
                <a:solidFill>
                  <a:srgbClr val="13807B"/>
                </a:solidFill>
                <a:latin typeface="Poppins"/>
                <a:cs typeface="Poppins"/>
              </a:rPr>
              <a:t> Variables Abierto </a:t>
            </a:r>
            <a:r>
              <a:rPr lang="en-US" sz="3200" b="1" kern="1200" err="1">
                <a:solidFill>
                  <a:srgbClr val="13807B"/>
                </a:solidFill>
                <a:latin typeface="Poppins"/>
                <a:cs typeface="Poppins"/>
              </a:rPr>
              <a:t>por</a:t>
            </a:r>
            <a:r>
              <a:rPr lang="en-US" sz="3200" b="1" kern="1200">
                <a:solidFill>
                  <a:srgbClr val="13807B"/>
                </a:solidFill>
                <a:latin typeface="Poppins"/>
                <a:cs typeface="Poppins"/>
              </a:rPr>
              <a:t> Cluster – Sin </a:t>
            </a:r>
            <a:r>
              <a:rPr lang="en-US" sz="3200" b="1" kern="1200" err="1">
                <a:solidFill>
                  <a:srgbClr val="13807B"/>
                </a:solidFill>
                <a:latin typeface="Poppins"/>
                <a:cs typeface="Poppins"/>
              </a:rPr>
              <a:t>Deuda</a:t>
            </a:r>
            <a:endParaRPr lang="en-US" sz="3200" b="1" kern="1200">
              <a:solidFill>
                <a:srgbClr val="13807B"/>
              </a:solidFill>
              <a:latin typeface="Poppins"/>
              <a:cs typeface="Poppins"/>
            </a:endParaRPr>
          </a:p>
        </p:txBody>
      </p:sp>
      <p:pic>
        <p:nvPicPr>
          <p:cNvPr id="46" name="Picture 45">
            <a:extLst>
              <a:ext uri="{FF2B5EF4-FFF2-40B4-BE49-F238E27FC236}">
                <a16:creationId xmlns:a16="http://schemas.microsoft.com/office/drawing/2014/main" id="{4AB1FB4E-75D3-0430-79FE-C76DEB909BD9}"/>
              </a:ext>
            </a:extLst>
          </p:cNvPr>
          <p:cNvPicPr>
            <a:picLocks noChangeAspect="1"/>
          </p:cNvPicPr>
          <p:nvPr/>
        </p:nvPicPr>
        <p:blipFill>
          <a:blip r:embed="rId3"/>
          <a:srcRect l="1018" t="65614" r="73565" b="1182"/>
          <a:stretch>
            <a:fillRect/>
          </a:stretch>
        </p:blipFill>
        <p:spPr>
          <a:xfrm>
            <a:off x="8554519" y="6812788"/>
            <a:ext cx="2577600" cy="2015611"/>
          </a:xfrm>
          <a:prstGeom prst="rect">
            <a:avLst/>
          </a:prstGeom>
        </p:spPr>
      </p:pic>
      <p:pic>
        <p:nvPicPr>
          <p:cNvPr id="62" name="Picture 61">
            <a:extLst>
              <a:ext uri="{FF2B5EF4-FFF2-40B4-BE49-F238E27FC236}">
                <a16:creationId xmlns:a16="http://schemas.microsoft.com/office/drawing/2014/main" id="{50E0751E-3761-DF90-7EE7-E95B36F32C74}"/>
              </a:ext>
            </a:extLst>
          </p:cNvPr>
          <p:cNvPicPr>
            <a:picLocks noChangeAspect="1"/>
          </p:cNvPicPr>
          <p:nvPr/>
        </p:nvPicPr>
        <p:blipFill>
          <a:blip r:embed="rId3"/>
          <a:srcRect l="72" t="32631" r="74511" b="34165"/>
          <a:stretch>
            <a:fillRect/>
          </a:stretch>
        </p:blipFill>
        <p:spPr>
          <a:xfrm>
            <a:off x="4874346" y="6916337"/>
            <a:ext cx="2577600" cy="2015611"/>
          </a:xfrm>
          <a:prstGeom prst="rect">
            <a:avLst/>
          </a:prstGeom>
        </p:spPr>
      </p:pic>
      <p:pic>
        <p:nvPicPr>
          <p:cNvPr id="70" name="Picture 69">
            <a:extLst>
              <a:ext uri="{FF2B5EF4-FFF2-40B4-BE49-F238E27FC236}">
                <a16:creationId xmlns:a16="http://schemas.microsoft.com/office/drawing/2014/main" id="{9174F08F-86E3-F4EA-3285-783E62169E8F}"/>
              </a:ext>
            </a:extLst>
          </p:cNvPr>
          <p:cNvPicPr>
            <a:picLocks noChangeAspect="1"/>
          </p:cNvPicPr>
          <p:nvPr/>
        </p:nvPicPr>
        <p:blipFill>
          <a:blip r:embed="rId3"/>
          <a:srcRect l="25369" t="33286" r="49214" b="33510"/>
          <a:stretch>
            <a:fillRect/>
          </a:stretch>
        </p:blipFill>
        <p:spPr>
          <a:xfrm>
            <a:off x="1194173" y="6884549"/>
            <a:ext cx="2577600" cy="2015611"/>
          </a:xfrm>
          <a:prstGeom prst="rect">
            <a:avLst/>
          </a:prstGeom>
        </p:spPr>
      </p:pic>
      <p:cxnSp>
        <p:nvCxnSpPr>
          <p:cNvPr id="76" name="Straight Connector 75">
            <a:extLst>
              <a:ext uri="{FF2B5EF4-FFF2-40B4-BE49-F238E27FC236}">
                <a16:creationId xmlns:a16="http://schemas.microsoft.com/office/drawing/2014/main" id="{03EFA957-ADC9-6090-C809-E3276E894005}"/>
              </a:ext>
            </a:extLst>
          </p:cNvPr>
          <p:cNvCxnSpPr/>
          <p:nvPr/>
        </p:nvCxnSpPr>
        <p:spPr>
          <a:xfrm>
            <a:off x="1194173" y="5735776"/>
            <a:ext cx="14472897" cy="0"/>
          </a:xfrm>
          <a:prstGeom prst="line">
            <a:avLst/>
          </a:prstGeom>
        </p:spPr>
        <p:style>
          <a:lnRef idx="1">
            <a:schemeClr val="dk1"/>
          </a:lnRef>
          <a:fillRef idx="0">
            <a:schemeClr val="dk1"/>
          </a:fillRef>
          <a:effectRef idx="0">
            <a:schemeClr val="dk1"/>
          </a:effectRef>
          <a:fontRef idx="minor">
            <a:schemeClr val="tx1"/>
          </a:fontRef>
        </p:style>
      </p:cxnSp>
      <p:pic>
        <p:nvPicPr>
          <p:cNvPr id="2" name="Picture 1">
            <a:extLst>
              <a:ext uri="{FF2B5EF4-FFF2-40B4-BE49-F238E27FC236}">
                <a16:creationId xmlns:a16="http://schemas.microsoft.com/office/drawing/2014/main" id="{18DA17A2-0539-960D-9578-B97516205608}"/>
              </a:ext>
            </a:extLst>
          </p:cNvPr>
          <p:cNvPicPr>
            <a:picLocks noChangeAspect="1"/>
          </p:cNvPicPr>
          <p:nvPr/>
        </p:nvPicPr>
        <p:blipFill>
          <a:blip r:embed="rId4"/>
          <a:stretch>
            <a:fillRect/>
          </a:stretch>
        </p:blipFill>
        <p:spPr>
          <a:xfrm>
            <a:off x="14725019" y="109555"/>
            <a:ext cx="1272511" cy="717296"/>
          </a:xfrm>
          <a:prstGeom prst="rect">
            <a:avLst/>
          </a:prstGeom>
        </p:spPr>
      </p:pic>
    </p:spTree>
    <p:extLst>
      <p:ext uri="{BB962C8B-B14F-4D97-AF65-F5344CB8AC3E}">
        <p14:creationId xmlns:p14="http://schemas.microsoft.com/office/powerpoint/2010/main" val="38453148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95772FEB-ADFD-B7B5-3A50-A9147F40D420}"/>
              </a:ext>
            </a:extLst>
          </p:cNvPr>
          <p:cNvPicPr>
            <a:picLocks noChangeAspect="1"/>
          </p:cNvPicPr>
          <p:nvPr/>
        </p:nvPicPr>
        <p:blipFill>
          <a:blip r:embed="rId2"/>
          <a:stretch>
            <a:fillRect/>
          </a:stretch>
        </p:blipFill>
        <p:spPr>
          <a:xfrm>
            <a:off x="602552" y="1715389"/>
            <a:ext cx="4559300" cy="2768600"/>
          </a:xfrm>
          <a:prstGeom prst="rect">
            <a:avLst/>
          </a:prstGeom>
        </p:spPr>
      </p:pic>
      <p:pic>
        <p:nvPicPr>
          <p:cNvPr id="25" name="Picture 24">
            <a:extLst>
              <a:ext uri="{FF2B5EF4-FFF2-40B4-BE49-F238E27FC236}">
                <a16:creationId xmlns:a16="http://schemas.microsoft.com/office/drawing/2014/main" id="{4E189977-E9A9-47BB-BC48-47C3CE9B4852}"/>
              </a:ext>
            </a:extLst>
          </p:cNvPr>
          <p:cNvPicPr>
            <a:picLocks noChangeAspect="1"/>
          </p:cNvPicPr>
          <p:nvPr/>
        </p:nvPicPr>
        <p:blipFill>
          <a:blip r:embed="rId3"/>
          <a:stretch>
            <a:fillRect/>
          </a:stretch>
        </p:blipFill>
        <p:spPr>
          <a:xfrm>
            <a:off x="5746052" y="1715389"/>
            <a:ext cx="4559300" cy="2768600"/>
          </a:xfrm>
          <a:prstGeom prst="rect">
            <a:avLst/>
          </a:prstGeom>
        </p:spPr>
      </p:pic>
      <p:pic>
        <p:nvPicPr>
          <p:cNvPr id="27" name="Picture 26">
            <a:extLst>
              <a:ext uri="{FF2B5EF4-FFF2-40B4-BE49-F238E27FC236}">
                <a16:creationId xmlns:a16="http://schemas.microsoft.com/office/drawing/2014/main" id="{D372C3DA-FD68-5AAF-A04E-8AE338E93DCC}"/>
              </a:ext>
            </a:extLst>
          </p:cNvPr>
          <p:cNvPicPr>
            <a:picLocks noChangeAspect="1"/>
          </p:cNvPicPr>
          <p:nvPr/>
        </p:nvPicPr>
        <p:blipFill>
          <a:blip r:embed="rId4"/>
          <a:stretch>
            <a:fillRect/>
          </a:stretch>
        </p:blipFill>
        <p:spPr>
          <a:xfrm>
            <a:off x="10889552" y="1715389"/>
            <a:ext cx="4559300" cy="2768600"/>
          </a:xfrm>
          <a:prstGeom prst="rect">
            <a:avLst/>
          </a:prstGeom>
        </p:spPr>
      </p:pic>
      <p:pic>
        <p:nvPicPr>
          <p:cNvPr id="33" name="Picture 32">
            <a:extLst>
              <a:ext uri="{FF2B5EF4-FFF2-40B4-BE49-F238E27FC236}">
                <a16:creationId xmlns:a16="http://schemas.microsoft.com/office/drawing/2014/main" id="{C0826725-9E03-AA68-8D0B-E42E0A76B0A4}"/>
              </a:ext>
            </a:extLst>
          </p:cNvPr>
          <p:cNvPicPr>
            <a:picLocks noChangeAspect="1"/>
          </p:cNvPicPr>
          <p:nvPr/>
        </p:nvPicPr>
        <p:blipFill>
          <a:blip r:embed="rId5"/>
          <a:stretch>
            <a:fillRect/>
          </a:stretch>
        </p:blipFill>
        <p:spPr>
          <a:xfrm>
            <a:off x="602552" y="5008148"/>
            <a:ext cx="4572000" cy="2743200"/>
          </a:xfrm>
          <a:prstGeom prst="rect">
            <a:avLst/>
          </a:prstGeom>
        </p:spPr>
      </p:pic>
      <p:pic>
        <p:nvPicPr>
          <p:cNvPr id="35" name="Picture 34">
            <a:extLst>
              <a:ext uri="{FF2B5EF4-FFF2-40B4-BE49-F238E27FC236}">
                <a16:creationId xmlns:a16="http://schemas.microsoft.com/office/drawing/2014/main" id="{DE4DB721-B1B8-9E9A-BAA3-29C5AFFF7259}"/>
              </a:ext>
            </a:extLst>
          </p:cNvPr>
          <p:cNvPicPr>
            <a:picLocks noChangeAspect="1"/>
          </p:cNvPicPr>
          <p:nvPr/>
        </p:nvPicPr>
        <p:blipFill>
          <a:blip r:embed="rId6"/>
          <a:stretch>
            <a:fillRect/>
          </a:stretch>
        </p:blipFill>
        <p:spPr>
          <a:xfrm>
            <a:off x="5720652" y="4982748"/>
            <a:ext cx="4584700" cy="2768600"/>
          </a:xfrm>
          <a:prstGeom prst="rect">
            <a:avLst/>
          </a:prstGeom>
        </p:spPr>
      </p:pic>
      <p:pic>
        <p:nvPicPr>
          <p:cNvPr id="37" name="Picture 36">
            <a:extLst>
              <a:ext uri="{FF2B5EF4-FFF2-40B4-BE49-F238E27FC236}">
                <a16:creationId xmlns:a16="http://schemas.microsoft.com/office/drawing/2014/main" id="{BDDEA536-622F-6431-FEC5-F4A697B3AD01}"/>
              </a:ext>
            </a:extLst>
          </p:cNvPr>
          <p:cNvPicPr>
            <a:picLocks noChangeAspect="1"/>
          </p:cNvPicPr>
          <p:nvPr/>
        </p:nvPicPr>
        <p:blipFill>
          <a:blip r:embed="rId7"/>
          <a:stretch>
            <a:fillRect/>
          </a:stretch>
        </p:blipFill>
        <p:spPr>
          <a:xfrm>
            <a:off x="10889552" y="4982748"/>
            <a:ext cx="4584700" cy="2768600"/>
          </a:xfrm>
          <a:prstGeom prst="rect">
            <a:avLst/>
          </a:prstGeom>
        </p:spPr>
      </p:pic>
      <p:sp>
        <p:nvSpPr>
          <p:cNvPr id="38" name="Google Shape;167;g3ed063acbfe_1_0">
            <a:extLst>
              <a:ext uri="{FF2B5EF4-FFF2-40B4-BE49-F238E27FC236}">
                <a16:creationId xmlns:a16="http://schemas.microsoft.com/office/drawing/2014/main" id="{03FEB718-1236-8A9C-FD62-44C0ACB0212A}"/>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a:solidFill>
                  <a:srgbClr val="13807B"/>
                </a:solidFill>
                <a:latin typeface="Poppins"/>
                <a:ea typeface="Poppins"/>
                <a:cs typeface="Poppins"/>
                <a:sym typeface="Poppins"/>
              </a:rPr>
              <a:t>Share </a:t>
            </a:r>
            <a:r>
              <a:rPr lang="es-ES_tradnl" sz="3200" b="1" kern="1200" noProof="0" err="1">
                <a:solidFill>
                  <a:srgbClr val="13807B"/>
                </a:solidFill>
                <a:latin typeface="Poppins"/>
                <a:ea typeface="Poppins"/>
                <a:cs typeface="Poppins"/>
                <a:sym typeface="Poppins"/>
              </a:rPr>
              <a:t>of</a:t>
            </a:r>
            <a:r>
              <a:rPr lang="es-ES_tradnl" sz="3200" b="1" kern="1200" noProof="0">
                <a:solidFill>
                  <a:srgbClr val="13807B"/>
                </a:solidFill>
                <a:latin typeface="Poppins"/>
                <a:ea typeface="Poppins"/>
                <a:cs typeface="Poppins"/>
                <a:sym typeface="Poppins"/>
              </a:rPr>
              <a:t> Sales de Oferta Relevante – Con Deuda</a:t>
            </a:r>
          </a:p>
        </p:txBody>
      </p:sp>
      <p:sp>
        <p:nvSpPr>
          <p:cNvPr id="39" name="Google Shape;408;g3a8a166b9a7_8_346">
            <a:extLst>
              <a:ext uri="{FF2B5EF4-FFF2-40B4-BE49-F238E27FC236}">
                <a16:creationId xmlns:a16="http://schemas.microsoft.com/office/drawing/2014/main" id="{8FB9C246-B792-F8D1-F097-472672EB2440}"/>
              </a:ext>
            </a:extLst>
          </p:cNvPr>
          <p:cNvSpPr/>
          <p:nvPr/>
        </p:nvSpPr>
        <p:spPr>
          <a:xfrm>
            <a:off x="602552" y="1447347"/>
            <a:ext cx="45593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1</a:t>
            </a:r>
          </a:p>
        </p:txBody>
      </p:sp>
      <p:sp>
        <p:nvSpPr>
          <p:cNvPr id="40" name="Google Shape;408;g3a8a166b9a7_8_346">
            <a:extLst>
              <a:ext uri="{FF2B5EF4-FFF2-40B4-BE49-F238E27FC236}">
                <a16:creationId xmlns:a16="http://schemas.microsoft.com/office/drawing/2014/main" id="{766006CC-9573-3F9F-0334-0E99015DC687}"/>
              </a:ext>
            </a:extLst>
          </p:cNvPr>
          <p:cNvSpPr/>
          <p:nvPr/>
        </p:nvSpPr>
        <p:spPr>
          <a:xfrm>
            <a:off x="5746052" y="1447347"/>
            <a:ext cx="45593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2</a:t>
            </a:r>
          </a:p>
        </p:txBody>
      </p:sp>
      <p:sp>
        <p:nvSpPr>
          <p:cNvPr id="41" name="Google Shape;408;g3a8a166b9a7_8_346">
            <a:extLst>
              <a:ext uri="{FF2B5EF4-FFF2-40B4-BE49-F238E27FC236}">
                <a16:creationId xmlns:a16="http://schemas.microsoft.com/office/drawing/2014/main" id="{61D644E8-D56F-921B-5D60-1F006803E360}"/>
              </a:ext>
            </a:extLst>
          </p:cNvPr>
          <p:cNvSpPr/>
          <p:nvPr/>
        </p:nvSpPr>
        <p:spPr>
          <a:xfrm>
            <a:off x="10889552" y="1447347"/>
            <a:ext cx="45593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3</a:t>
            </a:r>
          </a:p>
        </p:txBody>
      </p:sp>
      <p:sp>
        <p:nvSpPr>
          <p:cNvPr id="42" name="Google Shape;408;g3a8a166b9a7_8_346">
            <a:extLst>
              <a:ext uri="{FF2B5EF4-FFF2-40B4-BE49-F238E27FC236}">
                <a16:creationId xmlns:a16="http://schemas.microsoft.com/office/drawing/2014/main" id="{ADAC5C76-1391-6823-1768-1A349BF0C5DB}"/>
              </a:ext>
            </a:extLst>
          </p:cNvPr>
          <p:cNvSpPr/>
          <p:nvPr/>
        </p:nvSpPr>
        <p:spPr>
          <a:xfrm>
            <a:off x="602552" y="4752031"/>
            <a:ext cx="45593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4</a:t>
            </a:r>
          </a:p>
        </p:txBody>
      </p:sp>
      <p:sp>
        <p:nvSpPr>
          <p:cNvPr id="43" name="Google Shape;408;g3a8a166b9a7_8_346">
            <a:extLst>
              <a:ext uri="{FF2B5EF4-FFF2-40B4-BE49-F238E27FC236}">
                <a16:creationId xmlns:a16="http://schemas.microsoft.com/office/drawing/2014/main" id="{ECF7E30E-967A-E486-B9D8-4E0760949CFB}"/>
              </a:ext>
            </a:extLst>
          </p:cNvPr>
          <p:cNvSpPr/>
          <p:nvPr/>
        </p:nvSpPr>
        <p:spPr>
          <a:xfrm>
            <a:off x="5746052" y="4752031"/>
            <a:ext cx="45593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5</a:t>
            </a:r>
          </a:p>
        </p:txBody>
      </p:sp>
      <p:sp>
        <p:nvSpPr>
          <p:cNvPr id="44" name="Google Shape;408;g3a8a166b9a7_8_346">
            <a:extLst>
              <a:ext uri="{FF2B5EF4-FFF2-40B4-BE49-F238E27FC236}">
                <a16:creationId xmlns:a16="http://schemas.microsoft.com/office/drawing/2014/main" id="{8C5AF991-B16C-E3EF-6E3C-F9E3D35F1AA6}"/>
              </a:ext>
            </a:extLst>
          </p:cNvPr>
          <p:cNvSpPr/>
          <p:nvPr/>
        </p:nvSpPr>
        <p:spPr>
          <a:xfrm>
            <a:off x="10889552" y="4752031"/>
            <a:ext cx="45593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6</a:t>
            </a:r>
          </a:p>
        </p:txBody>
      </p:sp>
      <p:pic>
        <p:nvPicPr>
          <p:cNvPr id="2" name="Picture 1">
            <a:extLst>
              <a:ext uri="{FF2B5EF4-FFF2-40B4-BE49-F238E27FC236}">
                <a16:creationId xmlns:a16="http://schemas.microsoft.com/office/drawing/2014/main" id="{5B5A8167-0421-E3BA-8FA7-6FDDB47ED14F}"/>
              </a:ext>
            </a:extLst>
          </p:cNvPr>
          <p:cNvPicPr>
            <a:picLocks noChangeAspect="1"/>
          </p:cNvPicPr>
          <p:nvPr/>
        </p:nvPicPr>
        <p:blipFill>
          <a:blip r:embed="rId8"/>
          <a:stretch>
            <a:fillRect/>
          </a:stretch>
        </p:blipFill>
        <p:spPr>
          <a:xfrm>
            <a:off x="14725019" y="109555"/>
            <a:ext cx="1272511" cy="717296"/>
          </a:xfrm>
          <a:prstGeom prst="rect">
            <a:avLst/>
          </a:prstGeom>
        </p:spPr>
      </p:pic>
    </p:spTree>
    <p:extLst>
      <p:ext uri="{BB962C8B-B14F-4D97-AF65-F5344CB8AC3E}">
        <p14:creationId xmlns:p14="http://schemas.microsoft.com/office/powerpoint/2010/main" val="19585862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BEA5E8-E064-6ECC-84B5-13D9BD711833}"/>
              </a:ext>
            </a:extLst>
          </p:cNvPr>
          <p:cNvPicPr>
            <a:picLocks noChangeAspect="1"/>
          </p:cNvPicPr>
          <p:nvPr/>
        </p:nvPicPr>
        <p:blipFill>
          <a:blip r:embed="rId2"/>
          <a:stretch>
            <a:fillRect/>
          </a:stretch>
        </p:blipFill>
        <p:spPr>
          <a:xfrm>
            <a:off x="592800" y="3178175"/>
            <a:ext cx="4584700" cy="2768600"/>
          </a:xfrm>
          <a:prstGeom prst="rect">
            <a:avLst/>
          </a:prstGeom>
        </p:spPr>
      </p:pic>
      <p:pic>
        <p:nvPicPr>
          <p:cNvPr id="5" name="Picture 4">
            <a:extLst>
              <a:ext uri="{FF2B5EF4-FFF2-40B4-BE49-F238E27FC236}">
                <a16:creationId xmlns:a16="http://schemas.microsoft.com/office/drawing/2014/main" id="{367F5138-99A0-A0B8-772A-EF033ED0576D}"/>
              </a:ext>
            </a:extLst>
          </p:cNvPr>
          <p:cNvPicPr>
            <a:picLocks noChangeAspect="1"/>
          </p:cNvPicPr>
          <p:nvPr/>
        </p:nvPicPr>
        <p:blipFill>
          <a:blip r:embed="rId3"/>
          <a:stretch>
            <a:fillRect/>
          </a:stretch>
        </p:blipFill>
        <p:spPr>
          <a:xfrm>
            <a:off x="5848350" y="3197225"/>
            <a:ext cx="4572000" cy="2730500"/>
          </a:xfrm>
          <a:prstGeom prst="rect">
            <a:avLst/>
          </a:prstGeom>
        </p:spPr>
      </p:pic>
      <p:pic>
        <p:nvPicPr>
          <p:cNvPr id="8" name="Picture 7">
            <a:extLst>
              <a:ext uri="{FF2B5EF4-FFF2-40B4-BE49-F238E27FC236}">
                <a16:creationId xmlns:a16="http://schemas.microsoft.com/office/drawing/2014/main" id="{DD26CA8A-3759-927F-E9FC-2C8D778B5BB4}"/>
              </a:ext>
            </a:extLst>
          </p:cNvPr>
          <p:cNvPicPr>
            <a:picLocks noChangeAspect="1"/>
          </p:cNvPicPr>
          <p:nvPr/>
        </p:nvPicPr>
        <p:blipFill>
          <a:blip r:embed="rId4"/>
          <a:stretch>
            <a:fillRect/>
          </a:stretch>
        </p:blipFill>
        <p:spPr>
          <a:xfrm>
            <a:off x="11091200" y="3197225"/>
            <a:ext cx="4572000" cy="2730500"/>
          </a:xfrm>
          <a:prstGeom prst="rect">
            <a:avLst/>
          </a:prstGeom>
        </p:spPr>
      </p:pic>
      <p:sp>
        <p:nvSpPr>
          <p:cNvPr id="9" name="Google Shape;408;g3a8a166b9a7_8_346">
            <a:extLst>
              <a:ext uri="{FF2B5EF4-FFF2-40B4-BE49-F238E27FC236}">
                <a16:creationId xmlns:a16="http://schemas.microsoft.com/office/drawing/2014/main" id="{5AE42F6C-B803-32BD-1FBD-DDCDA8883289}"/>
              </a:ext>
            </a:extLst>
          </p:cNvPr>
          <p:cNvSpPr/>
          <p:nvPr/>
        </p:nvSpPr>
        <p:spPr>
          <a:xfrm>
            <a:off x="592800" y="2910133"/>
            <a:ext cx="45847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1</a:t>
            </a:r>
          </a:p>
        </p:txBody>
      </p:sp>
      <p:sp>
        <p:nvSpPr>
          <p:cNvPr id="10" name="Google Shape;408;g3a8a166b9a7_8_346">
            <a:extLst>
              <a:ext uri="{FF2B5EF4-FFF2-40B4-BE49-F238E27FC236}">
                <a16:creationId xmlns:a16="http://schemas.microsoft.com/office/drawing/2014/main" id="{873F8E84-79CD-20E4-49DD-4EB40C093631}"/>
              </a:ext>
            </a:extLst>
          </p:cNvPr>
          <p:cNvSpPr/>
          <p:nvPr/>
        </p:nvSpPr>
        <p:spPr>
          <a:xfrm>
            <a:off x="5848350" y="2921019"/>
            <a:ext cx="45720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2</a:t>
            </a:r>
          </a:p>
        </p:txBody>
      </p:sp>
      <p:sp>
        <p:nvSpPr>
          <p:cNvPr id="11" name="Google Shape;408;g3a8a166b9a7_8_346">
            <a:extLst>
              <a:ext uri="{FF2B5EF4-FFF2-40B4-BE49-F238E27FC236}">
                <a16:creationId xmlns:a16="http://schemas.microsoft.com/office/drawing/2014/main" id="{F9713B0D-E153-A2ED-E8BB-FED14CE4D5F6}"/>
              </a:ext>
            </a:extLst>
          </p:cNvPr>
          <p:cNvSpPr/>
          <p:nvPr/>
        </p:nvSpPr>
        <p:spPr>
          <a:xfrm>
            <a:off x="11097550" y="2929183"/>
            <a:ext cx="4584700" cy="268042"/>
          </a:xfrm>
          <a:prstGeom prst="roundRect">
            <a:avLst/>
          </a:prstGeom>
          <a:solidFill>
            <a:srgbClr val="13807B"/>
          </a:solidFill>
          <a:ln>
            <a:noFill/>
          </a:ln>
          <a:effectLst/>
        </p:spPr>
        <p:txBody>
          <a:bodyPr spcFirstLastPara="1" wrap="square" lIns="121900" tIns="60925" rIns="121900" bIns="609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algn="ctr" defTabSz="1219170">
              <a:buSzPts val="1900"/>
              <a:tabLst>
                <a:tab pos="3101975" algn="l"/>
              </a:tabLst>
              <a:defRPr/>
            </a:pPr>
            <a:r>
              <a:rPr lang="es-ES_tradnl" sz="1100" b="1" kern="1200" noProof="0">
                <a:solidFill>
                  <a:prstClr val="white"/>
                </a:solidFill>
                <a:latin typeface="Poppins" panose="00000500000000000000" pitchFamily="2" charset="0"/>
                <a:ea typeface="Calibri"/>
                <a:cs typeface="Poppins" panose="00000500000000000000" pitchFamily="2" charset="0"/>
                <a:sym typeface="Calibri"/>
              </a:rPr>
              <a:t>Cluster 3</a:t>
            </a:r>
          </a:p>
        </p:txBody>
      </p:sp>
      <p:sp>
        <p:nvSpPr>
          <p:cNvPr id="12" name="Google Shape;167;g3ed063acbfe_1_0">
            <a:extLst>
              <a:ext uri="{FF2B5EF4-FFF2-40B4-BE49-F238E27FC236}">
                <a16:creationId xmlns:a16="http://schemas.microsoft.com/office/drawing/2014/main" id="{4767389F-FBD4-F299-0323-4D7F28FFEEFD}"/>
              </a:ext>
            </a:extLst>
          </p:cNvPr>
          <p:cNvSpPr txBox="1"/>
          <p:nvPr/>
        </p:nvSpPr>
        <p:spPr>
          <a:xfrm>
            <a:off x="447081" y="155617"/>
            <a:ext cx="12672388" cy="1143001"/>
          </a:xfrm>
          <a:prstGeom prst="rect">
            <a:avLst/>
          </a:prstGeom>
          <a:noFill/>
          <a:ln>
            <a:noFill/>
          </a:ln>
        </p:spPr>
        <p:txBody>
          <a:bodyPr spcFirstLastPara="1" wrap="square" lIns="91425" tIns="45700" rIns="91425" bIns="45700" anchor="ctr" anchorCtr="0">
            <a:normAutofit/>
          </a:bodyPr>
          <a:lstStyle/>
          <a:p>
            <a:pPr defTabSz="1625519">
              <a:buSzPts val="4400"/>
              <a:defRPr/>
            </a:pPr>
            <a:r>
              <a:rPr lang="es-ES_tradnl" sz="3200" b="1" kern="1200" noProof="0">
                <a:solidFill>
                  <a:srgbClr val="13807B"/>
                </a:solidFill>
                <a:latin typeface="Poppins"/>
                <a:ea typeface="Poppins"/>
                <a:cs typeface="Poppins"/>
                <a:sym typeface="Poppins"/>
              </a:rPr>
              <a:t>Share </a:t>
            </a:r>
            <a:r>
              <a:rPr lang="es-ES_tradnl" sz="3200" b="1" kern="1200" noProof="0" err="1">
                <a:solidFill>
                  <a:srgbClr val="13807B"/>
                </a:solidFill>
                <a:latin typeface="Poppins"/>
                <a:ea typeface="Poppins"/>
                <a:cs typeface="Poppins"/>
                <a:sym typeface="Poppins"/>
              </a:rPr>
              <a:t>of</a:t>
            </a:r>
            <a:r>
              <a:rPr lang="es-ES_tradnl" sz="3200" b="1" kern="1200" noProof="0">
                <a:solidFill>
                  <a:srgbClr val="13807B"/>
                </a:solidFill>
                <a:latin typeface="Poppins"/>
                <a:ea typeface="Poppins"/>
                <a:cs typeface="Poppins"/>
                <a:sym typeface="Poppins"/>
              </a:rPr>
              <a:t> Sales de Oferta Relevante – Sin Deuda</a:t>
            </a:r>
          </a:p>
        </p:txBody>
      </p:sp>
      <p:pic>
        <p:nvPicPr>
          <p:cNvPr id="2" name="Picture 1">
            <a:extLst>
              <a:ext uri="{FF2B5EF4-FFF2-40B4-BE49-F238E27FC236}">
                <a16:creationId xmlns:a16="http://schemas.microsoft.com/office/drawing/2014/main" id="{B51641C0-CDB4-9F7D-CD9A-D958AF73A32F}"/>
              </a:ext>
            </a:extLst>
          </p:cNvPr>
          <p:cNvPicPr>
            <a:picLocks noChangeAspect="1"/>
          </p:cNvPicPr>
          <p:nvPr/>
        </p:nvPicPr>
        <p:blipFill>
          <a:blip r:embed="rId5"/>
          <a:stretch>
            <a:fillRect/>
          </a:stretch>
        </p:blipFill>
        <p:spPr>
          <a:xfrm>
            <a:off x="14725019" y="109555"/>
            <a:ext cx="1272511" cy="717296"/>
          </a:xfrm>
          <a:prstGeom prst="rect">
            <a:avLst/>
          </a:prstGeom>
        </p:spPr>
      </p:pic>
    </p:spTree>
    <p:extLst>
      <p:ext uri="{BB962C8B-B14F-4D97-AF65-F5344CB8AC3E}">
        <p14:creationId xmlns:p14="http://schemas.microsoft.com/office/powerpoint/2010/main" val="36292064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tSAy8EO7m5gZgSmYBf.S0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nyxIj.jDWyCNN6mUOjh.r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gduDLGojf_Vo46CHZf_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kcq94WyJCvYfC83efehHH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lGXPk4sahQB0JIiuDpUEw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RLyPeyXuUxhKI4q5ngMN5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AmdUBMzKHzPEXBB4wfp61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6Dgl8IfTwFZlzq0fu3bQ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q6z7eJ6HGrBh0ql5vC_o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Jo3k9xZywodLCRFEmNVxC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OqFc.4ROv1Wp_2xZeBjEZ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myn5S26lZo5c06xh0OI5G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q.JI4NY5fRKFBbjQ.mHWJ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8PnObFjfHNdUIQneXw3iu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eAFcU6tmG2OP83SFBTNy9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GFClRiJPNGpe6WzJ6A5gr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Mygz0zsMkDUPkJUMudCnD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jB8yF.rJ6I7VSLKhcDXFU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YaZl0.bGMrLJND9j8Oz2X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t_iGTRFVe5wNxoO8diLaG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oy.CBR5NXEzWA1mC7ze1l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dM2CIuN3YzdSHlRqwD8V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67</Slides>
  <Notes>55</Notes>
  <HiddenSlides>15</HiddenSlide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3</cp:revision>
  <dcterms:created xsi:type="dcterms:W3CDTF">2013-01-27T09:14:16Z</dcterms:created>
  <dcterms:modified xsi:type="dcterms:W3CDTF">2026-10-07T19:34:12Z</dcterms:modified>
  <cp:category/>
</cp:coreProperties>
</file>