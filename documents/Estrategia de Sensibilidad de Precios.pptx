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italic ns1:id="rIdFont19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4d8202b3-4585-42bd-8fc6-861a744b6004.fntdata" /><ns0:Relationship Id="rIdFont20" Type="http://schemas.openxmlformats.org/officeDocument/2006/relationships/font" Target="fonts/27898067-2aeb-4f57-b1a4-b14532bff21a.fntdata" /><ns0:Relationship Id="rIdFont21" Type="http://schemas.openxmlformats.org/officeDocument/2006/relationships/font" Target="fonts/733d0838-0e86-4b04-9041-967a594fe53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113758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113758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86867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Inter"/>
              </a:rPr>
              <a:t>RESUMEN EJECUTIVO &amp;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63092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Módulo de Sensibilidad de Precios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61258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Diagnóstico del modelo base, limitaciones de granularidad en Panel Data y propuesta de evolución hacia modelos de propensión (WTP).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89983"/>
            <a:ext cx="2428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580483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Evaluación de Alternativas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9900" y="4389983"/>
            <a:ext cx="3238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ENFOQUE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4580483"/>
            <a:ext cx="3238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Econométrico vs. Behavioral (WTP)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70595"/>
            <a:ext cx="5275064" cy="4730204"/>
          </a:xfrm>
          <a:prstGeom prst="roundRect">
            <a:avLst>
              <a:gd name="adj" fmla="val 322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0125" y="3107977"/>
            <a:ext cx="15621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89464" y="2030610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9464" y="3430785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9464" y="4830960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689" y="2311598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689" y="5111948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ESTADO ACTUAL — 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Modelo Base de Macroperfiles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Evaluación de la segmentación comercial de 4 macrogrupos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146077"/>
            <a:ext cx="142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RESULTADO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488977"/>
            <a:ext cx="5898393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E40AF"/>
                </a:solidFill>
                <a:latin typeface="Inter"/>
              </a:rPr>
              <a:t>3 /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212877"/>
            <a:ext cx="561751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Inter"/>
              </a:rPr>
              <a:t>Buckets Elásticos Significativos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536727"/>
            <a:ext cx="4589264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B82F6"/>
                </a:solidFill>
                <a:latin typeface="Inter"/>
              </a:rPr>
              <a:t>Inferencia econométrica confiable lograda en la mayoría de macrosegmentos comerciales.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689" y="2583060"/>
            <a:ext cx="493573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Al trabajar con solo 3 buckets válidos, se promedian perfiles heterogéneos impidiendo personalizar tarifas.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689" y="3983235"/>
            <a:ext cx="493573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Las señales estimadas son altamente elásticas, restringiendo el espacio comercial para proponer subidas de tasa.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5689" y="5383410"/>
            <a:ext cx="493573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En el segmento no inferido se propone siembra de precios como estrategia experimental complementaria.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0489" y="2306835"/>
            <a:ext cx="303787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Baja Granularidad Operativa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989" y="3707010"/>
            <a:ext cx="31753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Niveles Altos de Sensibilidad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0489" y="5107185"/>
            <a:ext cx="231278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Bucket sin Inferencia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8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96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534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3099792"/>
            <a:ext cx="116205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8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9625" y="3099792"/>
            <a:ext cx="9525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96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3425" y="3099792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534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EXPLORACIÓN DE GRANULARIDAD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Búsqueda Iterativa por Percentiles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Evaluación de combinaciones de variables en Panel Data para ganar resolución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137892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METODOLOGÍA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480792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Cortes por Percentiles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82369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Agrupación iterativa de 1 a 3 variables cortadas por percentiles fijando filtros de continuidad mensual y materialidad.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819054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ENFOQUE: EXPLORACIÓN MASIVA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3137892"/>
            <a:ext cx="819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3480792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Baja Significancia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382369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La corrida arroja inferencia solo en buckets aislados. La mayoría pierde estabilidad estocástica al atomizar el 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4819054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COBERTURA LIMITADA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137892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IMPACTO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3480792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Elasticidad Persistente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3823692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Los pocos grupos válidos mantienen señales altamente elásticas, sin identificar nichos inelásticos para subir tasa.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4819054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Inter"/>
              </a:rPr>
              <a:t>SIN MARGEN TÁCTICO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3672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PROPUESTAS METODOLÓGICAS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749897"/>
            <a:ext cx="81010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Inter"/>
              </a:rPr>
              <a:t>Dos Frentes para la Evolución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84277"/>
            <a:ext cx="6286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Optimización econométrica sobre Panel Data vs. Transición a Modelos Behavioral de Propensión y WTP.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5810250"/>
            <a:ext cx="47815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4625" y="5810250"/>
            <a:ext cx="47815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2880270"/>
            <a:ext cx="47815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825" y="581025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24625" y="2880270"/>
            <a:ext cx="47815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4625" y="581025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76775" y="1946820"/>
            <a:ext cx="9906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53600" y="1946820"/>
            <a:ext cx="1552575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991225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FRENTE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Refinamiento Econométrico (Panel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Evolución dentro del paradigma actual de regresión en datos de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365920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Añadir más variables transaccionales y de perfil a la búsqueda iterativa actual por percentiles.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972175"/>
            <a:ext cx="5976937" cy="15240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Inter"/>
              </a:rPr>
              <a:t>Sin garantía previa de mejora en la inferencia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365920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Segmentación supervisada por Árbol de Decisión para hallar nodos de conversión naturales antes de correr 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5972175"/>
            <a:ext cx="566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Foco en garantizar estabilidad temporal de nodos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1946820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Exploración Ampliada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075" y="1984920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Fuerza Bruta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3042195"/>
            <a:ext cx="5572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Mecánica de validación: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3242220"/>
            <a:ext cx="455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Evaluación de significancia y consistencia económica </a:t>
            </a:r>
            <a:r>
              <a:rPr b="0" sz="1050" i="1" u="none">
                <a:solidFill>
                  <a:srgbClr val="334155"/>
                </a:solidFill>
                <a:latin typeface="Inter"/>
              </a:rPr>
              <a:t>a posteriori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tras la corrida masiva.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1946820"/>
            <a:ext cx="26003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Inter"/>
              </a:rPr>
              <a:t>2. Cortes por Árboles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900" y="1984920"/>
            <a:ext cx="1419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Inter"/>
              </a:rPr>
              <a:t>Node-Based Elasticity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3042195"/>
            <a:ext cx="5505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Expectativa de Performance: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3242220"/>
            <a:ext cx="4552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Se esperaría mejor señal al alinear los grupos directamente con el comportamiento real de aceptación.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4473"/>
            <a:ext cx="5233541" cy="3162300"/>
          </a:xfrm>
          <a:prstGeom prst="roundRect">
            <a:avLst>
              <a:gd name="adj" fmla="val 4819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2025" y="2806898"/>
            <a:ext cx="12668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2025" y="4454723"/>
            <a:ext cx="4528691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47941" y="2035373"/>
            <a:ext cx="5434458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47941" y="3540323"/>
            <a:ext cx="543445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7941" y="4864298"/>
            <a:ext cx="543445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FRENTE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Modelo Behavioral de Propensión / WTP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Estimación probabilística directa (0 o 1) con la tasa ofertada como regresor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844998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Inter"/>
              </a:rPr>
              <a:t>PREMISA BÁSICA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7898"/>
            <a:ext cx="5943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581C87"/>
                </a:solidFill>
                <a:latin typeface="Inter"/>
              </a:rPr>
              <a:t>Capacidad Predictiva Aceptable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578423"/>
            <a:ext cx="46239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B21A8"/>
                </a:solidFill>
                <a:latin typeface="Inter"/>
              </a:rPr>
              <a:t>Cualquier modalidad de consumo requiere que el modelo logre un buen </a:t>
            </a:r>
            <a:r>
              <a:rPr b="0" sz="1200" i="1" u="none">
                <a:solidFill>
                  <a:srgbClr val="6B21A8"/>
                </a:solidFill>
                <a:latin typeface="Inter"/>
              </a:rPr>
              <a:t>performance</a:t>
            </a:r>
            <a:r>
              <a:rPr b="0" sz="1200" i="0" u="none">
                <a:solidFill>
                  <a:srgbClr val="6B21A8"/>
                </a:solidFill>
                <a:latin typeface="Inter"/>
              </a:rPr>
              <a:t> prediciendo la aceptación del crédito.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616648"/>
            <a:ext cx="525605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E22CE"/>
                </a:solidFill>
                <a:latin typeface="Inter"/>
              </a:rPr>
              <a:t>Objetivo Operativo: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778573"/>
            <a:ext cx="430009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C1D95"/>
                </a:solidFill>
                <a:latin typeface="Inter"/>
              </a:rPr>
              <a:t>Modelar la probabilidad de conversión $P(\text{Acepta} \mid \text{Tasa}, X)$.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166" y="2311598"/>
            <a:ext cx="576783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Enfoque en Variaciones (Deltas)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4166" y="2568773"/>
            <a:ext cx="4977258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No evaluamos la tasa absoluta propuesta ni la efectividad aislada, sino la **variación marginal de efectividad ($\Delta$)** frente a la tasa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4166" y="3816548"/>
            <a:ext cx="576783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Simulaciones sobre Cosecha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4166" y="4073723"/>
            <a:ext cx="497725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Corremos escenarios contrafácticos ($+50, +100, -50 \text{ bps}$) sobre la base histórica para medir la sensibilidad de la campaña.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4166" y="5140523"/>
            <a:ext cx="576783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Consumo Flexible para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4166" y="5397698"/>
            <a:ext cx="497725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Permite estructurar desde matrices discretas sencillas hasta optimizaciones cliente a cliente en tiempo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3073"/>
            <a:ext cx="10972800" cy="1847850"/>
          </a:xfrm>
          <a:prstGeom prst="roundRect">
            <a:avLst>
              <a:gd name="adj" fmla="val 618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721423"/>
            <a:ext cx="10972800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721423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692598"/>
          <a:ext cx="10953747" cy="1828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77542"/>
                <a:gridCol w="1632644"/>
                <a:gridCol w="1442442"/>
                <a:gridCol w="1331565"/>
                <a:gridCol w="1379041"/>
                <a:gridCol w="149051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Segmento / Macroperfil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Tasa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-100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-50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+50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+100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P1 - Recurrente M-Ticket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+4.2%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+2.1%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-3.5%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-8.1%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P2 - Recurrente High-Ticket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14.0%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+5.8%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+3.0%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-5.2%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-11.4%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P3 - Nuevo Riesgo 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16.2%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+3.1%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47857"/>
                          </a:solidFill>
                          <a:latin typeface="Inter"/>
                        </a:rPr>
                        <a:t>+1.5%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-2.2%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B91C1C"/>
                          </a:solidFill>
                          <a:latin typeface="Inter"/>
                        </a:rPr>
                        <a:t>-5.0%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SALIDA OPERATIVA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Matriz de Impacto por Escenarios (Tarifario)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Lookup table para consultar variaciones relativas y absolutas por segmento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873823"/>
            <a:ext cx="10572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Inter"/>
              </a:rPr>
              <a:t>Ejemplo de uso para Negocio: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 "Si para el segmento </a:t>
            </a:r>
            <a:r>
              <a:rPr b="1" sz="1125" i="0" u="none">
                <a:solidFill>
                  <a:srgbClr val="1E40AF"/>
                </a:solidFill>
                <a:latin typeface="Inter"/>
              </a:rPr>
              <a:t>P1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 decidimos subir </a:t>
            </a:r>
            <a:r>
              <a:rPr b="1" sz="1125" i="0" u="none">
                <a:solidFill>
                  <a:srgbClr val="1E40AF"/>
                </a:solidFill>
                <a:latin typeface="Inter"/>
              </a:rPr>
              <a:t>50 bps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 a la tasa base, proyectamos una caída de </a:t>
            </a:r>
            <a:r>
              <a:rPr b="1" sz="1125" i="0" u="none">
                <a:solidFill>
                  <a:srgbClr val="1E40AF"/>
                </a:solidFill>
                <a:latin typeface="Inter"/>
              </a:rPr>
              <a:t>3.5% en la efectividad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 de la campaña."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70595"/>
            <a:ext cx="6061323" cy="4730204"/>
          </a:xfrm>
          <a:prstGeom prst="roundRect">
            <a:avLst>
              <a:gd name="adj" fmla="val 24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75723" y="2397323"/>
            <a:ext cx="460667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5723" y="3721298"/>
            <a:ext cx="4606676" cy="1247775"/>
          </a:xfrm>
          <a:prstGeom prst="roundRect">
            <a:avLst>
              <a:gd name="adj" fmla="val 916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75723" y="5121473"/>
            <a:ext cx="4606676" cy="552450"/>
          </a:xfrm>
          <a:prstGeom prst="roundRect">
            <a:avLst>
              <a:gd name="adj" fmla="val 13793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1937295"/>
            <a:ext cx="1371600" cy="2286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87" y="3602235"/>
            <a:ext cx="3429000" cy="1524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8" y="5264348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SALIDA OPERATIVA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Simulador Continuo (Curva Paramétrica)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Ajuste funcional sobre el tarifario para evaluar movimientos no discretos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309" y="5981551"/>
            <a:ext cx="690990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CBD5E1"/>
                </a:solidFill>
                <a:latin typeface="Inter"/>
              </a:rPr>
              <a:t>Permite simular deltas arbitrarios como +25, +35 o +60 bps.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975395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Inter"/>
              </a:rPr>
              <a:t>AJUSTE DE CURVA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318295"/>
            <a:ext cx="72553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Ajuste Paramétrico Continuo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623095"/>
            <a:ext cx="690990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Interpolación funcional sobre los puntos evaluados en el tarifario.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948" y="2673548"/>
            <a:ext cx="494005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ENTRADA (SIMULADOR)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948" y="2892623"/>
            <a:ext cx="494005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Segmento:</a:t>
            </a:r>
            <a:r>
              <a:rPr b="0" sz="1125" i="0" u="none">
                <a:solidFill>
                  <a:srgbClr val="0F172A"/>
                </a:solidFill>
                <a:latin typeface="Inter"/>
              </a:rPr>
              <a:t> Recurrente M-Ticket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948" y="3111698"/>
            <a:ext cx="494005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Cambio de Tasa ($\Delta$):</a:t>
            </a:r>
            <a:r>
              <a:rPr b="0" sz="1125" i="0" u="none">
                <a:solidFill>
                  <a:srgbClr val="0F172A"/>
                </a:solidFill>
                <a:latin typeface="Inter"/>
              </a:rPr>
              <a:t> +35 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948" y="3997523"/>
            <a:ext cx="494005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Inter"/>
              </a:rPr>
              <a:t>RESULTADO ESTIMADO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948" y="4216598"/>
            <a:ext cx="494005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5803D"/>
                </a:solidFill>
                <a:latin typeface="Inter"/>
              </a:rPr>
              <a:t>-2.41%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948" y="4530923"/>
            <a:ext cx="494005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Inter"/>
              </a:rPr>
              <a:t>Impacto proyectado en Efectividad de Conversión.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7648" y="5245298"/>
            <a:ext cx="4378076" cy="3048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45309"/>
                </a:solidFill>
                <a:latin typeface="Inter"/>
              </a:rPr>
              <a:t>Requiere verificar que la relación de deltas sea funcionalmente estimable.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6423"/>
            <a:ext cx="10972800" cy="1619250"/>
          </a:xfrm>
          <a:prstGeom prst="roundRect">
            <a:avLst>
              <a:gd name="adj" fmla="val 7058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626173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626173"/>
            <a:ext cx="38100" cy="628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825948"/>
          <a:ext cx="10953747" cy="1600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85292"/>
                <a:gridCol w="1436489"/>
                <a:gridCol w="1179909"/>
                <a:gridCol w="1397942"/>
                <a:gridCol w="1744265"/>
                <a:gridCol w="1795611"/>
                <a:gridCol w="2014239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ID_CLIENTE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Macroperfil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Tasa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2563EB"/>
                          </a:solidFill>
                          <a:latin typeface="Inter"/>
                        </a:rPr>
                        <a:t>Tasa Óptima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$\Delta$ Óptimo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Propensión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Propensión Óptima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CLI-001928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P1 - M-Ticket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2563EB"/>
                          </a:solidFill>
                          <a:latin typeface="Inter"/>
                        </a:rPr>
                        <a:t>18.85%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047857"/>
                          </a:solidFill>
                          <a:latin typeface="Inter"/>
                        </a:rPr>
                        <a:t>+35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14.2%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13.8%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CLI-004812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P2 - H-Ticket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14.0%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2563EB"/>
                          </a:solidFill>
                          <a:latin typeface="Inter"/>
                        </a:rPr>
                        <a:t>13.50%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B91C1C"/>
                          </a:solidFill>
                          <a:latin typeface="Inter"/>
                        </a:rPr>
                        <a:t>-50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8.5%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11.5%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CLI-009123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P1 - M-Ticket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2563EB"/>
                          </a:solidFill>
                          <a:latin typeface="Inter"/>
                        </a:rPr>
                        <a:t>18.50%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0 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18.0%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18.0%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SALIDA OPERATIVA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Tarificación Dinámica 1 a 1 (Scoring en Vivo)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Evaluación individual cliente a cliente para maximizar margen ($UAI$)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778573"/>
            <a:ext cx="1057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Inter"/>
              </a:rPr>
              <a:t>Limitación Operativa Actual:</a:t>
            </a:r>
            <a:r>
              <a:rPr b="0" sz="1050" i="0" u="none">
                <a:solidFill>
                  <a:srgbClr val="991B1B"/>
                </a:solidFill>
                <a:latin typeface="Inter"/>
              </a:rPr>
              <a:t> Alta complejidad tecnológica al exigir simulaciones individuales cliente a cliente en cada motor de campaña, no siendo factible en el corto plazo.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321248"/>
            <a:ext cx="123825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3321248"/>
            <a:ext cx="14287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ESTRATEGIA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Siembra de Precios (Price Seeding)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Rol técnico vs. Viabilidad operacional en el entorno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359348"/>
            <a:ext cx="1104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Inter"/>
              </a:rPr>
              <a:t>VALOR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02248"/>
            <a:ext cx="62757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Limpieza de Sesgo Histórico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64198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Constituye el estándar metodológico ideal para eliminar el sesgo de endogeneidad en los datos históricos asignando tasas aleatorias controladas.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359348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POSICIONAMIENTO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702248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78350F"/>
                </a:solidFill>
                <a:latin typeface="Inter"/>
              </a:rPr>
              <a:t>Enfoque Complementario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064198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2400E"/>
                </a:solidFill>
                <a:latin typeface="Inter"/>
              </a:rPr>
              <a:t>Debido a la resistencia comercial por impacto en margen o colocación, debe manejarse como un piloto acotado y no como el pilar principal de la estrategia.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HOJA DE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Siguientes Pasos Recomendados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Plan de trabajo priorizado para el desarrollo del módulo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411735"/>
            <a:ext cx="25598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9751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Árboles de 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73735"/>
            <a:ext cx="2143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Probar cortes supervisados por conversión para mejorar la señal en Panel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411735"/>
            <a:ext cx="25598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89751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Modelo WTP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4173735"/>
            <a:ext cx="2143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Estimar modelo de propensión (0/1) para evaluar capacidad predictiva de conversión.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411735"/>
            <a:ext cx="25598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B82F6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89751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Tarifario de Deltas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4173735"/>
            <a:ext cx="2143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Inter"/>
              </a:rPr>
              <a:t>Estructurar el primer entregable operativo en formato de matriz de simulación para Negocio.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411735"/>
            <a:ext cx="25598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897510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Piloto de Siembra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300" y="4173735"/>
            <a:ext cx="2143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Diseñar experiencia acotada en canal digital para calibración continua de modelos.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2203" y="2740372"/>
            <a:ext cx="3607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MÓDULO DE SENSIBILIDAD DE PRECIOS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992" y="3016597"/>
            <a:ext cx="812601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Inter"/>
              </a:rPr>
              <a:t>¿Preguntas o Comentarios?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717577"/>
            <a:ext cx="666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Alineamiento estratégico para los siguientes pasos del equipo de Analytics &amp;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