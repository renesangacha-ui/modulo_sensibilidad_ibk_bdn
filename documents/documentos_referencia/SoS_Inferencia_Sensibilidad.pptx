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3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23"/>
  </p:notesMasterIdLst>
  <p:sldIdLst>
    <p:sldId id="279" r:id="rId3"/>
    <p:sldId id="276" r:id="rId4"/>
    <p:sldId id="27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8" r:id="rId19"/>
    <p:sldId id="272" r:id="rId20"/>
    <p:sldId id="273" r:id="rId21"/>
    <p:sldId id="274" r:id="rId22"/>
  </p:sldIdLst>
  <p:sldSz cx="12192000" cy="6858000"/>
  <p:notesSz cx="6858000" cy="9144000"/>
  <p:custDataLst>
    <p:tags r:id="rId24"/>
  </p:custDataLst>
  <p:defaultTextStyle>
    <a:defPPr>
      <a:defRPr lang="en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B4AD"/>
    <a:srgbClr val="13807B"/>
    <a:srgbClr val="D6E0DE"/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C29D5A-CECE-4C8C-9EA0-BC5D7EE0E9EE}" v="1" dt="2026-10-19T17:05:40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77"/>
    <p:restoredTop sz="92711" autoAdjust="0"/>
  </p:normalViewPr>
  <p:slideViewPr>
    <p:cSldViewPr snapToGrid="0">
      <p:cViewPr varScale="1">
        <p:scale>
          <a:sx n="99" d="100"/>
          <a:sy n="99" d="100"/>
        </p:scale>
        <p:origin x="9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do García Talledo" userId="b3c4d5f43ddbb595" providerId="LiveId" clId="{FE895066-0BE9-4FDA-A255-09B25DA27F97}"/>
    <pc:docChg chg="undo redo custSel addSld delSld modSld sldOrd modMainMaster">
      <pc:chgData name="Guido García Talledo" userId="b3c4d5f43ddbb595" providerId="LiveId" clId="{FE895066-0BE9-4FDA-A255-09B25DA27F97}" dt="2026-10-19T17:07:36.813" v="23082" actId="20577"/>
      <pc:docMkLst>
        <pc:docMk/>
      </pc:docMkLst>
      <pc:sldChg chg="mod modShow">
        <pc:chgData name="Guido García Talledo" userId="b3c4d5f43ddbb595" providerId="LiveId" clId="{FE895066-0BE9-4FDA-A255-09B25DA27F97}" dt="2026-10-08T22:46:48.992" v="781" actId="729"/>
        <pc:sldMkLst>
          <pc:docMk/>
          <pc:sldMk cId="0" sldId="259"/>
        </pc:sldMkLst>
      </pc:sldChg>
      <pc:sldChg chg="modSp mod modNotesTx">
        <pc:chgData name="Guido García Talledo" userId="b3c4d5f43ddbb595" providerId="LiveId" clId="{FE895066-0BE9-4FDA-A255-09B25DA27F97}" dt="2026-10-19T17:07:22.162" v="23081" actId="20577"/>
        <pc:sldMkLst>
          <pc:docMk/>
          <pc:sldMk cId="0" sldId="260"/>
        </pc:sldMkLst>
        <pc:spChg chg="mod">
          <ac:chgData name="Guido García Talledo" userId="b3c4d5f43ddbb595" providerId="LiveId" clId="{FE895066-0BE9-4FDA-A255-09B25DA27F97}" dt="2026-10-19T17:05:58.635" v="23078" actId="20577"/>
          <ac:spMkLst>
            <pc:docMk/>
            <pc:sldMk cId="0" sldId="260"/>
            <ac:spMk id="21" creationId="{00000000-0000-0000-0000-000000000000}"/>
          </ac:spMkLst>
        </pc:spChg>
      </pc:sldChg>
      <pc:sldChg chg="modNotesTx">
        <pc:chgData name="Guido García Talledo" userId="b3c4d5f43ddbb595" providerId="LiveId" clId="{FE895066-0BE9-4FDA-A255-09B25DA27F97}" dt="2026-10-19T17:07:36.813" v="23082" actId="20577"/>
        <pc:sldMkLst>
          <pc:docMk/>
          <pc:sldMk cId="0" sldId="262"/>
        </pc:sldMkLst>
      </pc:sldChg>
      <pc:sldChg chg="addSp delSp modSp mod ord modAnim">
        <pc:chgData name="Guido García Talledo" userId="b3c4d5f43ddbb595" providerId="LiveId" clId="{FE895066-0BE9-4FDA-A255-09B25DA27F97}" dt="2026-10-09T15:00:03.790" v="23043" actId="1076"/>
        <pc:sldMkLst>
          <pc:docMk/>
          <pc:sldMk cId="0" sldId="264"/>
        </pc:sldMkLst>
      </pc:sldChg>
      <pc:sldChg chg="del">
        <pc:chgData name="Guido García Talledo" userId="b3c4d5f43ddbb595" providerId="LiveId" clId="{FE895066-0BE9-4FDA-A255-09B25DA27F97}" dt="2026-10-19T17:05:41.490" v="23077" actId="47"/>
        <pc:sldMkLst>
          <pc:docMk/>
          <pc:sldMk cId="0" sldId="275"/>
        </pc:sldMkLst>
      </pc:sldChg>
      <pc:sldChg chg="add">
        <pc:chgData name="Guido García Talledo" userId="b3c4d5f43ddbb595" providerId="LiveId" clId="{FE895066-0BE9-4FDA-A255-09B25DA27F97}" dt="2026-10-19T17:05:40.040" v="23076"/>
        <pc:sldMkLst>
          <pc:docMk/>
          <pc:sldMk cId="0" sldId="27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invertIfNegative val="1"/>
          <c:cat>
            <c:strRef>
              <c:f>Sheet1!$A$2:$A$4</c:f>
              <c:strCache>
                <c:ptCount val="3"/>
                <c:pt idx="0">
                  <c:v>Desembolsos de la competencia (share relevante)</c:v>
                </c:pt>
                <c:pt idx="1">
                  <c:v>Sin tasa inferida</c:v>
                </c:pt>
                <c:pt idx="2">
                  <c:v>Con tasa inferida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2154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66-4490-811F-6B87EBF9D7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B5552"/>
              </a:solidFill>
            </c:spPr>
            <c:extLst>
              <c:ext xmlns:c16="http://schemas.microsoft.com/office/drawing/2014/chart" uri="{C3380CC4-5D6E-409C-BE32-E72D297353CC}">
                <c16:uniqueId val="{00000002-1B66-4490-811F-6B87EBF9D714}"/>
              </c:ext>
            </c:extLst>
          </c:dPt>
          <c:dPt>
            <c:idx val="1"/>
            <c:invertIfNegative val="1"/>
            <c:bubble3D val="0"/>
            <c:spPr>
              <a:solidFill>
                <a:srgbClr val="E5173F"/>
              </a:solidFill>
            </c:spPr>
            <c:extLst>
              <c:ext xmlns:c16="http://schemas.microsoft.com/office/drawing/2014/chart" uri="{C3380CC4-5D6E-409C-BE32-E72D297353CC}">
                <c16:uniqueId val="{00000004-1B66-4490-811F-6B87EBF9D714}"/>
              </c:ext>
            </c:extLst>
          </c:dPt>
          <c:dPt>
            <c:idx val="2"/>
            <c:invertIfNegative val="1"/>
            <c:bubble3D val="0"/>
            <c:spPr>
              <a:solidFill>
                <a:srgbClr val="13807B"/>
              </a:solidFill>
            </c:spPr>
            <c:extLst>
              <c:ext xmlns:c16="http://schemas.microsoft.com/office/drawing/2014/chart" uri="{C3380CC4-5D6E-409C-BE32-E72D297353CC}">
                <c16:uniqueId val="{00000006-1B66-4490-811F-6B87EBF9D7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FFFFFF"/>
                        </a:solidFill>
                      </a:rPr>
                      <a:t>3,969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1B66-4490-811F-6B87EBF9D7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FFFFFF"/>
                        </a:solidFill>
                      </a:rPr>
                      <a:t>−1,815  (46%)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1B66-4490-811F-6B87EBF9D71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FFFFFF"/>
                        </a:solidFill>
                      </a:rPr>
                      <a:t>2,154  (54%)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1B66-4490-811F-6B87EBF9D71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Desembolsos de la competencia (share relevante)</c:v>
                </c:pt>
                <c:pt idx="1">
                  <c:v>Sin tasa inferida</c:v>
                </c:pt>
                <c:pt idx="2">
                  <c:v>Con tasa inferida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3969</c:v>
                </c:pt>
                <c:pt idx="1">
                  <c:v>1815</c:v>
                </c:pt>
                <c:pt idx="2">
                  <c:v>2154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66-4490-811F-6B87EBF9D7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s-P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 tasa inferida</c:v>
                </c:pt>
              </c:strCache>
            </c:strRef>
          </c:tx>
          <c:spPr>
            <a:solidFill>
              <a:srgbClr val="13807B"/>
            </a:solidFill>
          </c:spPr>
          <c:invertIfNegative val="1"/>
          <c:dLbls>
            <c:dLbl>
              <c:idx val="4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369  (49%)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13A4-4190-BE20-F1F8D98CB99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600  (63%)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3A4-4190-BE20-F1F8D98CB993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474  (53%)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13A4-4190-BE20-F1F8D98CB993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202  (46%)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3A4-4190-BE20-F1F8D98CB993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210  (58%)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13A4-4190-BE20-F1F8D98CB99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Izipay  (51)</c:v>
                </c:pt>
                <c:pt idx="1">
                  <c:v>Nuevo  (226)</c:v>
                </c:pt>
                <c:pt idx="2">
                  <c:v>Próximo  (108)</c:v>
                </c:pt>
                <c:pt idx="3">
                  <c:v>Reactivar  (183)</c:v>
                </c:pt>
                <c:pt idx="4">
                  <c:v>Gran Cuenta  (756)</c:v>
                </c:pt>
                <c:pt idx="5">
                  <c:v>Socio  (947)</c:v>
                </c:pt>
                <c:pt idx="6">
                  <c:v>Maduro  (900)</c:v>
                </c:pt>
                <c:pt idx="7">
                  <c:v>Cuenta Estr.  (436)</c:v>
                </c:pt>
                <c:pt idx="8">
                  <c:v>Ancla  (362)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</c:v>
                </c:pt>
                <c:pt idx="1">
                  <c:v>128</c:v>
                </c:pt>
                <c:pt idx="2">
                  <c:v>51</c:v>
                </c:pt>
                <c:pt idx="3">
                  <c:v>94</c:v>
                </c:pt>
                <c:pt idx="4">
                  <c:v>369</c:v>
                </c:pt>
                <c:pt idx="5">
                  <c:v>600</c:v>
                </c:pt>
                <c:pt idx="6">
                  <c:v>474</c:v>
                </c:pt>
                <c:pt idx="7">
                  <c:v>202</c:v>
                </c:pt>
                <c:pt idx="8">
                  <c:v>210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13A4-4190-BE20-F1F8D98CB9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 tasa inferida</c:v>
                </c:pt>
              </c:strCache>
            </c:strRef>
          </c:tx>
          <c:spPr>
            <a:solidFill>
              <a:srgbClr val="E5173F"/>
            </a:solidFill>
          </c:spPr>
          <c:invertIfNegative val="1"/>
          <c:dLbls>
            <c:dLbl>
              <c:idx val="4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387  (51%)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13A4-4190-BE20-F1F8D98CB99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347  (37%)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13A4-4190-BE20-F1F8D98CB993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426  (47%)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13A4-4190-BE20-F1F8D98CB993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234  (54%)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13A4-4190-BE20-F1F8D98CB993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152  (42%)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13A4-4190-BE20-F1F8D98CB99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Izipay  (51)</c:v>
                </c:pt>
                <c:pt idx="1">
                  <c:v>Nuevo  (226)</c:v>
                </c:pt>
                <c:pt idx="2">
                  <c:v>Próximo  (108)</c:v>
                </c:pt>
                <c:pt idx="3">
                  <c:v>Reactivar  (183)</c:v>
                </c:pt>
                <c:pt idx="4">
                  <c:v>Gran Cuenta  (756)</c:v>
                </c:pt>
                <c:pt idx="5">
                  <c:v>Socio  (947)</c:v>
                </c:pt>
                <c:pt idx="6">
                  <c:v>Maduro  (900)</c:v>
                </c:pt>
                <c:pt idx="7">
                  <c:v>Cuenta Estr.  (436)</c:v>
                </c:pt>
                <c:pt idx="8">
                  <c:v>Ancla  (362)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25</c:v>
                </c:pt>
                <c:pt idx="1">
                  <c:v>98</c:v>
                </c:pt>
                <c:pt idx="2">
                  <c:v>57</c:v>
                </c:pt>
                <c:pt idx="3">
                  <c:v>89</c:v>
                </c:pt>
                <c:pt idx="4">
                  <c:v>387</c:v>
                </c:pt>
                <c:pt idx="5">
                  <c:v>347</c:v>
                </c:pt>
                <c:pt idx="6">
                  <c:v>426</c:v>
                </c:pt>
                <c:pt idx="7">
                  <c:v>234</c:v>
                </c:pt>
                <c:pt idx="8">
                  <c:v>152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B-13A4-4190-BE20-F1F8D98CB99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etiqueta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13807B"/>
                        </a:solidFill>
                      </a:rPr>
                      <a:t>26 (51%)</a:t>
                    </a:r>
                    <a:r>
                      <a:rPr lang="en-US" sz="900" b="1">
                        <a:solidFill>
                          <a:srgbClr val="6E7E7D"/>
                        </a:solidFill>
                      </a:rPr>
                      <a:t>  ·  </a:t>
                    </a:r>
                    <a:r>
                      <a:rPr lang="en-US" sz="900" b="1">
                        <a:solidFill>
                          <a:srgbClr val="E5173F"/>
                        </a:solidFill>
                      </a:rPr>
                      <a:t>25 (49%)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13A4-4190-BE20-F1F8D98CB99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13807B"/>
                        </a:solidFill>
                      </a:rPr>
                      <a:t>128 (57%)</a:t>
                    </a:r>
                    <a:r>
                      <a:rPr lang="en-US" sz="900" b="1">
                        <a:solidFill>
                          <a:srgbClr val="6E7E7D"/>
                        </a:solidFill>
                      </a:rPr>
                      <a:t>  ·  </a:t>
                    </a:r>
                    <a:r>
                      <a:rPr lang="en-US" sz="900" b="1">
                        <a:solidFill>
                          <a:srgbClr val="E5173F"/>
                        </a:solidFill>
                      </a:rPr>
                      <a:t>98 (43%)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13A4-4190-BE20-F1F8D98CB99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13807B"/>
                        </a:solidFill>
                      </a:rPr>
                      <a:t>51 (47%)</a:t>
                    </a:r>
                    <a:r>
                      <a:rPr lang="en-US" sz="900" b="1">
                        <a:solidFill>
                          <a:srgbClr val="6E7E7D"/>
                        </a:solidFill>
                      </a:rPr>
                      <a:t>  ·  </a:t>
                    </a:r>
                    <a:r>
                      <a:rPr lang="en-US" sz="900" b="1">
                        <a:solidFill>
                          <a:srgbClr val="E5173F"/>
                        </a:solidFill>
                      </a:rPr>
                      <a:t>57 (53%)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13A4-4190-BE20-F1F8D98CB99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13807B"/>
                        </a:solidFill>
                      </a:rPr>
                      <a:t>94 (51%)</a:t>
                    </a:r>
                    <a:r>
                      <a:rPr lang="en-US" sz="900" b="1">
                        <a:solidFill>
                          <a:srgbClr val="6E7E7D"/>
                        </a:solidFill>
                      </a:rPr>
                      <a:t>  ·  </a:t>
                    </a:r>
                    <a:r>
                      <a:rPr lang="en-US" sz="900" b="1">
                        <a:solidFill>
                          <a:srgbClr val="E5173F"/>
                        </a:solidFill>
                      </a:rPr>
                      <a:t>89 (49%)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13A4-4190-BE20-F1F8D98CB99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Izipay  (51)</c:v>
                </c:pt>
                <c:pt idx="1">
                  <c:v>Nuevo  (226)</c:v>
                </c:pt>
                <c:pt idx="2">
                  <c:v>Próximo  (108)</c:v>
                </c:pt>
                <c:pt idx="3">
                  <c:v>Reactivar  (183)</c:v>
                </c:pt>
                <c:pt idx="4">
                  <c:v>Gran Cuenta  (756)</c:v>
                </c:pt>
                <c:pt idx="5">
                  <c:v>Socio  (947)</c:v>
                </c:pt>
                <c:pt idx="6">
                  <c:v>Maduro  (900)</c:v>
                </c:pt>
                <c:pt idx="7">
                  <c:v>Cuenta Estr.  (436)</c:v>
                </c:pt>
                <c:pt idx="8">
                  <c:v>Ancla  (362)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426.15000000000003</c:v>
                </c:pt>
                <c:pt idx="1">
                  <c:v>426.15000000000003</c:v>
                </c:pt>
                <c:pt idx="2">
                  <c:v>426.15000000000003</c:v>
                </c:pt>
                <c:pt idx="3">
                  <c:v>426.15000000000003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3A4-4190-BE20-F1F8D98CB9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s-P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65.94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</c:spPr>
          <c:invertIfNegative val="1"/>
          <c:cat>
            <c:strRef>
              <c:f>Sheet1!$A$2:$A$4</c:f>
              <c:strCache>
                <c:ptCount val="3"/>
                <c:pt idx="0">
                  <c:v>Desembolsos de la competencia (share relevante)</c:v>
                </c:pt>
                <c:pt idx="1">
                  <c:v>Sin tasa inferida</c:v>
                </c:pt>
                <c:pt idx="2">
                  <c:v>Con tasa inferida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816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8D-4949-B0A6-569B54D820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B5552"/>
              </a:solidFill>
            </c:spPr>
            <c:extLst>
              <c:ext xmlns:c16="http://schemas.microsoft.com/office/drawing/2014/chart" uri="{C3380CC4-5D6E-409C-BE32-E72D297353CC}">
                <c16:uniqueId val="{00000002-C18D-4949-B0A6-569B54D82084}"/>
              </c:ext>
            </c:extLst>
          </c:dPt>
          <c:dPt>
            <c:idx val="1"/>
            <c:invertIfNegative val="1"/>
            <c:bubble3D val="0"/>
            <c:spPr>
              <a:solidFill>
                <a:srgbClr val="E5173F"/>
              </a:solidFill>
            </c:spPr>
            <c:extLst>
              <c:ext xmlns:c16="http://schemas.microsoft.com/office/drawing/2014/chart" uri="{C3380CC4-5D6E-409C-BE32-E72D297353CC}">
                <c16:uniqueId val="{00000004-C18D-4949-B0A6-569B54D82084}"/>
              </c:ext>
            </c:extLst>
          </c:dPt>
          <c:dPt>
            <c:idx val="2"/>
            <c:invertIfNegative val="1"/>
            <c:bubble3D val="0"/>
            <c:spPr>
              <a:solidFill>
                <a:srgbClr val="13807B"/>
              </a:solidFill>
            </c:spPr>
            <c:extLst>
              <c:ext xmlns:c16="http://schemas.microsoft.com/office/drawing/2014/chart" uri="{C3380CC4-5D6E-409C-BE32-E72D297353CC}">
                <c16:uniqueId val="{00000006-C18D-4949-B0A6-569B54D8208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FFFFFF"/>
                        </a:solidFill>
                      </a:rPr>
                      <a:t>1,860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18D-4949-B0A6-569B54D8208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FFFFFF"/>
                        </a:solidFill>
                      </a:rPr>
                      <a:t>−1,044  (56%)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18D-4949-B0A6-569B54D8208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00" b="1">
                        <a:solidFill>
                          <a:srgbClr val="FFFFFF"/>
                        </a:solidFill>
                      </a:rPr>
                      <a:t>816  (44%)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18D-4949-B0A6-569B54D8208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Desembolsos de la competencia (share relevante)</c:v>
                </c:pt>
                <c:pt idx="1">
                  <c:v>Sin tasa inferida</c:v>
                </c:pt>
                <c:pt idx="2">
                  <c:v>Con tasa inferida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1860</c:v>
                </c:pt>
                <c:pt idx="1">
                  <c:v>1044</c:v>
                </c:pt>
                <c:pt idx="2">
                  <c:v>816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18D-4949-B0A6-569B54D820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s-P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 tasa inferida</c:v>
                </c:pt>
              </c:strCache>
            </c:strRef>
          </c:tx>
          <c:spPr>
            <a:solidFill>
              <a:srgbClr val="13807B"/>
            </a:solidFill>
          </c:spPr>
          <c:invertIfNegative val="1"/>
          <c:dLbls>
            <c:dLbl>
              <c:idx val="4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116  (38%)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592-43E4-8227-A21AE440D84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222  (52%)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592-43E4-8227-A21AE440D84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181  (42%)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592-43E4-8227-A21AE440D84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101  (40%)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592-43E4-8227-A21AE440D84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98  (48%)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92-43E4-8227-A21AE440D84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Izipay  (24)</c:v>
                </c:pt>
                <c:pt idx="1">
                  <c:v>Nuevo  (90)</c:v>
                </c:pt>
                <c:pt idx="2">
                  <c:v>Próximo  (54)</c:v>
                </c:pt>
                <c:pt idx="3">
                  <c:v>Reactivar  (78)</c:v>
                </c:pt>
                <c:pt idx="4">
                  <c:v>Gran Cuenta  (306)</c:v>
                </c:pt>
                <c:pt idx="5">
                  <c:v>Socio  (423)</c:v>
                </c:pt>
                <c:pt idx="6">
                  <c:v>Maduro  (429)</c:v>
                </c:pt>
                <c:pt idx="7">
                  <c:v>Cuenta Estr.  (253)</c:v>
                </c:pt>
                <c:pt idx="8">
                  <c:v>Ancla  (203)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</c:v>
                </c:pt>
                <c:pt idx="1">
                  <c:v>41</c:v>
                </c:pt>
                <c:pt idx="2">
                  <c:v>20</c:v>
                </c:pt>
                <c:pt idx="3">
                  <c:v>30</c:v>
                </c:pt>
                <c:pt idx="4">
                  <c:v>116</c:v>
                </c:pt>
                <c:pt idx="5">
                  <c:v>222</c:v>
                </c:pt>
                <c:pt idx="6">
                  <c:v>181</c:v>
                </c:pt>
                <c:pt idx="7">
                  <c:v>101</c:v>
                </c:pt>
                <c:pt idx="8">
                  <c:v>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5592-43E4-8227-A21AE440D8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Sin tasa inferida</c:v>
                </c:pt>
              </c:strCache>
            </c:strRef>
          </c:tx>
          <c:spPr>
            <a:solidFill>
              <a:srgbClr val="E5173F"/>
            </a:solidFill>
          </c:spPr>
          <c:invertIfNegative val="1"/>
          <c:dLbls>
            <c:dLbl>
              <c:idx val="4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190  (62%)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92-43E4-8227-A21AE440D84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201  (48%)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92-43E4-8227-A21AE440D84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248  (58%)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92-43E4-8227-A21AE440D84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152  (60%)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92-43E4-8227-A21AE440D84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FFFFF"/>
                        </a:solidFill>
                      </a:rPr>
                      <a:t>105  (52%)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92-43E4-8227-A21AE440D84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Izipay  (24)</c:v>
                </c:pt>
                <c:pt idx="1">
                  <c:v>Nuevo  (90)</c:v>
                </c:pt>
                <c:pt idx="2">
                  <c:v>Próximo  (54)</c:v>
                </c:pt>
                <c:pt idx="3">
                  <c:v>Reactivar  (78)</c:v>
                </c:pt>
                <c:pt idx="4">
                  <c:v>Gran Cuenta  (306)</c:v>
                </c:pt>
                <c:pt idx="5">
                  <c:v>Socio  (423)</c:v>
                </c:pt>
                <c:pt idx="6">
                  <c:v>Maduro  (429)</c:v>
                </c:pt>
                <c:pt idx="7">
                  <c:v>Cuenta Estr.  (253)</c:v>
                </c:pt>
                <c:pt idx="8">
                  <c:v>Ancla  (203)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17</c:v>
                </c:pt>
                <c:pt idx="1">
                  <c:v>49</c:v>
                </c:pt>
                <c:pt idx="2">
                  <c:v>34</c:v>
                </c:pt>
                <c:pt idx="3">
                  <c:v>48</c:v>
                </c:pt>
                <c:pt idx="4">
                  <c:v>190</c:v>
                </c:pt>
                <c:pt idx="5">
                  <c:v>201</c:v>
                </c:pt>
                <c:pt idx="6">
                  <c:v>248</c:v>
                </c:pt>
                <c:pt idx="7">
                  <c:v>152</c:v>
                </c:pt>
                <c:pt idx="8">
                  <c:v>105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B-5592-43E4-8227-A21AE440D84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etiqueta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13807B"/>
                        </a:solidFill>
                      </a:rPr>
                      <a:t>7 (29%)</a:t>
                    </a:r>
                    <a:r>
                      <a:rPr lang="en-US" sz="900" b="1">
                        <a:solidFill>
                          <a:srgbClr val="6E7E7D"/>
                        </a:solidFill>
                      </a:rPr>
                      <a:t>  ·  </a:t>
                    </a:r>
                    <a:r>
                      <a:rPr lang="en-US" sz="900" b="1">
                        <a:solidFill>
                          <a:srgbClr val="E5173F"/>
                        </a:solidFill>
                      </a:rPr>
                      <a:t>17 (71%)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5592-43E4-8227-A21AE440D84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13807B"/>
                        </a:solidFill>
                      </a:rPr>
                      <a:t>41 (46%)</a:t>
                    </a:r>
                    <a:r>
                      <a:rPr lang="en-US" sz="900" b="1">
                        <a:solidFill>
                          <a:srgbClr val="6E7E7D"/>
                        </a:solidFill>
                      </a:rPr>
                      <a:t>  ·  </a:t>
                    </a:r>
                    <a:r>
                      <a:rPr lang="en-US" sz="900" b="1">
                        <a:solidFill>
                          <a:srgbClr val="E5173F"/>
                        </a:solidFill>
                      </a:rPr>
                      <a:t>49 (54%)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5592-43E4-8227-A21AE440D84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13807B"/>
                        </a:solidFill>
                      </a:rPr>
                      <a:t>20 (37%)</a:t>
                    </a:r>
                    <a:r>
                      <a:rPr lang="en-US" sz="900" b="1">
                        <a:solidFill>
                          <a:srgbClr val="6E7E7D"/>
                        </a:solidFill>
                      </a:rPr>
                      <a:t>  ·  </a:t>
                    </a:r>
                    <a:r>
                      <a:rPr lang="en-US" sz="900" b="1">
                        <a:solidFill>
                          <a:srgbClr val="E5173F"/>
                        </a:solidFill>
                      </a:rPr>
                      <a:t>34 (63%)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5592-43E4-8227-A21AE440D84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13807B"/>
                        </a:solidFill>
                      </a:rPr>
                      <a:t>30 (38%)</a:t>
                    </a:r>
                    <a:r>
                      <a:rPr lang="en-US" sz="900" b="1">
                        <a:solidFill>
                          <a:srgbClr val="6E7E7D"/>
                        </a:solidFill>
                      </a:rPr>
                      <a:t>  ·  </a:t>
                    </a:r>
                    <a:r>
                      <a:rPr lang="en-US" sz="900" b="1">
                        <a:solidFill>
                          <a:srgbClr val="E5173F"/>
                        </a:solidFill>
                      </a:rPr>
                      <a:t>48 (62%)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5592-43E4-8227-A21AE440D84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Izipay  (24)</c:v>
                </c:pt>
                <c:pt idx="1">
                  <c:v>Nuevo  (90)</c:v>
                </c:pt>
                <c:pt idx="2">
                  <c:v>Próximo  (54)</c:v>
                </c:pt>
                <c:pt idx="3">
                  <c:v>Reactivar  (78)</c:v>
                </c:pt>
                <c:pt idx="4">
                  <c:v>Gran Cuenta  (306)</c:v>
                </c:pt>
                <c:pt idx="5">
                  <c:v>Socio  (423)</c:v>
                </c:pt>
                <c:pt idx="6">
                  <c:v>Maduro  (429)</c:v>
                </c:pt>
                <c:pt idx="7">
                  <c:v>Cuenta Estr.  (253)</c:v>
                </c:pt>
                <c:pt idx="8">
                  <c:v>Ancla  (203)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193.05</c:v>
                </c:pt>
                <c:pt idx="1">
                  <c:v>193.05</c:v>
                </c:pt>
                <c:pt idx="2">
                  <c:v>193.05</c:v>
                </c:pt>
                <c:pt idx="3">
                  <c:v>193.05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5592-43E4-8227-A21AE440D8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s-P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37.58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Hasta S/ 170K</c:v>
                </c:pt>
              </c:strCache>
            </c:strRef>
          </c:tx>
          <c:spPr>
            <a:ln w="25400">
              <a:solidFill>
                <a:srgbClr val="13807B"/>
              </a:solidFill>
            </a:ln>
          </c:spPr>
          <c:marker>
            <c:symbol val="circle"/>
            <c:size val="6"/>
            <c:spPr>
              <a:solidFill>
                <a:srgbClr val="13807B"/>
              </a:solidFill>
              <a:ln>
                <a:solidFill>
                  <a:srgbClr val="13807B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91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3DA-4825-B13E-341341D93B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92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3DA-4825-B13E-341341D93B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93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3DA-4825-B13E-341341D93B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90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3DA-4825-B13E-341341D93B6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83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3DA-4825-B13E-341341D93B6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90.80405311208213</c:v>
                </c:pt>
                <c:pt idx="1">
                  <c:v>91.754548532081301</c:v>
                </c:pt>
                <c:pt idx="2">
                  <c:v>92.654718415416241</c:v>
                </c:pt>
                <c:pt idx="3">
                  <c:v>90.488986221259324</c:v>
                </c:pt>
                <c:pt idx="4">
                  <c:v>82.570948723437766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3DA-4825-B13E-341341D93B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Más de S/ 350K</c:v>
                </c:pt>
              </c:strCache>
            </c:strRef>
          </c:tx>
          <c:spPr>
            <a:ln w="25400">
              <a:solidFill>
                <a:srgbClr val="E5173F"/>
              </a:solidFill>
            </a:ln>
          </c:spPr>
          <c:marker>
            <c:symbol val="circle"/>
            <c:size val="6"/>
            <c:spPr>
              <a:solidFill>
                <a:srgbClr val="E5173F"/>
              </a:solidFill>
              <a:ln>
                <a:solidFill>
                  <a:srgbClr val="E5173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82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3DA-4825-B13E-341341D93B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67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3DA-4825-B13E-341341D93B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60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3DA-4825-B13E-341341D93B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50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D3DA-4825-B13E-341341D93B6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41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3DA-4825-B13E-341341D93B6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81.822200761813718</c:v>
                </c:pt>
                <c:pt idx="1">
                  <c:v>66.524915361075529</c:v>
                </c:pt>
                <c:pt idx="2">
                  <c:v>59.644541438912775</c:v>
                </c:pt>
                <c:pt idx="3">
                  <c:v>50.455532485871572</c:v>
                </c:pt>
                <c:pt idx="4">
                  <c:v>41.290161502254151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D3DA-4825-B13E-341341D93B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25400">
              <a:solidFill>
                <a:srgbClr val="555555"/>
              </a:solidFill>
              <a:prstDash val="dash"/>
            </a:ln>
          </c:spPr>
          <c:marker>
            <c:symbol val="triangle"/>
            <c:size val="6"/>
            <c:spPr>
              <a:solidFill>
                <a:srgbClr val="555555"/>
              </a:solidFill>
              <a:ln>
                <a:solidFill>
                  <a:srgbClr val="555555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84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D3DA-4825-B13E-341341D93B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75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D3DA-4825-B13E-341341D93B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75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D3DA-4825-B13E-341341D93B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66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D3DA-4825-B13E-341341D93B6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54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D3DA-4825-B13E-341341D93B6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83.601795646038809</c:v>
                </c:pt>
                <c:pt idx="1">
                  <c:v>75.232729747149236</c:v>
                </c:pt>
                <c:pt idx="2">
                  <c:v>75.497706548022137</c:v>
                </c:pt>
                <c:pt idx="3">
                  <c:v>65.863715757869585</c:v>
                </c:pt>
                <c:pt idx="4">
                  <c:v>54.337147576970949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D3DA-4825-B13E-341341D93B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1"/>
          <c:min val="33"/>
        </c:scaling>
        <c:delete val="1"/>
        <c:axPos val="l"/>
        <c:numFmt formatCode="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4000000000000001"/>
          <c:w val="0.96"/>
          <c:h val="0.7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solidFill>
              <a:srgbClr val="8E9B9A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19,0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BFB-43CB-BE7B-7329AE0F4D4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19,0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BFB-43CB-BE7B-7329AE0F4D4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≤ 170K</c:v>
                </c:pt>
                <c:pt idx="1">
                  <c:v>&gt; 350K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FB-43CB-BE7B-7329AE0F4D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solidFill>
              <a:srgbClr val="2F6FDE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18,0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BFB-43CB-BE7B-7329AE0F4D4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17,0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BFB-43CB-BE7B-7329AE0F4D4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≤ 170K</c:v>
                </c:pt>
                <c:pt idx="1">
                  <c:v>&gt; 350K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BFB-43CB-BE7B-7329AE0F4D4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</c:v>
                </c:pt>
              </c:strCache>
            </c:strRef>
          </c:tx>
          <c:spPr>
            <a:solidFill>
              <a:srgbClr val="F28C28"/>
            </a:solidFill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28C28"/>
                        </a:solidFill>
                      </a:rPr>
                      <a:t>16,0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BFB-43CB-BE7B-7329AE0F4D4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≤ 170K</c:v>
                </c:pt>
                <c:pt idx="1">
                  <c:v>&gt; 350K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1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BFB-43CB-BE7B-7329AE0F4D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1"/>
          <c:min val="12"/>
        </c:scaling>
        <c:delete val="1"/>
        <c:axPos val="l"/>
        <c:numFmt formatCode="0.0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CC3F-4A60-ADFC-36B14327B97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C3F-4A60-ADFC-36B14327B97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C3F-4A60-ADFC-36B14327B97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C3F-4A60-ADFC-36B14327B97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C3F-4A60-ADFC-36B14327B97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21.392697923281155</c:v>
                </c:pt>
                <c:pt idx="1">
                  <c:v>20.736747041354551</c:v>
                </c:pt>
                <c:pt idx="2">
                  <c:v>19.999746680261211</c:v>
                </c:pt>
                <c:pt idx="3">
                  <c:v>21.144435725825062</c:v>
                </c:pt>
                <c:pt idx="4">
                  <c:v>20.781900008116224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CC3F-4A60-ADFC-36B14327B9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17,9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C3F-4A60-ADFC-36B14327B97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18,5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CC3F-4A60-ADFC-36B14327B97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CC3F-4A60-ADFC-36B14327B97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CC3F-4A60-ADFC-36B14327B97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18,6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CC3F-4A60-ADFC-36B14327B97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17.882415341798431</c:v>
                </c:pt>
                <c:pt idx="1">
                  <c:v>18.543353190535459</c:v>
                </c:pt>
                <c:pt idx="2">
                  <c:v>18.239690519283759</c:v>
                </c:pt>
                <c:pt idx="3">
                  <c:v>17.756532111691055</c:v>
                </c:pt>
                <c:pt idx="4">
                  <c:v>18.616453746112331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CC3F-4A60-ADFC-36B14327B9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3"/>
          <c:min val="15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295-44FE-AC1B-3C6D40E0ECE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295-44FE-AC1B-3C6D40E0ECE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18,8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295-44FE-AC1B-3C6D40E0ECE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18,9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295-44FE-AC1B-3C6D40E0ECE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295-44FE-AC1B-3C6D40E0EC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19.866428571428571</c:v>
                </c:pt>
                <c:pt idx="1">
                  <c:v>19.640625</c:v>
                </c:pt>
                <c:pt idx="2">
                  <c:v>18.81258064516129</c:v>
                </c:pt>
                <c:pt idx="3">
                  <c:v>18.867247300771208</c:v>
                </c:pt>
                <c:pt idx="4">
                  <c:v>19.930382352941177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295-44FE-AC1B-3C6D40E0EC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295-44FE-AC1B-3C6D40E0ECE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295-44FE-AC1B-3C6D40E0ECE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295-44FE-AC1B-3C6D40E0ECE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295-44FE-AC1B-3C6D40E0ECE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6295-44FE-AC1B-3C6D40E0EC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16.991658323837065</c:v>
                </c:pt>
                <c:pt idx="1">
                  <c:v>17.335492544610119</c:v>
                </c:pt>
                <c:pt idx="2">
                  <c:v>17.768822846575816</c:v>
                </c:pt>
                <c:pt idx="3">
                  <c:v>17.28735793640659</c:v>
                </c:pt>
                <c:pt idx="4">
                  <c:v>17.189079592606564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6295-44FE-AC1B-3C6D40E0EC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1"/>
          <c:min val="14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Hasta S/ 170K</c:v>
                </c:pt>
              </c:strCache>
            </c:strRef>
          </c:tx>
          <c:spPr>
            <a:ln w="25400">
              <a:solidFill>
                <a:srgbClr val="13807B"/>
              </a:solidFill>
            </a:ln>
          </c:spPr>
          <c:marker>
            <c:symbol val="circle"/>
            <c:size val="6"/>
            <c:spPr>
              <a:solidFill>
                <a:srgbClr val="13807B"/>
              </a:solidFill>
              <a:ln>
                <a:solidFill>
                  <a:srgbClr val="13807B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89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D2F-4919-9C93-E5A9E5F5D24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91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D2F-4919-9C93-E5A9E5F5D24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88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D2F-4919-9C93-E5A9E5F5D24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92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D2F-4919-9C93-E5A9E5F5D24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78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D2F-4919-9C93-E5A9E5F5D2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88.754087971967849</c:v>
                </c:pt>
                <c:pt idx="1">
                  <c:v>91.442354399938097</c:v>
                </c:pt>
                <c:pt idx="2">
                  <c:v>87.504106485218131</c:v>
                </c:pt>
                <c:pt idx="3">
                  <c:v>91.751781103433714</c:v>
                </c:pt>
                <c:pt idx="4">
                  <c:v>78.115448557583591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D2F-4919-9C93-E5A9E5F5D2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Más de S/ 350K</c:v>
                </c:pt>
              </c:strCache>
            </c:strRef>
          </c:tx>
          <c:spPr>
            <a:ln w="25400">
              <a:solidFill>
                <a:srgbClr val="E5173F"/>
              </a:solidFill>
            </a:ln>
          </c:spPr>
          <c:marker>
            <c:symbol val="circle"/>
            <c:size val="6"/>
            <c:spPr>
              <a:solidFill>
                <a:srgbClr val="E5173F"/>
              </a:solidFill>
              <a:ln>
                <a:solidFill>
                  <a:srgbClr val="E5173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79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D2F-4919-9C93-E5A9E5F5D24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67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D2F-4919-9C93-E5A9E5F5D24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60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4D2F-4919-9C93-E5A9E5F5D24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57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4D2F-4919-9C93-E5A9E5F5D24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41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4D2F-4919-9C93-E5A9E5F5D2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79.407202314881459</c:v>
                </c:pt>
                <c:pt idx="1">
                  <c:v>66.705752397988363</c:v>
                </c:pt>
                <c:pt idx="2">
                  <c:v>60.158380709042554</c:v>
                </c:pt>
                <c:pt idx="3">
                  <c:v>56.621712527390798</c:v>
                </c:pt>
                <c:pt idx="4">
                  <c:v>40.881476767302338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4D2F-4919-9C93-E5A9E5F5D2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25400">
              <a:solidFill>
                <a:srgbClr val="555555"/>
              </a:solidFill>
              <a:prstDash val="dash"/>
            </a:ln>
          </c:spPr>
          <c:marker>
            <c:symbol val="triangle"/>
            <c:size val="6"/>
            <c:spPr>
              <a:solidFill>
                <a:srgbClr val="555555"/>
              </a:solidFill>
              <a:ln>
                <a:solidFill>
                  <a:srgbClr val="555555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81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4D2F-4919-9C93-E5A9E5F5D24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76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4D2F-4919-9C93-E5A9E5F5D24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67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4D2F-4919-9C93-E5A9E5F5D24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68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4D2F-4919-9C93-E5A9E5F5D24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51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4D2F-4919-9C93-E5A9E5F5D2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81.254816857897765</c:v>
                </c:pt>
                <c:pt idx="1">
                  <c:v>76.188777489262279</c:v>
                </c:pt>
                <c:pt idx="2">
                  <c:v>66.90047635901422</c:v>
                </c:pt>
                <c:pt idx="3">
                  <c:v>67.756542633559675</c:v>
                </c:pt>
                <c:pt idx="4">
                  <c:v>50.916878474256279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4D2F-4919-9C93-E5A9E5F5D2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33"/>
        </c:scaling>
        <c:delete val="1"/>
        <c:axPos val="l"/>
        <c:numFmt formatCode="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4000000000000001"/>
          <c:w val="0.96"/>
          <c:h val="0.7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solidFill>
              <a:srgbClr val="8E9B9A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19,0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1F3F-4CB8-95E0-4A76C0610F2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19,0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F3F-4CB8-95E0-4A76C0610F2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≤ 170K</c:v>
                </c:pt>
                <c:pt idx="1">
                  <c:v>&gt; 350K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3F-4CB8-95E0-4A76C0610F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solidFill>
              <a:srgbClr val="2F6FDE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18,0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F3F-4CB8-95E0-4A76C0610F2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16,8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1F3F-4CB8-95E0-4A76C0610F2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≤ 170K</c:v>
                </c:pt>
                <c:pt idx="1">
                  <c:v>&gt; 350K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</c:v>
                </c:pt>
                <c:pt idx="1">
                  <c:v>16.8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F3F-4CB8-95E0-4A76C0610F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</c:v>
                </c:pt>
              </c:strCache>
            </c:strRef>
          </c:tx>
          <c:spPr>
            <a:solidFill>
              <a:srgbClr val="F28C28"/>
            </a:solidFill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28C28"/>
                        </a:solidFill>
                      </a:rPr>
                      <a:t>15,0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1F3F-4CB8-95E0-4A76C0610F2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≤ 170K</c:v>
                </c:pt>
                <c:pt idx="1">
                  <c:v>&gt; 350K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F3F-4CB8-95E0-4A76C0610F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1"/>
          <c:min val="11"/>
        </c:scaling>
        <c:delete val="1"/>
        <c:axPos val="l"/>
        <c:numFmt formatCode="0.0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DE5-4FC8-9744-F6399B077DE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DE5-4FC8-9744-F6399B077DE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DE5-4FC8-9744-F6399B077DE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DE5-4FC8-9744-F6399B077DE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DE5-4FC8-9744-F6399B077DE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21.460659854310158</c:v>
                </c:pt>
                <c:pt idx="1">
                  <c:v>21.427364488616337</c:v>
                </c:pt>
                <c:pt idx="2">
                  <c:v>20.582862575954071</c:v>
                </c:pt>
                <c:pt idx="3">
                  <c:v>21.10824073749108</c:v>
                </c:pt>
                <c:pt idx="4">
                  <c:v>21.495397308961664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DE5-4FC8-9744-F6399B077DE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DE5-4FC8-9744-F6399B077DE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17,9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DE5-4FC8-9744-F6399B077DE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DE5-4FC8-9744-F6399B077DE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DDE5-4FC8-9744-F6399B077DE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19,5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DE5-4FC8-9744-F6399B077DE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18.137230385139762</c:v>
                </c:pt>
                <c:pt idx="1">
                  <c:v>17.910224951201332</c:v>
                </c:pt>
                <c:pt idx="2">
                  <c:v>17.721704215904197</c:v>
                </c:pt>
                <c:pt idx="3">
                  <c:v>17.847964268360585</c:v>
                </c:pt>
                <c:pt idx="4">
                  <c:v>19.454362110641771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DDE5-4FC8-9744-F6399B077D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3"/>
          <c:min val="15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062-4A01-BF5F-702571C6FB2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062-4A01-BF5F-702571C6FB2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18,9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062-4A01-BF5F-702571C6FB2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18,8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062-4A01-BF5F-702571C6FB2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062-4A01-BF5F-702571C6FB2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20.881599729386213</c:v>
                </c:pt>
                <c:pt idx="1">
                  <c:v>19.811618010602732</c:v>
                </c:pt>
                <c:pt idx="2">
                  <c:v>18.903209876543208</c:v>
                </c:pt>
                <c:pt idx="3">
                  <c:v>18.847511562107851</c:v>
                </c:pt>
                <c:pt idx="4">
                  <c:v>19.128128159482404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062-4A01-BF5F-702571C6FB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062-4A01-BF5F-702571C6FB2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16,8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062-4A01-BF5F-702571C6FB2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16,9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3062-4A01-BF5F-702571C6FB2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16,2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062-4A01-BF5F-702571C6FB2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16,7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062-4A01-BF5F-702571C6FB2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17.012287266457104</c:v>
                </c:pt>
                <c:pt idx="1">
                  <c:v>16.83211769536836</c:v>
                </c:pt>
                <c:pt idx="2">
                  <c:v>16.906506281814305</c:v>
                </c:pt>
                <c:pt idx="3">
                  <c:v>16.205658347798789</c:v>
                </c:pt>
                <c:pt idx="4">
                  <c:v>16.714578074046052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3062-4A01-BF5F-702571C6FB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2"/>
          <c:min val="14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Más de S/ 350K</c:v>
                </c:pt>
              </c:strCache>
            </c:strRef>
          </c:tx>
          <c:spPr>
            <a:ln w="25400">
              <a:solidFill>
                <a:srgbClr val="13807B"/>
              </a:solidFill>
            </a:ln>
          </c:spPr>
          <c:marker>
            <c:symbol val="circle"/>
            <c:size val="6"/>
            <c:spPr>
              <a:solidFill>
                <a:srgbClr val="13807B"/>
              </a:solidFill>
              <a:ln>
                <a:solidFill>
                  <a:srgbClr val="13807B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73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2A4-41F6-9F49-580EF4202C0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56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2A4-41F6-9F49-580EF4202C0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51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2A4-41F6-9F49-580EF4202C0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46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2A4-41F6-9F49-580EF4202C0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42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2A4-41F6-9F49-580EF4202C0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73.410260318407524</c:v>
                </c:pt>
                <c:pt idx="1">
                  <c:v>56.101258286805646</c:v>
                </c:pt>
                <c:pt idx="2">
                  <c:v>51.300050051458776</c:v>
                </c:pt>
                <c:pt idx="3">
                  <c:v>45.525192430050744</c:v>
                </c:pt>
                <c:pt idx="4">
                  <c:v>41.887152786968826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2A4-41F6-9F49-580EF4202C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S/ 250–350K</c:v>
                </c:pt>
              </c:strCache>
            </c:strRef>
          </c:tx>
          <c:spPr>
            <a:ln w="25400">
              <a:solidFill>
                <a:srgbClr val="E5173F"/>
              </a:solidFill>
            </a:ln>
          </c:spPr>
          <c:marker>
            <c:symbol val="circle"/>
            <c:size val="6"/>
            <c:spPr>
              <a:solidFill>
                <a:srgbClr val="E5173F"/>
              </a:solidFill>
              <a:ln>
                <a:solidFill>
                  <a:srgbClr val="E5173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62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2A4-41F6-9F49-580EF4202C0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45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2A4-41F6-9F49-580EF4202C0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22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2A4-41F6-9F49-580EF4202C0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21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2A4-41F6-9F49-580EF4202C0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25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2A4-41F6-9F49-580EF4202C0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61.686857760757086</c:v>
                </c:pt>
                <c:pt idx="1">
                  <c:v>44.993880003956278</c:v>
                </c:pt>
                <c:pt idx="2">
                  <c:v>21.69591339176273</c:v>
                </c:pt>
                <c:pt idx="3">
                  <c:v>21.289084542529697</c:v>
                </c:pt>
                <c:pt idx="4">
                  <c:v>25.179176895958285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22A4-41F6-9F49-580EF4202C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25400">
              <a:solidFill>
                <a:srgbClr val="555555"/>
              </a:solidFill>
              <a:prstDash val="dash"/>
            </a:ln>
          </c:spPr>
          <c:marker>
            <c:symbol val="triangle"/>
            <c:size val="6"/>
            <c:spPr>
              <a:solidFill>
                <a:srgbClr val="555555"/>
              </a:solidFill>
              <a:ln>
                <a:solidFill>
                  <a:srgbClr val="555555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68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22A4-41F6-9F49-580EF4202C0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60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22A4-41F6-9F49-580EF4202C0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45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22A4-41F6-9F49-580EF4202C0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40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22A4-41F6-9F49-580EF4202C0E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36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22A4-41F6-9F49-580EF4202C0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68.200270482638771</c:v>
                </c:pt>
                <c:pt idx="1">
                  <c:v>59.677304526714586</c:v>
                </c:pt>
                <c:pt idx="2">
                  <c:v>45.444046653019271</c:v>
                </c:pt>
                <c:pt idx="3">
                  <c:v>39.61592189069313</c:v>
                </c:pt>
                <c:pt idx="4">
                  <c:v>36.169221825945954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22A4-41F6-9F49-580EF4202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82"/>
          <c:min val="13"/>
        </c:scaling>
        <c:delete val="1"/>
        <c:axPos val="l"/>
        <c:numFmt formatCode="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4000000000000001"/>
          <c:w val="0.96"/>
          <c:h val="0.7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solidFill>
              <a:srgbClr val="8E9B9A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19,0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C98-4609-9DEA-B1D2BC99073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19,1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C98-4609-9DEA-B1D2BC99073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&gt; 350K</c:v>
                </c:pt>
                <c:pt idx="1">
                  <c:v>250–350K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19.149999999999999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98-4609-9DEA-B1D2BC99073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solidFill>
              <a:srgbClr val="2F6FDE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16,0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C98-4609-9DEA-B1D2BC99073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17,0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C98-4609-9DEA-B1D2BC99073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&gt; 350K</c:v>
                </c:pt>
                <c:pt idx="1">
                  <c:v>250–350K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C98-4609-9DEA-B1D2BC99073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</c:v>
                </c:pt>
              </c:strCache>
            </c:strRef>
          </c:tx>
          <c:spPr>
            <a:solidFill>
              <a:srgbClr val="F28C28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28C28"/>
                        </a:solidFill>
                      </a:rPr>
                      <a:t>15,7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C98-4609-9DEA-B1D2BC99073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28C28"/>
                        </a:solidFill>
                      </a:rPr>
                      <a:t>15,8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C98-4609-9DEA-B1D2BC99073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&gt; 350K</c:v>
                </c:pt>
                <c:pt idx="1">
                  <c:v>250–350K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15.7</c:v>
                </c:pt>
                <c:pt idx="1">
                  <c:v>15.8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C98-4609-9DEA-B1D2BC9907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1"/>
          <c:min val="11"/>
        </c:scaling>
        <c:delete val="1"/>
        <c:axPos val="l"/>
        <c:numFmt formatCode="0.0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2DB-483D-AC3D-3D60290CF74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2DB-483D-AC3D-3D60290CF74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2DB-483D-AC3D-3D60290CF74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2DB-483D-AC3D-3D60290CF74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2DB-483D-AC3D-3D60290CF74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20.647098265485994</c:v>
                </c:pt>
                <c:pt idx="1">
                  <c:v>19.144469386890712</c:v>
                </c:pt>
                <c:pt idx="2">
                  <c:v>18.989583333333332</c:v>
                </c:pt>
                <c:pt idx="3">
                  <c:v>19.561873256315248</c:v>
                </c:pt>
                <c:pt idx="4">
                  <c:v>20.094556243550052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62DB-483D-AC3D-3D60290CF7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2DB-483D-AC3D-3D60290CF74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16,6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2DB-483D-AC3D-3D60290CF74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2DB-483D-AC3D-3D60290CF74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16,3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62DB-483D-AC3D-3D60290CF74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16,9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62DB-483D-AC3D-3D60290CF74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17.435924400626252</c:v>
                </c:pt>
                <c:pt idx="1">
                  <c:v>16.605057313668038</c:v>
                </c:pt>
                <c:pt idx="2">
                  <c:v>16.965286761535143</c:v>
                </c:pt>
                <c:pt idx="3">
                  <c:v>16.3359749059682</c:v>
                </c:pt>
                <c:pt idx="4">
                  <c:v>16.91789106469006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62DB-483D-AC3D-3D60290CF7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2"/>
          <c:min val="14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E4C-4DB4-B47E-5B22FD3734E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E4C-4DB4-B47E-5B22FD3734E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E4C-4DB4-B47E-5B22FD3734E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E4C-4DB4-B47E-5B22FD3734E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E4C-4DB4-B47E-5B22FD3734E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20.891070251477121</c:v>
                </c:pt>
                <c:pt idx="1">
                  <c:v>20.293667462036659</c:v>
                </c:pt>
                <c:pt idx="2">
                  <c:v>19.108036644861972</c:v>
                </c:pt>
                <c:pt idx="3">
                  <c:v>20.774541387024609</c:v>
                </c:pt>
                <c:pt idx="4">
                  <c:v>19.980131578947368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2E4C-4DB4-B47E-5B22FD3734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17,9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E4C-4DB4-B47E-5B22FD3734E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E4C-4DB4-B47E-5B22FD3734E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E4C-4DB4-B47E-5B22FD3734E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16,8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E4C-4DB4-B47E-5B22FD3734E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16,6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E4C-4DB4-B47E-5B22FD3734E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17.925455256465526</c:v>
                </c:pt>
                <c:pt idx="1">
                  <c:v>17.806558529112834</c:v>
                </c:pt>
                <c:pt idx="2">
                  <c:v>17.423079524206894</c:v>
                </c:pt>
                <c:pt idx="3">
                  <c:v>16.847916205797269</c:v>
                </c:pt>
                <c:pt idx="4">
                  <c:v>16.587739032620924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2E4C-4DB4-B47E-5B22FD3734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2"/>
          <c:min val="14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Pasivos ≥ S/ 5K</c:v>
                </c:pt>
              </c:strCache>
            </c:strRef>
          </c:tx>
          <c:spPr>
            <a:ln w="25400">
              <a:solidFill>
                <a:srgbClr val="13807B"/>
              </a:solidFill>
            </a:ln>
          </c:spPr>
          <c:marker>
            <c:symbol val="circle"/>
            <c:size val="6"/>
            <c:spPr>
              <a:solidFill>
                <a:srgbClr val="13807B"/>
              </a:solidFill>
              <a:ln>
                <a:solidFill>
                  <a:srgbClr val="13807B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70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89D-4272-A05D-0828A1FD5EF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46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89D-4272-A05D-0828A1FD5EF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35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89D-4272-A05D-0828A1FD5EF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40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89D-4272-A05D-0828A1FD5EF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40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89D-4272-A05D-0828A1FD5EF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69.694409917352033</c:v>
                </c:pt>
                <c:pt idx="1">
                  <c:v>46.112751330358947</c:v>
                </c:pt>
                <c:pt idx="2">
                  <c:v>35.481141506804441</c:v>
                </c:pt>
                <c:pt idx="3">
                  <c:v>39.695120258391462</c:v>
                </c:pt>
                <c:pt idx="4">
                  <c:v>40.005719110216845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489D-4272-A05D-0828A1FD5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 &lt; S/ 1K</c:v>
                </c:pt>
              </c:strCache>
            </c:strRef>
          </c:tx>
          <c:spPr>
            <a:ln w="25400">
              <a:solidFill>
                <a:srgbClr val="E5173F"/>
              </a:solidFill>
            </a:ln>
          </c:spPr>
          <c:marker>
            <c:symbol val="circle"/>
            <c:size val="6"/>
            <c:spPr>
              <a:solidFill>
                <a:srgbClr val="E5173F"/>
              </a:solidFill>
              <a:ln>
                <a:solidFill>
                  <a:srgbClr val="E5173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51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89D-4272-A05D-0828A1FD5EF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29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89D-4272-A05D-0828A1FD5EF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34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489D-4272-A05D-0828A1FD5EF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22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489D-4272-A05D-0828A1FD5EF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9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489D-4272-A05D-0828A1FD5EF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50.981249823172824</c:v>
                </c:pt>
                <c:pt idx="1">
                  <c:v>29.333063577931945</c:v>
                </c:pt>
                <c:pt idx="2">
                  <c:v>33.721382346608664</c:v>
                </c:pt>
                <c:pt idx="3">
                  <c:v>21.857098031300868</c:v>
                </c:pt>
                <c:pt idx="4">
                  <c:v>9.4237235410960558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489D-4272-A05D-0828A1FD5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25400">
              <a:solidFill>
                <a:srgbClr val="555555"/>
              </a:solidFill>
              <a:prstDash val="dash"/>
            </a:ln>
          </c:spPr>
          <c:marker>
            <c:symbol val="triangle"/>
            <c:size val="6"/>
            <c:spPr>
              <a:solidFill>
                <a:srgbClr val="555555"/>
              </a:solidFill>
              <a:ln>
                <a:solidFill>
                  <a:srgbClr val="555555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62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489D-4272-A05D-0828A1FD5EF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41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489D-4272-A05D-0828A1FD5EF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38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489D-4272-A05D-0828A1FD5EF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28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489D-4272-A05D-0828A1FD5EF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28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489D-4272-A05D-0828A1FD5EF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62.24352680664844</c:v>
                </c:pt>
                <c:pt idx="1">
                  <c:v>41.085219811336138</c:v>
                </c:pt>
                <c:pt idx="2">
                  <c:v>37.748984974685833</c:v>
                </c:pt>
                <c:pt idx="3">
                  <c:v>28.425816305672573</c:v>
                </c:pt>
                <c:pt idx="4">
                  <c:v>28.461621180028175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489D-4272-A05D-0828A1FD5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79"/>
          <c:min val="0"/>
        </c:scaling>
        <c:delete val="1"/>
        <c:axPos val="l"/>
        <c:numFmt formatCode="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4000000000000001"/>
          <c:w val="0.96"/>
          <c:h val="0.7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solidFill>
              <a:srgbClr val="8E9B9A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19,0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BD6-4BD8-BFA7-37A3BDC433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19,8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BD6-4BD8-BFA7-37A3BDC433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Pasivos ≥ 5K</c:v>
                </c:pt>
                <c:pt idx="1">
                  <c:v>Pasivos &lt; 1K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19.809999999999999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BD6-4BD8-BFA7-37A3BDC433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solidFill>
              <a:srgbClr val="2F6FDE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18,0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BD6-4BD8-BFA7-37A3BDC433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18,0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BD6-4BD8-BFA7-37A3BDC433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Pasivos ≥ 5K</c:v>
                </c:pt>
                <c:pt idx="1">
                  <c:v>Pasivos &lt; 1K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BD6-4BD8-BFA7-37A3BDC433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</c:v>
                </c:pt>
              </c:strCache>
            </c:strRef>
          </c:tx>
          <c:spPr>
            <a:solidFill>
              <a:srgbClr val="F28C28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28C28"/>
                        </a:solidFill>
                      </a:rPr>
                      <a:t>18,0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BD6-4BD8-BFA7-37A3BDC433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28C28"/>
                        </a:solidFill>
                      </a:rPr>
                      <a:t>18,0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BD6-4BD8-BFA7-37A3BDC433C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Pasivos ≥ 5K</c:v>
                </c:pt>
                <c:pt idx="1">
                  <c:v>Pasivos &lt; 1K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18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BD6-4BD8-BFA7-37A3BDC433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1"/>
          <c:min val="14"/>
        </c:scaling>
        <c:delete val="1"/>
        <c:axPos val="l"/>
        <c:numFmt formatCode="0.0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157-4163-8595-BCDE5ECC77A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157-4163-8595-BCDE5ECC77A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157-4163-8595-BCDE5ECC77A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157-4163-8595-BCDE5ECC77A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157-4163-8595-BCDE5ECC77A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21.610270282226143</c:v>
                </c:pt>
                <c:pt idx="1">
                  <c:v>21.002946038864831</c:v>
                </c:pt>
                <c:pt idx="2">
                  <c:v>19.741415845660974</c:v>
                </c:pt>
                <c:pt idx="3">
                  <c:v>19.473056257613475</c:v>
                </c:pt>
                <c:pt idx="4">
                  <c:v>20.014467269360637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157-4163-8595-BCDE5ECC77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157-4163-8595-BCDE5ECC77A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18,6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157-4163-8595-BCDE5ECC77A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0157-4163-8595-BCDE5ECC77A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157-4163-8595-BCDE5ECC77A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0157-4163-8595-BCDE5ECC77A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18.346454910512076</c:v>
                </c:pt>
                <c:pt idx="1">
                  <c:v>18.616720315732962</c:v>
                </c:pt>
                <c:pt idx="2">
                  <c:v>17.797445091110173</c:v>
                </c:pt>
                <c:pt idx="3">
                  <c:v>17.180621446048221</c:v>
                </c:pt>
                <c:pt idx="4">
                  <c:v>18.795895985755898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0157-4163-8595-BCDE5ECC77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3"/>
          <c:min val="15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CB7-440A-8D55-23D75377A39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CB7-440A-8D55-23D75377A39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CB7-440A-8D55-23D75377A39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CB7-440A-8D55-23D75377A39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CB7-440A-8D55-23D75377A39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21.034405385190727</c:v>
                </c:pt>
                <c:pt idx="1">
                  <c:v>21.327407090460113</c:v>
                </c:pt>
                <c:pt idx="2">
                  <c:v>20.371150210084032</c:v>
                </c:pt>
                <c:pt idx="3">
                  <c:v>20.74582854819419</c:v>
                </c:pt>
                <c:pt idx="4">
                  <c:v>20.97326953650483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CB7-440A-8D55-23D75377A3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CB7-440A-8D55-23D75377A39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CB7-440A-8D55-23D75377A39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0CB7-440A-8D55-23D75377A39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CB7-440A-8D55-23D75377A39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0CB7-440A-8D55-23D75377A39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18.316709021384561</c:v>
                </c:pt>
                <c:pt idx="1">
                  <c:v>18.404114595524931</c:v>
                </c:pt>
                <c:pt idx="2">
                  <c:v>18.829160891590263</c:v>
                </c:pt>
                <c:pt idx="3">
                  <c:v>17.729812868495259</c:v>
                </c:pt>
                <c:pt idx="4">
                  <c:v>17.735029940119759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0CB7-440A-8D55-23D75377A3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3"/>
          <c:min val="15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SSFF ≤ S/ 1,5MM</c:v>
                </c:pt>
              </c:strCache>
            </c:strRef>
          </c:tx>
          <c:spPr>
            <a:ln w="25400">
              <a:solidFill>
                <a:srgbClr val="13807B"/>
              </a:solidFill>
            </a:ln>
          </c:spPr>
          <c:marker>
            <c:symbol val="circle"/>
            <c:size val="6"/>
            <c:spPr>
              <a:solidFill>
                <a:srgbClr val="13807B"/>
              </a:solidFill>
              <a:ln>
                <a:solidFill>
                  <a:srgbClr val="13807B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80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29B-4A55-81F1-E0E864A0706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59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29B-4A55-81F1-E0E864A0706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66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29B-4A55-81F1-E0E864A0706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59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29B-4A55-81F1-E0E864A0706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71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29B-4A55-81F1-E0E864A0706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79.580047612898056</c:v>
                </c:pt>
                <c:pt idx="1">
                  <c:v>58.803436839196969</c:v>
                </c:pt>
                <c:pt idx="2">
                  <c:v>66.494048359529657</c:v>
                </c:pt>
                <c:pt idx="3">
                  <c:v>59.041216604772693</c:v>
                </c:pt>
                <c:pt idx="4">
                  <c:v>70.518660983695966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29B-4A55-81F1-E0E864A070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SSFF S/ 1,5–3,8MM</c:v>
                </c:pt>
              </c:strCache>
            </c:strRef>
          </c:tx>
          <c:spPr>
            <a:ln w="25400">
              <a:solidFill>
                <a:srgbClr val="E5173F"/>
              </a:solidFill>
            </a:ln>
          </c:spPr>
          <c:marker>
            <c:symbol val="circle"/>
            <c:size val="6"/>
            <c:spPr>
              <a:solidFill>
                <a:srgbClr val="E5173F"/>
              </a:solidFill>
              <a:ln>
                <a:solidFill>
                  <a:srgbClr val="E5173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71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29B-4A55-81F1-E0E864A0706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58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29B-4A55-81F1-E0E864A0706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50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29B-4A55-81F1-E0E864A0706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46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29B-4A55-81F1-E0E864A0706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33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829B-4A55-81F1-E0E864A0706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70.530565520285705</c:v>
                </c:pt>
                <c:pt idx="1">
                  <c:v>58.028944356666784</c:v>
                </c:pt>
                <c:pt idx="2">
                  <c:v>49.967652559343975</c:v>
                </c:pt>
                <c:pt idx="3">
                  <c:v>46.438725227189529</c:v>
                </c:pt>
                <c:pt idx="4">
                  <c:v>32.551084572455743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829B-4A55-81F1-E0E864A0706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25400">
              <a:solidFill>
                <a:srgbClr val="555555"/>
              </a:solidFill>
              <a:prstDash val="dash"/>
            </a:ln>
          </c:spPr>
          <c:marker>
            <c:symbol val="triangle"/>
            <c:size val="6"/>
            <c:spPr>
              <a:solidFill>
                <a:srgbClr val="555555"/>
              </a:solidFill>
              <a:ln>
                <a:solidFill>
                  <a:srgbClr val="555555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70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829B-4A55-81F1-E0E864A0706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66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29B-4A55-81F1-E0E864A0706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61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829B-4A55-81F1-E0E864A0706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53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829B-4A55-81F1-E0E864A0706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40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829B-4A55-81F1-E0E864A0706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70.287025524083617</c:v>
                </c:pt>
                <c:pt idx="1">
                  <c:v>65.540897145671011</c:v>
                </c:pt>
                <c:pt idx="2">
                  <c:v>60.655170454112955</c:v>
                </c:pt>
                <c:pt idx="3">
                  <c:v>53.464588785658023</c:v>
                </c:pt>
                <c:pt idx="4">
                  <c:v>40.460034222492013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829B-4A55-81F1-E0E864A070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87"/>
          <c:min val="25"/>
        </c:scaling>
        <c:delete val="1"/>
        <c:axPos val="l"/>
        <c:numFmt formatCode="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4000000000000001"/>
          <c:w val="0.96"/>
          <c:h val="0.7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solidFill>
              <a:srgbClr val="8E9B9A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19,0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CB6-4759-B94B-7A9EC683D63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19,0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CB6-4759-B94B-7A9EC683D63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SSFF ≤ 1,5MM</c:v>
                </c:pt>
                <c:pt idx="1">
                  <c:v>SSFF 1,5–3,8MM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B6-4759-B94B-7A9EC683D63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solidFill>
              <a:srgbClr val="2F6FDE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17,0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CB6-4759-B94B-7A9EC683D63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17,0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CB6-4759-B94B-7A9EC683D63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SSFF ≤ 1,5MM</c:v>
                </c:pt>
                <c:pt idx="1">
                  <c:v>SSFF 1,5–3,8MM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CB6-4759-B94B-7A9EC683D63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</c:v>
                </c:pt>
              </c:strCache>
            </c:strRef>
          </c:tx>
          <c:spPr>
            <a:solidFill>
              <a:srgbClr val="F28C28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28C28"/>
                        </a:solidFill>
                      </a:rPr>
                      <a:t>18,7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9CB6-4759-B94B-7A9EC683D63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SSFF ≤ 1,5MM</c:v>
                </c:pt>
                <c:pt idx="1">
                  <c:v>SSFF 1,5–3,8MM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9CB6-4759-B94B-7A9EC683D6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1"/>
          <c:min val="13"/>
        </c:scaling>
        <c:delete val="1"/>
        <c:axPos val="l"/>
        <c:numFmt formatCode="0.0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1E8F-4DF1-95C7-C3E6FC3472D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E8F-4DF1-95C7-C3E6FC3472D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19,2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1E8F-4DF1-95C7-C3E6FC3472D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E8F-4DF1-95C7-C3E6FC3472D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1E8F-4DF1-95C7-C3E6FC3472D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21.446832884097034</c:v>
                </c:pt>
                <c:pt idx="1">
                  <c:v>21.913482604202549</c:v>
                </c:pt>
                <c:pt idx="2">
                  <c:v>19.246023646984305</c:v>
                </c:pt>
                <c:pt idx="3">
                  <c:v>20.014855278443779</c:v>
                </c:pt>
                <c:pt idx="4">
                  <c:v>20.348572095193653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E8F-4DF1-95C7-C3E6FC3472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17,9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1E8F-4DF1-95C7-C3E6FC3472D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1E8F-4DF1-95C7-C3E6FC3472D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17,5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1E8F-4DF1-95C7-C3E6FC3472D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1E8F-4DF1-95C7-C3E6FC3472D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1E8F-4DF1-95C7-C3E6FC3472D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17.888324849907111</c:v>
                </c:pt>
                <c:pt idx="1">
                  <c:v>17.662427199090466</c:v>
                </c:pt>
                <c:pt idx="2">
                  <c:v>17.456425599936416</c:v>
                </c:pt>
                <c:pt idx="3">
                  <c:v>16.955896551724141</c:v>
                </c:pt>
                <c:pt idx="4">
                  <c:v>17.201998429567514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1E8F-4DF1-95C7-C3E6FC3472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3"/>
          <c:min val="14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CF8-4CF0-9CE0-44C7D8F54C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CF8-4CF0-9CE0-44C7D8F54C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CF8-4CF0-9CE0-44C7D8F54C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CF8-4CF0-9CE0-44C7D8F54CC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CF8-4CF0-9CE0-44C7D8F54CC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20.771145131539448</c:v>
                </c:pt>
                <c:pt idx="1">
                  <c:v>20.39620864906621</c:v>
                </c:pt>
                <c:pt idx="2">
                  <c:v>18.991036976673119</c:v>
                </c:pt>
                <c:pt idx="3">
                  <c:v>19.651462107644619</c:v>
                </c:pt>
                <c:pt idx="4">
                  <c:v>20.025090488851973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ACF8-4CF0-9CE0-44C7D8F54C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CF8-4CF0-9CE0-44C7D8F54CC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ACF8-4CF0-9CE0-44C7D8F54CC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16,7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ACF8-4CF0-9CE0-44C7D8F54CC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16,7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ACF8-4CF0-9CE0-44C7D8F54CC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ACF8-4CF0-9CE0-44C7D8F54CC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17.379980584378998</c:v>
                </c:pt>
                <c:pt idx="1">
                  <c:v>17.290237445859372</c:v>
                </c:pt>
                <c:pt idx="2">
                  <c:v>16.744083685347544</c:v>
                </c:pt>
                <c:pt idx="3">
                  <c:v>16.659874957569123</c:v>
                </c:pt>
                <c:pt idx="4">
                  <c:v>17.16152680901876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ACF8-4CF0-9CE0-44C7D8F54C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2"/>
          <c:min val="14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Pasivos ≥ S/ 5K</c:v>
                </c:pt>
              </c:strCache>
            </c:strRef>
          </c:tx>
          <c:spPr>
            <a:ln w="25400">
              <a:solidFill>
                <a:srgbClr val="13807B"/>
              </a:solidFill>
            </a:ln>
          </c:spPr>
          <c:marker>
            <c:symbol val="circle"/>
            <c:size val="6"/>
            <c:spPr>
              <a:solidFill>
                <a:srgbClr val="13807B"/>
              </a:solidFill>
              <a:ln>
                <a:solidFill>
                  <a:srgbClr val="13807B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87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99F-4E04-97E8-94A3B17B1C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90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99F-4E04-97E8-94A3B17B1C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85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99F-4E04-97E8-94A3B17B1C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86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99F-4E04-97E8-94A3B17B1C6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87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99F-4E04-97E8-94A3B17B1C6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87.478912647754143</c:v>
                </c:pt>
                <c:pt idx="1">
                  <c:v>90.307093200857253</c:v>
                </c:pt>
                <c:pt idx="2">
                  <c:v>85.159744328288426</c:v>
                </c:pt>
                <c:pt idx="3">
                  <c:v>85.996195198504509</c:v>
                </c:pt>
                <c:pt idx="4">
                  <c:v>86.82871668551293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99F-4E04-97E8-94A3B17B1C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 &lt; S/ 1K</c:v>
                </c:pt>
              </c:strCache>
            </c:strRef>
          </c:tx>
          <c:spPr>
            <a:ln w="25400">
              <a:solidFill>
                <a:srgbClr val="E5173F"/>
              </a:solidFill>
            </a:ln>
          </c:spPr>
          <c:marker>
            <c:symbol val="circle"/>
            <c:size val="6"/>
            <c:spPr>
              <a:solidFill>
                <a:srgbClr val="E5173F"/>
              </a:solidFill>
              <a:ln>
                <a:solidFill>
                  <a:srgbClr val="E5173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70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99F-4E04-97E8-94A3B17B1C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74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99F-4E04-97E8-94A3B17B1C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56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99F-4E04-97E8-94A3B17B1C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63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D99F-4E04-97E8-94A3B17B1C6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31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99F-4E04-97E8-94A3B17B1C6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69.914333894912559</c:v>
                </c:pt>
                <c:pt idx="1">
                  <c:v>73.761845118589676</c:v>
                </c:pt>
                <c:pt idx="2">
                  <c:v>55.77696398727376</c:v>
                </c:pt>
                <c:pt idx="3">
                  <c:v>62.664961325577615</c:v>
                </c:pt>
                <c:pt idx="4">
                  <c:v>30.652328161217664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D99F-4E04-97E8-94A3B17B1C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25400">
              <a:solidFill>
                <a:srgbClr val="555555"/>
              </a:solidFill>
              <a:prstDash val="dash"/>
            </a:ln>
          </c:spPr>
          <c:marker>
            <c:symbol val="triangle"/>
            <c:size val="6"/>
            <c:spPr>
              <a:solidFill>
                <a:srgbClr val="555555"/>
              </a:solidFill>
              <a:ln>
                <a:solidFill>
                  <a:srgbClr val="555555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85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D99F-4E04-97E8-94A3B17B1C6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88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D99F-4E04-97E8-94A3B17B1C6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75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D99F-4E04-97E8-94A3B17B1C6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77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D99F-4E04-97E8-94A3B17B1C6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63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D99F-4E04-97E8-94A3B17B1C6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85.475967915987823</c:v>
                </c:pt>
                <c:pt idx="1">
                  <c:v>87.595034406267544</c:v>
                </c:pt>
                <c:pt idx="2">
                  <c:v>74.759632110510239</c:v>
                </c:pt>
                <c:pt idx="3">
                  <c:v>76.506395981181683</c:v>
                </c:pt>
                <c:pt idx="4">
                  <c:v>62.86948533368858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D99F-4E04-97E8-94A3B17B1C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21"/>
        </c:scaling>
        <c:delete val="1"/>
        <c:axPos val="l"/>
        <c:numFmt formatCode="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4000000000000001"/>
          <c:w val="0.96"/>
          <c:h val="0.7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solidFill>
              <a:srgbClr val="8E9B9A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21,5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D9E-455B-AF30-9501D4B53F5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24,2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D9E-455B-AF30-9501D4B53F5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Pasivos ≥ 5K</c:v>
                </c:pt>
                <c:pt idx="1">
                  <c:v>Pasivos &lt; 1K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21.490000000000002</c:v>
                </c:pt>
                <c:pt idx="1">
                  <c:v>24.169999999999998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9E-455B-AF30-9501D4B53F5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solidFill>
              <a:srgbClr val="2F6FDE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18,5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D9E-455B-AF30-9501D4B53F5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18,7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D9E-455B-AF30-9501D4B53F5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Pasivos ≥ 5K</c:v>
                </c:pt>
                <c:pt idx="1">
                  <c:v>Pasivos &lt; 1K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18.5</c:v>
                </c:pt>
                <c:pt idx="1">
                  <c:v>18.7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D9E-455B-AF30-9501D4B53F5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</c:v>
                </c:pt>
              </c:strCache>
            </c:strRef>
          </c:tx>
          <c:spPr>
            <a:solidFill>
              <a:srgbClr val="F28C28"/>
            </a:solidFill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28C28"/>
                        </a:solidFill>
                      </a:rPr>
                      <a:t>17,5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D9E-455B-AF30-9501D4B53F5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Pasivos ≥ 5K</c:v>
                </c:pt>
                <c:pt idx="1">
                  <c:v>Pasivos &lt; 1K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1">
                  <c:v>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D9E-455B-AF30-9501D4B53F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6"/>
          <c:min val="13"/>
        </c:scaling>
        <c:delete val="1"/>
        <c:axPos val="l"/>
        <c:numFmt formatCode="0.0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13C-4D4F-A430-FCA85F8B1BA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22,0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13C-4D4F-A430-FCA85F8B1BA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22,2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13C-4D4F-A430-FCA85F8B1BA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22,6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13C-4D4F-A430-FCA85F8B1BA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23,1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13C-4D4F-A430-FCA85F8B1BA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21.913299705435151</c:v>
                </c:pt>
                <c:pt idx="1">
                  <c:v>22.044235635853486</c:v>
                </c:pt>
                <c:pt idx="2">
                  <c:v>22.173728893417923</c:v>
                </c:pt>
                <c:pt idx="3">
                  <c:v>22.640994841892802</c:v>
                </c:pt>
                <c:pt idx="4">
                  <c:v>23.128619950279678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13C-4D4F-A430-FCA85F8B1B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13C-4D4F-A430-FCA85F8B1BA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13C-4D4F-A430-FCA85F8B1BA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13C-4D4F-A430-FCA85F8B1BA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13C-4D4F-A430-FCA85F8B1BA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19,7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F13C-4D4F-A430-FCA85F8B1BA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18.83514266152703</c:v>
                </c:pt>
                <c:pt idx="1">
                  <c:v>18.767318447894908</c:v>
                </c:pt>
                <c:pt idx="2">
                  <c:v>17.743028268411937</c:v>
                </c:pt>
                <c:pt idx="3">
                  <c:v>18.822357793950438</c:v>
                </c:pt>
                <c:pt idx="4">
                  <c:v>19.721041613084466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F13C-4D4F-A430-FCA85F8B1B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5"/>
          <c:min val="15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22,0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22A-4338-803B-304149FD83A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25,1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22A-4338-803B-304149FD83A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24,8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22A-4338-803B-304149FD83A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24,8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22A-4338-803B-304149FD83A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24,1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22A-4338-803B-304149FD83A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21.954035952806038</c:v>
                </c:pt>
                <c:pt idx="1">
                  <c:v>25.112337120588396</c:v>
                </c:pt>
                <c:pt idx="2">
                  <c:v>24.831775011611704</c:v>
                </c:pt>
                <c:pt idx="3">
                  <c:v>24.806278159141449</c:v>
                </c:pt>
                <c:pt idx="4">
                  <c:v>24.13644585857902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22A-4338-803B-304149FD83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19,8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22A-4338-803B-304149FD83A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19,6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22A-4338-803B-304149FD83A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19,3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22A-4338-803B-304149FD83A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20,0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22A-4338-803B-304149FD83A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19,1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22A-4338-803B-304149FD83A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19.776749434337596</c:v>
                </c:pt>
                <c:pt idx="1">
                  <c:v>19.572783430984217</c:v>
                </c:pt>
                <c:pt idx="2">
                  <c:v>19.265696657401957</c:v>
                </c:pt>
                <c:pt idx="3">
                  <c:v>19.998007968127489</c:v>
                </c:pt>
                <c:pt idx="4">
                  <c:v>19.080983061209285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522A-4338-803B-304149FD83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7"/>
          <c:min val="17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Hasta S/ 170K</c:v>
                </c:pt>
              </c:strCache>
            </c:strRef>
          </c:tx>
          <c:spPr>
            <a:ln w="25400">
              <a:solidFill>
                <a:srgbClr val="13807B"/>
              </a:solidFill>
            </a:ln>
          </c:spPr>
          <c:marker>
            <c:symbol val="circle"/>
            <c:size val="6"/>
            <c:spPr>
              <a:solidFill>
                <a:srgbClr val="13807B"/>
              </a:solidFill>
              <a:ln>
                <a:solidFill>
                  <a:srgbClr val="13807B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73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66F-4DBA-B364-6484A366919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87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66F-4DBA-B364-6484A366919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66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66F-4DBA-B364-6484A366919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66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66F-4DBA-B364-6484A366919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94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66F-4DBA-B364-6484A366919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72.838811976982001</c:v>
                </c:pt>
                <c:pt idx="1">
                  <c:v>86.882787607015146</c:v>
                </c:pt>
                <c:pt idx="2">
                  <c:v>65.997536924463645</c:v>
                </c:pt>
                <c:pt idx="3">
                  <c:v>66.300941921829818</c:v>
                </c:pt>
                <c:pt idx="4">
                  <c:v>94.492564629020762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D66F-4DBA-B364-6484A36691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Más de S/ 250K</c:v>
                </c:pt>
              </c:strCache>
            </c:strRef>
          </c:tx>
          <c:spPr>
            <a:ln w="25400">
              <a:solidFill>
                <a:srgbClr val="E5173F"/>
              </a:solidFill>
            </a:ln>
          </c:spPr>
          <c:marker>
            <c:symbol val="circle"/>
            <c:size val="6"/>
            <c:spPr>
              <a:solidFill>
                <a:srgbClr val="E5173F"/>
              </a:solidFill>
              <a:ln>
                <a:solidFill>
                  <a:srgbClr val="E5173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53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66F-4DBA-B364-6484A366919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48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66F-4DBA-B364-6484A366919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26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66F-4DBA-B364-6484A366919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48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D66F-4DBA-B364-6484A366919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34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66F-4DBA-B364-6484A366919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53.090465581227157</c:v>
                </c:pt>
                <c:pt idx="1">
                  <c:v>48.435959572104288</c:v>
                </c:pt>
                <c:pt idx="2">
                  <c:v>25.699307438292625</c:v>
                </c:pt>
                <c:pt idx="3">
                  <c:v>47.691914485999099</c:v>
                </c:pt>
                <c:pt idx="4">
                  <c:v>33.639717211020844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D66F-4DBA-B364-6484A36691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25400">
              <a:solidFill>
                <a:srgbClr val="555555"/>
              </a:solidFill>
              <a:prstDash val="dash"/>
            </a:ln>
          </c:spPr>
          <c:marker>
            <c:symbol val="triangle"/>
            <c:size val="6"/>
            <c:spPr>
              <a:solidFill>
                <a:srgbClr val="555555"/>
              </a:solidFill>
              <a:ln>
                <a:solidFill>
                  <a:srgbClr val="555555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65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D66F-4DBA-B364-6484A366919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67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D66F-4DBA-B364-6484A366919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48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D66F-4DBA-B364-6484A366919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60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D66F-4DBA-B364-6484A366919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88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D66F-4DBA-B364-6484A366919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64.649981250209763</c:v>
                </c:pt>
                <c:pt idx="1">
                  <c:v>66.514350789245313</c:v>
                </c:pt>
                <c:pt idx="2">
                  <c:v>47.726420620573535</c:v>
                </c:pt>
                <c:pt idx="3">
                  <c:v>59.723555173949357</c:v>
                </c:pt>
                <c:pt idx="4">
                  <c:v>87.661903288873333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D66F-4DBA-B364-6484A36691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5"/>
          <c:min val="15"/>
        </c:scaling>
        <c:delete val="1"/>
        <c:axPos val="l"/>
        <c:numFmt formatCode="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4000000000000001"/>
          <c:w val="0.96"/>
          <c:h val="0.7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solidFill>
              <a:srgbClr val="8E9B9A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22,1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0A6-49E3-A59F-6B9BB2E2B99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19,0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0A6-49E3-A59F-6B9BB2E2B99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≤ 170K</c:v>
                </c:pt>
                <c:pt idx="1">
                  <c:v>&gt; 250K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22.06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0A6-49E3-A59F-6B9BB2E2B9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solidFill>
              <a:srgbClr val="2F6FDE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19,0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0A6-49E3-A59F-6B9BB2E2B99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17,0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0A6-49E3-A59F-6B9BB2E2B99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≤ 170K</c:v>
                </c:pt>
                <c:pt idx="1">
                  <c:v>&gt; 250K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0A6-49E3-A59F-6B9BB2E2B99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</c:v>
                </c:pt>
              </c:strCache>
            </c:strRef>
          </c:tx>
          <c:spPr>
            <a:solidFill>
              <a:srgbClr val="F28C28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≤ 170K</c:v>
                </c:pt>
                <c:pt idx="1">
                  <c:v>&gt; 250K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6-20A6-49E3-A59F-6B9BB2E2B9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4"/>
          <c:min val="13"/>
        </c:scaling>
        <c:delete val="1"/>
        <c:axPos val="l"/>
        <c:numFmt formatCode="0.0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24,5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EF4-4510-9D19-BC8F89AC048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25,8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EF4-4510-9D19-BC8F89AC048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26,7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EF4-4510-9D19-BC8F89AC048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26,8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EF4-4510-9D19-BC8F89AC048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22,0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EF4-4510-9D19-BC8F89AC048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24.478426395939085</c:v>
                </c:pt>
                <c:pt idx="1">
                  <c:v>25.814347357065802</c:v>
                </c:pt>
                <c:pt idx="2">
                  <c:v>26.734048295454546</c:v>
                </c:pt>
                <c:pt idx="3">
                  <c:v>26.817957632890067</c:v>
                </c:pt>
                <c:pt idx="4">
                  <c:v>21.958716477993274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EF4-4510-9D19-BC8F89AC04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21,1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EF4-4510-9D19-BC8F89AC048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21,9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EF4-4510-9D19-BC8F89AC048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20,5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EF4-4510-9D19-BC8F89AC048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19,6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7EF4-4510-9D19-BC8F89AC048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20,4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7EF4-4510-9D19-BC8F89AC048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21.08882521489971</c:v>
                </c:pt>
                <c:pt idx="1">
                  <c:v>21.941418398021248</c:v>
                </c:pt>
                <c:pt idx="2">
                  <c:v>20.486309888811675</c:v>
                </c:pt>
                <c:pt idx="3">
                  <c:v>19.623177842565596</c:v>
                </c:pt>
                <c:pt idx="4">
                  <c:v>20.353043288654522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7EF4-4510-9D19-BC8F89AC04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8"/>
          <c:min val="17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9F0-4814-A110-FDB9ED39D41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9F0-4814-A110-FDB9ED39D41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9F0-4814-A110-FDB9ED39D41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9F0-4814-A110-FDB9ED39D41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9F0-4814-A110-FDB9ED39D4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20.267796610169491</c:v>
                </c:pt>
                <c:pt idx="1">
                  <c:v>21.126478873239435</c:v>
                </c:pt>
                <c:pt idx="2">
                  <c:v>19.332307692307694</c:v>
                </c:pt>
                <c:pt idx="3">
                  <c:v>19.681269035532996</c:v>
                </c:pt>
                <c:pt idx="4">
                  <c:v>19.273020833333334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9F0-4814-A110-FDB9ED39D4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09F0-4814-A110-FDB9ED39D41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09F0-4814-A110-FDB9ED39D41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09F0-4814-A110-FDB9ED39D41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09F0-4814-A110-FDB9ED39D41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09F0-4814-A110-FDB9ED39D41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18.173076923076923</c:v>
                </c:pt>
                <c:pt idx="1">
                  <c:v>17.982142857142858</c:v>
                </c:pt>
                <c:pt idx="2">
                  <c:v>17.405882352941177</c:v>
                </c:pt>
                <c:pt idx="3">
                  <c:v>17.114530478869312</c:v>
                </c:pt>
                <c:pt idx="4">
                  <c:v>18.353846153846153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09F0-4814-A110-FDB9ED39D4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3"/>
          <c:min val="15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Hasta S/ 170K</c:v>
                </c:pt>
              </c:strCache>
            </c:strRef>
          </c:tx>
          <c:spPr>
            <a:ln w="25400">
              <a:solidFill>
                <a:srgbClr val="13807B"/>
              </a:solidFill>
            </a:ln>
          </c:spPr>
          <c:marker>
            <c:symbol val="circle"/>
            <c:size val="6"/>
            <c:spPr>
              <a:solidFill>
                <a:srgbClr val="13807B"/>
              </a:solidFill>
              <a:ln>
                <a:solidFill>
                  <a:srgbClr val="13807B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70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2C8-42EF-A33E-21064D4A8E3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56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2C8-42EF-A33E-21064D4A8E3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24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2C8-42EF-A33E-21064D4A8E3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51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2C8-42EF-A33E-21064D4A8E3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84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2C8-42EF-A33E-21064D4A8E3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69.740124698130472</c:v>
                </c:pt>
                <c:pt idx="1">
                  <c:v>55.567632753894735</c:v>
                </c:pt>
                <c:pt idx="2">
                  <c:v>24.342375245779291</c:v>
                </c:pt>
                <c:pt idx="3">
                  <c:v>50.989492126456085</c:v>
                </c:pt>
                <c:pt idx="4">
                  <c:v>84.135894692059651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2C8-42EF-A33E-21064D4A8E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Más de S/ 250K</c:v>
                </c:pt>
              </c:strCache>
            </c:strRef>
          </c:tx>
          <c:spPr>
            <a:ln w="25400">
              <a:solidFill>
                <a:srgbClr val="E5173F"/>
              </a:solidFill>
            </a:ln>
          </c:spPr>
          <c:marker>
            <c:symbol val="circle"/>
            <c:size val="6"/>
            <c:spPr>
              <a:solidFill>
                <a:srgbClr val="E5173F"/>
              </a:solidFill>
              <a:ln>
                <a:solidFill>
                  <a:srgbClr val="E5173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28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2C8-42EF-A33E-21064D4A8E3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18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2C8-42EF-A33E-21064D4A8E3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22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2C8-42EF-A33E-21064D4A8E3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34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72C8-42EF-A33E-21064D4A8E3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32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72C8-42EF-A33E-21064D4A8E3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27.68977922460628</c:v>
                </c:pt>
                <c:pt idx="1">
                  <c:v>17.630611452744706</c:v>
                </c:pt>
                <c:pt idx="2">
                  <c:v>22.429260315445212</c:v>
                </c:pt>
                <c:pt idx="3">
                  <c:v>34.143241055595432</c:v>
                </c:pt>
                <c:pt idx="4">
                  <c:v>31.508793101377499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72C8-42EF-A33E-21064D4A8E3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25400">
              <a:solidFill>
                <a:srgbClr val="555555"/>
              </a:solidFill>
              <a:prstDash val="dash"/>
            </a:ln>
          </c:spPr>
          <c:marker>
            <c:symbol val="triangle"/>
            <c:size val="6"/>
            <c:spPr>
              <a:solidFill>
                <a:srgbClr val="555555"/>
              </a:solidFill>
              <a:ln>
                <a:solidFill>
                  <a:srgbClr val="555555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55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72C8-42EF-A33E-21064D4A8E3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35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72C8-42EF-A33E-21064D4A8E3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32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72C8-42EF-A33E-21064D4A8E3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41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72C8-42EF-A33E-21064D4A8E3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60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72C8-42EF-A33E-21064D4A8E3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54.720414334926843</c:v>
                </c:pt>
                <c:pt idx="1">
                  <c:v>34.877319165428119</c:v>
                </c:pt>
                <c:pt idx="2">
                  <c:v>31.815693353048253</c:v>
                </c:pt>
                <c:pt idx="3">
                  <c:v>41.066449850564254</c:v>
                </c:pt>
                <c:pt idx="4">
                  <c:v>59.950202725044818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72C8-42EF-A33E-21064D4A8E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5"/>
          <c:min val="7"/>
        </c:scaling>
        <c:delete val="1"/>
        <c:axPos val="l"/>
        <c:numFmt formatCode="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4000000000000001"/>
          <c:w val="0.96"/>
          <c:h val="0.7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solidFill>
              <a:srgbClr val="8E9B9A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22,1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83C-4357-B3A9-91139606162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19,7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83C-4357-B3A9-91139606162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≤ 170K</c:v>
                </c:pt>
                <c:pt idx="1">
                  <c:v>&gt; 250K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22.06</c:v>
                </c:pt>
                <c:pt idx="1">
                  <c:v>19.71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83C-4357-B3A9-9113960616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solidFill>
              <a:srgbClr val="2F6FDE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19,0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83C-4357-B3A9-91139606162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17,0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83C-4357-B3A9-91139606162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≤ 170K</c:v>
                </c:pt>
                <c:pt idx="1">
                  <c:v>&gt; 250K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83C-4357-B3A9-9113960616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</c:v>
                </c:pt>
              </c:strCache>
            </c:strRef>
          </c:tx>
          <c:spPr>
            <a:solidFill>
              <a:srgbClr val="F28C28"/>
            </a:solidFill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F28C28"/>
                        </a:solidFill>
                      </a:rPr>
                      <a:t>17,1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E83C-4357-B3A9-91139606162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≤ 170K</c:v>
                </c:pt>
                <c:pt idx="1">
                  <c:v>&gt; 250K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1">
                  <c:v>17.100000000000001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E83C-4357-B3A9-9113960616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4"/>
          <c:min val="13"/>
        </c:scaling>
        <c:delete val="1"/>
        <c:axPos val="l"/>
        <c:numFmt formatCode="0.0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25,2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BAE-4A0B-B676-1CF21705F03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25,1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BAE-4A0B-B676-1CF21705F03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BAE-4A0B-B676-1CF21705F03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25,2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BAE-4A0B-B676-1CF21705F03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21,8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BAE-4A0B-B676-1CF21705F03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25.224475138121548</c:v>
                </c:pt>
                <c:pt idx="1">
                  <c:v>25.106047231457069</c:v>
                </c:pt>
                <c:pt idx="2">
                  <c:v>21.42870864461046</c:v>
                </c:pt>
                <c:pt idx="3">
                  <c:v>25.199535759096612</c:v>
                </c:pt>
                <c:pt idx="4">
                  <c:v>21.753704980495328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BAE-4A0B-B676-1CF21705F0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22,4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BAE-4A0B-B676-1CF21705F03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22,7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BAE-4A0B-B676-1CF21705F03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23,9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BAE-4A0B-B676-1CF21705F03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21,8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BAE-4A0B-B676-1CF21705F03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19,5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BAE-4A0B-B676-1CF21705F03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22.426209918543361</c:v>
                </c:pt>
                <c:pt idx="1">
                  <c:v>22.687725044987147</c:v>
                </c:pt>
                <c:pt idx="2">
                  <c:v>23.943037531645572</c:v>
                </c:pt>
                <c:pt idx="3">
                  <c:v>21.823279999999997</c:v>
                </c:pt>
                <c:pt idx="4">
                  <c:v>19.536078262777551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5BAE-4A0B-B676-1CF21705F0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7"/>
          <c:min val="17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B826-457D-A92B-E05E42745C3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826-457D-A92B-E05E42745C3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20,2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826-457D-A92B-E05E42745C3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826-457D-A92B-E05E42745C3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19,4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826-457D-A92B-E05E42745C3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20.615229357798164</c:v>
                </c:pt>
                <c:pt idx="1">
                  <c:v>20.420508651724539</c:v>
                </c:pt>
                <c:pt idx="2">
                  <c:v>20.177981651376147</c:v>
                </c:pt>
                <c:pt idx="3">
                  <c:v>20.022058064516131</c:v>
                </c:pt>
                <c:pt idx="4">
                  <c:v>19.387169811320756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B826-457D-A92B-E05E42745C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16,7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B826-457D-A92B-E05E42745C3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16,5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826-457D-A92B-E05E42745C3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B826-457D-A92B-E05E42745C3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17,2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B826-457D-A92B-E05E42745C3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16,7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B826-457D-A92B-E05E42745C3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16.650000214285715</c:v>
                </c:pt>
                <c:pt idx="1">
                  <c:v>16.52994412292421</c:v>
                </c:pt>
                <c:pt idx="2">
                  <c:v>17.42982456140351</c:v>
                </c:pt>
                <c:pt idx="3">
                  <c:v>17.205268492948875</c:v>
                </c:pt>
                <c:pt idx="4">
                  <c:v>16.671900826446283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B826-457D-A92B-E05E42745C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2"/>
          <c:min val="14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Pasivos S/ 1–20K</c:v>
                </c:pt>
              </c:strCache>
            </c:strRef>
          </c:tx>
          <c:spPr>
            <a:ln w="25400">
              <a:solidFill>
                <a:srgbClr val="13807B"/>
              </a:solidFill>
            </a:ln>
          </c:spPr>
          <c:marker>
            <c:symbol val="circle"/>
            <c:size val="6"/>
            <c:spPr>
              <a:solidFill>
                <a:srgbClr val="13807B"/>
              </a:solidFill>
              <a:ln>
                <a:solidFill>
                  <a:srgbClr val="13807B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51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05F-4A56-BA3F-D274B8D48FC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63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05F-4A56-BA3F-D274B8D48FC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61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05F-4A56-BA3F-D274B8D48FC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66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05F-4A56-BA3F-D274B8D48FC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13807B"/>
                        </a:solidFill>
                      </a:rPr>
                      <a:t>86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05F-4A56-BA3F-D274B8D48F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51.07432736029017</c:v>
                </c:pt>
                <c:pt idx="1">
                  <c:v>63.309291332941129</c:v>
                </c:pt>
                <c:pt idx="2">
                  <c:v>61.470458974567244</c:v>
                </c:pt>
                <c:pt idx="3">
                  <c:v>65.884292623239133</c:v>
                </c:pt>
                <c:pt idx="4">
                  <c:v>85.593310443218996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05F-4A56-BA3F-D274B8D48F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Pasivos &lt; S/ 1K</c:v>
                </c:pt>
              </c:strCache>
            </c:strRef>
          </c:tx>
          <c:spPr>
            <a:ln w="25400">
              <a:solidFill>
                <a:srgbClr val="E5173F"/>
              </a:solidFill>
            </a:ln>
          </c:spPr>
          <c:marker>
            <c:symbol val="circle"/>
            <c:size val="6"/>
            <c:spPr>
              <a:solidFill>
                <a:srgbClr val="E5173F"/>
              </a:solidFill>
              <a:ln>
                <a:solidFill>
                  <a:srgbClr val="E5173F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43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05F-4A56-BA3F-D274B8D48FC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43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05F-4A56-BA3F-D274B8D48FC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51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305F-4A56-BA3F-D274B8D48FC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20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05F-4A56-BA3F-D274B8D48FC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E5173F"/>
                        </a:solidFill>
                      </a:rPr>
                      <a:t>63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05F-4A56-BA3F-D274B8D48F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42.823790909306318</c:v>
                </c:pt>
                <c:pt idx="1">
                  <c:v>42.679880574388839</c:v>
                </c:pt>
                <c:pt idx="2">
                  <c:v>51.191725449884316</c:v>
                </c:pt>
                <c:pt idx="3">
                  <c:v>20.386825488762351</c:v>
                </c:pt>
                <c:pt idx="4">
                  <c:v>63.449225945516311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305F-4A56-BA3F-D274B8D48F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25400">
              <a:solidFill>
                <a:srgbClr val="555555"/>
              </a:solidFill>
              <a:prstDash val="dash"/>
            </a:ln>
          </c:spPr>
          <c:marker>
            <c:symbol val="triangle"/>
            <c:size val="6"/>
            <c:spPr>
              <a:solidFill>
                <a:srgbClr val="555555"/>
              </a:solidFill>
              <a:ln>
                <a:solidFill>
                  <a:srgbClr val="555555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48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305F-4A56-BA3F-D274B8D48FC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57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305F-4A56-BA3F-D274B8D48FC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48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305F-4A56-BA3F-D274B8D48FC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51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305F-4A56-BA3F-D274B8D48FC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00" b="1">
                        <a:solidFill>
                          <a:srgbClr val="555555"/>
                        </a:solidFill>
                      </a:rPr>
                      <a:t>81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305F-4A56-BA3F-D274B8D48F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48.075713595543611</c:v>
                </c:pt>
                <c:pt idx="1">
                  <c:v>56.745033754054496</c:v>
                </c:pt>
                <c:pt idx="2">
                  <c:v>48.297884916306586</c:v>
                </c:pt>
                <c:pt idx="3">
                  <c:v>51.077744437916337</c:v>
                </c:pt>
                <c:pt idx="4">
                  <c:v>80.576930068316258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305F-4A56-BA3F-D274B8D48F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6"/>
          <c:min val="10"/>
        </c:scaling>
        <c:delete val="1"/>
        <c:axPos val="l"/>
        <c:numFmt formatCode="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4000000000000001"/>
          <c:w val="0.96"/>
          <c:h val="0.7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solidFill>
              <a:srgbClr val="8E9B9A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21,4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3AA-4885-8D97-95DA563029C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6E7E7D"/>
                        </a:solidFill>
                      </a:rPr>
                      <a:t>22,1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3AA-4885-8D97-95DA56302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Pasivos 1–20K</c:v>
                </c:pt>
                <c:pt idx="1">
                  <c:v>Pasivos &lt; 1K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21.42</c:v>
                </c:pt>
                <c:pt idx="1">
                  <c:v>22.07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AA-4885-8D97-95DA563029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solidFill>
              <a:srgbClr val="2F6FDE"/>
            </a:solidFill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20,0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3AA-4885-8D97-95DA563029C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2F6FDE"/>
                        </a:solidFill>
                      </a:rPr>
                      <a:t>19,0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3AA-4885-8D97-95DA56302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Pasivos 1–20K</c:v>
                </c:pt>
                <c:pt idx="1">
                  <c:v>Pasivos &lt; 1K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3AA-4885-8D97-95DA563029C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Competencia</c:v>
                </c:pt>
              </c:strCache>
            </c:strRef>
          </c:tx>
          <c:spPr>
            <a:solidFill>
              <a:srgbClr val="F28C28"/>
            </a:solidFill>
          </c:spPr>
          <c:invertIfNegative val="0"/>
          <c:cat>
            <c:strRef>
              <c:f>Sheet1!$A$2:$A$3</c:f>
              <c:strCache>
                <c:ptCount val="2"/>
                <c:pt idx="0">
                  <c:v>Pasivos 1–20K</c:v>
                </c:pt>
                <c:pt idx="1">
                  <c:v>Pasivos &lt; 1K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6-73AA-4885-8D97-95DA56302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800">
                <a:solidFill>
                  <a:srgbClr val="2F3B3A"/>
                </a:solidFill>
              </a:defRPr>
            </a:pPr>
            <a:endParaRPr lang="es-P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4"/>
          <c:min val="15"/>
        </c:scaling>
        <c:delete val="1"/>
        <c:axPos val="l"/>
        <c:numFmt formatCode="0.0" sourceLinked="0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s-PE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23,3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0BC-4FE4-9048-7060AFAB3FB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25,6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0BC-4FE4-9048-7060AFAB3FB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22,9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0BC-4FE4-9048-7060AFAB3FB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22,0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0BC-4FE4-9048-7060AFAB3FB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0BC-4FE4-9048-7060AFAB3FB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23.262733446519526</c:v>
                </c:pt>
                <c:pt idx="1">
                  <c:v>25.568534201954396</c:v>
                </c:pt>
                <c:pt idx="2">
                  <c:v>22.925161290322581</c:v>
                </c:pt>
                <c:pt idx="3">
                  <c:v>21.974377612887693</c:v>
                </c:pt>
                <c:pt idx="4">
                  <c:v>20.875732587247828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90BC-4FE4-9048-7060AFAB3F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21,4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90BC-4FE4-9048-7060AFAB3FB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23,5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90BC-4FE4-9048-7060AFAB3FB0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21,5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90BC-4FE4-9048-7060AFAB3FB0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19,5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90BC-4FE4-9048-7060AFAB3FB0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20,9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90BC-4FE4-9048-7060AFAB3FB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21.356382978723406</c:v>
                </c:pt>
                <c:pt idx="1">
                  <c:v>23.496907216494847</c:v>
                </c:pt>
                <c:pt idx="2">
                  <c:v>21.522222111111109</c:v>
                </c:pt>
                <c:pt idx="3">
                  <c:v>19.546776565202059</c:v>
                </c:pt>
                <c:pt idx="4">
                  <c:v>20.858399683571591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90BC-4FE4-9048-7060AFAB3F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7"/>
          <c:min val="17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Ofertada</c:v>
                </c:pt>
              </c:strCache>
            </c:strRef>
          </c:tx>
          <c:spPr>
            <a:ln w="25400">
              <a:solidFill>
                <a:srgbClr val="8E9B9A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8E9B9A"/>
              </a:solidFill>
              <a:ln>
                <a:solidFill>
                  <a:srgbClr val="8E9B9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24,6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F31-4880-AC73-BE363AFC104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24,7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F31-4880-AC73-BE363AFC104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20,0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F31-4880-AC73-BE363AFC104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22,7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F31-4880-AC73-BE363AFC104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8E9B9A"/>
                        </a:solidFill>
                      </a:rPr>
                      <a:t>21,6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F31-4880-AC73-BE363AFC104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24.599435028248589</c:v>
                </c:pt>
                <c:pt idx="1">
                  <c:v>24.720388732731298</c:v>
                </c:pt>
                <c:pt idx="2">
                  <c:v>20.047333333333334</c:v>
                </c:pt>
                <c:pt idx="3">
                  <c:v>22.725063731170337</c:v>
                </c:pt>
                <c:pt idx="4">
                  <c:v>21.562590827338131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F31-4880-AC73-BE363AFC10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Desembolsada</c:v>
                </c:pt>
              </c:strCache>
            </c:strRef>
          </c:tx>
          <c:spPr>
            <a:ln w="25400">
              <a:solidFill>
                <a:srgbClr val="2F6FDE"/>
              </a:solidFill>
            </a:ln>
          </c:spPr>
          <c:marker>
            <c:symbol val="circle"/>
            <c:size val="6"/>
            <c:spPr>
              <a:solidFill>
                <a:srgbClr val="2F6FDE"/>
              </a:solidFill>
              <a:ln>
                <a:solidFill>
                  <a:srgbClr val="2F6FDE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21,1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F31-4880-AC73-BE363AFC104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22,5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F31-4880-AC73-BE363AFC104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16,6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3F31-4880-AC73-BE363AFC104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18,3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F31-4880-AC73-BE363AFC104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 b="1">
                        <a:solidFill>
                          <a:srgbClr val="2F6FDE"/>
                        </a:solidFill>
                      </a:rPr>
                      <a:t>19,1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F31-4880-AC73-BE363AFC104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2T25</c:v>
                </c:pt>
                <c:pt idx="1">
                  <c:v>3T25</c:v>
                </c:pt>
                <c:pt idx="2">
                  <c:v>4T25</c:v>
                </c:pt>
                <c:pt idx="3">
                  <c:v>1T26</c:v>
                </c:pt>
                <c:pt idx="4">
                  <c:v>2T26*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21.133333518518516</c:v>
                </c:pt>
                <c:pt idx="1">
                  <c:v>22.453924747723025</c:v>
                </c:pt>
                <c:pt idx="2">
                  <c:v>16.581395348837209</c:v>
                </c:pt>
                <c:pt idx="3">
                  <c:v>18.333333333333332</c:v>
                </c:pt>
                <c:pt idx="4">
                  <c:v>19.142970577562092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3F31-4880-AC73-BE363AFC10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8C2C1"/>
            </a:solidFill>
          </a:ln>
        </c:spPr>
        <c:txPr>
          <a:bodyPr/>
          <a:lstStyle/>
          <a:p>
            <a:pPr>
              <a:defRPr sz="750">
                <a:solidFill>
                  <a:srgbClr val="2F3B3A"/>
                </a:solidFill>
              </a:defRPr>
            </a:pPr>
            <a:endParaRPr lang="es-P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6"/>
          <c:min val="14"/>
        </c:scaling>
        <c:delete val="1"/>
        <c:axPos val="l"/>
        <c:numFmt formatCode="0.0" sourceLinked="0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  <a:endParaRPr lang="es-PE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3A715-1D7D-9942-AA85-B04E4D96B198}" type="datetimeFigureOut">
              <a:rPr lang="en-PE" smtClean="0"/>
              <a:t>10/19/2026</a:t>
            </a:fld>
            <a:endParaRPr lang="en-P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559650-794F-AD4F-8009-3CDD75412BF7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488686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559650-794F-AD4F-8009-3CDD75412BF7}" type="slidenum">
              <a:rPr lang="en-PE" smtClean="0"/>
              <a:t>9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714799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BF2C8-CFE5-58D0-A780-88250CF0E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6A164-F2F6-B72C-2884-5DC9DA924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20341-D18C-4DBB-9F19-4289B967A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10/19/2026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E3421-768E-5FDB-6590-FF249B645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66516-E32A-437C-0045-75955121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43987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0086C-6B9B-FB65-4C03-953C27C57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E655F-6C12-1EF6-6DA7-DD5F91D31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07710-339A-AEAF-640B-52FD23B3D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10/19/2026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65EBE-2189-0153-F7F5-F22112394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994CE-8EC6-FBDA-C878-E0A06ECF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222245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2A796-39D3-D5CA-E5A8-A2EF2E275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486E3-C4C0-9D35-994B-BFDE90D9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D6FE9-263F-1665-C7D6-6A42D3A5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10/19/2026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2C62C-B811-1D66-5F13-352ABBAE0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93FEB-C613-6896-2223-6860B9786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179295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8D8A-1EFC-5BFF-A7C9-3BD3B81E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6FF6C-7C15-220F-D603-6D03F1FAE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75430-8A61-EC8E-09E3-C1AE57C40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D09971-F36B-86C5-AB32-B3DB42715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10/19/2026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14364-AADB-3A72-984D-ABBB55826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54D8C-B2AE-C38A-A8F9-ADE40B7CA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446282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960D-94DF-1946-A491-F59D65AE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4B3D5-BA34-81F4-5E41-A1D2816DC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3785D-2244-6537-7DB0-EE6C6B29FE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6C9B95-113D-318D-22C0-3EE93D3D7E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A81570-1FCE-470A-DE8A-B75AFB48F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A8F0F3-AC4B-17A8-AAEF-11D432961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10/19/2026</a:t>
            </a:fld>
            <a:endParaRPr lang="en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7FC79F-A483-A0BB-D59B-44ED973F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E48E27-4685-7445-AC22-AAEF46C1B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51234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87FE8-30CB-9FAA-0A22-A4667D6A9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6C9E6-1D6E-B448-EFA9-701BDDDC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10/19/2026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FFCE9-16A3-C353-EA50-8E848F037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4F824-C5C0-3D9E-B769-C639CA068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473840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B994AD-0A9F-9C7C-C6EA-E32C63448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10/19/2026</a:t>
            </a:fld>
            <a:endParaRPr lang="en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354B2B-6316-E9FD-7E67-75465EB55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B92EF-6493-CF65-3A69-89FEEE084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942886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D8169-FC86-3A1E-E7CF-6397967FE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9CF93-7427-8963-04E2-476AA0C5F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28329-9ED7-A146-CBD9-19ADCD9E1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67FB0-92EC-7BC3-3BAF-2E0F9F8F9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10/19/2026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38E43-2403-5CFC-2BF6-A978FAAD8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03F52-7019-7B5F-A1BD-4A4CB1CD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57819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9053-4D91-843E-3D7B-C61F5ACF5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33051E-AE15-D351-02B5-911FAFF5DC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54D878-0F2C-ED49-71ED-ACB76C8D8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6D861-53AD-5016-46C3-933D27F79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10/19/2026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C17E5-9670-4B8F-5E5D-F2FE7163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B33E9-F549-443D-FCF4-7DEBD79E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77620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CF25E-0DD4-9BA5-800E-5E68D8B48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93F89-380F-AEA9-6BD5-F324771FF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B802D-C030-1B59-7593-CB430C3F6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10/19/2026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453AD-2255-F94B-C04B-BE753655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651EA-B520-FCDD-69B8-B121791EB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163137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4C40A2-F43A-9EB1-2784-EC56A6CFA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7469A-9E41-E9FF-E182-DA049A27A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34316-49D0-9493-96F9-52D66FE69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E63A0-0DAA-CF43-BB78-F2FE78E7FE81}" type="datetimeFigureOut">
              <a:rPr lang="en-PE" smtClean="0"/>
              <a:t>10/19/2026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DBE14-3009-D54D-D2A7-236E09145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79E14-83F1-3676-3ED0-C71800C68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138493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2029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seño personalizado">
  <p:cSld name="Diseño personalizado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00157" y="2604383"/>
            <a:ext cx="3619537" cy="17165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42262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d11f1f7e5e_1_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g3d11f1f7e5e_1_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g3d11f1f7e5e_1_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839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d2af3c2b62_1_101"/>
          <p:cNvSpPr txBox="1">
            <a:spLocks noGrp="1"/>
          </p:cNvSpPr>
          <p:nvPr>
            <p:ph type="title"/>
          </p:nvPr>
        </p:nvSpPr>
        <p:spPr>
          <a:xfrm>
            <a:off x="819665" y="244644"/>
            <a:ext cx="10515600" cy="623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98485"/>
              </a:buClr>
              <a:buSzPts val="4300"/>
              <a:buFont typeface="Calibri"/>
              <a:buNone/>
              <a:defRPr sz="3225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425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425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425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425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425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425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425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425"/>
            </a:lvl9pPr>
          </a:lstStyle>
          <a:p>
            <a:endParaRPr/>
          </a:p>
        </p:txBody>
      </p:sp>
      <p:sp>
        <p:nvSpPr>
          <p:cNvPr id="22" name="Google Shape;22;g3d2af3c2b62_1_101"/>
          <p:cNvSpPr txBox="1">
            <a:spLocks noGrp="1"/>
          </p:cNvSpPr>
          <p:nvPr>
            <p:ph type="body" idx="1"/>
          </p:nvPr>
        </p:nvSpPr>
        <p:spPr>
          <a:xfrm>
            <a:off x="819665" y="170514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rmAutofit/>
          </a:bodyPr>
          <a:lstStyle>
            <a:lvl1pPr marL="342900" lvl="0" indent="-285750" algn="l">
              <a:lnSpc>
                <a:spcPct val="90000"/>
              </a:lnSpc>
              <a:spcBef>
                <a:spcPts val="97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1pPr>
            <a:lvl2pPr marL="685800" lvl="1" indent="-2857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2pPr>
            <a:lvl3pPr marL="1028700" lvl="2" indent="-2857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3pPr>
            <a:lvl4pPr marL="1371600" lvl="3" indent="-2857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4pPr>
            <a:lvl5pPr marL="1714500" lvl="4" indent="-2857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5pPr>
            <a:lvl6pPr marL="2057400" lvl="5" indent="-2857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6pPr>
            <a:lvl7pPr marL="2400300" lvl="6" indent="-2857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7pPr>
            <a:lvl8pPr marL="2743200" lvl="7" indent="-2857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8pPr>
            <a:lvl9pPr marL="3086100" lvl="8" indent="-285750" algn="l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425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12509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a8a166b9a7_3_10"/>
          <p:cNvSpPr txBox="1">
            <a:spLocks noGrp="1"/>
          </p:cNvSpPr>
          <p:nvPr>
            <p:ph type="title"/>
          </p:nvPr>
        </p:nvSpPr>
        <p:spPr>
          <a:xfrm>
            <a:off x="342900" y="228600"/>
            <a:ext cx="6553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7314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2">
          <p15:clr>
            <a:srgbClr val="FBAE40"/>
          </p15:clr>
        </p15:guide>
        <p15:guide id="2" orient="horz" pos="9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1">
  <p:cSld name="Diseño personalizado 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a8a166b9a7_3_15"/>
          <p:cNvSpPr txBox="1">
            <a:spLocks noGrp="1"/>
          </p:cNvSpPr>
          <p:nvPr>
            <p:ph type="title"/>
          </p:nvPr>
        </p:nvSpPr>
        <p:spPr>
          <a:xfrm>
            <a:off x="450731" y="3000366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3a8a166b9a7_3_15"/>
          <p:cNvSpPr/>
          <p:nvPr/>
        </p:nvSpPr>
        <p:spPr>
          <a:xfrm>
            <a:off x="8128000" y="0"/>
            <a:ext cx="4063950" cy="6858000"/>
          </a:xfrm>
          <a:prstGeom prst="rect">
            <a:avLst/>
          </a:prstGeom>
          <a:solidFill>
            <a:srgbClr val="186C70"/>
          </a:solidFill>
          <a:ln>
            <a:noFill/>
          </a:ln>
        </p:spPr>
        <p:txBody>
          <a:bodyPr spcFirstLastPara="1" wrap="square" lIns="91425" tIns="45694" rIns="91425" bIns="45694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425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g3a8a166b9a7_3_15"/>
          <p:cNvCxnSpPr/>
          <p:nvPr/>
        </p:nvCxnSpPr>
        <p:spPr>
          <a:xfrm>
            <a:off x="0" y="0"/>
            <a:ext cx="914400" cy="914400"/>
          </a:xfrm>
          <a:prstGeom prst="straightConnector1">
            <a:avLst/>
          </a:prstGeom>
          <a:noFill/>
          <a:ln w="25400" cap="flat" cmpd="sng">
            <a:solidFill>
              <a:srgbClr val="28AC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g3a8a166b9a7_3_15"/>
          <p:cNvSpPr/>
          <p:nvPr/>
        </p:nvSpPr>
        <p:spPr>
          <a:xfrm>
            <a:off x="7366000" y="0"/>
            <a:ext cx="1269900" cy="6858000"/>
          </a:xfrm>
          <a:prstGeom prst="parallelogram">
            <a:avLst>
              <a:gd name="adj" fmla="val 25000"/>
            </a:avLst>
          </a:prstGeom>
          <a:solidFill>
            <a:srgbClr val="1D9089"/>
          </a:solidFill>
          <a:ln>
            <a:noFill/>
          </a:ln>
        </p:spPr>
        <p:txBody>
          <a:bodyPr spcFirstLastPara="1" wrap="square" lIns="91425" tIns="45694" rIns="91425" bIns="45694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425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g3a8a166b9a7_3_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76142" y="167842"/>
            <a:ext cx="594562" cy="281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24420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4661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17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16.xml"/><Relationship Id="rId9" Type="http://schemas.openxmlformats.org/officeDocument/2006/relationships/oleObject" Target="../embeddings/oleObject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3500ADA0-2131-5C85-5831-B13F880761F1}"/>
              </a:ext>
            </a:extLst>
          </p:cNvPr>
          <p:cNvGraphicFramePr>
            <a:graphicFrameLocks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405969360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15" imgW="7772400" imgH="10058400" progId="TCLayout.ActiveDocument.1">
                  <p:embed/>
                </p:oleObj>
              </mc:Choice>
              <mc:Fallback>
                <p:oleObj name="Diapositiva de thinkcell" r:id="rId15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00ADA0-2131-5C85-5831-B13F88076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CE4942-0CD3-4673-A32D-AEBCD2F77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B2222-0FE6-1278-27B1-F47D7A0CC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D2562-0768-2F24-01EC-4F6C103BA8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8E63A0-0DAA-CF43-BB78-F2FE78E7FE81}" type="datetimeFigureOut">
              <a:rPr lang="en-PE" smtClean="0"/>
              <a:t>10/19/2026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C993F-8282-8216-E95F-F9DDD8ADE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51E7D-29FF-F703-177A-CEF27A794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3830A-9269-0646-AACE-02E2A76B5280}" type="slidenum">
              <a:rPr lang="en-PE" smtClean="0"/>
              <a:t>‹Nº›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6827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0"/>
          </a:scheme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AE03BF9C-EA3D-7DCF-1FF3-BBFC7A7BFC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00668548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cell" r:id="rId9" imgW="7772400" imgH="10058400" progId="TCLayout.ActiveDocument.1">
                  <p:embed/>
                </p:oleObj>
              </mc:Choice>
              <mc:Fallback>
                <p:oleObj name="Diapositiva de thinkcell" r:id="rId9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03BF9C-EA3D-7DCF-1FF3-BBFC7A7BFC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Google Shape;10;p11"/>
          <p:cNvPicPr preferRelativeResize="0"/>
          <p:nvPr/>
        </p:nvPicPr>
        <p:blipFill rotWithShape="1">
          <a:blip r:embed="rId11">
            <a:alphaModFix/>
          </a:blip>
          <a:srcRect l="44" r="44"/>
          <a:stretch/>
        </p:blipFill>
        <p:spPr>
          <a:xfrm>
            <a:off x="1667" y="1135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1"/>
          <p:cNvPicPr preferRelativeResize="0"/>
          <p:nvPr/>
        </p:nvPicPr>
        <p:blipFill rotWithShape="1">
          <a:blip r:embed="rId12">
            <a:alphaModFix/>
          </a:blip>
          <a:srcRect b="5385"/>
          <a:stretch/>
        </p:blipFill>
        <p:spPr>
          <a:xfrm>
            <a:off x="11363325" y="114300"/>
            <a:ext cx="66675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1"/>
          <p:cNvSpPr txBox="1">
            <a:spLocks noGrp="1"/>
          </p:cNvSpPr>
          <p:nvPr>
            <p:ph type="title"/>
          </p:nvPr>
        </p:nvSpPr>
        <p:spPr>
          <a:xfrm>
            <a:off x="342900" y="205979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body" idx="1"/>
          </p:nvPr>
        </p:nvSpPr>
        <p:spPr>
          <a:xfrm>
            <a:off x="342900" y="1200151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3807B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3807B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90482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120">
          <p15:clr>
            <a:srgbClr val="F26B43"/>
          </p15:clr>
        </p15:guide>
        <p15:guide id="2" orient="horz" pos="2880">
          <p15:clr>
            <a:srgbClr val="F26B43"/>
          </p15:clr>
        </p15:guide>
        <p15:guide id="3" pos="272">
          <p15:clr>
            <a:srgbClr val="F26B43"/>
          </p15:clr>
        </p15:guide>
        <p15:guide id="4" pos="99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chart" Target="../charts/chart1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6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20.xml"/><Relationship Id="rId5" Type="http://schemas.openxmlformats.org/officeDocument/2006/relationships/chart" Target="../charts/chart19.xml"/><Relationship Id="rId4" Type="http://schemas.openxmlformats.org/officeDocument/2006/relationships/chart" Target="../charts/char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24.xml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28.xml"/><Relationship Id="rId5" Type="http://schemas.openxmlformats.org/officeDocument/2006/relationships/chart" Target="../charts/chart27.xml"/><Relationship Id="rId4" Type="http://schemas.openxmlformats.org/officeDocument/2006/relationships/chart" Target="../charts/char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9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2.xml"/><Relationship Id="rId5" Type="http://schemas.openxmlformats.org/officeDocument/2006/relationships/chart" Target="../charts/chart31.xml"/><Relationship Id="rId4" Type="http://schemas.openxmlformats.org/officeDocument/2006/relationships/chart" Target="../charts/chart3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36.xml"/><Relationship Id="rId5" Type="http://schemas.openxmlformats.org/officeDocument/2006/relationships/chart" Target="../charts/chart35.xml"/><Relationship Id="rId4" Type="http://schemas.openxmlformats.org/officeDocument/2006/relationships/chart" Target="../charts/chart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40.xml"/><Relationship Id="rId5" Type="http://schemas.openxmlformats.org/officeDocument/2006/relationships/chart" Target="../charts/chart39.xml"/><Relationship Id="rId4" Type="http://schemas.openxmlformats.org/officeDocument/2006/relationships/chart" Target="../charts/chart3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E49F3A7F-FA5C-175D-CB5A-F355DAEA3D80}"/>
              </a:ext>
            </a:extLst>
          </p:cNvPr>
          <p:cNvGrpSpPr/>
          <p:nvPr/>
        </p:nvGrpSpPr>
        <p:grpSpPr>
          <a:xfrm>
            <a:off x="493776" y="1277169"/>
            <a:ext cx="11204463" cy="1303020"/>
            <a:chOff x="493776" y="1220724"/>
            <a:chExt cx="11204463" cy="1303020"/>
          </a:xfrm>
        </p:grpSpPr>
        <p:sp>
          <p:nvSpPr>
            <p:cNvPr id="7" name="Rectangle 6"/>
            <p:cNvSpPr/>
            <p:nvPr/>
          </p:nvSpPr>
          <p:spPr>
            <a:xfrm>
              <a:off x="493776" y="1220724"/>
              <a:ext cx="11204463" cy="13030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F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93776" y="1220724"/>
              <a:ext cx="41148" cy="1303020"/>
            </a:xfrm>
            <a:prstGeom prst="rect">
              <a:avLst/>
            </a:prstGeom>
            <a:solidFill>
              <a:srgbClr val="1380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99516" y="1357884"/>
              <a:ext cx="891540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825" b="1">
                  <a:solidFill>
                    <a:srgbClr val="13807B"/>
                  </a:solidFill>
                  <a:latin typeface="Calibri"/>
                </a:rPr>
                <a:t>CAPA 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99516" y="1549907"/>
              <a:ext cx="2468880" cy="4320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8000"/>
                </a:lnSpc>
              </a:pPr>
              <a:r>
                <a:rPr sz="1350" b="1">
                  <a:solidFill>
                    <a:srgbClr val="0B2E2C"/>
                  </a:solidFill>
                  <a:latin typeface="Calibri"/>
                </a:rPr>
                <a:t>Mirada interna · </a:t>
              </a:r>
              <a:r>
                <a:rPr sz="1350" b="1" err="1">
                  <a:solidFill>
                    <a:srgbClr val="0B2E2C"/>
                  </a:solidFill>
                  <a:latin typeface="Calibri"/>
                </a:rPr>
                <a:t>Segmentación</a:t>
              </a:r>
              <a:endParaRPr sz="1350" b="1">
                <a:solidFill>
                  <a:srgbClr val="0B2E2C"/>
                </a:solidFill>
                <a:latin typeface="Calibri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99516" y="2167127"/>
              <a:ext cx="1817370" cy="205740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148" tIns="20574" rIns="41148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1050" b="1">
                  <a:solidFill>
                    <a:srgbClr val="13807B"/>
                  </a:solidFill>
                  <a:latin typeface="Calibri"/>
                </a:rPr>
                <a:t>Completada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3374136" y="1412748"/>
              <a:ext cx="0" cy="918972"/>
            </a:xfrm>
            <a:prstGeom prst="line">
              <a:avLst/>
            </a:prstGeom>
            <a:ln w="12700">
              <a:solidFill>
                <a:srgbClr val="D5DF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579876" y="1385316"/>
              <a:ext cx="315468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00" b="1">
                  <a:solidFill>
                    <a:srgbClr val="13807B"/>
                  </a:solidFill>
                  <a:latin typeface="Calibri"/>
                </a:rPr>
                <a:t>¿Quién es el cliente?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79876" y="1632204"/>
              <a:ext cx="4046220" cy="5062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6000"/>
                </a:lnSpc>
              </a:pPr>
              <a:r>
                <a:rPr sz="900">
                  <a:solidFill>
                    <a:srgbClr val="3E5553"/>
                  </a:solidFill>
                  <a:latin typeface="Calibri"/>
                </a:rPr>
                <a:t>Con la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información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propia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de IBK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identificamos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patrones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de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comportamiento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y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construimos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segmentos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; de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esos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patrones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inferimos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el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nivel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de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sensibilidad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al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precio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de </a:t>
              </a:r>
              <a:r>
                <a:rPr sz="900" err="1">
                  <a:solidFill>
                    <a:srgbClr val="3E5553"/>
                  </a:solidFill>
                  <a:latin typeface="Calibri"/>
                </a:rPr>
                <a:t>cada</a:t>
              </a:r>
              <a:r>
                <a:rPr sz="900">
                  <a:solidFill>
                    <a:srgbClr val="3E5553"/>
                  </a:solidFill>
                  <a:latin typeface="Calibri"/>
                </a:rPr>
                <a:t> uno.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900416" y="1495044"/>
              <a:ext cx="301584" cy="288036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0C514E"/>
                  </a:solidFill>
                  <a:latin typeface="Calibri"/>
                </a:rPr>
                <a:t>1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311728" y="1495044"/>
              <a:ext cx="301584" cy="288036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0C514E"/>
                  </a:solidFill>
                  <a:latin typeface="Calibri"/>
                </a:rPr>
                <a:t>2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723040" y="1495044"/>
              <a:ext cx="301584" cy="288036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0C514E"/>
                  </a:solidFill>
                  <a:latin typeface="Calibri"/>
                </a:rPr>
                <a:t>3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134353" y="1495044"/>
              <a:ext cx="301584" cy="288036"/>
            </a:xfrm>
            <a:prstGeom prst="rect">
              <a:avLst/>
            </a:prstGeom>
            <a:solidFill>
              <a:srgbClr val="FCF3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C87A0B"/>
                  </a:solidFill>
                  <a:latin typeface="Calibri"/>
                </a:rPr>
                <a:t>4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545665" y="1495044"/>
              <a:ext cx="301584" cy="288036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445A6E"/>
                  </a:solidFill>
                  <a:latin typeface="Calibri"/>
                </a:rPr>
                <a:t>5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956978" y="1495044"/>
              <a:ext cx="301584" cy="288036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445A6E"/>
                  </a:solidFill>
                  <a:latin typeface="Calibri"/>
                </a:rPr>
                <a:t>6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368290" y="1495044"/>
              <a:ext cx="301584" cy="288036"/>
            </a:xfrm>
            <a:prstGeom prst="rect">
              <a:avLst/>
            </a:prstGeom>
            <a:solidFill>
              <a:srgbClr val="F1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6E7E7D"/>
                  </a:solidFill>
                  <a:latin typeface="Calibri"/>
                </a:rPr>
                <a:t>7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0779602" y="1495044"/>
              <a:ext cx="301584" cy="288036"/>
            </a:xfrm>
            <a:prstGeom prst="rect">
              <a:avLst/>
            </a:prstGeom>
            <a:solidFill>
              <a:srgbClr val="F1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6E7E7D"/>
                  </a:solidFill>
                  <a:latin typeface="Calibri"/>
                </a:rPr>
                <a:t>8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1190914" y="1495044"/>
              <a:ext cx="301584" cy="288036"/>
            </a:xfrm>
            <a:prstGeom prst="rect">
              <a:avLst/>
            </a:prstGeom>
            <a:solidFill>
              <a:srgbClr val="F1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6E7E7D"/>
                  </a:solidFill>
                  <a:latin typeface="Calibri"/>
                </a:rPr>
                <a:t>9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900416" y="1851660"/>
              <a:ext cx="3592083" cy="1212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788" i="1">
                  <a:solidFill>
                    <a:srgbClr val="6E7E7D"/>
                  </a:solidFill>
                  <a:latin typeface="Calibri"/>
                </a:rPr>
                <a:t>9 segmentos → 4 macroperfiles de negocio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900416" y="2057400"/>
              <a:ext cx="3592083" cy="1215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sz="750">
                  <a:solidFill>
                    <a:srgbClr val="6E7E7D"/>
                  </a:solidFill>
                  <a:latin typeface="Calibri"/>
                </a:rPr>
                <a:t>Data IBK: comportamiento, vinculación, utilidad y transaccionalidad</a:t>
              </a:r>
            </a:p>
          </p:txBody>
        </p:sp>
      </p:grpSp>
      <p:cxnSp>
        <p:nvCxnSpPr>
          <p:cNvPr id="26" name="Connector 25"/>
          <p:cNvCxnSpPr>
            <a:cxnSpLocks/>
          </p:cNvCxnSpPr>
          <p:nvPr/>
        </p:nvCxnSpPr>
        <p:spPr>
          <a:xfrm>
            <a:off x="1760601" y="2717927"/>
            <a:ext cx="0" cy="109729"/>
          </a:xfrm>
          <a:prstGeom prst="line">
            <a:avLst/>
          </a:prstGeom>
          <a:ln w="22225">
            <a:solidFill>
              <a:srgbClr val="2F9E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C002A0B-32AD-F806-BBF9-76A505EE17C7}"/>
              </a:ext>
            </a:extLst>
          </p:cNvPr>
          <p:cNvGrpSpPr/>
          <p:nvPr/>
        </p:nvGrpSpPr>
        <p:grpSpPr>
          <a:xfrm>
            <a:off x="493767" y="3019101"/>
            <a:ext cx="11204463" cy="1303020"/>
            <a:chOff x="493776" y="2647188"/>
            <a:chExt cx="11204463" cy="1303020"/>
          </a:xfrm>
        </p:grpSpPr>
        <p:sp>
          <p:nvSpPr>
            <p:cNvPr id="27" name="Rectangle 26"/>
            <p:cNvSpPr/>
            <p:nvPr/>
          </p:nvSpPr>
          <p:spPr>
            <a:xfrm>
              <a:off x="493776" y="2647188"/>
              <a:ext cx="11204463" cy="13030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F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93776" y="2647188"/>
              <a:ext cx="41148" cy="1303020"/>
            </a:xfrm>
            <a:prstGeom prst="rect">
              <a:avLst/>
            </a:prstGeom>
            <a:solidFill>
              <a:srgbClr val="C87A0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99516" y="2784348"/>
              <a:ext cx="891540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825" b="1">
                  <a:solidFill>
                    <a:srgbClr val="C87A0B"/>
                  </a:solidFill>
                  <a:latin typeface="Calibri"/>
                </a:rPr>
                <a:t>CAPA 2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99516" y="2976372"/>
              <a:ext cx="2468880" cy="4320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8000"/>
                </a:lnSpc>
              </a:pPr>
              <a:r>
                <a:rPr sz="1350" b="1" err="1">
                  <a:solidFill>
                    <a:srgbClr val="0B2E2C"/>
                  </a:solidFill>
                  <a:latin typeface="Calibri"/>
                </a:rPr>
                <a:t>Oferta</a:t>
              </a:r>
              <a:r>
                <a:rPr sz="1350" b="1">
                  <a:solidFill>
                    <a:srgbClr val="0B2E2C"/>
                  </a:solidFill>
                  <a:latin typeface="Calibri"/>
                </a:rPr>
                <a:t> </a:t>
              </a:r>
              <a:r>
                <a:rPr sz="1350" b="1" err="1">
                  <a:solidFill>
                    <a:srgbClr val="0B2E2C"/>
                  </a:solidFill>
                  <a:latin typeface="Calibri"/>
                </a:rPr>
                <a:t>relevante</a:t>
              </a:r>
              <a:r>
                <a:rPr sz="1350" b="1">
                  <a:solidFill>
                    <a:srgbClr val="0B2E2C"/>
                  </a:solidFill>
                  <a:latin typeface="Calibri"/>
                </a:rPr>
                <a:t> · Share of Sales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99516" y="3593592"/>
              <a:ext cx="1817370" cy="205740"/>
            </a:xfrm>
            <a:prstGeom prst="rect">
              <a:avLst/>
            </a:prstGeom>
            <a:solidFill>
              <a:srgbClr val="FCF3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148" tIns="20574" rIns="41148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lang="es-419" sz="900" b="1">
                  <a:solidFill>
                    <a:srgbClr val="C87A0B"/>
                  </a:solidFill>
                  <a:latin typeface="Calibri"/>
                </a:rPr>
                <a:t>A</a:t>
              </a:r>
              <a:r>
                <a:rPr sz="900" b="1">
                  <a:solidFill>
                    <a:srgbClr val="C87A0B"/>
                  </a:solidFill>
                  <a:latin typeface="Calibri"/>
                </a:rPr>
                <a:t> </a:t>
              </a:r>
              <a:r>
                <a:rPr sz="900" b="1" err="1">
                  <a:solidFill>
                    <a:srgbClr val="C87A0B"/>
                  </a:solidFill>
                  <a:latin typeface="Calibri"/>
                </a:rPr>
                <a:t>revisar</a:t>
              </a:r>
              <a:endParaRPr sz="900" b="1">
                <a:solidFill>
                  <a:srgbClr val="C87A0B"/>
                </a:solidFill>
                <a:latin typeface="Calibri"/>
              </a:endParaRPr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3374136" y="2839212"/>
              <a:ext cx="0" cy="918972"/>
            </a:xfrm>
            <a:prstGeom prst="line">
              <a:avLst/>
            </a:prstGeom>
            <a:ln w="12700">
              <a:solidFill>
                <a:srgbClr val="D5DF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3579876" y="2811780"/>
              <a:ext cx="315468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00" b="1">
                  <a:solidFill>
                    <a:srgbClr val="C87A0B"/>
                  </a:solidFill>
                  <a:latin typeface="Calibri"/>
                </a:rPr>
                <a:t>¿Cuánto de su negocio capturamos?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79876" y="3058668"/>
              <a:ext cx="4046220" cy="50622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6000"/>
                </a:lnSpc>
              </a:pPr>
              <a:r>
                <a:rPr sz="900">
                  <a:solidFill>
                    <a:srgbClr val="3E5553"/>
                  </a:solidFill>
                  <a:latin typeface="Calibri"/>
                </a:rPr>
                <a:t>El share of sales mide la posición de IBK dentro de cada segmento: de la oferta total, qué demanda se observó y cuánto desembolsó IBK frente a la competencia.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7900416" y="2825496"/>
              <a:ext cx="3592083" cy="274320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445A6E"/>
                  </a:solidFill>
                  <a:latin typeface="Calibri"/>
                </a:rPr>
                <a:t>Oferta total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511070" y="3154680"/>
              <a:ext cx="2370775" cy="274320"/>
            </a:xfrm>
            <a:prstGeom prst="rect">
              <a:avLst/>
            </a:prstGeom>
            <a:solidFill>
              <a:srgbClr val="FCF3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C87A0B"/>
                  </a:solidFill>
                  <a:latin typeface="Calibri"/>
                </a:rPr>
                <a:t>Demanda observada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9049883" y="3483864"/>
              <a:ext cx="1293149" cy="274320"/>
            </a:xfrm>
            <a:prstGeom prst="rect">
              <a:avLst/>
            </a:prstGeom>
            <a:solidFill>
              <a:srgbClr val="ECF6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4290" tIns="20574" rIns="34290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788" b="1">
                  <a:solidFill>
                    <a:srgbClr val="0C514E"/>
                  </a:solidFill>
                  <a:latin typeface="Calibri"/>
                </a:rPr>
                <a:t>Desembolsos IBK  ·  éxito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900416" y="3813048"/>
              <a:ext cx="3592083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750" i="1">
                  <a:solidFill>
                    <a:srgbClr val="6E7E7D"/>
                  </a:solidFill>
                  <a:latin typeface="Calibri"/>
                </a:rPr>
                <a:t>el resto desembolsó con la competencia → fracaso</a:t>
              </a:r>
            </a:p>
          </p:txBody>
        </p:sp>
      </p:grpSp>
      <p:cxnSp>
        <p:nvCxnSpPr>
          <p:cNvPr id="39" name="Connector 38"/>
          <p:cNvCxnSpPr/>
          <p:nvPr/>
        </p:nvCxnSpPr>
        <p:spPr>
          <a:xfrm>
            <a:off x="1760601" y="4532396"/>
            <a:ext cx="0" cy="109728"/>
          </a:xfrm>
          <a:prstGeom prst="line">
            <a:avLst/>
          </a:prstGeom>
          <a:ln w="22225">
            <a:solidFill>
              <a:srgbClr val="2F9E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449325C-4E7E-D2A3-3D61-51D32382A789}"/>
              </a:ext>
            </a:extLst>
          </p:cNvPr>
          <p:cNvGrpSpPr/>
          <p:nvPr/>
        </p:nvGrpSpPr>
        <p:grpSpPr>
          <a:xfrm>
            <a:off x="493768" y="4929321"/>
            <a:ext cx="11204463" cy="1303020"/>
            <a:chOff x="493776" y="4073652"/>
            <a:chExt cx="11204463" cy="1303020"/>
          </a:xfrm>
        </p:grpSpPr>
        <p:sp>
          <p:nvSpPr>
            <p:cNvPr id="40" name="Rectangle 39"/>
            <p:cNvSpPr/>
            <p:nvPr/>
          </p:nvSpPr>
          <p:spPr>
            <a:xfrm>
              <a:off x="493776" y="4073652"/>
              <a:ext cx="11204463" cy="13030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F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93776" y="4073652"/>
              <a:ext cx="41148" cy="1303020"/>
            </a:xfrm>
            <a:prstGeom prst="rect">
              <a:avLst/>
            </a:prstGeom>
            <a:solidFill>
              <a:srgbClr val="445A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99516" y="4210812"/>
              <a:ext cx="891540" cy="126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825" b="1">
                  <a:solidFill>
                    <a:srgbClr val="445A6E"/>
                  </a:solidFill>
                  <a:latin typeface="Calibri"/>
                </a:rPr>
                <a:t>CAPA 3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99516" y="4402836"/>
              <a:ext cx="2468880" cy="20768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8000"/>
                </a:lnSpc>
              </a:pPr>
              <a:r>
                <a:rPr sz="1350" b="1">
                  <a:solidFill>
                    <a:srgbClr val="0B2E2C"/>
                  </a:solidFill>
                  <a:latin typeface="Calibri"/>
                </a:rPr>
                <a:t>Mercado · </a:t>
              </a:r>
              <a:r>
                <a:rPr sz="1350" b="1" err="1">
                  <a:solidFill>
                    <a:srgbClr val="0B2E2C"/>
                  </a:solidFill>
                  <a:latin typeface="Calibri"/>
                </a:rPr>
                <a:t>Diferencia</a:t>
              </a:r>
              <a:r>
                <a:rPr sz="1350" b="1">
                  <a:solidFill>
                    <a:srgbClr val="0B2E2C"/>
                  </a:solidFill>
                  <a:latin typeface="Calibri"/>
                </a:rPr>
                <a:t> de </a:t>
              </a:r>
              <a:r>
                <a:rPr sz="1350" b="1" err="1">
                  <a:solidFill>
                    <a:srgbClr val="0B2E2C"/>
                  </a:solidFill>
                  <a:latin typeface="Calibri"/>
                </a:rPr>
                <a:t>tasas</a:t>
              </a:r>
              <a:endParaRPr sz="1350" b="1">
                <a:solidFill>
                  <a:srgbClr val="0B2E2C"/>
                </a:solidFill>
                <a:latin typeface="Calibri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99516" y="5020056"/>
              <a:ext cx="1817370" cy="205740"/>
            </a:xfrm>
            <a:prstGeom prst="rect">
              <a:avLst/>
            </a:prstGeom>
            <a:solidFill>
              <a:srgbClr val="ECF0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1148" tIns="20574" rIns="41148" bIns="20574" rtlCol="0" anchor="ctr"/>
            <a:lstStyle/>
            <a:p>
              <a:pPr algn="ctr">
                <a:lnSpc>
                  <a:spcPct val="100000"/>
                </a:lnSpc>
              </a:pPr>
              <a:r>
                <a:rPr sz="1050" b="1">
                  <a:solidFill>
                    <a:srgbClr val="445A6E"/>
                  </a:solidFill>
                  <a:latin typeface="Calibri"/>
                </a:rPr>
                <a:t>Última capa</a:t>
              </a:r>
            </a:p>
          </p:txBody>
        </p:sp>
        <p:cxnSp>
          <p:nvCxnSpPr>
            <p:cNvPr id="45" name="Connector 44"/>
            <p:cNvCxnSpPr/>
            <p:nvPr/>
          </p:nvCxnSpPr>
          <p:spPr>
            <a:xfrm>
              <a:off x="3374136" y="4265676"/>
              <a:ext cx="0" cy="918972"/>
            </a:xfrm>
            <a:prstGeom prst="line">
              <a:avLst/>
            </a:prstGeom>
            <a:ln w="12700">
              <a:solidFill>
                <a:srgbClr val="D5DFD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3579876" y="4238244"/>
              <a:ext cx="315468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1200" b="1">
                  <a:solidFill>
                    <a:srgbClr val="445A6E"/>
                  </a:solidFill>
                  <a:latin typeface="Calibri"/>
                </a:rPr>
                <a:t>¿A qué precio juega el mercado?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579876" y="4485132"/>
              <a:ext cx="4046220" cy="33169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6000"/>
                </a:lnSpc>
              </a:pPr>
              <a:r>
                <a:rPr sz="900">
                  <a:solidFill>
                    <a:srgbClr val="3E5553"/>
                  </a:solidFill>
                  <a:latin typeface="Calibri"/>
                </a:rPr>
                <a:t>Se incorpora cómo vienen las tasas de IBK frente al mercado y la competencia: la capa que completa la lectura de sensibilidad al precio.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900416" y="4320540"/>
              <a:ext cx="548640" cy="1212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788" b="1">
                  <a:solidFill>
                    <a:srgbClr val="445A6E"/>
                  </a:solidFill>
                  <a:latin typeface="Calibri"/>
                </a:rPr>
                <a:t>IBK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483346" y="4306824"/>
              <a:ext cx="1968594" cy="178308"/>
            </a:xfrm>
            <a:prstGeom prst="rect">
              <a:avLst/>
            </a:prstGeom>
            <a:solidFill>
              <a:srgbClr val="445A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900416" y="4608576"/>
              <a:ext cx="548640" cy="1212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788" b="1">
                  <a:solidFill>
                    <a:srgbClr val="13807B"/>
                  </a:solidFill>
                  <a:latin typeface="Calibri"/>
                </a:rPr>
                <a:t>Mercado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8483347" y="4594860"/>
              <a:ext cx="1602344" cy="178308"/>
            </a:xfrm>
            <a:prstGeom prst="rect">
              <a:avLst/>
            </a:prstGeom>
            <a:solidFill>
              <a:srgbClr val="1380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sz="2100"/>
            </a:p>
          </p:txBody>
        </p:sp>
        <p:cxnSp>
          <p:nvCxnSpPr>
            <p:cNvPr id="52" name="Connector 51"/>
            <p:cNvCxnSpPr/>
            <p:nvPr/>
          </p:nvCxnSpPr>
          <p:spPr>
            <a:xfrm>
              <a:off x="10085690" y="4265676"/>
              <a:ext cx="0" cy="562356"/>
            </a:xfrm>
            <a:prstGeom prst="line">
              <a:avLst/>
            </a:prstGeom>
            <a:ln w="15875">
              <a:solidFill>
                <a:srgbClr val="C04B4B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9708500" y="4869180"/>
              <a:ext cx="1645920" cy="1154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50" b="1">
                  <a:solidFill>
                    <a:srgbClr val="C04B4B"/>
                  </a:solidFill>
                  <a:latin typeface="Calibri"/>
                </a:rPr>
                <a:t>Δ tasas vs. competencia</a:t>
              </a:r>
            </a:p>
          </p:txBody>
        </p: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0A0355B6-3BB5-7098-0540-B5103E5A7F91}"/>
              </a:ext>
            </a:extLst>
          </p:cNvPr>
          <p:cNvSpPr/>
          <p:nvPr/>
        </p:nvSpPr>
        <p:spPr>
          <a:xfrm>
            <a:off x="184826" y="1097915"/>
            <a:ext cx="11813322" cy="1578286"/>
          </a:xfrm>
          <a:prstGeom prst="rect">
            <a:avLst/>
          </a:prstGeom>
          <a:solidFill>
            <a:srgbClr val="D1D1D1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5764FF1-95AB-038D-63DE-5065F3180336}"/>
              </a:ext>
            </a:extLst>
          </p:cNvPr>
          <p:cNvSpPr/>
          <p:nvPr/>
        </p:nvSpPr>
        <p:spPr>
          <a:xfrm>
            <a:off x="184826" y="2822455"/>
            <a:ext cx="11813322" cy="1578286"/>
          </a:xfrm>
          <a:prstGeom prst="rect">
            <a:avLst/>
          </a:prstGeom>
          <a:solidFill>
            <a:srgbClr val="D1D1D1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E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6D0FA5A7-8B8E-8049-9671-318877DED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6888E979-F666-AF37-E360-98F8BD6B4275}"/>
              </a:ext>
            </a:extLst>
          </p:cNvPr>
          <p:cNvSpPr txBox="1"/>
          <p:nvPr/>
        </p:nvSpPr>
        <p:spPr>
          <a:xfrm>
            <a:off x="493777" y="246888"/>
            <a:ext cx="896357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s-PE" sz="800" b="1">
                <a:solidFill>
                  <a:srgbClr val="6E7E7D"/>
                </a:solidFill>
                <a:latin typeface="Calibri"/>
                <a:ea typeface="Calibri"/>
                <a:cs typeface="Calibri"/>
              </a:rPr>
              <a:t>OFERTA RELEVANTE</a:t>
            </a:r>
            <a:r>
              <a:rPr sz="800" b="1">
                <a:solidFill>
                  <a:srgbClr val="6E7E7D"/>
                </a:solidFill>
                <a:latin typeface="Calibri"/>
                <a:ea typeface="Calibri"/>
                <a:cs typeface="Calibri"/>
              </a:rPr>
              <a:t> · MARCO METODOLÓGICO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59D8B53D-FB31-7D1D-E9C5-3BAE64A9BA2E}"/>
              </a:ext>
            </a:extLst>
          </p:cNvPr>
          <p:cNvSpPr txBox="1"/>
          <p:nvPr/>
        </p:nvSpPr>
        <p:spPr>
          <a:xfrm>
            <a:off x="493776" y="425196"/>
            <a:ext cx="10312923" cy="452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La </a:t>
            </a:r>
            <a:r>
              <a:rPr sz="1600" b="1" err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sensibilidad</a:t>
            </a: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 al </a:t>
            </a:r>
            <a:r>
              <a:rPr sz="1600" b="1" err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precio</a:t>
            </a: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 se </a:t>
            </a:r>
            <a:r>
              <a:rPr sz="1600" b="1" err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construye</a:t>
            </a: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 </a:t>
            </a:r>
            <a:r>
              <a:rPr sz="1600" b="1" err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en</a:t>
            </a: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 </a:t>
            </a:r>
            <a:r>
              <a:rPr sz="1600" b="1" err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tres</a:t>
            </a: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 </a:t>
            </a:r>
            <a:r>
              <a:rPr sz="1600" b="1" err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capas</a:t>
            </a: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: </a:t>
            </a:r>
            <a:r>
              <a:rPr sz="1600" b="1" err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quién</a:t>
            </a: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 es el </a:t>
            </a:r>
            <a:r>
              <a:rPr sz="1600" b="1" err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cliente</a:t>
            </a: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, </a:t>
            </a:r>
            <a:r>
              <a:rPr sz="1600" b="1" err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cuánto</a:t>
            </a: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 de</a:t>
            </a:r>
            <a:r>
              <a:rPr lang="es-419"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l </a:t>
            </a:r>
            <a:r>
              <a:rPr sz="1600" b="1" err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negocio</a:t>
            </a: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 </a:t>
            </a:r>
            <a:r>
              <a:rPr sz="1600" b="1" err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tenemos</a:t>
            </a: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 y a </a:t>
            </a:r>
            <a:r>
              <a:rPr sz="1600" b="1" err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qué</a:t>
            </a: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 </a:t>
            </a:r>
            <a:r>
              <a:rPr sz="1600" b="1" err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precio</a:t>
            </a: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 </a:t>
            </a:r>
            <a:r>
              <a:rPr sz="1600" b="1" err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juega</a:t>
            </a:r>
            <a:r>
              <a:rPr sz="1600" b="1">
                <a:solidFill>
                  <a:srgbClr val="13807B"/>
                </a:solidFill>
                <a:latin typeface="Poppins"/>
                <a:ea typeface="Poppins"/>
                <a:cs typeface="Poppins"/>
              </a:rPr>
              <a:t> el mercado</a:t>
            </a:r>
          </a:p>
        </p:txBody>
      </p:sp>
      <p:cxnSp>
        <p:nvCxnSpPr>
          <p:cNvPr id="54" name="Connector 3">
            <a:extLst>
              <a:ext uri="{FF2B5EF4-FFF2-40B4-BE49-F238E27FC236}">
                <a16:creationId xmlns:a16="http://schemas.microsoft.com/office/drawing/2014/main" id="{41CD8226-4A7C-B4D2-F6EE-462C67494CB9}"/>
              </a:ext>
            </a:extLst>
          </p:cNvPr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8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CONTEXTO · COBERTURA DE LA TASA INFERIDA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Poppins"/>
              </a:rPr>
              <a:t>54% de los desembolsos de la competencia tiene tasa inferida en nuestro análisis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" y="1100000"/>
            <a:ext cx="650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3807B"/>
                </a:solidFill>
                <a:latin typeface="Calibri"/>
              </a:rPr>
              <a:t>De los desembolsos de la competencia del share relevante a los que tienen tasa inferida (abr 2025 – may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0000" y="1100000"/>
            <a:ext cx="455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3807B"/>
                </a:solidFill>
                <a:latin typeface="Calibri"/>
              </a:rPr>
              <a:t>Desembolsos de la competencia por cluster (total entre paréntesis)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93776" y="1400000"/>
          <a:ext cx="6500000" cy="5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50000" y="1400000"/>
          <a:ext cx="4545000" cy="5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600000" y="6380000"/>
            <a:ext cx="30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3807B"/>
                </a:solidFill>
              </a:rPr>
              <a:t>■ </a:t>
            </a:r>
            <a:r>
              <a:rPr sz="900">
                <a:solidFill>
                  <a:srgbClr val="4B5552"/>
                </a:solidFill>
              </a:rPr>
              <a:t>Con tasa inferida     </a:t>
            </a:r>
            <a:r>
              <a:rPr sz="900">
                <a:solidFill>
                  <a:srgbClr val="E5173F"/>
                </a:solidFill>
              </a:rPr>
              <a:t>■ </a:t>
            </a:r>
            <a:r>
              <a:rPr sz="900">
                <a:solidFill>
                  <a:srgbClr val="4B5552"/>
                </a:solidFill>
              </a:rPr>
              <a:t>Sin tasa inferida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CONTEXTO · COBERTURA DE LA TASA INFERIDA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Poppins"/>
              </a:rPr>
              <a:t>44% de los desembolsos de la competencia tiene tasa inferida en nuestro análisis (2026)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" y="1100000"/>
            <a:ext cx="650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3807B"/>
                </a:solidFill>
                <a:latin typeface="Calibri"/>
              </a:rPr>
              <a:t>De los desembolsos de la competencia del share relevante a los que tienen tasa inferida (ene – may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0000" y="1100000"/>
            <a:ext cx="455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3807B"/>
                </a:solidFill>
                <a:latin typeface="Calibri"/>
              </a:rPr>
              <a:t>Desembolsos de la competencia por cluster (total entre paréntesis)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93776" y="1400000"/>
          <a:ext cx="6500000" cy="5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50000" y="1400000"/>
          <a:ext cx="4545000" cy="5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600000" y="6380000"/>
            <a:ext cx="30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13807B"/>
                </a:solidFill>
              </a:rPr>
              <a:t>■ </a:t>
            </a:r>
            <a:r>
              <a:rPr sz="900">
                <a:solidFill>
                  <a:srgbClr val="4B5552"/>
                </a:solidFill>
              </a:rPr>
              <a:t>Con tasa inferida     </a:t>
            </a:r>
            <a:r>
              <a:rPr sz="900">
                <a:solidFill>
                  <a:srgbClr val="E5173F"/>
                </a:solidFill>
              </a:rPr>
              <a:t>■ </a:t>
            </a:r>
            <a:r>
              <a:rPr sz="900">
                <a:solidFill>
                  <a:srgbClr val="4B5552"/>
                </a:solidFill>
              </a:rPr>
              <a:t>Sin tasa inferida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SHARE RELEVANTE Y TASA POR APERTURAS · COBERTURA Y MATERIALIDAD · ABR 25–MAY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Poppins"/>
              </a:rPr>
              <a:t>Las 18 aperturas concentran 59% de las tasas inferidas de abr 25–may 26 y las que tienen materialidad, 46%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3776" y="1150000"/>
          <a:ext cx="9450000" cy="5003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Segmento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Apertura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Fracasos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Con tasa inferida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Cobertura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% de las tasas inferidas del periodo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Materialidad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Ancla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74%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1,2%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Ancla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&gt; 350K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158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83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53%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3,9%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3807B"/>
                          </a:solidFill>
                          <a:latin typeface="Calibri"/>
                        </a:rPr>
                        <a:t>Concluyente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Estratégica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26%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0,4%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Estratégica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&gt; 350K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247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5,4%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3807B"/>
                          </a:solidFill>
                          <a:latin typeface="Calibri"/>
                        </a:rPr>
                        <a:t>Concluyente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Maduro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&gt; 350K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217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43%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4,3%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3807B"/>
                          </a:solidFill>
                          <a:latin typeface="Calibri"/>
                        </a:rPr>
                        <a:t>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Maduro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250–350K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237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127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54%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5,9%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3807B"/>
                          </a:solidFill>
                          <a:latin typeface="Calibri"/>
                        </a:rPr>
                        <a:t>Concluyente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Socio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Pasivos ≥ 5K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196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9,1%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3807B"/>
                          </a:solidFill>
                          <a:latin typeface="Calibri"/>
                        </a:rPr>
                        <a:t>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Socio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Pasivos &lt; 1K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388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257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11,9%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3807B"/>
                          </a:solidFill>
                          <a:latin typeface="Calibri"/>
                        </a:rPr>
                        <a:t>Concluyente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Gran Cuenta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SSFF ≤ 1,5MM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54%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1,8%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3807B"/>
                          </a:solidFill>
                          <a:latin typeface="Calibri"/>
                        </a:rPr>
                        <a:t>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Gran Cuenta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SSFF 1,5–3,8MM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247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114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46%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5,3%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Reactivar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Pasivos ≥ 5K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52%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1,3%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Reactivar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Pasivos &lt; 1K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1,5%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3807B"/>
                          </a:solidFill>
                          <a:latin typeface="Calibri"/>
                        </a:rPr>
                        <a:t>Concluyente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Próximo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0,7%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Próximo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&gt; 250K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1,0%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Nuevo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54%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1,3%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Nuevo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&gt; 250K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2,6%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3807B"/>
                          </a:solidFill>
                          <a:latin typeface="Calibri"/>
                        </a:rPr>
                        <a:t>Concluyente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Izipay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Pasivos 1–20K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46%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0,6%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Izipay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Pasivos &lt; 1K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54%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0,6%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Concluyentes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1.805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46%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6E7E7D"/>
                          </a:solidFill>
                          <a:latin typeface="Calibri"/>
                        </a:rPr>
                        <a:t>Usadas en insights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Con materialidad (concluyentes + indicativas)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1.805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46%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6E7E7D"/>
                          </a:solidFill>
                          <a:latin typeface="Calibri"/>
                        </a:rPr>
                        <a:t>Base de los insights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Total 18 aperturas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2.349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1.268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54%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59%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6E7E7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Total de fracasos del share relevante (abr 25–may 26)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3.969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2.154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54%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6E7E7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SHARE RELEVANTE Y TASA POR APERTURAS · QUÉ ESTAMOS ANALIZANDO · MATERIALIDAD ABR 25–MAY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Poppins"/>
              </a:rPr>
              <a:t>Analizamos 9 segmentos abiertos en 2 tramos: con materialidad de la competencia concluimos con su tasa y sin ella revisamos la negociación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" y="1150000"/>
            <a:ext cx="63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18 aperturas: 9 segmentos abiertos por la variable que mejor separa su share</a:t>
            </a:r>
            <a:r>
              <a:rPr sz="900" b="1">
                <a:solidFill>
                  <a:srgbClr val="13807B"/>
                </a:solidFill>
                <a:latin typeface="Calibri"/>
              </a:rPr>
              <a:t>  ·  materialidad abr 25–may 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3776" y="1420000"/>
          <a:ext cx="6300000" cy="33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Segmento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Variable de apertura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Tramo 1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Tramo 2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Cliente Ancla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Monto ofertado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3807B"/>
                          </a:solidFill>
                          <a:latin typeface="Calibri"/>
                        </a:rPr>
                        <a:t>&gt; 350K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Cuenta Estratégica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Monto ofertado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3807B"/>
                          </a:solidFill>
                          <a:latin typeface="Calibri"/>
                        </a:rPr>
                        <a:t>&gt; 350K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Maduro Multibanco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Monto ofertado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3807B"/>
                          </a:solidFill>
                          <a:latin typeface="Calibri"/>
                        </a:rPr>
                        <a:t>&gt; 350K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3807B"/>
                          </a:solidFill>
                          <a:latin typeface="Calibri"/>
                        </a:rPr>
                        <a:t>250–350K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Socio en Crecimiento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Pasivos promedio 12m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3807B"/>
                          </a:solidFill>
                          <a:latin typeface="Calibri"/>
                        </a:rPr>
                        <a:t>Pasivos ≥ 5K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3807B"/>
                          </a:solidFill>
                          <a:latin typeface="Calibri"/>
                        </a:rPr>
                        <a:t>Pasivos &lt; 1K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Gran Cuenta por Conquistar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Deuda en el SSFF 12m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3807B"/>
                          </a:solidFill>
                          <a:latin typeface="Calibri"/>
                        </a:rPr>
                        <a:t>SSFF ≤ 1,5MM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SSFF 1,5–3,8MM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Cliente por Reactivar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Pasivos promedio 12m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Pasivos ≥ 5K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3807B"/>
                          </a:solidFill>
                          <a:latin typeface="Calibri"/>
                        </a:rPr>
                        <a:t>Pasivos &lt; 1K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Próximo Recurrente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Monto ofertado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&gt; 250K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Nuevo en Expansión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Monto ofertado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3807B"/>
                          </a:solidFill>
                          <a:latin typeface="Calibri"/>
                        </a:rPr>
                        <a:t>&gt; 250K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Emprendedor Izipay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Pasivos promedio 12m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Pasivos 1–20K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Pasivos &lt; 1K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" y="4780000"/>
            <a:ext cx="63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3807B"/>
                </a:solidFill>
                <a:latin typeface="Calibri"/>
              </a:rPr>
              <a:t>■ </a:t>
            </a:r>
            <a:r>
              <a:rPr sz="800" b="0">
                <a:solidFill>
                  <a:srgbClr val="6E7E7D"/>
                </a:solidFill>
                <a:latin typeface="Calibri"/>
              </a:rPr>
              <a:t>Concluyente   </a:t>
            </a:r>
            <a:r>
              <a:rPr sz="900" b="1">
                <a:solidFill>
                  <a:srgbClr val="6E7E7D"/>
                </a:solidFill>
                <a:latin typeface="Calibri"/>
              </a:rPr>
              <a:t>■ </a:t>
            </a:r>
            <a:r>
              <a:rPr sz="800" b="0">
                <a:solidFill>
                  <a:srgbClr val="6E7E7D"/>
                </a:solidFill>
                <a:latin typeface="Calibri"/>
              </a:rPr>
              <a:t>Sin materialidad de la competencia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76" y="1150000"/>
            <a:ext cx="45514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Regla de lectura por apertura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43776" y="1420000"/>
            <a:ext cx="4551400" cy="65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60000" rIns="120000" bIns="6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¿Hay materialidad de la tasa de la competencia?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9476" y="2070000"/>
            <a:ext cx="0" cy="23000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244126" y="2300000"/>
            <a:ext cx="1175350" cy="0"/>
          </a:xfrm>
          <a:prstGeom prst="line">
            <a:avLst/>
          </a:prstGeom>
          <a:ln w="19050">
            <a:solidFill>
              <a:srgbClr val="13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44126" y="2300000"/>
            <a:ext cx="0" cy="380000"/>
          </a:xfrm>
          <a:prstGeom prst="line">
            <a:avLst/>
          </a:prstGeom>
          <a:ln w="19050">
            <a:solidFill>
              <a:srgbClr val="1380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04126" y="23800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3807B"/>
                </a:solidFill>
                <a:latin typeface="Calibri"/>
              </a:rPr>
              <a:t>Sí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43776" y="2680000"/>
            <a:ext cx="2200700" cy="150000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55000" rIns="110000" bIns="55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Concluimos con la tasa de la competencia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FFFFFF"/>
                </a:solidFill>
                <a:latin typeface="Calibri"/>
              </a:rPr>
              <a:t>Comparamos su TEA con nuestra TEA de oferta y de desembolso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19476" y="2070000"/>
            <a:ext cx="0" cy="23000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19476" y="2300000"/>
            <a:ext cx="1175350" cy="0"/>
          </a:xfrm>
          <a:prstGeom prst="line">
            <a:avLst/>
          </a:prstGeom>
          <a:ln w="19050">
            <a:solidFill>
              <a:srgbClr val="6E7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594826" y="2300000"/>
            <a:ext cx="0" cy="380000"/>
          </a:xfrm>
          <a:prstGeom prst="line">
            <a:avLst/>
          </a:prstGeom>
          <a:ln w="19050">
            <a:solidFill>
              <a:srgbClr val="6E7E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654826" y="23800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E7E7D"/>
                </a:solidFill>
                <a:latin typeface="Calibri"/>
              </a:rPr>
              <a:t>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94476" y="2680000"/>
            <a:ext cx="2200700" cy="1500000"/>
          </a:xfrm>
          <a:prstGeom prst="rect">
            <a:avLst/>
          </a:prstGeom>
          <a:solidFill>
            <a:srgbClr val="6E7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55000" rIns="110000" bIns="55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Revisamos la negociación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FFFFFF"/>
                </a:solidFill>
                <a:latin typeface="Calibri"/>
              </a:rPr>
              <a:t>Leemos la brecha entre oferta y desembolso y cómo se mueve el share frente a ella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76" y="4350000"/>
            <a:ext cx="4551400" cy="707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dirty="0">
                <a:solidFill>
                  <a:srgbClr val="2F3B3A"/>
                </a:solidFill>
                <a:latin typeface="Calibri"/>
              </a:rPr>
              <a:t>En </a:t>
            </a:r>
            <a:r>
              <a:rPr sz="900" b="1" dirty="0" err="1">
                <a:solidFill>
                  <a:srgbClr val="2F3B3A"/>
                </a:solidFill>
                <a:latin typeface="Calibri"/>
              </a:rPr>
              <a:t>cada</a:t>
            </a:r>
            <a:r>
              <a:rPr sz="900" b="1" dirty="0">
                <a:solidFill>
                  <a:srgbClr val="2F3B3A"/>
                </a:solidFill>
                <a:latin typeface="Calibri"/>
              </a:rPr>
              <a:t> apertura </a:t>
            </a:r>
            <a:r>
              <a:rPr sz="900" b="1" dirty="0" err="1">
                <a:solidFill>
                  <a:srgbClr val="2F3B3A"/>
                </a:solidFill>
                <a:latin typeface="Calibri"/>
              </a:rPr>
              <a:t>leemos</a:t>
            </a:r>
            <a:endParaRPr sz="900" b="1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90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900" b="0" dirty="0">
                <a:solidFill>
                  <a:srgbClr val="2F3B3A"/>
                </a:solidFill>
                <a:latin typeface="Calibri"/>
              </a:rPr>
              <a:t>Share </a:t>
            </a:r>
            <a:r>
              <a:rPr sz="900" b="0" dirty="0" err="1">
                <a:solidFill>
                  <a:srgbClr val="2F3B3A"/>
                </a:solidFill>
                <a:latin typeface="Calibri"/>
              </a:rPr>
              <a:t>relevante</a:t>
            </a:r>
            <a:r>
              <a:rPr sz="90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2F3B3A"/>
                </a:solidFill>
                <a:latin typeface="Calibri"/>
              </a:rPr>
              <a:t>por</a:t>
            </a:r>
            <a:r>
              <a:rPr sz="90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2F3B3A"/>
                </a:solidFill>
                <a:latin typeface="Calibri"/>
              </a:rPr>
              <a:t>trimestre</a:t>
            </a:r>
            <a:endParaRPr sz="90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90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900" b="0" dirty="0">
                <a:solidFill>
                  <a:srgbClr val="2F3B3A"/>
                </a:solidFill>
                <a:latin typeface="Calibri"/>
              </a:rPr>
              <a:t>TEA de </a:t>
            </a:r>
            <a:r>
              <a:rPr sz="900" b="0" dirty="0" err="1">
                <a:solidFill>
                  <a:srgbClr val="2F3B3A"/>
                </a:solidFill>
                <a:latin typeface="Calibri"/>
              </a:rPr>
              <a:t>oferta</a:t>
            </a:r>
            <a:r>
              <a:rPr sz="900" b="0" dirty="0">
                <a:solidFill>
                  <a:srgbClr val="2F3B3A"/>
                </a:solidFill>
                <a:latin typeface="Calibri"/>
              </a:rPr>
              <a:t> y de </a:t>
            </a:r>
            <a:r>
              <a:rPr sz="900" b="0" dirty="0" err="1">
                <a:solidFill>
                  <a:srgbClr val="2F3B3A"/>
                </a:solidFill>
                <a:latin typeface="Calibri"/>
              </a:rPr>
              <a:t>desembolso</a:t>
            </a:r>
            <a:r>
              <a:rPr sz="90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2F3B3A"/>
                </a:solidFill>
                <a:latin typeface="Calibri"/>
              </a:rPr>
              <a:t>por</a:t>
            </a:r>
            <a:r>
              <a:rPr sz="90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900" b="0" dirty="0" err="1">
                <a:solidFill>
                  <a:srgbClr val="2F3B3A"/>
                </a:solidFill>
                <a:latin typeface="Calibri"/>
              </a:rPr>
              <a:t>trimestre</a:t>
            </a:r>
            <a:endParaRPr sz="90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400"/>
              </a:spcBef>
            </a:pPr>
            <a:r>
              <a:rPr sz="90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900" b="0" dirty="0">
                <a:solidFill>
                  <a:srgbClr val="2F3B3A"/>
                </a:solidFill>
                <a:latin typeface="Calibri"/>
              </a:rPr>
              <a:t>TEA de la </a:t>
            </a:r>
            <a:r>
              <a:rPr sz="900" b="0" dirty="0" err="1">
                <a:solidFill>
                  <a:srgbClr val="2F3B3A"/>
                </a:solidFill>
                <a:latin typeface="Calibri"/>
              </a:rPr>
              <a:t>competencia</a:t>
            </a:r>
            <a:r>
              <a:rPr sz="900" b="0" dirty="0">
                <a:solidFill>
                  <a:srgbClr val="2F3B3A"/>
                </a:solidFill>
                <a:latin typeface="Calibri"/>
              </a:rPr>
              <a:t> de </a:t>
            </a:r>
            <a:r>
              <a:rPr sz="900" b="0" dirty="0" err="1">
                <a:solidFill>
                  <a:srgbClr val="2F3B3A"/>
                </a:solidFill>
                <a:latin typeface="Calibri"/>
              </a:rPr>
              <a:t>ene</a:t>
            </a:r>
            <a:r>
              <a:rPr sz="900" b="0" dirty="0">
                <a:solidFill>
                  <a:srgbClr val="2F3B3A"/>
                </a:solidFill>
                <a:latin typeface="Calibri"/>
              </a:rPr>
              <a:t>–may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SHARE RELEVANTE Y TASA POR APERTURAS · COBERTURA Y MATERIALIDAD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Poppins"/>
              </a:rPr>
              <a:t>Las 18 aperturas concentran 60% de las tasas inferidas de 2026 y las que tienen materialidad, 49%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93776" y="1150000"/>
          <a:ext cx="9450000" cy="5213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Segmento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Apertura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Fracasos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Con tasa inferida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Cobertura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% de las tasas inferidas del periodo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Materialidad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Ancla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1,6%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Ancla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&gt; 350K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5,0%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3807B"/>
                          </a:solidFill>
                          <a:latin typeface="Calibri"/>
                        </a:rPr>
                        <a:t>Concluyente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Estratégica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0,4%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Estratégica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&gt; 350K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149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43%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7,8%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3807B"/>
                          </a:solidFill>
                          <a:latin typeface="Calibri"/>
                        </a:rPr>
                        <a:t>Concluyente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Maduro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&gt; 350K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37%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6,4%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3807B"/>
                          </a:solidFill>
                          <a:latin typeface="Calibri"/>
                        </a:rPr>
                        <a:t>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Maduro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250–350K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4,8%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3807B"/>
                          </a:solidFill>
                          <a:latin typeface="Calibri"/>
                        </a:rPr>
                        <a:t>Concluyente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Socio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Pasivos ≥ 5K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8,1%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3807B"/>
                          </a:solidFill>
                          <a:latin typeface="Calibri"/>
                        </a:rPr>
                        <a:t>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Socio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Pasivos &lt; 1K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178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54%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11,9%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3807B"/>
                          </a:solidFill>
                          <a:latin typeface="Calibri"/>
                        </a:rPr>
                        <a:t>Concluyente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Gran Cuenta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SSFF ≤ 1,5MM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36%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1,5%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2410C"/>
                          </a:solidFill>
                          <a:latin typeface="Calibri"/>
                        </a:rPr>
                        <a:t>Indicativa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Gran Cuenta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SSFF 1,5–3,8MM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4,4%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Reactivar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Pasivos ≥ 5K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0,7%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Reactivar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Pasivos &lt; 1K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1,3%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2410C"/>
                          </a:solidFill>
                          <a:latin typeface="Calibri"/>
                        </a:rPr>
                        <a:t>Indicativa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Próximo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0,6%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Próximo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&gt; 250K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52%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1,3%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Nuevo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0,9%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Nuevo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&gt; 250K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2,2%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C2410C"/>
                          </a:solidFill>
                          <a:latin typeface="Calibri"/>
                        </a:rPr>
                        <a:t>Indicativa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Izipay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Pasivos 1–20K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0,5%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Izipay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Pasivos &lt; 1K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27%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0,4%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6E7E7D"/>
                          </a:solidFill>
                          <a:latin typeface="Calibri"/>
                        </a:rPr>
                        <a:t>No concluyente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Concluyentes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785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359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46%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6E7E7D"/>
                          </a:solidFill>
                          <a:latin typeface="Calibri"/>
                        </a:rPr>
                        <a:t>Usadas en insights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Indicativas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6E7E7D"/>
                          </a:solidFill>
                          <a:latin typeface="Calibri"/>
                        </a:rPr>
                        <a:t>Usadas en insights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Con materialidad (concluyentes + indicativas)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884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49%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6E7E7D"/>
                          </a:solidFill>
                          <a:latin typeface="Calibri"/>
                        </a:rPr>
                        <a:t>Base de los insights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Total 18 aperturas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1.111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488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6E7E7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Total de fracasos del share relevante (2026)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1.860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816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F3B3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6E7E7D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45000" marR="45000" marT="12000" marB="12000" anchor="ctr">
                    <a:solidFill>
                      <a:srgbClr val="E8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SHARE RELEVANTE Y TASA POR APERTURAS · QUÉ ESTAMOS ANALIZANDO · MATERIALIDAD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Poppins"/>
              </a:rPr>
              <a:t>Analizamos 9 segmentos abiertos en 2 tramos: con materialidad de la competencia concluimos con su tasa y sin ella revisamos la negociación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" y="1150000"/>
            <a:ext cx="63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18 aperturas: 9 segmentos abiertos por la variable que mejor separa su share</a:t>
            </a:r>
            <a:r>
              <a:rPr sz="900" b="1">
                <a:solidFill>
                  <a:srgbClr val="13807B"/>
                </a:solidFill>
                <a:latin typeface="Calibri"/>
              </a:rPr>
              <a:t>  ·  materialidad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93776" y="1420000"/>
          <a:ext cx="6300000" cy="33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Segmento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Variable de apertura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Tramo 1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Tramo 2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Cliente Ancla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Monto ofertado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3807B"/>
                          </a:solidFill>
                          <a:latin typeface="Calibri"/>
                        </a:rPr>
                        <a:t>&gt; 350K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Cuenta Estratégica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Monto ofertado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3807B"/>
                          </a:solidFill>
                          <a:latin typeface="Calibri"/>
                        </a:rPr>
                        <a:t>&gt; 350K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Maduro Multibanco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Monto ofertado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3807B"/>
                          </a:solidFill>
                          <a:latin typeface="Calibri"/>
                        </a:rPr>
                        <a:t>&gt; 350K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3807B"/>
                          </a:solidFill>
                          <a:latin typeface="Calibri"/>
                        </a:rPr>
                        <a:t>250–350K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Socio en Crecimiento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Pasivos promedio 12m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3807B"/>
                          </a:solidFill>
                          <a:latin typeface="Calibri"/>
                        </a:rPr>
                        <a:t>Pasivos ≥ 5K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3807B"/>
                          </a:solidFill>
                          <a:latin typeface="Calibri"/>
                        </a:rPr>
                        <a:t>Pasivos &lt; 1K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Gran Cuenta por Conquistar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Deuda en el SSFF 12m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2410C"/>
                          </a:solidFill>
                          <a:latin typeface="Calibri"/>
                        </a:rPr>
                        <a:t>SSFF ≤ 1,5MM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SSFF 1,5–3,8MM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Cliente por Reactivar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Pasivos promedio 12m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Pasivos ≥ 5K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2410C"/>
                          </a:solidFill>
                          <a:latin typeface="Calibri"/>
                        </a:rPr>
                        <a:t>Pasivos &lt; 1K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Próximo Recurrente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Monto ofertado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&gt; 250K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Nuevo en Expansión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Monto ofertado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C2410C"/>
                          </a:solidFill>
                          <a:latin typeface="Calibri"/>
                        </a:rPr>
                        <a:t>&gt; 250K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Emprendedor Izipay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2F3B3A"/>
                          </a:solidFill>
                          <a:latin typeface="Calibri"/>
                        </a:rPr>
                        <a:t>Pasivos promedio 12m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Pasivos 1–20K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6E7E7D"/>
                          </a:solidFill>
                          <a:latin typeface="Calibri"/>
                        </a:rPr>
                        <a:t>Pasivos &lt; 1K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93776" y="4780000"/>
            <a:ext cx="63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3807B"/>
                </a:solidFill>
                <a:latin typeface="Calibri"/>
              </a:rPr>
              <a:t>■ </a:t>
            </a:r>
            <a:r>
              <a:rPr sz="800" b="0">
                <a:solidFill>
                  <a:srgbClr val="6E7E7D"/>
                </a:solidFill>
                <a:latin typeface="Calibri"/>
              </a:rPr>
              <a:t>Concluyente   </a:t>
            </a:r>
            <a:r>
              <a:rPr sz="900" b="1">
                <a:solidFill>
                  <a:srgbClr val="C2410C"/>
                </a:solidFill>
                <a:latin typeface="Calibri"/>
              </a:rPr>
              <a:t>■ </a:t>
            </a:r>
            <a:r>
              <a:rPr sz="800" b="0">
                <a:solidFill>
                  <a:srgbClr val="6E7E7D"/>
                </a:solidFill>
                <a:latin typeface="Calibri"/>
              </a:rPr>
              <a:t>Indicativa   </a:t>
            </a:r>
            <a:r>
              <a:rPr sz="900" b="1">
                <a:solidFill>
                  <a:srgbClr val="6E7E7D"/>
                </a:solidFill>
                <a:latin typeface="Calibri"/>
              </a:rPr>
              <a:t>■ </a:t>
            </a:r>
            <a:r>
              <a:rPr sz="800" b="0">
                <a:solidFill>
                  <a:srgbClr val="6E7E7D"/>
                </a:solidFill>
                <a:latin typeface="Calibri"/>
              </a:rPr>
              <a:t>Sin materialidad de la competencia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76" y="1150000"/>
            <a:ext cx="45514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Regla de lectura por apertura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43776" y="1420000"/>
            <a:ext cx="4551400" cy="65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0000" tIns="60000" rIns="120000" bIns="60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¿Hay materialidad de la tasa de la competencia?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9476" y="2070000"/>
            <a:ext cx="0" cy="23000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244126" y="2300000"/>
            <a:ext cx="1175350" cy="0"/>
          </a:xfrm>
          <a:prstGeom prst="line">
            <a:avLst/>
          </a:prstGeom>
          <a:ln w="19050">
            <a:solidFill>
              <a:srgbClr val="1380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44126" y="2300000"/>
            <a:ext cx="0" cy="380000"/>
          </a:xfrm>
          <a:prstGeom prst="line">
            <a:avLst/>
          </a:prstGeom>
          <a:ln w="19050">
            <a:solidFill>
              <a:srgbClr val="1380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304126" y="23800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3807B"/>
                </a:solidFill>
                <a:latin typeface="Calibri"/>
              </a:rPr>
              <a:t>Sí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43776" y="2680000"/>
            <a:ext cx="2200700" cy="150000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55000" rIns="110000" bIns="55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Concluimos con la tasa de la competencia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FFFFFF"/>
                </a:solidFill>
                <a:latin typeface="Calibri"/>
              </a:rPr>
              <a:t>Comparamos su TEA con nuestra TEA de oferta y de desembolso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19476" y="2070000"/>
            <a:ext cx="0" cy="23000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19476" y="2300000"/>
            <a:ext cx="1175350" cy="0"/>
          </a:xfrm>
          <a:prstGeom prst="line">
            <a:avLst/>
          </a:prstGeom>
          <a:ln w="19050">
            <a:solidFill>
              <a:srgbClr val="6E7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594826" y="2300000"/>
            <a:ext cx="0" cy="380000"/>
          </a:xfrm>
          <a:prstGeom prst="line">
            <a:avLst/>
          </a:prstGeom>
          <a:ln w="19050">
            <a:solidFill>
              <a:srgbClr val="6E7E7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654826" y="2380000"/>
            <a:ext cx="5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6E7E7D"/>
                </a:solidFill>
                <a:latin typeface="Calibri"/>
              </a:rPr>
              <a:t>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94476" y="2680000"/>
            <a:ext cx="2200700" cy="1500000"/>
          </a:xfrm>
          <a:prstGeom prst="rect">
            <a:avLst/>
          </a:prstGeom>
          <a:solidFill>
            <a:srgbClr val="6E7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0000" tIns="55000" rIns="110000" bIns="5500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Revisamos la negociación</a:t>
            </a:r>
          </a:p>
          <a:p>
            <a:pPr algn="ctr">
              <a:spcBef>
                <a:spcPts val="300"/>
              </a:spcBef>
            </a:pPr>
            <a:r>
              <a:rPr sz="850" b="0">
                <a:solidFill>
                  <a:srgbClr val="FFFFFF"/>
                </a:solidFill>
                <a:latin typeface="Calibri"/>
              </a:rPr>
              <a:t>Leemos la brecha entre oferta y desembolso y cómo se mueve el share frente a ella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3776" y="4350000"/>
            <a:ext cx="455140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En cada apertura leemos</a:t>
            </a:r>
          </a:p>
          <a:p>
            <a:pPr algn="l">
              <a:spcBef>
                <a:spcPts val="400"/>
              </a:spcBef>
            </a:pPr>
            <a:r>
              <a:rPr sz="900" b="1">
                <a:solidFill>
                  <a:srgbClr val="13807B"/>
                </a:solidFill>
                <a:latin typeface="Calibri"/>
              </a:rPr>
              <a:t>• </a:t>
            </a:r>
            <a:r>
              <a:rPr sz="900" b="0">
                <a:solidFill>
                  <a:srgbClr val="2F3B3A"/>
                </a:solidFill>
                <a:latin typeface="Calibri"/>
              </a:rPr>
              <a:t>Share relevante por trimestre</a:t>
            </a:r>
          </a:p>
          <a:p>
            <a:pPr algn="l">
              <a:spcBef>
                <a:spcPts val="400"/>
              </a:spcBef>
            </a:pPr>
            <a:r>
              <a:rPr sz="900" b="1">
                <a:solidFill>
                  <a:srgbClr val="13807B"/>
                </a:solidFill>
                <a:latin typeface="Calibri"/>
              </a:rPr>
              <a:t>• </a:t>
            </a:r>
            <a:r>
              <a:rPr sz="900" b="0">
                <a:solidFill>
                  <a:srgbClr val="2F3B3A"/>
                </a:solidFill>
                <a:latin typeface="Calibri"/>
              </a:rPr>
              <a:t>TEA de oferta y de desembolso por trimestre</a:t>
            </a:r>
          </a:p>
          <a:p>
            <a:pPr algn="l">
              <a:spcBef>
                <a:spcPts val="400"/>
              </a:spcBef>
            </a:pPr>
            <a:r>
              <a:rPr sz="900" b="1">
                <a:solidFill>
                  <a:srgbClr val="13807B"/>
                </a:solidFill>
                <a:latin typeface="Calibri"/>
              </a:rPr>
              <a:t>• </a:t>
            </a:r>
            <a:r>
              <a:rPr sz="900" b="0">
                <a:solidFill>
                  <a:srgbClr val="2F3B3A"/>
                </a:solidFill>
                <a:latin typeface="Calibri"/>
              </a:rPr>
              <a:t>TEA de la competencia de ene–may 2026</a:t>
            </a:r>
          </a:p>
          <a:p>
            <a:pPr algn="l">
              <a:spcBef>
                <a:spcPts val="400"/>
              </a:spcBef>
            </a:pPr>
            <a:r>
              <a:rPr sz="900" b="1">
                <a:solidFill>
                  <a:srgbClr val="13807B"/>
                </a:solidFill>
                <a:latin typeface="Calibri"/>
              </a:rPr>
              <a:t>Las 9 aperturas con materialidad suman 400 de las 816 tasas inferidas de 2026 (49%).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SHARE Y TASA POR SEGMENTO · CLIENTE ANCLA · FIDELIZADOS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Poppins"/>
              </a:rPr>
              <a:t>Cliente Ancla tiene espacio para subir tasa en tickets hasta S/ 170K y necesita tasas más competitivas en tickets mayores a S/ 350K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Share relevante por trimestre (%)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937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94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TEA mediana ponderada por apertura, ene–may 2026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94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23575" y="2200000"/>
            <a:ext cx="691667" cy="1110000"/>
          </a:xfrm>
          <a:prstGeom prst="rect">
            <a:avLst/>
          </a:prstGeom>
          <a:noFill/>
          <a:ln w="12700">
            <a:solidFill>
              <a:srgbClr val="F28C28"/>
            </a:solidFill>
            <a:prstDash val="dash"/>
          </a:ln>
        </p:spPr>
        <p:txBody>
          <a:bodyPr wrap="square" lIns="30000" tIns="15000" rIns="30000" bIns="15000" anchor="ctr">
            <a:spAutoFit/>
          </a:bodyPr>
          <a:lstStyle/>
          <a:p>
            <a:pPr algn="ctr"/>
            <a:r>
              <a:rPr sz="700" b="0">
                <a:solidFill>
                  <a:srgbClr val="F28C28"/>
                </a:solidFill>
                <a:latin typeface="Calibri"/>
              </a:rPr>
              <a:t>Insuficiente materialidad para la tasa de la competencia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13807B"/>
                </a:solidFill>
                <a:latin typeface="Calibri"/>
              </a:rPr>
              <a:t>≤ 170K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9377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30662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E5173F"/>
                </a:solidFill>
                <a:latin typeface="Calibri"/>
              </a:rPr>
              <a:t>&gt; 350K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330662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19476" y="37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Insights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9476" y="3940000"/>
            <a:ext cx="5475700" cy="2400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9476" y="3940000"/>
            <a:ext cx="45000" cy="240000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9476" y="4010000"/>
            <a:ext cx="5225700" cy="1892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13807B"/>
                </a:solidFill>
                <a:latin typeface="Calibri"/>
              </a:rPr>
              <a:t>≤ 170K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91 → 83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Sin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reducción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significativa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del share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brecha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se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redujo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de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unos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340 a 220 pbs,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porque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subió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lang="es-ES" sz="850" b="1" dirty="0">
                <a:solidFill>
                  <a:srgbClr val="2F3B3A"/>
                </a:solidFill>
              </a:rPr>
              <a:t>Subir precio cuidando la caída del share</a:t>
            </a:r>
            <a:endParaRPr sz="850" b="1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400" b="0" dirty="0">
                <a:solidFill>
                  <a:srgbClr val="2F3B3A"/>
                </a:solidFill>
                <a:latin typeface="Calibri"/>
              </a:rPr>
              <a:t> </a:t>
            </a:r>
          </a:p>
          <a:p>
            <a:pPr algn="l">
              <a:spcBef>
                <a:spcPts val="300"/>
              </a:spcBef>
            </a:pPr>
            <a:r>
              <a:rPr sz="1000" b="1" dirty="0">
                <a:solidFill>
                  <a:srgbClr val="E5173F"/>
                </a:solidFill>
                <a:latin typeface="Calibri"/>
              </a:rPr>
              <a:t>&gt; 350K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82 → 41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Caída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abrupta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del share,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se reduce a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mitad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brecha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disminuyó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hasta 4T25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por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un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efecto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mixto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: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bajó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subió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. En 2026 ambas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volvieron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niveles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cercanos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los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 2T25,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pero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share no se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recuperó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competencia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ofrece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una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más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competitiva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nuestro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lang="es-ES" sz="850" b="1" dirty="0">
                <a:solidFill>
                  <a:srgbClr val="2F3B3A"/>
                </a:solidFill>
              </a:rPr>
              <a:t>Bajar precio monitoreando el share</a:t>
            </a:r>
            <a:endParaRPr sz="850" b="1" dirty="0">
              <a:solidFill>
                <a:srgbClr val="2F3B3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776" y="6450000"/>
            <a:ext cx="112014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E7E7D"/>
                </a:solidFill>
                <a:latin typeface="Calibri"/>
              </a:rPr>
              <a:t>2T26* = abr–may.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SHARE Y TASA POR SEGMENTO · CUENTA ESTRATÉGICA · GRANDES POR FIDELIZAR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 err="1">
                <a:solidFill>
                  <a:srgbClr val="13807B"/>
                </a:solidFill>
                <a:latin typeface="Poppins"/>
              </a:rPr>
              <a:t>Cuenta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Estratégica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puede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subir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precio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de forma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acotada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en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tickets hasta S/ 170K y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bajarlo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de forma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acotada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en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tickets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mayores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a S/ 350K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Share relevante por trimestre (%)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937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94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TEA mediana ponderada por apertura, ene–may 2026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94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23575" y="2144500"/>
            <a:ext cx="691667" cy="1165500"/>
          </a:xfrm>
          <a:prstGeom prst="rect">
            <a:avLst/>
          </a:prstGeom>
          <a:noFill/>
          <a:ln w="12700">
            <a:solidFill>
              <a:srgbClr val="F28C28"/>
            </a:solidFill>
            <a:prstDash val="dash"/>
          </a:ln>
        </p:spPr>
        <p:txBody>
          <a:bodyPr wrap="square" lIns="30000" tIns="15000" rIns="30000" bIns="15000" anchor="ctr">
            <a:spAutoFit/>
          </a:bodyPr>
          <a:lstStyle/>
          <a:p>
            <a:pPr algn="ctr"/>
            <a:r>
              <a:rPr sz="700" b="0">
                <a:solidFill>
                  <a:srgbClr val="F28C28"/>
                </a:solidFill>
                <a:latin typeface="Calibri"/>
              </a:rPr>
              <a:t>Insuficiente materialidad para la tasa de la competencia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13807B"/>
                </a:solidFill>
                <a:latin typeface="Calibri"/>
              </a:rPr>
              <a:t>≤ 170K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9377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30662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E5173F"/>
                </a:solidFill>
                <a:latin typeface="Calibri"/>
              </a:rPr>
              <a:t>&gt; 350K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330662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19476" y="37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Insights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9476" y="3940000"/>
            <a:ext cx="5475700" cy="2400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9476" y="3940000"/>
            <a:ext cx="45000" cy="240000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9476" y="4010000"/>
            <a:ext cx="5225700" cy="18928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13807B"/>
                </a:solidFill>
                <a:latin typeface="Calibri"/>
              </a:rPr>
              <a:t>≤ 170K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89 → 78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Share alto,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todavía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sobre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70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aunque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bajó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brecha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se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mantuvo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estable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se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redujo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 forma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abrupta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cuando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subió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170 pbs</a:t>
            </a:r>
            <a:r>
              <a:rPr lang="es-ES" sz="850" b="0" dirty="0">
                <a:solidFill>
                  <a:srgbClr val="2F3B3A"/>
                </a:solidFill>
                <a:latin typeface="Calibri"/>
              </a:rPr>
              <a:t>, y el share cayó, pero se mantiene en niveles altos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Subir</a:t>
            </a:r>
            <a:r>
              <a:rPr lang="es-ES" sz="850" b="1" dirty="0">
                <a:solidFill>
                  <a:srgbClr val="2F3B3A"/>
                </a:solidFill>
                <a:latin typeface="Calibri"/>
              </a:rPr>
              <a:t> precio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 de forma </a:t>
            </a:r>
            <a:r>
              <a:rPr sz="850" b="1" dirty="0" err="1">
                <a:solidFill>
                  <a:srgbClr val="2F3B3A"/>
                </a:solidFill>
                <a:latin typeface="Calibri"/>
              </a:rPr>
              <a:t>acotada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, </a:t>
            </a:r>
            <a:r>
              <a:rPr sz="850" b="1" dirty="0" err="1">
                <a:solidFill>
                  <a:srgbClr val="2F3B3A"/>
                </a:solidFill>
                <a:latin typeface="Calibri"/>
              </a:rPr>
              <a:t>monitoreando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1" dirty="0" err="1">
                <a:solidFill>
                  <a:srgbClr val="2F3B3A"/>
                </a:solidFill>
                <a:latin typeface="Calibri"/>
              </a:rPr>
              <a:t>que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 el share no </a:t>
            </a:r>
            <a:r>
              <a:rPr sz="850" b="1" dirty="0" err="1">
                <a:solidFill>
                  <a:srgbClr val="2F3B3A"/>
                </a:solidFill>
                <a:latin typeface="Calibri"/>
              </a:rPr>
              <a:t>baje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 de 70</a:t>
            </a:r>
          </a:p>
          <a:p>
            <a:pPr algn="l">
              <a:spcBef>
                <a:spcPts val="300"/>
              </a:spcBef>
            </a:pPr>
            <a:r>
              <a:rPr sz="400" b="0" dirty="0">
                <a:solidFill>
                  <a:srgbClr val="2F3B3A"/>
                </a:solidFill>
                <a:latin typeface="Calibri"/>
              </a:rPr>
              <a:t> </a:t>
            </a:r>
          </a:p>
          <a:p>
            <a:pPr algn="l">
              <a:spcBef>
                <a:spcPts val="300"/>
              </a:spcBef>
            </a:pPr>
            <a:r>
              <a:rPr sz="1000" b="1" dirty="0">
                <a:solidFill>
                  <a:srgbClr val="E5173F"/>
                </a:solidFill>
                <a:latin typeface="Calibri"/>
              </a:rPr>
              <a:t>&gt; 350K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79 → 41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Caída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abrupta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del share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todo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periodo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brecha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se reduce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tiempo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porque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bajamos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con un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casi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estable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competencia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ofrece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una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más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competitiva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nuestro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Bajar </a:t>
            </a:r>
            <a:r>
              <a:rPr lang="es-ES" sz="850" b="1" dirty="0">
                <a:solidFill>
                  <a:srgbClr val="2F3B3A"/>
                </a:solidFill>
                <a:latin typeface="Calibri"/>
              </a:rPr>
              <a:t>precio 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de forma </a:t>
            </a:r>
            <a:r>
              <a:rPr sz="850" b="1" dirty="0" err="1">
                <a:solidFill>
                  <a:srgbClr val="2F3B3A"/>
                </a:solidFill>
                <a:latin typeface="Calibri"/>
              </a:rPr>
              <a:t>acotada</a:t>
            </a:r>
            <a:endParaRPr sz="850" b="1" dirty="0">
              <a:solidFill>
                <a:srgbClr val="2F3B3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776" y="6450000"/>
            <a:ext cx="112014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E7E7D"/>
                </a:solidFill>
                <a:latin typeface="Calibri"/>
              </a:rPr>
              <a:t>2T26* = abr–may.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SHARE Y TASA POR SEGMENTO · MADURO MULTIBANCO · MEDIANOS POR FIDELIZAR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Poppins"/>
              </a:rPr>
              <a:t>Maduro Multibanco necesita tasas más competitivas en sus dos tramos para frenar la caída del share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Share relevante por trimestre (%)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937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94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TEA mediana ponderada por apertura, ene–may 2026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94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9377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13807B"/>
                </a:solidFill>
                <a:latin typeface="Calibri"/>
              </a:rPr>
              <a:t>&gt; 350K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9377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30662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E5173F"/>
                </a:solidFill>
                <a:latin typeface="Calibri"/>
              </a:rPr>
              <a:t>250–350K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30662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19476" y="37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9476" y="3940000"/>
            <a:ext cx="5475700" cy="2400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9476" y="3940000"/>
            <a:ext cx="45000" cy="240000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9476" y="4010000"/>
            <a:ext cx="5225700" cy="19312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13807B"/>
                </a:solidFill>
                <a:latin typeface="Calibri"/>
              </a:rPr>
              <a:t>&gt; 350K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73 → 42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Caída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del share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todo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periodo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brecha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se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mueve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200 y 330 pbs, sin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una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tendencia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clara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</a:t>
            </a:r>
            <a:r>
              <a:rPr lang="es-ES" sz="850" dirty="0">
                <a:solidFill>
                  <a:srgbClr val="2F3B3A"/>
                </a:solidFill>
                <a:latin typeface="Calibri"/>
              </a:rPr>
              <a:t>.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competencia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cobra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línea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con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nuestro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Bajar</a:t>
            </a:r>
            <a:r>
              <a:rPr lang="es-ES" sz="850" b="1" dirty="0">
                <a:solidFill>
                  <a:srgbClr val="2F3B3A"/>
                </a:solidFill>
                <a:latin typeface="Calibri"/>
              </a:rPr>
              <a:t> precio a uno más competitivo</a:t>
            </a:r>
            <a:endParaRPr sz="850" b="1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400" b="0" dirty="0">
                <a:solidFill>
                  <a:srgbClr val="2F3B3A"/>
                </a:solidFill>
                <a:latin typeface="Calibri"/>
              </a:rPr>
              <a:t> </a:t>
            </a:r>
          </a:p>
          <a:p>
            <a:pPr algn="l">
              <a:spcBef>
                <a:spcPts val="300"/>
              </a:spcBef>
            </a:pPr>
            <a:r>
              <a:rPr sz="1000" b="1" dirty="0">
                <a:solidFill>
                  <a:srgbClr val="E5173F"/>
                </a:solidFill>
                <a:latin typeface="Calibri"/>
              </a:rPr>
              <a:t>250–350K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62 → 25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Caída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abrupta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del share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4T25 y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una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leve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recuperación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bajó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 forma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constante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de 17,9% a 16,6%, y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recién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al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llegar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niveles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lang="es-ES" sz="850" b="0" dirty="0">
                <a:solidFill>
                  <a:srgbClr val="2F3B3A"/>
                </a:solidFill>
                <a:latin typeface="Calibri"/>
              </a:rPr>
              <a:t>cercanos a los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competitivos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share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empieza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a responder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competencia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ofrece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una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más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competitiva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nuestro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lang="es-ES" sz="850" b="1" dirty="0">
                <a:solidFill>
                  <a:srgbClr val="2F3B3A"/>
                </a:solidFill>
              </a:rPr>
              <a:t>Bajar precio a uno más competitivo</a:t>
            </a:r>
            <a:endParaRPr sz="850" b="1" dirty="0">
              <a:solidFill>
                <a:srgbClr val="2F3B3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3776" y="6450000"/>
            <a:ext cx="112014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E7E7D"/>
                </a:solidFill>
                <a:latin typeface="Calibri"/>
              </a:rPr>
              <a:t>2T26* = abr–may.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SHARE Y TASA POR SEGMENTO · SOCIO EN CRECIMIENTO · FIDELIZADOS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421874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13807B"/>
                </a:solidFill>
                <a:latin typeface="Poppins"/>
              </a:rPr>
              <a:t>Socio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en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Crecimiento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lang="es-ES" sz="1600" b="1" dirty="0">
                <a:solidFill>
                  <a:srgbClr val="13807B"/>
                </a:solidFill>
                <a:latin typeface="Poppins"/>
              </a:rPr>
              <a:t>puede mantener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precios</a:t>
            </a:r>
            <a:r>
              <a:rPr lang="es-ES" sz="1600" b="1" dirty="0">
                <a:solidFill>
                  <a:srgbClr val="13807B"/>
                </a:solidFill>
                <a:latin typeface="Poppins"/>
              </a:rPr>
              <a:t> en pasivos mayores o iguales a 5k por la recuperación del share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,</a:t>
            </a:r>
            <a:r>
              <a:rPr lang="es-ES" sz="1600" b="1" dirty="0">
                <a:solidFill>
                  <a:srgbClr val="13807B"/>
                </a:solidFill>
                <a:latin typeface="Poppins"/>
              </a:rPr>
              <a:t> mientras que con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pasivos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menores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a S/ 1K</a:t>
            </a:r>
            <a:r>
              <a:rPr lang="es-ES" sz="1600" b="1" dirty="0">
                <a:solidFill>
                  <a:srgbClr val="13807B"/>
                </a:solidFill>
                <a:latin typeface="Poppins"/>
              </a:rPr>
              <a:t> se plantea una bajada de precios</a:t>
            </a:r>
            <a:endParaRPr sz="1600" b="1" dirty="0">
              <a:solidFill>
                <a:srgbClr val="13807B"/>
              </a:solidFill>
              <a:latin typeface="Poppin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Share relevante por trimestre (%)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937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94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TEA mediana ponderada por apertura, ene–may 2026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94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9377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13807B"/>
                </a:solidFill>
                <a:latin typeface="Calibri"/>
              </a:rPr>
              <a:t>Pasivos ≥ 5K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9377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30662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E5173F"/>
                </a:solidFill>
                <a:latin typeface="Calibri"/>
              </a:rPr>
              <a:t>Pasivos &lt; 1K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30662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19476" y="37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9476" y="3940000"/>
            <a:ext cx="5475700" cy="2400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9476" y="3940000"/>
            <a:ext cx="45000" cy="240000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69476" y="4010000"/>
            <a:ext cx="5225700" cy="20621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 err="1">
                <a:solidFill>
                  <a:srgbClr val="13807B"/>
                </a:solidFill>
                <a:latin typeface="Calibri"/>
              </a:rPr>
              <a:t>Pasivos</a:t>
            </a:r>
            <a:r>
              <a:rPr sz="1000" b="1" dirty="0">
                <a:solidFill>
                  <a:srgbClr val="13807B"/>
                </a:solidFill>
                <a:latin typeface="Calibri"/>
              </a:rPr>
              <a:t> ≥ 5K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70 → 40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Caída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del share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2025 y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estable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2026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brecha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se reduce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todo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periodo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de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unos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330 a 120 pbs, con un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alza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abrupta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competencia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cobra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línea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con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nuestro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lang="es-ES" sz="850" b="1" dirty="0">
                <a:solidFill>
                  <a:srgbClr val="2F3B3A"/>
                </a:solidFill>
                <a:latin typeface="Calibri"/>
              </a:rPr>
              <a:t>Mantener / Bajar Precio</a:t>
            </a:r>
            <a:endParaRPr sz="850" b="1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400" b="0" dirty="0">
                <a:solidFill>
                  <a:srgbClr val="2F3B3A"/>
                </a:solidFill>
                <a:latin typeface="Calibri"/>
              </a:rPr>
              <a:t> </a:t>
            </a:r>
          </a:p>
          <a:p>
            <a:pPr algn="l">
              <a:spcBef>
                <a:spcPts val="300"/>
              </a:spcBef>
            </a:pPr>
            <a:r>
              <a:rPr sz="1000" b="1" dirty="0" err="1">
                <a:solidFill>
                  <a:srgbClr val="E5173F"/>
                </a:solidFill>
                <a:latin typeface="Calibri"/>
              </a:rPr>
              <a:t>Pasivos</a:t>
            </a:r>
            <a:r>
              <a:rPr sz="1000" b="1" dirty="0">
                <a:solidFill>
                  <a:srgbClr val="E5173F"/>
                </a:solidFill>
                <a:latin typeface="Calibri"/>
              </a:rPr>
              <a:t> &lt; 1K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51 → 9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Caída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abrupta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del share,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sube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baja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contra de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brecha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se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mantiene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cerca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 300 pbs, con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una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estable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alrededor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 21%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competencia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cobra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línea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con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nuestro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pero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bastante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menos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nuestra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lang="es-ES" sz="850" b="1" dirty="0">
                <a:solidFill>
                  <a:srgbClr val="2F3B3A"/>
                </a:solidFill>
                <a:latin typeface="Calibri"/>
              </a:rPr>
              <a:t>Bajar precio a uno más competitivo </a:t>
            </a:r>
            <a:endParaRPr sz="850" b="1" dirty="0">
              <a:solidFill>
                <a:srgbClr val="2F3B3A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3776" y="6450000"/>
            <a:ext cx="112014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E7E7D"/>
                </a:solidFill>
                <a:latin typeface="Calibri"/>
              </a:rPr>
              <a:t>2T26* = abr–may.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SHARE Y TASA POR SEGMENTO · GRAN CUENTA POR CONQUISTAR · GRANDES POR FIDELIZAR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dirty="0">
                <a:solidFill>
                  <a:srgbClr val="13807B"/>
                </a:solidFill>
                <a:latin typeface="Poppins"/>
              </a:rPr>
              <a:t>Gran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Cuenta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puede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probar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una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subida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acotada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en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SSFF hasta S/ 1,5MM, y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en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SSFF 1,5–3,8MM la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caída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no </a:t>
            </a:r>
            <a:r>
              <a:rPr lang="es-ES" sz="1600" b="1" dirty="0">
                <a:solidFill>
                  <a:srgbClr val="13807B"/>
                </a:solidFill>
                <a:latin typeface="Poppins"/>
              </a:rPr>
              <a:t>tiene una señal directa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por</a:t>
            </a:r>
            <a:r>
              <a:rPr sz="1600" b="1" dirty="0">
                <a:solidFill>
                  <a:srgbClr val="13807B"/>
                </a:solidFill>
                <a:latin typeface="Poppins"/>
              </a:rPr>
              <a:t> </a:t>
            </a:r>
            <a:r>
              <a:rPr sz="1600" b="1" dirty="0" err="1">
                <a:solidFill>
                  <a:srgbClr val="13807B"/>
                </a:solidFill>
                <a:latin typeface="Poppins"/>
              </a:rPr>
              <a:t>precio</a:t>
            </a:r>
            <a:endParaRPr sz="1600" b="1" dirty="0">
              <a:solidFill>
                <a:srgbClr val="13807B"/>
              </a:solidFill>
              <a:latin typeface="Poppin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Share relevante por trimestre (%)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937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94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TEA mediana ponderada por apertura, ene–may 2026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94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651911" y="2477500"/>
            <a:ext cx="691667" cy="832500"/>
          </a:xfrm>
          <a:prstGeom prst="rect">
            <a:avLst/>
          </a:prstGeom>
          <a:noFill/>
          <a:ln w="12700">
            <a:solidFill>
              <a:srgbClr val="F28C28"/>
            </a:solidFill>
            <a:prstDash val="dash"/>
          </a:ln>
        </p:spPr>
        <p:txBody>
          <a:bodyPr wrap="square" lIns="30000" tIns="15000" rIns="30000" bIns="15000" anchor="ctr">
            <a:spAutoFit/>
          </a:bodyPr>
          <a:lstStyle/>
          <a:p>
            <a:pPr algn="ctr"/>
            <a:r>
              <a:rPr sz="700" b="0">
                <a:solidFill>
                  <a:srgbClr val="F28C28"/>
                </a:solidFill>
                <a:latin typeface="Calibri"/>
              </a:rPr>
              <a:t>Insuficiente materialidad para la tasa de la competencia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13807B"/>
                </a:solidFill>
                <a:latin typeface="Calibri"/>
              </a:rPr>
              <a:t>SSFF ≤ 1,5MM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9377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30662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E5173F"/>
                </a:solidFill>
                <a:latin typeface="Calibri"/>
              </a:rPr>
              <a:t>SSFF 1,5–3,8MM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330662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19476" y="37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Insights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9476" y="3940000"/>
            <a:ext cx="5475700" cy="2400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9476" y="3940000"/>
            <a:ext cx="45000" cy="240000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9476" y="4010000"/>
            <a:ext cx="5225700" cy="19312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13807B"/>
                </a:solidFill>
                <a:latin typeface="Calibri"/>
              </a:rPr>
              <a:t>SSFF ≤ 1,5MM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80 → 71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Share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volátil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se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recupera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brecha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se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mueve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300 y 420 pbs, con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una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baja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puntual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4T25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cuando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bajó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competencia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cobra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más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nuestro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Subir</a:t>
            </a:r>
            <a:r>
              <a:rPr lang="es-ES" sz="850" b="1" dirty="0">
                <a:solidFill>
                  <a:srgbClr val="2F3B3A"/>
                </a:solidFill>
                <a:latin typeface="Calibri"/>
              </a:rPr>
              <a:t> precio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 de forma </a:t>
            </a:r>
            <a:r>
              <a:rPr sz="850" b="1" dirty="0" err="1">
                <a:solidFill>
                  <a:srgbClr val="2F3B3A"/>
                </a:solidFill>
                <a:latin typeface="Calibri"/>
              </a:rPr>
              <a:t>acotada</a:t>
            </a:r>
            <a:endParaRPr sz="850" b="1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400" b="0" dirty="0">
                <a:solidFill>
                  <a:srgbClr val="2F3B3A"/>
                </a:solidFill>
                <a:latin typeface="Calibri"/>
              </a:rPr>
              <a:t> </a:t>
            </a:r>
          </a:p>
          <a:p>
            <a:pPr algn="l">
              <a:spcBef>
                <a:spcPts val="300"/>
              </a:spcBef>
            </a:pPr>
            <a:r>
              <a:rPr sz="1000" b="1" dirty="0">
                <a:solidFill>
                  <a:srgbClr val="E5173F"/>
                </a:solidFill>
                <a:latin typeface="Calibri"/>
              </a:rPr>
              <a:t>SSFF 1,5–3,8MM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71 → 33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Caída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abrupta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del share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todo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periodo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brecha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se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mantiene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estable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cerca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 300 pbs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Con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mismo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descuento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share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cae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sin pausa,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así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caída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no se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explica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solo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por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precio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sz="850" b="1" dirty="0" err="1">
                <a:solidFill>
                  <a:srgbClr val="2F3B3A"/>
                </a:solidFill>
                <a:latin typeface="Calibri"/>
              </a:rPr>
              <a:t>Mantener</a:t>
            </a:r>
            <a:r>
              <a:rPr lang="es-ES" sz="850" b="1" dirty="0">
                <a:solidFill>
                  <a:srgbClr val="2F3B3A"/>
                </a:solidFill>
                <a:latin typeface="Calibri"/>
              </a:rPr>
              <a:t> precio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 y </a:t>
            </a:r>
            <a:r>
              <a:rPr sz="850" b="1" dirty="0" err="1">
                <a:solidFill>
                  <a:srgbClr val="2F3B3A"/>
                </a:solidFill>
                <a:latin typeface="Calibri"/>
              </a:rPr>
              <a:t>probar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1" dirty="0" err="1">
                <a:solidFill>
                  <a:srgbClr val="2F3B3A"/>
                </a:solidFill>
                <a:latin typeface="Calibri"/>
              </a:rPr>
              <a:t>otras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1" dirty="0" err="1">
                <a:solidFill>
                  <a:srgbClr val="2F3B3A"/>
                </a:solidFill>
                <a:latin typeface="Calibri"/>
              </a:rPr>
              <a:t>palancas</a:t>
            </a:r>
            <a:endParaRPr sz="850" b="1" dirty="0">
              <a:solidFill>
                <a:srgbClr val="2F3B3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776" y="6450000"/>
            <a:ext cx="112014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E7E7D"/>
                </a:solidFill>
                <a:latin typeface="Calibri"/>
              </a:rPr>
              <a:t>2T26* = abr–may.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SHARE Y TASA POR SEGMENTO · CLIENTE POR REACTIVAR · MEDIANOS POR FIDELIZAR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Poppins"/>
              </a:rPr>
              <a:t>Reactivar puede probar una subida acotada en pasivos ≥ S/ 5K y debe bajar la tasa en pasivos &lt; S/ 1K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Share relevante por trimestre (%)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937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94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TEA mediana ponderada por apertura, ene–may 2026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94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23575" y="2605576"/>
            <a:ext cx="691667" cy="704423"/>
          </a:xfrm>
          <a:prstGeom prst="rect">
            <a:avLst/>
          </a:prstGeom>
          <a:noFill/>
          <a:ln w="12700">
            <a:solidFill>
              <a:srgbClr val="F28C28"/>
            </a:solidFill>
            <a:prstDash val="dash"/>
          </a:ln>
        </p:spPr>
        <p:txBody>
          <a:bodyPr wrap="square" lIns="30000" tIns="15000" rIns="30000" bIns="15000" anchor="ctr">
            <a:spAutoFit/>
          </a:bodyPr>
          <a:lstStyle/>
          <a:p>
            <a:pPr algn="ctr"/>
            <a:r>
              <a:rPr sz="700" b="0">
                <a:solidFill>
                  <a:srgbClr val="F28C28"/>
                </a:solidFill>
                <a:latin typeface="Calibri"/>
              </a:rPr>
              <a:t>Insuficiente materialidad para la tasa de la competencia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13807B"/>
                </a:solidFill>
                <a:latin typeface="Calibri"/>
              </a:rPr>
              <a:t>Pasivos ≥ 5K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9377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30662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E5173F"/>
                </a:solidFill>
                <a:latin typeface="Calibri"/>
              </a:rPr>
              <a:t>Pasivos &lt; 1K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330662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19476" y="37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Insights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9476" y="3940000"/>
            <a:ext cx="5475700" cy="2400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9476" y="3940000"/>
            <a:ext cx="45000" cy="240000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9476" y="4010000"/>
            <a:ext cx="5225700" cy="2023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 err="1">
                <a:solidFill>
                  <a:srgbClr val="13807B"/>
                </a:solidFill>
                <a:latin typeface="Calibri"/>
              </a:rPr>
              <a:t>Pasivos</a:t>
            </a:r>
            <a:r>
              <a:rPr sz="1000" b="1" dirty="0">
                <a:solidFill>
                  <a:srgbClr val="13807B"/>
                </a:solidFill>
                <a:latin typeface="Calibri"/>
              </a:rPr>
              <a:t> ≥ 5K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87 → 87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Share alto y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estable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brecha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es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amplia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todo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periodo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entre 300 y 450 pbs, con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una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sube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 forma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sostenida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sin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afectar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share</a:t>
            </a:r>
          </a:p>
          <a:p>
            <a:pPr algn="l"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Subir</a:t>
            </a:r>
            <a:r>
              <a:rPr lang="es-ES" sz="850" b="1" dirty="0">
                <a:solidFill>
                  <a:srgbClr val="2F3B3A"/>
                </a:solidFill>
                <a:latin typeface="Calibri"/>
              </a:rPr>
              <a:t> precio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 de forma </a:t>
            </a:r>
            <a:r>
              <a:rPr sz="850" b="1" dirty="0" err="1">
                <a:solidFill>
                  <a:srgbClr val="2F3B3A"/>
                </a:solidFill>
                <a:latin typeface="Calibri"/>
              </a:rPr>
              <a:t>acotada</a:t>
            </a:r>
            <a:endParaRPr sz="850" b="1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400" b="0" dirty="0">
                <a:solidFill>
                  <a:srgbClr val="2F3B3A"/>
                </a:solidFill>
                <a:latin typeface="Calibri"/>
              </a:rPr>
              <a:t> </a:t>
            </a:r>
          </a:p>
          <a:p>
            <a:pPr algn="l">
              <a:spcBef>
                <a:spcPts val="300"/>
              </a:spcBef>
            </a:pPr>
            <a:r>
              <a:rPr sz="1000" b="1" dirty="0" err="1">
                <a:solidFill>
                  <a:srgbClr val="E5173F"/>
                </a:solidFill>
                <a:latin typeface="Calibri"/>
              </a:rPr>
              <a:t>Pasivos</a:t>
            </a:r>
            <a:r>
              <a:rPr sz="1000" b="1" dirty="0">
                <a:solidFill>
                  <a:srgbClr val="E5173F"/>
                </a:solidFill>
                <a:latin typeface="Calibri"/>
              </a:rPr>
              <a:t> &lt; 1K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70 → 31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Caída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abrupta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del share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brecha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saltó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unos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220 a 550 pbs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3T25 y es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más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amplia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portafolio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: es un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cliente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negocia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.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bajamos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aun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así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share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siguió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cayendo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competencia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ofrece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una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más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competitiva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nuestro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por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eso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nuestra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baja no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alcanzó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Bajar</a:t>
            </a:r>
            <a:r>
              <a:rPr lang="es-ES" sz="850" b="1" dirty="0">
                <a:solidFill>
                  <a:srgbClr val="2F3B3A"/>
                </a:solidFill>
                <a:latin typeface="Calibri"/>
              </a:rPr>
              <a:t> precio</a:t>
            </a:r>
            <a:endParaRPr sz="850" b="1" dirty="0">
              <a:solidFill>
                <a:srgbClr val="2F3B3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776" y="6450000"/>
            <a:ext cx="112014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E7E7D"/>
                </a:solidFill>
                <a:latin typeface="Calibri"/>
              </a:rPr>
              <a:t>2T26* = abr–may.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SHARE Y TASA POR SEGMENTO · PRÓXIMO RECURRENTE · SIN HISTORIAL CREDITICIO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Poppins"/>
              </a:rPr>
              <a:t>Próximo Recurrente debe mantener el precio en tickets chicos y bajarlo en tickets mayores a S/ 250K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Share relevante por trimestre (%)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937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94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TEA mediana ponderada por apertura, ene–may 2026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94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23575" y="2401818"/>
            <a:ext cx="691667" cy="908181"/>
          </a:xfrm>
          <a:prstGeom prst="rect">
            <a:avLst/>
          </a:prstGeom>
          <a:noFill/>
          <a:ln w="12700">
            <a:solidFill>
              <a:srgbClr val="F28C28"/>
            </a:solidFill>
            <a:prstDash val="dash"/>
          </a:ln>
        </p:spPr>
        <p:txBody>
          <a:bodyPr wrap="square" lIns="30000" tIns="15000" rIns="30000" bIns="15000" anchor="ctr">
            <a:spAutoFit/>
          </a:bodyPr>
          <a:lstStyle/>
          <a:p>
            <a:pPr algn="ctr"/>
            <a:r>
              <a:rPr sz="700" b="0">
                <a:solidFill>
                  <a:srgbClr val="F28C28"/>
                </a:solidFill>
                <a:latin typeface="Calibri"/>
              </a:rPr>
              <a:t>Insuficiente materialidad para la tasa de la competencia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1911" y="2704545"/>
            <a:ext cx="691667" cy="605454"/>
          </a:xfrm>
          <a:prstGeom prst="rect">
            <a:avLst/>
          </a:prstGeom>
          <a:noFill/>
          <a:ln w="12700">
            <a:solidFill>
              <a:srgbClr val="F28C28"/>
            </a:solidFill>
            <a:prstDash val="dash"/>
          </a:ln>
        </p:spPr>
        <p:txBody>
          <a:bodyPr wrap="square" lIns="30000" tIns="15000" rIns="30000" bIns="15000" anchor="ctr">
            <a:spAutoFit/>
          </a:bodyPr>
          <a:lstStyle/>
          <a:p>
            <a:pPr algn="ctr"/>
            <a:r>
              <a:rPr sz="700" b="0">
                <a:solidFill>
                  <a:srgbClr val="F28C28"/>
                </a:solidFill>
                <a:latin typeface="Calibri"/>
              </a:rPr>
              <a:t>Insuficiente materialidad para la tasa de la competencia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13807B"/>
                </a:solidFill>
                <a:latin typeface="Calibri"/>
              </a:rPr>
              <a:t>≤ 170K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9377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30662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E5173F"/>
                </a:solidFill>
                <a:latin typeface="Calibri"/>
              </a:rPr>
              <a:t>&gt; 250K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30662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19476" y="37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9476" y="3940000"/>
            <a:ext cx="5475700" cy="2400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9476" y="3940000"/>
            <a:ext cx="45000" cy="240000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9476" y="4010000"/>
            <a:ext cx="5225700" cy="172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13807B"/>
                </a:solidFill>
                <a:latin typeface="Calibri"/>
              </a:rPr>
              <a:t>≤ 170K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73 → 94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Alza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fuerte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del share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se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mantuvo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alta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amplió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brecha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con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hasta 1T26.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bajó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subió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aunque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cerca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 sus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niveles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previos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y el share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respondió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con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fuerza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sz="850" b="1" dirty="0" err="1">
                <a:solidFill>
                  <a:srgbClr val="2F3B3A"/>
                </a:solidFill>
                <a:latin typeface="Calibri"/>
              </a:rPr>
              <a:t>Mantener</a:t>
            </a:r>
            <a:r>
              <a:rPr lang="es-ES" sz="850" b="1" dirty="0">
                <a:solidFill>
                  <a:srgbClr val="2F3B3A"/>
                </a:solidFill>
                <a:latin typeface="Calibri"/>
              </a:rPr>
              <a:t> precio</a:t>
            </a:r>
            <a:endParaRPr sz="850" b="1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400" b="0" dirty="0">
                <a:solidFill>
                  <a:srgbClr val="2F3B3A"/>
                </a:solidFill>
                <a:latin typeface="Calibri"/>
              </a:rPr>
              <a:t> </a:t>
            </a:r>
          </a:p>
          <a:p>
            <a:pPr algn="l">
              <a:spcBef>
                <a:spcPts val="300"/>
              </a:spcBef>
            </a:pPr>
            <a:r>
              <a:rPr sz="1000" b="1" dirty="0">
                <a:solidFill>
                  <a:srgbClr val="E5173F"/>
                </a:solidFill>
                <a:latin typeface="Calibri"/>
              </a:rPr>
              <a:t>&gt; 250K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53 → 34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Share bajo y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volátil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con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una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caída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brecha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se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movió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190 y 310 pbs y se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cerró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 forma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abrupta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cuando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subió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130 pbs, lo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coincide con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caída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del share</a:t>
            </a:r>
          </a:p>
          <a:p>
            <a:pPr algn="l"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Bajar</a:t>
            </a:r>
            <a:r>
              <a:rPr lang="es-ES" sz="850" b="1" dirty="0">
                <a:solidFill>
                  <a:srgbClr val="2F3B3A"/>
                </a:solidFill>
                <a:latin typeface="Calibri"/>
              </a:rPr>
              <a:t> precio</a:t>
            </a:r>
            <a:endParaRPr sz="850" b="1" dirty="0">
              <a:solidFill>
                <a:srgbClr val="2F3B3A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3776" y="6450000"/>
            <a:ext cx="112014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E7E7D"/>
                </a:solidFill>
                <a:latin typeface="Calibri"/>
              </a:rPr>
              <a:t>2T26* = abr–may.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SHARE Y TASA POR SEGMENTO · NUEVO EN EXPANSIÓN · SIN HISTORIAL CREDITICIO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Poppins"/>
              </a:rPr>
              <a:t>Nuevo en Expansión debe mantener el precio en tickets chicos y bajarlo en tickets mayores a S/ 250K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Share relevante por trimestre (%)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937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94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TEA mediana ponderada por apertura, ene–may 2026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94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23575" y="2401818"/>
            <a:ext cx="691667" cy="908181"/>
          </a:xfrm>
          <a:prstGeom prst="rect">
            <a:avLst/>
          </a:prstGeom>
          <a:noFill/>
          <a:ln w="12700">
            <a:solidFill>
              <a:srgbClr val="F28C28"/>
            </a:solidFill>
            <a:prstDash val="dash"/>
          </a:ln>
        </p:spPr>
        <p:txBody>
          <a:bodyPr wrap="square" lIns="30000" tIns="15000" rIns="30000" bIns="15000" anchor="ctr">
            <a:spAutoFit/>
          </a:bodyPr>
          <a:lstStyle/>
          <a:p>
            <a:pPr algn="ctr"/>
            <a:r>
              <a:rPr sz="700" b="0">
                <a:solidFill>
                  <a:srgbClr val="F28C28"/>
                </a:solidFill>
                <a:latin typeface="Calibri"/>
              </a:rPr>
              <a:t>Insuficiente materialidad para la tasa de la competencia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13807B"/>
                </a:solidFill>
                <a:latin typeface="Calibri"/>
              </a:rPr>
              <a:t>≤ 170K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49377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30662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E5173F"/>
                </a:solidFill>
                <a:latin typeface="Calibri"/>
              </a:rPr>
              <a:t>&gt; 250K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330662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19476" y="37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Insights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9476" y="3940000"/>
            <a:ext cx="5475700" cy="2400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9476" y="3940000"/>
            <a:ext cx="45000" cy="240000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9476" y="4010000"/>
            <a:ext cx="5225700" cy="17620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>
                <a:solidFill>
                  <a:srgbClr val="13807B"/>
                </a:solidFill>
                <a:latin typeface="Calibri"/>
              </a:rPr>
              <a:t>≤ 170K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70 → 84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Alza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fuerte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del share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En 4T25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desembolsamos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por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encima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el share se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desplomó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.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bajaron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el share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alcanzó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su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mejor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nivel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sz="850" b="1" dirty="0" err="1">
                <a:solidFill>
                  <a:srgbClr val="2F3B3A"/>
                </a:solidFill>
                <a:latin typeface="Calibri"/>
              </a:rPr>
              <a:t>Mantener</a:t>
            </a:r>
            <a:r>
              <a:rPr lang="es-ES" sz="850" b="1" dirty="0">
                <a:solidFill>
                  <a:srgbClr val="2F3B3A"/>
                </a:solidFill>
                <a:latin typeface="Calibri"/>
              </a:rPr>
              <a:t> precio</a:t>
            </a:r>
            <a:endParaRPr sz="850" b="1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400" b="0" dirty="0">
                <a:solidFill>
                  <a:srgbClr val="2F3B3A"/>
                </a:solidFill>
                <a:latin typeface="Calibri"/>
              </a:rPr>
              <a:t> </a:t>
            </a:r>
          </a:p>
          <a:p>
            <a:pPr algn="l">
              <a:spcBef>
                <a:spcPts val="300"/>
              </a:spcBef>
            </a:pPr>
            <a:r>
              <a:rPr sz="1000" b="1" dirty="0">
                <a:solidFill>
                  <a:srgbClr val="E5173F"/>
                </a:solidFill>
                <a:latin typeface="Calibri"/>
              </a:rPr>
              <a:t>&gt; 250K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28 → 32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Share bajo, con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una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mejora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2026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brecha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se reduce de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unos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390 a 270 pbs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porque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baja de a poco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competencia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cobra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línea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con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nuestro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así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que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desventaja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está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sz="850" b="1" dirty="0">
                <a:solidFill>
                  <a:srgbClr val="2F3B3A"/>
                </a:solidFill>
                <a:latin typeface="Calibri"/>
              </a:rPr>
              <a:t>Bajar</a:t>
            </a:r>
            <a:r>
              <a:rPr lang="es-ES" sz="850" b="1" dirty="0">
                <a:solidFill>
                  <a:srgbClr val="2F3B3A"/>
                </a:solidFill>
                <a:latin typeface="Calibri"/>
              </a:rPr>
              <a:t> precio</a:t>
            </a:r>
            <a:endParaRPr sz="850" b="1" dirty="0">
              <a:solidFill>
                <a:srgbClr val="2F3B3A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3776" y="6450000"/>
            <a:ext cx="112014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E7E7D"/>
                </a:solidFill>
                <a:latin typeface="Calibri"/>
              </a:rPr>
              <a:t>2T26* = abr–may.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SHARE Y TASA POR SEGMENTO · EMPRENDEDOR IZIPAY · SIN HISTORIAL CREDITICIO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Poppins"/>
              </a:rPr>
              <a:t>Emprendedor Izipay debe mantener su tasa, porque la oferta más baja llevó a su mejor share en pasivos S/ 1–20K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Share relevante por trimestre (%)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937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9476" y="11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TEA mediana ponderada por apertura, ene–may 2026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9476" y="1330000"/>
          <a:ext cx="5475700" cy="22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23575" y="2385000"/>
            <a:ext cx="691667" cy="925000"/>
          </a:xfrm>
          <a:prstGeom prst="rect">
            <a:avLst/>
          </a:prstGeom>
          <a:noFill/>
          <a:ln w="12700">
            <a:solidFill>
              <a:srgbClr val="F28C28"/>
            </a:solidFill>
            <a:prstDash val="dash"/>
          </a:ln>
        </p:spPr>
        <p:txBody>
          <a:bodyPr wrap="square" lIns="30000" tIns="15000" rIns="30000" bIns="15000" anchor="ctr">
            <a:spAutoFit/>
          </a:bodyPr>
          <a:lstStyle/>
          <a:p>
            <a:pPr algn="ctr"/>
            <a:r>
              <a:rPr sz="700" b="0">
                <a:solidFill>
                  <a:srgbClr val="F28C28"/>
                </a:solidFill>
                <a:latin typeface="Calibri"/>
              </a:rPr>
              <a:t>Insuficiente materialidad para la tasa de la competencia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1911" y="2570000"/>
            <a:ext cx="691667" cy="740000"/>
          </a:xfrm>
          <a:prstGeom prst="rect">
            <a:avLst/>
          </a:prstGeom>
          <a:noFill/>
          <a:ln w="12700">
            <a:solidFill>
              <a:srgbClr val="F28C28"/>
            </a:solidFill>
            <a:prstDash val="dash"/>
          </a:ln>
        </p:spPr>
        <p:txBody>
          <a:bodyPr wrap="square" lIns="30000" tIns="15000" rIns="30000" bIns="15000" anchor="ctr">
            <a:spAutoFit/>
          </a:bodyPr>
          <a:lstStyle/>
          <a:p>
            <a:pPr algn="ctr"/>
            <a:r>
              <a:rPr sz="700" b="0">
                <a:solidFill>
                  <a:srgbClr val="F28C28"/>
                </a:solidFill>
                <a:latin typeface="Calibri"/>
              </a:rPr>
              <a:t>Insuficiente materialidad para la tasa de la competencia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13807B"/>
                </a:solidFill>
                <a:latin typeface="Calibri"/>
              </a:rPr>
              <a:t>Pasivos 1–20K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9377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306626" y="3720000"/>
            <a:ext cx="2662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Oferta y desembolso · </a:t>
            </a:r>
            <a:r>
              <a:rPr sz="900" b="1">
                <a:solidFill>
                  <a:srgbClr val="E5173F"/>
                </a:solidFill>
                <a:latin typeface="Calibri"/>
              </a:rPr>
              <a:t>Pasivos &lt; 1K</a:t>
            </a:r>
            <a:r>
              <a:rPr sz="650" b="0">
                <a:solidFill>
                  <a:srgbClr val="8E9B9A"/>
                </a:solidFill>
                <a:latin typeface="Calibri"/>
              </a:rPr>
              <a:t>  prom. ponderado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3306626" y="3930000"/>
          <a:ext cx="2662850" cy="2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19476" y="3720000"/>
            <a:ext cx="54757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9476" y="3940000"/>
            <a:ext cx="5475700" cy="2400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9476" y="3940000"/>
            <a:ext cx="45000" cy="240000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9476" y="4010000"/>
            <a:ext cx="5225700" cy="1723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dirty="0" err="1">
                <a:solidFill>
                  <a:srgbClr val="13807B"/>
                </a:solidFill>
                <a:latin typeface="Calibri"/>
              </a:rPr>
              <a:t>Pasivos</a:t>
            </a:r>
            <a:r>
              <a:rPr sz="1000" b="1" dirty="0">
                <a:solidFill>
                  <a:srgbClr val="13807B"/>
                </a:solidFill>
                <a:latin typeface="Calibri"/>
              </a:rPr>
              <a:t> 1–20K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51 → 86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Alza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fuerte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del share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brecha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entre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desembolsada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es baja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todo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periodo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menor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a 250 pbs, y se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cierra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sz="850" b="1" dirty="0" err="1">
                <a:solidFill>
                  <a:srgbClr val="2F3B3A"/>
                </a:solidFill>
                <a:latin typeface="Calibri"/>
              </a:rPr>
              <a:t>Mantener</a:t>
            </a:r>
            <a:r>
              <a:rPr lang="es-ES" sz="850" b="1" dirty="0">
                <a:solidFill>
                  <a:srgbClr val="2F3B3A"/>
                </a:solidFill>
                <a:latin typeface="Calibri"/>
              </a:rPr>
              <a:t> precio</a:t>
            </a:r>
            <a:endParaRPr sz="850" b="1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400" b="0" dirty="0">
                <a:solidFill>
                  <a:srgbClr val="2F3B3A"/>
                </a:solidFill>
                <a:latin typeface="Calibri"/>
              </a:rPr>
              <a:t> </a:t>
            </a:r>
          </a:p>
          <a:p>
            <a:pPr algn="l">
              <a:spcBef>
                <a:spcPts val="300"/>
              </a:spcBef>
            </a:pPr>
            <a:r>
              <a:rPr sz="1000" b="1" dirty="0" err="1">
                <a:solidFill>
                  <a:srgbClr val="E5173F"/>
                </a:solidFill>
                <a:latin typeface="Calibri"/>
              </a:rPr>
              <a:t>Pasivos</a:t>
            </a:r>
            <a:r>
              <a:rPr sz="1000" b="1" dirty="0">
                <a:solidFill>
                  <a:srgbClr val="E5173F"/>
                </a:solidFill>
                <a:latin typeface="Calibri"/>
              </a:rPr>
              <a:t> &lt; 1K</a:t>
            </a:r>
            <a:r>
              <a:rPr sz="800" b="0" dirty="0">
                <a:solidFill>
                  <a:srgbClr val="6E7E7D"/>
                </a:solidFill>
                <a:latin typeface="Calibri"/>
              </a:rPr>
              <a:t>   share 43 → 63</a:t>
            </a: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Share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volátil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con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pocos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casos</a:t>
            </a:r>
            <a:endParaRPr sz="850" b="0" dirty="0">
              <a:solidFill>
                <a:srgbClr val="2F3B3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850" b="1" dirty="0">
                <a:solidFill>
                  <a:srgbClr val="13807B"/>
                </a:solidFill>
                <a:latin typeface="Calibri"/>
              </a:rPr>
              <a:t>• 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El share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responde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a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tasa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: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sube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4T25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cuando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bajan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la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desembolso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,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cae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1T26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cuando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ambas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suben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y se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recupera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el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último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trimestre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con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una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oferta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</a:t>
            </a:r>
            <a:r>
              <a:rPr sz="850" b="0" dirty="0" err="1">
                <a:solidFill>
                  <a:srgbClr val="2F3B3A"/>
                </a:solidFill>
                <a:latin typeface="Calibri"/>
              </a:rPr>
              <a:t>más</a:t>
            </a:r>
            <a:r>
              <a:rPr sz="850" b="0" dirty="0">
                <a:solidFill>
                  <a:srgbClr val="2F3B3A"/>
                </a:solidFill>
                <a:latin typeface="Calibri"/>
              </a:rPr>
              <a:t> baja</a:t>
            </a:r>
          </a:p>
          <a:p>
            <a:pPr algn="l">
              <a:spcBef>
                <a:spcPts val="300"/>
              </a:spcBef>
            </a:pPr>
            <a:r>
              <a:rPr sz="850" b="1" dirty="0" err="1">
                <a:solidFill>
                  <a:srgbClr val="13807B"/>
                </a:solidFill>
                <a:latin typeface="Calibri"/>
              </a:rPr>
              <a:t>Estrategia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 de </a:t>
            </a:r>
            <a:r>
              <a:rPr sz="850" b="1" dirty="0" err="1">
                <a:solidFill>
                  <a:srgbClr val="13807B"/>
                </a:solidFill>
                <a:latin typeface="Calibri"/>
              </a:rPr>
              <a:t>pilotos</a:t>
            </a:r>
            <a:r>
              <a:rPr sz="850" b="1" dirty="0">
                <a:solidFill>
                  <a:srgbClr val="13807B"/>
                </a:solidFill>
                <a:latin typeface="Calibri"/>
              </a:rPr>
              <a:t>: </a:t>
            </a:r>
            <a:r>
              <a:rPr sz="850" b="1" dirty="0" err="1">
                <a:solidFill>
                  <a:srgbClr val="2F3B3A"/>
                </a:solidFill>
                <a:latin typeface="Calibri"/>
              </a:rPr>
              <a:t>Mantener</a:t>
            </a:r>
            <a:r>
              <a:rPr lang="es-ES" sz="850" b="1" dirty="0">
                <a:solidFill>
                  <a:srgbClr val="2F3B3A"/>
                </a:solidFill>
                <a:latin typeface="Calibri"/>
              </a:rPr>
              <a:t> precio</a:t>
            </a:r>
            <a:endParaRPr sz="850" b="1" dirty="0">
              <a:solidFill>
                <a:srgbClr val="2F3B3A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3776" y="6450000"/>
            <a:ext cx="112014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E7E7D"/>
                </a:solidFill>
                <a:latin typeface="Calibri"/>
              </a:rPr>
              <a:t>2T26* = abr–may.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Poppins"/>
              </a:rPr>
              <a:t>Próximos pasos: el modelo de sensibilidad convierte el diagnóstico en propuestas de tasa por apertura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3776" y="1250000"/>
            <a:ext cx="3600000" cy="2250000"/>
          </a:xfrm>
          <a:prstGeom prst="rect">
            <a:avLst/>
          </a:prstGeom>
          <a:solidFill>
            <a:srgbClr val="F0F5F5"/>
          </a:solidFill>
          <a:ln>
            <a:solidFill>
              <a:srgbClr val="C9D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3776" y="1250000"/>
            <a:ext cx="3600000" cy="60000"/>
          </a:xfrm>
          <a:prstGeom prst="rect">
            <a:avLst/>
          </a:prstGeom>
          <a:solidFill>
            <a:srgbClr val="1380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3776" y="1380000"/>
            <a:ext cx="330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3807B"/>
                </a:solidFill>
                <a:latin typeface="Calibri"/>
              </a:rPr>
              <a:t>PASO 1 · LISTO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776" y="1650000"/>
            <a:ext cx="3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F3B3A"/>
                </a:solidFill>
                <a:latin typeface="Calibri"/>
              </a:rPr>
              <a:t>Diagnóstico por apertura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776" y="2150000"/>
            <a:ext cx="3300000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F3B3A"/>
                </a:solidFill>
                <a:latin typeface="Calibri"/>
              </a:rPr>
              <a:t>Share relevante, TEA de oferta, de desembolso y de la competencia por apertura, con una propuesta de piloto para cada una.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3776" y="2150000"/>
            <a:ext cx="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3776" y="1250000"/>
            <a:ext cx="3600000" cy="2250000"/>
          </a:xfrm>
          <a:prstGeom prst="rect">
            <a:avLst/>
          </a:prstGeom>
          <a:solidFill>
            <a:srgbClr val="F0F5F5"/>
          </a:solidFill>
          <a:ln>
            <a:solidFill>
              <a:srgbClr val="C9D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3776" y="1250000"/>
            <a:ext cx="3600000" cy="60000"/>
          </a:xfrm>
          <a:prstGeom prst="rect">
            <a:avLst/>
          </a:prstGeom>
          <a:solidFill>
            <a:srgbClr val="4A6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3776" y="1380000"/>
            <a:ext cx="330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4A6572"/>
                </a:solidFill>
                <a:latin typeface="Calibri"/>
              </a:rPr>
              <a:t>PASO 2 · SIGUIENTE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3776" y="1650000"/>
            <a:ext cx="3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F3B3A"/>
                </a:solidFill>
                <a:latin typeface="Calibri"/>
              </a:rPr>
              <a:t>Modelo de sensibilidad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3776" y="2150000"/>
            <a:ext cx="3300000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F3B3A"/>
                </a:solidFill>
                <a:latin typeface="Calibri"/>
              </a:rPr>
              <a:t>Estimar cuánto cambia la probabilidad de desembolsar con IBK ante cambios de tasa y de monto, por apertura, usando la tasa de la competencia como referencia.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3776" y="2150000"/>
            <a:ext cx="2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3776" y="1250000"/>
            <a:ext cx="3600000" cy="2250000"/>
          </a:xfrm>
          <a:prstGeom prst="rect">
            <a:avLst/>
          </a:prstGeom>
          <a:solidFill>
            <a:srgbClr val="F0F5F5"/>
          </a:solidFill>
          <a:ln>
            <a:solidFill>
              <a:srgbClr val="C9D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3776" y="1250000"/>
            <a:ext cx="3600000" cy="60000"/>
          </a:xfrm>
          <a:prstGeom prst="rect">
            <a:avLst/>
          </a:prstGeom>
          <a:solidFill>
            <a:srgbClr val="E51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33776" y="1380000"/>
            <a:ext cx="3300000" cy="2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E5173F"/>
                </a:solidFill>
                <a:latin typeface="Calibri"/>
              </a:rPr>
              <a:t>PASO 3 · RESULTADO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3776" y="1650000"/>
            <a:ext cx="3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F3B3A"/>
                </a:solidFill>
                <a:latin typeface="Calibri"/>
              </a:rPr>
              <a:t>Propuestas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3776" y="2150000"/>
            <a:ext cx="3300000" cy="1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2F3B3A"/>
                </a:solidFill>
                <a:latin typeface="Calibri"/>
              </a:rPr>
              <a:t>Pilotos de tasa y de monto priorizados por apertura, respetando el piso de margen definido con Pricing y Riesgos y medidos contra un grupo de control.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MODELO DE SENSIBILIDAD · MACROPERFILES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Poppins"/>
              </a:rPr>
              <a:t>Para medir la sensibilidad al precio agrupamos los 9 segmentos en 4 macroperfiles, según deuda en el SSFF, tamaño y profundidad de relación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3776" y="1250000"/>
            <a:ext cx="2687850" cy="4300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3776" y="1250000"/>
            <a:ext cx="2687850" cy="6000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776" y="1400000"/>
            <a:ext cx="244785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3807B"/>
                </a:solidFill>
                <a:latin typeface="Calibri"/>
              </a:rPr>
              <a:t>Fidelizados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776" y="1950000"/>
            <a:ext cx="244785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F3B3A"/>
                </a:solidFill>
                <a:latin typeface="Calibri"/>
              </a:rPr>
              <a:t>Con deuda en el SSFF y SOW de deuda de 50% o más: ya nos prefieren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776" y="2700000"/>
            <a:ext cx="2447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Segmentos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3776" y="2950000"/>
            <a:ext cx="2447850" cy="33000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Cliente Ancla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776" y="3350000"/>
            <a:ext cx="2447850" cy="330000"/>
          </a:xfrm>
          <a:prstGeom prst="rect">
            <a:avLst/>
          </a:prstGeom>
          <a:solidFill>
            <a:srgbClr val="138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Socio en Crecimiento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776" y="4500000"/>
            <a:ext cx="244785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Peso en el modelo</a:t>
            </a:r>
          </a:p>
          <a:p>
            <a:pPr algn="l">
              <a:spcBef>
                <a:spcPts val="100"/>
              </a:spcBef>
            </a:pPr>
            <a:r>
              <a:rPr sz="1600" b="1">
                <a:solidFill>
                  <a:srgbClr val="13807B"/>
                </a:solidFill>
                <a:latin typeface="Calibri"/>
              </a:rPr>
              <a:t>25%</a:t>
            </a:r>
            <a:r>
              <a:rPr sz="850" b="0">
                <a:solidFill>
                  <a:srgbClr val="6E7E7D"/>
                </a:solidFill>
                <a:latin typeface="Calibri"/>
              </a:rPr>
              <a:t>  del monto</a:t>
            </a:r>
          </a:p>
          <a:p>
            <a:pPr algn="l">
              <a:spcBef>
                <a:spcPts val="100"/>
              </a:spcBef>
            </a:pPr>
            <a:r>
              <a:rPr sz="1600" b="1">
                <a:solidFill>
                  <a:srgbClr val="13807B"/>
                </a:solidFill>
                <a:latin typeface="Calibri"/>
              </a:rPr>
              <a:t>28%</a:t>
            </a:r>
            <a:r>
              <a:rPr sz="850" b="0">
                <a:solidFill>
                  <a:srgbClr val="6E7E7D"/>
                </a:solidFill>
                <a:latin typeface="Calibri"/>
              </a:rPr>
              <a:t>  de los desembolsos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1626" y="1250000"/>
            <a:ext cx="2687850" cy="4300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1626" y="1250000"/>
            <a:ext cx="2687850" cy="60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51626" y="1400000"/>
            <a:ext cx="244785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C2410C"/>
                </a:solidFill>
                <a:latin typeface="Calibri"/>
              </a:rPr>
              <a:t>Grandes por fidelizar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1626" y="1950000"/>
            <a:ext cx="244785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F3B3A"/>
                </a:solidFill>
                <a:latin typeface="Calibri"/>
              </a:rPr>
              <a:t>Con deuda, SOW menor a 50% y ventas cercanas a S/ 2,8MM: el mayor valor por capturar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1626" y="2700000"/>
            <a:ext cx="2447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Segmentos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51626" y="2950000"/>
            <a:ext cx="2447850" cy="330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Cuenta Estratégica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1626" y="3350000"/>
            <a:ext cx="2447850" cy="330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Gran Cuenta por Conquistar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1626" y="4500000"/>
            <a:ext cx="244785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Peso en el modelo</a:t>
            </a:r>
          </a:p>
          <a:p>
            <a:pPr algn="l">
              <a:spcBef>
                <a:spcPts val="100"/>
              </a:spcBef>
            </a:pPr>
            <a:r>
              <a:rPr sz="1600" b="1">
                <a:solidFill>
                  <a:srgbClr val="C2410C"/>
                </a:solidFill>
                <a:latin typeface="Calibri"/>
              </a:rPr>
              <a:t>36%</a:t>
            </a:r>
            <a:r>
              <a:rPr sz="850" b="0">
                <a:solidFill>
                  <a:srgbClr val="6E7E7D"/>
                </a:solidFill>
                <a:latin typeface="Calibri"/>
              </a:rPr>
              <a:t>  del monto</a:t>
            </a:r>
          </a:p>
          <a:p>
            <a:pPr algn="l">
              <a:spcBef>
                <a:spcPts val="100"/>
              </a:spcBef>
            </a:pPr>
            <a:r>
              <a:rPr sz="1600" b="1">
                <a:solidFill>
                  <a:srgbClr val="C2410C"/>
                </a:solidFill>
                <a:latin typeface="Calibri"/>
              </a:rPr>
              <a:t>29%</a:t>
            </a:r>
            <a:r>
              <a:rPr sz="850" b="0">
                <a:solidFill>
                  <a:srgbClr val="6E7E7D"/>
                </a:solidFill>
                <a:latin typeface="Calibri"/>
              </a:rPr>
              <a:t>  de los desembolsos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9476" y="1250000"/>
            <a:ext cx="2687850" cy="4300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69476" y="1250000"/>
            <a:ext cx="2687850" cy="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89476" y="1400000"/>
            <a:ext cx="244785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F3A5F"/>
                </a:solidFill>
                <a:latin typeface="Calibri"/>
              </a:rPr>
              <a:t>Medianos por fidelizar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9476" y="1950000"/>
            <a:ext cx="244785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F3B3A"/>
                </a:solidFill>
                <a:latin typeface="Calibri"/>
              </a:rPr>
              <a:t>Con deuda, SOW menor a 50% y ventas entre S/ 0,5 y 0,7MM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9476" y="2700000"/>
            <a:ext cx="2447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Segmentos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9476" y="2950000"/>
            <a:ext cx="2447850" cy="33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Maduro Multibanco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89476" y="3350000"/>
            <a:ext cx="2447850" cy="33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Cliente por Reactivar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9476" y="4500000"/>
            <a:ext cx="244785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Peso en el modelo</a:t>
            </a:r>
          </a:p>
          <a:p>
            <a:pPr algn="l">
              <a:spcBef>
                <a:spcPts val="100"/>
              </a:spcBef>
            </a:pPr>
            <a:r>
              <a:rPr sz="1600" b="1">
                <a:solidFill>
                  <a:srgbClr val="1F3A5F"/>
                </a:solidFill>
                <a:latin typeface="Calibri"/>
              </a:rPr>
              <a:t>33%</a:t>
            </a:r>
            <a:r>
              <a:rPr sz="850" b="0">
                <a:solidFill>
                  <a:srgbClr val="6E7E7D"/>
                </a:solidFill>
                <a:latin typeface="Calibri"/>
              </a:rPr>
              <a:t>  del monto</a:t>
            </a:r>
          </a:p>
          <a:p>
            <a:pPr algn="l">
              <a:spcBef>
                <a:spcPts val="100"/>
              </a:spcBef>
            </a:pPr>
            <a:r>
              <a:rPr sz="1600" b="1">
                <a:solidFill>
                  <a:srgbClr val="1F3A5F"/>
                </a:solidFill>
                <a:latin typeface="Calibri"/>
              </a:rPr>
              <a:t>31%</a:t>
            </a:r>
            <a:r>
              <a:rPr sz="850" b="0">
                <a:solidFill>
                  <a:srgbClr val="6E7E7D"/>
                </a:solidFill>
                <a:latin typeface="Calibri"/>
              </a:rPr>
              <a:t>  de los desembolsos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7326" y="1250000"/>
            <a:ext cx="2687850" cy="4300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007326" y="1250000"/>
            <a:ext cx="2687850" cy="60000"/>
          </a:xfrm>
          <a:prstGeom prst="rect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27326" y="1400000"/>
            <a:ext cx="244785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4A6572"/>
                </a:solidFill>
                <a:latin typeface="Calibri"/>
              </a:rPr>
              <a:t>Sin historial crediticio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7326" y="1950000"/>
            <a:ext cx="244785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2F3B3A"/>
                </a:solidFill>
                <a:latin typeface="Calibri"/>
              </a:rPr>
              <a:t>Sin historial en el SSFF en los últimos 12 meses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7326" y="2700000"/>
            <a:ext cx="244785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Segmentos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27326" y="2950000"/>
            <a:ext cx="2447850" cy="330000"/>
          </a:xfrm>
          <a:prstGeom prst="rect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Próximo Recurrente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27326" y="3350000"/>
            <a:ext cx="2447850" cy="330000"/>
          </a:xfrm>
          <a:prstGeom prst="rect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Nuevo en Expansión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27326" y="3750000"/>
            <a:ext cx="2447850" cy="330000"/>
          </a:xfrm>
          <a:prstGeom prst="rect">
            <a:avLst/>
          </a:prstGeom>
          <a:solidFill>
            <a:srgbClr val="4A6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35000" rIns="70000" bIns="35000" rtlCol="0" anchor="ctr"/>
          <a:lstStyle/>
          <a:p>
            <a:pPr algn="l"/>
            <a:r>
              <a:rPr sz="950" b="1">
                <a:solidFill>
                  <a:srgbClr val="FFFFFF"/>
                </a:solidFill>
                <a:latin typeface="Calibri"/>
              </a:rPr>
              <a:t>Emprendedor Izipay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27326" y="4500000"/>
            <a:ext cx="244785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Peso en el modelo</a:t>
            </a:r>
          </a:p>
          <a:p>
            <a:pPr algn="l">
              <a:spcBef>
                <a:spcPts val="100"/>
              </a:spcBef>
            </a:pPr>
            <a:r>
              <a:rPr sz="1600" b="1">
                <a:solidFill>
                  <a:srgbClr val="4A6572"/>
                </a:solidFill>
                <a:latin typeface="Calibri"/>
              </a:rPr>
              <a:t>6%</a:t>
            </a:r>
            <a:r>
              <a:rPr sz="850" b="0">
                <a:solidFill>
                  <a:srgbClr val="6E7E7D"/>
                </a:solidFill>
                <a:latin typeface="Calibri"/>
              </a:rPr>
              <a:t>  del monto</a:t>
            </a:r>
          </a:p>
          <a:p>
            <a:pPr algn="l">
              <a:spcBef>
                <a:spcPts val="100"/>
              </a:spcBef>
            </a:pPr>
            <a:r>
              <a:rPr sz="1600" b="1">
                <a:solidFill>
                  <a:srgbClr val="4A6572"/>
                </a:solidFill>
                <a:latin typeface="Calibri"/>
              </a:rPr>
              <a:t>11%</a:t>
            </a:r>
            <a:r>
              <a:rPr sz="850" b="0">
                <a:solidFill>
                  <a:srgbClr val="6E7E7D"/>
                </a:solidFill>
                <a:latin typeface="Calibri"/>
              </a:rPr>
              <a:t>  de los desembolsos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" y="5750000"/>
            <a:ext cx="11201400" cy="500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75000" rIns="150000" bIns="75000" rtlCol="0" anchor="ctr"/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Consolidamos los segmentos en 4 macroperfiles para tener casos suficientes y capturar mejor la sensibilidad al precio. Cada apertura del diagnóstico se lee con la sensibilidad de su macroperfil.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MODELO DE SENSIBILIDAD ·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Poppins"/>
              </a:rPr>
              <a:t>Los clientes sin historial crediticio y los por fidelizar son sensibles a la tasa ofertada. En Fidelizados el modelo no detecta sensibilidad y se propone siembra de precios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3776" y="1180000"/>
            <a:ext cx="3633800" cy="760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3776" y="1180000"/>
            <a:ext cx="45000" cy="7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3776" y="1230000"/>
            <a:ext cx="34338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F3A5F"/>
                </a:solidFill>
                <a:latin typeface="Calibri"/>
              </a:rPr>
              <a:t>Periodo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76" y="1460000"/>
            <a:ext cx="34338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2F3B3A"/>
                </a:solidFill>
                <a:latin typeface="Calibri"/>
              </a:rPr>
              <a:t>Abr 25 – abr 26 (13 meses), para capturar la estacionalidad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7576" y="1180000"/>
            <a:ext cx="3633800" cy="760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77576" y="1180000"/>
            <a:ext cx="45000" cy="7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7576" y="1230000"/>
            <a:ext cx="34338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F3A5F"/>
                </a:solidFill>
                <a:latin typeface="Calibri"/>
              </a:rPr>
              <a:t>Metodología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576" y="1460000"/>
            <a:ext cx="34338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2F3B3A"/>
                </a:solidFill>
                <a:latin typeface="Calibri"/>
              </a:rPr>
              <a:t>Modelo de datos panel: efectividad frente a la tasa ofertada, con efectos fijos por bucket y por 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1376" y="1180000"/>
            <a:ext cx="3633800" cy="760000"/>
          </a:xfrm>
          <a:prstGeom prst="rect">
            <a:avLst/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1376" y="1180000"/>
            <a:ext cx="45000" cy="7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91376" y="1230000"/>
            <a:ext cx="34338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F3A5F"/>
                </a:solidFill>
                <a:latin typeface="Calibri"/>
              </a:rPr>
              <a:t>Población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376" y="1460000"/>
            <a:ext cx="3433800" cy="4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2F3B3A"/>
                </a:solidFill>
                <a:latin typeface="Calibri"/>
              </a:rPr>
              <a:t>Éxitos: desembolsos en Interbank. Fracasos: desembolsos en la competencia por monto similar y con gestión, la misma base del share relevante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206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Modelo estimado</a:t>
            </a:r>
          </a:p>
        </p:txBody>
      </p:sp>
      <p:pic>
        <p:nvPicPr>
          <p:cNvPr id="19" name="Picture 18" descr="ecuacion_mode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2340000"/>
            <a:ext cx="5600000" cy="60578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43776" y="2290000"/>
            <a:ext cx="53514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2F3B3A"/>
                </a:solidFill>
                <a:latin typeface="Calibri"/>
              </a:rPr>
              <a:t>E</a:t>
            </a:r>
            <a:r>
              <a:rPr sz="850" b="0">
                <a:solidFill>
                  <a:srgbClr val="2F3B3A"/>
                </a:solidFill>
                <a:latin typeface="Calibri"/>
              </a:rPr>
              <a:t>: efectividad (monto desembolsado / monto ofertado) del bucket b en el mes t</a:t>
            </a:r>
          </a:p>
          <a:p>
            <a:pPr algn="l">
              <a:spcBef>
                <a:spcPts val="200"/>
              </a:spcBef>
            </a:pPr>
            <a:r>
              <a:rPr sz="850" b="1">
                <a:solidFill>
                  <a:srgbClr val="2F3B3A"/>
                </a:solidFill>
                <a:latin typeface="Calibri"/>
              </a:rPr>
              <a:t>r IBK</a:t>
            </a:r>
            <a:r>
              <a:rPr sz="850" b="0">
                <a:solidFill>
                  <a:srgbClr val="2F3B3A"/>
                </a:solidFill>
                <a:latin typeface="Calibri"/>
              </a:rPr>
              <a:t>: tasa ofertada por Interbank</a:t>
            </a:r>
          </a:p>
          <a:p>
            <a:pPr algn="l">
              <a:spcBef>
                <a:spcPts val="200"/>
              </a:spcBef>
            </a:pPr>
            <a:r>
              <a:rPr sz="850" b="1">
                <a:solidFill>
                  <a:srgbClr val="2F3B3A"/>
                </a:solidFill>
                <a:latin typeface="Calibri"/>
              </a:rPr>
              <a:t>α</a:t>
            </a:r>
            <a:r>
              <a:rPr sz="850" b="0">
                <a:solidFill>
                  <a:srgbClr val="2F3B3A"/>
                </a:solidFill>
                <a:latin typeface="Calibri"/>
              </a:rPr>
              <a:t> y </a:t>
            </a:r>
            <a:r>
              <a:rPr sz="850" b="1">
                <a:solidFill>
                  <a:srgbClr val="2F3B3A"/>
                </a:solidFill>
                <a:latin typeface="Calibri"/>
              </a:rPr>
              <a:t>γ</a:t>
            </a:r>
            <a:r>
              <a:rPr sz="850" b="0">
                <a:solidFill>
                  <a:srgbClr val="2F3B3A"/>
                </a:solidFill>
                <a:latin typeface="Calibri"/>
              </a:rPr>
              <a:t>: efectos fijos por bucket y por mes (estructura y estacionalidad)</a:t>
            </a:r>
          </a:p>
          <a:p>
            <a:pPr algn="l">
              <a:spcBef>
                <a:spcPts val="200"/>
              </a:spcBef>
            </a:pPr>
            <a:r>
              <a:rPr sz="850" b="1">
                <a:solidFill>
                  <a:srgbClr val="13807B"/>
                </a:solidFill>
                <a:latin typeface="Calibri"/>
              </a:rPr>
              <a:t>β₁</a:t>
            </a:r>
            <a:r>
              <a:rPr sz="850" b="0">
                <a:solidFill>
                  <a:srgbClr val="2F3B3A"/>
                </a:solidFill>
                <a:latin typeface="Calibri"/>
              </a:rPr>
              <a:t>: elasticidad. Cuánto cambia la efectividad (%) ante un cambio de 1% en la tasa ofertada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" y="3150000"/>
            <a:ext cx="7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Macroperfiles con sensibilidad significativa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93776" y="3410000"/>
          <a:ext cx="7000000" cy="14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0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Macroperfil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Elasticidad (β₁)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p-valor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Peso en monto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Peso en desembolsos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Lectura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4A6572"/>
                          </a:solidFill>
                          <a:latin typeface="Calibri"/>
                        </a:rPr>
                        <a:t>Sin historial crediticio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F3B3A"/>
                          </a:solidFill>
                          <a:latin typeface="Calibri"/>
                        </a:rPr>
                        <a:t>-4,77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F3B3A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F3B3A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F3B3A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Si la tasa ofertada sube 1%, la efectividad cae 4,77% en términos relativos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F3A5F"/>
                          </a:solidFill>
                          <a:latin typeface="Calibri"/>
                        </a:rPr>
                        <a:t>Medianos por fidelizar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F3B3A"/>
                          </a:solidFill>
                          <a:latin typeface="Calibri"/>
                        </a:rPr>
                        <a:t>-3,82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F3B3A"/>
                          </a:solidFill>
                          <a:latin typeface="Calibri"/>
                        </a:rPr>
                        <a:t>0,09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F3B3A"/>
                          </a:solidFill>
                          <a:latin typeface="Calibri"/>
                        </a:rPr>
                        <a:t>33%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F3B3A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Si la tasa ofertada sube 1%, la efectividad cae 3,82% en términos relativos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C2410C"/>
                          </a:solidFill>
                          <a:latin typeface="Calibri"/>
                        </a:rPr>
                        <a:t>Grandes por fidelizar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2F3B3A"/>
                          </a:solidFill>
                          <a:latin typeface="Calibri"/>
                        </a:rPr>
                        <a:t>-2,60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F3B3A"/>
                          </a:solidFill>
                          <a:latin typeface="Calibri"/>
                        </a:rPr>
                        <a:t>0,03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F3B3A"/>
                          </a:solidFill>
                          <a:latin typeface="Calibri"/>
                        </a:rPr>
                        <a:t>36%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F3B3A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F3B3A"/>
                          </a:solidFill>
                          <a:latin typeface="Calibri"/>
                        </a:rPr>
                        <a:t>Si la tasa ofertada sube 1%, la efectividad cae 2,60% en términos relativos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93776" y="4950000"/>
            <a:ext cx="7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E7E7D"/>
                </a:solidFill>
                <a:latin typeface="Calibri"/>
              </a:rPr>
              <a:t>▲ Más elástico arriba. Significativo al 5% (al 10% en Medianos por fidelizar).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43776" y="3150000"/>
            <a:ext cx="3951400" cy="20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9A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43776" y="3150000"/>
            <a:ext cx="3951400" cy="60000"/>
          </a:xfrm>
          <a:prstGeom prst="rect">
            <a:avLst/>
          </a:prstGeom>
          <a:solidFill>
            <a:srgbClr val="6E7E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93776" y="3260000"/>
            <a:ext cx="36514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3807B"/>
                </a:solidFill>
                <a:latin typeface="Calibri"/>
              </a:rPr>
              <a:t>Fidelizados</a:t>
            </a:r>
            <a:r>
              <a:rPr sz="900" b="0">
                <a:solidFill>
                  <a:srgbClr val="6E7E7D"/>
                </a:solidFill>
                <a:latin typeface="Calibri"/>
              </a:rPr>
              <a:t>   aparte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3776" y="3580000"/>
            <a:ext cx="365140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2F3B3A"/>
                </a:solidFill>
                <a:latin typeface="Calibri"/>
              </a:rPr>
              <a:t>Elasticidad −1,02 con p-valor 0,66: </a:t>
            </a:r>
            <a:r>
              <a:rPr sz="900" b="0">
                <a:solidFill>
                  <a:srgbClr val="2F3B3A"/>
                </a:solidFill>
                <a:latin typeface="Calibri"/>
              </a:rPr>
              <a:t>no es significativa. El modelo no detecta sensibilidad, lo que no significa que no exista.</a:t>
            </a:r>
          </a:p>
          <a:p>
            <a:pPr algn="l">
              <a:spcBef>
                <a:spcPts val="600"/>
              </a:spcBef>
            </a:pPr>
            <a:r>
              <a:rPr sz="900" b="0">
                <a:solidFill>
                  <a:srgbClr val="2F3B3A"/>
                </a:solidFill>
                <a:latin typeface="Calibri"/>
              </a:rPr>
              <a:t>Pesa 25% del monto y 28% de los desembolsos, así que no se puede dejar sin estrategia.</a:t>
            </a:r>
          </a:p>
          <a:p>
            <a:pPr algn="l">
              <a:spcBef>
                <a:spcPts val="600"/>
              </a:spcBef>
            </a:pPr>
            <a:r>
              <a:rPr sz="900" b="1">
                <a:solidFill>
                  <a:srgbClr val="13807B"/>
                </a:solidFill>
                <a:latin typeface="Calibri"/>
              </a:rPr>
              <a:t>Propuesta: </a:t>
            </a:r>
            <a:r>
              <a:rPr sz="900" b="0">
                <a:solidFill>
                  <a:srgbClr val="2F3B3A"/>
                </a:solidFill>
                <a:latin typeface="Calibri"/>
              </a:rPr>
              <a:t>siembra de precios para medir su respuesta a la tasa y diseñar pricing a medida.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" y="5780000"/>
            <a:ext cx="11201400" cy="480000"/>
          </a:xfrm>
          <a:prstGeom prst="rect">
            <a:avLst/>
          </a:prstGeom>
          <a:solidFill>
            <a:srgbClr val="F1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0000" tIns="75000" rIns="150000" bIns="75000" rtlCol="0" anchor="ctr"/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El modelo cubre 75% del monto y 72% de los desembolsos. La elasticidad indica cuánto mover la tasa y la tasa inferida de la competencia indica hacia dónde.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7" y="246888"/>
            <a:ext cx="896357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6E7E7D"/>
                </a:solidFill>
                <a:latin typeface="Calibri"/>
              </a:rPr>
              <a:t>MODELO DE SENSIBILIDAD · APLICACIÓN A LAS APERTURAS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425196"/>
            <a:ext cx="10312923" cy="482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3807B"/>
                </a:solidFill>
                <a:latin typeface="Poppins"/>
              </a:rPr>
              <a:t>La sensibilidad del macroperfil y la tasa de la competencia definen el piloto de cada apertura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93776" y="1049274"/>
            <a:ext cx="11204463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1186" y="82166"/>
            <a:ext cx="916962" cy="3430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3776" y="1200000"/>
            <a:ext cx="33000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2F3B3A"/>
                </a:solidFill>
                <a:latin typeface="Calibri"/>
              </a:rPr>
              <a:t>Regla de decisión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1450000"/>
            <a:ext cx="330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6E7E7D"/>
                </a:solidFill>
                <a:latin typeface="Calibri"/>
              </a:rPr>
              <a:t>Tasa de la competencia frente a nuestro desembolso</a:t>
            </a:r>
          </a:p>
        </p:txBody>
      </p:sp>
      <p:sp>
        <p:nvSpPr>
          <p:cNvPr id="8" name="Rectangle 7"/>
          <p:cNvSpPr/>
          <p:nvPr/>
        </p:nvSpPr>
        <p:spPr>
          <a:xfrm>
            <a:off x="1193776" y="1680000"/>
            <a:ext cx="1270000" cy="2600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15000" rIns="30000" bIns="15000" rtlCol="0" anchor="ctr"/>
          <a:lstStyle/>
          <a:p>
            <a:pPr algn="ctr"/>
            <a:r>
              <a:rPr sz="800" b="1">
                <a:solidFill>
                  <a:srgbClr val="E5173F"/>
                </a:solidFill>
                <a:latin typeface="Calibri"/>
              </a:rPr>
              <a:t>Por debajo o en línea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3776" y="1680000"/>
            <a:ext cx="1270000" cy="260000"/>
          </a:xfrm>
          <a:prstGeom prst="rect">
            <a:avLst/>
          </a:prstGeom>
          <a:solidFill>
            <a:srgbClr val="D5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" tIns="15000" rIns="30000" bIns="15000" rtlCol="0" anchor="ctr"/>
          <a:lstStyle/>
          <a:p>
            <a:pPr algn="ctr"/>
            <a:r>
              <a:rPr sz="800" b="1">
                <a:solidFill>
                  <a:srgbClr val="13807B"/>
                </a:solidFill>
                <a:latin typeface="Calibri"/>
              </a:rPr>
              <a:t>Por encima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2110000"/>
            <a:ext cx="620000" cy="280000"/>
          </a:xfrm>
          <a:prstGeom prst="rect">
            <a:avLst/>
          </a:prstGeom>
          <a:solidFill>
            <a:srgbClr val="9FB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10000" rIns="20000" bIns="100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Media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93776" y="2000000"/>
            <a:ext cx="1270000" cy="500000"/>
          </a:xfrm>
          <a:prstGeom prst="rect">
            <a:avLst/>
          </a:prstGeom>
          <a:solidFill>
            <a:srgbClr val="FAD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950" b="1">
                <a:solidFill>
                  <a:srgbClr val="E5173F"/>
                </a:solidFill>
                <a:latin typeface="Calibri"/>
              </a:rPr>
              <a:t>Bajar de forma acotada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23776" y="2000000"/>
            <a:ext cx="1270000" cy="500000"/>
          </a:xfrm>
          <a:prstGeom prst="rect">
            <a:avLst/>
          </a:prstGeom>
          <a:solidFill>
            <a:srgbClr val="D5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950" b="1">
                <a:solidFill>
                  <a:srgbClr val="13807B"/>
                </a:solidFill>
                <a:latin typeface="Calibri"/>
              </a:rPr>
              <a:t>Subir de forma acotada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2650000"/>
            <a:ext cx="620000" cy="28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" tIns="10000" rIns="20000" bIns="1000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93776" y="2540000"/>
            <a:ext cx="1270000" cy="500000"/>
          </a:xfrm>
          <a:prstGeom prst="rect">
            <a:avLst/>
          </a:prstGeom>
          <a:solidFill>
            <a:srgbClr val="E51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Bajar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23776" y="2540000"/>
            <a:ext cx="1270000" cy="500000"/>
          </a:xfrm>
          <a:prstGeom prst="rect">
            <a:avLst/>
          </a:prstGeom>
          <a:solidFill>
            <a:srgbClr val="E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950" b="1">
                <a:solidFill>
                  <a:srgbClr val="2F3B3A"/>
                </a:solidFill>
                <a:latin typeface="Calibri"/>
              </a:rPr>
              <a:t>Mantener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170221"/>
              </p:ext>
            </p:extLst>
          </p:nvPr>
        </p:nvGraphicFramePr>
        <p:xfrm>
          <a:off x="4043776" y="1200000"/>
          <a:ext cx="7651400" cy="484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1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Segmento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Apertura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Sensibilidad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Competencia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Piloto propuesto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Ajuste a probar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Efecto en efectividad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3807B"/>
                          </a:solidFill>
                          <a:latin typeface="Calibri"/>
                        </a:rPr>
                        <a:t>Ancla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6E7E7D"/>
                          </a:solidFill>
                          <a:latin typeface="Calibri"/>
                        </a:rPr>
                        <a:t>No significativa</a:t>
                      </a:r>
                    </a:p>
                  </a:txBody>
                  <a:tcPr marL="45000" marR="45000" marT="12000" marB="12000" anchor="ctr"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Sin materialidad</a:t>
                      </a:r>
                    </a:p>
                  </a:txBody>
                  <a:tcPr marL="45000" marR="45000" marT="12000" marB="12000" anchor="ctr"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3807B"/>
                          </a:solidFill>
                          <a:latin typeface="Calibri"/>
                        </a:rPr>
                        <a:t>Siembra de precios: subir</a:t>
                      </a:r>
                    </a:p>
                  </a:txBody>
                  <a:tcPr marL="45000" marR="45000" marT="12000" marB="12000" anchor="ctr">
                    <a:solidFill>
                      <a:srgbClr val="D5E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3807B"/>
                          </a:solidFill>
                          <a:latin typeface="Calibri"/>
                        </a:rPr>
                        <a:t>+50 a +100 pbs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Por medir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3807B"/>
                          </a:solidFill>
                          <a:latin typeface="Calibri"/>
                        </a:rPr>
                        <a:t>Ancla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&gt; 350K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6E7E7D"/>
                          </a:solidFill>
                          <a:latin typeface="Calibri"/>
                        </a:rPr>
                        <a:t>No significativa</a:t>
                      </a:r>
                    </a:p>
                  </a:txBody>
                  <a:tcPr marL="45000" marR="45000" marT="12000" marB="12000" anchor="ctr"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Por debajo</a:t>
                      </a:r>
                    </a:p>
                  </a:txBody>
                  <a:tcPr marL="45000" marR="45000" marT="12000" marB="12000" anchor="ctr"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Siembra de precios: bajar</a:t>
                      </a:r>
                    </a:p>
                  </a:txBody>
                  <a:tcPr marL="45000" marR="45000" marT="12000" marB="12000" anchor="ctr"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−50 a −100 pbs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Por medir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C2410C"/>
                          </a:solidFill>
                          <a:latin typeface="Calibri"/>
                        </a:rPr>
                        <a:t>Estratégica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45000" marR="45000" marT="12000" marB="12000" anchor="ctr">
                    <a:solidFill>
                      <a:srgbClr val="9FB0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Sin materialidad</a:t>
                      </a:r>
                    </a:p>
                  </a:txBody>
                  <a:tcPr marL="45000" marR="45000" marT="12000" marB="12000" anchor="ctr"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 dirty="0">
                          <a:solidFill>
                            <a:srgbClr val="13807B"/>
                          </a:solidFill>
                          <a:latin typeface="Calibri"/>
                        </a:rPr>
                        <a:t>Subir de forma </a:t>
                      </a:r>
                      <a:r>
                        <a:rPr sz="750" b="1" dirty="0" err="1">
                          <a:solidFill>
                            <a:srgbClr val="13807B"/>
                          </a:solidFill>
                          <a:latin typeface="Calibri"/>
                        </a:rPr>
                        <a:t>acotada</a:t>
                      </a:r>
                      <a:endParaRPr sz="750" b="1" dirty="0">
                        <a:solidFill>
                          <a:srgbClr val="13807B"/>
                        </a:solidFill>
                        <a:latin typeface="Calibri"/>
                      </a:endParaRPr>
                    </a:p>
                  </a:txBody>
                  <a:tcPr marL="45000" marR="45000" marT="12000" marB="12000" anchor="ctr">
                    <a:solidFill>
                      <a:srgbClr val="D5E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3807B"/>
                          </a:solidFill>
                          <a:latin typeface="Calibri"/>
                        </a:rPr>
                        <a:t>+25 pbs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−4%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C2410C"/>
                          </a:solidFill>
                          <a:latin typeface="Calibri"/>
                        </a:rPr>
                        <a:t>Estratégica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&gt; 350K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45000" marR="45000" marT="12000" marB="12000" anchor="ctr">
                    <a:solidFill>
                      <a:srgbClr val="9FB0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Por debajo</a:t>
                      </a:r>
                    </a:p>
                  </a:txBody>
                  <a:tcPr marL="45000" marR="45000" marT="12000" marB="12000" anchor="ctr"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Bajar de forma acotada</a:t>
                      </a:r>
                    </a:p>
                  </a:txBody>
                  <a:tcPr marL="45000" marR="45000" marT="12000" marB="12000" anchor="ctr"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−25 pbs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+4%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F3A5F"/>
                          </a:solidFill>
                          <a:latin typeface="Calibri"/>
                        </a:rPr>
                        <a:t>Maduro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&gt; 350K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En línea</a:t>
                      </a:r>
                    </a:p>
                  </a:txBody>
                  <a:tcPr marL="45000" marR="45000" marT="12000" marB="12000" anchor="ctr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Bajar</a:t>
                      </a:r>
                    </a:p>
                  </a:txBody>
                  <a:tcPr marL="45000" marR="45000" marT="12000" marB="12000" anchor="ctr">
                    <a:solidFill>
                      <a:srgbClr val="E517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−25 pbs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+6%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F3A5F"/>
                          </a:solidFill>
                          <a:latin typeface="Calibri"/>
                        </a:rPr>
                        <a:t>Maduro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250–350K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Por debajo</a:t>
                      </a:r>
                    </a:p>
                  </a:txBody>
                  <a:tcPr marL="45000" marR="45000" marT="12000" marB="12000" anchor="ctr"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Bajar</a:t>
                      </a:r>
                    </a:p>
                  </a:txBody>
                  <a:tcPr marL="45000" marR="45000" marT="12000" marB="12000" anchor="ctr">
                    <a:solidFill>
                      <a:srgbClr val="E517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−50 pbs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+11%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3807B"/>
                          </a:solidFill>
                          <a:latin typeface="Calibri"/>
                        </a:rPr>
                        <a:t>Socio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Pasivos ≥ 5K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6E7E7D"/>
                          </a:solidFill>
                          <a:latin typeface="Calibri"/>
                        </a:rPr>
                        <a:t>No significativa</a:t>
                      </a:r>
                    </a:p>
                  </a:txBody>
                  <a:tcPr marL="45000" marR="45000" marT="12000" marB="12000" anchor="ctr"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En línea</a:t>
                      </a:r>
                    </a:p>
                  </a:txBody>
                  <a:tcPr marL="45000" marR="45000" marT="12000" marB="12000" anchor="ctr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C2410C"/>
                          </a:solidFill>
                          <a:latin typeface="Calibri"/>
                        </a:rPr>
                        <a:t>Siembra de precios: subir y bajar</a:t>
                      </a:r>
                    </a:p>
                  </a:txBody>
                  <a:tcPr marL="45000" marR="45000" marT="12000" marB="12000" anchor="ctr">
                    <a:solidFill>
                      <a:srgbClr val="FBEAD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C2410C"/>
                          </a:solidFill>
                          <a:latin typeface="Calibri"/>
                        </a:rPr>
                        <a:t>±50 pbs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Por medir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3807B"/>
                          </a:solidFill>
                          <a:latin typeface="Calibri"/>
                        </a:rPr>
                        <a:t>Socio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Pasivos &lt; 1K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6E7E7D"/>
                          </a:solidFill>
                          <a:latin typeface="Calibri"/>
                        </a:rPr>
                        <a:t>No significativa</a:t>
                      </a:r>
                    </a:p>
                  </a:txBody>
                  <a:tcPr marL="45000" marR="45000" marT="12000" marB="12000" anchor="ctr"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En línea</a:t>
                      </a:r>
                    </a:p>
                  </a:txBody>
                  <a:tcPr marL="45000" marR="45000" marT="12000" marB="12000" anchor="ctr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Siembra de precios: bajar</a:t>
                      </a:r>
                    </a:p>
                  </a:txBody>
                  <a:tcPr marL="45000" marR="45000" marT="12000" marB="12000" anchor="ctr"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−50 a −100 pbs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Por medir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C2410C"/>
                          </a:solidFill>
                          <a:latin typeface="Calibri"/>
                        </a:rPr>
                        <a:t>Gran Cuenta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SSFF ≤ 1,5MM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45000" marR="45000" marT="12000" marB="12000" anchor="ctr">
                    <a:solidFill>
                      <a:srgbClr val="9FB0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3807B"/>
                          </a:solidFill>
                          <a:latin typeface="Calibri"/>
                        </a:rPr>
                        <a:t>Por encima</a:t>
                      </a:r>
                    </a:p>
                  </a:txBody>
                  <a:tcPr marL="45000" marR="45000" marT="12000" marB="12000" anchor="ctr">
                    <a:solidFill>
                      <a:srgbClr val="D5EB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3807B"/>
                          </a:solidFill>
                          <a:latin typeface="Calibri"/>
                        </a:rPr>
                        <a:t>Subir de forma acotada</a:t>
                      </a:r>
                    </a:p>
                  </a:txBody>
                  <a:tcPr marL="45000" marR="45000" marT="12000" marB="12000" anchor="ctr">
                    <a:solidFill>
                      <a:srgbClr val="D5E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3807B"/>
                          </a:solidFill>
                          <a:latin typeface="Calibri"/>
                        </a:rPr>
                        <a:t>+25 pbs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−4%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C2410C"/>
                          </a:solidFill>
                          <a:latin typeface="Calibri"/>
                        </a:rPr>
                        <a:t>Gran Cuenta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SSFF 1,5–3,8MM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45000" marR="45000" marT="12000" marB="12000" anchor="ctr">
                    <a:solidFill>
                      <a:srgbClr val="9FB0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Sin materialidad</a:t>
                      </a:r>
                    </a:p>
                  </a:txBody>
                  <a:tcPr marL="45000" marR="45000" marT="12000" marB="12000" anchor="ctr"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2F3B3A"/>
                          </a:solidFill>
                          <a:latin typeface="Calibri"/>
                        </a:rPr>
                        <a:t>Mantener y probar otras palancas</a:t>
                      </a:r>
                    </a:p>
                  </a:txBody>
                  <a:tcPr marL="45000" marR="45000" marT="12000" marB="12000" anchor="ctr">
                    <a:solidFill>
                      <a:srgbClr val="E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F3B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F3A5F"/>
                          </a:solidFill>
                          <a:latin typeface="Calibri"/>
                        </a:rPr>
                        <a:t>Reactivar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Pasivos ≥ 5K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Sin materialidad</a:t>
                      </a:r>
                    </a:p>
                  </a:txBody>
                  <a:tcPr marL="45000" marR="45000" marT="12000" marB="12000" anchor="ctr"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3807B"/>
                          </a:solidFill>
                          <a:latin typeface="Calibri"/>
                        </a:rPr>
                        <a:t>Subir de forma acotada</a:t>
                      </a:r>
                    </a:p>
                  </a:txBody>
                  <a:tcPr marL="45000" marR="45000" marT="12000" marB="12000" anchor="ctr">
                    <a:solidFill>
                      <a:srgbClr val="D5EB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13807B"/>
                          </a:solidFill>
                          <a:latin typeface="Calibri"/>
                        </a:rPr>
                        <a:t>+25 pbs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−5%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F3A5F"/>
                          </a:solidFill>
                          <a:latin typeface="Calibri"/>
                        </a:rPr>
                        <a:t>Reactivar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Pasivos &lt; 1K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Por debajo</a:t>
                      </a:r>
                    </a:p>
                  </a:txBody>
                  <a:tcPr marL="45000" marR="45000" marT="12000" marB="12000" anchor="ctr">
                    <a:solidFill>
                      <a:srgbClr val="FADB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Bajar</a:t>
                      </a:r>
                    </a:p>
                  </a:txBody>
                  <a:tcPr marL="45000" marR="45000" marT="12000" marB="12000" anchor="ctr">
                    <a:solidFill>
                      <a:srgbClr val="E517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−50 pbs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+10%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4A6572"/>
                          </a:solidFill>
                          <a:latin typeface="Calibri"/>
                        </a:rPr>
                        <a:t>Próximo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Sin materialidad</a:t>
                      </a:r>
                    </a:p>
                  </a:txBody>
                  <a:tcPr marL="45000" marR="45000" marT="12000" marB="12000" anchor="ctr"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2F3B3A"/>
                          </a:solidFill>
                          <a:latin typeface="Calibri"/>
                        </a:rPr>
                        <a:t>Mantener</a:t>
                      </a:r>
                    </a:p>
                  </a:txBody>
                  <a:tcPr marL="45000" marR="45000" marT="12000" marB="12000" anchor="ctr">
                    <a:solidFill>
                      <a:srgbClr val="E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F3B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4A6572"/>
                          </a:solidFill>
                          <a:latin typeface="Calibri"/>
                        </a:rPr>
                        <a:t>Próximo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&gt; 250K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Sin materialidad</a:t>
                      </a:r>
                    </a:p>
                  </a:txBody>
                  <a:tcPr marL="45000" marR="45000" marT="12000" marB="12000" anchor="ctr"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Bajar</a:t>
                      </a:r>
                    </a:p>
                  </a:txBody>
                  <a:tcPr marL="45000" marR="45000" marT="12000" marB="12000" anchor="ctr">
                    <a:solidFill>
                      <a:srgbClr val="E517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−25 pbs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+7%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4A6572"/>
                          </a:solidFill>
                          <a:latin typeface="Calibri"/>
                        </a:rPr>
                        <a:t>Nuevo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≤ 170K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Sin materialidad</a:t>
                      </a:r>
                    </a:p>
                  </a:txBody>
                  <a:tcPr marL="45000" marR="45000" marT="12000" marB="12000" anchor="ctr"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2F3B3A"/>
                          </a:solidFill>
                          <a:latin typeface="Calibri"/>
                        </a:rPr>
                        <a:t>Mantener</a:t>
                      </a:r>
                    </a:p>
                  </a:txBody>
                  <a:tcPr marL="45000" marR="45000" marT="12000" marB="12000" anchor="ctr">
                    <a:solidFill>
                      <a:srgbClr val="E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F3B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4A6572"/>
                          </a:solidFill>
                          <a:latin typeface="Calibri"/>
                        </a:rPr>
                        <a:t>Nuevo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&gt; 250K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En línea</a:t>
                      </a:r>
                    </a:p>
                  </a:txBody>
                  <a:tcPr marL="45000" marR="45000" marT="12000" marB="12000" anchor="ctr">
                    <a:solidFill>
                      <a:srgbClr val="FC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Bajar</a:t>
                      </a:r>
                    </a:p>
                  </a:txBody>
                  <a:tcPr marL="45000" marR="45000" marT="12000" marB="12000" anchor="ctr">
                    <a:solidFill>
                      <a:srgbClr val="E517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E5173F"/>
                          </a:solidFill>
                          <a:latin typeface="Calibri"/>
                        </a:rPr>
                        <a:t>−25 pbs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+7%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4A6572"/>
                          </a:solidFill>
                          <a:latin typeface="Calibri"/>
                        </a:rPr>
                        <a:t>Izipay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Pasivos 1–20K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Sin materialidad</a:t>
                      </a:r>
                    </a:p>
                  </a:txBody>
                  <a:tcPr marL="45000" marR="45000" marT="12000" marB="12000" anchor="ctr"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2F3B3A"/>
                          </a:solidFill>
                          <a:latin typeface="Calibri"/>
                        </a:rPr>
                        <a:t>Mantener</a:t>
                      </a:r>
                    </a:p>
                  </a:txBody>
                  <a:tcPr marL="45000" marR="45000" marT="12000" marB="12000" anchor="ctr">
                    <a:solidFill>
                      <a:srgbClr val="E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F3B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000" marR="45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50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4A6572"/>
                          </a:solidFill>
                          <a:latin typeface="Calibri"/>
                        </a:rPr>
                        <a:t>Izipay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2F3B3A"/>
                          </a:solidFill>
                          <a:latin typeface="Calibri"/>
                        </a:rPr>
                        <a:t>Pasivos &lt; 1K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45000" marR="45000" marT="12000" marB="12000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6E7E7D"/>
                          </a:solidFill>
                          <a:latin typeface="Calibri"/>
                        </a:rPr>
                        <a:t>Sin materialidad</a:t>
                      </a:r>
                    </a:p>
                  </a:txBody>
                  <a:tcPr marL="45000" marR="45000" marT="12000" marB="12000" anchor="ctr">
                    <a:solidFill>
                      <a:srgbClr val="F2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2F3B3A"/>
                          </a:solidFill>
                          <a:latin typeface="Calibri"/>
                        </a:rPr>
                        <a:t>Mantener</a:t>
                      </a:r>
                    </a:p>
                  </a:txBody>
                  <a:tcPr marL="45000" marR="45000" marT="12000" marB="12000" anchor="ctr">
                    <a:solidFill>
                      <a:srgbClr val="EC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F3B3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dirty="0">
                          <a:solidFill>
                            <a:srgbClr val="6E7E7D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000" marR="45000" marT="12000" marB="12000" anchor="ctr">
                    <a:solidFill>
                      <a:srgbClr val="F7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043776" y="6105000"/>
            <a:ext cx="76514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6E7E7D"/>
                </a:solidFill>
                <a:latin typeface="Calibri"/>
              </a:rPr>
              <a:t>Ajuste = efecto buscado ÷ elasticidad × tasa de desembolso actual, redondeado a 25 pbs. Bajar busca +10% de efectividad, bajar de forma acotada +5% y subir de forma acotada tolera −5%. Las bajadas no pasan la tasa de la competencia. En Fidelizados la siembra prueba rangos porque no hay elasticidad significativa. Cada piloto se mide contra un grupo de control.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1010246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6&quot;&gt;&lt;elem m_fUsage=&quot;5.56837556829803492775E+00&quot;&gt;&lt;m_msothmcolidx val=&quot;0&quot;/&gt;&lt;m_rgb r=&quot;89&quot; g=&quot;9B&quot; b=&quot;AE&quot;/&gt;&lt;/elem&gt;&lt;elem m_fUsage=&quot;4.43100739518279418405E+00&quot;&gt;&lt;m_msothmcolidx val=&quot;0&quot;/&gt;&lt;m_rgb r=&quot;44&quot; g=&quot;5A&quot; b=&quot;6E&quot;/&gt;&lt;/elem&gt;&lt;elem m_fUsage=&quot;2.82885163072514773941E-04&quot;&gt;&lt;m_msothmcolidx val=&quot;0&quot;/&gt;&lt;m_rgb r=&quot;10&quot; g=&quot;B4&quot; b=&quot;AD&quot;/&gt;&lt;/elem&gt;&lt;elem m_fUsage=&quot;2.57493927709701833813E-04&quot;&gt;&lt;m_msothmcolidx val=&quot;0&quot;/&gt;&lt;m_rgb r=&quot;13&quot; g=&quot;80&quot; b=&quot;7B&quot;/&gt;&lt;/elem&gt;&lt;elem m_fUsage=&quot;1.93632597890513118806E-05&quot;&gt;&lt;m_msothmcolidx val=&quot;0&quot;/&gt;&lt;m_rgb r=&quot;52&quot; g=&quot;B3&quot; b=&quot;AE&quot;/&gt;&lt;/elem&gt;&lt;elem m_fUsage=&quot;1.74269338101461847583E-05&quot;&gt;&lt;m_msothmcolidx val=&quot;0&quot;/&gt;&lt;m_rgb r=&quot;6B&quot; g=&quot;B3&quot; b=&quot;AF&quot;/&gt;&lt;/elem&gt;&lt;/m_vecMRU&gt;&lt;/m_mruColor&gt;&lt;m_eweekdayFirstOfWeek val=&quot;2&quot;/&gt;&lt;m_eweekdayFirstOfWorkweek val=&quot;2&quot;/&gt;&lt;m_eweekdayFirstOfWeekend val=&quot;7&quot;/&gt;&lt;m_eweeknumbering val=&quot;2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VoI">
      <a:dk1>
        <a:srgbClr val="13807B"/>
      </a:dk1>
      <a:lt1>
        <a:srgbClr val="FFFFFF"/>
      </a:lt1>
      <a:dk2>
        <a:srgbClr val="6B7180"/>
      </a:dk2>
      <a:lt2>
        <a:srgbClr val="EEECE1"/>
      </a:lt2>
      <a:accent1>
        <a:srgbClr val="C6E9E7"/>
      </a:accent1>
      <a:accent2>
        <a:srgbClr val="E1F2EE"/>
      </a:accent2>
      <a:accent3>
        <a:srgbClr val="FF6B6B"/>
      </a:accent3>
      <a:accent4>
        <a:srgbClr val="8B5CF6"/>
      </a:accent4>
      <a:accent5>
        <a:srgbClr val="FBBF24"/>
      </a:accent5>
      <a:accent6>
        <a:srgbClr val="10B981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1200" dirty="0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7727</TotalTime>
  <Words>5032</Words>
  <Application>Microsoft Office PowerPoint</Application>
  <PresentationFormat>Panorámica</PresentationFormat>
  <Paragraphs>1297</Paragraphs>
  <Slides>20</Slides>
  <Notes>3</Notes>
  <HiddenSlides>4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Arial</vt:lpstr>
      <vt:lpstr>Calibri</vt:lpstr>
      <vt:lpstr>Poppins</vt:lpstr>
      <vt:lpstr>Office Theme</vt:lpstr>
      <vt:lpstr>1_Office Theme</vt:lpstr>
      <vt:lpstr>Diapositiva de thinkcell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Gonzalo Llajaruna Campos</dc:creator>
  <cp:lastModifiedBy>Guido García Talledo</cp:lastModifiedBy>
  <cp:revision>14</cp:revision>
  <dcterms:created xsi:type="dcterms:W3CDTF">2026-09-10T16:44:44Z</dcterms:created>
  <dcterms:modified xsi:type="dcterms:W3CDTF">2026-10-19T17:07:38Z</dcterms:modified>
</cp:coreProperties>
</file>