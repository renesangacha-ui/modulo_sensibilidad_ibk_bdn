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Inter"/>
      <p:italic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1B57D4-BC43-4158-B61A-0B284066802B}" v="4" dt="2026-10-19T22:26:27.7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e Sangacha" userId="a4e5b6bb3df78a73" providerId="LiveId" clId="{9F2BEB09-8DC3-4CD1-B6B3-2ADC2BF56918}"/>
    <pc:docChg chg="modSld">
      <pc:chgData name="Rene Sangacha" userId="a4e5b6bb3df78a73" providerId="LiveId" clId="{9F2BEB09-8DC3-4CD1-B6B3-2ADC2BF56918}" dt="2026-10-19T22:26:28.956" v="14" actId="20577"/>
      <pc:docMkLst>
        <pc:docMk/>
      </pc:docMkLst>
      <pc:sldChg chg="modSp mod">
        <pc:chgData name="Rene Sangacha" userId="a4e5b6bb3df78a73" providerId="LiveId" clId="{9F2BEB09-8DC3-4CD1-B6B3-2ADC2BF56918}" dt="2026-10-19T22:26:28.956" v="14" actId="20577"/>
        <pc:sldMkLst>
          <pc:docMk/>
          <pc:sldMk cId="0" sldId="262"/>
        </pc:sldMkLst>
        <pc:graphicFrameChg chg="mod modGraphic">
          <ac:chgData name="Rene Sangacha" userId="a4e5b6bb3df78a73" providerId="LiveId" clId="{9F2BEB09-8DC3-4CD1-B6B3-2ADC2BF56918}" dt="2026-10-19T22:26:28.956" v="14" actId="20577"/>
          <ac:graphicFrameMkLst>
            <pc:docMk/>
            <pc:sldMk cId="0" sldId="262"/>
            <ac:graphicFrameMk id="5" creationId="{00000000-0000-0000-0000-000000000000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4113758"/>
            <a:ext cx="10668000" cy="657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62000" y="4113758"/>
            <a:ext cx="10668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62000" y="2086867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0A5FA"/>
                </a:solidFill>
                <a:latin typeface="Inter"/>
              </a:rPr>
              <a:t>RESUMEN EJECUTIVO &amp; HOJA DE RUTA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363092"/>
            <a:ext cx="11251406" cy="5695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>
                <a:solidFill>
                  <a:srgbClr val="FFFFFF"/>
                </a:solidFill>
                <a:latin typeface="Inter"/>
              </a:rPr>
              <a:t>Módulo de Sensibilidad de Precios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161258"/>
            <a:ext cx="6953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Diagnóstico del modelo base, limitaciones de granularidad en Panel Data y propuesta de evolución hacia modelos de propensión (WTP).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389983"/>
            <a:ext cx="24288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ESTADO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580483"/>
            <a:ext cx="24288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Inter"/>
              </a:rPr>
              <a:t>Evaluación de Alternativas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09900" y="4389983"/>
            <a:ext cx="32385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ENFOQUE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09900" y="4580483"/>
            <a:ext cx="32385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Inter"/>
              </a:rPr>
              <a:t>Econométrico vs. Behavioral (WTP)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670595"/>
            <a:ext cx="5275064" cy="4730204"/>
          </a:xfrm>
          <a:prstGeom prst="roundRect">
            <a:avLst>
              <a:gd name="adj" fmla="val 3221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00125" y="3107977"/>
            <a:ext cx="1562100" cy="22860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89464" y="2030610"/>
            <a:ext cx="5392935" cy="1209675"/>
          </a:xfrm>
          <a:prstGeom prst="roundRect">
            <a:avLst>
              <a:gd name="adj" fmla="val 944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89464" y="3430785"/>
            <a:ext cx="5392935" cy="1209675"/>
          </a:xfrm>
          <a:prstGeom prst="roundRect">
            <a:avLst>
              <a:gd name="adj" fmla="val 944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89464" y="4830960"/>
            <a:ext cx="5392935" cy="1209675"/>
          </a:xfrm>
          <a:prstGeom prst="roundRect">
            <a:avLst>
              <a:gd name="adj" fmla="val 944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5689" y="2311598"/>
            <a:ext cx="19050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5689" y="5111948"/>
            <a:ext cx="190500" cy="19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ESTADO ACTUAL — DIAGNÓSTICO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33425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Inter"/>
              </a:rPr>
              <a:t>Modelo Base de Macroperfiles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1175295"/>
            <a:ext cx="115824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Evaluación de la segmentación comercial de 4 macrogrupos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4425" y="3146077"/>
            <a:ext cx="14287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40AF"/>
                </a:solidFill>
                <a:latin typeface="Inter"/>
              </a:rPr>
              <a:t>RESULTADO TÉCNICO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125" y="3488977"/>
            <a:ext cx="5898393" cy="60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sz="4800" b="1" i="0" u="none">
                <a:solidFill>
                  <a:srgbClr val="1E40AF"/>
                </a:solidFill>
                <a:latin typeface="Inter"/>
              </a:rPr>
              <a:t>3 /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125" y="4212877"/>
            <a:ext cx="561751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3A8A"/>
                </a:solidFill>
                <a:latin typeface="Inter"/>
              </a:rPr>
              <a:t>Buckets Elásticos Significativos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0125" y="4536727"/>
            <a:ext cx="4589264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3B82F6"/>
                </a:solidFill>
                <a:latin typeface="Inter"/>
              </a:rPr>
              <a:t>Inferencia econométrica confiable lograda en la mayoría de macrosegmentos comerciales.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5689" y="2583060"/>
            <a:ext cx="493573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Al trabajar con solo 3 buckets válidos, se promedian perfiles heterogéneos impidiendo personalizar tarifas.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5689" y="3983235"/>
            <a:ext cx="493573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Las señales estimadas son altamente elásticas, restringiendo el espacio comercial para proponer subidas de tasa.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5689" y="5383410"/>
            <a:ext cx="493573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En el segmento no inferido se propone siembra de precios como estrategia experimental complementaria.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70489" y="2306835"/>
            <a:ext cx="303787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Baja Granularidad Operativa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9989" y="3707010"/>
            <a:ext cx="317539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Niveles Altos de Sensibilidad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70489" y="5107185"/>
            <a:ext cx="231278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Bucket sin Inferencia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23567"/>
            <a:ext cx="3505200" cy="2424112"/>
          </a:xfrm>
          <a:prstGeom prst="roundRect">
            <a:avLst>
              <a:gd name="adj" fmla="val 471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823567"/>
            <a:ext cx="3505200" cy="2424112"/>
          </a:xfrm>
          <a:prstGeom prst="roundRect">
            <a:avLst>
              <a:gd name="adj" fmla="val 471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823567"/>
            <a:ext cx="3505200" cy="2424112"/>
          </a:xfrm>
          <a:prstGeom prst="roundRect">
            <a:avLst>
              <a:gd name="adj" fmla="val 471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85825" y="4657129"/>
            <a:ext cx="295275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619625" y="4657129"/>
            <a:ext cx="295275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353425" y="4657129"/>
            <a:ext cx="295275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85825" y="3099792"/>
            <a:ext cx="1162050" cy="22860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85825" y="4657129"/>
            <a:ext cx="2952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619625" y="3099792"/>
            <a:ext cx="952500" cy="22860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19625" y="4657129"/>
            <a:ext cx="2952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353425" y="3099792"/>
            <a:ext cx="800100" cy="22860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353425" y="4657129"/>
            <a:ext cx="2952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EXPLORACIÓN DE GRANULARIDAD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33425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Inter"/>
              </a:rPr>
              <a:t>Búsqueda Iterativa por Percentiles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1175295"/>
            <a:ext cx="115824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Evaluación de combinaciones de variables en Panel Data para ganar resolución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0125" y="3137892"/>
            <a:ext cx="10287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40AF"/>
                </a:solidFill>
                <a:latin typeface="Inter"/>
              </a:rPr>
              <a:t>METODOLOGÍA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825" y="3480792"/>
            <a:ext cx="3875484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34155"/>
                </a:solidFill>
                <a:latin typeface="Inter"/>
              </a:rPr>
              <a:t>Cortes por Percentiles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825" y="3823692"/>
            <a:ext cx="30480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Agrupación iterativa de 1 a 3 variables cortadas por percentiles fijando filtros de continuidad mensual y materialidad.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825" y="4819054"/>
            <a:ext cx="36909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Inter"/>
              </a:rPr>
              <a:t>ENFOQUE: EXPLORACIÓN MASIVA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33925" y="3137892"/>
            <a:ext cx="819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92400E"/>
                </a:solidFill>
                <a:latin typeface="Inter"/>
              </a:rPr>
              <a:t>RESULTADO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9625" y="3480792"/>
            <a:ext cx="3875484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34155"/>
                </a:solidFill>
                <a:latin typeface="Inter"/>
              </a:rPr>
              <a:t>Baja Significancia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9625" y="3823692"/>
            <a:ext cx="30480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La corrida arroja inferencia solo en buckets aislados. La mayoría pierde estabilidad estocástica al atomizar el 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9625" y="4819054"/>
            <a:ext cx="36909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D97706"/>
                </a:solidFill>
                <a:latin typeface="Inter"/>
              </a:rPr>
              <a:t>COBERTURA LIMITADA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67725" y="3137892"/>
            <a:ext cx="6667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92400E"/>
                </a:solidFill>
                <a:latin typeface="Inter"/>
              </a:rPr>
              <a:t>IMPACTO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53425" y="3480792"/>
            <a:ext cx="38385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34155"/>
                </a:solidFill>
                <a:latin typeface="Inter"/>
              </a:rPr>
              <a:t>Elasticidad Persistente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53425" y="3823692"/>
            <a:ext cx="30480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Los pocos grupos válidos mantienen señales altamente elásticas, sin identificar nichos inelásticos para subir tasa.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3425" y="4819054"/>
            <a:ext cx="36909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DC2626"/>
                </a:solidFill>
                <a:latin typeface="Inter"/>
              </a:rPr>
              <a:t>SIN MARGEN TÁCTICO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2473672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Inter"/>
              </a:rPr>
              <a:t>PROPUESTAS METODOLÓGICAS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749897"/>
            <a:ext cx="8101012" cy="1005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300" b="1" i="0" u="none">
                <a:solidFill>
                  <a:srgbClr val="FFFFFF"/>
                </a:solidFill>
                <a:latin typeface="Inter"/>
              </a:rPr>
              <a:t>Dos Frentes para la Evolución del Módulo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984277"/>
            <a:ext cx="62865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94A3B8"/>
                </a:solidFill>
                <a:latin typeface="Inter"/>
              </a:rPr>
              <a:t>Optimización econométrica sobre Panel Data vs. Transición a Modelos Behavioral de Propensión y WTP.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670595"/>
            <a:ext cx="5334000" cy="4730204"/>
          </a:xfrm>
          <a:prstGeom prst="roundRect">
            <a:avLst>
              <a:gd name="adj" fmla="val 241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1670595"/>
            <a:ext cx="5334000" cy="4730204"/>
          </a:xfrm>
          <a:prstGeom prst="roundRect">
            <a:avLst>
              <a:gd name="adj" fmla="val 2416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85825" y="5810250"/>
            <a:ext cx="478155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524625" y="5810250"/>
            <a:ext cx="478155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85825" y="2880270"/>
            <a:ext cx="4781550" cy="847725"/>
          </a:xfrm>
          <a:prstGeom prst="roundRect">
            <a:avLst>
              <a:gd name="adj" fmla="val 898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85825" y="5810250"/>
            <a:ext cx="47815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24625" y="2880270"/>
            <a:ext cx="4781550" cy="847725"/>
          </a:xfrm>
          <a:prstGeom prst="roundRect">
            <a:avLst>
              <a:gd name="adj" fmla="val 898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24625" y="5810250"/>
            <a:ext cx="47815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676775" y="1946820"/>
            <a:ext cx="990600" cy="22860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753600" y="1946820"/>
            <a:ext cx="1552575" cy="22860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5991225"/>
            <a:ext cx="123825" cy="1238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FRENTE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733425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Inter"/>
              </a:rPr>
              <a:t>Refinamiento Econométrico (Panel Data)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1175295"/>
            <a:ext cx="115824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Evolución dentro del paradigma actual de regresión en datos de panel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" y="2365920"/>
            <a:ext cx="48768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Inter"/>
              </a:rPr>
              <a:t>Añadir más variables transaccionales y de perfil a la búsqueda iterativa actual por percentiles.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825" y="5972175"/>
            <a:ext cx="5976937" cy="152400"/>
          </a:xfrm>
          <a:prstGeom prst="rect">
            <a:avLst/>
          </a:prstGeom>
          <a:noFill/>
        </p:spPr>
        <p:txBody>
          <a:bodyPr wrap="none" lIns="12382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DC2626"/>
                </a:solidFill>
                <a:latin typeface="Inter"/>
              </a:rPr>
              <a:t>Sin garantía previa de mejora en la inferencia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4625" y="2365920"/>
            <a:ext cx="48768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Inter"/>
              </a:rPr>
              <a:t>Segmentación supervisada por Árbol de Decisión para hallar nodos de conversión naturales antes de correr OLS.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4625" y="5972175"/>
            <a:ext cx="56673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Inter"/>
              </a:rPr>
              <a:t>Foco en garantizar estabilidad temporal de nodos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825" y="1946820"/>
            <a:ext cx="2912864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1. Exploración Ampliada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91075" y="1984920"/>
            <a:ext cx="8572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40AF"/>
                </a:solidFill>
                <a:latin typeface="Inter"/>
              </a:rPr>
              <a:t>Fuerza Bruta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7750" y="3042195"/>
            <a:ext cx="557212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Inter"/>
              </a:rPr>
              <a:t>Mecánica de validación: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7750" y="3242220"/>
            <a:ext cx="45529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Inter"/>
              </a:rPr>
              <a:t>Evaluación de significancia y consistencia económica </a:t>
            </a:r>
            <a:r>
              <a:rPr sz="1050" b="0" i="1" u="none">
                <a:solidFill>
                  <a:srgbClr val="334155"/>
                </a:solidFill>
                <a:latin typeface="Inter"/>
              </a:rPr>
              <a:t>a posteriori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tras la corrida masiva.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4625" y="1946820"/>
            <a:ext cx="260032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369A1"/>
                </a:solidFill>
                <a:latin typeface="Inter"/>
              </a:rPr>
              <a:t>2. Cortes por Árboles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67900" y="1984920"/>
            <a:ext cx="14192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65F46"/>
                </a:solidFill>
                <a:latin typeface="Inter"/>
              </a:rPr>
              <a:t>Node-Based Elasticity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86550" y="3042195"/>
            <a:ext cx="55054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369A1"/>
                </a:solidFill>
                <a:latin typeface="Inter"/>
              </a:rPr>
              <a:t>Expectativa de Performance: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86550" y="3242220"/>
            <a:ext cx="45529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Inter"/>
              </a:rPr>
              <a:t>Se esperaría mejor señal al alinear los grupos directamente con el comportamiento real de aceptación.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454473"/>
            <a:ext cx="5233541" cy="3162300"/>
          </a:xfrm>
          <a:prstGeom prst="roundRect">
            <a:avLst>
              <a:gd name="adj" fmla="val 4819"/>
            </a:avLst>
          </a:prstGeom>
          <a:solidFill>
            <a:srgbClr val="FAF5FF"/>
          </a:solidFill>
          <a:ln w="9525">
            <a:solidFill>
              <a:srgbClr val="F3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62025" y="2806898"/>
            <a:ext cx="1266825" cy="228600"/>
          </a:xfrm>
          <a:prstGeom prst="roundRect">
            <a:avLst>
              <a:gd name="adj" fmla="val 25000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62025" y="4454723"/>
            <a:ext cx="4528691" cy="809625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47941" y="2035373"/>
            <a:ext cx="5434458" cy="1352550"/>
          </a:xfrm>
          <a:prstGeom prst="roundRect">
            <a:avLst>
              <a:gd name="adj" fmla="val 845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47941" y="3540323"/>
            <a:ext cx="5434458" cy="1171575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47941" y="4864298"/>
            <a:ext cx="5434458" cy="1171575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FRENTE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33425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Inter"/>
              </a:rPr>
              <a:t>Modelo Behavioral de Propensión / WTP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1175295"/>
            <a:ext cx="115824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Estimación probabilística directa (0 o 1) con la tasa ofertada como regresor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6325" y="2844998"/>
            <a:ext cx="11334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7E22CE"/>
                </a:solidFill>
                <a:latin typeface="Inter"/>
              </a:rPr>
              <a:t>PREMISA BÁSICA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025" y="3187898"/>
            <a:ext cx="5943906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581C87"/>
                </a:solidFill>
                <a:latin typeface="Inter"/>
              </a:rPr>
              <a:t>Capacidad Predictiva Aceptable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025" y="3578423"/>
            <a:ext cx="4623941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6B21A8"/>
                </a:solidFill>
                <a:latin typeface="Inter"/>
              </a:rPr>
              <a:t>Cualquier modalidad de consumo requiere que el modelo logre un buen </a:t>
            </a:r>
            <a:r>
              <a:rPr sz="1200" b="0" i="1" u="none">
                <a:solidFill>
                  <a:srgbClr val="6B21A8"/>
                </a:solidFill>
                <a:latin typeface="Inter"/>
              </a:rPr>
              <a:t>performance</a:t>
            </a:r>
            <a:r>
              <a:rPr sz="1200" b="0" i="0" u="none">
                <a:solidFill>
                  <a:srgbClr val="6B21A8"/>
                </a:solidFill>
                <a:latin typeface="Inter"/>
              </a:rPr>
              <a:t> prediciendo la aceptación del crédito.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3950" y="4616648"/>
            <a:ext cx="525605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7E22CE"/>
                </a:solidFill>
                <a:latin typeface="Inter"/>
              </a:rPr>
              <a:t>Objetivo Operativo: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3950" y="4778573"/>
            <a:ext cx="4300091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C1D95"/>
                </a:solidFill>
                <a:latin typeface="Inter"/>
              </a:rPr>
              <a:t>Modelar la probabilidad de conversión $P(\text{Acepta} \mid \text{Tasa}, X)$.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4166" y="2311598"/>
            <a:ext cx="576783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Enfoque en Variaciones (Deltas)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4166" y="2568773"/>
            <a:ext cx="4977258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No evaluamos la tasa absoluta propuesta ni la efectividad aislada, sino la **variación marginal de efectividad ($\Delta$)** frente a la tasa base.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4166" y="3816548"/>
            <a:ext cx="576783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Simulaciones sobre Cosecha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4166" y="4073723"/>
            <a:ext cx="4977258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Corremos escenarios contrafácticos ($+50, +100, -50 \text{ bps}$) sobre la base histórica para medir la sensibilidad de la campaña.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4166" y="5140523"/>
            <a:ext cx="576783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Consumo Flexible para Negocio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4166" y="5397698"/>
            <a:ext cx="4977258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Permite estructurar desde matrices discretas sencillas hasta optimizaciones cliente a cliente en tiempo real.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83073"/>
            <a:ext cx="10972800" cy="1847850"/>
          </a:xfrm>
          <a:prstGeom prst="roundRect">
            <a:avLst>
              <a:gd name="adj" fmla="val 6185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4721423"/>
            <a:ext cx="10972800" cy="666750"/>
          </a:xfrm>
          <a:prstGeom prst="roundRect">
            <a:avLst>
              <a:gd name="adj" fmla="val 11428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4721423"/>
            <a:ext cx="38100" cy="6667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4058712"/>
              </p:ext>
            </p:extLst>
          </p:nvPr>
        </p:nvGraphicFramePr>
        <p:xfrm>
          <a:off x="619125" y="2692598"/>
          <a:ext cx="10953747" cy="1828800"/>
        </p:xfrm>
        <a:graphic>
          <a:graphicData uri="http://schemas.openxmlformats.org/drawingml/2006/table">
            <a:tbl>
              <a:tblPr/>
              <a:tblGrid>
                <a:gridCol w="3677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26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24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15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90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905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Inter"/>
                        </a:rPr>
                        <a:t>Segmento / Macroperfil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 dirty="0">
                          <a:solidFill>
                            <a:srgbClr val="0F172A"/>
                          </a:solidFill>
                          <a:latin typeface="Inter"/>
                        </a:rPr>
                        <a:t>Tasa Base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 dirty="0">
                          <a:solidFill>
                            <a:srgbClr val="047857"/>
                          </a:solidFill>
                          <a:latin typeface="Inter"/>
                        </a:rPr>
                        <a:t>-100 bps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047857"/>
                          </a:solidFill>
                          <a:latin typeface="Inter"/>
                        </a:rPr>
                        <a:t>-50 bps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B91C1C"/>
                          </a:solidFill>
                          <a:latin typeface="Inter"/>
                        </a:rPr>
                        <a:t>+50 bps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B91C1C"/>
                          </a:solidFill>
                          <a:latin typeface="Inter"/>
                        </a:rPr>
                        <a:t>+100 bps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s-EC" sz="1125" b="1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Bucket</a:t>
                      </a:r>
                      <a:r>
                        <a:rPr lang="es-EC" sz="1125" b="1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1</a:t>
                      </a:r>
                      <a:endParaRPr sz="1125" b="1" i="0" u="none" dirty="0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 dirty="0">
                          <a:solidFill>
                            <a:srgbClr val="64748B"/>
                          </a:solidFill>
                          <a:latin typeface="Inter"/>
                        </a:rPr>
                        <a:t>18.5%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 dirty="0">
                          <a:solidFill>
                            <a:srgbClr val="047857"/>
                          </a:solidFill>
                          <a:latin typeface="Inter"/>
                        </a:rPr>
                        <a:t>+4.2%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 dirty="0">
                          <a:solidFill>
                            <a:srgbClr val="047857"/>
                          </a:solidFill>
                          <a:latin typeface="Inter"/>
                        </a:rPr>
                        <a:t>+2.1%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B91C1C"/>
                          </a:solidFill>
                          <a:latin typeface="Inter"/>
                        </a:rPr>
                        <a:t>-3.5%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B91C1C"/>
                          </a:solidFill>
                          <a:latin typeface="Inter"/>
                        </a:rPr>
                        <a:t>-8.1%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s-EC" sz="1125" b="1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Bucket</a:t>
                      </a:r>
                      <a:r>
                        <a:rPr lang="es-EC" sz="1125" b="1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2</a:t>
                      </a:r>
                      <a:endParaRPr sz="1125" b="1" i="0" u="none" dirty="0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 dirty="0">
                          <a:solidFill>
                            <a:srgbClr val="64748B"/>
                          </a:solidFill>
                          <a:latin typeface="Inter"/>
                        </a:rPr>
                        <a:t>14.0%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047857"/>
                          </a:solidFill>
                          <a:latin typeface="Inter"/>
                        </a:rPr>
                        <a:t>+5.8%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 dirty="0">
                          <a:solidFill>
                            <a:srgbClr val="047857"/>
                          </a:solidFill>
                          <a:latin typeface="Inter"/>
                        </a:rPr>
                        <a:t>+3.0%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 dirty="0">
                          <a:solidFill>
                            <a:srgbClr val="B91C1C"/>
                          </a:solidFill>
                          <a:latin typeface="Inter"/>
                        </a:rPr>
                        <a:t>-5.2%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B91C1C"/>
                          </a:solidFill>
                          <a:latin typeface="Inter"/>
                        </a:rPr>
                        <a:t>-11.4%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s-EC" sz="1125" b="1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Bucket</a:t>
                      </a:r>
                      <a:r>
                        <a:rPr lang="es-EC"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 3</a:t>
                      </a:r>
                      <a:endParaRPr sz="1125" b="1" i="0" u="none" dirty="0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 dirty="0">
                          <a:solidFill>
                            <a:srgbClr val="64748B"/>
                          </a:solidFill>
                          <a:latin typeface="Inter"/>
                        </a:rPr>
                        <a:t>16.2%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047857"/>
                          </a:solidFill>
                          <a:latin typeface="Inter"/>
                        </a:rPr>
                        <a:t>+3.1%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 dirty="0">
                          <a:solidFill>
                            <a:srgbClr val="047857"/>
                          </a:solidFill>
                          <a:latin typeface="Inter"/>
                        </a:rPr>
                        <a:t>+1.5%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 dirty="0">
                          <a:solidFill>
                            <a:srgbClr val="B91C1C"/>
                          </a:solidFill>
                          <a:latin typeface="Inter"/>
                        </a:rPr>
                        <a:t>-2.2%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 dirty="0">
                          <a:solidFill>
                            <a:srgbClr val="B91C1C"/>
                          </a:solidFill>
                          <a:latin typeface="Inter"/>
                        </a:rPr>
                        <a:t>-5.0%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SALIDA OPERATIVA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33425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Inter"/>
              </a:rPr>
              <a:t>Matriz de Impacto por Escenarios (Tarifario)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175295"/>
            <a:ext cx="115824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Lookup table para consultar variaciones relativas y absolutas por segmento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4873823"/>
            <a:ext cx="105727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 dirty="0" err="1">
                <a:solidFill>
                  <a:srgbClr val="1E40AF"/>
                </a:solidFill>
                <a:latin typeface="Inter"/>
              </a:rPr>
              <a:t>Ejemplo</a:t>
            </a:r>
            <a:r>
              <a:rPr sz="1125" b="1" i="0" u="none" dirty="0">
                <a:solidFill>
                  <a:srgbClr val="1E40AF"/>
                </a:solidFill>
                <a:latin typeface="Inter"/>
              </a:rPr>
              <a:t> de </a:t>
            </a:r>
            <a:r>
              <a:rPr sz="1125" b="1" i="0" u="none" dirty="0" err="1">
                <a:solidFill>
                  <a:srgbClr val="1E40AF"/>
                </a:solidFill>
                <a:latin typeface="Inter"/>
              </a:rPr>
              <a:t>uso</a:t>
            </a:r>
            <a:r>
              <a:rPr sz="1125" b="1" i="0" u="none" dirty="0">
                <a:solidFill>
                  <a:srgbClr val="1E40AF"/>
                </a:solidFill>
                <a:latin typeface="Inter"/>
              </a:rPr>
              <a:t> para </a:t>
            </a:r>
            <a:r>
              <a:rPr sz="1125" b="1" i="0" u="none" dirty="0" err="1">
                <a:solidFill>
                  <a:srgbClr val="1E40AF"/>
                </a:solidFill>
                <a:latin typeface="Inter"/>
              </a:rPr>
              <a:t>Negocio</a:t>
            </a:r>
            <a:r>
              <a:rPr sz="1125" b="1" i="0" u="none" dirty="0">
                <a:solidFill>
                  <a:srgbClr val="1E40AF"/>
                </a:solidFill>
                <a:latin typeface="Inter"/>
              </a:rPr>
              <a:t>:</a:t>
            </a:r>
            <a:r>
              <a:rPr sz="1125" b="0" i="0" u="none" dirty="0">
                <a:solidFill>
                  <a:srgbClr val="1E40AF"/>
                </a:solidFill>
                <a:latin typeface="Inter"/>
              </a:rPr>
              <a:t> "Si para el </a:t>
            </a:r>
            <a:r>
              <a:rPr sz="1125" b="0" i="0" u="none" dirty="0" err="1">
                <a:solidFill>
                  <a:srgbClr val="1E40AF"/>
                </a:solidFill>
                <a:latin typeface="Inter"/>
              </a:rPr>
              <a:t>segmento</a:t>
            </a:r>
            <a:r>
              <a:rPr sz="1125" b="0" i="0" u="none" dirty="0">
                <a:solidFill>
                  <a:srgbClr val="1E40AF"/>
                </a:solidFill>
                <a:latin typeface="Inter"/>
              </a:rPr>
              <a:t> </a:t>
            </a:r>
            <a:r>
              <a:rPr sz="1125" b="1" i="0" u="none" dirty="0">
                <a:solidFill>
                  <a:srgbClr val="1E40AF"/>
                </a:solidFill>
                <a:latin typeface="Inter"/>
              </a:rPr>
              <a:t>P1</a:t>
            </a:r>
            <a:r>
              <a:rPr sz="1125" b="0" i="0" u="none" dirty="0">
                <a:solidFill>
                  <a:srgbClr val="1E40AF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1E40AF"/>
                </a:solidFill>
                <a:latin typeface="Inter"/>
              </a:rPr>
              <a:t>decidimos</a:t>
            </a:r>
            <a:r>
              <a:rPr sz="1125" b="0" i="0" u="none" dirty="0">
                <a:solidFill>
                  <a:srgbClr val="1E40AF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1E40AF"/>
                </a:solidFill>
                <a:latin typeface="Inter"/>
              </a:rPr>
              <a:t>subir</a:t>
            </a:r>
            <a:r>
              <a:rPr sz="1125" b="0" i="0" u="none" dirty="0">
                <a:solidFill>
                  <a:srgbClr val="1E40AF"/>
                </a:solidFill>
                <a:latin typeface="Inter"/>
              </a:rPr>
              <a:t> </a:t>
            </a:r>
            <a:r>
              <a:rPr sz="1125" b="1" i="0" u="none" dirty="0">
                <a:solidFill>
                  <a:srgbClr val="1E40AF"/>
                </a:solidFill>
                <a:latin typeface="Inter"/>
              </a:rPr>
              <a:t>50 bps</a:t>
            </a:r>
            <a:r>
              <a:rPr sz="1125" b="0" i="0" u="none" dirty="0">
                <a:solidFill>
                  <a:srgbClr val="1E40AF"/>
                </a:solidFill>
                <a:latin typeface="Inter"/>
              </a:rPr>
              <a:t> a la </a:t>
            </a:r>
            <a:r>
              <a:rPr sz="1125" b="0" i="0" u="none" dirty="0" err="1">
                <a:solidFill>
                  <a:srgbClr val="1E40AF"/>
                </a:solidFill>
                <a:latin typeface="Inter"/>
              </a:rPr>
              <a:t>tasa</a:t>
            </a:r>
            <a:r>
              <a:rPr sz="1125" b="0" i="0" u="none" dirty="0">
                <a:solidFill>
                  <a:srgbClr val="1E40AF"/>
                </a:solidFill>
                <a:latin typeface="Inter"/>
              </a:rPr>
              <a:t> base, </a:t>
            </a:r>
            <a:r>
              <a:rPr sz="1125" b="0" i="0" u="none" dirty="0" err="1">
                <a:solidFill>
                  <a:srgbClr val="1E40AF"/>
                </a:solidFill>
                <a:latin typeface="Inter"/>
              </a:rPr>
              <a:t>proyectamos</a:t>
            </a:r>
            <a:r>
              <a:rPr sz="1125" b="0" i="0" u="none" dirty="0">
                <a:solidFill>
                  <a:srgbClr val="1E40AF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1E40AF"/>
                </a:solidFill>
                <a:latin typeface="Inter"/>
              </a:rPr>
              <a:t>una</a:t>
            </a:r>
            <a:r>
              <a:rPr sz="1125" b="0" i="0" u="none" dirty="0">
                <a:solidFill>
                  <a:srgbClr val="1E40AF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1E40AF"/>
                </a:solidFill>
                <a:latin typeface="Inter"/>
              </a:rPr>
              <a:t>caída</a:t>
            </a:r>
            <a:r>
              <a:rPr sz="1125" b="0" i="0" u="none" dirty="0">
                <a:solidFill>
                  <a:srgbClr val="1E40AF"/>
                </a:solidFill>
                <a:latin typeface="Inter"/>
              </a:rPr>
              <a:t> de </a:t>
            </a:r>
            <a:r>
              <a:rPr sz="1125" b="1" i="0" u="none" dirty="0">
                <a:solidFill>
                  <a:srgbClr val="1E40AF"/>
                </a:solidFill>
                <a:latin typeface="Inter"/>
              </a:rPr>
              <a:t>3.5% </a:t>
            </a:r>
            <a:r>
              <a:rPr sz="1125" b="1" i="0" u="none" dirty="0" err="1">
                <a:solidFill>
                  <a:srgbClr val="1E40AF"/>
                </a:solidFill>
                <a:latin typeface="Inter"/>
              </a:rPr>
              <a:t>en</a:t>
            </a:r>
            <a:r>
              <a:rPr sz="1125" b="1" i="0" u="none" dirty="0">
                <a:solidFill>
                  <a:srgbClr val="1E40AF"/>
                </a:solidFill>
                <a:latin typeface="Inter"/>
              </a:rPr>
              <a:t> la </a:t>
            </a:r>
            <a:r>
              <a:rPr sz="1125" b="1" i="0" u="none" dirty="0" err="1">
                <a:solidFill>
                  <a:srgbClr val="1E40AF"/>
                </a:solidFill>
                <a:latin typeface="Inter"/>
              </a:rPr>
              <a:t>efectividad</a:t>
            </a:r>
            <a:r>
              <a:rPr sz="1125" b="0" i="0" u="none" dirty="0">
                <a:solidFill>
                  <a:srgbClr val="1E40AF"/>
                </a:solidFill>
                <a:latin typeface="Inter"/>
              </a:rPr>
              <a:t> de la </a:t>
            </a:r>
            <a:r>
              <a:rPr sz="1125" b="0" i="0" u="none" dirty="0" err="1">
                <a:solidFill>
                  <a:srgbClr val="1E40AF"/>
                </a:solidFill>
                <a:latin typeface="Inter"/>
              </a:rPr>
              <a:t>campaña</a:t>
            </a:r>
            <a:r>
              <a:rPr sz="1125" b="0" i="0" u="none" dirty="0">
                <a:solidFill>
                  <a:srgbClr val="1E40AF"/>
                </a:solidFill>
                <a:latin typeface="Inter"/>
              </a:rPr>
              <a:t>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670595"/>
            <a:ext cx="6061323" cy="4730204"/>
          </a:xfrm>
          <a:prstGeom prst="roundRect">
            <a:avLst>
              <a:gd name="adj" fmla="val 241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975723" y="2397323"/>
            <a:ext cx="4606676" cy="1171575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75723" y="3721298"/>
            <a:ext cx="4606676" cy="1247775"/>
          </a:xfrm>
          <a:prstGeom prst="roundRect">
            <a:avLst>
              <a:gd name="adj" fmla="val 916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975723" y="5121473"/>
            <a:ext cx="4606676" cy="552450"/>
          </a:xfrm>
          <a:prstGeom prst="roundRect">
            <a:avLst>
              <a:gd name="adj" fmla="val 13793"/>
            </a:avLst>
          </a:prstGeom>
          <a:solidFill>
            <a:srgbClr val="FFFBEB"/>
          </a:solidFill>
          <a:ln w="9525">
            <a:solidFill>
              <a:srgbClr val="FEF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76300" y="1937295"/>
            <a:ext cx="1371600" cy="228600"/>
          </a:xfrm>
          <a:prstGeom prst="roundRect">
            <a:avLst>
              <a:gd name="adj" fmla="val 25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687" y="3602235"/>
            <a:ext cx="3429000" cy="1524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7648" y="5264348"/>
            <a:ext cx="123825" cy="1238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SALIDA OPERATIVA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33425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Inter"/>
              </a:rPr>
              <a:t>Simulador Continuo (Curva Paramétrica)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1175295"/>
            <a:ext cx="115824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Ajuste funcional sobre el tarifario para evaluar movimientos no discretos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5309" y="5981551"/>
            <a:ext cx="690990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CBD5E1"/>
                </a:solidFill>
                <a:latin typeface="Inter"/>
              </a:rPr>
              <a:t>Permite simular deltas arbitrarios como +25, +35 o +60 bps.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600" y="1975395"/>
            <a:ext cx="12382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Inter"/>
              </a:rPr>
              <a:t>AJUSTE DE CURVA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2318295"/>
            <a:ext cx="725539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Inter"/>
              </a:rPr>
              <a:t>Ajuste Paramétrico Continuo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" y="2623095"/>
            <a:ext cx="690990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Inter"/>
              </a:rPr>
              <a:t>Interpolación funcional sobre los puntos evaluados en el tarifario.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51948" y="2673548"/>
            <a:ext cx="494005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Inter"/>
              </a:rPr>
              <a:t>ENTRADA (SIMULADOR)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51948" y="2892623"/>
            <a:ext cx="494005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Segmento:</a:t>
            </a:r>
            <a:r>
              <a:rPr sz="1125" b="0" i="0" u="none">
                <a:solidFill>
                  <a:srgbClr val="0F172A"/>
                </a:solidFill>
                <a:latin typeface="Inter"/>
              </a:rPr>
              <a:t> Recurrente M-Ticket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51948" y="3111698"/>
            <a:ext cx="494005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Cambio de Tasa ($\Delta$):</a:t>
            </a:r>
            <a:r>
              <a:rPr sz="1125" b="0" i="0" u="none">
                <a:solidFill>
                  <a:srgbClr val="0F172A"/>
                </a:solidFill>
                <a:latin typeface="Inter"/>
              </a:rPr>
              <a:t> +35 bps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51948" y="3997523"/>
            <a:ext cx="494005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66534"/>
                </a:solidFill>
                <a:latin typeface="Inter"/>
              </a:rPr>
              <a:t>RESULTADO ESTIMADO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51948" y="4216598"/>
            <a:ext cx="4940051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5803D"/>
                </a:solidFill>
                <a:latin typeface="Inter"/>
              </a:rPr>
              <a:t>-2.41%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51948" y="4530923"/>
            <a:ext cx="494005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166534"/>
                </a:solidFill>
                <a:latin typeface="Inter"/>
              </a:rPr>
              <a:t>Impacto proyectado en Efectividad de Conversión.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7648" y="5245298"/>
            <a:ext cx="4378076" cy="304800"/>
          </a:xfrm>
          <a:prstGeom prst="rect">
            <a:avLst/>
          </a:prstGeom>
          <a:noFill/>
        </p:spPr>
        <p:txBody>
          <a:bodyPr wrap="square" lIns="123825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B45309"/>
                </a:solidFill>
                <a:latin typeface="Inter"/>
              </a:rPr>
              <a:t>Requiere verificar que la relación de deltas sea funcionalmente estimable.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16423"/>
            <a:ext cx="10972800" cy="1619250"/>
          </a:xfrm>
          <a:prstGeom prst="roundRect">
            <a:avLst>
              <a:gd name="adj" fmla="val 7058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4626173"/>
            <a:ext cx="10972800" cy="628650"/>
          </a:xfrm>
          <a:prstGeom prst="roundRect">
            <a:avLst>
              <a:gd name="adj" fmla="val 12121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4626173"/>
            <a:ext cx="38100" cy="62865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9125" y="2825948"/>
          <a:ext cx="10953747" cy="1600200"/>
        </p:xfrm>
        <a:graphic>
          <a:graphicData uri="http://schemas.openxmlformats.org/drawingml/2006/table">
            <a:tbl>
              <a:tblPr/>
              <a:tblGrid>
                <a:gridCol w="1385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64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9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79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42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956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142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Inter"/>
                        </a:rPr>
                        <a:t>ID_CLIENTE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 u="none">
                          <a:solidFill>
                            <a:srgbClr val="0F172A"/>
                          </a:solidFill>
                          <a:latin typeface="Inter"/>
                        </a:rPr>
                        <a:t>Macroperfil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 u="none">
                          <a:solidFill>
                            <a:srgbClr val="0F172A"/>
                          </a:solidFill>
                          <a:latin typeface="Inter"/>
                        </a:rPr>
                        <a:t>Tasa Base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 u="none">
                          <a:solidFill>
                            <a:srgbClr val="2563EB"/>
                          </a:solidFill>
                          <a:latin typeface="Inter"/>
                        </a:rPr>
                        <a:t>Tasa Óptima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 u="none">
                          <a:solidFill>
                            <a:srgbClr val="0F172A"/>
                          </a:solidFill>
                          <a:latin typeface="Inter"/>
                        </a:rPr>
                        <a:t>$\Delta$ Óptimo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 u="none">
                          <a:solidFill>
                            <a:srgbClr val="0F172A"/>
                          </a:solidFill>
                          <a:latin typeface="Inter"/>
                        </a:rPr>
                        <a:t>Propensión Base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 u="none">
                          <a:solidFill>
                            <a:srgbClr val="0F172A"/>
                          </a:solidFill>
                          <a:latin typeface="Inter"/>
                        </a:rPr>
                        <a:t>Propensión Óptima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monospace"/>
                        </a:rPr>
                        <a:t>CLI-001928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P1 - M-Ticket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u="none">
                          <a:solidFill>
                            <a:srgbClr val="64748B"/>
                          </a:solidFill>
                          <a:latin typeface="Inter"/>
                        </a:rPr>
                        <a:t>18.5%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 u="none">
                          <a:solidFill>
                            <a:srgbClr val="2563EB"/>
                          </a:solidFill>
                          <a:latin typeface="Inter"/>
                        </a:rPr>
                        <a:t>18.85%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 u="none">
                          <a:solidFill>
                            <a:srgbClr val="047857"/>
                          </a:solidFill>
                          <a:latin typeface="Inter"/>
                        </a:rPr>
                        <a:t>+35 bps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u="none">
                          <a:solidFill>
                            <a:srgbClr val="64748B"/>
                          </a:solidFill>
                          <a:latin typeface="Inter"/>
                        </a:rPr>
                        <a:t>14.2%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 u="none">
                          <a:solidFill>
                            <a:srgbClr val="334155"/>
                          </a:solidFill>
                          <a:latin typeface="Inter"/>
                        </a:rPr>
                        <a:t>13.8%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monospace"/>
                        </a:rPr>
                        <a:t>CLI-004812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P2 - H-Ticket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u="none">
                          <a:solidFill>
                            <a:srgbClr val="64748B"/>
                          </a:solidFill>
                          <a:latin typeface="Inter"/>
                        </a:rPr>
                        <a:t>14.0%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 u="none">
                          <a:solidFill>
                            <a:srgbClr val="2563EB"/>
                          </a:solidFill>
                          <a:latin typeface="Inter"/>
                        </a:rPr>
                        <a:t>13.50%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 u="none">
                          <a:solidFill>
                            <a:srgbClr val="B91C1C"/>
                          </a:solidFill>
                          <a:latin typeface="Inter"/>
                        </a:rPr>
                        <a:t>-50 bps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u="none">
                          <a:solidFill>
                            <a:srgbClr val="64748B"/>
                          </a:solidFill>
                          <a:latin typeface="Inter"/>
                        </a:rPr>
                        <a:t>8.5%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 u="none">
                          <a:solidFill>
                            <a:srgbClr val="334155"/>
                          </a:solidFill>
                          <a:latin typeface="Inter"/>
                        </a:rPr>
                        <a:t>11.5%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monospace"/>
                        </a:rPr>
                        <a:t>CLI-009123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P1 - M-Ticket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u="none">
                          <a:solidFill>
                            <a:srgbClr val="64748B"/>
                          </a:solidFill>
                          <a:latin typeface="Inter"/>
                        </a:rPr>
                        <a:t>18.5%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 u="none">
                          <a:solidFill>
                            <a:srgbClr val="2563EB"/>
                          </a:solidFill>
                          <a:latin typeface="Inter"/>
                        </a:rPr>
                        <a:t>18.50%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 u="none">
                          <a:solidFill>
                            <a:srgbClr val="64748B"/>
                          </a:solidFill>
                          <a:latin typeface="Inter"/>
                        </a:rPr>
                        <a:t>0 bps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u="none">
                          <a:solidFill>
                            <a:srgbClr val="64748B"/>
                          </a:solidFill>
                          <a:latin typeface="Inter"/>
                        </a:rPr>
                        <a:t>18.0%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 u="none">
                          <a:solidFill>
                            <a:srgbClr val="334155"/>
                          </a:solidFill>
                          <a:latin typeface="Inter"/>
                        </a:rPr>
                        <a:t>18.0%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SALIDA OPERATIVA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33425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Inter"/>
              </a:rPr>
              <a:t>Tarificación Dinámica 1 a 1 (Scoring en Vivo)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175295"/>
            <a:ext cx="115824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Evaluación individual cliente a cliente para maximizar margen ($UAI$)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4778573"/>
            <a:ext cx="105727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91B1B"/>
                </a:solidFill>
                <a:latin typeface="Inter"/>
              </a:rPr>
              <a:t>Limitación Operativa Actual:</a:t>
            </a:r>
            <a:r>
              <a:rPr sz="1050" b="0" i="0" u="none">
                <a:solidFill>
                  <a:srgbClr val="991B1B"/>
                </a:solidFill>
                <a:latin typeface="Inter"/>
              </a:rPr>
              <a:t> Alta complejidad tecnológica al exigir simulaciones individuales cliente a cliente en cada motor de campaña, no siendo factible en el corto plazo.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670595"/>
            <a:ext cx="5334000" cy="4730204"/>
          </a:xfrm>
          <a:prstGeom prst="roundRect">
            <a:avLst>
              <a:gd name="adj" fmla="val 241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1670595"/>
            <a:ext cx="5334000" cy="4730204"/>
          </a:xfrm>
          <a:prstGeom prst="roundRect">
            <a:avLst>
              <a:gd name="adj" fmla="val 2416"/>
            </a:avLst>
          </a:prstGeom>
          <a:solidFill>
            <a:srgbClr val="FFFBEB"/>
          </a:solidFill>
          <a:ln w="9525">
            <a:solidFill>
              <a:srgbClr val="FEF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85825" y="3321248"/>
            <a:ext cx="1238250" cy="22860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24625" y="3321248"/>
            <a:ext cx="1428750" cy="22860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ESTRATEGIA EXPERIMENTAL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33425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Inter"/>
              </a:rPr>
              <a:t>Siembra de Precios (Price Seeding)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175295"/>
            <a:ext cx="115824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Rol técnico vs. Viabilidad operacional en el entorno comercial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125" y="3359348"/>
            <a:ext cx="1104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65F46"/>
                </a:solidFill>
                <a:latin typeface="Inter"/>
              </a:rPr>
              <a:t>VALOR TÉCNICO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702248"/>
            <a:ext cx="6275784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Inter"/>
              </a:rPr>
              <a:t>Limpieza de Sesgo Histórico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4064198"/>
            <a:ext cx="4876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Constituye el estándar metodológico ideal para eliminar el sesgo de endogeneidad en los datos históricos asignando tasas aleatorias controladas.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38925" y="3359348"/>
            <a:ext cx="12954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92400E"/>
                </a:solidFill>
                <a:latin typeface="Inter"/>
              </a:rPr>
              <a:t>POSICIONAMIENTO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4625" y="3702248"/>
            <a:ext cx="56673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78350F"/>
                </a:solidFill>
                <a:latin typeface="Inter"/>
              </a:rPr>
              <a:t>Enfoque Complementario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4625" y="4064198"/>
            <a:ext cx="4876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2400E"/>
                </a:solidFill>
                <a:latin typeface="Inter"/>
              </a:rPr>
              <a:t>Debido a la resistencia comercial por impacto en margen o colocación, debe manejarse como un piloto acotado y no como el pilar principal de la estrategia.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135510"/>
            <a:ext cx="2600325" cy="1800225"/>
          </a:xfrm>
          <a:prstGeom prst="roundRect">
            <a:avLst>
              <a:gd name="adj" fmla="val 634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0425" y="3135510"/>
            <a:ext cx="2600325" cy="1800225"/>
          </a:xfrm>
          <a:prstGeom prst="roundRect">
            <a:avLst>
              <a:gd name="adj" fmla="val 634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3135510"/>
            <a:ext cx="2600325" cy="1800225"/>
          </a:xfrm>
          <a:prstGeom prst="roundRect">
            <a:avLst>
              <a:gd name="adj" fmla="val 6349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82075" y="3135510"/>
            <a:ext cx="2600325" cy="1800225"/>
          </a:xfrm>
          <a:prstGeom prst="roundRect">
            <a:avLst>
              <a:gd name="adj" fmla="val 634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HOJA DE RUTA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33425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Inter"/>
              </a:rPr>
              <a:t>Siguientes Pasos Recomendados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175295"/>
            <a:ext cx="115824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Plan de trabajo priorizado para el desarrollo del módulo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3411735"/>
            <a:ext cx="2559843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897510"/>
            <a:ext cx="268783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Árboles de Decisión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4173735"/>
            <a:ext cx="214312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Inter"/>
              </a:rPr>
              <a:t>Probar cortes supervisados por conversión para mejorar la señal en Panel Data.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6650" y="3411735"/>
            <a:ext cx="2559843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6650" y="3897510"/>
            <a:ext cx="268783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Modelo WTP 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6650" y="4173735"/>
            <a:ext cx="214312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Inter"/>
              </a:rPr>
              <a:t>Estimar modelo de propensión (0/1) para evaluar capacidad predictiva de conversión.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7475" y="3411735"/>
            <a:ext cx="2559843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3B82F6"/>
                </a:solidFill>
                <a:latin typeface="Inter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7475" y="3897510"/>
            <a:ext cx="268783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40AF"/>
                </a:solidFill>
                <a:latin typeface="Inter"/>
              </a:rPr>
              <a:t>Tarifario de Deltas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7475" y="4173735"/>
            <a:ext cx="214312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1E3A8A"/>
                </a:solidFill>
                <a:latin typeface="Inter"/>
              </a:rPr>
              <a:t>Estructurar el primer entregable operativo en formato de matriz de simulación para Negocio.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58300" y="3411735"/>
            <a:ext cx="2559843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8300" y="3897510"/>
            <a:ext cx="268783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Piloto de Siembra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8300" y="4173735"/>
            <a:ext cx="214312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Inter"/>
              </a:rPr>
              <a:t>Diseñar experiencia acotada en canal digital para calibración continua de modelos.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92203" y="2740372"/>
            <a:ext cx="360759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38BDF8"/>
                </a:solidFill>
                <a:latin typeface="Inter"/>
              </a:rPr>
              <a:t>MÓDULO DE SENSIBILIDAD DE PRECIOS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32992" y="3016597"/>
            <a:ext cx="8126015" cy="5485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sz="3600" b="1" i="0" u="none">
                <a:solidFill>
                  <a:srgbClr val="FFFFFF"/>
                </a:solidFill>
                <a:latin typeface="Inter"/>
              </a:rPr>
              <a:t>¿Preguntas o Comentarios?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62250" y="3717577"/>
            <a:ext cx="66675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94A3B8"/>
                </a:solidFill>
                <a:latin typeface="Inter"/>
              </a:rPr>
              <a:t>Alineamiento estratégico para los siguientes pasos del equipo de Analytics &amp; Pricing.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1027</Words>
  <Application>Microsoft Office PowerPoint</Application>
  <PresentationFormat>Panorámica</PresentationFormat>
  <Paragraphs>168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monospace</vt:lpstr>
      <vt:lpstr>Calibri</vt:lpstr>
      <vt:lpstr>Inter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Rene Sangacha</cp:lastModifiedBy>
  <cp:revision>1</cp:revision>
  <dcterms:created xsi:type="dcterms:W3CDTF">2013-01-27T09:14:16Z</dcterms:created>
  <dcterms:modified xsi:type="dcterms:W3CDTF">2026-10-19T22:26:33Z</dcterms:modified>
  <cp:category/>
</cp:coreProperties>
</file>